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jsOA7f8s49dSbwZlbg8XaG9X1y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F01A008-6E4E-4ADF-BC40-4D501766D3DE}">
  <a:tblStyle styleId="{FF01A008-6E4E-4ADF-BC40-4D501766D3D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customschemas.google.com/relationships/presentationmetadata" Target="meta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Dynamic Arrays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IN"/>
              <a:t>Prof. Kaustubh Kulkarni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ArrayList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ArrayList is the implementation of List Interface.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The elements can be dynamically added or removed from the list.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Also, the size of the list is increased dynamically if the elements are added more than the initial size.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Though it may be slower than standard arrays, it can be helpful in programs where lots of manipulation in the array is needed.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Collection of pointers/references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An ArrayList is just an object, so we will create it like any other object – calling "new" and storing a pointer to the new ArrayList.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When first created, the ArrayList is empty – it does not contain any objects.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Traditionally, the things stored inside of a collection are called "elements" in the collection. (viz. elements of an array)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However in Java, collections always store pointers to objects, so we can also use the words "pointers" or "objects" to refer to the elements in a collection.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Creating and populating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This code creates a new, empty ArrayList: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 ArrayList list = new ArrayList(); // make a new ArrayList (initially empty)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To add an object to the ArrayList, we call the add() method on the ArrayList, passing a pointer to the object we want to store.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This code adds pointers to three String objects to the ArrayList: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list.add( “First" ); // Add three strings to the ArrayList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list.add( “Second" );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list.add( “Third" );</a:t>
            </a:r>
            <a:endParaRPr/>
          </a:p>
          <a:p>
            <a:pPr indent="-17018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09" name="Google Shape;109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544" y="1484784"/>
            <a:ext cx="8329796" cy="4881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/>
              <a:t>The size() method returns the int current number of elements in the ArrayList.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/>
              <a:t>The get() method takes an int index argument, and returns the pointer at that index number.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ArrayList Constructors</a:t>
            </a:r>
            <a:endParaRPr/>
          </a:p>
        </p:txBody>
      </p:sp>
      <p:graphicFrame>
        <p:nvGraphicFramePr>
          <p:cNvPr id="121" name="Google Shape;121;p7"/>
          <p:cNvGraphicFramePr/>
          <p:nvPr/>
        </p:nvGraphicFramePr>
        <p:xfrm>
          <a:off x="467544" y="14847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{FF01A008-6E4E-4ADF-BC40-4D501766D3DE}</a:tableStyleId>
              </a:tblPr>
              <a:tblGrid>
                <a:gridCol w="4464500"/>
                <a:gridCol w="3744425"/>
              </a:tblGrid>
              <a:tr h="613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IN" sz="1800" u="none" cap="none" strike="noStrike"/>
                        <a:t>Constructor</a:t>
                      </a:r>
                      <a:endParaRPr sz="1800" u="none" cap="none" strike="noStrike"/>
                    </a:p>
                  </a:txBody>
                  <a:tcPr marT="45725" marB="45725" marR="91450" marL="31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D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IN" sz="1800" u="none" cap="none" strike="noStrike"/>
                        <a:t>Description</a:t>
                      </a:r>
                      <a:endParaRPr sz="1800" u="none" cap="none" strike="noStrike"/>
                    </a:p>
                  </a:txBody>
                  <a:tcPr marT="45725" marB="45725" marR="91450" marL="31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DD9"/>
                    </a:solidFill>
                  </a:tcPr>
                </a:tc>
              </a:tr>
              <a:tr h="1073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1" lang="en-IN" sz="1800" u="none" cap="none" strike="noStrike"/>
                        <a:t> 1. ArrayList()</a:t>
                      </a:r>
                      <a:endParaRPr sz="1800" u="none" cap="none" strike="noStrike"/>
                    </a:p>
                  </a:txBody>
                  <a:tcPr marT="45725" marB="45725" marR="91450" marL="31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Used to build an empty array list</a:t>
                      </a:r>
                      <a:endParaRPr sz="1400" u="none" cap="none" strike="noStrike"/>
                    </a:p>
                  </a:txBody>
                  <a:tcPr marT="45725" marB="45725" marR="91450" marL="31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33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1" lang="en-IN" sz="1800" u="none" cap="none" strike="noStrike"/>
                        <a:t>2. ArrayList(Collection&lt;? extends E&gt; c)</a:t>
                      </a:r>
                      <a:endParaRPr sz="1400" u="none" cap="none" strike="noStrike"/>
                    </a:p>
                  </a:txBody>
                  <a:tcPr marT="45725" marB="45725" marR="91450" marL="31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Builds an array list that is initialized with the elements of collection c</a:t>
                      </a:r>
                      <a:endParaRPr sz="1400" u="none" cap="none" strike="noStrike"/>
                    </a:p>
                  </a:txBody>
                  <a:tcPr marT="45725" marB="45725" marR="91450" marL="31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33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1" lang="en-IN" sz="1800" u="none" cap="none" strike="noStrike"/>
                        <a:t>  3. ArrayList(int capacity)</a:t>
                      </a:r>
                      <a:endParaRPr sz="1800" u="none" cap="none" strike="noStrike"/>
                    </a:p>
                  </a:txBody>
                  <a:tcPr marT="45725" marB="45725" marR="91450" marL="31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Used to build an array list that has the specified initial capacity</a:t>
                      </a:r>
                      <a:endParaRPr sz="1400" u="none" cap="none" strike="noStrike"/>
                    </a:p>
                  </a:txBody>
                  <a:tcPr marT="45725" marB="45725" marR="91450" marL="31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IN"/>
              <a:t>TYPE WRAPPERS</a:t>
            </a:r>
            <a:endParaRPr/>
          </a:p>
        </p:txBody>
      </p:sp>
      <p:sp>
        <p:nvSpPr>
          <p:cNvPr id="127" name="Google Shape;127;p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Need</a:t>
            </a:r>
            <a:endParaRPr/>
          </a:p>
        </p:txBody>
      </p:sp>
      <p:sp>
        <p:nvSpPr>
          <p:cNvPr id="133" name="Google Shape;13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</a:pPr>
            <a:r>
              <a:rPr lang="en-IN" sz="2340"/>
              <a:t>Java uses primitive types (also called simple types), such as int or double, to hold the basic data types supported by the language.</a:t>
            </a:r>
            <a:endParaRPr sz="2340"/>
          </a:p>
          <a:p>
            <a:pPr indent="-349250" lvl="0" marL="34290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</a:pPr>
            <a:r>
              <a:rPr lang="en-IN" sz="2340"/>
              <a:t>Primitive types, rather than objects, are used for these quantities for the sake of performance.</a:t>
            </a:r>
            <a:endParaRPr sz="2340"/>
          </a:p>
          <a:p>
            <a:pPr indent="-349250" lvl="0" marL="34290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</a:pPr>
            <a:r>
              <a:rPr lang="en-IN" sz="2340"/>
              <a:t>Using objects for these values would add an unacceptable overhead to even the simplest of calculations.</a:t>
            </a:r>
            <a:endParaRPr sz="2340"/>
          </a:p>
          <a:p>
            <a:pPr indent="-349250" lvl="0" marL="34290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</a:pPr>
            <a:r>
              <a:rPr lang="en-IN" sz="2340"/>
              <a:t>Thus, the primitive types are not part of the object hierarchy, and they do not inherit Object.</a:t>
            </a:r>
            <a:endParaRPr sz="2340"/>
          </a:p>
          <a:p>
            <a:pPr indent="-349250" lvl="0" marL="34290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</a:pPr>
            <a:r>
              <a:rPr lang="en-IN" sz="2340"/>
              <a:t>The standard data structures implemented by Java operate on objects, which means that you can’t use these data structures to store primitive types.</a:t>
            </a:r>
            <a:endParaRPr sz="2340"/>
          </a:p>
          <a:p>
            <a:pPr indent="-349250" lvl="0" marL="34290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</a:pPr>
            <a:r>
              <a:rPr lang="en-IN" sz="2340"/>
              <a:t>To handle these (and other) situations, Java provides type wrappers, which are classes that encapsulate a primitive type within an object.</a:t>
            </a:r>
            <a:endParaRPr sz="234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Boxing and Unboxing</a:t>
            </a:r>
            <a:endParaRPr/>
          </a:p>
        </p:txBody>
      </p: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// Demonstrate a type wrapper.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class Wrap {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 public static void main(String[] args) {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-IN">
                <a:solidFill>
                  <a:srgbClr val="FF0000"/>
                </a:solidFill>
              </a:rPr>
              <a:t> Integer iOb = Integer.valueOf(100); //Boxing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-IN">
                <a:solidFill>
                  <a:srgbClr val="FF0000"/>
                </a:solidFill>
              </a:rPr>
              <a:t> int i = iOb.intValue();//Unboxing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 System.out.println(i + " " + iOb); // displays 100 100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 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}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Auto-boxing and Auto-unboxing</a:t>
            </a:r>
            <a:endParaRPr/>
          </a:p>
        </p:txBody>
      </p:sp>
      <p:sp>
        <p:nvSpPr>
          <p:cNvPr id="145" name="Google Shape;145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// Demonstrate autoboxing/unboxing.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class AutoBox {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 public static void main(String[] args) {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-IN">
                <a:solidFill>
                  <a:srgbClr val="FF0000"/>
                </a:solidFill>
              </a:rPr>
              <a:t> Integer iOb = 100; // autobox an int</a:t>
            </a:r>
            <a:endParaRPr b="1">
              <a:solidFill>
                <a:srgbClr val="FF00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-IN">
                <a:solidFill>
                  <a:srgbClr val="FF0000"/>
                </a:solidFill>
              </a:rPr>
              <a:t> int i = iOb; // auto-unbox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 System.out.println(i + " " + iOb); // displays 100 100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 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Autoboxing an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Auto-boxing and Auto-unboxing (2)</a:t>
            </a:r>
            <a:endParaRPr/>
          </a:p>
        </p:txBody>
      </p:sp>
      <p:sp>
        <p:nvSpPr>
          <p:cNvPr id="151" name="Google Shape;151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// Autoboxing/unboxing takes place with method parameters and return values.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class AutoBox2 {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 // Take an Integer parameter and return an int value;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 static int m(Integer v) {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 </a:t>
            </a:r>
            <a:r>
              <a:rPr b="1" lang="en-IN">
                <a:solidFill>
                  <a:srgbClr val="FF0000"/>
                </a:solidFill>
              </a:rPr>
              <a:t>return v ; // auto-unbox to int</a:t>
            </a:r>
            <a:endParaRPr b="1">
              <a:solidFill>
                <a:srgbClr val="FF00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 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 public static void main(String[] args) {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 // Pass an int to m() and assign the return value to an Integer.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-IN">
                <a:solidFill>
                  <a:srgbClr val="FF0000"/>
                </a:solidFill>
              </a:rPr>
              <a:t>Integer iOb = m(100);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-IN">
                <a:solidFill>
                  <a:srgbClr val="FF0000"/>
                </a:solidFill>
              </a:rPr>
              <a:t>//Here, the argument 100 is autoboxed into an Integer.</a:t>
            </a:r>
            <a:r>
              <a:rPr lang="en-IN"/>
              <a:t>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-IN">
                <a:solidFill>
                  <a:srgbClr val="FF0000"/>
                </a:solidFill>
              </a:rPr>
              <a:t>//The return value is also autoboxed into an Integer.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 System.out.println(iOb);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 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