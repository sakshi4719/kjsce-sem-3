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5"/>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
          <p:cNvSpPr/>
          <p:nvPr>
            <p:ph idx="2" type="pic"/>
          </p:nvPr>
        </p:nvSpPr>
        <p:spPr>
          <a:xfrm>
            <a:off x="1792288" y="612775"/>
            <a:ext cx="5486400" cy="4114800"/>
          </a:xfrm>
          <a:prstGeom prst="rect">
            <a:avLst/>
          </a:prstGeom>
          <a:noFill/>
          <a:ln>
            <a:noFill/>
          </a:ln>
        </p:spPr>
      </p:sp>
      <p:sp>
        <p:nvSpPr>
          <p:cNvPr id="38" name="Google Shape;38;p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9" name="Google Shape;39;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5" name="Google Shape;45;p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0" name="Google Shape;70;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Exception Handling in Java</a:t>
            </a:r>
            <a:endParaRPr/>
          </a:p>
        </p:txBody>
      </p:sp>
      <p:sp>
        <p:nvSpPr>
          <p:cNvPr id="85" name="Google Shape;85;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t/>
            </a:r>
            <a:endParaRPr b="0" i="0" sz="3200" u="none">
              <a:solidFill>
                <a:srgbClr val="898989"/>
              </a:solidFill>
              <a:latin typeface="Calibri"/>
              <a:ea typeface="Calibri"/>
              <a:cs typeface="Calibri"/>
              <a:sym typeface="Calibri"/>
            </a:endParaRPr>
          </a:p>
          <a:p>
            <a:pPr indent="0" lvl="0" marL="0" rtl="0" algn="ctr">
              <a:lnSpc>
                <a:spcPct val="100000"/>
              </a:lnSpc>
              <a:spcBef>
                <a:spcPts val="0"/>
              </a:spcBef>
              <a:spcAft>
                <a:spcPts val="0"/>
              </a:spcAft>
              <a:buClr>
                <a:srgbClr val="888888"/>
              </a:buClr>
              <a:buSzPts val="3200"/>
              <a:buNone/>
            </a:pPr>
            <a:r>
              <a:t/>
            </a:r>
            <a:endParaRPr b="0" i="0" sz="3200" u="none">
              <a:solidFill>
                <a:srgbClr val="898989"/>
              </a:solidFill>
              <a:latin typeface="Calibri"/>
              <a:ea typeface="Calibri"/>
              <a:cs typeface="Calibri"/>
              <a:sym typeface="Calibri"/>
            </a:endParaRPr>
          </a:p>
          <a:p>
            <a:pPr indent="0" lvl="0" marL="0" rtl="0" algn="ctr">
              <a:spcBef>
                <a:spcPts val="640"/>
              </a:spcBef>
              <a:spcAft>
                <a:spcPts val="0"/>
              </a:spcAft>
              <a:buClr>
                <a:srgbClr val="888888"/>
              </a:buClr>
              <a:buSzPts val="3200"/>
              <a:buNone/>
            </a:pPr>
            <a:r>
              <a:t/>
            </a:r>
            <a:endParaRPr b="0" i="0" sz="3200" u="none">
              <a:solidFill>
                <a:srgbClr val="89898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Objectives</a:t>
            </a:r>
            <a:endParaRPr/>
          </a:p>
        </p:txBody>
      </p:sp>
      <p:sp>
        <p:nvSpPr>
          <p:cNvPr id="91" name="Google Shape;91;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Introduction</a:t>
            </a:r>
            <a:endParaRPr/>
          </a:p>
          <a:p>
            <a:pPr indent="-342900" lvl="0" marL="342900" marR="0" rtl="0" algn="l">
              <a:lnSpc>
                <a:spcPct val="8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What exceptions are for</a:t>
            </a:r>
            <a:endParaRPr/>
          </a:p>
          <a:p>
            <a:pPr indent="-342900" lvl="0" marL="342900" marR="0" rtl="0" algn="l">
              <a:lnSpc>
                <a:spcPct val="8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Catching &amp; Throwing exceptions</a:t>
            </a:r>
            <a:endParaRPr/>
          </a:p>
          <a:p>
            <a:pPr indent="-342900" lvl="0" marL="342900" marR="0" rtl="0" algn="l">
              <a:lnSpc>
                <a:spcPct val="8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Exception Specifications</a:t>
            </a:r>
            <a:endParaRPr/>
          </a:p>
          <a:p>
            <a:pPr indent="-342900" lvl="0" marL="342900" marR="0" rtl="0" algn="l">
              <a:lnSpc>
                <a:spcPct val="8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Standard Java Exceptions</a:t>
            </a:r>
            <a:endParaRPr/>
          </a:p>
          <a:p>
            <a:pPr indent="-342900" lvl="0" marL="342900" marR="0" rtl="0" algn="l">
              <a:lnSpc>
                <a:spcPct val="8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Exceptions and Polymorphism</a:t>
            </a:r>
            <a:endParaRPr/>
          </a:p>
          <a:p>
            <a:pPr indent="-342900" lvl="0" marL="342900" marR="0" rtl="0" algn="l">
              <a:lnSpc>
                <a:spcPct val="8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The </a:t>
            </a:r>
            <a:r>
              <a:rPr b="1" i="0" lang="en-US" sz="3200" u="none" cap="none" strike="noStrike">
                <a:solidFill>
                  <a:schemeClr val="dk1"/>
                </a:solidFill>
                <a:latin typeface="Courier New"/>
                <a:ea typeface="Courier New"/>
                <a:cs typeface="Courier New"/>
                <a:sym typeface="Courier New"/>
              </a:rPr>
              <a:t>finally</a:t>
            </a:r>
            <a:r>
              <a:rPr b="0" i="0" lang="en-US" sz="3200" u="none" cap="none" strike="noStrike">
                <a:solidFill>
                  <a:schemeClr val="dk1"/>
                </a:solidFill>
                <a:latin typeface="Calibri"/>
                <a:ea typeface="Calibri"/>
                <a:cs typeface="Calibri"/>
                <a:sym typeface="Calibri"/>
              </a:rPr>
              <a:t> clause</a:t>
            </a:r>
            <a:endParaRPr/>
          </a:p>
          <a:p>
            <a:pPr indent="-342900" lvl="0" marL="342900" marR="0" rtl="0" algn="l">
              <a:lnSpc>
                <a:spcPct val="8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Resource Management</a:t>
            </a:r>
            <a:endParaRPr/>
          </a:p>
          <a:p>
            <a:pPr indent="-342900" lvl="0" marL="342900" marR="0" rtl="0" algn="l">
              <a:lnSpc>
                <a:spcPct val="8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Uncaught Exceptions</a:t>
            </a:r>
            <a:endParaRPr/>
          </a:p>
          <a:p>
            <a:pPr indent="-139700" lvl="0" marL="342900" marR="0" rtl="0" algn="l">
              <a:lnSpc>
                <a:spcPct val="90000"/>
              </a:lnSpc>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Introduction</a:t>
            </a:r>
            <a:endParaRPr/>
          </a:p>
        </p:txBody>
      </p:sp>
      <p:sp>
        <p:nvSpPr>
          <p:cNvPr id="97" name="Google Shape;97;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Due to design errors or coding errors, our programs may fail in unexpected ways during execution. An exception is a condition that is caused by run time error in the program. The purpose of the exception handling mechanism is to provide a means to detect and report  an “ecxceptional circumstances” .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Error</a:t>
            </a:r>
            <a:endParaRPr/>
          </a:p>
        </p:txBody>
      </p:sp>
      <p:sp>
        <p:nvSpPr>
          <p:cNvPr id="103" name="Google Shape;103;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An error may produce an incorrect output or may terminate the execution of the program abruptly or even may cause the system to crash. So it is our responsibility to detect and manage the error properly.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Types of error</a:t>
            </a:r>
            <a:endParaRPr/>
          </a:p>
        </p:txBody>
      </p:sp>
      <p:sp>
        <p:nvSpPr>
          <p:cNvPr id="109" name="Google Shape;109;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a:t>
            </a:r>
            <a:r>
              <a:rPr b="0" i="0" lang="en-US" sz="3200" u="sng">
                <a:solidFill>
                  <a:schemeClr val="dk1"/>
                </a:solidFill>
                <a:latin typeface="Calibri"/>
                <a:ea typeface="Calibri"/>
                <a:cs typeface="Calibri"/>
                <a:sym typeface="Calibri"/>
              </a:rPr>
              <a:t>Runtime Errors</a:t>
            </a:r>
            <a:r>
              <a:rPr b="0" i="0" lang="en-US" sz="3200" u="none">
                <a:solidFill>
                  <a:schemeClr val="dk1"/>
                </a:solidFill>
                <a:latin typeface="Calibri"/>
                <a:ea typeface="Calibri"/>
                <a:cs typeface="Calibri"/>
                <a:sym typeface="Calibri"/>
              </a:rPr>
              <a:t>: occur while the program is running if the environment detects an operation that is impossible to carry out.</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 </a:t>
            </a:r>
            <a:r>
              <a:rPr b="0" i="0" lang="en-US" sz="3200" u="sng">
                <a:solidFill>
                  <a:schemeClr val="dk1"/>
                </a:solidFill>
                <a:latin typeface="Calibri"/>
                <a:ea typeface="Calibri"/>
                <a:cs typeface="Calibri"/>
                <a:sym typeface="Calibri"/>
              </a:rPr>
              <a:t>Logic Errors: </a:t>
            </a:r>
            <a:r>
              <a:rPr b="0" i="0" lang="en-US" sz="3200" u="none">
                <a:solidFill>
                  <a:schemeClr val="dk1"/>
                </a:solidFill>
                <a:latin typeface="Calibri"/>
                <a:ea typeface="Calibri"/>
                <a:cs typeface="Calibri"/>
                <a:sym typeface="Calibri"/>
              </a:rPr>
              <a:t>occur when a program doesn't perform the way it was intended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sng">
                <a:solidFill>
                  <a:schemeClr val="dk1"/>
                </a:solidFill>
                <a:latin typeface="Calibri"/>
                <a:ea typeface="Calibri"/>
                <a:cs typeface="Calibri"/>
                <a:sym typeface="Calibri"/>
              </a:rPr>
              <a:t>Syntax Errors</a:t>
            </a:r>
            <a:r>
              <a:rPr b="0" i="0" lang="en-US" sz="3200" u="none">
                <a:solidFill>
                  <a:schemeClr val="dk1"/>
                </a:solidFill>
                <a:latin typeface="Calibri"/>
                <a:ea typeface="Calibri"/>
                <a:cs typeface="Calibri"/>
                <a:sym typeface="Calibri"/>
              </a:rPr>
              <a:t>: Arise because the rules of the language have not been followed. They are detected by the compiler. </a:t>
            </a:r>
            <a:endParaRPr b="0" i="0" sz="3200" u="none">
              <a:solidFill>
                <a:schemeClr val="dk1"/>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Example of Run Time error</a:t>
            </a:r>
            <a:endParaRPr/>
          </a:p>
        </p:txBody>
      </p:sp>
      <p:sp>
        <p:nvSpPr>
          <p:cNvPr id="115" name="Google Shape;115;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Class Error</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public static void main(String args[])</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int a=10;</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int b=5;</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int c=5;</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int x=a/(b+c);</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System.out.println("x=" +x);</a:t>
            </a:r>
            <a:endParaRPr/>
          </a:p>
          <a:p>
            <a:pPr indent="0" lvl="0" marL="0" marR="0" rtl="0" algn="l">
              <a:lnSpc>
                <a:spcPct val="80000"/>
              </a:lnSpc>
              <a:spcBef>
                <a:spcPts val="400"/>
              </a:spcBef>
              <a:spcAft>
                <a:spcPts val="0"/>
              </a:spcAft>
              <a:buClr>
                <a:srgbClr val="00FF00"/>
              </a:buClr>
              <a:buSzPts val="2000"/>
              <a:buFont typeface="Arial"/>
              <a:buNone/>
            </a:pPr>
            <a:r>
              <a:rPr b="0" i="0" lang="en-US" sz="2000" u="none">
                <a:solidFill>
                  <a:srgbClr val="00FF00"/>
                </a:solidFill>
                <a:latin typeface="Calibri"/>
                <a:ea typeface="Calibri"/>
                <a:cs typeface="Calibri"/>
                <a:sym typeface="Calibri"/>
              </a:rPr>
              <a:t>int y=a/(b-c);   // Errorr division by zero</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System.out.println("y=" +y);</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a:t>
            </a:r>
            <a:endParaRPr/>
          </a:p>
          <a:p>
            <a:pPr indent="0" lvl="0" marL="0" marR="0" rtl="0" algn="l">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Errors and Error Handling</a:t>
            </a:r>
            <a:endParaRPr/>
          </a:p>
        </p:txBody>
      </p:sp>
      <p:sp>
        <p:nvSpPr>
          <p:cNvPr id="121" name="Google Shape;121;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Some typical causes of errors: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Memory errors (i.e. memory incorrectly allocated, memory leaks, “null pointer”)</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File system errors (i.e. disk is full, disk has been removed)</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Network errors (i.e. network is down, URL does not exist)</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Calculation errors (i.e. divide by 0)</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Errors and Error Handling</a:t>
            </a:r>
            <a:endParaRPr/>
          </a:p>
        </p:txBody>
      </p:sp>
      <p:sp>
        <p:nvSpPr>
          <p:cNvPr id="127" name="Google Shape;127;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More typical causes of errors: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Array errors (i.e. accessing element –1)</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Conversion errors (i.e. convert ‘q’ to a number)</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Can you think of some others?</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Errors and Error Handling</a:t>
            </a:r>
            <a:endParaRPr/>
          </a:p>
        </p:txBody>
      </p:sp>
      <p:sp>
        <p:nvSpPr>
          <p:cNvPr id="133" name="Google Shape;133;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Exceptions – a better error handling</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Exceptions are a mechanism that provides the best of both worlds.</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Exceptions act similar to method return flags in that any method may raise and exception should it encounter an error.</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Exceptions act like global error methods in that the exception mechanism is built into Java; exceptions are handled at many levels in a program, locally and/or globally.</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Exceptions</a:t>
            </a:r>
            <a:endParaRPr/>
          </a:p>
        </p:txBody>
      </p:sp>
      <p:sp>
        <p:nvSpPr>
          <p:cNvPr id="139" name="Google Shape;139;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How do you handle exceptions?</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To handle the exception, you write a “try-catch” block.  To pass the exception “up the chain”, you declare a throws clause in your method or class declaration.</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If the method contains code that may cause a checked exception, you MUST handle the exception OR pass the exception to the parent class (remember, every class has Object as the ultimate parent)</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Coding Exceptions</a:t>
            </a:r>
            <a:endParaRPr/>
          </a:p>
        </p:txBody>
      </p:sp>
      <p:sp>
        <p:nvSpPr>
          <p:cNvPr id="145" name="Google Shape;145;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rgbClr val="0044AC"/>
              </a:buClr>
              <a:buSzPts val="3200"/>
              <a:buFont typeface="Arial"/>
              <a:buChar char="•"/>
            </a:pPr>
            <a:r>
              <a:rPr b="0" i="0" lang="en-US" sz="3200" u="none">
                <a:solidFill>
                  <a:srgbClr val="0044AC"/>
                </a:solidFill>
                <a:latin typeface="Calibri"/>
                <a:ea typeface="Calibri"/>
                <a:cs typeface="Calibri"/>
                <a:sym typeface="Calibri"/>
              </a:rPr>
              <a:t>Coding Exceptions</a:t>
            </a:r>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Try-Catch Mechanism</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Wherever your code may trigger an exception, the normal code logic is placed inside a block of code starting with the “try” keyword:</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After the try block, the code to handle the exception should it arise is placed in a block of code starting with the “catch” keyword.</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Standard Java Exceptions</a:t>
            </a:r>
            <a:endParaRPr/>
          </a:p>
        </p:txBody>
      </p:sp>
      <p:sp>
        <p:nvSpPr>
          <p:cNvPr id="151" name="Google Shape;151;p24"/>
          <p:cNvSpPr txBox="1"/>
          <p:nvPr>
            <p:ph idx="1" type="body"/>
          </p:nvPr>
        </p:nvSpPr>
        <p:spPr>
          <a:xfrm>
            <a:off x="642937" y="1500187"/>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152" name="Google Shape;152;p24"/>
          <p:cNvSpPr txBox="1"/>
          <p:nvPr/>
        </p:nvSpPr>
        <p:spPr>
          <a:xfrm>
            <a:off x="3286125" y="1928812"/>
            <a:ext cx="1643062" cy="928687"/>
          </a:xfrm>
          <a:prstGeom prst="rect">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Throwable</a:t>
            </a:r>
            <a:endParaRPr/>
          </a:p>
          <a:p>
            <a:pPr indent="0" lvl="0" marL="0" marR="0" rtl="0" algn="l">
              <a:lnSpc>
                <a:spcPct val="100000"/>
              </a:lnSpc>
              <a:spcBef>
                <a:spcPts val="0"/>
              </a:spcBef>
              <a:spcAft>
                <a:spcPts val="0"/>
              </a:spcAft>
              <a:buNone/>
            </a:pPr>
            <a:r>
              <a:t/>
            </a:r>
            <a:endParaRPr b="0" i="0" sz="1800" u="none">
              <a:solidFill>
                <a:srgbClr val="000000"/>
              </a:solidFill>
              <a:latin typeface="Times New Roman"/>
              <a:ea typeface="Times New Roman"/>
              <a:cs typeface="Times New Roman"/>
              <a:sym typeface="Times New Roman"/>
            </a:endParaRPr>
          </a:p>
        </p:txBody>
      </p:sp>
      <p:sp>
        <p:nvSpPr>
          <p:cNvPr id="153" name="Google Shape;153;p24"/>
          <p:cNvSpPr txBox="1"/>
          <p:nvPr/>
        </p:nvSpPr>
        <p:spPr>
          <a:xfrm>
            <a:off x="2000250" y="3286125"/>
            <a:ext cx="1428750" cy="857250"/>
          </a:xfrm>
          <a:prstGeom prst="rect">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Exception</a:t>
            </a:r>
            <a:endParaRPr/>
          </a:p>
        </p:txBody>
      </p:sp>
      <p:sp>
        <p:nvSpPr>
          <p:cNvPr id="154" name="Google Shape;154;p24"/>
          <p:cNvSpPr txBox="1"/>
          <p:nvPr/>
        </p:nvSpPr>
        <p:spPr>
          <a:xfrm>
            <a:off x="4714875" y="3286125"/>
            <a:ext cx="1785937" cy="857250"/>
          </a:xfrm>
          <a:prstGeom prst="rect">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Error</a:t>
            </a:r>
            <a:endParaRPr/>
          </a:p>
        </p:txBody>
      </p:sp>
      <p:sp>
        <p:nvSpPr>
          <p:cNvPr id="155" name="Google Shape;155;p24"/>
          <p:cNvSpPr txBox="1"/>
          <p:nvPr/>
        </p:nvSpPr>
        <p:spPr>
          <a:xfrm>
            <a:off x="928687" y="4857750"/>
            <a:ext cx="2000250" cy="785812"/>
          </a:xfrm>
          <a:prstGeom prst="rect">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Runtime</a:t>
            </a:r>
            <a:endParaRPr/>
          </a:p>
          <a:p>
            <a:pPr indent="0" lvl="0" marL="0" marR="0" rtl="0" algn="ctr">
              <a:lnSpc>
                <a:spcPct val="100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Exception</a:t>
            </a:r>
            <a:endParaRPr/>
          </a:p>
        </p:txBody>
      </p:sp>
      <p:sp>
        <p:nvSpPr>
          <p:cNvPr id="156" name="Google Shape;156;p24"/>
          <p:cNvSpPr txBox="1"/>
          <p:nvPr/>
        </p:nvSpPr>
        <p:spPr>
          <a:xfrm>
            <a:off x="4000500" y="4857750"/>
            <a:ext cx="1785937" cy="785812"/>
          </a:xfrm>
          <a:prstGeom prst="rect">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IO Exception</a:t>
            </a:r>
            <a:endParaRPr/>
          </a:p>
        </p:txBody>
      </p:sp>
      <p:cxnSp>
        <p:nvCxnSpPr>
          <p:cNvPr id="157" name="Google Shape;157;p24"/>
          <p:cNvCxnSpPr/>
          <p:nvPr/>
        </p:nvCxnSpPr>
        <p:spPr>
          <a:xfrm flipH="1">
            <a:off x="2714625" y="2857500"/>
            <a:ext cx="1000125" cy="428625"/>
          </a:xfrm>
          <a:prstGeom prst="straightConnector1">
            <a:avLst/>
          </a:prstGeom>
          <a:noFill/>
          <a:ln cap="flat" cmpd="sng" w="9525">
            <a:solidFill>
              <a:srgbClr val="4A7EBB"/>
            </a:solidFill>
            <a:prstDash val="solid"/>
            <a:miter lim="800000"/>
            <a:headEnd len="med" w="med" type="none"/>
            <a:tailEnd len="med" w="med" type="stealth"/>
          </a:ln>
        </p:spPr>
      </p:cxnSp>
      <p:cxnSp>
        <p:nvCxnSpPr>
          <p:cNvPr id="158" name="Google Shape;158;p24"/>
          <p:cNvCxnSpPr/>
          <p:nvPr/>
        </p:nvCxnSpPr>
        <p:spPr>
          <a:xfrm>
            <a:off x="4643437" y="2857500"/>
            <a:ext cx="965200" cy="428625"/>
          </a:xfrm>
          <a:prstGeom prst="straightConnector1">
            <a:avLst/>
          </a:prstGeom>
          <a:noFill/>
          <a:ln cap="flat" cmpd="sng" w="9525">
            <a:solidFill>
              <a:srgbClr val="4A7EBB"/>
            </a:solidFill>
            <a:prstDash val="solid"/>
            <a:miter lim="800000"/>
            <a:headEnd len="med" w="med" type="none"/>
            <a:tailEnd len="med" w="med" type="stealth"/>
          </a:ln>
        </p:spPr>
      </p:cxnSp>
      <p:cxnSp>
        <p:nvCxnSpPr>
          <p:cNvPr id="159" name="Google Shape;159;p24"/>
          <p:cNvCxnSpPr/>
          <p:nvPr/>
        </p:nvCxnSpPr>
        <p:spPr>
          <a:xfrm rot="5400000">
            <a:off x="1964531" y="4107656"/>
            <a:ext cx="714375" cy="785812"/>
          </a:xfrm>
          <a:prstGeom prst="straightConnector1">
            <a:avLst/>
          </a:prstGeom>
          <a:noFill/>
          <a:ln cap="flat" cmpd="sng" w="9525">
            <a:solidFill>
              <a:srgbClr val="4A7EBB"/>
            </a:solidFill>
            <a:prstDash val="solid"/>
            <a:miter lim="800000"/>
            <a:headEnd len="med" w="med" type="none"/>
            <a:tailEnd len="med" w="med" type="stealth"/>
          </a:ln>
        </p:spPr>
      </p:cxnSp>
      <p:cxnSp>
        <p:nvCxnSpPr>
          <p:cNvPr id="160" name="Google Shape;160;p24"/>
          <p:cNvCxnSpPr/>
          <p:nvPr/>
        </p:nvCxnSpPr>
        <p:spPr>
          <a:xfrm flipH="1" rot="-5400000">
            <a:off x="3321843" y="3536156"/>
            <a:ext cx="714375" cy="1928812"/>
          </a:xfrm>
          <a:prstGeom prst="straightConnector1">
            <a:avLst/>
          </a:prstGeom>
          <a:noFill/>
          <a:ln cap="flat" cmpd="sng" w="9525">
            <a:solidFill>
              <a:srgbClr val="4A7EBB"/>
            </a:solidFill>
            <a:prstDash val="solid"/>
            <a:miter lim="800000"/>
            <a:headEnd len="med" w="med" type="none"/>
            <a:tailEnd len="med" w="med" type="stealth"/>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Catching Exceptions</a:t>
            </a:r>
            <a:endParaRPr/>
          </a:p>
        </p:txBody>
      </p:sp>
      <p:sp>
        <p:nvSpPr>
          <p:cNvPr id="166" name="Google Shape;166;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Wrap code to be checked in a try-block</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checking occurs all the way down the execution stack</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try-blocks can be nested</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control resumes at most enclosed matching handler</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Coding Exceptions</a:t>
            </a:r>
            <a:endParaRPr/>
          </a:p>
        </p:txBody>
      </p:sp>
      <p:sp>
        <p:nvSpPr>
          <p:cNvPr id="172" name="Google Shape;172;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Example</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try {</a:t>
            </a:r>
            <a:br>
              <a:rPr b="0" i="0" lang="en-US" sz="2800" u="none" cap="none" strike="noStrike">
                <a:solidFill>
                  <a:schemeClr val="dk1"/>
                </a:solidFill>
                <a:latin typeface="Calibri"/>
                <a:ea typeface="Calibri"/>
                <a:cs typeface="Calibri"/>
                <a:sym typeface="Calibri"/>
              </a:rPr>
            </a:br>
            <a:r>
              <a:rPr b="0" i="0" lang="en-US" sz="2800" u="none" cap="none" strike="noStrike">
                <a:solidFill>
                  <a:schemeClr val="dk1"/>
                </a:solidFill>
                <a:latin typeface="Calibri"/>
                <a:ea typeface="Calibri"/>
                <a:cs typeface="Calibri"/>
                <a:sym typeface="Calibri"/>
              </a:rPr>
              <a:t>… normal program code</a:t>
            </a:r>
            <a:br>
              <a:rPr b="0" i="0" lang="en-US" sz="2800" u="none" cap="none" strike="noStrike">
                <a:solidFill>
                  <a:schemeClr val="dk1"/>
                </a:solidFill>
                <a:latin typeface="Calibri"/>
                <a:ea typeface="Calibri"/>
                <a:cs typeface="Calibri"/>
                <a:sym typeface="Calibri"/>
              </a:rPr>
            </a:br>
            <a:r>
              <a:rPr b="0" i="0" lang="en-US" sz="2800" u="none" cap="none" strike="noStrike">
                <a:solidFill>
                  <a:schemeClr val="dk1"/>
                </a:solidFill>
                <a:latin typeface="Calibri"/>
                <a:ea typeface="Calibri"/>
                <a:cs typeface="Calibri"/>
                <a:sym typeface="Calibri"/>
              </a:rPr>
              <a:t>}</a:t>
            </a:r>
            <a:br>
              <a:rPr b="0" i="0" lang="en-US" sz="2800" u="none" cap="none" strike="noStrike">
                <a:solidFill>
                  <a:schemeClr val="dk1"/>
                </a:solidFill>
                <a:latin typeface="Calibri"/>
                <a:ea typeface="Calibri"/>
                <a:cs typeface="Calibri"/>
                <a:sym typeface="Calibri"/>
              </a:rPr>
            </a:br>
            <a:r>
              <a:rPr b="0" i="0" lang="en-US" sz="2800" u="none" cap="none" strike="noStrike">
                <a:solidFill>
                  <a:schemeClr val="dk1"/>
                </a:solidFill>
                <a:latin typeface="Calibri"/>
                <a:ea typeface="Calibri"/>
                <a:cs typeface="Calibri"/>
                <a:sym typeface="Calibri"/>
              </a:rPr>
              <a:t>catch(Exception e) {</a:t>
            </a:r>
            <a:br>
              <a:rPr b="0" i="0" lang="en-US" sz="2800" u="none" cap="none" strike="noStrike">
                <a:solidFill>
                  <a:schemeClr val="dk1"/>
                </a:solidFill>
                <a:latin typeface="Calibri"/>
                <a:ea typeface="Calibri"/>
                <a:cs typeface="Calibri"/>
                <a:sym typeface="Calibri"/>
              </a:rPr>
            </a:br>
            <a:r>
              <a:rPr b="0" i="0" lang="en-US" sz="2800" u="none" cap="none" strike="noStrike">
                <a:solidFill>
                  <a:schemeClr val="dk1"/>
                </a:solidFill>
                <a:latin typeface="Calibri"/>
                <a:ea typeface="Calibri"/>
                <a:cs typeface="Calibri"/>
                <a:sym typeface="Calibri"/>
              </a:rPr>
              <a:t>… exception handling code</a:t>
            </a:r>
            <a:br>
              <a:rPr b="0" i="0" lang="en-US" sz="2800" u="none" cap="none" strike="noStrike">
                <a:solidFill>
                  <a:schemeClr val="dk1"/>
                </a:solidFill>
                <a:latin typeface="Calibri"/>
                <a:ea typeface="Calibri"/>
                <a:cs typeface="Calibri"/>
                <a:sym typeface="Calibri"/>
              </a:rPr>
            </a:br>
            <a:r>
              <a:rPr b="0" i="0" lang="en-US" sz="2800" u="none" cap="none" strike="noStrike">
                <a:solidFill>
                  <a:schemeClr val="dk1"/>
                </a:solidFill>
                <a:latin typeface="Calibri"/>
                <a:ea typeface="Calibri"/>
                <a:cs typeface="Calibri"/>
                <a:sym typeface="Calibri"/>
              </a:rPr>
              <a:t>}</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Coding Exceptions</a:t>
            </a:r>
            <a:endParaRPr/>
          </a:p>
        </p:txBody>
      </p:sp>
      <p:sp>
        <p:nvSpPr>
          <p:cNvPr id="178" name="Google Shape;178;p2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Types of Exceptions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Examples:</a:t>
            </a:r>
            <a:endParaRPr/>
          </a:p>
          <a:p>
            <a:pPr indent="-228600" lvl="2" marL="11430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public void myMethod throws Exception {</a:t>
            </a:r>
            <a:endParaRPr/>
          </a:p>
          <a:p>
            <a:pPr indent="-228600" lvl="2" marL="11430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public void myMethod throws IOException {</a:t>
            </a:r>
            <a:endParaRPr/>
          </a:p>
          <a:p>
            <a:pPr indent="-228600" lvl="2" marL="11430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try { … }</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catch (Exception e) { … }</a:t>
            </a:r>
            <a:endParaRPr/>
          </a:p>
          <a:p>
            <a:pPr indent="-228600" lvl="2" marL="11430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try  { … }</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catch (IOException ioe) { … }</a:t>
            </a:r>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Code Examples</a:t>
            </a:r>
            <a:endParaRPr/>
          </a:p>
        </p:txBody>
      </p:sp>
      <p:sp>
        <p:nvSpPr>
          <p:cNvPr id="184" name="Google Shape;184;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1. Demonstration of an unchecked exception (NullPointerException)</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2. Demonstration of checked exceptions: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Passing a DivideByZeroException</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Handling a DivideByZeroException</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558ED5"/>
              </a:buClr>
              <a:buSzPts val="4400"/>
              <a:buFont typeface="Calibri"/>
              <a:buNone/>
            </a:pPr>
            <a:r>
              <a:rPr b="0" i="0" lang="en-US" sz="4400" u="none">
                <a:solidFill>
                  <a:srgbClr val="558ED5"/>
                </a:solidFill>
                <a:latin typeface="Calibri"/>
                <a:ea typeface="Calibri"/>
                <a:cs typeface="Calibri"/>
                <a:sym typeface="Calibri"/>
              </a:rPr>
              <a:t>Example</a:t>
            </a:r>
            <a:endParaRPr/>
          </a:p>
        </p:txBody>
      </p:sp>
      <p:sp>
        <p:nvSpPr>
          <p:cNvPr id="190" name="Google Shape;190;p29"/>
          <p:cNvSpPr txBox="1"/>
          <p:nvPr>
            <p:ph idx="1" type="body"/>
          </p:nvPr>
        </p:nvSpPr>
        <p:spPr>
          <a:xfrm>
            <a:off x="500062" y="1571625"/>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class error2</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public static void main(String arg[])</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int a=10;</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 int b=5;</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 int c=5;</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 int x,y; </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 try</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 </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 x=a/(b-c);</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 catch(ArithmeticException e)</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System.out.println(“Division by Zero”);</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Y=a/(b-c);</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System.out.println(“y=“+y);</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a:t>
            </a:r>
            <a:endParaRPr/>
          </a:p>
          <a:p>
            <a:pPr indent="-342900" lvl="0" marL="342900" marR="0" rtl="0" algn="l">
              <a:lnSpc>
                <a:spcPct val="80000"/>
              </a:lnSpc>
              <a:spcBef>
                <a:spcPts val="260"/>
              </a:spcBef>
              <a:spcAft>
                <a:spcPts val="0"/>
              </a:spcAft>
              <a:buClr>
                <a:schemeClr val="dk1"/>
              </a:buClr>
              <a:buSzPts val="1300"/>
              <a:buFont typeface="Arial"/>
              <a:buNone/>
            </a:pPr>
            <a:r>
              <a:rPr b="0" i="0" lang="en-US" sz="1300" u="none">
                <a:solidFill>
                  <a:schemeClr val="dk1"/>
                </a:solidFill>
                <a:latin typeface="Calibri"/>
                <a:ea typeface="Calibri"/>
                <a:cs typeface="Calibri"/>
                <a:sym typeface="Calibri"/>
              </a:rPr>
              <a:t>}</a:t>
            </a:r>
            <a:endParaRPr/>
          </a:p>
          <a:p>
            <a:pPr indent="-342900" lvl="0" marL="342900" marR="0" rtl="0" algn="l">
              <a:lnSpc>
                <a:spcPct val="80000"/>
              </a:lnSpc>
              <a:spcBef>
                <a:spcPts val="26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a:p>
            <a:pPr indent="-260350" lvl="0" marL="342900" marR="0" rtl="0" algn="l">
              <a:spcBef>
                <a:spcPts val="26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196" name="Google Shape;196;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In the previous program we cannot see the value of x just because of the error in the value of y, that is division by zero but when we use the try and catch blocks in exception handling then we can see the value of y which is correct and our program will display an error message shown in the try block.</a:t>
            </a:r>
            <a:endParaRPr/>
          </a:p>
          <a:p>
            <a:pPr indent="-3429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44AC"/>
              </a:buClr>
              <a:buSzPts val="4400"/>
              <a:buFont typeface="Calibri"/>
              <a:buNone/>
            </a:pPr>
            <a:r>
              <a:rPr b="0" i="0" lang="en-US" sz="4400" u="none">
                <a:solidFill>
                  <a:srgbClr val="0044AC"/>
                </a:solidFill>
                <a:latin typeface="Calibri"/>
                <a:ea typeface="Calibri"/>
                <a:cs typeface="Calibri"/>
                <a:sym typeface="Calibri"/>
              </a:rPr>
              <a:t>conclusion</a:t>
            </a:r>
            <a:endParaRPr/>
          </a:p>
        </p:txBody>
      </p:sp>
      <p:sp>
        <p:nvSpPr>
          <p:cNvPr id="202" name="Google Shape;202;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Exceptions are a powerful error handling mechanism.</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Exceptions in Java are built into the language.</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Exceptions can be handled by the programmer (try-catch), or handled by the Java environment (throws).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Exception handling can only hide the errors.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It cannot correct the errors.</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