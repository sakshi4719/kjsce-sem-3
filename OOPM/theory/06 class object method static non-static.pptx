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y="6858000" cx="9144000"/>
  <p:notesSz cx="6858000" cy="9144000"/>
  <p:embeddedFontLst>
    <p:embeddedFont>
      <p:font typeface="Book Antiqua"/>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000000"/>
          </p15:clr>
        </p15:guide>
        <p15:guide id="2" pos="576">
          <p15:clr>
            <a:srgbClr val="000000"/>
          </p15:clr>
        </p15:guide>
      </p15:sldGuideLst>
    </p:ext>
    <p:ext uri="{2D200454-40CA-4A62-9FC3-DE9A4176ACB9}">
      <p15:notesGuideLst>
        <p15:guide id="1" orient="horz" pos="2160">
          <p15:clr>
            <a:srgbClr val="000000"/>
          </p15:clr>
        </p15:guide>
        <p15:guide id="2" pos="288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576"/>
      </p:guideLst>
    </p:cSldViewPr>
  </p:slideViewPr>
  <p:notesViewPr>
    <p:cSldViewPr snapToGrid="0">
      <p:cViewPr varScale="1">
        <p:scale>
          <a:sx n="100" d="100"/>
          <a:sy n="100" d="100"/>
        </p:scale>
        <p:origin x="0" y="0"/>
      </p:cViewPr>
      <p:guideLst>
        <p:guide pos="2160" orient="horz"/>
        <p:guide pos="288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font" Target="fonts/BookAntiqua-regular.fntdata"/><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BookAntiqua-bold.fnt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BookAntiqua-boldItalic.fntdata"/><Relationship Id="rId90" Type="http://schemas.openxmlformats.org/officeDocument/2006/relationships/font" Target="fonts/BookAntiqua-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0" lIns="19050" spcFirstLastPara="1" rIns="19050" wrap="square" tIns="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0" lIns="19050" spcFirstLastPara="1" rIns="19050" wrap="square" tIns="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0" lIns="19050" spcFirstLastPara="1" rIns="19050" wrap="square" tIns="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0" lIns="19050" spcFirstLastPara="1" rIns="190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39" name="Google Shape;139;p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5:notes"/>
          <p:cNvSpPr txBox="1"/>
          <p:nvPr>
            <p:ph idx="1" type="body"/>
          </p:nvPr>
        </p:nvSpPr>
        <p:spPr>
          <a:xfrm>
            <a:off x="914400" y="4343400"/>
            <a:ext cx="5029200" cy="4114800"/>
          </a:xfrm>
          <a:prstGeom prst="rect">
            <a:avLst/>
          </a:prstGeom>
          <a:noFill/>
          <a:ln>
            <a:noFill/>
          </a:ln>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74" name="Google Shape;174;p5:notes"/>
          <p:cNvSpPr txBox="1"/>
          <p:nvPr/>
        </p:nvSpPr>
        <p:spPr>
          <a:xfrm>
            <a:off x="3886200" y="8686800"/>
            <a:ext cx="2971800" cy="457200"/>
          </a:xfrm>
          <a:prstGeom prst="rect">
            <a:avLst/>
          </a:prstGeom>
          <a:noFill/>
          <a:ln>
            <a:noFill/>
          </a:ln>
        </p:spPr>
        <p:txBody>
          <a:bodyPr anchorCtr="0" anchor="b" bIns="0" lIns="19050" spcFirstLastPara="1" rIns="19050" wrap="square" tIns="0">
            <a:noAutofit/>
          </a:bodyPr>
          <a:lstStyle/>
          <a:p>
            <a:pPr indent="0" lvl="0" marL="0" marR="0" rtl="0" algn="r">
              <a:lnSpc>
                <a:spcPct val="100000"/>
              </a:lnSpc>
              <a:spcBef>
                <a:spcPts val="0"/>
              </a:spcBef>
              <a:spcAft>
                <a:spcPts val="0"/>
              </a:spcAft>
              <a:buClr>
                <a:srgbClr val="000000"/>
              </a:buClr>
              <a:buSzPts val="1000"/>
              <a:buFont typeface="Times New Roman"/>
              <a:buNone/>
            </a:pPr>
            <a:fld id="{00000000-1234-1234-1234-123412341234}" type="slidenum">
              <a:rPr b="0" i="1" lang="en-US" sz="10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84" name="Google Shape;184;p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02" name="Google Shape;202;p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11" name="Google Shape;211;p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22" name="Google Shape;222;p1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29" name="Google Shape;229;p1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37" name="Google Shape;237;p1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44" name="Google Shape;244;p1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51" name="Google Shape;251;p1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58" name="Google Shape;258;p1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67" name="Google Shape;267;p1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76" name="Google Shape;276;p1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84" name="Google Shape;284;p1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92" name="Google Shape;292;p1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299" name="Google Shape;299;p2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06" name="Google Shape;306;p2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13" name="Google Shape;313;p2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20" name="Google Shape;320;p2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33" name="Google Shape;333;p2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40" name="Google Shape;340;p2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53" name="Google Shape;353;p2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67" name="Google Shape;367;p2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82" name="Google Shape;382;p2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399" name="Google Shape;399;p2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17" name="Google Shape;417;p3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36" name="Google Shape;436;p3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55" name="Google Shape;455;p3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62" name="Google Shape;462;p3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69" name="Google Shape;469;p3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77" name="Google Shape;477;p3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84" name="Google Shape;484;p3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492" name="Google Shape;492;p3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03" name="Google Shape;503;p3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13" name="Google Shape;513;p3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24" name="Google Shape;524;p4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31" name="Google Shape;531;p4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38" name="Google Shape;538;p4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45" name="Google Shape;545;p4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52" name="Google Shape;552;p4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59" name="Google Shape;559;p4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66" name="Google Shape;566;p4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79" name="Google Shape;579;p4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591" name="Google Shape;591;p4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04" name="Google Shape;604;p4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17" name="Google Shape;617;p5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29" name="Google Shape;629;p5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41" name="Google Shape;641;p5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48" name="Google Shape;648;p5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56" name="Google Shape;656;p5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5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68" name="Google Shape;668;p5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80" name="Google Shape;680;p5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89" name="Google Shape;689;p5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5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697" name="Google Shape;697;p5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04" name="Google Shape;704;p5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6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12" name="Google Shape;712;p6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20" name="Google Shape;720;p6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6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28" name="Google Shape;728;p6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6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36" name="Google Shape;736;p6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6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43" name="Google Shape;743;p6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6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50" name="Google Shape;750;p6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6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57" name="Google Shape;757;p6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65" name="Google Shape;765;p6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6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76" name="Google Shape;776;p6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6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83" name="Google Shape;783;p6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7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92" name="Google Shape;792;p7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799" name="Google Shape;799;p7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72: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07" name="Google Shape;807;p72: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73: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15" name="Google Shape;815;p73: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74: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23" name="Google Shape;823;p74: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75: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31" name="Google Shape;831;p75: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6: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38" name="Google Shape;838;p76: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77: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45" name="Google Shape;845;p77: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78: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53" name="Google Shape;853;p78: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79: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60" name="Google Shape;860;p79: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80: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69" name="Google Shape;869;p80: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81:notes"/>
          <p:cNvSpPr txBox="1"/>
          <p:nvPr>
            <p:ph idx="1" type="body"/>
          </p:nvPr>
        </p:nvSpPr>
        <p:spPr>
          <a:xfrm>
            <a:off x="914400" y="4343400"/>
            <a:ext cx="5029200" cy="4114800"/>
          </a:xfrm>
          <a:prstGeom prst="rect">
            <a:avLst/>
          </a:prstGeom>
        </p:spPr>
        <p:txBody>
          <a:bodyPr anchorCtr="0" anchor="t" bIns="46025" lIns="92075" spcFirstLastPara="1" rIns="92075" wrap="square" tIns="46025">
            <a:noAutofit/>
          </a:bodyPr>
          <a:lstStyle/>
          <a:p>
            <a:pPr indent="0" lvl="0" marL="0" rtl="0" algn="l">
              <a:spcBef>
                <a:spcPts val="0"/>
              </a:spcBef>
              <a:spcAft>
                <a:spcPts val="0"/>
              </a:spcAft>
              <a:buNone/>
            </a:pPr>
            <a:r>
              <a:t/>
            </a:r>
            <a:endParaRPr/>
          </a:p>
        </p:txBody>
      </p:sp>
      <p:sp>
        <p:nvSpPr>
          <p:cNvPr id="879" name="Google Shape;879;p81:notes"/>
          <p:cNvSpPr/>
          <p:nvPr>
            <p:ph idx="2" type="sldImg"/>
          </p:nvPr>
        </p:nvSpPr>
        <p:spPr>
          <a:xfrm>
            <a:off x="1150937" y="692150"/>
            <a:ext cx="4556125" cy="341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2"/>
          <p:cNvSpPr txBox="1"/>
          <p:nvPr>
            <p:ph idx="1" type="body"/>
          </p:nvPr>
        </p:nvSpPr>
        <p:spPr>
          <a:xfrm>
            <a:off x="685800" y="1657350"/>
            <a:ext cx="7772400" cy="4114800"/>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3"/>
          <p:cNvSpPr txBox="1"/>
          <p:nvPr>
            <p:ph type="title"/>
          </p:nvPr>
        </p:nvSpPr>
        <p:spPr>
          <a:xfrm rot="5400000">
            <a:off x="4743450" y="2057400"/>
            <a:ext cx="5486400" cy="19431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3"/>
          <p:cNvSpPr txBox="1"/>
          <p:nvPr>
            <p:ph idx="1" type="body"/>
          </p:nvPr>
        </p:nvSpPr>
        <p:spPr>
          <a:xfrm rot="5400000">
            <a:off x="781050" y="190500"/>
            <a:ext cx="5486400" cy="5676900"/>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3" name="Shape 53"/>
        <p:cNvGrpSpPr/>
        <p:nvPr/>
      </p:nvGrpSpPr>
      <p:grpSpPr>
        <a:xfrm>
          <a:off x="0" y="0"/>
          <a:ext cx="0" cy="0"/>
          <a:chOff x="0" y="0"/>
          <a:chExt cx="0" cy="0"/>
        </a:xfrm>
      </p:grpSpPr>
      <p:sp>
        <p:nvSpPr>
          <p:cNvPr id="54" name="Google Shape;54;p4"/>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4"/>
          <p:cNvSpPr txBox="1"/>
          <p:nvPr>
            <p:ph idx="1" type="body"/>
          </p:nvPr>
        </p:nvSpPr>
        <p:spPr>
          <a:xfrm rot="5400000">
            <a:off x="2514600" y="-171450"/>
            <a:ext cx="4114800" cy="7772400"/>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8" name="Shape 58"/>
        <p:cNvGrpSpPr/>
        <p:nvPr/>
      </p:nvGrpSpPr>
      <p:grpSpPr>
        <a:xfrm>
          <a:off x="0" y="0"/>
          <a:ext cx="0" cy="0"/>
          <a:chOff x="0" y="0"/>
          <a:chExt cx="0" cy="0"/>
        </a:xfrm>
      </p:grpSpPr>
      <p:sp>
        <p:nvSpPr>
          <p:cNvPr id="59" name="Google Shape;59;p5"/>
          <p:cNvSpPr txBox="1"/>
          <p:nvPr>
            <p:ph type="title"/>
          </p:nvPr>
        </p:nvSpPr>
        <p:spPr>
          <a:xfrm>
            <a:off x="630238" y="457200"/>
            <a:ext cx="2949575"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5"/>
          <p:cNvSpPr/>
          <p:nvPr>
            <p:ph idx="2" type="pic"/>
          </p:nvPr>
        </p:nvSpPr>
        <p:spPr>
          <a:xfrm>
            <a:off x="3887788" y="987425"/>
            <a:ext cx="4629150" cy="4873625"/>
          </a:xfrm>
          <a:prstGeom prst="rect">
            <a:avLst/>
          </a:prstGeom>
          <a:noFill/>
          <a:ln>
            <a:noFill/>
          </a:ln>
        </p:spPr>
      </p:sp>
      <p:sp>
        <p:nvSpPr>
          <p:cNvPr id="61" name="Google Shape;61;p5"/>
          <p:cNvSpPr txBox="1"/>
          <p:nvPr>
            <p:ph idx="1" type="body"/>
          </p:nvPr>
        </p:nvSpPr>
        <p:spPr>
          <a:xfrm>
            <a:off x="630238" y="2057400"/>
            <a:ext cx="2949575" cy="3811588"/>
          </a:xfrm>
          <a:prstGeom prst="rect">
            <a:avLst/>
          </a:prstGeom>
          <a:noFill/>
          <a:ln>
            <a:noFill/>
          </a:ln>
        </p:spPr>
        <p:txBody>
          <a:bodyPr anchorCtr="0" anchor="t" bIns="46025" lIns="92075" spcFirstLastPara="1" rIns="92075" wrap="square" tIns="46025">
            <a:noAutofit/>
          </a:bodyPr>
          <a:lstStyle>
            <a:lvl1pPr indent="-228600" lvl="0" marL="457200" algn="l">
              <a:spcBef>
                <a:spcPts val="320"/>
              </a:spcBef>
              <a:spcAft>
                <a:spcPts val="0"/>
              </a:spcAft>
              <a:buSzPts val="1200"/>
              <a:buNone/>
              <a:defRPr sz="1600"/>
            </a:lvl1pPr>
            <a:lvl2pPr indent="-228600" lvl="1" marL="914400" algn="l">
              <a:spcBef>
                <a:spcPts val="280"/>
              </a:spcBef>
              <a:spcAft>
                <a:spcPts val="0"/>
              </a:spcAft>
              <a:buSzPts val="1400"/>
              <a:buFont typeface="Times New Roman"/>
              <a:buNone/>
              <a:defRPr sz="1400"/>
            </a:lvl2pPr>
            <a:lvl3pPr indent="-228600" lvl="2" marL="1371600" algn="l">
              <a:spcBef>
                <a:spcPts val="240"/>
              </a:spcBef>
              <a:spcAft>
                <a:spcPts val="0"/>
              </a:spcAft>
              <a:buSzPts val="78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6"/>
          <p:cNvSpPr txBox="1"/>
          <p:nvPr>
            <p:ph type="title"/>
          </p:nvPr>
        </p:nvSpPr>
        <p:spPr>
          <a:xfrm>
            <a:off x="630238" y="457200"/>
            <a:ext cx="2949575" cy="1600200"/>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6"/>
          <p:cNvSpPr txBox="1"/>
          <p:nvPr>
            <p:ph idx="1" type="body"/>
          </p:nvPr>
        </p:nvSpPr>
        <p:spPr>
          <a:xfrm>
            <a:off x="3887788" y="987425"/>
            <a:ext cx="4629150" cy="4873625"/>
          </a:xfrm>
          <a:prstGeom prst="rect">
            <a:avLst/>
          </a:prstGeom>
          <a:noFill/>
          <a:ln>
            <a:noFill/>
          </a:ln>
        </p:spPr>
        <p:txBody>
          <a:bodyPr anchorCtr="0" anchor="t" bIns="46025" lIns="92075" spcFirstLastPara="1" rIns="92075" wrap="square" tIns="46025">
            <a:noAutofit/>
          </a:bodyPr>
          <a:lstStyle>
            <a:lvl1pPr indent="-381000" lvl="0" marL="457200" algn="l">
              <a:spcBef>
                <a:spcPts val="640"/>
              </a:spcBef>
              <a:spcAft>
                <a:spcPts val="0"/>
              </a:spcAft>
              <a:buSzPts val="2400"/>
              <a:buChar char="●"/>
              <a:defRPr sz="3200"/>
            </a:lvl1pPr>
            <a:lvl2pPr indent="-406400" lvl="1" marL="914400" algn="l">
              <a:spcBef>
                <a:spcPts val="560"/>
              </a:spcBef>
              <a:spcAft>
                <a:spcPts val="0"/>
              </a:spcAft>
              <a:buSzPts val="2800"/>
              <a:buFont typeface="Times New Roman"/>
              <a:buChar char="–"/>
              <a:defRPr sz="2800"/>
            </a:lvl2pPr>
            <a:lvl3pPr indent="-327660" lvl="2" marL="1371600" algn="l">
              <a:spcBef>
                <a:spcPts val="480"/>
              </a:spcBef>
              <a:spcAft>
                <a:spcPts val="0"/>
              </a:spcAft>
              <a:buSzPts val="1560"/>
              <a:buChar char="●"/>
              <a:defRPr sz="2400"/>
            </a:lvl3pPr>
            <a:lvl4pPr indent="-355600" lvl="3" marL="1828800" algn="l">
              <a:spcBef>
                <a:spcPts val="400"/>
              </a:spcBef>
              <a:spcAft>
                <a:spcPts val="0"/>
              </a:spcAft>
              <a:buSzPts val="2000"/>
              <a:buFont typeface="Times New Roman"/>
              <a:buChar char="–"/>
              <a:defRPr sz="2000"/>
            </a:lvl4pPr>
            <a:lvl5pPr indent="-355600" lvl="4" marL="2286000" algn="l">
              <a:spcBef>
                <a:spcPts val="400"/>
              </a:spcBef>
              <a:spcAft>
                <a:spcPts val="0"/>
              </a:spcAft>
              <a:buSzPts val="2000"/>
              <a:buFont typeface="Times New Roman"/>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6"/>
          <p:cNvSpPr txBox="1"/>
          <p:nvPr>
            <p:ph idx="2" type="body"/>
          </p:nvPr>
        </p:nvSpPr>
        <p:spPr>
          <a:xfrm>
            <a:off x="630238" y="2057400"/>
            <a:ext cx="2949575" cy="3811588"/>
          </a:xfrm>
          <a:prstGeom prst="rect">
            <a:avLst/>
          </a:prstGeom>
          <a:noFill/>
          <a:ln>
            <a:noFill/>
          </a:ln>
        </p:spPr>
        <p:txBody>
          <a:bodyPr anchorCtr="0" anchor="t" bIns="46025" lIns="92075" spcFirstLastPara="1" rIns="92075" wrap="square" tIns="46025">
            <a:noAutofit/>
          </a:bodyPr>
          <a:lstStyle>
            <a:lvl1pPr indent="-228600" lvl="0" marL="457200" algn="l">
              <a:spcBef>
                <a:spcPts val="320"/>
              </a:spcBef>
              <a:spcAft>
                <a:spcPts val="0"/>
              </a:spcAft>
              <a:buSzPts val="1200"/>
              <a:buNone/>
              <a:defRPr sz="1600"/>
            </a:lvl1pPr>
            <a:lvl2pPr indent="-228600" lvl="1" marL="914400" algn="l">
              <a:spcBef>
                <a:spcPts val="280"/>
              </a:spcBef>
              <a:spcAft>
                <a:spcPts val="0"/>
              </a:spcAft>
              <a:buSzPts val="1400"/>
              <a:buFont typeface="Times New Roman"/>
              <a:buNone/>
              <a:defRPr sz="1400"/>
            </a:lvl2pPr>
            <a:lvl3pPr indent="-228600" lvl="2" marL="1371600" algn="l">
              <a:spcBef>
                <a:spcPts val="240"/>
              </a:spcBef>
              <a:spcAft>
                <a:spcPts val="0"/>
              </a:spcAft>
              <a:buSzPts val="780"/>
              <a:buNone/>
              <a:defRPr sz="1200"/>
            </a:lvl3pPr>
            <a:lvl4pPr indent="-228600" lvl="3" marL="1828800" algn="l">
              <a:spcBef>
                <a:spcPts val="200"/>
              </a:spcBef>
              <a:spcAft>
                <a:spcPts val="0"/>
              </a:spcAft>
              <a:buSzPts val="1000"/>
              <a:buFont typeface="Times New Roman"/>
              <a:buNone/>
              <a:defRPr sz="1000"/>
            </a:lvl4pPr>
            <a:lvl5pPr indent="-228600" lvl="4" marL="2286000" algn="l">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6"/>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7"/>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8"/>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8"/>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7" name="Shape 77"/>
        <p:cNvGrpSpPr/>
        <p:nvPr/>
      </p:nvGrpSpPr>
      <p:grpSpPr>
        <a:xfrm>
          <a:off x="0" y="0"/>
          <a:ext cx="0" cy="0"/>
          <a:chOff x="0" y="0"/>
          <a:chExt cx="0" cy="0"/>
        </a:xfrm>
      </p:grpSpPr>
      <p:sp>
        <p:nvSpPr>
          <p:cNvPr id="78" name="Google Shape;78;p9"/>
          <p:cNvSpPr txBox="1"/>
          <p:nvPr>
            <p:ph type="title"/>
          </p:nvPr>
        </p:nvSpPr>
        <p:spPr>
          <a:xfrm>
            <a:off x="630238" y="365125"/>
            <a:ext cx="7886700" cy="1325563"/>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9"/>
          <p:cNvSpPr txBox="1"/>
          <p:nvPr>
            <p:ph idx="1" type="body"/>
          </p:nvPr>
        </p:nvSpPr>
        <p:spPr>
          <a:xfrm>
            <a:off x="630238" y="1681163"/>
            <a:ext cx="3868737" cy="823912"/>
          </a:xfrm>
          <a:prstGeom prst="rect">
            <a:avLst/>
          </a:prstGeom>
          <a:noFill/>
          <a:ln>
            <a:noFill/>
          </a:ln>
        </p:spPr>
        <p:txBody>
          <a:bodyPr anchorCtr="0" anchor="b" bIns="46025" lIns="92075" spcFirstLastPara="1" rIns="92075"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2000"/>
              <a:buFont typeface="Times New Roman"/>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 name="Google Shape;80;p9"/>
          <p:cNvSpPr txBox="1"/>
          <p:nvPr>
            <p:ph idx="2" type="body"/>
          </p:nvPr>
        </p:nvSpPr>
        <p:spPr>
          <a:xfrm>
            <a:off x="630238" y="2505075"/>
            <a:ext cx="3868737" cy="3684588"/>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
          <p:cNvSpPr txBox="1"/>
          <p:nvPr>
            <p:ph idx="3" type="body"/>
          </p:nvPr>
        </p:nvSpPr>
        <p:spPr>
          <a:xfrm>
            <a:off x="4629150" y="1681163"/>
            <a:ext cx="3887788" cy="823912"/>
          </a:xfrm>
          <a:prstGeom prst="rect">
            <a:avLst/>
          </a:prstGeom>
          <a:noFill/>
          <a:ln>
            <a:noFill/>
          </a:ln>
        </p:spPr>
        <p:txBody>
          <a:bodyPr anchorCtr="0" anchor="b" bIns="46025" lIns="92075" spcFirstLastPara="1" rIns="92075" wrap="square" tIns="46025">
            <a:noAutofit/>
          </a:bodyPr>
          <a:lstStyle>
            <a:lvl1pPr indent="-228600" lvl="0" marL="457200" algn="l">
              <a:spcBef>
                <a:spcPts val="480"/>
              </a:spcBef>
              <a:spcAft>
                <a:spcPts val="0"/>
              </a:spcAft>
              <a:buSzPts val="1800"/>
              <a:buNone/>
              <a:defRPr b="1" sz="2400"/>
            </a:lvl1pPr>
            <a:lvl2pPr indent="-228600" lvl="1" marL="914400" algn="l">
              <a:spcBef>
                <a:spcPts val="400"/>
              </a:spcBef>
              <a:spcAft>
                <a:spcPts val="0"/>
              </a:spcAft>
              <a:buSzPts val="2000"/>
              <a:buFont typeface="Times New Roman"/>
              <a:buNone/>
              <a:defRPr b="1" sz="2000"/>
            </a:lvl2pPr>
            <a:lvl3pPr indent="-228600" lvl="2" marL="1371600" algn="l">
              <a:spcBef>
                <a:spcPts val="360"/>
              </a:spcBef>
              <a:spcAft>
                <a:spcPts val="0"/>
              </a:spcAft>
              <a:buSzPts val="1170"/>
              <a:buNone/>
              <a:defRPr b="1" sz="1800"/>
            </a:lvl3pPr>
            <a:lvl4pPr indent="-228600" lvl="3" marL="1828800" algn="l">
              <a:spcBef>
                <a:spcPts val="320"/>
              </a:spcBef>
              <a:spcAft>
                <a:spcPts val="0"/>
              </a:spcAft>
              <a:buSzPts val="1600"/>
              <a:buFont typeface="Times New Roman"/>
              <a:buNone/>
              <a:defRPr b="1" sz="1600"/>
            </a:lvl4pPr>
            <a:lvl5pPr indent="-228600" lvl="4" marL="2286000" algn="l">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2" name="Google Shape;82;p9"/>
          <p:cNvSpPr txBox="1"/>
          <p:nvPr>
            <p:ph idx="4" type="body"/>
          </p:nvPr>
        </p:nvSpPr>
        <p:spPr>
          <a:xfrm>
            <a:off x="4629150" y="2505075"/>
            <a:ext cx="3887788" cy="3684588"/>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9"/>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9"/>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10"/>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 name="Google Shape;87;p10"/>
          <p:cNvSpPr txBox="1"/>
          <p:nvPr>
            <p:ph idx="1" type="body"/>
          </p:nvPr>
        </p:nvSpPr>
        <p:spPr>
          <a:xfrm>
            <a:off x="685800" y="1657350"/>
            <a:ext cx="3810000" cy="4114800"/>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0"/>
          <p:cNvSpPr txBox="1"/>
          <p:nvPr>
            <p:ph idx="2" type="body"/>
          </p:nvPr>
        </p:nvSpPr>
        <p:spPr>
          <a:xfrm>
            <a:off x="4648200" y="1657350"/>
            <a:ext cx="3810000" cy="4114800"/>
          </a:xfrm>
          <a:prstGeom prst="rect">
            <a:avLst/>
          </a:prstGeom>
          <a:noFill/>
          <a:ln>
            <a:noFill/>
          </a:ln>
        </p:spPr>
        <p:txBody>
          <a:bodyPr anchorCtr="0" anchor="t" bIns="46025" lIns="92075" spcFirstLastPara="1" rIns="92075" wrap="square" tIns="46025">
            <a:noAutofit/>
          </a:bodyPr>
          <a:lstStyle>
            <a:lvl1pPr indent="-314325" lvl="0" marL="457200" algn="l">
              <a:spcBef>
                <a:spcPts val="360"/>
              </a:spcBef>
              <a:spcAft>
                <a:spcPts val="0"/>
              </a:spcAft>
              <a:buSzPts val="1350"/>
              <a:buChar char="●"/>
              <a:defRPr/>
            </a:lvl1pPr>
            <a:lvl2pPr indent="-342900" lvl="1" marL="914400" algn="l">
              <a:spcBef>
                <a:spcPts val="360"/>
              </a:spcBef>
              <a:spcAft>
                <a:spcPts val="0"/>
              </a:spcAft>
              <a:buSzPts val="1800"/>
              <a:buChar char="–"/>
              <a:defRPr/>
            </a:lvl2pPr>
            <a:lvl3pPr indent="-302894" lvl="2" marL="1371600" algn="l">
              <a:spcBef>
                <a:spcPts val="360"/>
              </a:spcBef>
              <a:spcAft>
                <a:spcPts val="0"/>
              </a:spcAft>
              <a:buSzPts val="117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0"/>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0"/>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1" name="Shape 91"/>
        <p:cNvGrpSpPr/>
        <p:nvPr/>
      </p:nvGrpSpPr>
      <p:grpSpPr>
        <a:xfrm>
          <a:off x="0" y="0"/>
          <a:ext cx="0" cy="0"/>
          <a:chOff x="0" y="0"/>
          <a:chExt cx="0" cy="0"/>
        </a:xfrm>
      </p:grpSpPr>
      <p:sp>
        <p:nvSpPr>
          <p:cNvPr id="92" name="Google Shape;92;p11"/>
          <p:cNvSpPr txBox="1"/>
          <p:nvPr>
            <p:ph type="title"/>
          </p:nvPr>
        </p:nvSpPr>
        <p:spPr>
          <a:xfrm>
            <a:off x="623888" y="1709738"/>
            <a:ext cx="7886700" cy="2852737"/>
          </a:xfrm>
          <a:prstGeom prst="rect">
            <a:avLst/>
          </a:prstGeom>
          <a:noFill/>
          <a:ln>
            <a:noFill/>
          </a:ln>
        </p:spPr>
        <p:txBody>
          <a:bodyPr anchorCtr="0" anchor="b" bIns="46025" lIns="92075" spcFirstLastPara="1" rIns="92075" wrap="square" tIns="46025">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11"/>
          <p:cNvSpPr txBox="1"/>
          <p:nvPr>
            <p:ph idx="1" type="body"/>
          </p:nvPr>
        </p:nvSpPr>
        <p:spPr>
          <a:xfrm>
            <a:off x="623888" y="4589463"/>
            <a:ext cx="7886700" cy="1500187"/>
          </a:xfrm>
          <a:prstGeom prst="rect">
            <a:avLst/>
          </a:prstGeom>
          <a:noFill/>
          <a:ln>
            <a:noFill/>
          </a:ln>
        </p:spPr>
        <p:txBody>
          <a:bodyPr anchorCtr="0" anchor="t" bIns="46025" lIns="92075" spcFirstLastPara="1" rIns="92075" wrap="square" tIns="46025">
            <a:noAutofit/>
          </a:bodyPr>
          <a:lstStyle>
            <a:lvl1pPr indent="-228600" lvl="0" marL="457200" algn="l">
              <a:spcBef>
                <a:spcPts val="480"/>
              </a:spcBef>
              <a:spcAft>
                <a:spcPts val="0"/>
              </a:spcAft>
              <a:buSzPts val="1800"/>
              <a:buNone/>
              <a:defRPr sz="2400"/>
            </a:lvl1pPr>
            <a:lvl2pPr indent="-228600" lvl="1" marL="914400" algn="l">
              <a:spcBef>
                <a:spcPts val="400"/>
              </a:spcBef>
              <a:spcAft>
                <a:spcPts val="0"/>
              </a:spcAft>
              <a:buSzPts val="2000"/>
              <a:buFont typeface="Times New Roman"/>
              <a:buNone/>
              <a:defRPr sz="2000"/>
            </a:lvl2pPr>
            <a:lvl3pPr indent="-228600" lvl="2" marL="1371600" algn="l">
              <a:spcBef>
                <a:spcPts val="360"/>
              </a:spcBef>
              <a:spcAft>
                <a:spcPts val="0"/>
              </a:spcAft>
              <a:buSzPts val="1170"/>
              <a:buNone/>
              <a:defRPr sz="1800"/>
            </a:lvl3pPr>
            <a:lvl4pPr indent="-228600" lvl="3" marL="1828800" algn="l">
              <a:spcBef>
                <a:spcPts val="320"/>
              </a:spcBef>
              <a:spcAft>
                <a:spcPts val="0"/>
              </a:spcAft>
              <a:buSzPts val="1600"/>
              <a:buFont typeface="Times New Roman"/>
              <a:buNone/>
              <a:defRPr sz="1600"/>
            </a:lvl4pPr>
            <a:lvl5pPr indent="-228600" lvl="4" marL="2286000" algn="l">
              <a:spcBef>
                <a:spcPts val="320"/>
              </a:spcBef>
              <a:spcAft>
                <a:spcPts val="0"/>
              </a:spcAft>
              <a:buSzPts val="1600"/>
              <a:buFont typeface="Times New Roman"/>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94" name="Google Shape;94;p11"/>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2" name="Shape 132"/>
        <p:cNvGrpSpPr/>
        <p:nvPr/>
      </p:nvGrpSpPr>
      <p:grpSpPr>
        <a:xfrm>
          <a:off x="0" y="0"/>
          <a:ext cx="0" cy="0"/>
          <a:chOff x="0" y="0"/>
          <a:chExt cx="0" cy="0"/>
        </a:xfrm>
      </p:grpSpPr>
      <p:sp>
        <p:nvSpPr>
          <p:cNvPr id="133" name="Google Shape;133;p13"/>
          <p:cNvSpPr txBox="1"/>
          <p:nvPr>
            <p:ph type="ctrTitle"/>
          </p:nvPr>
        </p:nvSpPr>
        <p:spPr>
          <a:xfrm>
            <a:off x="685800" y="3429000"/>
            <a:ext cx="7772400" cy="1143000"/>
          </a:xfrm>
          <a:prstGeom prst="rect">
            <a:avLst/>
          </a:prstGeom>
          <a:noFill/>
          <a:ln>
            <a:noFill/>
          </a:ln>
        </p:spPr>
        <p:txBody>
          <a:bodyPr anchorCtr="0" anchor="ctr" bIns="46025" lIns="92075" spcFirstLastPara="1" rIns="92075" wrap="square" tIns="4602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13"/>
          <p:cNvSpPr txBox="1"/>
          <p:nvPr>
            <p:ph idx="1" type="subTitle"/>
          </p:nvPr>
        </p:nvSpPr>
        <p:spPr>
          <a:xfrm>
            <a:off x="1371600" y="4648200"/>
            <a:ext cx="6400800" cy="1752600"/>
          </a:xfrm>
          <a:prstGeom prst="rect">
            <a:avLst/>
          </a:prstGeom>
          <a:noFill/>
          <a:ln>
            <a:noFill/>
          </a:ln>
        </p:spPr>
        <p:txBody>
          <a:bodyPr anchorCtr="0" anchor="ctr" bIns="46025" lIns="92075" spcFirstLastPara="1" rIns="92075" wrap="square" tIns="46025">
            <a:noAutofit/>
          </a:bodyPr>
          <a:lstStyle>
            <a:lvl1pPr lvl="0" algn="ctr">
              <a:spcBef>
                <a:spcPts val="640"/>
              </a:spcBef>
              <a:spcAft>
                <a:spcPts val="0"/>
              </a:spcAft>
              <a:buSzPts val="2400"/>
              <a:buFont typeface="Arial"/>
              <a:buNone/>
              <a:defRPr/>
            </a:lvl1pPr>
            <a:lvl2pPr lvl="1" algn="l">
              <a:spcBef>
                <a:spcPts val="360"/>
              </a:spcBef>
              <a:spcAft>
                <a:spcPts val="0"/>
              </a:spcAft>
              <a:buSzPts val="1800"/>
              <a:buChar char="–"/>
              <a:defRPr/>
            </a:lvl2pPr>
            <a:lvl3pPr lvl="2" algn="l">
              <a:spcBef>
                <a:spcPts val="360"/>
              </a:spcBef>
              <a:spcAft>
                <a:spcPts val="0"/>
              </a:spcAft>
              <a:buSzPts val="117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35" name="Google Shape;135;p13"/>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3"/>
          <p:cNvSpPr txBox="1"/>
          <p:nvPr>
            <p:ph idx="12" type="sldNum"/>
          </p:nvPr>
        </p:nvSpPr>
        <p:spPr>
          <a:xfrm>
            <a:off x="6553200" y="6400800"/>
            <a:ext cx="1905000" cy="4572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4367212"/>
            <a:ext cx="9131300" cy="2478087"/>
            <a:chOff x="0" y="2751"/>
            <a:chExt cx="5752" cy="1561"/>
          </a:xfrm>
        </p:grpSpPr>
        <p:sp>
          <p:nvSpPr>
            <p:cNvPr id="11" name="Google Shape;11;p1"/>
            <p:cNvSpPr txBox="1"/>
            <p:nvPr/>
          </p:nvSpPr>
          <p:spPr>
            <a:xfrm>
              <a:off x="0" y="4080"/>
              <a:ext cx="5752" cy="232"/>
            </a:xfrm>
            <a:prstGeom prst="rect">
              <a:avLst/>
            </a:prstGeom>
            <a:gradFill>
              <a:gsLst>
                <a:gs pos="0">
                  <a:schemeClr val="lt1"/>
                </a:gs>
                <a:gs pos="100000">
                  <a:schemeClr val="hlink"/>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2" name="Google Shape;12;p1"/>
            <p:cNvGrpSpPr/>
            <p:nvPr/>
          </p:nvGrpSpPr>
          <p:grpSpPr>
            <a:xfrm>
              <a:off x="4458" y="2751"/>
              <a:ext cx="1190" cy="1426"/>
              <a:chOff x="4458" y="2751"/>
              <a:chExt cx="1190" cy="1426"/>
            </a:xfrm>
          </p:grpSpPr>
          <p:sp>
            <p:nvSpPr>
              <p:cNvPr id="13" name="Google Shape;13;p1"/>
              <p:cNvSpPr/>
              <p:nvPr/>
            </p:nvSpPr>
            <p:spPr>
              <a:xfrm>
                <a:off x="4614" y="2790"/>
                <a:ext cx="1034" cy="1273"/>
              </a:xfrm>
              <a:custGeom>
                <a:rect b="b" l="l" r="r" t="t"/>
                <a:pathLst>
                  <a:path extrusionOk="0" h="1273" w="1034">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a:gsLst>
                  <a:gs pos="0">
                    <a:schemeClr val="lt2"/>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 name="Google Shape;14;p1"/>
              <p:cNvCxnSpPr/>
              <p:nvPr/>
            </p:nvCxnSpPr>
            <p:spPr>
              <a:xfrm flipH="1" rot="10800000">
                <a:off x="4639" y="3863"/>
                <a:ext cx="103" cy="186"/>
              </a:xfrm>
              <a:prstGeom prst="straightConnector1">
                <a:avLst/>
              </a:prstGeom>
              <a:noFill/>
              <a:ln cap="flat" cmpd="sng" w="25400">
                <a:solidFill>
                  <a:schemeClr val="lt1"/>
                </a:solidFill>
                <a:prstDash val="solid"/>
                <a:miter lim="800000"/>
                <a:headEnd len="med" w="med" type="none"/>
                <a:tailEnd len="med" w="med" type="none"/>
              </a:ln>
            </p:spPr>
          </p:cxnSp>
          <p:cxnSp>
            <p:nvCxnSpPr>
              <p:cNvPr id="15" name="Google Shape;15;p1"/>
              <p:cNvCxnSpPr/>
              <p:nvPr/>
            </p:nvCxnSpPr>
            <p:spPr>
              <a:xfrm flipH="1" rot="10800000">
                <a:off x="5210" y="2874"/>
                <a:ext cx="36" cy="71"/>
              </a:xfrm>
              <a:prstGeom prst="straightConnector1">
                <a:avLst/>
              </a:prstGeom>
              <a:noFill/>
              <a:ln cap="flat" cmpd="sng" w="25400">
                <a:solidFill>
                  <a:schemeClr val="lt1"/>
                </a:solidFill>
                <a:prstDash val="solid"/>
                <a:miter lim="800000"/>
                <a:headEnd len="med" w="med" type="none"/>
                <a:tailEnd len="med" w="med" type="none"/>
              </a:ln>
            </p:spPr>
          </p:cxnSp>
          <p:cxnSp>
            <p:nvCxnSpPr>
              <p:cNvPr id="16" name="Google Shape;16;p1"/>
              <p:cNvCxnSpPr/>
              <p:nvPr/>
            </p:nvCxnSpPr>
            <p:spPr>
              <a:xfrm flipH="1" rot="10800000">
                <a:off x="5270" y="2751"/>
                <a:ext cx="36" cy="71"/>
              </a:xfrm>
              <a:prstGeom prst="straightConnector1">
                <a:avLst/>
              </a:prstGeom>
              <a:noFill/>
              <a:ln cap="flat" cmpd="sng" w="25400">
                <a:solidFill>
                  <a:schemeClr val="lt1"/>
                </a:solidFill>
                <a:prstDash val="solid"/>
                <a:miter lim="800000"/>
                <a:headEnd len="med" w="med" type="none"/>
                <a:tailEnd len="med" w="med" type="none"/>
              </a:ln>
            </p:spPr>
          </p:cxnSp>
          <p:sp>
            <p:nvSpPr>
              <p:cNvPr id="17" name="Google Shape;17;p1"/>
              <p:cNvSpPr/>
              <p:nvPr/>
            </p:nvSpPr>
            <p:spPr>
              <a:xfrm>
                <a:off x="4753" y="4067"/>
                <a:ext cx="604" cy="110"/>
              </a:xfrm>
              <a:custGeom>
                <a:rect b="b" l="l" r="r" t="t"/>
                <a:pathLst>
                  <a:path extrusionOk="0" h="110" w="604">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a:gsLst>
                  <a:gs pos="0">
                    <a:schemeClr val="lt1"/>
                  </a:gs>
                  <a:gs pos="100000">
                    <a:schemeClr val="lt2"/>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 name="Google Shape;18;p1"/>
              <p:cNvSpPr/>
              <p:nvPr/>
            </p:nvSpPr>
            <p:spPr>
              <a:xfrm>
                <a:off x="4458" y="2879"/>
                <a:ext cx="1074" cy="1073"/>
              </a:xfrm>
              <a:prstGeom prst="ellipse">
                <a:avLst/>
              </a:prstGeom>
              <a:gradFill>
                <a:gsLst>
                  <a:gs pos="0">
                    <a:schemeClr val="lt1"/>
                  </a:gs>
                  <a:gs pos="100000">
                    <a:schemeClr val="lt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9" name="Google Shape;19;p1"/>
              <p:cNvGrpSpPr/>
              <p:nvPr/>
            </p:nvGrpSpPr>
            <p:grpSpPr>
              <a:xfrm>
                <a:off x="4458" y="2991"/>
                <a:ext cx="999" cy="797"/>
                <a:chOff x="4458" y="2991"/>
                <a:chExt cx="999" cy="797"/>
              </a:xfrm>
            </p:grpSpPr>
            <p:sp>
              <p:nvSpPr>
                <p:cNvPr id="20" name="Google Shape;20;p1"/>
                <p:cNvSpPr/>
                <p:nvPr/>
              </p:nvSpPr>
              <p:spPr>
                <a:xfrm>
                  <a:off x="4599" y="3283"/>
                  <a:ext cx="1" cy="17"/>
                </a:xfrm>
                <a:custGeom>
                  <a:rect b="b" l="l" r="r" t="t"/>
                  <a:pathLst>
                    <a:path extrusionOk="0" h="17" w="1">
                      <a:moveTo>
                        <a:pt x="0" y="0"/>
                      </a:moveTo>
                      <a:lnTo>
                        <a:pt x="0" y="16"/>
                      </a:lnTo>
                      <a:lnTo>
                        <a:pt x="0" y="6"/>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 name="Google Shape;21;p1"/>
                <p:cNvSpPr/>
                <p:nvPr/>
              </p:nvSpPr>
              <p:spPr>
                <a:xfrm>
                  <a:off x="4616" y="3305"/>
                  <a:ext cx="17" cy="17"/>
                </a:xfrm>
                <a:custGeom>
                  <a:rect b="b" l="l" r="r" t="t"/>
                  <a:pathLst>
                    <a:path extrusionOk="0" h="17" w="17">
                      <a:moveTo>
                        <a:pt x="0" y="0"/>
                      </a:moveTo>
                      <a:lnTo>
                        <a:pt x="16" y="0"/>
                      </a:lnTo>
                      <a:lnTo>
                        <a:pt x="16" y="16"/>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 name="Google Shape;22;p1"/>
                <p:cNvSpPr/>
                <p:nvPr/>
              </p:nvSpPr>
              <p:spPr>
                <a:xfrm>
                  <a:off x="4674" y="3275"/>
                  <a:ext cx="37" cy="35"/>
                </a:xfrm>
                <a:custGeom>
                  <a:rect b="b" l="l" r="r" t="t"/>
                  <a:pathLst>
                    <a:path extrusionOk="0" h="35" w="37">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 name="Google Shape;23;p1"/>
                <p:cNvSpPr/>
                <p:nvPr/>
              </p:nvSpPr>
              <p:spPr>
                <a:xfrm>
                  <a:off x="4458" y="3303"/>
                  <a:ext cx="324" cy="422"/>
                </a:xfrm>
                <a:custGeom>
                  <a:rect b="b" l="l" r="r" t="t"/>
                  <a:pathLst>
                    <a:path extrusionOk="0" h="422" w="324">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4" name="Google Shape;24;p1"/>
                <p:cNvSpPr/>
                <p:nvPr/>
              </p:nvSpPr>
              <p:spPr>
                <a:xfrm>
                  <a:off x="5205" y="3408"/>
                  <a:ext cx="17" cy="21"/>
                </a:xfrm>
                <a:custGeom>
                  <a:rect b="b" l="l" r="r" t="t"/>
                  <a:pathLst>
                    <a:path extrusionOk="0" h="21" w="17">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 name="Google Shape;25;p1"/>
                <p:cNvSpPr/>
                <p:nvPr/>
              </p:nvSpPr>
              <p:spPr>
                <a:xfrm>
                  <a:off x="5144" y="3496"/>
                  <a:ext cx="49" cy="70"/>
                </a:xfrm>
                <a:custGeom>
                  <a:rect b="b" l="l" r="r" t="t"/>
                  <a:pathLst>
                    <a:path extrusionOk="0" h="70" w="49">
                      <a:moveTo>
                        <a:pt x="0" y="34"/>
                      </a:moveTo>
                      <a:lnTo>
                        <a:pt x="17" y="34"/>
                      </a:lnTo>
                      <a:lnTo>
                        <a:pt x="37" y="0"/>
                      </a:lnTo>
                      <a:lnTo>
                        <a:pt x="48" y="20"/>
                      </a:lnTo>
                      <a:lnTo>
                        <a:pt x="39" y="69"/>
                      </a:lnTo>
                      <a:lnTo>
                        <a:pt x="3" y="57"/>
                      </a:lnTo>
                      <a:lnTo>
                        <a:pt x="0" y="34"/>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 name="Google Shape;26;p1"/>
                <p:cNvSpPr/>
                <p:nvPr/>
              </p:nvSpPr>
              <p:spPr>
                <a:xfrm>
                  <a:off x="5241" y="3523"/>
                  <a:ext cx="84" cy="67"/>
                </a:xfrm>
                <a:custGeom>
                  <a:rect b="b" l="l" r="r" t="t"/>
                  <a:pathLst>
                    <a:path extrusionOk="0" h="67" w="84">
                      <a:moveTo>
                        <a:pt x="5" y="15"/>
                      </a:moveTo>
                      <a:lnTo>
                        <a:pt x="0" y="0"/>
                      </a:lnTo>
                      <a:lnTo>
                        <a:pt x="27" y="6"/>
                      </a:lnTo>
                      <a:lnTo>
                        <a:pt x="67" y="22"/>
                      </a:lnTo>
                      <a:lnTo>
                        <a:pt x="67" y="34"/>
                      </a:lnTo>
                      <a:lnTo>
                        <a:pt x="83" y="66"/>
                      </a:lnTo>
                      <a:lnTo>
                        <a:pt x="52" y="36"/>
                      </a:lnTo>
                      <a:lnTo>
                        <a:pt x="31" y="38"/>
                      </a:lnTo>
                      <a:lnTo>
                        <a:pt x="5" y="15"/>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 name="Google Shape;27;p1"/>
                <p:cNvSpPr/>
                <p:nvPr/>
              </p:nvSpPr>
              <p:spPr>
                <a:xfrm>
                  <a:off x="5400" y="3660"/>
                  <a:ext cx="57" cy="73"/>
                </a:xfrm>
                <a:custGeom>
                  <a:rect b="b" l="l" r="r" t="t"/>
                  <a:pathLst>
                    <a:path extrusionOk="0" h="73" w="57">
                      <a:moveTo>
                        <a:pt x="34" y="0"/>
                      </a:moveTo>
                      <a:lnTo>
                        <a:pt x="56" y="21"/>
                      </a:lnTo>
                      <a:lnTo>
                        <a:pt x="11" y="72"/>
                      </a:lnTo>
                      <a:lnTo>
                        <a:pt x="0" y="60"/>
                      </a:lnTo>
                      <a:lnTo>
                        <a:pt x="32" y="28"/>
                      </a:lnTo>
                      <a:lnTo>
                        <a:pt x="34"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 name="Google Shape;28;p1"/>
                <p:cNvSpPr/>
                <p:nvPr/>
              </p:nvSpPr>
              <p:spPr>
                <a:xfrm>
                  <a:off x="4558" y="3167"/>
                  <a:ext cx="29" cy="48"/>
                </a:xfrm>
                <a:custGeom>
                  <a:rect b="b" l="l" r="r" t="t"/>
                  <a:pathLst>
                    <a:path extrusionOk="0" h="48" w="29">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 name="Google Shape;29;p1"/>
                <p:cNvSpPr/>
                <p:nvPr/>
              </p:nvSpPr>
              <p:spPr>
                <a:xfrm>
                  <a:off x="4549" y="3183"/>
                  <a:ext cx="17" cy="17"/>
                </a:xfrm>
                <a:custGeom>
                  <a:rect b="b" l="l" r="r" t="t"/>
                  <a:pathLst>
                    <a:path extrusionOk="0" h="17" w="17">
                      <a:moveTo>
                        <a:pt x="13" y="5"/>
                      </a:moveTo>
                      <a:lnTo>
                        <a:pt x="16" y="5"/>
                      </a:lnTo>
                      <a:lnTo>
                        <a:pt x="16" y="0"/>
                      </a:lnTo>
                      <a:lnTo>
                        <a:pt x="10" y="0"/>
                      </a:lnTo>
                      <a:lnTo>
                        <a:pt x="0" y="10"/>
                      </a:lnTo>
                      <a:lnTo>
                        <a:pt x="0" y="16"/>
                      </a:lnTo>
                      <a:lnTo>
                        <a:pt x="9" y="16"/>
                      </a:lnTo>
                      <a:lnTo>
                        <a:pt x="13" y="11"/>
                      </a:lnTo>
                      <a:lnTo>
                        <a:pt x="13" y="5"/>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 name="Google Shape;30;p1"/>
                <p:cNvSpPr/>
                <p:nvPr/>
              </p:nvSpPr>
              <p:spPr>
                <a:xfrm>
                  <a:off x="4527" y="3155"/>
                  <a:ext cx="184" cy="155"/>
                </a:xfrm>
                <a:custGeom>
                  <a:rect b="b" l="l" r="r" t="t"/>
                  <a:pathLst>
                    <a:path extrusionOk="0" h="155" w="184">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 name="Google Shape;31;p1"/>
                <p:cNvSpPr/>
                <p:nvPr/>
              </p:nvSpPr>
              <p:spPr>
                <a:xfrm>
                  <a:off x="4605" y="2991"/>
                  <a:ext cx="782" cy="553"/>
                </a:xfrm>
                <a:custGeom>
                  <a:rect b="b" l="l" r="r" t="t"/>
                  <a:pathLst>
                    <a:path extrusionOk="0" h="553" w="782">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 name="Google Shape;32;p1"/>
                <p:cNvSpPr/>
                <p:nvPr/>
              </p:nvSpPr>
              <p:spPr>
                <a:xfrm>
                  <a:off x="5221" y="3217"/>
                  <a:ext cx="68" cy="113"/>
                </a:xfrm>
                <a:custGeom>
                  <a:rect b="b" l="l" r="r" t="t"/>
                  <a:pathLst>
                    <a:path extrusionOk="0" h="113" w="68">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3" name="Google Shape;33;p1"/>
                <p:cNvSpPr/>
                <p:nvPr/>
              </p:nvSpPr>
              <p:spPr>
                <a:xfrm>
                  <a:off x="4967" y="3518"/>
                  <a:ext cx="17" cy="26"/>
                </a:xfrm>
                <a:custGeom>
                  <a:rect b="b" l="l" r="r" t="t"/>
                  <a:pathLst>
                    <a:path extrusionOk="0" h="26" w="17">
                      <a:moveTo>
                        <a:pt x="8" y="0"/>
                      </a:moveTo>
                      <a:lnTo>
                        <a:pt x="0" y="11"/>
                      </a:lnTo>
                      <a:lnTo>
                        <a:pt x="5" y="25"/>
                      </a:lnTo>
                      <a:lnTo>
                        <a:pt x="16" y="15"/>
                      </a:lnTo>
                      <a:lnTo>
                        <a:pt x="8"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 name="Google Shape;34;p1"/>
                <p:cNvSpPr/>
                <p:nvPr/>
              </p:nvSpPr>
              <p:spPr>
                <a:xfrm>
                  <a:off x="5069" y="3545"/>
                  <a:ext cx="158" cy="68"/>
                </a:xfrm>
                <a:custGeom>
                  <a:rect b="b" l="l" r="r" t="t"/>
                  <a:pathLst>
                    <a:path extrusionOk="0" h="68" w="15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 name="Google Shape;35;p1"/>
                <p:cNvSpPr/>
                <p:nvPr/>
              </p:nvSpPr>
              <p:spPr>
                <a:xfrm>
                  <a:off x="5195" y="3601"/>
                  <a:ext cx="169" cy="159"/>
                </a:xfrm>
                <a:custGeom>
                  <a:rect b="b" l="l" r="r" t="t"/>
                  <a:pathLst>
                    <a:path extrusionOk="0" h="159" w="16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 name="Google Shape;36;p1"/>
                <p:cNvSpPr/>
                <p:nvPr/>
              </p:nvSpPr>
              <p:spPr>
                <a:xfrm>
                  <a:off x="5330" y="3768"/>
                  <a:ext cx="17" cy="20"/>
                </a:xfrm>
                <a:custGeom>
                  <a:rect b="b" l="l" r="r" t="t"/>
                  <a:pathLst>
                    <a:path extrusionOk="0" h="20" w="17">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 name="Google Shape;37;p1"/>
                <p:cNvSpPr/>
                <p:nvPr/>
              </p:nvSpPr>
              <p:spPr>
                <a:xfrm>
                  <a:off x="4739" y="3587"/>
                  <a:ext cx="19" cy="76"/>
                </a:xfrm>
                <a:custGeom>
                  <a:rect b="b" l="l" r="r" t="t"/>
                  <a:pathLst>
                    <a:path extrusionOk="0" h="76" w="19">
                      <a:moveTo>
                        <a:pt x="2" y="26"/>
                      </a:moveTo>
                      <a:lnTo>
                        <a:pt x="9" y="20"/>
                      </a:lnTo>
                      <a:lnTo>
                        <a:pt x="14" y="0"/>
                      </a:lnTo>
                      <a:lnTo>
                        <a:pt x="18" y="30"/>
                      </a:lnTo>
                      <a:lnTo>
                        <a:pt x="12" y="67"/>
                      </a:lnTo>
                      <a:lnTo>
                        <a:pt x="0" y="75"/>
                      </a:lnTo>
                      <a:lnTo>
                        <a:pt x="0" y="57"/>
                      </a:lnTo>
                      <a:lnTo>
                        <a:pt x="3" y="45"/>
                      </a:lnTo>
                      <a:lnTo>
                        <a:pt x="2" y="26"/>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sp>
        <p:nvSpPr>
          <p:cNvPr id="38" name="Google Shape;38;p1"/>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39" name="Google Shape;39;p1"/>
          <p:cNvSpPr txBox="1"/>
          <p:nvPr>
            <p:ph idx="1" type="body"/>
          </p:nvPr>
        </p:nvSpPr>
        <p:spPr>
          <a:xfrm>
            <a:off x="685800" y="1657350"/>
            <a:ext cx="7772400" cy="4114800"/>
          </a:xfrm>
          <a:prstGeom prst="rect">
            <a:avLst/>
          </a:prstGeom>
          <a:noFill/>
          <a:ln>
            <a:noFill/>
          </a:ln>
        </p:spPr>
        <p:txBody>
          <a:bodyPr anchorCtr="0" anchor="t" bIns="46025" lIns="92075" spcFirstLastPara="1" rIns="92075" wrap="square" tIns="46025">
            <a:noAutofit/>
          </a:bodyPr>
          <a:lstStyle>
            <a:lvl1pPr indent="-381000" lvl="0" marL="457200" marR="0" rtl="0" algn="l">
              <a:spcBef>
                <a:spcPts val="640"/>
              </a:spcBef>
              <a:spcAft>
                <a:spcPts val="0"/>
              </a:spcAft>
              <a:buClr>
                <a:schemeClr val="dk2"/>
              </a:buClr>
              <a:buSzPts val="24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27660" lvl="2" marL="1371600" marR="0" rtl="0" algn="l">
              <a:spcBef>
                <a:spcPts val="480"/>
              </a:spcBef>
              <a:spcAft>
                <a:spcPts val="0"/>
              </a:spcAft>
              <a:buClr>
                <a:schemeClr val="accent2"/>
              </a:buClr>
              <a:buSzPts val="156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2"/>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40" name="Google Shape;40;p1"/>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1" name="Google Shape;41;p1"/>
          <p:cNvSpPr txBox="1"/>
          <p:nvPr>
            <p:ph idx="12" type="sldNum"/>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42" name="Google Shape;42;p1"/>
          <p:cNvSpPr txBox="1"/>
          <p:nvPr/>
        </p:nvSpPr>
        <p:spPr>
          <a:xfrm>
            <a:off x="1676400" y="6438900"/>
            <a:ext cx="5581650" cy="419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Liang, Introduction to Java Programming, Eleventh Edition, (c) 2018 Pearson Education, Ltd. </a:t>
            </a:r>
            <a:br>
              <a:rPr b="0" i="0" lang="en-US" sz="1000" u="none">
                <a:solidFill>
                  <a:schemeClr val="dk1"/>
                </a:solidFill>
                <a:latin typeface="Arial"/>
                <a:ea typeface="Arial"/>
                <a:cs typeface="Arial"/>
                <a:sym typeface="Arial"/>
              </a:rPr>
            </a:br>
            <a:r>
              <a:rPr b="0" i="0" lang="en-US" sz="1000" u="none">
                <a:solidFill>
                  <a:schemeClr val="dk1"/>
                </a:solidFill>
                <a:latin typeface="Arial"/>
                <a:ea typeface="Arial"/>
                <a:cs typeface="Arial"/>
                <a:sym typeface="Arial"/>
              </a:rPr>
              <a:t>All rights reserved.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grpSp>
        <p:nvGrpSpPr>
          <p:cNvPr id="97" name="Google Shape;97;p12"/>
          <p:cNvGrpSpPr/>
          <p:nvPr/>
        </p:nvGrpSpPr>
        <p:grpSpPr>
          <a:xfrm>
            <a:off x="0" y="114300"/>
            <a:ext cx="9142412" cy="6742112"/>
            <a:chOff x="0" y="72"/>
            <a:chExt cx="5759" cy="4247"/>
          </a:xfrm>
        </p:grpSpPr>
        <p:sp>
          <p:nvSpPr>
            <p:cNvPr id="98" name="Google Shape;98;p12"/>
            <p:cNvSpPr txBox="1"/>
            <p:nvPr/>
          </p:nvSpPr>
          <p:spPr>
            <a:xfrm>
              <a:off x="0" y="2112"/>
              <a:ext cx="5759" cy="22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99" name="Google Shape;99;p12"/>
            <p:cNvGrpSpPr/>
            <p:nvPr/>
          </p:nvGrpSpPr>
          <p:grpSpPr>
            <a:xfrm>
              <a:off x="0" y="72"/>
              <a:ext cx="5759" cy="2040"/>
              <a:chOff x="0" y="72"/>
              <a:chExt cx="5759" cy="2040"/>
            </a:xfrm>
          </p:grpSpPr>
          <p:sp>
            <p:nvSpPr>
              <p:cNvPr id="100" name="Google Shape;100;p12"/>
              <p:cNvSpPr txBox="1"/>
              <p:nvPr/>
            </p:nvSpPr>
            <p:spPr>
              <a:xfrm>
                <a:off x="0" y="1872"/>
                <a:ext cx="5759" cy="240"/>
              </a:xfrm>
              <a:prstGeom prst="rect">
                <a:avLst/>
              </a:prstGeom>
              <a:gradFill>
                <a:gsLst>
                  <a:gs pos="0">
                    <a:schemeClr val="lt1"/>
                  </a:gs>
                  <a:gs pos="100000">
                    <a:schemeClr val="hlink"/>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1" name="Google Shape;101;p12"/>
              <p:cNvGrpSpPr/>
              <p:nvPr/>
            </p:nvGrpSpPr>
            <p:grpSpPr>
              <a:xfrm>
                <a:off x="2289" y="72"/>
                <a:ext cx="1440" cy="1984"/>
                <a:chOff x="2289" y="72"/>
                <a:chExt cx="1440" cy="1984"/>
              </a:xfrm>
            </p:grpSpPr>
            <p:sp>
              <p:nvSpPr>
                <p:cNvPr id="102" name="Google Shape;102;p12"/>
                <p:cNvSpPr/>
                <p:nvPr/>
              </p:nvSpPr>
              <p:spPr>
                <a:xfrm>
                  <a:off x="2289" y="127"/>
                  <a:ext cx="1440" cy="1770"/>
                </a:xfrm>
                <a:custGeom>
                  <a:rect b="b" l="l" r="r" t="t"/>
                  <a:pathLst>
                    <a:path extrusionOk="0" h="1770" w="144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a:gsLst>
                    <a:gs pos="0">
                      <a:schemeClr val="lt2"/>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03" name="Google Shape;103;p12"/>
                <p:cNvCxnSpPr/>
                <p:nvPr/>
              </p:nvCxnSpPr>
              <p:spPr>
                <a:xfrm flipH="1" rot="10800000">
                  <a:off x="2324" y="1620"/>
                  <a:ext cx="143" cy="258"/>
                </a:xfrm>
                <a:prstGeom prst="straightConnector1">
                  <a:avLst/>
                </a:prstGeom>
                <a:noFill/>
                <a:ln cap="flat" cmpd="sng" w="25400">
                  <a:solidFill>
                    <a:schemeClr val="lt1"/>
                  </a:solidFill>
                  <a:prstDash val="solid"/>
                  <a:miter lim="800000"/>
                  <a:headEnd len="med" w="med" type="none"/>
                  <a:tailEnd len="med" w="med" type="none"/>
                </a:ln>
              </p:spPr>
            </p:cxnSp>
            <p:cxnSp>
              <p:nvCxnSpPr>
                <p:cNvPr id="104" name="Google Shape;104;p12"/>
                <p:cNvCxnSpPr/>
                <p:nvPr/>
              </p:nvCxnSpPr>
              <p:spPr>
                <a:xfrm flipH="1" rot="10800000">
                  <a:off x="3119" y="243"/>
                  <a:ext cx="50" cy="99"/>
                </a:xfrm>
                <a:prstGeom prst="straightConnector1">
                  <a:avLst/>
                </a:prstGeom>
                <a:noFill/>
                <a:ln cap="flat" cmpd="sng" w="25400">
                  <a:solidFill>
                    <a:schemeClr val="lt1"/>
                  </a:solidFill>
                  <a:prstDash val="solid"/>
                  <a:miter lim="800000"/>
                  <a:headEnd len="med" w="med" type="none"/>
                  <a:tailEnd len="med" w="med" type="none"/>
                </a:ln>
              </p:spPr>
            </p:cxnSp>
            <p:cxnSp>
              <p:nvCxnSpPr>
                <p:cNvPr id="105" name="Google Shape;105;p12"/>
                <p:cNvCxnSpPr/>
                <p:nvPr/>
              </p:nvCxnSpPr>
              <p:spPr>
                <a:xfrm flipH="1" rot="10800000">
                  <a:off x="3203" y="72"/>
                  <a:ext cx="50" cy="99"/>
                </a:xfrm>
                <a:prstGeom prst="straightConnector1">
                  <a:avLst/>
                </a:prstGeom>
                <a:noFill/>
                <a:ln cap="flat" cmpd="sng" w="25400">
                  <a:solidFill>
                    <a:schemeClr val="lt1"/>
                  </a:solidFill>
                  <a:prstDash val="solid"/>
                  <a:miter lim="800000"/>
                  <a:headEnd len="med" w="med" type="none"/>
                  <a:tailEnd len="med" w="med" type="none"/>
                </a:ln>
              </p:spPr>
            </p:cxnSp>
            <p:sp>
              <p:nvSpPr>
                <p:cNvPr id="106" name="Google Shape;106;p12"/>
                <p:cNvSpPr/>
                <p:nvPr/>
              </p:nvSpPr>
              <p:spPr>
                <a:xfrm>
                  <a:off x="2483" y="1903"/>
                  <a:ext cx="841" cy="153"/>
                </a:xfrm>
                <a:custGeom>
                  <a:rect b="b" l="l" r="r" t="t"/>
                  <a:pathLst>
                    <a:path extrusionOk="0" h="153" w="841">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a:gsLst>
                    <a:gs pos="0">
                      <a:schemeClr val="lt1"/>
                    </a:gs>
                    <a:gs pos="100000">
                      <a:schemeClr val="lt2"/>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107" name="Google Shape;107;p12"/>
              <p:cNvSpPr/>
              <p:nvPr/>
            </p:nvSpPr>
            <p:spPr>
              <a:xfrm>
                <a:off x="2071" y="250"/>
                <a:ext cx="1497" cy="1494"/>
              </a:xfrm>
              <a:prstGeom prst="ellipse">
                <a:avLst/>
              </a:prstGeom>
              <a:gradFill>
                <a:gsLst>
                  <a:gs pos="0">
                    <a:schemeClr val="lt1"/>
                  </a:gs>
                  <a:gs pos="100000">
                    <a:schemeClr val="lt2"/>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08" name="Google Shape;108;p12"/>
              <p:cNvGrpSpPr/>
              <p:nvPr/>
            </p:nvGrpSpPr>
            <p:grpSpPr>
              <a:xfrm>
                <a:off x="2071" y="406"/>
                <a:ext cx="1392" cy="1109"/>
                <a:chOff x="2071" y="406"/>
                <a:chExt cx="1392" cy="1109"/>
              </a:xfrm>
            </p:grpSpPr>
            <p:sp>
              <p:nvSpPr>
                <p:cNvPr id="109" name="Google Shape;109;p12"/>
                <p:cNvSpPr/>
                <p:nvPr/>
              </p:nvSpPr>
              <p:spPr>
                <a:xfrm>
                  <a:off x="2268" y="812"/>
                  <a:ext cx="1" cy="17"/>
                </a:xfrm>
                <a:custGeom>
                  <a:rect b="b" l="l" r="r" t="t"/>
                  <a:pathLst>
                    <a:path extrusionOk="0" h="17" w="1">
                      <a:moveTo>
                        <a:pt x="0" y="0"/>
                      </a:moveTo>
                      <a:lnTo>
                        <a:pt x="0" y="16"/>
                      </a:lnTo>
                      <a:lnTo>
                        <a:pt x="0" y="6"/>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0" name="Google Shape;110;p12"/>
                <p:cNvSpPr/>
                <p:nvPr/>
              </p:nvSpPr>
              <p:spPr>
                <a:xfrm>
                  <a:off x="2292" y="843"/>
                  <a:ext cx="17" cy="17"/>
                </a:xfrm>
                <a:custGeom>
                  <a:rect b="b" l="l" r="r" t="t"/>
                  <a:pathLst>
                    <a:path extrusionOk="0" h="17" w="17">
                      <a:moveTo>
                        <a:pt x="0" y="0"/>
                      </a:moveTo>
                      <a:lnTo>
                        <a:pt x="16" y="0"/>
                      </a:lnTo>
                      <a:lnTo>
                        <a:pt x="16" y="16"/>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1" name="Google Shape;111;p12"/>
                <p:cNvSpPr/>
                <p:nvPr/>
              </p:nvSpPr>
              <p:spPr>
                <a:xfrm>
                  <a:off x="2372" y="802"/>
                  <a:ext cx="51" cy="48"/>
                </a:xfrm>
                <a:custGeom>
                  <a:rect b="b" l="l" r="r" t="t"/>
                  <a:pathLst>
                    <a:path extrusionOk="0" h="48" w="51">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 name="Google Shape;112;p12"/>
                <p:cNvSpPr/>
                <p:nvPr/>
              </p:nvSpPr>
              <p:spPr>
                <a:xfrm>
                  <a:off x="2071" y="840"/>
                  <a:ext cx="451" cy="587"/>
                </a:xfrm>
                <a:custGeom>
                  <a:rect b="b" l="l" r="r" t="t"/>
                  <a:pathLst>
                    <a:path extrusionOk="0" h="587" w="451">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 name="Google Shape;113;p12"/>
                <p:cNvSpPr/>
                <p:nvPr/>
              </p:nvSpPr>
              <p:spPr>
                <a:xfrm>
                  <a:off x="3112" y="987"/>
                  <a:ext cx="17" cy="28"/>
                </a:xfrm>
                <a:custGeom>
                  <a:rect b="b" l="l" r="r" t="t"/>
                  <a:pathLst>
                    <a:path extrusionOk="0" h="28" w="17">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4" name="Google Shape;114;p12"/>
                <p:cNvSpPr/>
                <p:nvPr/>
              </p:nvSpPr>
              <p:spPr>
                <a:xfrm>
                  <a:off x="3027" y="1109"/>
                  <a:ext cx="68" cy="97"/>
                </a:xfrm>
                <a:custGeom>
                  <a:rect b="b" l="l" r="r" t="t"/>
                  <a:pathLst>
                    <a:path extrusionOk="0" h="97" w="68">
                      <a:moveTo>
                        <a:pt x="0" y="48"/>
                      </a:moveTo>
                      <a:lnTo>
                        <a:pt x="24" y="48"/>
                      </a:lnTo>
                      <a:lnTo>
                        <a:pt x="52" y="0"/>
                      </a:lnTo>
                      <a:lnTo>
                        <a:pt x="67" y="28"/>
                      </a:lnTo>
                      <a:lnTo>
                        <a:pt x="55" y="96"/>
                      </a:lnTo>
                      <a:lnTo>
                        <a:pt x="5" y="80"/>
                      </a:lnTo>
                      <a:lnTo>
                        <a:pt x="0" y="48"/>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 name="Google Shape;115;p12"/>
                <p:cNvSpPr/>
                <p:nvPr/>
              </p:nvSpPr>
              <p:spPr>
                <a:xfrm>
                  <a:off x="3162" y="1146"/>
                  <a:ext cx="117" cy="94"/>
                </a:xfrm>
                <a:custGeom>
                  <a:rect b="b" l="l" r="r" t="t"/>
                  <a:pathLst>
                    <a:path extrusionOk="0" h="94" w="117">
                      <a:moveTo>
                        <a:pt x="7" y="22"/>
                      </a:moveTo>
                      <a:lnTo>
                        <a:pt x="0" y="0"/>
                      </a:lnTo>
                      <a:lnTo>
                        <a:pt x="39" y="9"/>
                      </a:lnTo>
                      <a:lnTo>
                        <a:pt x="95" y="32"/>
                      </a:lnTo>
                      <a:lnTo>
                        <a:pt x="95" y="49"/>
                      </a:lnTo>
                      <a:lnTo>
                        <a:pt x="116" y="93"/>
                      </a:lnTo>
                      <a:lnTo>
                        <a:pt x="73" y="51"/>
                      </a:lnTo>
                      <a:lnTo>
                        <a:pt x="44" y="54"/>
                      </a:lnTo>
                      <a:lnTo>
                        <a:pt x="7" y="22"/>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 name="Google Shape;116;p12"/>
                <p:cNvSpPr/>
                <p:nvPr/>
              </p:nvSpPr>
              <p:spPr>
                <a:xfrm>
                  <a:off x="3384" y="1337"/>
                  <a:ext cx="79" cy="101"/>
                </a:xfrm>
                <a:custGeom>
                  <a:rect b="b" l="l" r="r" t="t"/>
                  <a:pathLst>
                    <a:path extrusionOk="0" h="101" w="79">
                      <a:moveTo>
                        <a:pt x="48" y="0"/>
                      </a:moveTo>
                      <a:lnTo>
                        <a:pt x="78" y="30"/>
                      </a:lnTo>
                      <a:lnTo>
                        <a:pt x="16" y="100"/>
                      </a:lnTo>
                      <a:lnTo>
                        <a:pt x="0" y="84"/>
                      </a:lnTo>
                      <a:lnTo>
                        <a:pt x="45" y="39"/>
                      </a:lnTo>
                      <a:lnTo>
                        <a:pt x="48"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7" name="Google Shape;117;p12"/>
                <p:cNvSpPr/>
                <p:nvPr/>
              </p:nvSpPr>
              <p:spPr>
                <a:xfrm>
                  <a:off x="2211" y="651"/>
                  <a:ext cx="39" cy="66"/>
                </a:xfrm>
                <a:custGeom>
                  <a:rect b="b" l="l" r="r" t="t"/>
                  <a:pathLst>
                    <a:path extrusionOk="0" h="66" w="39">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 name="Google Shape;118;p12"/>
                <p:cNvSpPr/>
                <p:nvPr/>
              </p:nvSpPr>
              <p:spPr>
                <a:xfrm>
                  <a:off x="2198" y="673"/>
                  <a:ext cx="21" cy="24"/>
                </a:xfrm>
                <a:custGeom>
                  <a:rect b="b" l="l" r="r" t="t"/>
                  <a:pathLst>
                    <a:path extrusionOk="0" h="24" w="21">
                      <a:moveTo>
                        <a:pt x="17" y="8"/>
                      </a:moveTo>
                      <a:lnTo>
                        <a:pt x="20" y="8"/>
                      </a:lnTo>
                      <a:lnTo>
                        <a:pt x="20" y="0"/>
                      </a:lnTo>
                      <a:lnTo>
                        <a:pt x="13" y="0"/>
                      </a:lnTo>
                      <a:lnTo>
                        <a:pt x="0" y="15"/>
                      </a:lnTo>
                      <a:lnTo>
                        <a:pt x="0" y="23"/>
                      </a:lnTo>
                      <a:lnTo>
                        <a:pt x="12" y="23"/>
                      </a:lnTo>
                      <a:lnTo>
                        <a:pt x="17" y="17"/>
                      </a:lnTo>
                      <a:lnTo>
                        <a:pt x="17" y="8"/>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9" name="Google Shape;119;p12"/>
                <p:cNvSpPr/>
                <p:nvPr/>
              </p:nvSpPr>
              <p:spPr>
                <a:xfrm>
                  <a:off x="2167" y="634"/>
                  <a:ext cx="256" cy="216"/>
                </a:xfrm>
                <a:custGeom>
                  <a:rect b="b" l="l" r="r" t="t"/>
                  <a:pathLst>
                    <a:path extrusionOk="0" h="216" w="25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0" name="Google Shape;120;p12"/>
                <p:cNvSpPr/>
                <p:nvPr/>
              </p:nvSpPr>
              <p:spPr>
                <a:xfrm>
                  <a:off x="2276" y="406"/>
                  <a:ext cx="1089" cy="769"/>
                </a:xfrm>
                <a:custGeom>
                  <a:rect b="b" l="l" r="r" t="t"/>
                  <a:pathLst>
                    <a:path extrusionOk="0" h="769" w="108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1" name="Google Shape;121;p12"/>
                <p:cNvSpPr/>
                <p:nvPr/>
              </p:nvSpPr>
              <p:spPr>
                <a:xfrm>
                  <a:off x="3135" y="720"/>
                  <a:ext cx="94" cy="157"/>
                </a:xfrm>
                <a:custGeom>
                  <a:rect b="b" l="l" r="r" t="t"/>
                  <a:pathLst>
                    <a:path extrusionOk="0" h="157" w="94">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2" name="Google Shape;122;p12"/>
                <p:cNvSpPr/>
                <p:nvPr/>
              </p:nvSpPr>
              <p:spPr>
                <a:xfrm>
                  <a:off x="2780" y="1139"/>
                  <a:ext cx="19" cy="36"/>
                </a:xfrm>
                <a:custGeom>
                  <a:rect b="b" l="l" r="r" t="t"/>
                  <a:pathLst>
                    <a:path extrusionOk="0" h="36" w="19">
                      <a:moveTo>
                        <a:pt x="9" y="0"/>
                      </a:moveTo>
                      <a:lnTo>
                        <a:pt x="0" y="16"/>
                      </a:lnTo>
                      <a:lnTo>
                        <a:pt x="6" y="35"/>
                      </a:lnTo>
                      <a:lnTo>
                        <a:pt x="18" y="21"/>
                      </a:lnTo>
                      <a:lnTo>
                        <a:pt x="9"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3" name="Google Shape;123;p12"/>
                <p:cNvSpPr/>
                <p:nvPr/>
              </p:nvSpPr>
              <p:spPr>
                <a:xfrm>
                  <a:off x="2923" y="1177"/>
                  <a:ext cx="220" cy="94"/>
                </a:xfrm>
                <a:custGeom>
                  <a:rect b="b" l="l" r="r" t="t"/>
                  <a:pathLst>
                    <a:path extrusionOk="0" h="94" w="220">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 name="Google Shape;124;p12"/>
                <p:cNvSpPr/>
                <p:nvPr/>
              </p:nvSpPr>
              <p:spPr>
                <a:xfrm>
                  <a:off x="3098" y="1255"/>
                  <a:ext cx="236" cy="221"/>
                </a:xfrm>
                <a:custGeom>
                  <a:rect b="b" l="l" r="r" t="t"/>
                  <a:pathLst>
                    <a:path extrusionOk="0" h="221" w="236">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 name="Google Shape;125;p12"/>
                <p:cNvSpPr/>
                <p:nvPr/>
              </p:nvSpPr>
              <p:spPr>
                <a:xfrm>
                  <a:off x="3286" y="1488"/>
                  <a:ext cx="18" cy="27"/>
                </a:xfrm>
                <a:custGeom>
                  <a:rect b="b" l="l" r="r" t="t"/>
                  <a:pathLst>
                    <a:path extrusionOk="0" h="27" w="18">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6" name="Google Shape;126;p12"/>
                <p:cNvSpPr/>
                <p:nvPr/>
              </p:nvSpPr>
              <p:spPr>
                <a:xfrm>
                  <a:off x="2463" y="1235"/>
                  <a:ext cx="26" cy="106"/>
                </a:xfrm>
                <a:custGeom>
                  <a:rect b="b" l="l" r="r" t="t"/>
                  <a:pathLst>
                    <a:path extrusionOk="0" h="106" w="26">
                      <a:moveTo>
                        <a:pt x="3" y="37"/>
                      </a:moveTo>
                      <a:lnTo>
                        <a:pt x="13" y="28"/>
                      </a:lnTo>
                      <a:lnTo>
                        <a:pt x="20" y="0"/>
                      </a:lnTo>
                      <a:lnTo>
                        <a:pt x="25" y="42"/>
                      </a:lnTo>
                      <a:lnTo>
                        <a:pt x="17" y="94"/>
                      </a:lnTo>
                      <a:lnTo>
                        <a:pt x="0" y="105"/>
                      </a:lnTo>
                      <a:lnTo>
                        <a:pt x="0" y="80"/>
                      </a:lnTo>
                      <a:lnTo>
                        <a:pt x="5" y="64"/>
                      </a:lnTo>
                      <a:lnTo>
                        <a:pt x="3" y="37"/>
                      </a:lnTo>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sp>
        <p:nvSpPr>
          <p:cNvPr id="127" name="Google Shape;127;p12"/>
          <p:cNvSpPr txBox="1"/>
          <p:nvPr/>
        </p:nvSpPr>
        <p:spPr>
          <a:xfrm>
            <a:off x="1676400" y="6438900"/>
            <a:ext cx="5581650" cy="419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Liang, Introduction to Java Programming, Eleventh Edition, (c) 2018 Pearson Education, Ltd. All rights reserved. </a:t>
            </a:r>
            <a:endParaRPr/>
          </a:p>
        </p:txBody>
      </p:sp>
      <p:sp>
        <p:nvSpPr>
          <p:cNvPr id="128" name="Google Shape;128;p12"/>
          <p:cNvSpPr txBox="1"/>
          <p:nvPr>
            <p:ph type="title"/>
          </p:nvPr>
        </p:nvSpPr>
        <p:spPr>
          <a:xfrm>
            <a:off x="685800" y="285750"/>
            <a:ext cx="7772400" cy="1143000"/>
          </a:xfrm>
          <a:prstGeom prst="rect">
            <a:avLst/>
          </a:prstGeom>
          <a:noFill/>
          <a:ln>
            <a:noFill/>
          </a:ln>
        </p:spPr>
        <p:txBody>
          <a:bodyPr anchorCtr="0" anchor="ctr" bIns="46025" lIns="92075" spcFirstLastPara="1" rIns="92075" wrap="square" tIns="46025">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29" name="Google Shape;129;p12"/>
          <p:cNvSpPr txBox="1"/>
          <p:nvPr>
            <p:ph idx="1" type="body"/>
          </p:nvPr>
        </p:nvSpPr>
        <p:spPr>
          <a:xfrm>
            <a:off x="685800" y="1657350"/>
            <a:ext cx="7772400" cy="4114800"/>
          </a:xfrm>
          <a:prstGeom prst="rect">
            <a:avLst/>
          </a:prstGeom>
          <a:noFill/>
          <a:ln>
            <a:noFill/>
          </a:ln>
        </p:spPr>
        <p:txBody>
          <a:bodyPr anchorCtr="0" anchor="t" bIns="46025" lIns="92075" spcFirstLastPara="1" rIns="92075" wrap="square" tIns="46025">
            <a:noAutofit/>
          </a:bodyPr>
          <a:lstStyle>
            <a:lvl1pPr indent="-381000" lvl="0" marL="457200" marR="0" rtl="0" algn="l">
              <a:spcBef>
                <a:spcPts val="640"/>
              </a:spcBef>
              <a:spcAft>
                <a:spcPts val="0"/>
              </a:spcAft>
              <a:buClr>
                <a:schemeClr val="dk2"/>
              </a:buClr>
              <a:buSzPts val="24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27660" lvl="2" marL="1371600" marR="0" rtl="0" algn="l">
              <a:spcBef>
                <a:spcPts val="480"/>
              </a:spcBef>
              <a:spcAft>
                <a:spcPts val="0"/>
              </a:spcAft>
              <a:buClr>
                <a:schemeClr val="accent2"/>
              </a:buClr>
              <a:buSzPts val="156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2"/>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30" name="Google Shape;130;p12"/>
          <p:cNvSpPr txBox="1"/>
          <p:nvPr>
            <p:ph idx="10" type="dt"/>
          </p:nvPr>
        </p:nvSpPr>
        <p:spPr>
          <a:xfrm>
            <a:off x="685800" y="6400800"/>
            <a:ext cx="1905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1" name="Google Shape;131;p12"/>
          <p:cNvSpPr txBox="1"/>
          <p:nvPr>
            <p:ph idx="12" type="sldNum"/>
          </p:nvPr>
        </p:nvSpPr>
        <p:spPr>
          <a:xfrm>
            <a:off x="6553200" y="6400800"/>
            <a:ext cx="1905000" cy="457200"/>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0.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7.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4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5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4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3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4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5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3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42" name="Google Shape;142;p14"/>
          <p:cNvSpPr txBox="1"/>
          <p:nvPr>
            <p:ph type="title"/>
          </p:nvPr>
        </p:nvSpPr>
        <p:spPr>
          <a:xfrm>
            <a:off x="577850" y="1700212"/>
            <a:ext cx="780415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Objects and Classes</a:t>
            </a:r>
            <a:endParaRPr/>
          </a:p>
        </p:txBody>
      </p:sp>
      <p:sp>
        <p:nvSpPr>
          <p:cNvPr id="143" name="Google Shape;143;p14"/>
          <p:cNvSpPr txBox="1"/>
          <p:nvPr/>
        </p:nvSpPr>
        <p:spPr>
          <a:xfrm>
            <a:off x="2090737" y="2195512"/>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4" name="Google Shape;144;p14"/>
          <p:cNvSpPr txBox="1"/>
          <p:nvPr/>
        </p:nvSpPr>
        <p:spPr>
          <a:xfrm>
            <a:off x="2090737" y="17621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5" name="Google Shape;145;p14"/>
          <p:cNvSpPr txBox="1"/>
          <p:nvPr/>
        </p:nvSpPr>
        <p:spPr>
          <a:xfrm>
            <a:off x="2090737" y="17621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6" name="Google Shape;146;p14"/>
          <p:cNvSpPr txBox="1"/>
          <p:nvPr/>
        </p:nvSpPr>
        <p:spPr>
          <a:xfrm>
            <a:off x="0" y="1951037"/>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52" name="Google Shape;152;p15"/>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OO Programming Concepts</a:t>
            </a:r>
            <a:endParaRPr/>
          </a:p>
        </p:txBody>
      </p:sp>
      <p:sp>
        <p:nvSpPr>
          <p:cNvPr id="153" name="Google Shape;153;p15"/>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 name="Google Shape;154;p15"/>
          <p:cNvSpPr txBox="1"/>
          <p:nvPr/>
        </p:nvSpPr>
        <p:spPr>
          <a:xfrm>
            <a:off x="342900" y="1547812"/>
            <a:ext cx="8610600" cy="224631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Object-oriented programming (OOP) involves programming using objects. An </a:t>
            </a:r>
            <a:r>
              <a:rPr b="0" i="1" lang="en-US" sz="2800" u="none">
                <a:solidFill>
                  <a:schemeClr val="dk1"/>
                </a:solidFill>
                <a:latin typeface="Times New Roman"/>
                <a:ea typeface="Times New Roman"/>
                <a:cs typeface="Times New Roman"/>
                <a:sym typeface="Times New Roman"/>
              </a:rPr>
              <a:t>object</a:t>
            </a:r>
            <a:r>
              <a:rPr b="0" i="0" lang="en-US" sz="2800" u="none">
                <a:solidFill>
                  <a:schemeClr val="dk1"/>
                </a:solidFill>
                <a:latin typeface="Times New Roman"/>
                <a:ea typeface="Times New Roman"/>
                <a:cs typeface="Times New Roman"/>
                <a:sym typeface="Times New Roman"/>
              </a:rPr>
              <a:t> represents an entity in the real world that can be distinctly identified. For example, a student, a desk, a circle, a button, and even a loan can all be viewed as objects.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0" name="Google Shape;160;p16"/>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OO Programming Concepts</a:t>
            </a:r>
            <a:endParaRPr/>
          </a:p>
        </p:txBody>
      </p:sp>
      <p:sp>
        <p:nvSpPr>
          <p:cNvPr id="161" name="Google Shape;161;p16"/>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2" name="Google Shape;162;p16"/>
          <p:cNvSpPr txBox="1"/>
          <p:nvPr/>
        </p:nvSpPr>
        <p:spPr>
          <a:xfrm>
            <a:off x="342900" y="1085850"/>
            <a:ext cx="8610600" cy="452437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a:t>
            </a:r>
            <a:r>
              <a:rPr b="0" i="1" lang="en-US" sz="2400" u="none">
                <a:solidFill>
                  <a:schemeClr val="dk1"/>
                </a:solidFill>
                <a:latin typeface="Times New Roman"/>
                <a:ea typeface="Times New Roman"/>
                <a:cs typeface="Times New Roman"/>
                <a:sym typeface="Times New Roman"/>
              </a:rPr>
              <a:t>state </a:t>
            </a:r>
            <a:r>
              <a:rPr b="0" i="0" lang="en-US" sz="2400" u="none">
                <a:solidFill>
                  <a:schemeClr val="dk1"/>
                </a:solidFill>
                <a:latin typeface="Times New Roman"/>
                <a:ea typeface="Times New Roman"/>
                <a:cs typeface="Times New Roman"/>
                <a:sym typeface="Times New Roman"/>
              </a:rPr>
              <a:t>of an object (also known as its </a:t>
            </a:r>
            <a:r>
              <a:rPr b="0" i="1" lang="en-US" sz="2400" u="none">
                <a:solidFill>
                  <a:schemeClr val="dk1"/>
                </a:solidFill>
                <a:latin typeface="Times New Roman"/>
                <a:ea typeface="Times New Roman"/>
                <a:cs typeface="Times New Roman"/>
                <a:sym typeface="Times New Roman"/>
              </a:rPr>
              <a:t>properties </a:t>
            </a:r>
            <a:r>
              <a:rPr b="0" i="0" lang="en-US" sz="2400" u="none">
                <a:solidFill>
                  <a:schemeClr val="dk1"/>
                </a:solidFill>
                <a:latin typeface="Times New Roman"/>
                <a:ea typeface="Times New Roman"/>
                <a:cs typeface="Times New Roman"/>
                <a:sym typeface="Times New Roman"/>
              </a:rPr>
              <a:t>or </a:t>
            </a:r>
            <a:r>
              <a:rPr b="0" i="1" lang="en-US" sz="2400" u="none">
                <a:solidFill>
                  <a:schemeClr val="dk1"/>
                </a:solidFill>
                <a:latin typeface="Times New Roman"/>
                <a:ea typeface="Times New Roman"/>
                <a:cs typeface="Times New Roman"/>
                <a:sym typeface="Times New Roman"/>
              </a:rPr>
              <a:t>attributes</a:t>
            </a:r>
            <a:r>
              <a:rPr b="0" i="0" lang="en-US" sz="2400" u="none">
                <a:solidFill>
                  <a:schemeClr val="dk1"/>
                </a:solidFill>
                <a:latin typeface="Times New Roman"/>
                <a:ea typeface="Times New Roman"/>
                <a:cs typeface="Times New Roman"/>
                <a:sym typeface="Times New Roman"/>
              </a:rPr>
              <a:t>) is represented by </a:t>
            </a:r>
            <a:r>
              <a:rPr b="0" i="1" lang="en-US" sz="2400" u="none">
                <a:solidFill>
                  <a:schemeClr val="dk1"/>
                </a:solidFill>
                <a:latin typeface="Times New Roman"/>
                <a:ea typeface="Times New Roman"/>
                <a:cs typeface="Times New Roman"/>
                <a:sym typeface="Times New Roman"/>
              </a:rPr>
              <a:t>data fields </a:t>
            </a:r>
            <a:r>
              <a:rPr b="0" i="0" lang="en-US" sz="2400" u="none">
                <a:solidFill>
                  <a:schemeClr val="dk1"/>
                </a:solidFill>
                <a:latin typeface="Times New Roman"/>
                <a:ea typeface="Times New Roman"/>
                <a:cs typeface="Times New Roman"/>
                <a:sym typeface="Times New Roman"/>
              </a:rPr>
              <a:t>with their current values. A circle object, for example, has a data field </a:t>
            </a:r>
            <a:r>
              <a:rPr b="1" i="0" lang="en-US" sz="2400" u="none">
                <a:solidFill>
                  <a:schemeClr val="dk1"/>
                </a:solidFill>
                <a:latin typeface="Times New Roman"/>
                <a:ea typeface="Times New Roman"/>
                <a:cs typeface="Times New Roman"/>
                <a:sym typeface="Times New Roman"/>
              </a:rPr>
              <a:t>radius</a:t>
            </a:r>
            <a:r>
              <a:rPr b="0" i="0" lang="en-US" sz="2400" u="none">
                <a:solidFill>
                  <a:schemeClr val="dk1"/>
                </a:solidFill>
                <a:latin typeface="Times New Roman"/>
                <a:ea typeface="Times New Roman"/>
                <a:cs typeface="Times New Roman"/>
                <a:sym typeface="Times New Roman"/>
              </a:rPr>
              <a:t>, which is the property that characterizes a circle. A rectangle object has the data fields </a:t>
            </a:r>
            <a:r>
              <a:rPr b="1" i="0" lang="en-US" sz="2400" u="none">
                <a:solidFill>
                  <a:schemeClr val="dk1"/>
                </a:solidFill>
                <a:latin typeface="Times New Roman"/>
                <a:ea typeface="Times New Roman"/>
                <a:cs typeface="Times New Roman"/>
                <a:sym typeface="Times New Roman"/>
              </a:rPr>
              <a:t>width </a:t>
            </a:r>
            <a:r>
              <a:rPr b="0" i="0" lang="en-US" sz="2400" u="none">
                <a:solidFill>
                  <a:schemeClr val="dk1"/>
                </a:solidFill>
                <a:latin typeface="Times New Roman"/>
                <a:ea typeface="Times New Roman"/>
                <a:cs typeface="Times New Roman"/>
                <a:sym typeface="Times New Roman"/>
              </a:rPr>
              <a:t>and </a:t>
            </a:r>
            <a:r>
              <a:rPr b="1" i="0" lang="en-US" sz="2400" u="none">
                <a:solidFill>
                  <a:schemeClr val="dk1"/>
                </a:solidFill>
                <a:latin typeface="Times New Roman"/>
                <a:ea typeface="Times New Roman"/>
                <a:cs typeface="Times New Roman"/>
                <a:sym typeface="Times New Roman"/>
              </a:rPr>
              <a:t>height</a:t>
            </a:r>
            <a:r>
              <a:rPr b="0" i="0" lang="en-US" sz="2400" u="none">
                <a:solidFill>
                  <a:schemeClr val="dk1"/>
                </a:solidFill>
                <a:latin typeface="Times New Roman"/>
                <a:ea typeface="Times New Roman"/>
                <a:cs typeface="Times New Roman"/>
                <a:sym typeface="Times New Roman"/>
              </a:rPr>
              <a:t>, which are the properties that characterize a rectangle </a:t>
            </a:r>
            <a:endParaRPr/>
          </a:p>
          <a:p>
            <a:pPr indent="-457200" lvl="0" marL="4572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a:t>
            </a:r>
            <a:r>
              <a:rPr b="0" i="1" lang="en-US" sz="2400" u="none">
                <a:solidFill>
                  <a:schemeClr val="dk1"/>
                </a:solidFill>
                <a:latin typeface="Times New Roman"/>
                <a:ea typeface="Times New Roman"/>
                <a:cs typeface="Times New Roman"/>
                <a:sym typeface="Times New Roman"/>
              </a:rPr>
              <a:t>behavior </a:t>
            </a:r>
            <a:r>
              <a:rPr b="0" i="0" lang="en-US" sz="2400" u="none">
                <a:solidFill>
                  <a:schemeClr val="dk1"/>
                </a:solidFill>
                <a:latin typeface="Times New Roman"/>
                <a:ea typeface="Times New Roman"/>
                <a:cs typeface="Times New Roman"/>
                <a:sym typeface="Times New Roman"/>
              </a:rPr>
              <a:t>of an object (also known as its </a:t>
            </a:r>
            <a:r>
              <a:rPr b="0" i="1" lang="en-US" sz="2400" u="none">
                <a:solidFill>
                  <a:schemeClr val="dk1"/>
                </a:solidFill>
                <a:latin typeface="Times New Roman"/>
                <a:ea typeface="Times New Roman"/>
                <a:cs typeface="Times New Roman"/>
                <a:sym typeface="Times New Roman"/>
              </a:rPr>
              <a:t>actions</a:t>
            </a:r>
            <a:r>
              <a:rPr b="0" i="0" lang="en-US" sz="2400" u="none">
                <a:solidFill>
                  <a:schemeClr val="dk1"/>
                </a:solidFill>
                <a:latin typeface="Times New Roman"/>
                <a:ea typeface="Times New Roman"/>
                <a:cs typeface="Times New Roman"/>
                <a:sym typeface="Times New Roman"/>
              </a:rPr>
              <a:t>) is defined by methods. To invoke a method on an object is to ask the object to perform an action. For example, you may define methods named </a:t>
            </a:r>
            <a:r>
              <a:rPr b="1" i="0" lang="en-US" sz="2400" u="none">
                <a:solidFill>
                  <a:schemeClr val="dk1"/>
                </a:solidFill>
                <a:latin typeface="Times New Roman"/>
                <a:ea typeface="Times New Roman"/>
                <a:cs typeface="Times New Roman"/>
                <a:sym typeface="Times New Roman"/>
              </a:rPr>
              <a:t>getArea() </a:t>
            </a:r>
            <a:r>
              <a:rPr b="0" i="0" lang="en-US" sz="2400" u="none">
                <a:solidFill>
                  <a:schemeClr val="dk1"/>
                </a:solidFill>
                <a:latin typeface="Times New Roman"/>
                <a:ea typeface="Times New Roman"/>
                <a:cs typeface="Times New Roman"/>
                <a:sym typeface="Times New Roman"/>
              </a:rPr>
              <a:t>and </a:t>
            </a:r>
            <a:r>
              <a:rPr b="1" i="0" lang="en-US" sz="2400" u="none">
                <a:solidFill>
                  <a:schemeClr val="dk1"/>
                </a:solidFill>
                <a:latin typeface="Times New Roman"/>
                <a:ea typeface="Times New Roman"/>
                <a:cs typeface="Times New Roman"/>
                <a:sym typeface="Times New Roman"/>
              </a:rPr>
              <a:t>getPerimeter() </a:t>
            </a:r>
            <a:r>
              <a:rPr b="0" i="0" lang="en-US" sz="2400" u="none">
                <a:solidFill>
                  <a:schemeClr val="dk1"/>
                </a:solidFill>
                <a:latin typeface="Times New Roman"/>
                <a:ea typeface="Times New Roman"/>
                <a:cs typeface="Times New Roman"/>
                <a:sym typeface="Times New Roman"/>
              </a:rPr>
              <a:t>for circle objects. A circle object may invoke </a:t>
            </a:r>
            <a:r>
              <a:rPr b="1" i="0" lang="en-US" sz="2400" u="none">
                <a:solidFill>
                  <a:schemeClr val="dk1"/>
                </a:solidFill>
                <a:latin typeface="Times New Roman"/>
                <a:ea typeface="Times New Roman"/>
                <a:cs typeface="Times New Roman"/>
                <a:sym typeface="Times New Roman"/>
              </a:rPr>
              <a:t>getArea() </a:t>
            </a:r>
            <a:r>
              <a:rPr b="0" i="0" lang="en-US" sz="2400" u="none">
                <a:solidFill>
                  <a:schemeClr val="dk1"/>
                </a:solidFill>
                <a:latin typeface="Times New Roman"/>
                <a:ea typeface="Times New Roman"/>
                <a:cs typeface="Times New Roman"/>
                <a:sym typeface="Times New Roman"/>
              </a:rPr>
              <a:t>to return its area and </a:t>
            </a:r>
            <a:r>
              <a:rPr b="1" i="0" lang="en-US" sz="2400" u="none">
                <a:solidFill>
                  <a:schemeClr val="dk1"/>
                </a:solidFill>
                <a:latin typeface="Times New Roman"/>
                <a:ea typeface="Times New Roman"/>
                <a:cs typeface="Times New Roman"/>
                <a:sym typeface="Times New Roman"/>
              </a:rPr>
              <a:t>getPerim- eter() </a:t>
            </a:r>
            <a:r>
              <a:rPr b="0" i="0" lang="en-US" sz="2400" u="none">
                <a:solidFill>
                  <a:schemeClr val="dk1"/>
                </a:solidFill>
                <a:latin typeface="Times New Roman"/>
                <a:ea typeface="Times New Roman"/>
                <a:cs typeface="Times New Roman"/>
                <a:sym typeface="Times New Roman"/>
              </a:rPr>
              <a:t>to return its perimeter.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8" name="Google Shape;168;p17"/>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OO Programming Concepts</a:t>
            </a:r>
            <a:endParaRPr/>
          </a:p>
        </p:txBody>
      </p:sp>
      <p:sp>
        <p:nvSpPr>
          <p:cNvPr id="169" name="Google Shape;169;p17"/>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0" name="Google Shape;170;p17"/>
          <p:cNvSpPr txBox="1"/>
          <p:nvPr/>
        </p:nvSpPr>
        <p:spPr>
          <a:xfrm>
            <a:off x="342900" y="1085850"/>
            <a:ext cx="8610600" cy="37861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Objects of the same type are defined using a common class. A </a:t>
            </a:r>
            <a:r>
              <a:rPr b="0" i="1" lang="en-US" sz="2400" u="none">
                <a:solidFill>
                  <a:schemeClr val="dk1"/>
                </a:solidFill>
                <a:latin typeface="Times New Roman"/>
                <a:ea typeface="Times New Roman"/>
                <a:cs typeface="Times New Roman"/>
                <a:sym typeface="Times New Roman"/>
              </a:rPr>
              <a:t>class </a:t>
            </a:r>
            <a:r>
              <a:rPr b="0" i="0" lang="en-US" sz="2400" u="none">
                <a:solidFill>
                  <a:schemeClr val="dk1"/>
                </a:solidFill>
                <a:latin typeface="Times New Roman"/>
                <a:ea typeface="Times New Roman"/>
                <a:cs typeface="Times New Roman"/>
                <a:sym typeface="Times New Roman"/>
              </a:rPr>
              <a:t>is a template, blueprint, or </a:t>
            </a:r>
            <a:r>
              <a:rPr b="0" i="1" lang="en-US" sz="2400" u="none">
                <a:solidFill>
                  <a:schemeClr val="dk1"/>
                </a:solidFill>
                <a:latin typeface="Times New Roman"/>
                <a:ea typeface="Times New Roman"/>
                <a:cs typeface="Times New Roman"/>
                <a:sym typeface="Times New Roman"/>
              </a:rPr>
              <a:t>contract </a:t>
            </a:r>
            <a:r>
              <a:rPr b="0" i="0" lang="en-US" sz="2400" u="none">
                <a:solidFill>
                  <a:schemeClr val="dk1"/>
                </a:solidFill>
                <a:latin typeface="Times New Roman"/>
                <a:ea typeface="Times New Roman"/>
                <a:cs typeface="Times New Roman"/>
                <a:sym typeface="Times New Roman"/>
              </a:rPr>
              <a:t>that defines what an object’s data fields and methods will be. </a:t>
            </a:r>
            <a:r>
              <a:rPr b="0" i="0" lang="en-US" sz="2400" u="none">
                <a:solidFill>
                  <a:srgbClr val="FF0000"/>
                </a:solidFill>
                <a:latin typeface="Times New Roman"/>
                <a:ea typeface="Times New Roman"/>
                <a:cs typeface="Times New Roman"/>
                <a:sym typeface="Times New Roman"/>
              </a:rPr>
              <a:t>An object is an instance of a class</a:t>
            </a:r>
            <a:r>
              <a:rPr b="0" i="0" lang="en-US" sz="2400" u="none">
                <a:solidFill>
                  <a:schemeClr val="dk1"/>
                </a:solidFill>
                <a:latin typeface="Times New Roman"/>
                <a:ea typeface="Times New Roman"/>
                <a:cs typeface="Times New Roman"/>
                <a:sym typeface="Times New Roman"/>
              </a:rPr>
              <a:t>. You can create many instances of a class. Creating an instance is referred to as </a:t>
            </a:r>
            <a:r>
              <a:rPr b="0" i="1" lang="en-US" sz="2400" u="none">
                <a:solidFill>
                  <a:schemeClr val="dk1"/>
                </a:solidFill>
                <a:latin typeface="Times New Roman"/>
                <a:ea typeface="Times New Roman"/>
                <a:cs typeface="Times New Roman"/>
                <a:sym typeface="Times New Roman"/>
              </a:rPr>
              <a:t>instantiation</a:t>
            </a:r>
            <a:r>
              <a:rPr b="0" i="0" lang="en-US" sz="2400" u="none">
                <a:solidFill>
                  <a:schemeClr val="dk1"/>
                </a:solidFill>
                <a:latin typeface="Times New Roman"/>
                <a:ea typeface="Times New Roman"/>
                <a:cs typeface="Times New Roman"/>
                <a:sym typeface="Times New Roman"/>
              </a:rPr>
              <a:t>. </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terms </a:t>
            </a:r>
            <a:r>
              <a:rPr b="0" i="1" lang="en-US" sz="2400" u="none">
                <a:solidFill>
                  <a:schemeClr val="dk1"/>
                </a:solidFill>
                <a:latin typeface="Times New Roman"/>
                <a:ea typeface="Times New Roman"/>
                <a:cs typeface="Times New Roman"/>
                <a:sym typeface="Times New Roman"/>
              </a:rPr>
              <a:t>object </a:t>
            </a:r>
            <a:r>
              <a:rPr b="0" i="0" lang="en-US" sz="2400" u="none">
                <a:solidFill>
                  <a:schemeClr val="dk1"/>
                </a:solidFill>
                <a:latin typeface="Times New Roman"/>
                <a:ea typeface="Times New Roman"/>
                <a:cs typeface="Times New Roman"/>
                <a:sym typeface="Times New Roman"/>
              </a:rPr>
              <a:t>and </a:t>
            </a:r>
            <a:r>
              <a:rPr b="0" i="1" lang="en-US" sz="2400" u="none">
                <a:solidFill>
                  <a:schemeClr val="dk1"/>
                </a:solidFill>
                <a:latin typeface="Times New Roman"/>
                <a:ea typeface="Times New Roman"/>
                <a:cs typeface="Times New Roman"/>
                <a:sym typeface="Times New Roman"/>
              </a:rPr>
              <a:t>instance </a:t>
            </a:r>
            <a:r>
              <a:rPr b="0" i="0" lang="en-US" sz="2400" u="none">
                <a:solidFill>
                  <a:schemeClr val="dk1"/>
                </a:solidFill>
                <a:latin typeface="Times New Roman"/>
                <a:ea typeface="Times New Roman"/>
                <a:cs typeface="Times New Roman"/>
                <a:sym typeface="Times New Roman"/>
              </a:rPr>
              <a:t>are often interchangeable. The relationship between classes and objects is analogous to that between an apple-pie recipe and apple pies: You can make as many apple pies as you want from a single recipe.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77" name="Google Shape;177;p18"/>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Objects</a:t>
            </a:r>
            <a:endParaRPr/>
          </a:p>
        </p:txBody>
      </p:sp>
      <p:sp>
        <p:nvSpPr>
          <p:cNvPr id="178" name="Google Shape;178;p18"/>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9" name="Google Shape;179;p18"/>
          <p:cNvSpPr txBox="1"/>
          <p:nvPr/>
        </p:nvSpPr>
        <p:spPr>
          <a:xfrm>
            <a:off x="304800" y="4267200"/>
            <a:ext cx="8686800" cy="155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An object has both a state and behavior. The state defines the object, and the behavior defines what the object does.</a:t>
            </a:r>
            <a:endParaRPr/>
          </a:p>
        </p:txBody>
      </p:sp>
      <p:sp>
        <p:nvSpPr>
          <p:cNvPr id="180" name="Google Shape;180;p18"/>
          <p:cNvSpPr txBox="1"/>
          <p:nvPr/>
        </p:nvSpPr>
        <p:spPr>
          <a:xfrm>
            <a:off x="0" y="25527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81" name="Google Shape;181;p18"/>
          <p:cNvPicPr preferRelativeResize="0"/>
          <p:nvPr/>
        </p:nvPicPr>
        <p:blipFill rotWithShape="1">
          <a:blip r:embed="rId3">
            <a:alphaModFix/>
          </a:blip>
          <a:srcRect b="0" l="0" r="0" t="0"/>
          <a:stretch/>
        </p:blipFill>
        <p:spPr>
          <a:xfrm>
            <a:off x="385762" y="1047750"/>
            <a:ext cx="8299450" cy="2940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87" name="Google Shape;187;p19"/>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Classes</a:t>
            </a:r>
            <a:endParaRPr/>
          </a:p>
        </p:txBody>
      </p:sp>
      <p:sp>
        <p:nvSpPr>
          <p:cNvPr id="188" name="Google Shape;188;p19"/>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9" name="Google Shape;189;p19"/>
          <p:cNvSpPr txBox="1"/>
          <p:nvPr/>
        </p:nvSpPr>
        <p:spPr>
          <a:xfrm>
            <a:off x="304800" y="1295400"/>
            <a:ext cx="8610600" cy="3046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1" lang="en-US" sz="3200" u="none">
                <a:solidFill>
                  <a:schemeClr val="dk1"/>
                </a:solidFill>
                <a:latin typeface="Times New Roman"/>
                <a:ea typeface="Times New Roman"/>
                <a:cs typeface="Times New Roman"/>
                <a:sym typeface="Times New Roman"/>
              </a:rPr>
              <a:t>Classes</a:t>
            </a:r>
            <a:r>
              <a:rPr b="0" i="0" lang="en-US" sz="3200" u="none">
                <a:solidFill>
                  <a:schemeClr val="dk1"/>
                </a:solidFill>
                <a:latin typeface="Times New Roman"/>
                <a:ea typeface="Times New Roman"/>
                <a:cs typeface="Times New Roman"/>
                <a:sym typeface="Times New Roman"/>
              </a:rPr>
              <a:t> are constructs that define objects of the same type. A Java class uses variables to define data fields and methods to define behaviors. Additionally, a class provides a special type of methods, known as </a:t>
            </a:r>
            <a:r>
              <a:rPr b="0" i="0" lang="en-US" sz="3200" u="none">
                <a:solidFill>
                  <a:srgbClr val="FF0000"/>
                </a:solidFill>
                <a:latin typeface="Times New Roman"/>
                <a:ea typeface="Times New Roman"/>
                <a:cs typeface="Times New Roman"/>
                <a:sym typeface="Times New Roman"/>
              </a:rPr>
              <a:t>constructors</a:t>
            </a:r>
            <a:r>
              <a:rPr b="0" i="0" lang="en-US" sz="3200" u="none">
                <a:solidFill>
                  <a:schemeClr val="dk1"/>
                </a:solidFill>
                <a:latin typeface="Times New Roman"/>
                <a:ea typeface="Times New Roman"/>
                <a:cs typeface="Times New Roman"/>
                <a:sym typeface="Times New Roman"/>
              </a:rPr>
              <a:t>, which are invoked to construct objects from the class. </a:t>
            </a:r>
            <a:endParaRPr/>
          </a:p>
        </p:txBody>
      </p:sp>
      <p:sp>
        <p:nvSpPr>
          <p:cNvPr id="190" name="Google Shape;190;p19"/>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96" name="Google Shape;196;p20"/>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Classes</a:t>
            </a:r>
            <a:endParaRPr/>
          </a:p>
        </p:txBody>
      </p:sp>
      <p:sp>
        <p:nvSpPr>
          <p:cNvPr id="197" name="Google Shape;197;p20"/>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8" name="Google Shape;198;p20"/>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99" name="Google Shape;199;p20"/>
          <p:cNvPicPr preferRelativeResize="0"/>
          <p:nvPr/>
        </p:nvPicPr>
        <p:blipFill rotWithShape="1">
          <a:blip r:embed="rId3">
            <a:alphaModFix/>
          </a:blip>
          <a:srcRect b="0" l="0" r="0" t="0"/>
          <a:stretch/>
        </p:blipFill>
        <p:spPr>
          <a:xfrm>
            <a:off x="228600" y="838200"/>
            <a:ext cx="8763000" cy="56530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05" name="Google Shape;205;p21"/>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Classes</a:t>
            </a:r>
            <a:endParaRPr/>
          </a:p>
        </p:txBody>
      </p:sp>
      <p:sp>
        <p:nvSpPr>
          <p:cNvPr id="206" name="Google Shape;206;p21"/>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7" name="Google Shape;207;p21"/>
          <p:cNvSpPr txBox="1"/>
          <p:nvPr/>
        </p:nvSpPr>
        <p:spPr>
          <a:xfrm>
            <a:off x="3175" y="971550"/>
            <a:ext cx="8610600" cy="440055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The </a:t>
            </a:r>
            <a:r>
              <a:rPr b="1" i="0" lang="en-US" sz="2800" u="none">
                <a:solidFill>
                  <a:schemeClr val="dk1"/>
                </a:solidFill>
                <a:latin typeface="Times New Roman"/>
                <a:ea typeface="Times New Roman"/>
                <a:cs typeface="Times New Roman"/>
                <a:sym typeface="Times New Roman"/>
              </a:rPr>
              <a:t>Circle </a:t>
            </a:r>
            <a:r>
              <a:rPr b="0" i="0" lang="en-US" sz="2800" u="none">
                <a:solidFill>
                  <a:schemeClr val="dk1"/>
                </a:solidFill>
                <a:latin typeface="Times New Roman"/>
                <a:ea typeface="Times New Roman"/>
                <a:cs typeface="Times New Roman"/>
                <a:sym typeface="Times New Roman"/>
              </a:rPr>
              <a:t>class is different from all of the other classes you have seen thus far. It does not have a </a:t>
            </a:r>
            <a:r>
              <a:rPr b="1" i="0" lang="en-US" sz="2800" u="none">
                <a:solidFill>
                  <a:schemeClr val="dk1"/>
                </a:solidFill>
                <a:latin typeface="Times New Roman"/>
                <a:ea typeface="Times New Roman"/>
                <a:cs typeface="Times New Roman"/>
                <a:sym typeface="Times New Roman"/>
              </a:rPr>
              <a:t>main </a:t>
            </a:r>
            <a:r>
              <a:rPr b="0" i="0" lang="en-US" sz="2800" u="none">
                <a:solidFill>
                  <a:schemeClr val="dk1"/>
                </a:solidFill>
                <a:latin typeface="Times New Roman"/>
                <a:ea typeface="Times New Roman"/>
                <a:cs typeface="Times New Roman"/>
                <a:sym typeface="Times New Roman"/>
              </a:rPr>
              <a:t>method and therefore cannot be run; it is merely a definition for circle objects. The class that contains the </a:t>
            </a:r>
            <a:r>
              <a:rPr b="1" i="0" lang="en-US" sz="2800" u="none">
                <a:solidFill>
                  <a:schemeClr val="dk1"/>
                </a:solidFill>
                <a:latin typeface="Times New Roman"/>
                <a:ea typeface="Times New Roman"/>
                <a:cs typeface="Times New Roman"/>
                <a:sym typeface="Times New Roman"/>
              </a:rPr>
              <a:t>main </a:t>
            </a:r>
            <a:r>
              <a:rPr b="0" i="0" lang="en-US" sz="2800" u="none">
                <a:solidFill>
                  <a:schemeClr val="dk1"/>
                </a:solidFill>
                <a:latin typeface="Times New Roman"/>
                <a:ea typeface="Times New Roman"/>
                <a:cs typeface="Times New Roman"/>
                <a:sym typeface="Times New Roman"/>
              </a:rPr>
              <a:t>method will be referred to in this book, for convenience, as the </a:t>
            </a:r>
            <a:r>
              <a:rPr b="0" i="1" lang="en-US" sz="2800" u="none">
                <a:solidFill>
                  <a:srgbClr val="FF0000"/>
                </a:solidFill>
                <a:latin typeface="Times New Roman"/>
                <a:ea typeface="Times New Roman"/>
                <a:cs typeface="Times New Roman"/>
                <a:sym typeface="Times New Roman"/>
              </a:rPr>
              <a:t>main class</a:t>
            </a:r>
            <a:r>
              <a:rPr b="0" i="0" lang="en-US" sz="2800" u="none">
                <a:solidFill>
                  <a:schemeClr val="dk1"/>
                </a:solidFill>
                <a:latin typeface="Times New Roman"/>
                <a:ea typeface="Times New Roman"/>
                <a:cs typeface="Times New Roman"/>
                <a:sym typeface="Times New Roman"/>
              </a:rPr>
              <a:t>. </a:t>
            </a:r>
            <a:endParaRPr/>
          </a:p>
          <a:p>
            <a:pPr indent="-457200" lvl="0" marL="4572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The illustration of class templates and objects in can be standardized using </a:t>
            </a:r>
            <a:r>
              <a:rPr b="0" i="1" lang="en-US" sz="2800" u="none">
                <a:solidFill>
                  <a:schemeClr val="dk1"/>
                </a:solidFill>
                <a:latin typeface="Times New Roman"/>
                <a:ea typeface="Times New Roman"/>
                <a:cs typeface="Times New Roman"/>
                <a:sym typeface="Times New Roman"/>
              </a:rPr>
              <a:t>Unified Modeling Language (UML) </a:t>
            </a:r>
            <a:r>
              <a:rPr b="0" i="0" lang="en-US" sz="2800" u="none">
                <a:solidFill>
                  <a:schemeClr val="dk1"/>
                </a:solidFill>
                <a:latin typeface="Times New Roman"/>
                <a:ea typeface="Times New Roman"/>
                <a:cs typeface="Times New Roman"/>
                <a:sym typeface="Times New Roman"/>
              </a:rPr>
              <a:t>notation. This notation is called a </a:t>
            </a:r>
            <a:r>
              <a:rPr b="0" i="1" lang="en-US" sz="2800" u="none">
                <a:solidFill>
                  <a:schemeClr val="dk1"/>
                </a:solidFill>
                <a:latin typeface="Times New Roman"/>
                <a:ea typeface="Times New Roman"/>
                <a:cs typeface="Times New Roman"/>
                <a:sym typeface="Times New Roman"/>
              </a:rPr>
              <a:t>UML class diagram</a:t>
            </a:r>
            <a:r>
              <a:rPr b="0" i="0" lang="en-US" sz="2800" u="none">
                <a:solidFill>
                  <a:schemeClr val="dk1"/>
                </a:solidFill>
                <a:latin typeface="Times New Roman"/>
                <a:ea typeface="Times New Roman"/>
                <a:cs typeface="Times New Roman"/>
                <a:sym typeface="Times New Roman"/>
              </a:rPr>
              <a:t>, or simply a </a:t>
            </a:r>
            <a:r>
              <a:rPr b="0" i="1" lang="en-US" sz="2800" u="none">
                <a:solidFill>
                  <a:schemeClr val="dk1"/>
                </a:solidFill>
                <a:latin typeface="Times New Roman"/>
                <a:ea typeface="Times New Roman"/>
                <a:cs typeface="Times New Roman"/>
                <a:sym typeface="Times New Roman"/>
              </a:rPr>
              <a:t>class diagram</a:t>
            </a:r>
            <a:r>
              <a:rPr b="0" i="0" lang="en-US" sz="2800" u="none">
                <a:solidFill>
                  <a:schemeClr val="dk1"/>
                </a:solidFill>
                <a:latin typeface="Times New Roman"/>
                <a:ea typeface="Times New Roman"/>
                <a:cs typeface="Times New Roman"/>
                <a:sym typeface="Times New Roman"/>
              </a:rPr>
              <a:t>. </a:t>
            </a:r>
            <a:endParaRPr/>
          </a:p>
        </p:txBody>
      </p:sp>
      <p:sp>
        <p:nvSpPr>
          <p:cNvPr id="208" name="Google Shape;208;p21"/>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14" name="Google Shape;214;p22"/>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Unified Modeling Language (UML) Class Diagram</a:t>
            </a:r>
            <a:endParaRPr/>
          </a:p>
        </p:txBody>
      </p:sp>
      <p:sp>
        <p:nvSpPr>
          <p:cNvPr id="215" name="Google Shape;215;p22"/>
          <p:cNvSpPr txBox="1"/>
          <p:nvPr/>
        </p:nvSpPr>
        <p:spPr>
          <a:xfrm>
            <a:off x="240030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6" name="Google Shape;216;p22"/>
          <p:cNvSpPr txBox="1"/>
          <p:nvPr/>
        </p:nvSpPr>
        <p:spPr>
          <a:xfrm>
            <a:off x="0" y="26289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7" name="Google Shape;217;p22"/>
          <p:cNvSpPr txBox="1"/>
          <p:nvPr/>
        </p:nvSpPr>
        <p:spPr>
          <a:xfrm>
            <a:off x="0" y="26289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18" name="Google Shape;218;p22"/>
          <p:cNvPicPr preferRelativeResize="0"/>
          <p:nvPr/>
        </p:nvPicPr>
        <p:blipFill rotWithShape="1">
          <a:blip r:embed="rId3">
            <a:alphaModFix/>
          </a:blip>
          <a:srcRect b="0" l="0" r="0" t="0"/>
          <a:stretch/>
        </p:blipFill>
        <p:spPr>
          <a:xfrm>
            <a:off x="1308100" y="1212850"/>
            <a:ext cx="5873750" cy="2832100"/>
          </a:xfrm>
          <a:prstGeom prst="rect">
            <a:avLst/>
          </a:prstGeom>
          <a:noFill/>
          <a:ln>
            <a:noFill/>
          </a:ln>
        </p:spPr>
      </p:pic>
      <p:sp>
        <p:nvSpPr>
          <p:cNvPr id="219" name="Google Shape;219;p22"/>
          <p:cNvSpPr txBox="1"/>
          <p:nvPr/>
        </p:nvSpPr>
        <p:spPr>
          <a:xfrm>
            <a:off x="846137" y="4210050"/>
            <a:ext cx="7835900" cy="2154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a:buNone/>
            </a:pPr>
            <a:r>
              <a:rPr b="0" i="0" lang="en-US" sz="1800" u="none">
                <a:solidFill>
                  <a:schemeClr val="dk1"/>
                </a:solidFill>
                <a:latin typeface="Times"/>
                <a:ea typeface="Times"/>
                <a:cs typeface="Times"/>
                <a:sym typeface="Times"/>
              </a:rPr>
              <a:t>In the class diagram, the data field is denoted as</a:t>
            </a:r>
            <a:endParaRPr b="0" i="0" sz="1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70C0"/>
              </a:buClr>
              <a:buSzPts val="1400"/>
              <a:buFont typeface="Lucida Sans"/>
              <a:buNone/>
            </a:pPr>
            <a:r>
              <a:rPr b="1" i="0" lang="en-US" sz="1400" u="none">
                <a:solidFill>
                  <a:srgbClr val="0070C0"/>
                </a:solidFill>
                <a:latin typeface="Lucida Sans"/>
                <a:ea typeface="Lucida Sans"/>
                <a:cs typeface="Lucida Sans"/>
                <a:sym typeface="Lucida Sans"/>
              </a:rPr>
              <a:t>dataFieldName: dataFieldType </a:t>
            </a:r>
            <a:endParaRPr/>
          </a:p>
          <a:p>
            <a:pPr indent="0" lvl="0" marL="0" marR="0" rtl="0" algn="l">
              <a:lnSpc>
                <a:spcPct val="100000"/>
              </a:lnSpc>
              <a:spcBef>
                <a:spcPts val="0"/>
              </a:spcBef>
              <a:spcAft>
                <a:spcPts val="0"/>
              </a:spcAft>
              <a:buClr>
                <a:schemeClr val="dk1"/>
              </a:buClr>
              <a:buSzPts val="1400"/>
              <a:buFont typeface="Times New Roman"/>
              <a:buNone/>
            </a:pPr>
            <a:r>
              <a:t/>
            </a:r>
            <a:endParaRPr b="0" i="0" sz="1400" u="none">
              <a:solidFill>
                <a:schemeClr val="dk1"/>
              </a:solidFill>
              <a:latin typeface="Lucida Sans"/>
              <a:ea typeface="Lucida Sans"/>
              <a:cs typeface="Lucida Sans"/>
              <a:sym typeface="Lucida Sans"/>
            </a:endParaRPr>
          </a:p>
          <a:p>
            <a:pPr indent="0" lvl="0" marL="0" marR="0" rtl="0" algn="l">
              <a:lnSpc>
                <a:spcPct val="100000"/>
              </a:lnSpc>
              <a:spcBef>
                <a:spcPts val="0"/>
              </a:spcBef>
              <a:spcAft>
                <a:spcPts val="0"/>
              </a:spcAft>
              <a:buClr>
                <a:schemeClr val="dk1"/>
              </a:buClr>
              <a:buSzPts val="1800"/>
              <a:buFont typeface="Times"/>
              <a:buNone/>
            </a:pPr>
            <a:r>
              <a:rPr b="0" i="0" lang="en-US" sz="1800" u="none">
                <a:solidFill>
                  <a:schemeClr val="dk1"/>
                </a:solidFill>
                <a:latin typeface="Times"/>
                <a:ea typeface="Times"/>
                <a:cs typeface="Times"/>
                <a:sym typeface="Times"/>
              </a:rPr>
              <a:t>The constructor is denoted as:</a:t>
            </a:r>
            <a:endParaRPr b="0" i="0" sz="1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70C0"/>
              </a:buClr>
              <a:buSzPts val="1400"/>
              <a:buFont typeface="Lucida Sans"/>
              <a:buNone/>
            </a:pPr>
            <a:r>
              <a:rPr b="1" i="0" lang="en-US" sz="1400" u="none">
                <a:solidFill>
                  <a:srgbClr val="0070C0"/>
                </a:solidFill>
                <a:latin typeface="Lucida Sans"/>
                <a:ea typeface="Lucida Sans"/>
                <a:cs typeface="Lucida Sans"/>
                <a:sym typeface="Lucida Sans"/>
              </a:rPr>
              <a:t>ClassName(parameterName: parameterType) </a:t>
            </a:r>
            <a:endParaRPr/>
          </a:p>
          <a:p>
            <a:pPr indent="0" lvl="0" marL="0" marR="0" rtl="0" algn="l">
              <a:lnSpc>
                <a:spcPct val="100000"/>
              </a:lnSpc>
              <a:spcBef>
                <a:spcPts val="0"/>
              </a:spcBef>
              <a:spcAft>
                <a:spcPts val="0"/>
              </a:spcAft>
              <a:buClr>
                <a:schemeClr val="dk1"/>
              </a:buClr>
              <a:buSzPts val="1400"/>
              <a:buFont typeface="Times New Roman"/>
              <a:buNone/>
            </a:pPr>
            <a:r>
              <a:t/>
            </a:r>
            <a:endParaRPr b="0" i="0" sz="1400" u="none">
              <a:solidFill>
                <a:schemeClr val="dk1"/>
              </a:solidFill>
              <a:latin typeface="Lucida Sans"/>
              <a:ea typeface="Lucida Sans"/>
              <a:cs typeface="Lucida Sans"/>
              <a:sym typeface="Lucida Sans"/>
            </a:endParaRPr>
          </a:p>
          <a:p>
            <a:pPr indent="0" lvl="0" marL="0" marR="0" rtl="0" algn="l">
              <a:lnSpc>
                <a:spcPct val="100000"/>
              </a:lnSpc>
              <a:spcBef>
                <a:spcPts val="0"/>
              </a:spcBef>
              <a:spcAft>
                <a:spcPts val="0"/>
              </a:spcAft>
              <a:buClr>
                <a:schemeClr val="dk1"/>
              </a:buClr>
              <a:buSzPts val="1400"/>
              <a:buFont typeface="Times New Roman"/>
              <a:buNone/>
            </a:pPr>
            <a:r>
              <a:rPr b="0" i="0" lang="en-US" sz="1400" u="none">
                <a:solidFill>
                  <a:schemeClr val="dk1"/>
                </a:solidFill>
                <a:latin typeface="Times New Roman"/>
                <a:ea typeface="Times New Roman"/>
                <a:cs typeface="Times New Roman"/>
                <a:sym typeface="Times New Roman"/>
              </a:rPr>
              <a:t>The method is denoted as </a:t>
            </a:r>
            <a:endParaRPr/>
          </a:p>
          <a:p>
            <a:pPr indent="0" lvl="0" marL="0" marR="0" rtl="0" algn="l">
              <a:lnSpc>
                <a:spcPct val="100000"/>
              </a:lnSpc>
              <a:spcBef>
                <a:spcPts val="0"/>
              </a:spcBef>
              <a:spcAft>
                <a:spcPts val="0"/>
              </a:spcAft>
              <a:buClr>
                <a:srgbClr val="0070C0"/>
              </a:buClr>
              <a:buSzPts val="1400"/>
              <a:buFont typeface="Times New Roman"/>
              <a:buNone/>
            </a:pPr>
            <a:r>
              <a:rPr b="1" i="0" lang="en-US" sz="1400" u="none">
                <a:solidFill>
                  <a:srgbClr val="0070C0"/>
                </a:solidFill>
                <a:latin typeface="Times New Roman"/>
                <a:ea typeface="Times New Roman"/>
                <a:cs typeface="Times New Roman"/>
                <a:sym typeface="Times New Roman"/>
              </a:rPr>
              <a:t>methodName(parameterName: parameterType): returnType </a:t>
            </a:r>
            <a:endParaRPr/>
          </a:p>
          <a:p>
            <a:pPr indent="0" lvl="0" marL="0" marR="0" rtl="0" algn="l">
              <a:lnSpc>
                <a:spcPct val="100000"/>
              </a:lnSpc>
              <a:spcBef>
                <a:spcPts val="0"/>
              </a:spcBef>
              <a:spcAft>
                <a:spcPts val="0"/>
              </a:spcAft>
              <a:buNone/>
            </a:pPr>
            <a:r>
              <a:t/>
            </a:r>
            <a:endParaRPr b="1" i="0" sz="1400" u="none">
              <a:solidFill>
                <a:srgbClr val="0070C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25" name="Google Shape;225;p23"/>
          <p:cNvSpPr txBox="1"/>
          <p:nvPr>
            <p:ph type="title"/>
          </p:nvPr>
        </p:nvSpPr>
        <p:spPr>
          <a:xfrm>
            <a:off x="679450" y="16510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Book Antiqua"/>
              <a:buNone/>
            </a:pPr>
            <a:r>
              <a:rPr b="0" i="0" lang="en-US" sz="4000" u="none">
                <a:solidFill>
                  <a:schemeClr val="dk2"/>
                </a:solidFill>
                <a:latin typeface="Book Antiqua"/>
                <a:ea typeface="Book Antiqua"/>
                <a:cs typeface="Book Antiqua"/>
                <a:sym typeface="Book Antiqua"/>
              </a:rPr>
              <a:t>Example: </a:t>
            </a:r>
            <a:r>
              <a:rPr b="0" i="1" lang="en-US" sz="4000" u="none">
                <a:solidFill>
                  <a:schemeClr val="dk2"/>
                </a:solidFill>
                <a:latin typeface="Book Antiqua"/>
                <a:ea typeface="Book Antiqua"/>
                <a:cs typeface="Book Antiqua"/>
                <a:sym typeface="Book Antiqua"/>
              </a:rPr>
              <a:t>SimpleCircle</a:t>
            </a:r>
            <a:r>
              <a:rPr b="0" i="0" lang="en-US" sz="4000" u="none">
                <a:solidFill>
                  <a:schemeClr val="dk2"/>
                </a:solidFill>
                <a:latin typeface="Book Antiqua"/>
                <a:ea typeface="Book Antiqua"/>
                <a:cs typeface="Book Antiqua"/>
                <a:sym typeface="Book Antiqua"/>
              </a:rPr>
              <a:t> class</a:t>
            </a:r>
            <a:endParaRPr/>
          </a:p>
        </p:txBody>
      </p:sp>
      <p:pic>
        <p:nvPicPr>
          <p:cNvPr id="226" name="Google Shape;226;p23"/>
          <p:cNvPicPr preferRelativeResize="0"/>
          <p:nvPr/>
        </p:nvPicPr>
        <p:blipFill rotWithShape="1">
          <a:blip r:embed="rId3">
            <a:alphaModFix/>
          </a:blip>
          <a:srcRect b="0" l="0" r="0" t="0"/>
          <a:stretch/>
        </p:blipFill>
        <p:spPr>
          <a:xfrm>
            <a:off x="1844675" y="1130300"/>
            <a:ext cx="5000625" cy="50276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32" name="Google Shape;232;p24"/>
          <p:cNvSpPr txBox="1"/>
          <p:nvPr>
            <p:ph type="title"/>
          </p:nvPr>
        </p:nvSpPr>
        <p:spPr>
          <a:xfrm>
            <a:off x="679450" y="16510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Book Antiqua"/>
              <a:buNone/>
            </a:pPr>
            <a:r>
              <a:rPr b="0" i="0" lang="en-US" sz="4000" u="none">
                <a:solidFill>
                  <a:schemeClr val="dk2"/>
                </a:solidFill>
                <a:latin typeface="Book Antiqua"/>
                <a:ea typeface="Book Antiqua"/>
                <a:cs typeface="Book Antiqua"/>
                <a:sym typeface="Book Antiqua"/>
              </a:rPr>
              <a:t>Example: </a:t>
            </a:r>
            <a:r>
              <a:rPr b="0" i="1" lang="en-US" sz="4000" u="none">
                <a:solidFill>
                  <a:schemeClr val="dk2"/>
                </a:solidFill>
                <a:latin typeface="Book Antiqua"/>
                <a:ea typeface="Book Antiqua"/>
                <a:cs typeface="Book Antiqua"/>
                <a:sym typeface="Book Antiqua"/>
              </a:rPr>
              <a:t>SimpleCircle</a:t>
            </a:r>
            <a:r>
              <a:rPr b="0" i="0" lang="en-US" sz="4000" u="none">
                <a:solidFill>
                  <a:schemeClr val="dk2"/>
                </a:solidFill>
                <a:latin typeface="Book Antiqua"/>
                <a:ea typeface="Book Antiqua"/>
                <a:cs typeface="Book Antiqua"/>
                <a:sym typeface="Book Antiqua"/>
              </a:rPr>
              <a:t> class</a:t>
            </a:r>
            <a:endParaRPr/>
          </a:p>
        </p:txBody>
      </p:sp>
      <p:pic>
        <p:nvPicPr>
          <p:cNvPr id="233" name="Google Shape;233;p24"/>
          <p:cNvPicPr preferRelativeResize="0"/>
          <p:nvPr/>
        </p:nvPicPr>
        <p:blipFill rotWithShape="1">
          <a:blip r:embed="rId3">
            <a:alphaModFix/>
          </a:blip>
          <a:srcRect b="0" l="0" r="0" t="0"/>
          <a:stretch/>
        </p:blipFill>
        <p:spPr>
          <a:xfrm>
            <a:off x="1308100" y="1266825"/>
            <a:ext cx="5956300" cy="3952875"/>
          </a:xfrm>
          <a:prstGeom prst="rect">
            <a:avLst/>
          </a:prstGeom>
          <a:noFill/>
          <a:ln>
            <a:noFill/>
          </a:ln>
        </p:spPr>
      </p:pic>
      <p:pic>
        <p:nvPicPr>
          <p:cNvPr id="234" name="Google Shape;234;p24"/>
          <p:cNvPicPr preferRelativeResize="0"/>
          <p:nvPr/>
        </p:nvPicPr>
        <p:blipFill rotWithShape="1">
          <a:blip r:embed="rId4">
            <a:alphaModFix/>
          </a:blip>
          <a:srcRect b="0" l="0" r="0" t="0"/>
          <a:stretch/>
        </p:blipFill>
        <p:spPr>
          <a:xfrm>
            <a:off x="1500187" y="4984750"/>
            <a:ext cx="965200" cy="469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40" name="Google Shape;240;p25"/>
          <p:cNvSpPr txBox="1"/>
          <p:nvPr>
            <p:ph type="title"/>
          </p:nvPr>
        </p:nvSpPr>
        <p:spPr>
          <a:xfrm>
            <a:off x="679450" y="165100"/>
            <a:ext cx="7772400" cy="1219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Book Antiqua"/>
              <a:buNone/>
            </a:pPr>
            <a:r>
              <a:rPr b="0" i="0" lang="en-US" sz="4000" u="none">
                <a:solidFill>
                  <a:schemeClr val="dk2"/>
                </a:solidFill>
                <a:latin typeface="Book Antiqua"/>
                <a:ea typeface="Book Antiqua"/>
                <a:cs typeface="Book Antiqua"/>
                <a:sym typeface="Book Antiqua"/>
              </a:rPr>
              <a:t>Example: </a:t>
            </a:r>
            <a:r>
              <a:rPr b="0" i="1" lang="en-US" sz="4000" u="none">
                <a:solidFill>
                  <a:schemeClr val="dk2"/>
                </a:solidFill>
                <a:latin typeface="Book Antiqua"/>
                <a:ea typeface="Book Antiqua"/>
                <a:cs typeface="Book Antiqua"/>
                <a:sym typeface="Book Antiqua"/>
              </a:rPr>
              <a:t>SimpleCircle</a:t>
            </a:r>
            <a:r>
              <a:rPr b="0" i="0" lang="en-US" sz="4000" u="none">
                <a:solidFill>
                  <a:schemeClr val="dk2"/>
                </a:solidFill>
                <a:latin typeface="Book Antiqua"/>
                <a:ea typeface="Book Antiqua"/>
                <a:cs typeface="Book Antiqua"/>
                <a:sym typeface="Book Antiqua"/>
              </a:rPr>
              <a:t> class</a:t>
            </a:r>
            <a:endParaRPr/>
          </a:p>
        </p:txBody>
      </p:sp>
      <p:sp>
        <p:nvSpPr>
          <p:cNvPr id="241" name="Google Shape;241;p25"/>
          <p:cNvSpPr txBox="1"/>
          <p:nvPr/>
        </p:nvSpPr>
        <p:spPr>
          <a:xfrm>
            <a:off x="423862" y="1201737"/>
            <a:ext cx="8296275" cy="499268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a:ea typeface="Times"/>
                <a:cs typeface="Times"/>
                <a:sym typeface="Times"/>
              </a:rPr>
              <a:t>The program contains two classes. The first of these, </a:t>
            </a:r>
            <a:r>
              <a:rPr b="1" i="0" lang="en-US" sz="2000" u="none">
                <a:solidFill>
                  <a:srgbClr val="00ADED"/>
                </a:solidFill>
                <a:latin typeface="Lucida Sans"/>
                <a:ea typeface="Lucida Sans"/>
                <a:cs typeface="Lucida Sans"/>
                <a:sym typeface="Lucida Sans"/>
              </a:rPr>
              <a:t>TestSimpleCircle</a:t>
            </a:r>
            <a:r>
              <a:rPr b="0" i="0" lang="en-US" sz="2400" u="none">
                <a:solidFill>
                  <a:schemeClr val="dk1"/>
                </a:solidFill>
                <a:latin typeface="Times"/>
                <a:ea typeface="Times"/>
                <a:cs typeface="Times"/>
                <a:sym typeface="Times"/>
              </a:rPr>
              <a:t>, is the main class. Its sole purpose is to test the second class, </a:t>
            </a:r>
            <a:r>
              <a:rPr b="1" i="0" lang="en-US" sz="2000" u="none">
                <a:solidFill>
                  <a:srgbClr val="00ADED"/>
                </a:solidFill>
                <a:latin typeface="Lucida Sans"/>
                <a:ea typeface="Lucida Sans"/>
                <a:cs typeface="Lucida Sans"/>
                <a:sym typeface="Lucida Sans"/>
              </a:rPr>
              <a:t>SimpleCircle</a:t>
            </a:r>
            <a:r>
              <a:rPr b="0" i="0" lang="en-US" sz="2400" u="none">
                <a:solidFill>
                  <a:schemeClr val="dk1"/>
                </a:solidFill>
                <a:latin typeface="Times"/>
                <a:ea typeface="Times"/>
                <a:cs typeface="Times"/>
                <a:sym typeface="Times"/>
              </a:rPr>
              <a:t>. Such a program that uses the class is often referred to as a </a:t>
            </a:r>
            <a:r>
              <a:rPr b="0" i="1" lang="en-US" sz="2400" u="none">
                <a:solidFill>
                  <a:schemeClr val="dk1"/>
                </a:solidFill>
                <a:latin typeface="Times"/>
                <a:ea typeface="Times"/>
                <a:cs typeface="Times"/>
                <a:sym typeface="Times"/>
              </a:rPr>
              <a:t>client </a:t>
            </a:r>
            <a:r>
              <a:rPr b="0" i="0" lang="en-US" sz="2400" u="none">
                <a:solidFill>
                  <a:schemeClr val="dk1"/>
                </a:solidFill>
                <a:latin typeface="Times"/>
                <a:ea typeface="Times"/>
                <a:cs typeface="Times"/>
                <a:sym typeface="Times"/>
              </a:rPr>
              <a:t>of the class. When you run the program, the Java runtime system invokes the </a:t>
            </a:r>
            <a:r>
              <a:rPr b="1" i="0" lang="en-US" sz="2000" u="none">
                <a:solidFill>
                  <a:srgbClr val="00ADED"/>
                </a:solidFill>
                <a:latin typeface="Lucida Sans"/>
                <a:ea typeface="Lucida Sans"/>
                <a:cs typeface="Lucida Sans"/>
                <a:sym typeface="Lucida Sans"/>
              </a:rPr>
              <a:t>main </a:t>
            </a:r>
            <a:r>
              <a:rPr b="0" i="0" lang="en-US" sz="2400" u="none">
                <a:solidFill>
                  <a:schemeClr val="dk1"/>
                </a:solidFill>
                <a:latin typeface="Times"/>
                <a:ea typeface="Times"/>
                <a:cs typeface="Times"/>
                <a:sym typeface="Times"/>
              </a:rPr>
              <a:t>method in the main class.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a:ea typeface="Times"/>
                <a:cs typeface="Times"/>
                <a:sym typeface="Times"/>
              </a:rPr>
              <a:t>You can put the two classes into one file, </a:t>
            </a:r>
            <a:r>
              <a:rPr b="0" i="0" lang="en-US" sz="2400" u="none">
                <a:solidFill>
                  <a:srgbClr val="FF0000"/>
                </a:solidFill>
                <a:latin typeface="Times"/>
                <a:ea typeface="Times"/>
                <a:cs typeface="Times"/>
                <a:sym typeface="Times"/>
              </a:rPr>
              <a:t>but only one class in the file can be a </a:t>
            </a:r>
            <a:r>
              <a:rPr b="0" i="1" lang="en-US" sz="2400" u="none">
                <a:solidFill>
                  <a:srgbClr val="FF0000"/>
                </a:solidFill>
                <a:latin typeface="Times"/>
                <a:ea typeface="Times"/>
                <a:cs typeface="Times"/>
                <a:sym typeface="Times"/>
              </a:rPr>
              <a:t>public class</a:t>
            </a:r>
            <a:r>
              <a:rPr b="0" i="0" lang="en-US" sz="2400" u="none">
                <a:solidFill>
                  <a:schemeClr val="dk1"/>
                </a:solidFill>
                <a:latin typeface="Times"/>
                <a:ea typeface="Times"/>
                <a:cs typeface="Times"/>
                <a:sym typeface="Times"/>
              </a:rPr>
              <a:t>. Furthermore, the public class must have the same name as the file name. Therefore, the file name is </a:t>
            </a:r>
            <a:r>
              <a:rPr b="1" i="0" lang="en-US" sz="2400" u="none">
                <a:solidFill>
                  <a:schemeClr val="dk1"/>
                </a:solidFill>
                <a:latin typeface="Times"/>
                <a:ea typeface="Times"/>
                <a:cs typeface="Times"/>
                <a:sym typeface="Times"/>
              </a:rPr>
              <a:t>TestSimpleCircle.java</a:t>
            </a:r>
            <a:r>
              <a:rPr b="0" i="0" lang="en-US" sz="2400" u="none">
                <a:solidFill>
                  <a:schemeClr val="dk1"/>
                </a:solidFill>
                <a:latin typeface="Times"/>
                <a:ea typeface="Times"/>
                <a:cs typeface="Times"/>
                <a:sym typeface="Times"/>
              </a:rPr>
              <a:t>, since </a:t>
            </a:r>
            <a:r>
              <a:rPr b="1" i="0" lang="en-US" sz="2000" u="none">
                <a:solidFill>
                  <a:srgbClr val="00ADED"/>
                </a:solidFill>
                <a:latin typeface="Lucida Sans"/>
                <a:ea typeface="Lucida Sans"/>
                <a:cs typeface="Lucida Sans"/>
                <a:sym typeface="Lucida Sans"/>
              </a:rPr>
              <a:t>TestSimpleCircle </a:t>
            </a:r>
            <a:r>
              <a:rPr b="0" i="0" lang="en-US" sz="2400" u="none">
                <a:solidFill>
                  <a:schemeClr val="dk1"/>
                </a:solidFill>
                <a:latin typeface="Times"/>
                <a:ea typeface="Times"/>
                <a:cs typeface="Times"/>
                <a:sym typeface="Times"/>
              </a:rPr>
              <a:t>is public. </a:t>
            </a:r>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a:ea typeface="Times"/>
                <a:cs typeface="Times"/>
                <a:sym typeface="Times"/>
              </a:rPr>
              <a:t>Each class in the source code is compiled into a </a:t>
            </a:r>
            <a:r>
              <a:rPr b="1" i="0" lang="en-US" sz="2400" u="none">
                <a:solidFill>
                  <a:schemeClr val="dk1"/>
                </a:solidFill>
                <a:latin typeface="Times"/>
                <a:ea typeface="Times"/>
                <a:cs typeface="Times"/>
                <a:sym typeface="Times"/>
              </a:rPr>
              <a:t>.class </a:t>
            </a:r>
            <a:r>
              <a:rPr b="0" i="0" lang="en-US" sz="2400" u="none">
                <a:solidFill>
                  <a:schemeClr val="dk1"/>
                </a:solidFill>
                <a:latin typeface="Times"/>
                <a:ea typeface="Times"/>
                <a:cs typeface="Times"/>
                <a:sym typeface="Times"/>
              </a:rPr>
              <a:t>file. When you compile </a:t>
            </a:r>
            <a:r>
              <a:rPr b="1" i="0" lang="en-US" sz="2400" u="none">
                <a:solidFill>
                  <a:schemeClr val="dk1"/>
                </a:solidFill>
                <a:latin typeface="Times"/>
                <a:ea typeface="Times"/>
                <a:cs typeface="Times"/>
                <a:sym typeface="Times"/>
              </a:rPr>
              <a:t>TestSimpleCircle.java</a:t>
            </a:r>
            <a:r>
              <a:rPr b="0" i="0" lang="en-US" sz="2400" u="none">
                <a:solidFill>
                  <a:schemeClr val="dk1"/>
                </a:solidFill>
                <a:latin typeface="Times"/>
                <a:ea typeface="Times"/>
                <a:cs typeface="Times"/>
                <a:sym typeface="Times"/>
              </a:rPr>
              <a:t>, two class files </a:t>
            </a:r>
            <a:r>
              <a:rPr b="1" i="0" lang="en-US" sz="2400" u="none">
                <a:solidFill>
                  <a:schemeClr val="dk1"/>
                </a:solidFill>
                <a:latin typeface="Times"/>
                <a:ea typeface="Times"/>
                <a:cs typeface="Times"/>
                <a:sym typeface="Times"/>
              </a:rPr>
              <a:t>TestSimpleCircle.class </a:t>
            </a:r>
            <a:r>
              <a:rPr b="0" i="0" lang="en-US" sz="2400" u="none">
                <a:solidFill>
                  <a:schemeClr val="dk1"/>
                </a:solidFill>
                <a:latin typeface="Times"/>
                <a:ea typeface="Times"/>
                <a:cs typeface="Times"/>
                <a:sym typeface="Times"/>
              </a:rPr>
              <a:t>and </a:t>
            </a:r>
            <a:r>
              <a:rPr b="1" i="0" lang="en-US" sz="2400" u="none">
                <a:solidFill>
                  <a:schemeClr val="dk1"/>
                </a:solidFill>
                <a:latin typeface="Times"/>
                <a:ea typeface="Times"/>
                <a:cs typeface="Times"/>
                <a:sym typeface="Times"/>
              </a:rPr>
              <a:t>SimpleCircle.class </a:t>
            </a:r>
            <a:r>
              <a:rPr b="0" i="0" lang="en-US" sz="2400" u="none">
                <a:solidFill>
                  <a:schemeClr val="dk1"/>
                </a:solidFill>
                <a:latin typeface="Times"/>
                <a:ea typeface="Times"/>
                <a:cs typeface="Times"/>
                <a:sym typeface="Times"/>
              </a:rPr>
              <a:t>are generated,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6"/>
          <p:cNvSpPr txBox="1"/>
          <p:nvPr>
            <p:ph type="title"/>
          </p:nvPr>
        </p:nvSpPr>
        <p:spPr>
          <a:xfrm rot="-5400000">
            <a:off x="-2336007" y="2858294"/>
            <a:ext cx="5827712" cy="5365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a:buNone/>
            </a:pPr>
            <a:r>
              <a:rPr b="0" i="0" lang="en-US" sz="3200" u="none">
                <a:solidFill>
                  <a:schemeClr val="dk2"/>
                </a:solidFill>
                <a:latin typeface="Times"/>
                <a:ea typeface="Times"/>
                <a:cs typeface="Times"/>
                <a:sym typeface="Times"/>
              </a:rPr>
              <a:t>Combine Two Classes into One</a:t>
            </a:r>
            <a:endParaRPr/>
          </a:p>
        </p:txBody>
      </p:sp>
      <p:sp>
        <p:nvSpPr>
          <p:cNvPr id="247" name="Google Shape;247;p2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248" name="Google Shape;248;p26"/>
          <p:cNvPicPr preferRelativeResize="0"/>
          <p:nvPr/>
        </p:nvPicPr>
        <p:blipFill rotWithShape="1">
          <a:blip r:embed="rId3">
            <a:alphaModFix/>
          </a:blip>
          <a:srcRect b="0" l="0" r="0" t="0"/>
          <a:stretch/>
        </p:blipFill>
        <p:spPr>
          <a:xfrm>
            <a:off x="1614487" y="12700"/>
            <a:ext cx="5095875" cy="6457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7"/>
          <p:cNvSpPr txBox="1"/>
          <p:nvPr>
            <p:ph type="title"/>
          </p:nvPr>
        </p:nvSpPr>
        <p:spPr>
          <a:xfrm>
            <a:off x="1538288" y="395288"/>
            <a:ext cx="6040437" cy="53816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a:buNone/>
            </a:pPr>
            <a:r>
              <a:rPr b="0" i="0" lang="en-US" sz="3200" u="none">
                <a:solidFill>
                  <a:schemeClr val="dk2"/>
                </a:solidFill>
                <a:latin typeface="Times"/>
                <a:ea typeface="Times"/>
                <a:cs typeface="Times"/>
                <a:sym typeface="Times"/>
              </a:rPr>
              <a:t>Combine Two Classes into One</a:t>
            </a:r>
            <a:endParaRPr/>
          </a:p>
        </p:txBody>
      </p:sp>
      <p:sp>
        <p:nvSpPr>
          <p:cNvPr id="254" name="Google Shape;254;p2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255" name="Google Shape;255;p27"/>
          <p:cNvPicPr preferRelativeResize="0"/>
          <p:nvPr/>
        </p:nvPicPr>
        <p:blipFill rotWithShape="1">
          <a:blip r:embed="rId3">
            <a:alphaModFix/>
          </a:blip>
          <a:srcRect b="0" l="0" r="0" t="0"/>
          <a:stretch/>
        </p:blipFill>
        <p:spPr>
          <a:xfrm>
            <a:off x="1692275" y="1970087"/>
            <a:ext cx="5732462" cy="2124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61" name="Google Shape;261;p28"/>
          <p:cNvSpPr txBox="1"/>
          <p:nvPr>
            <p:ph type="title"/>
          </p:nvPr>
        </p:nvSpPr>
        <p:spPr>
          <a:xfrm>
            <a:off x="117475" y="125412"/>
            <a:ext cx="8909050" cy="74453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Book Antiqua"/>
              <a:buNone/>
            </a:pPr>
            <a:r>
              <a:rPr b="0" i="0" lang="en-US" sz="3200" u="none">
                <a:solidFill>
                  <a:schemeClr val="dk2"/>
                </a:solidFill>
                <a:latin typeface="Book Antiqua"/>
                <a:ea typeface="Book Antiqua"/>
                <a:cs typeface="Book Antiqua"/>
                <a:sym typeface="Book Antiqua"/>
              </a:rPr>
              <a:t>Example: Defining Classes and Creating Objects</a:t>
            </a:r>
            <a:endParaRPr/>
          </a:p>
        </p:txBody>
      </p:sp>
      <p:sp>
        <p:nvSpPr>
          <p:cNvPr id="262" name="Google Shape;262;p28"/>
          <p:cNvSpPr txBox="1"/>
          <p:nvPr/>
        </p:nvSpPr>
        <p:spPr>
          <a:xfrm>
            <a:off x="0" y="22574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63" name="Google Shape;263;p28"/>
          <p:cNvPicPr preferRelativeResize="0"/>
          <p:nvPr/>
        </p:nvPicPr>
        <p:blipFill rotWithShape="1">
          <a:blip r:embed="rId3">
            <a:alphaModFix/>
          </a:blip>
          <a:srcRect b="0" l="0" r="0" t="0"/>
          <a:stretch/>
        </p:blipFill>
        <p:spPr>
          <a:xfrm>
            <a:off x="0" y="869950"/>
            <a:ext cx="9144000" cy="3952875"/>
          </a:xfrm>
          <a:prstGeom prst="rect">
            <a:avLst/>
          </a:prstGeom>
          <a:noFill/>
          <a:ln>
            <a:noFill/>
          </a:ln>
        </p:spPr>
      </p:pic>
      <p:sp>
        <p:nvSpPr>
          <p:cNvPr id="264" name="Google Shape;264;p28"/>
          <p:cNvSpPr txBox="1"/>
          <p:nvPr/>
        </p:nvSpPr>
        <p:spPr>
          <a:xfrm>
            <a:off x="1116012" y="4967287"/>
            <a:ext cx="6911975"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2400"/>
              <a:buFont typeface="Times"/>
              <a:buNone/>
            </a:pPr>
            <a:r>
              <a:rPr b="0" i="0" lang="en-US" sz="2400" u="none">
                <a:solidFill>
                  <a:srgbClr val="0070C0"/>
                </a:solidFill>
                <a:latin typeface="Times"/>
                <a:ea typeface="Times"/>
                <a:cs typeface="Times"/>
                <a:sym typeface="Times"/>
              </a:rPr>
              <a:t>The constructor and methods in the </a:t>
            </a:r>
            <a:r>
              <a:rPr b="1" i="0" lang="en-US" sz="2000" u="none">
                <a:solidFill>
                  <a:srgbClr val="0070C0"/>
                </a:solidFill>
                <a:latin typeface="Lucida Sans"/>
                <a:ea typeface="Lucida Sans"/>
                <a:cs typeface="Lucida Sans"/>
                <a:sym typeface="Lucida Sans"/>
              </a:rPr>
              <a:t>TV </a:t>
            </a:r>
            <a:r>
              <a:rPr b="0" i="0" lang="en-US" sz="2400" u="none">
                <a:solidFill>
                  <a:srgbClr val="0070C0"/>
                </a:solidFill>
                <a:latin typeface="Times"/>
                <a:ea typeface="Times"/>
                <a:cs typeface="Times"/>
                <a:sym typeface="Times"/>
              </a:rPr>
              <a:t>class are defined public so they can be accessed from other classes.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70" name="Google Shape;270;p29"/>
          <p:cNvSpPr txBox="1"/>
          <p:nvPr>
            <p:ph type="title"/>
          </p:nvPr>
        </p:nvSpPr>
        <p:spPr>
          <a:xfrm>
            <a:off x="117475" y="125412"/>
            <a:ext cx="8909050" cy="74453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Book Antiqua"/>
              <a:buNone/>
            </a:pPr>
            <a:r>
              <a:rPr b="0" i="0" lang="en-US" sz="3200" u="none">
                <a:solidFill>
                  <a:schemeClr val="dk2"/>
                </a:solidFill>
                <a:latin typeface="Book Antiqua"/>
                <a:ea typeface="Book Antiqua"/>
                <a:cs typeface="Book Antiqua"/>
                <a:sym typeface="Book Antiqua"/>
              </a:rPr>
              <a:t>Example: Defining Classes and Creating Objects</a:t>
            </a:r>
            <a:endParaRPr/>
          </a:p>
        </p:txBody>
      </p:sp>
      <p:sp>
        <p:nvSpPr>
          <p:cNvPr id="271" name="Google Shape;271;p29"/>
          <p:cNvSpPr txBox="1"/>
          <p:nvPr/>
        </p:nvSpPr>
        <p:spPr>
          <a:xfrm>
            <a:off x="0" y="22574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72" name="Google Shape;272;p29"/>
          <p:cNvPicPr preferRelativeResize="0"/>
          <p:nvPr/>
        </p:nvPicPr>
        <p:blipFill rotWithShape="1">
          <a:blip r:embed="rId3">
            <a:alphaModFix/>
          </a:blip>
          <a:srcRect b="0" l="0" r="0" t="0"/>
          <a:stretch/>
        </p:blipFill>
        <p:spPr>
          <a:xfrm>
            <a:off x="500062" y="1123950"/>
            <a:ext cx="2622550" cy="2420937"/>
          </a:xfrm>
          <a:prstGeom prst="rect">
            <a:avLst/>
          </a:prstGeom>
          <a:noFill/>
          <a:ln>
            <a:noFill/>
          </a:ln>
        </p:spPr>
      </p:pic>
      <p:pic>
        <p:nvPicPr>
          <p:cNvPr id="273" name="Google Shape;273;p29"/>
          <p:cNvPicPr preferRelativeResize="0"/>
          <p:nvPr/>
        </p:nvPicPr>
        <p:blipFill rotWithShape="1">
          <a:blip r:embed="rId4">
            <a:alphaModFix/>
          </a:blip>
          <a:srcRect b="0" l="0" r="0" t="0"/>
          <a:stretch/>
        </p:blipFill>
        <p:spPr>
          <a:xfrm>
            <a:off x="4081462" y="1047750"/>
            <a:ext cx="4718050" cy="501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79" name="Google Shape;279;p30"/>
          <p:cNvSpPr txBox="1"/>
          <p:nvPr>
            <p:ph type="title"/>
          </p:nvPr>
        </p:nvSpPr>
        <p:spPr>
          <a:xfrm>
            <a:off x="117475" y="125412"/>
            <a:ext cx="8909050" cy="74453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Book Antiqua"/>
              <a:buNone/>
            </a:pPr>
            <a:r>
              <a:rPr b="0" i="0" lang="en-US" sz="3200" u="none">
                <a:solidFill>
                  <a:schemeClr val="dk2"/>
                </a:solidFill>
                <a:latin typeface="Book Antiqua"/>
                <a:ea typeface="Book Antiqua"/>
                <a:cs typeface="Book Antiqua"/>
                <a:sym typeface="Book Antiqua"/>
              </a:rPr>
              <a:t>Example: Defining Classes and Creating Objects</a:t>
            </a:r>
            <a:endParaRPr/>
          </a:p>
        </p:txBody>
      </p:sp>
      <p:sp>
        <p:nvSpPr>
          <p:cNvPr id="280" name="Google Shape;280;p30"/>
          <p:cNvSpPr txBox="1"/>
          <p:nvPr/>
        </p:nvSpPr>
        <p:spPr>
          <a:xfrm>
            <a:off x="0" y="22574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81" name="Google Shape;281;p30"/>
          <p:cNvPicPr preferRelativeResize="0"/>
          <p:nvPr/>
        </p:nvPicPr>
        <p:blipFill rotWithShape="1">
          <a:blip r:embed="rId3">
            <a:alphaModFix/>
          </a:blip>
          <a:srcRect b="0" l="0" r="0" t="0"/>
          <a:stretch/>
        </p:blipFill>
        <p:spPr>
          <a:xfrm>
            <a:off x="896937" y="1047750"/>
            <a:ext cx="7350125" cy="52435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87" name="Google Shape;287;p31"/>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Constructors</a:t>
            </a:r>
            <a:endParaRPr/>
          </a:p>
        </p:txBody>
      </p:sp>
      <p:sp>
        <p:nvSpPr>
          <p:cNvPr id="288" name="Google Shape;288;p31"/>
          <p:cNvSpPr txBox="1"/>
          <p:nvPr>
            <p:ph idx="1" type="body"/>
          </p:nvPr>
        </p:nvSpPr>
        <p:spPr>
          <a:xfrm>
            <a:off x="533400" y="1524000"/>
            <a:ext cx="7772400" cy="49530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2400"/>
              <a:buNone/>
            </a:pPr>
            <a:r>
              <a:rPr b="1" i="0" lang="en-US" sz="3200" u="none">
                <a:solidFill>
                  <a:schemeClr val="dk2"/>
                </a:solidFill>
                <a:latin typeface="Courier New"/>
                <a:ea typeface="Courier New"/>
                <a:cs typeface="Courier New"/>
                <a:sym typeface="Courier New"/>
              </a:rPr>
              <a:t>Circle() {</a:t>
            </a:r>
            <a:endParaRPr/>
          </a:p>
          <a:p>
            <a:pPr indent="-342900" lvl="0" marL="342900" rtl="0" algn="l">
              <a:lnSpc>
                <a:spcPct val="100000"/>
              </a:lnSpc>
              <a:spcBef>
                <a:spcPts val="0"/>
              </a:spcBef>
              <a:spcAft>
                <a:spcPts val="0"/>
              </a:spcAft>
              <a:buSzPts val="2400"/>
              <a:buNone/>
            </a:pPr>
            <a:r>
              <a:rPr b="1" i="0" lang="en-US" sz="3200" u="none">
                <a:solidFill>
                  <a:schemeClr val="dk2"/>
                </a:solidFill>
                <a:latin typeface="Courier New"/>
                <a:ea typeface="Courier New"/>
                <a:cs typeface="Courier New"/>
                <a:sym typeface="Courier New"/>
              </a:rPr>
              <a:t>}</a:t>
            </a:r>
            <a:endParaRPr/>
          </a:p>
          <a:p>
            <a:pPr indent="-342900" lvl="0" marL="342900" rtl="0" algn="l">
              <a:lnSpc>
                <a:spcPct val="100000"/>
              </a:lnSpc>
              <a:spcBef>
                <a:spcPts val="0"/>
              </a:spcBef>
              <a:spcAft>
                <a:spcPts val="0"/>
              </a:spcAft>
              <a:buSzPts val="2400"/>
              <a:buNone/>
            </a:pPr>
            <a:r>
              <a:t/>
            </a:r>
            <a:endParaRPr b="1" i="0" sz="3200" u="none">
              <a:solidFill>
                <a:schemeClr val="dk2"/>
              </a:solidFill>
              <a:latin typeface="Courier New"/>
              <a:ea typeface="Courier New"/>
              <a:cs typeface="Courier New"/>
              <a:sym typeface="Courier New"/>
            </a:endParaRPr>
          </a:p>
          <a:p>
            <a:pPr indent="-342900" lvl="0" marL="342900" rtl="0" algn="l">
              <a:lnSpc>
                <a:spcPct val="100000"/>
              </a:lnSpc>
              <a:spcBef>
                <a:spcPts val="640"/>
              </a:spcBef>
              <a:spcAft>
                <a:spcPts val="0"/>
              </a:spcAft>
              <a:buSzPts val="2400"/>
              <a:buNone/>
            </a:pPr>
            <a:r>
              <a:rPr b="1" i="0" lang="en-US" sz="3200" u="none">
                <a:solidFill>
                  <a:schemeClr val="dk2"/>
                </a:solidFill>
                <a:latin typeface="Courier New"/>
                <a:ea typeface="Courier New"/>
                <a:cs typeface="Courier New"/>
                <a:sym typeface="Courier New"/>
              </a:rPr>
              <a:t>Circle(double newRadius) {  </a:t>
            </a:r>
            <a:endParaRPr/>
          </a:p>
          <a:p>
            <a:pPr indent="-342900" lvl="0" marL="342900" rtl="0" algn="l">
              <a:lnSpc>
                <a:spcPct val="100000"/>
              </a:lnSpc>
              <a:spcBef>
                <a:spcPts val="0"/>
              </a:spcBef>
              <a:spcAft>
                <a:spcPts val="0"/>
              </a:spcAft>
              <a:buSzPts val="2400"/>
              <a:buNone/>
            </a:pPr>
            <a:r>
              <a:rPr b="1" i="0" lang="en-US" sz="3200" u="none">
                <a:solidFill>
                  <a:schemeClr val="dk2"/>
                </a:solidFill>
                <a:latin typeface="Courier New"/>
                <a:ea typeface="Courier New"/>
                <a:cs typeface="Courier New"/>
                <a:sym typeface="Courier New"/>
              </a:rPr>
              <a:t>  radius = newRadius;</a:t>
            </a:r>
            <a:endParaRPr/>
          </a:p>
          <a:p>
            <a:pPr indent="-342900" lvl="0" marL="342900" rtl="0" algn="l">
              <a:lnSpc>
                <a:spcPct val="100000"/>
              </a:lnSpc>
              <a:spcBef>
                <a:spcPts val="0"/>
              </a:spcBef>
              <a:spcAft>
                <a:spcPts val="0"/>
              </a:spcAft>
              <a:buSzPts val="2400"/>
              <a:buNone/>
            </a:pPr>
            <a:r>
              <a:rPr b="1" i="0" lang="en-US" sz="3200" u="none">
                <a:solidFill>
                  <a:schemeClr val="dk2"/>
                </a:solidFill>
                <a:latin typeface="Courier New"/>
                <a:ea typeface="Courier New"/>
                <a:cs typeface="Courier New"/>
                <a:sym typeface="Courier New"/>
              </a:rPr>
              <a:t>}</a:t>
            </a:r>
            <a:endParaRPr/>
          </a:p>
        </p:txBody>
      </p:sp>
      <p:sp>
        <p:nvSpPr>
          <p:cNvPr id="289" name="Google Shape;289;p31"/>
          <p:cNvSpPr txBox="1"/>
          <p:nvPr/>
        </p:nvSpPr>
        <p:spPr>
          <a:xfrm>
            <a:off x="4267200" y="1143000"/>
            <a:ext cx="4876800" cy="155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Constructors are a special kind of methods that are invoked to construct objects.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295" name="Google Shape;295;p32"/>
          <p:cNvSpPr txBox="1"/>
          <p:nvPr>
            <p:ph type="title"/>
          </p:nvPr>
        </p:nvSpPr>
        <p:spPr>
          <a:xfrm>
            <a:off x="685800" y="228600"/>
            <a:ext cx="7772400" cy="838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Constructors, cont.</a:t>
            </a:r>
            <a:endParaRPr/>
          </a:p>
        </p:txBody>
      </p:sp>
      <p:sp>
        <p:nvSpPr>
          <p:cNvPr id="296" name="Google Shape;296;p32"/>
          <p:cNvSpPr txBox="1"/>
          <p:nvPr/>
        </p:nvSpPr>
        <p:spPr>
          <a:xfrm>
            <a:off x="381000" y="1143000"/>
            <a:ext cx="8534400" cy="3292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 constructor with no parameters is referred to as a </a:t>
            </a:r>
            <a:r>
              <a:rPr b="0" i="1" lang="en-US" sz="3200" u="none">
                <a:solidFill>
                  <a:schemeClr val="dk1"/>
                </a:solidFill>
                <a:latin typeface="Times New Roman"/>
                <a:ea typeface="Times New Roman"/>
                <a:cs typeface="Times New Roman"/>
                <a:sym typeface="Times New Roman"/>
              </a:rPr>
              <a:t>no-arg constructor</a:t>
            </a:r>
            <a:r>
              <a:rPr b="0" i="0" lang="en-US" sz="3200" u="none">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160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     </a:t>
            </a:r>
            <a:r>
              <a:rPr b="0" i="0" lang="en-US" sz="2400" u="none">
                <a:solidFill>
                  <a:schemeClr val="dk1"/>
                </a:solidFill>
                <a:latin typeface="Times New Roman"/>
                <a:ea typeface="Times New Roman"/>
                <a:cs typeface="Times New Roman"/>
                <a:sym typeface="Times New Roman"/>
              </a:rPr>
              <a:t>Constructors must have the same name as the class itself.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Constructors do not have a return type—not even void. </a:t>
            </a:r>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Constructors are invoked using the new operator when an object is created. Constructors play the role of initializing objects.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02" name="Google Shape;302;p33"/>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Creating Objects Using Constructors</a:t>
            </a:r>
            <a:endParaRPr/>
          </a:p>
        </p:txBody>
      </p:sp>
      <p:sp>
        <p:nvSpPr>
          <p:cNvPr id="303" name="Google Shape;303;p33"/>
          <p:cNvSpPr txBox="1"/>
          <p:nvPr>
            <p:ph idx="1" type="body"/>
          </p:nvPr>
        </p:nvSpPr>
        <p:spPr>
          <a:xfrm>
            <a:off x="609600" y="1600200"/>
            <a:ext cx="8077200" cy="4267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2250"/>
              <a:buNone/>
            </a:pPr>
            <a:r>
              <a:rPr b="1" i="0" lang="en-US" sz="3000" u="none">
                <a:solidFill>
                  <a:schemeClr val="dk1"/>
                </a:solidFill>
                <a:latin typeface="Courier New"/>
                <a:ea typeface="Courier New"/>
                <a:cs typeface="Courier New"/>
                <a:sym typeface="Courier New"/>
              </a:rPr>
              <a:t>new ClassName();</a:t>
            </a:r>
            <a:endParaRPr b="1" i="0" sz="2800" u="none">
              <a:solidFill>
                <a:schemeClr val="dk1"/>
              </a:solidFill>
              <a:latin typeface="Courier New"/>
              <a:ea typeface="Courier New"/>
              <a:cs typeface="Courier New"/>
              <a:sym typeface="Courier New"/>
            </a:endParaRPr>
          </a:p>
          <a:p>
            <a:pPr indent="-190500" lvl="0" marL="342900" rtl="0" algn="l">
              <a:lnSpc>
                <a:spcPct val="100000"/>
              </a:lnSpc>
              <a:spcBef>
                <a:spcPts val="640"/>
              </a:spcBef>
              <a:spcAft>
                <a:spcPts val="0"/>
              </a:spcAft>
              <a:buClr>
                <a:schemeClr val="dk2"/>
              </a:buClr>
              <a:buSzPts val="2400"/>
              <a:buFont typeface="Arial"/>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40"/>
              </a:spcBef>
              <a:spcAft>
                <a:spcPts val="0"/>
              </a:spcAft>
              <a:buSzPts val="2400"/>
              <a:buNone/>
            </a:pPr>
            <a:r>
              <a:rPr b="0" i="0" lang="en-US" sz="3200" u="none">
                <a:solidFill>
                  <a:schemeClr val="dk1"/>
                </a:solidFill>
                <a:latin typeface="Times New Roman"/>
                <a:ea typeface="Times New Roman"/>
                <a:cs typeface="Times New Roman"/>
                <a:sym typeface="Times New Roman"/>
              </a:rPr>
              <a:t>Example:</a:t>
            </a:r>
            <a:endParaRPr/>
          </a:p>
          <a:p>
            <a:pPr indent="-342900" lvl="0" marL="342900" rtl="0" algn="l">
              <a:lnSpc>
                <a:spcPct val="100000"/>
              </a:lnSpc>
              <a:spcBef>
                <a:spcPts val="560"/>
              </a:spcBef>
              <a:spcAft>
                <a:spcPts val="0"/>
              </a:spcAft>
              <a:buSzPts val="2100"/>
              <a:buNone/>
            </a:pPr>
            <a:r>
              <a:rPr b="1" i="0" lang="en-US" sz="2800" u="none">
                <a:solidFill>
                  <a:schemeClr val="dk1"/>
                </a:solidFill>
                <a:latin typeface="Courier New"/>
                <a:ea typeface="Courier New"/>
                <a:cs typeface="Courier New"/>
                <a:sym typeface="Courier New"/>
              </a:rPr>
              <a:t>new Circle();</a:t>
            </a:r>
            <a:endParaRPr/>
          </a:p>
          <a:p>
            <a:pPr indent="-342900" lvl="0" marL="342900" rtl="0" algn="l">
              <a:lnSpc>
                <a:spcPct val="100000"/>
              </a:lnSpc>
              <a:spcBef>
                <a:spcPts val="560"/>
              </a:spcBef>
              <a:spcAft>
                <a:spcPts val="0"/>
              </a:spcAft>
              <a:buSzPts val="2100"/>
              <a:buNone/>
            </a:pPr>
            <a:r>
              <a:t/>
            </a:r>
            <a:endParaRPr b="1" i="0" sz="2800" u="none">
              <a:solidFill>
                <a:schemeClr val="dk1"/>
              </a:solidFill>
              <a:latin typeface="Courier New"/>
              <a:ea typeface="Courier New"/>
              <a:cs typeface="Courier New"/>
              <a:sym typeface="Courier New"/>
            </a:endParaRPr>
          </a:p>
          <a:p>
            <a:pPr indent="-342900" lvl="0" marL="342900" rtl="0" algn="l">
              <a:lnSpc>
                <a:spcPct val="100000"/>
              </a:lnSpc>
              <a:spcBef>
                <a:spcPts val="0"/>
              </a:spcBef>
              <a:spcAft>
                <a:spcPts val="0"/>
              </a:spcAft>
              <a:buSzPts val="2400"/>
              <a:buNone/>
            </a:pPr>
            <a:r>
              <a:rPr b="1" i="0" lang="en-US" sz="3200" u="none">
                <a:solidFill>
                  <a:schemeClr val="dk1"/>
                </a:solidFill>
                <a:latin typeface="Courier New"/>
                <a:ea typeface="Courier New"/>
                <a:cs typeface="Courier New"/>
                <a:sym typeface="Courier New"/>
              </a:rPr>
              <a:t>new Circle(5.0);</a:t>
            </a:r>
            <a:r>
              <a:rPr b="1" i="0" lang="en-US" sz="3600" u="none">
                <a:solidFill>
                  <a:schemeClr val="dk1"/>
                </a:solidFill>
                <a:latin typeface="Book Antiqua"/>
                <a:ea typeface="Book Antiqua"/>
                <a:cs typeface="Book Antiqua"/>
                <a:sym typeface="Book Antiqua"/>
              </a:rPr>
              <a:t> </a:t>
            </a:r>
            <a:endParaRPr b="1" i="0" sz="3200" u="none">
              <a:solidFill>
                <a:schemeClr val="dk1"/>
              </a:solidFill>
              <a:latin typeface="Times New Roman"/>
              <a:ea typeface="Times New Roman"/>
              <a:cs typeface="Times New Roman"/>
              <a:sym typeface="Times New Roman"/>
            </a:endParaRPr>
          </a:p>
          <a:p>
            <a:pPr indent="-190500" lvl="0" marL="342900" rtl="0" algn="l">
              <a:spcBef>
                <a:spcPts val="640"/>
              </a:spcBef>
              <a:spcAft>
                <a:spcPts val="0"/>
              </a:spcAft>
              <a:buSzPts val="2400"/>
              <a:buNone/>
            </a:pPr>
            <a:r>
              <a:t/>
            </a:r>
            <a:endParaRPr b="1" i="0" sz="3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09" name="Google Shape;309;p34"/>
          <p:cNvSpPr txBox="1"/>
          <p:nvPr>
            <p:ph type="title"/>
          </p:nvPr>
        </p:nvSpPr>
        <p:spPr>
          <a:xfrm>
            <a:off x="685800" y="228600"/>
            <a:ext cx="7772400" cy="838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Default Constructor</a:t>
            </a:r>
            <a:endParaRPr/>
          </a:p>
        </p:txBody>
      </p:sp>
      <p:sp>
        <p:nvSpPr>
          <p:cNvPr id="310" name="Google Shape;310;p34"/>
          <p:cNvSpPr txBox="1"/>
          <p:nvPr/>
        </p:nvSpPr>
        <p:spPr>
          <a:xfrm>
            <a:off x="381000" y="1295400"/>
            <a:ext cx="8534400" cy="3046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A class may be defined without constructors. In this case, a no-arg constructor with an empty body is implicitly defined in the class. This constructor, called </a:t>
            </a:r>
            <a:r>
              <a:rPr b="0" i="1" lang="en-US" sz="3200" u="none">
                <a:solidFill>
                  <a:schemeClr val="dk1"/>
                </a:solidFill>
                <a:latin typeface="Times New Roman"/>
                <a:ea typeface="Times New Roman"/>
                <a:cs typeface="Times New Roman"/>
                <a:sym typeface="Times New Roman"/>
              </a:rPr>
              <a:t>a default constructor</a:t>
            </a:r>
            <a:r>
              <a:rPr b="0" i="0" lang="en-US" sz="3200" u="none">
                <a:solidFill>
                  <a:schemeClr val="dk1"/>
                </a:solidFill>
                <a:latin typeface="Times New Roman"/>
                <a:ea typeface="Times New Roman"/>
                <a:cs typeface="Times New Roman"/>
                <a:sym typeface="Times New Roman"/>
              </a:rPr>
              <a:t>, is provided automatically </a:t>
            </a:r>
            <a:r>
              <a:rPr b="0" i="1" lang="en-US" sz="3200" u="none">
                <a:solidFill>
                  <a:schemeClr val="dk1"/>
                </a:solidFill>
                <a:latin typeface="Times New Roman"/>
                <a:ea typeface="Times New Roman"/>
                <a:cs typeface="Times New Roman"/>
                <a:sym typeface="Times New Roman"/>
              </a:rPr>
              <a:t>only if no constructors are explicitly defined in the class</a:t>
            </a:r>
            <a:r>
              <a:rPr b="0" i="0" lang="en-US" sz="3200" u="non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16" name="Google Shape;316;p35"/>
          <p:cNvSpPr txBox="1"/>
          <p:nvPr>
            <p:ph type="title"/>
          </p:nvPr>
        </p:nvSpPr>
        <p:spPr>
          <a:xfrm>
            <a:off x="457200" y="228600"/>
            <a:ext cx="8153400" cy="838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Declaring Object Reference Variables</a:t>
            </a:r>
            <a:endParaRPr/>
          </a:p>
        </p:txBody>
      </p:sp>
      <p:sp>
        <p:nvSpPr>
          <p:cNvPr id="317" name="Google Shape;317;p35"/>
          <p:cNvSpPr txBox="1"/>
          <p:nvPr>
            <p:ph idx="1" type="body"/>
          </p:nvPr>
        </p:nvSpPr>
        <p:spPr>
          <a:xfrm>
            <a:off x="304800" y="1371600"/>
            <a:ext cx="8534400" cy="4724400"/>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Objects are accessed via the object’s </a:t>
            </a:r>
            <a:r>
              <a:rPr b="0" i="1" lang="en-US" sz="2800" u="none">
                <a:solidFill>
                  <a:schemeClr val="dk1"/>
                </a:solidFill>
                <a:latin typeface="Times New Roman"/>
                <a:ea typeface="Times New Roman"/>
                <a:cs typeface="Times New Roman"/>
                <a:sym typeface="Times New Roman"/>
              </a:rPr>
              <a:t>reference variables</a:t>
            </a:r>
            <a:r>
              <a:rPr b="0" i="0" lang="en-US" sz="2800" u="none">
                <a:solidFill>
                  <a:schemeClr val="dk1"/>
                </a:solidFill>
                <a:latin typeface="Times New Roman"/>
                <a:ea typeface="Times New Roman"/>
                <a:cs typeface="Times New Roman"/>
                <a:sym typeface="Times New Roman"/>
              </a:rPr>
              <a:t>, which contain references to the objects. </a:t>
            </a:r>
            <a:endParaRPr/>
          </a:p>
          <a:p>
            <a:pPr indent="-342900" lvl="0" marL="342900" rtl="0" algn="l">
              <a:lnSpc>
                <a:spcPct val="90000"/>
              </a:lnSpc>
              <a:spcBef>
                <a:spcPts val="56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To reference an object, assign the object to a reference variable.</a:t>
            </a:r>
            <a:endParaRPr/>
          </a:p>
          <a:p>
            <a:pPr indent="-342900" lvl="0" marL="342900" rtl="0" algn="l">
              <a:lnSpc>
                <a:spcPct val="90000"/>
              </a:lnSpc>
              <a:spcBef>
                <a:spcPts val="56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A class is a </a:t>
            </a:r>
            <a:r>
              <a:rPr b="0" i="1" lang="en-US" sz="2800" u="none">
                <a:solidFill>
                  <a:schemeClr val="dk1"/>
                </a:solidFill>
                <a:latin typeface="Times New Roman"/>
                <a:ea typeface="Times New Roman"/>
                <a:cs typeface="Times New Roman"/>
                <a:sym typeface="Times New Roman"/>
              </a:rPr>
              <a:t>reference type</a:t>
            </a:r>
            <a:r>
              <a:rPr b="0" i="0" lang="en-US" sz="2800" u="none">
                <a:solidFill>
                  <a:schemeClr val="dk1"/>
                </a:solidFill>
                <a:latin typeface="Times New Roman"/>
                <a:ea typeface="Times New Roman"/>
                <a:cs typeface="Times New Roman"/>
                <a:sym typeface="Times New Roman"/>
              </a:rPr>
              <a:t>, which means that a variable of the class type can reference an instance of the class. </a:t>
            </a:r>
            <a:endParaRPr/>
          </a:p>
          <a:p>
            <a:pPr indent="-342900" lvl="0" marL="342900" rtl="0" algn="l">
              <a:lnSpc>
                <a:spcPct val="90000"/>
              </a:lnSpc>
              <a:spcBef>
                <a:spcPts val="600"/>
              </a:spcBef>
              <a:spcAft>
                <a:spcPts val="0"/>
              </a:spcAft>
              <a:buClr>
                <a:schemeClr val="dk2"/>
              </a:buClr>
              <a:buSzPts val="2250"/>
              <a:buFont typeface="Arial"/>
              <a:buChar char="●"/>
            </a:pPr>
            <a:r>
              <a:rPr b="0" i="0" lang="en-US" sz="3000" u="none">
                <a:solidFill>
                  <a:schemeClr val="dk1"/>
                </a:solidFill>
                <a:latin typeface="Times New Roman"/>
                <a:ea typeface="Times New Roman"/>
                <a:cs typeface="Times New Roman"/>
                <a:sym typeface="Times New Roman"/>
              </a:rPr>
              <a:t>To declare a reference variable, use the syntax:</a:t>
            </a:r>
            <a:endParaRPr/>
          </a:p>
          <a:p>
            <a:pPr indent="-342900" lvl="0" marL="342900" rtl="0" algn="l">
              <a:lnSpc>
                <a:spcPct val="90000"/>
              </a:lnSpc>
              <a:spcBef>
                <a:spcPts val="600"/>
              </a:spcBef>
              <a:spcAft>
                <a:spcPts val="0"/>
              </a:spcAft>
              <a:buSzPts val="2250"/>
              <a:buNone/>
            </a:pPr>
            <a:r>
              <a:rPr b="1" i="0" lang="en-US" sz="3000" u="none">
                <a:solidFill>
                  <a:schemeClr val="dk1"/>
                </a:solidFill>
                <a:latin typeface="Courier New"/>
                <a:ea typeface="Courier New"/>
                <a:cs typeface="Courier New"/>
                <a:sym typeface="Courier New"/>
              </a:rPr>
              <a:t>	ClassName objectRefVar;</a:t>
            </a:r>
            <a:endParaRPr b="1" i="0" sz="32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640"/>
              </a:spcBef>
              <a:spcAft>
                <a:spcPts val="0"/>
              </a:spcAft>
              <a:buSzPts val="2400"/>
              <a:buNone/>
            </a:pPr>
            <a:r>
              <a:rPr b="0" i="0" lang="en-US" sz="3200" u="none">
                <a:solidFill>
                  <a:schemeClr val="dk1"/>
                </a:solidFill>
                <a:latin typeface="Times New Roman"/>
                <a:ea typeface="Times New Roman"/>
                <a:cs typeface="Times New Roman"/>
                <a:sym typeface="Times New Roman"/>
              </a:rPr>
              <a:t>Example:</a:t>
            </a:r>
            <a:endParaRPr/>
          </a:p>
          <a:p>
            <a:pPr indent="-342900" lvl="0" marL="342900" rtl="0" algn="l">
              <a:lnSpc>
                <a:spcPct val="90000"/>
              </a:lnSpc>
              <a:spcBef>
                <a:spcPts val="560"/>
              </a:spcBef>
              <a:spcAft>
                <a:spcPts val="0"/>
              </a:spcAft>
              <a:buSzPts val="2100"/>
              <a:buNone/>
            </a:pPr>
            <a:r>
              <a:rPr b="1" i="0" lang="en-US" sz="2800" u="none">
                <a:solidFill>
                  <a:schemeClr val="dk1"/>
                </a:solidFill>
                <a:latin typeface="Courier New"/>
                <a:ea typeface="Courier New"/>
                <a:cs typeface="Courier New"/>
                <a:sym typeface="Courier New"/>
              </a:rPr>
              <a:t>	Circle myCircle;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23" name="Google Shape;323;p36"/>
          <p:cNvSpPr txBox="1"/>
          <p:nvPr>
            <p:ph type="title"/>
          </p:nvPr>
        </p:nvSpPr>
        <p:spPr>
          <a:xfrm>
            <a:off x="685800" y="228600"/>
            <a:ext cx="7772400" cy="1600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Declaring/Creating Objects</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in a Single Step</a:t>
            </a:r>
            <a:endParaRPr/>
          </a:p>
        </p:txBody>
      </p:sp>
      <p:sp>
        <p:nvSpPr>
          <p:cNvPr id="324" name="Google Shape;324;p36"/>
          <p:cNvSpPr txBox="1"/>
          <p:nvPr>
            <p:ph idx="1" type="body"/>
          </p:nvPr>
        </p:nvSpPr>
        <p:spPr>
          <a:xfrm>
            <a:off x="0" y="2133600"/>
            <a:ext cx="9906000" cy="25908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2100"/>
              <a:buNone/>
            </a:pPr>
            <a:r>
              <a:rPr b="0" i="0" lang="en-US" sz="2800" u="none">
                <a:solidFill>
                  <a:schemeClr val="dk1"/>
                </a:solidFill>
                <a:latin typeface="Courier New"/>
                <a:ea typeface="Courier New"/>
                <a:cs typeface="Courier New"/>
                <a:sym typeface="Courier New"/>
              </a:rPr>
              <a:t>ClassName </a:t>
            </a:r>
            <a:r>
              <a:rPr b="0" i="0" lang="en-US" sz="2600" u="none">
                <a:solidFill>
                  <a:schemeClr val="dk1"/>
                </a:solidFill>
                <a:latin typeface="Courier New"/>
                <a:ea typeface="Courier New"/>
                <a:cs typeface="Courier New"/>
                <a:sym typeface="Courier New"/>
              </a:rPr>
              <a:t>objectRefVar</a:t>
            </a:r>
            <a:r>
              <a:rPr b="0" i="0" lang="en-US" sz="2800" u="none">
                <a:solidFill>
                  <a:schemeClr val="dk1"/>
                </a:solidFill>
                <a:latin typeface="Courier New"/>
                <a:ea typeface="Courier New"/>
                <a:cs typeface="Courier New"/>
                <a:sym typeface="Courier New"/>
              </a:rPr>
              <a:t> = new ClassName();</a:t>
            </a:r>
            <a:endParaRPr/>
          </a:p>
          <a:p>
            <a:pPr indent="-190500" lvl="0" marL="342900" rtl="0" algn="l">
              <a:lnSpc>
                <a:spcPct val="100000"/>
              </a:lnSpc>
              <a:spcBef>
                <a:spcPts val="640"/>
              </a:spcBef>
              <a:spcAft>
                <a:spcPts val="0"/>
              </a:spcAft>
              <a:buClr>
                <a:schemeClr val="dk2"/>
              </a:buClr>
              <a:buSzPts val="2400"/>
              <a:buFont typeface="Arial"/>
              <a:buNone/>
            </a:pPr>
            <a:r>
              <a:t/>
            </a:r>
            <a:endParaRPr b="0" i="0" sz="3200" u="none">
              <a:solidFill>
                <a:schemeClr val="dk1"/>
              </a:solidFill>
              <a:latin typeface="Times New Roman"/>
              <a:ea typeface="Times New Roman"/>
              <a:cs typeface="Times New Roman"/>
              <a:sym typeface="Times New Roman"/>
            </a:endParaRPr>
          </a:p>
          <a:p>
            <a:pPr indent="-342900" lvl="0" marL="342900" rtl="0" algn="l">
              <a:lnSpc>
                <a:spcPct val="100000"/>
              </a:lnSpc>
              <a:spcBef>
                <a:spcPts val="600"/>
              </a:spcBef>
              <a:spcAft>
                <a:spcPts val="0"/>
              </a:spcAft>
              <a:buSzPts val="2250"/>
              <a:buNone/>
            </a:pPr>
            <a:r>
              <a:rPr b="0" i="0" lang="en-US" sz="3000" u="none">
                <a:solidFill>
                  <a:schemeClr val="dk1"/>
                </a:solidFill>
                <a:latin typeface="Times New Roman"/>
                <a:ea typeface="Times New Roman"/>
                <a:cs typeface="Times New Roman"/>
                <a:sym typeface="Times New Roman"/>
              </a:rPr>
              <a:t>Example:</a:t>
            </a:r>
            <a:endParaRPr/>
          </a:p>
          <a:p>
            <a:pPr indent="-342900" lvl="0" marL="342900" rtl="0" algn="just">
              <a:lnSpc>
                <a:spcPct val="100000"/>
              </a:lnSpc>
              <a:spcBef>
                <a:spcPts val="520"/>
              </a:spcBef>
              <a:spcAft>
                <a:spcPts val="0"/>
              </a:spcAft>
              <a:buSzPts val="1950"/>
              <a:buNone/>
            </a:pPr>
            <a:r>
              <a:rPr b="0" i="0" lang="en-US" sz="2600" u="none">
                <a:solidFill>
                  <a:schemeClr val="dk1"/>
                </a:solidFill>
                <a:latin typeface="Courier New"/>
                <a:ea typeface="Courier New"/>
                <a:cs typeface="Courier New"/>
                <a:sym typeface="Courier New"/>
              </a:rPr>
              <a:t>Circle myCircle = new Circle();</a:t>
            </a:r>
            <a:endParaRPr/>
          </a:p>
        </p:txBody>
      </p:sp>
      <p:sp>
        <p:nvSpPr>
          <p:cNvPr id="325" name="Google Shape;325;p36"/>
          <p:cNvSpPr txBox="1"/>
          <p:nvPr/>
        </p:nvSpPr>
        <p:spPr>
          <a:xfrm>
            <a:off x="3657600" y="3810000"/>
            <a:ext cx="2590800" cy="4572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326" name="Google Shape;326;p36"/>
          <p:cNvCxnSpPr/>
          <p:nvPr/>
        </p:nvCxnSpPr>
        <p:spPr>
          <a:xfrm>
            <a:off x="4953000" y="3352800"/>
            <a:ext cx="0" cy="457200"/>
          </a:xfrm>
          <a:prstGeom prst="straightConnector1">
            <a:avLst/>
          </a:prstGeom>
          <a:noFill/>
          <a:ln cap="flat" cmpd="sng" w="12700">
            <a:solidFill>
              <a:schemeClr val="dk1"/>
            </a:solidFill>
            <a:prstDash val="solid"/>
            <a:miter lim="800000"/>
            <a:headEnd len="med" w="med" type="none"/>
            <a:tailEnd len="sm" w="sm" type="triangle"/>
          </a:ln>
        </p:spPr>
      </p:cxnSp>
      <p:sp>
        <p:nvSpPr>
          <p:cNvPr id="327" name="Google Shape;327;p36"/>
          <p:cNvSpPr txBox="1"/>
          <p:nvPr/>
        </p:nvSpPr>
        <p:spPr>
          <a:xfrm>
            <a:off x="4876800" y="2968625"/>
            <a:ext cx="1670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Create an object</a:t>
            </a:r>
            <a:endParaRPr/>
          </a:p>
        </p:txBody>
      </p:sp>
      <p:cxnSp>
        <p:nvCxnSpPr>
          <p:cNvPr id="328" name="Google Shape;328;p36"/>
          <p:cNvCxnSpPr/>
          <p:nvPr/>
        </p:nvCxnSpPr>
        <p:spPr>
          <a:xfrm rot="10800000">
            <a:off x="3276600" y="3505200"/>
            <a:ext cx="381000" cy="304800"/>
          </a:xfrm>
          <a:prstGeom prst="straightConnector1">
            <a:avLst/>
          </a:prstGeom>
          <a:noFill/>
          <a:ln cap="flat" cmpd="sng" w="12700">
            <a:solidFill>
              <a:schemeClr val="dk1"/>
            </a:solidFill>
            <a:prstDash val="solid"/>
            <a:miter lim="800000"/>
            <a:headEnd len="med" w="med" type="none"/>
            <a:tailEnd len="med" w="med" type="none"/>
          </a:ln>
        </p:spPr>
      </p:cxnSp>
      <p:cxnSp>
        <p:nvCxnSpPr>
          <p:cNvPr id="329" name="Google Shape;329;p36"/>
          <p:cNvCxnSpPr/>
          <p:nvPr/>
        </p:nvCxnSpPr>
        <p:spPr>
          <a:xfrm flipH="1">
            <a:off x="2667000" y="3505200"/>
            <a:ext cx="609600" cy="304800"/>
          </a:xfrm>
          <a:prstGeom prst="straightConnector1">
            <a:avLst/>
          </a:prstGeom>
          <a:noFill/>
          <a:ln cap="flat" cmpd="sng" w="12700">
            <a:solidFill>
              <a:schemeClr val="dk1"/>
            </a:solidFill>
            <a:prstDash val="solid"/>
            <a:miter lim="800000"/>
            <a:headEnd len="med" w="med" type="none"/>
            <a:tailEnd len="sm" w="sm" type="triangle"/>
          </a:ln>
        </p:spPr>
      </p:cxnSp>
      <p:sp>
        <p:nvSpPr>
          <p:cNvPr id="330" name="Google Shape;330;p36"/>
          <p:cNvSpPr txBox="1"/>
          <p:nvPr/>
        </p:nvSpPr>
        <p:spPr>
          <a:xfrm>
            <a:off x="2133600" y="2971800"/>
            <a:ext cx="21844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Assign object reference</a:t>
            </a:r>
            <a:r>
              <a:rPr b="0" i="0" lang="en-US" sz="24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36" name="Google Shape;336;p37"/>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Accessing Object’s Members</a:t>
            </a:r>
            <a:endParaRPr/>
          </a:p>
        </p:txBody>
      </p:sp>
      <p:sp>
        <p:nvSpPr>
          <p:cNvPr id="337" name="Google Shape;337;p37"/>
          <p:cNvSpPr txBox="1"/>
          <p:nvPr>
            <p:ph idx="1" type="body"/>
          </p:nvPr>
        </p:nvSpPr>
        <p:spPr>
          <a:xfrm>
            <a:off x="685800" y="1371600"/>
            <a:ext cx="7772400" cy="41148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2100"/>
              <a:buFont typeface="Noto Sans Symbols"/>
              <a:buChar char="❑"/>
            </a:pPr>
            <a:r>
              <a:rPr b="0" i="0" lang="en-US" sz="2800" u="none">
                <a:solidFill>
                  <a:schemeClr val="dk1"/>
                </a:solidFill>
                <a:latin typeface="Times New Roman"/>
                <a:ea typeface="Times New Roman"/>
                <a:cs typeface="Times New Roman"/>
                <a:sym typeface="Times New Roman"/>
              </a:rPr>
              <a:t>Referencing the object’s data is done using the </a:t>
            </a:r>
            <a:r>
              <a:rPr b="0" i="1" lang="en-US" sz="2800" u="none">
                <a:solidFill>
                  <a:schemeClr val="dk1"/>
                </a:solidFill>
                <a:latin typeface="Times New Roman"/>
                <a:ea typeface="Times New Roman"/>
                <a:cs typeface="Times New Roman"/>
                <a:sym typeface="Times New Roman"/>
              </a:rPr>
              <a:t>dot operator</a:t>
            </a:r>
            <a:r>
              <a:rPr b="0" i="0" lang="en-US" sz="2800" u="none">
                <a:solidFill>
                  <a:schemeClr val="dk1"/>
                </a:solidFill>
                <a:latin typeface="Times New Roman"/>
                <a:ea typeface="Times New Roman"/>
                <a:cs typeface="Times New Roman"/>
                <a:sym typeface="Times New Roman"/>
              </a:rPr>
              <a:t> or </a:t>
            </a:r>
            <a:r>
              <a:rPr b="0" i="1" lang="en-US" sz="2800" u="none">
                <a:solidFill>
                  <a:schemeClr val="dk1"/>
                </a:solidFill>
                <a:latin typeface="Times New Roman"/>
                <a:ea typeface="Times New Roman"/>
                <a:cs typeface="Times New Roman"/>
                <a:sym typeface="Times New Roman"/>
              </a:rPr>
              <a:t>object member access operator</a:t>
            </a:r>
            <a:r>
              <a:rPr b="0" i="0" lang="en-US" sz="2800" u="none">
                <a:solidFill>
                  <a:schemeClr val="dk1"/>
                </a:solidFill>
                <a:latin typeface="Times New Roman"/>
                <a:ea typeface="Times New Roman"/>
                <a:cs typeface="Times New Roman"/>
                <a:sym typeface="Times New Roman"/>
              </a:rPr>
              <a:t>:</a:t>
            </a:r>
            <a:endParaRPr/>
          </a:p>
          <a:p>
            <a:pPr indent="-342900" lvl="0" marL="342900" rtl="0" algn="l">
              <a:lnSpc>
                <a:spcPct val="100000"/>
              </a:lnSpc>
              <a:spcBef>
                <a:spcPts val="560"/>
              </a:spcBef>
              <a:spcAft>
                <a:spcPts val="0"/>
              </a:spcAft>
              <a:buSzPts val="2100"/>
              <a:buNone/>
            </a:pPr>
            <a:r>
              <a:rPr b="0" i="0" lang="en-US" sz="2800" u="none">
                <a:solidFill>
                  <a:schemeClr val="dk1"/>
                </a:solidFill>
                <a:latin typeface="Times New Roman"/>
                <a:ea typeface="Times New Roman"/>
                <a:cs typeface="Times New Roman"/>
                <a:sym typeface="Times New Roman"/>
              </a:rPr>
              <a:t>        </a:t>
            </a:r>
            <a:r>
              <a:rPr b="0" i="0" lang="en-US" sz="2600" u="none">
                <a:solidFill>
                  <a:schemeClr val="dk1"/>
                </a:solidFill>
                <a:latin typeface="Courier New"/>
                <a:ea typeface="Courier New"/>
                <a:cs typeface="Courier New"/>
                <a:sym typeface="Courier New"/>
              </a:rPr>
              <a:t>objectRefVar.data</a:t>
            </a:r>
            <a:endParaRPr b="0" i="0" sz="28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SzPts val="2100"/>
              <a:buNone/>
            </a:pPr>
            <a:r>
              <a:rPr b="0" i="1" lang="en-US" sz="2800" u="none">
                <a:solidFill>
                  <a:schemeClr val="dk1"/>
                </a:solidFill>
                <a:latin typeface="Book Antiqua"/>
                <a:ea typeface="Book Antiqua"/>
                <a:cs typeface="Book Antiqua"/>
                <a:sym typeface="Book Antiqua"/>
              </a:rPr>
              <a:t>        e.g., </a:t>
            </a:r>
            <a:r>
              <a:rPr b="0" i="0" lang="en-US" sz="2400" u="none">
                <a:solidFill>
                  <a:schemeClr val="dk1"/>
                </a:solidFill>
                <a:latin typeface="Courier New"/>
                <a:ea typeface="Courier New"/>
                <a:cs typeface="Courier New"/>
                <a:sym typeface="Courier New"/>
              </a:rPr>
              <a:t>myCircle.radius</a:t>
            </a:r>
            <a:endParaRPr b="0" i="1" sz="2800" u="none">
              <a:solidFill>
                <a:schemeClr val="dk1"/>
              </a:solidFill>
              <a:latin typeface="Book Antiqua"/>
              <a:ea typeface="Book Antiqua"/>
              <a:cs typeface="Book Antiqua"/>
              <a:sym typeface="Book Antiqua"/>
            </a:endParaRPr>
          </a:p>
          <a:p>
            <a:pPr indent="-342900" lvl="0" marL="342900" rtl="0" algn="l">
              <a:lnSpc>
                <a:spcPct val="100000"/>
              </a:lnSpc>
              <a:spcBef>
                <a:spcPts val="560"/>
              </a:spcBef>
              <a:spcAft>
                <a:spcPts val="0"/>
              </a:spcAft>
              <a:buSzPts val="2100"/>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dk2"/>
              </a:buClr>
              <a:buSzPts val="2100"/>
              <a:buFont typeface="Noto Sans Symbols"/>
              <a:buChar char="❑"/>
            </a:pPr>
            <a:r>
              <a:rPr b="0" i="0" lang="en-US" sz="2800" u="none">
                <a:solidFill>
                  <a:schemeClr val="dk1"/>
                </a:solidFill>
                <a:latin typeface="Times New Roman"/>
                <a:ea typeface="Times New Roman"/>
                <a:cs typeface="Times New Roman"/>
                <a:sym typeface="Times New Roman"/>
              </a:rPr>
              <a:t>Invoking the object’s method:</a:t>
            </a:r>
            <a:endParaRPr/>
          </a:p>
          <a:p>
            <a:pPr indent="-342900" lvl="0" marL="342900" rtl="0" algn="l">
              <a:lnSpc>
                <a:spcPct val="100000"/>
              </a:lnSpc>
              <a:spcBef>
                <a:spcPts val="560"/>
              </a:spcBef>
              <a:spcAft>
                <a:spcPts val="0"/>
              </a:spcAft>
              <a:buSzPts val="2100"/>
              <a:buNone/>
            </a:pPr>
            <a:r>
              <a:rPr b="0" i="0" lang="en-US" sz="2800" u="none">
                <a:solidFill>
                  <a:schemeClr val="dk1"/>
                </a:solidFill>
                <a:latin typeface="Times New Roman"/>
                <a:ea typeface="Times New Roman"/>
                <a:cs typeface="Times New Roman"/>
                <a:sym typeface="Times New Roman"/>
              </a:rPr>
              <a:t>       </a:t>
            </a:r>
            <a:r>
              <a:rPr b="0" i="0" lang="en-US" sz="2600" u="none">
                <a:solidFill>
                  <a:schemeClr val="dk1"/>
                </a:solidFill>
                <a:latin typeface="Courier New"/>
                <a:ea typeface="Courier New"/>
                <a:cs typeface="Courier New"/>
                <a:sym typeface="Courier New"/>
              </a:rPr>
              <a:t>objectRefVar.methodName(arguments)</a:t>
            </a:r>
            <a:endParaRPr b="0" i="0" sz="28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SzPts val="2100"/>
              <a:buNone/>
            </a:pPr>
            <a:r>
              <a:rPr b="0" i="1" lang="en-US" sz="2800" u="none">
                <a:solidFill>
                  <a:schemeClr val="dk1"/>
                </a:solidFill>
                <a:latin typeface="Book Antiqua"/>
                <a:ea typeface="Book Antiqua"/>
                <a:cs typeface="Book Antiqua"/>
                <a:sym typeface="Book Antiqua"/>
              </a:rPr>
              <a:t>       e.g., </a:t>
            </a:r>
            <a:r>
              <a:rPr b="0" i="0" lang="en-US" sz="2400" u="none">
                <a:solidFill>
                  <a:schemeClr val="dk1"/>
                </a:solidFill>
                <a:latin typeface="Courier New"/>
                <a:ea typeface="Courier New"/>
                <a:cs typeface="Courier New"/>
                <a:sym typeface="Courier New"/>
              </a:rPr>
              <a:t>myCircle.getArea()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43" name="Google Shape;343;p38"/>
          <p:cNvSpPr txBox="1"/>
          <p:nvPr>
            <p:ph type="title"/>
          </p:nvPr>
        </p:nvSpPr>
        <p:spPr>
          <a:xfrm>
            <a:off x="762000" y="152400"/>
            <a:ext cx="7772400" cy="6096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Trace Code</a:t>
            </a:r>
            <a:endParaRPr/>
          </a:p>
        </p:txBody>
      </p:sp>
      <p:sp>
        <p:nvSpPr>
          <p:cNvPr id="344" name="Google Shape;344;p38"/>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5" name="Google Shape;345;p38"/>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6" name="Google Shape;346;p38"/>
          <p:cNvSpPr txBox="1"/>
          <p:nvPr/>
        </p:nvSpPr>
        <p:spPr>
          <a:xfrm>
            <a:off x="152400" y="190500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sp>
        <p:nvSpPr>
          <p:cNvPr id="347" name="Google Shape;347;p38"/>
          <p:cNvSpPr txBox="1"/>
          <p:nvPr/>
        </p:nvSpPr>
        <p:spPr>
          <a:xfrm>
            <a:off x="228600" y="1981200"/>
            <a:ext cx="1577975" cy="228600"/>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8" name="Google Shape;348;p38"/>
          <p:cNvSpPr/>
          <p:nvPr/>
        </p:nvSpPr>
        <p:spPr>
          <a:xfrm>
            <a:off x="5838825" y="1009650"/>
            <a:ext cx="2265362" cy="344487"/>
          </a:xfrm>
          <a:prstGeom prst="wedgeRoundRectCallout">
            <a:avLst>
              <a:gd fmla="val 5222" name="adj1"/>
              <a:gd fmla="val 63904"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Declare myCircle</a:t>
            </a:r>
            <a:endParaRPr/>
          </a:p>
        </p:txBody>
      </p:sp>
      <p:sp>
        <p:nvSpPr>
          <p:cNvPr id="349" name="Google Shape;349;p38"/>
          <p:cNvSpPr txBox="1"/>
          <p:nvPr/>
        </p:nvSpPr>
        <p:spPr>
          <a:xfrm>
            <a:off x="6837362" y="20462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no value</a:t>
            </a:r>
            <a:endParaRPr/>
          </a:p>
        </p:txBody>
      </p:sp>
      <p:sp>
        <p:nvSpPr>
          <p:cNvPr id="350" name="Google Shape;350;p38"/>
          <p:cNvSpPr txBox="1"/>
          <p:nvPr/>
        </p:nvSpPr>
        <p:spPr>
          <a:xfrm>
            <a:off x="5724525" y="202088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56" name="Google Shape;356;p39"/>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357" name="Google Shape;357;p39"/>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8" name="Google Shape;358;p39"/>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9" name="Google Shape;359;p39"/>
          <p:cNvSpPr txBox="1"/>
          <p:nvPr/>
        </p:nvSpPr>
        <p:spPr>
          <a:xfrm>
            <a:off x="152400" y="190500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sp>
        <p:nvSpPr>
          <p:cNvPr id="360" name="Google Shape;360;p39"/>
          <p:cNvSpPr txBox="1"/>
          <p:nvPr/>
        </p:nvSpPr>
        <p:spPr>
          <a:xfrm>
            <a:off x="1974850" y="1970087"/>
            <a:ext cx="1651000" cy="266700"/>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61" name="Google Shape;361;p39"/>
          <p:cNvPicPr preferRelativeResize="0"/>
          <p:nvPr>
            <p:ph idx="1" type="body"/>
          </p:nvPr>
        </p:nvPicPr>
        <p:blipFill rotWithShape="1">
          <a:blip r:embed="rId3">
            <a:alphaModFix/>
          </a:blip>
          <a:srcRect b="0" l="0" r="0" t="0"/>
          <a:stretch/>
        </p:blipFill>
        <p:spPr>
          <a:xfrm>
            <a:off x="5570537" y="2852737"/>
            <a:ext cx="2687637" cy="1193800"/>
          </a:xfrm>
          <a:prstGeom prst="rect">
            <a:avLst/>
          </a:prstGeom>
          <a:noFill/>
          <a:ln>
            <a:noFill/>
          </a:ln>
        </p:spPr>
      </p:pic>
      <p:sp>
        <p:nvSpPr>
          <p:cNvPr id="362" name="Google Shape;362;p39"/>
          <p:cNvSpPr txBox="1"/>
          <p:nvPr/>
        </p:nvSpPr>
        <p:spPr>
          <a:xfrm>
            <a:off x="6837362" y="20462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no value</a:t>
            </a:r>
            <a:endParaRPr/>
          </a:p>
        </p:txBody>
      </p:sp>
      <p:sp>
        <p:nvSpPr>
          <p:cNvPr id="363" name="Google Shape;363;p39"/>
          <p:cNvSpPr txBox="1"/>
          <p:nvPr/>
        </p:nvSpPr>
        <p:spPr>
          <a:xfrm>
            <a:off x="5724525" y="202088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sp>
        <p:nvSpPr>
          <p:cNvPr id="364" name="Google Shape;364;p39"/>
          <p:cNvSpPr/>
          <p:nvPr/>
        </p:nvSpPr>
        <p:spPr>
          <a:xfrm>
            <a:off x="3881437" y="4695825"/>
            <a:ext cx="1689100" cy="422275"/>
          </a:xfrm>
          <a:prstGeom prst="wedgeRoundRectCallout">
            <a:avLst>
              <a:gd fmla="val 27467" name="adj1"/>
              <a:gd fmla="val -77143"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Create a circle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70" name="Google Shape;370;p40"/>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371" name="Google Shape;371;p40"/>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2" name="Google Shape;372;p40"/>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3" name="Google Shape;373;p40"/>
          <p:cNvSpPr txBox="1"/>
          <p:nvPr/>
        </p:nvSpPr>
        <p:spPr>
          <a:xfrm>
            <a:off x="152400" y="190500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sp>
        <p:nvSpPr>
          <p:cNvPr id="374" name="Google Shape;374;p40"/>
          <p:cNvSpPr txBox="1"/>
          <p:nvPr/>
        </p:nvSpPr>
        <p:spPr>
          <a:xfrm>
            <a:off x="1806575" y="1973262"/>
            <a:ext cx="192087" cy="268287"/>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75" name="Google Shape;375;p40"/>
          <p:cNvPicPr preferRelativeResize="0"/>
          <p:nvPr>
            <p:ph idx="1" type="body"/>
          </p:nvPr>
        </p:nvPicPr>
        <p:blipFill rotWithShape="1">
          <a:blip r:embed="rId3">
            <a:alphaModFix/>
          </a:blip>
          <a:srcRect b="0" l="0" r="0" t="0"/>
          <a:stretch/>
        </p:blipFill>
        <p:spPr>
          <a:xfrm>
            <a:off x="5570537" y="2852737"/>
            <a:ext cx="2687637" cy="1193800"/>
          </a:xfrm>
          <a:prstGeom prst="rect">
            <a:avLst/>
          </a:prstGeom>
          <a:noFill/>
          <a:ln>
            <a:noFill/>
          </a:ln>
        </p:spPr>
      </p:pic>
      <p:sp>
        <p:nvSpPr>
          <p:cNvPr id="376" name="Google Shape;376;p40"/>
          <p:cNvSpPr txBox="1"/>
          <p:nvPr/>
        </p:nvSpPr>
        <p:spPr>
          <a:xfrm>
            <a:off x="6837362" y="20462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reference value</a:t>
            </a:r>
            <a:endParaRPr/>
          </a:p>
        </p:txBody>
      </p:sp>
      <p:sp>
        <p:nvSpPr>
          <p:cNvPr id="377" name="Google Shape;377;p40"/>
          <p:cNvSpPr txBox="1"/>
          <p:nvPr/>
        </p:nvSpPr>
        <p:spPr>
          <a:xfrm>
            <a:off x="5724525" y="202088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cxnSp>
        <p:nvCxnSpPr>
          <p:cNvPr id="378" name="Google Shape;378;p40"/>
          <p:cNvCxnSpPr/>
          <p:nvPr/>
        </p:nvCxnSpPr>
        <p:spPr>
          <a:xfrm flipH="1">
            <a:off x="6991350" y="2238375"/>
            <a:ext cx="652462" cy="806450"/>
          </a:xfrm>
          <a:prstGeom prst="straightConnector1">
            <a:avLst/>
          </a:prstGeom>
          <a:noFill/>
          <a:ln cap="flat" cmpd="sng" w="12700">
            <a:solidFill>
              <a:srgbClr val="FF0000"/>
            </a:solidFill>
            <a:prstDash val="solid"/>
            <a:miter lim="800000"/>
            <a:headEnd len="med" w="med" type="none"/>
            <a:tailEnd len="sm" w="sm" type="stealth"/>
          </a:ln>
        </p:spPr>
      </p:cxnSp>
      <p:sp>
        <p:nvSpPr>
          <p:cNvPr id="379" name="Google Shape;379;p40"/>
          <p:cNvSpPr/>
          <p:nvPr/>
        </p:nvSpPr>
        <p:spPr>
          <a:xfrm>
            <a:off x="3151187" y="2928937"/>
            <a:ext cx="2497137" cy="730250"/>
          </a:xfrm>
          <a:prstGeom prst="wedgeRoundRectCallout">
            <a:avLst>
              <a:gd fmla="val 35318" name="adj1"/>
              <a:gd fmla="val -5963"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Assign object reference to myCircle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385" name="Google Shape;385;p41"/>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386" name="Google Shape;386;p41"/>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7" name="Google Shape;387;p41"/>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8" name="Google Shape;388;p41"/>
          <p:cNvSpPr txBox="1"/>
          <p:nvPr/>
        </p:nvSpPr>
        <p:spPr>
          <a:xfrm>
            <a:off x="152400" y="108585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pic>
        <p:nvPicPr>
          <p:cNvPr id="389" name="Google Shape;389;p41"/>
          <p:cNvPicPr preferRelativeResize="0"/>
          <p:nvPr>
            <p:ph idx="1" type="body"/>
          </p:nvPr>
        </p:nvPicPr>
        <p:blipFill rotWithShape="1">
          <a:blip r:embed="rId3">
            <a:alphaModFix/>
          </a:blip>
          <a:srcRect b="0" l="0" r="0" t="0"/>
          <a:stretch/>
        </p:blipFill>
        <p:spPr>
          <a:xfrm>
            <a:off x="5570537" y="2033587"/>
            <a:ext cx="2687637" cy="1193800"/>
          </a:xfrm>
          <a:prstGeom prst="rect">
            <a:avLst/>
          </a:prstGeom>
          <a:noFill/>
          <a:ln>
            <a:noFill/>
          </a:ln>
        </p:spPr>
      </p:pic>
      <p:sp>
        <p:nvSpPr>
          <p:cNvPr id="390" name="Google Shape;390;p41"/>
          <p:cNvSpPr txBox="1"/>
          <p:nvPr/>
        </p:nvSpPr>
        <p:spPr>
          <a:xfrm>
            <a:off x="6837362" y="122713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reference value</a:t>
            </a:r>
            <a:endParaRPr/>
          </a:p>
        </p:txBody>
      </p:sp>
      <p:sp>
        <p:nvSpPr>
          <p:cNvPr id="391" name="Google Shape;391;p41"/>
          <p:cNvSpPr txBox="1"/>
          <p:nvPr/>
        </p:nvSpPr>
        <p:spPr>
          <a:xfrm>
            <a:off x="5724525" y="120173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cxnSp>
        <p:nvCxnSpPr>
          <p:cNvPr id="392" name="Google Shape;392;p41"/>
          <p:cNvCxnSpPr/>
          <p:nvPr/>
        </p:nvCxnSpPr>
        <p:spPr>
          <a:xfrm flipH="1">
            <a:off x="6991350" y="1419225"/>
            <a:ext cx="652462" cy="806450"/>
          </a:xfrm>
          <a:prstGeom prst="straightConnector1">
            <a:avLst/>
          </a:prstGeom>
          <a:noFill/>
          <a:ln cap="flat" cmpd="sng" w="12700">
            <a:solidFill>
              <a:srgbClr val="FF0000"/>
            </a:solidFill>
            <a:prstDash val="solid"/>
            <a:miter lim="800000"/>
            <a:headEnd len="med" w="med" type="none"/>
            <a:tailEnd len="sm" w="sm" type="stealth"/>
          </a:ln>
        </p:spPr>
      </p:cxnSp>
      <p:sp>
        <p:nvSpPr>
          <p:cNvPr id="393" name="Google Shape;393;p41"/>
          <p:cNvSpPr txBox="1"/>
          <p:nvPr/>
        </p:nvSpPr>
        <p:spPr>
          <a:xfrm>
            <a:off x="239712" y="1700212"/>
            <a:ext cx="1720850" cy="268287"/>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4" name="Google Shape;394;p41"/>
          <p:cNvSpPr txBox="1"/>
          <p:nvPr/>
        </p:nvSpPr>
        <p:spPr>
          <a:xfrm>
            <a:off x="6837362" y="35829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no value</a:t>
            </a:r>
            <a:endParaRPr/>
          </a:p>
        </p:txBody>
      </p:sp>
      <p:sp>
        <p:nvSpPr>
          <p:cNvPr id="395" name="Google Shape;395;p41"/>
          <p:cNvSpPr txBox="1"/>
          <p:nvPr/>
        </p:nvSpPr>
        <p:spPr>
          <a:xfrm>
            <a:off x="5724525" y="3557587"/>
            <a:ext cx="12287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yourCircle</a:t>
            </a:r>
            <a:endParaRPr/>
          </a:p>
        </p:txBody>
      </p:sp>
      <p:sp>
        <p:nvSpPr>
          <p:cNvPr id="396" name="Google Shape;396;p41"/>
          <p:cNvSpPr/>
          <p:nvPr/>
        </p:nvSpPr>
        <p:spPr>
          <a:xfrm>
            <a:off x="5646737" y="4887912"/>
            <a:ext cx="2843212" cy="500062"/>
          </a:xfrm>
          <a:prstGeom prst="wedgeRoundRectCallout">
            <a:avLst>
              <a:gd fmla="val 9624" name="adj1"/>
              <a:gd fmla="val -45669"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Declare yourCircle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02" name="Google Shape;402;p42"/>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403" name="Google Shape;403;p42"/>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4" name="Google Shape;404;p42"/>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5" name="Google Shape;405;p42"/>
          <p:cNvSpPr txBox="1"/>
          <p:nvPr/>
        </p:nvSpPr>
        <p:spPr>
          <a:xfrm>
            <a:off x="152400" y="108585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pic>
        <p:nvPicPr>
          <p:cNvPr id="406" name="Google Shape;406;p42"/>
          <p:cNvPicPr preferRelativeResize="0"/>
          <p:nvPr>
            <p:ph idx="1" type="body"/>
          </p:nvPr>
        </p:nvPicPr>
        <p:blipFill rotWithShape="1">
          <a:blip r:embed="rId3">
            <a:alphaModFix/>
          </a:blip>
          <a:srcRect b="0" l="0" r="0" t="0"/>
          <a:stretch/>
        </p:blipFill>
        <p:spPr>
          <a:xfrm>
            <a:off x="5570537" y="2033587"/>
            <a:ext cx="2687637" cy="1193800"/>
          </a:xfrm>
          <a:prstGeom prst="rect">
            <a:avLst/>
          </a:prstGeom>
          <a:noFill/>
          <a:ln>
            <a:noFill/>
          </a:ln>
        </p:spPr>
      </p:pic>
      <p:sp>
        <p:nvSpPr>
          <p:cNvPr id="407" name="Google Shape;407;p42"/>
          <p:cNvSpPr txBox="1"/>
          <p:nvPr/>
        </p:nvSpPr>
        <p:spPr>
          <a:xfrm>
            <a:off x="6837362" y="122713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reference value</a:t>
            </a:r>
            <a:endParaRPr/>
          </a:p>
        </p:txBody>
      </p:sp>
      <p:sp>
        <p:nvSpPr>
          <p:cNvPr id="408" name="Google Shape;408;p42"/>
          <p:cNvSpPr txBox="1"/>
          <p:nvPr/>
        </p:nvSpPr>
        <p:spPr>
          <a:xfrm>
            <a:off x="5724525" y="120173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cxnSp>
        <p:nvCxnSpPr>
          <p:cNvPr id="409" name="Google Shape;409;p42"/>
          <p:cNvCxnSpPr/>
          <p:nvPr/>
        </p:nvCxnSpPr>
        <p:spPr>
          <a:xfrm flipH="1">
            <a:off x="6991350" y="1419225"/>
            <a:ext cx="652462" cy="806450"/>
          </a:xfrm>
          <a:prstGeom prst="straightConnector1">
            <a:avLst/>
          </a:prstGeom>
          <a:noFill/>
          <a:ln cap="flat" cmpd="sng" w="12700">
            <a:solidFill>
              <a:srgbClr val="FF0000"/>
            </a:solidFill>
            <a:prstDash val="solid"/>
            <a:miter lim="800000"/>
            <a:headEnd len="med" w="med" type="none"/>
            <a:tailEnd len="sm" w="sm" type="stealth"/>
          </a:ln>
        </p:spPr>
      </p:cxnSp>
      <p:sp>
        <p:nvSpPr>
          <p:cNvPr id="410" name="Google Shape;410;p42"/>
          <p:cNvSpPr txBox="1"/>
          <p:nvPr/>
        </p:nvSpPr>
        <p:spPr>
          <a:xfrm>
            <a:off x="6837362" y="35829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accent2"/>
              </a:buClr>
              <a:buSzPts val="1800"/>
              <a:buFont typeface="Times New Roman"/>
              <a:buNone/>
            </a:pPr>
            <a:r>
              <a:rPr b="0" i="0" lang="en-US" sz="1800" u="none">
                <a:solidFill>
                  <a:schemeClr val="accent2"/>
                </a:solidFill>
                <a:latin typeface="Times New Roman"/>
                <a:ea typeface="Times New Roman"/>
                <a:cs typeface="Times New Roman"/>
                <a:sym typeface="Times New Roman"/>
              </a:rPr>
              <a:t>no value</a:t>
            </a:r>
            <a:endParaRPr/>
          </a:p>
        </p:txBody>
      </p:sp>
      <p:sp>
        <p:nvSpPr>
          <p:cNvPr id="411" name="Google Shape;411;p42"/>
          <p:cNvSpPr txBox="1"/>
          <p:nvPr/>
        </p:nvSpPr>
        <p:spPr>
          <a:xfrm>
            <a:off x="5724525" y="3557587"/>
            <a:ext cx="12287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yourCircle</a:t>
            </a:r>
            <a:endParaRPr/>
          </a:p>
        </p:txBody>
      </p:sp>
      <p:sp>
        <p:nvSpPr>
          <p:cNvPr id="412" name="Google Shape;412;p42"/>
          <p:cNvSpPr txBox="1"/>
          <p:nvPr/>
        </p:nvSpPr>
        <p:spPr>
          <a:xfrm>
            <a:off x="2166937" y="1662112"/>
            <a:ext cx="1266825" cy="307975"/>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13" name="Google Shape;413;p42"/>
          <p:cNvPicPr preferRelativeResize="0"/>
          <p:nvPr/>
        </p:nvPicPr>
        <p:blipFill rotWithShape="1">
          <a:blip r:embed="rId4">
            <a:alphaModFix/>
          </a:blip>
          <a:srcRect b="0" l="0" r="0" t="0"/>
          <a:stretch/>
        </p:blipFill>
        <p:spPr>
          <a:xfrm>
            <a:off x="5800725" y="4351337"/>
            <a:ext cx="2687637" cy="1193800"/>
          </a:xfrm>
          <a:prstGeom prst="rect">
            <a:avLst/>
          </a:prstGeom>
          <a:noFill/>
          <a:ln>
            <a:noFill/>
          </a:ln>
        </p:spPr>
      </p:pic>
      <p:sp>
        <p:nvSpPr>
          <p:cNvPr id="414" name="Google Shape;414;p42"/>
          <p:cNvSpPr/>
          <p:nvPr/>
        </p:nvSpPr>
        <p:spPr>
          <a:xfrm>
            <a:off x="3573462" y="4927600"/>
            <a:ext cx="1804987" cy="652462"/>
          </a:xfrm>
          <a:prstGeom prst="wedgeRoundRectCallout">
            <a:avLst>
              <a:gd fmla="val 30073" name="adj1"/>
              <a:gd fmla="val -8041"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Create a new Circle object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20" name="Google Shape;420;p43"/>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421" name="Google Shape;421;p43"/>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2" name="Google Shape;422;p43"/>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3" name="Google Shape;423;p43"/>
          <p:cNvSpPr txBox="1"/>
          <p:nvPr/>
        </p:nvSpPr>
        <p:spPr>
          <a:xfrm>
            <a:off x="152400" y="108585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pic>
        <p:nvPicPr>
          <p:cNvPr id="424" name="Google Shape;424;p43"/>
          <p:cNvPicPr preferRelativeResize="0"/>
          <p:nvPr>
            <p:ph idx="1" type="body"/>
          </p:nvPr>
        </p:nvPicPr>
        <p:blipFill rotWithShape="1">
          <a:blip r:embed="rId3">
            <a:alphaModFix/>
          </a:blip>
          <a:srcRect b="0" l="0" r="0" t="0"/>
          <a:stretch/>
        </p:blipFill>
        <p:spPr>
          <a:xfrm>
            <a:off x="5570537" y="2033587"/>
            <a:ext cx="2687637" cy="1193800"/>
          </a:xfrm>
          <a:prstGeom prst="rect">
            <a:avLst/>
          </a:prstGeom>
          <a:noFill/>
          <a:ln>
            <a:noFill/>
          </a:ln>
        </p:spPr>
      </p:pic>
      <p:sp>
        <p:nvSpPr>
          <p:cNvPr id="425" name="Google Shape;425;p43"/>
          <p:cNvSpPr txBox="1"/>
          <p:nvPr/>
        </p:nvSpPr>
        <p:spPr>
          <a:xfrm>
            <a:off x="6837362" y="122713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reference value</a:t>
            </a:r>
            <a:endParaRPr/>
          </a:p>
        </p:txBody>
      </p:sp>
      <p:sp>
        <p:nvSpPr>
          <p:cNvPr id="426" name="Google Shape;426;p43"/>
          <p:cNvSpPr txBox="1"/>
          <p:nvPr/>
        </p:nvSpPr>
        <p:spPr>
          <a:xfrm>
            <a:off x="5724525" y="120173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cxnSp>
        <p:nvCxnSpPr>
          <p:cNvPr id="427" name="Google Shape;427;p43"/>
          <p:cNvCxnSpPr/>
          <p:nvPr/>
        </p:nvCxnSpPr>
        <p:spPr>
          <a:xfrm flipH="1">
            <a:off x="6991350" y="1419225"/>
            <a:ext cx="652462" cy="806450"/>
          </a:xfrm>
          <a:prstGeom prst="straightConnector1">
            <a:avLst/>
          </a:prstGeom>
          <a:noFill/>
          <a:ln cap="flat" cmpd="sng" w="12700">
            <a:solidFill>
              <a:srgbClr val="FF0000"/>
            </a:solidFill>
            <a:prstDash val="solid"/>
            <a:miter lim="800000"/>
            <a:headEnd len="med" w="med" type="none"/>
            <a:tailEnd len="sm" w="sm" type="stealth"/>
          </a:ln>
        </p:spPr>
      </p:cxnSp>
      <p:sp>
        <p:nvSpPr>
          <p:cNvPr id="428" name="Google Shape;428;p43"/>
          <p:cNvSpPr txBox="1"/>
          <p:nvPr/>
        </p:nvSpPr>
        <p:spPr>
          <a:xfrm>
            <a:off x="6837362" y="35829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reference value</a:t>
            </a:r>
            <a:endParaRPr/>
          </a:p>
        </p:txBody>
      </p:sp>
      <p:sp>
        <p:nvSpPr>
          <p:cNvPr id="429" name="Google Shape;429;p43"/>
          <p:cNvSpPr txBox="1"/>
          <p:nvPr/>
        </p:nvSpPr>
        <p:spPr>
          <a:xfrm>
            <a:off x="5724525" y="3557587"/>
            <a:ext cx="12287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yourCircle</a:t>
            </a:r>
            <a:endParaRPr/>
          </a:p>
        </p:txBody>
      </p:sp>
      <p:sp>
        <p:nvSpPr>
          <p:cNvPr id="430" name="Google Shape;430;p43"/>
          <p:cNvSpPr txBox="1"/>
          <p:nvPr/>
        </p:nvSpPr>
        <p:spPr>
          <a:xfrm>
            <a:off x="1960562" y="1700212"/>
            <a:ext cx="230187" cy="268287"/>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31" name="Google Shape;431;p43"/>
          <p:cNvPicPr preferRelativeResize="0"/>
          <p:nvPr/>
        </p:nvPicPr>
        <p:blipFill rotWithShape="1">
          <a:blip r:embed="rId4">
            <a:alphaModFix/>
          </a:blip>
          <a:srcRect b="0" l="0" r="0" t="0"/>
          <a:stretch/>
        </p:blipFill>
        <p:spPr>
          <a:xfrm>
            <a:off x="5800725" y="4351337"/>
            <a:ext cx="2687637" cy="1193800"/>
          </a:xfrm>
          <a:prstGeom prst="rect">
            <a:avLst/>
          </a:prstGeom>
          <a:noFill/>
          <a:ln>
            <a:noFill/>
          </a:ln>
        </p:spPr>
      </p:pic>
      <p:sp>
        <p:nvSpPr>
          <p:cNvPr id="432" name="Google Shape;432;p43"/>
          <p:cNvSpPr/>
          <p:nvPr/>
        </p:nvSpPr>
        <p:spPr>
          <a:xfrm>
            <a:off x="3343275" y="4119562"/>
            <a:ext cx="2495550" cy="692150"/>
          </a:xfrm>
          <a:prstGeom prst="wedgeRoundRectCallout">
            <a:avLst>
              <a:gd fmla="val 31974" name="adj1"/>
              <a:gd fmla="val -545"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Assign object reference to yourCircle</a:t>
            </a:r>
            <a:endParaRPr/>
          </a:p>
        </p:txBody>
      </p:sp>
      <p:cxnSp>
        <p:nvCxnSpPr>
          <p:cNvPr id="433" name="Google Shape;433;p43"/>
          <p:cNvCxnSpPr/>
          <p:nvPr/>
        </p:nvCxnSpPr>
        <p:spPr>
          <a:xfrm flipH="1">
            <a:off x="7107237" y="3813175"/>
            <a:ext cx="652462" cy="806450"/>
          </a:xfrm>
          <a:prstGeom prst="straightConnector1">
            <a:avLst/>
          </a:prstGeom>
          <a:noFill/>
          <a:ln cap="flat" cmpd="sng" w="12700">
            <a:solidFill>
              <a:srgbClr val="FF0000"/>
            </a:solidFill>
            <a:prstDash val="solid"/>
            <a:miter lim="800000"/>
            <a:headEnd len="med" w="med" type="none"/>
            <a:tailEnd len="sm" w="sm" type="stealth"/>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39" name="Google Shape;439;p44"/>
          <p:cNvSpPr txBox="1"/>
          <p:nvPr>
            <p:ph type="title"/>
          </p:nvPr>
        </p:nvSpPr>
        <p:spPr>
          <a:xfrm>
            <a:off x="685800" y="285750"/>
            <a:ext cx="7772400" cy="531812"/>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Trace Code, cont.</a:t>
            </a:r>
            <a:endParaRPr/>
          </a:p>
        </p:txBody>
      </p:sp>
      <p:sp>
        <p:nvSpPr>
          <p:cNvPr id="440" name="Google Shape;440;p44"/>
          <p:cNvSpPr txBox="1"/>
          <p:nvPr/>
        </p:nvSpPr>
        <p:spPr>
          <a:xfrm>
            <a:off x="2686050" y="23431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1" name="Google Shape;441;p44"/>
          <p:cNvSpPr txBox="1"/>
          <p:nvPr/>
        </p:nvSpPr>
        <p:spPr>
          <a:xfrm>
            <a:off x="28003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 name="Google Shape;442;p44"/>
          <p:cNvSpPr txBox="1"/>
          <p:nvPr/>
        </p:nvSpPr>
        <p:spPr>
          <a:xfrm>
            <a:off x="152400" y="1085850"/>
            <a:ext cx="4800600"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myCircle = new Circle(5.0);</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Circle yourCircle = new Circle();</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2"/>
              </a:buClr>
              <a:buSzPts val="1800"/>
              <a:buFont typeface="Times New Roman"/>
              <a:buNone/>
            </a:pPr>
            <a:r>
              <a:rPr b="1" i="0" lang="en-US" sz="1800" u="none">
                <a:solidFill>
                  <a:schemeClr val="dk2"/>
                </a:solidFill>
                <a:latin typeface="Times New Roman"/>
                <a:ea typeface="Times New Roman"/>
                <a:cs typeface="Times New Roman"/>
                <a:sym typeface="Times New Roman"/>
              </a:rPr>
              <a:t>yourCircle.radius = 100;</a:t>
            </a:r>
            <a:endParaRPr/>
          </a:p>
        </p:txBody>
      </p:sp>
      <p:pic>
        <p:nvPicPr>
          <p:cNvPr id="443" name="Google Shape;443;p44"/>
          <p:cNvPicPr preferRelativeResize="0"/>
          <p:nvPr>
            <p:ph idx="1" type="body"/>
          </p:nvPr>
        </p:nvPicPr>
        <p:blipFill rotWithShape="1">
          <a:blip r:embed="rId3">
            <a:alphaModFix/>
          </a:blip>
          <a:srcRect b="0" l="0" r="0" t="0"/>
          <a:stretch/>
        </p:blipFill>
        <p:spPr>
          <a:xfrm>
            <a:off x="5570537" y="2046287"/>
            <a:ext cx="2687637" cy="1193800"/>
          </a:xfrm>
          <a:prstGeom prst="rect">
            <a:avLst/>
          </a:prstGeom>
          <a:noFill/>
          <a:ln>
            <a:noFill/>
          </a:ln>
        </p:spPr>
      </p:pic>
      <p:sp>
        <p:nvSpPr>
          <p:cNvPr id="444" name="Google Shape;444;p44"/>
          <p:cNvSpPr txBox="1"/>
          <p:nvPr/>
        </p:nvSpPr>
        <p:spPr>
          <a:xfrm>
            <a:off x="6837362" y="122713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reference value</a:t>
            </a:r>
            <a:endParaRPr/>
          </a:p>
        </p:txBody>
      </p:sp>
      <p:sp>
        <p:nvSpPr>
          <p:cNvPr id="445" name="Google Shape;445;p44"/>
          <p:cNvSpPr txBox="1"/>
          <p:nvPr/>
        </p:nvSpPr>
        <p:spPr>
          <a:xfrm>
            <a:off x="5724525" y="1201737"/>
            <a:ext cx="113347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myCircle</a:t>
            </a:r>
            <a:endParaRPr/>
          </a:p>
        </p:txBody>
      </p:sp>
      <p:cxnSp>
        <p:nvCxnSpPr>
          <p:cNvPr id="446" name="Google Shape;446;p44"/>
          <p:cNvCxnSpPr/>
          <p:nvPr/>
        </p:nvCxnSpPr>
        <p:spPr>
          <a:xfrm flipH="1">
            <a:off x="6991350" y="1419225"/>
            <a:ext cx="652462" cy="806450"/>
          </a:xfrm>
          <a:prstGeom prst="straightConnector1">
            <a:avLst/>
          </a:prstGeom>
          <a:noFill/>
          <a:ln cap="flat" cmpd="sng" w="12700">
            <a:solidFill>
              <a:srgbClr val="FF0000"/>
            </a:solidFill>
            <a:prstDash val="solid"/>
            <a:miter lim="800000"/>
            <a:headEnd len="med" w="med" type="none"/>
            <a:tailEnd len="sm" w="sm" type="stealth"/>
          </a:ln>
        </p:spPr>
      </p:cxnSp>
      <p:sp>
        <p:nvSpPr>
          <p:cNvPr id="447" name="Google Shape;447;p44"/>
          <p:cNvSpPr txBox="1"/>
          <p:nvPr/>
        </p:nvSpPr>
        <p:spPr>
          <a:xfrm>
            <a:off x="6837362" y="3582987"/>
            <a:ext cx="1524000" cy="306387"/>
          </a:xfrm>
          <a:prstGeom prst="rect">
            <a:avLst/>
          </a:prstGeom>
          <a:noFill/>
          <a:ln cap="flat" cmpd="sng" w="12700">
            <a:solidFill>
              <a:schemeClr val="dk1"/>
            </a:solidFill>
            <a:prstDash val="solid"/>
            <a:miter lim="800000"/>
            <a:headEnd len="sm" w="sm" type="none"/>
            <a:tailEnd len="sm" w="sm" type="none"/>
          </a:ln>
        </p:spPr>
        <p:txBody>
          <a:bodyPr anchorCtr="0" anchor="ctr" bIns="9125" lIns="9125" spcFirstLastPara="1" rIns="9125" wrap="square" tIns="9125">
            <a:noAutofit/>
          </a:bodyPr>
          <a:lstStyle/>
          <a:p>
            <a:pPr indent="0" lvl="0" marL="0" marR="0" rtl="0" algn="ctr">
              <a:lnSpc>
                <a:spcPct val="100000"/>
              </a:lnSpc>
              <a:spcBef>
                <a:spcPts val="0"/>
              </a:spcBef>
              <a:spcAft>
                <a:spcPts val="0"/>
              </a:spcAft>
              <a:buClr>
                <a:schemeClr val="dk2"/>
              </a:buClr>
              <a:buSzPts val="1800"/>
              <a:buFont typeface="Times New Roman"/>
              <a:buNone/>
            </a:pPr>
            <a:r>
              <a:rPr b="0" i="0" lang="en-US" sz="1800" u="none">
                <a:solidFill>
                  <a:schemeClr val="dk2"/>
                </a:solidFill>
                <a:latin typeface="Times New Roman"/>
                <a:ea typeface="Times New Roman"/>
                <a:cs typeface="Times New Roman"/>
                <a:sym typeface="Times New Roman"/>
              </a:rPr>
              <a:t>reference value</a:t>
            </a:r>
            <a:endParaRPr/>
          </a:p>
        </p:txBody>
      </p:sp>
      <p:sp>
        <p:nvSpPr>
          <p:cNvPr id="448" name="Google Shape;448;p44"/>
          <p:cNvSpPr txBox="1"/>
          <p:nvPr/>
        </p:nvSpPr>
        <p:spPr>
          <a:xfrm>
            <a:off x="5724525" y="3557587"/>
            <a:ext cx="1228725"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yourCircle</a:t>
            </a:r>
            <a:endParaRPr/>
          </a:p>
        </p:txBody>
      </p:sp>
      <p:sp>
        <p:nvSpPr>
          <p:cNvPr id="449" name="Google Shape;449;p44"/>
          <p:cNvSpPr txBox="1"/>
          <p:nvPr/>
        </p:nvSpPr>
        <p:spPr>
          <a:xfrm>
            <a:off x="193675" y="2238375"/>
            <a:ext cx="4456112" cy="268287"/>
          </a:xfrm>
          <a:prstGeom prst="rect">
            <a:avLst/>
          </a:prstGeom>
          <a:solidFill>
            <a:schemeClr val="accent1">
              <a:alpha val="44705"/>
            </a:schemeClr>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450" name="Google Shape;450;p44"/>
          <p:cNvPicPr preferRelativeResize="0"/>
          <p:nvPr/>
        </p:nvPicPr>
        <p:blipFill rotWithShape="1">
          <a:blip r:embed="rId4">
            <a:alphaModFix/>
          </a:blip>
          <a:srcRect b="0" l="0" r="0" t="0"/>
          <a:stretch/>
        </p:blipFill>
        <p:spPr>
          <a:xfrm>
            <a:off x="5800725" y="4351337"/>
            <a:ext cx="2687637" cy="1193800"/>
          </a:xfrm>
          <a:prstGeom prst="rect">
            <a:avLst/>
          </a:prstGeom>
          <a:noFill/>
          <a:ln>
            <a:noFill/>
          </a:ln>
        </p:spPr>
      </p:pic>
      <p:sp>
        <p:nvSpPr>
          <p:cNvPr id="451" name="Google Shape;451;p44"/>
          <p:cNvSpPr/>
          <p:nvPr/>
        </p:nvSpPr>
        <p:spPr>
          <a:xfrm>
            <a:off x="3035300" y="4849812"/>
            <a:ext cx="2497137" cy="806450"/>
          </a:xfrm>
          <a:prstGeom prst="wedgeRoundRectCallout">
            <a:avLst>
              <a:gd fmla="val 26626" name="adj1"/>
              <a:gd fmla="val 9099" name="adj2"/>
              <a:gd fmla="val 0" name="adj3"/>
            </a:avLst>
          </a:prstGeom>
          <a:solidFill>
            <a:schemeClr val="accen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Change radius in yourCircle</a:t>
            </a:r>
            <a:endParaRPr/>
          </a:p>
        </p:txBody>
      </p:sp>
      <p:cxnSp>
        <p:nvCxnSpPr>
          <p:cNvPr id="452" name="Google Shape;452;p44"/>
          <p:cNvCxnSpPr/>
          <p:nvPr/>
        </p:nvCxnSpPr>
        <p:spPr>
          <a:xfrm flipH="1">
            <a:off x="7107237" y="3813175"/>
            <a:ext cx="652462" cy="806450"/>
          </a:xfrm>
          <a:prstGeom prst="straightConnector1">
            <a:avLst/>
          </a:prstGeom>
          <a:noFill/>
          <a:ln cap="flat" cmpd="sng" w="12700">
            <a:solidFill>
              <a:srgbClr val="FF0000"/>
            </a:solidFill>
            <a:prstDash val="solid"/>
            <a:miter lim="800000"/>
            <a:headEnd len="med" w="med" type="none"/>
            <a:tailEnd len="sm" w="sm" type="stealth"/>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58" name="Google Shape;458;p45"/>
          <p:cNvSpPr txBox="1"/>
          <p:nvPr>
            <p:ph type="title"/>
          </p:nvPr>
        </p:nvSpPr>
        <p:spPr>
          <a:xfrm>
            <a:off x="152400" y="304800"/>
            <a:ext cx="8991600" cy="533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Caution</a:t>
            </a:r>
            <a:endParaRPr/>
          </a:p>
        </p:txBody>
      </p:sp>
      <p:sp>
        <p:nvSpPr>
          <p:cNvPr id="459" name="Google Shape;459;p45"/>
          <p:cNvSpPr txBox="1"/>
          <p:nvPr>
            <p:ph idx="1" type="body"/>
          </p:nvPr>
        </p:nvSpPr>
        <p:spPr>
          <a:xfrm>
            <a:off x="152400" y="1219200"/>
            <a:ext cx="8991600" cy="50292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The data field </a:t>
            </a:r>
            <a:r>
              <a:rPr b="1" i="0" lang="en-US" sz="2400" u="none">
                <a:solidFill>
                  <a:schemeClr val="dk1"/>
                </a:solidFill>
                <a:latin typeface="Times New Roman"/>
                <a:ea typeface="Times New Roman"/>
                <a:cs typeface="Times New Roman"/>
                <a:sym typeface="Times New Roman"/>
              </a:rPr>
              <a:t>radius </a:t>
            </a:r>
            <a:r>
              <a:rPr b="0" i="0" lang="en-US" sz="2400" u="none">
                <a:solidFill>
                  <a:schemeClr val="dk1"/>
                </a:solidFill>
                <a:latin typeface="Times New Roman"/>
                <a:ea typeface="Times New Roman"/>
                <a:cs typeface="Times New Roman"/>
                <a:sym typeface="Times New Roman"/>
              </a:rPr>
              <a:t>is referred to as an </a:t>
            </a:r>
            <a:r>
              <a:rPr b="0" i="1" lang="en-US" sz="2400" u="none">
                <a:solidFill>
                  <a:schemeClr val="dk1"/>
                </a:solidFill>
                <a:latin typeface="Times New Roman"/>
                <a:ea typeface="Times New Roman"/>
                <a:cs typeface="Times New Roman"/>
                <a:sym typeface="Times New Roman"/>
              </a:rPr>
              <a:t>instance variable</a:t>
            </a:r>
            <a:r>
              <a:rPr b="0" i="0" lang="en-US" sz="2400" u="none">
                <a:solidFill>
                  <a:schemeClr val="dk1"/>
                </a:solidFill>
                <a:latin typeface="Times New Roman"/>
                <a:ea typeface="Times New Roman"/>
                <a:cs typeface="Times New Roman"/>
                <a:sym typeface="Times New Roman"/>
              </a:rPr>
              <a:t>, because it is dependent on a specific instance. For the same reason, the method </a:t>
            </a:r>
            <a:r>
              <a:rPr b="1" i="0" lang="en-US" sz="2400" u="none">
                <a:solidFill>
                  <a:schemeClr val="dk1"/>
                </a:solidFill>
                <a:latin typeface="Times New Roman"/>
                <a:ea typeface="Times New Roman"/>
                <a:cs typeface="Times New Roman"/>
                <a:sym typeface="Times New Roman"/>
              </a:rPr>
              <a:t>getArea </a:t>
            </a:r>
            <a:r>
              <a:rPr b="0" i="0" lang="en-US" sz="2400" u="none">
                <a:solidFill>
                  <a:schemeClr val="dk1"/>
                </a:solidFill>
                <a:latin typeface="Times New Roman"/>
                <a:ea typeface="Times New Roman"/>
                <a:cs typeface="Times New Roman"/>
                <a:sym typeface="Times New Roman"/>
              </a:rPr>
              <a:t>is referred to as an </a:t>
            </a:r>
            <a:r>
              <a:rPr b="0" i="1" lang="en-US" sz="2400" u="none">
                <a:solidFill>
                  <a:schemeClr val="dk1"/>
                </a:solidFill>
                <a:latin typeface="Times New Roman"/>
                <a:ea typeface="Times New Roman"/>
                <a:cs typeface="Times New Roman"/>
                <a:sym typeface="Times New Roman"/>
              </a:rPr>
              <a:t>instance method</a:t>
            </a:r>
            <a:r>
              <a:rPr b="0" i="0" lang="en-US" sz="2400" u="none">
                <a:solidFill>
                  <a:schemeClr val="dk1"/>
                </a:solidFill>
                <a:latin typeface="Times New Roman"/>
                <a:ea typeface="Times New Roman"/>
                <a:cs typeface="Times New Roman"/>
                <a:sym typeface="Times New Roman"/>
              </a:rPr>
              <a:t>, because you can invoke it only on a specific instance. </a:t>
            </a:r>
            <a:endParaRPr/>
          </a:p>
          <a:p>
            <a:pPr indent="-342900" lvl="0" marL="342900" rtl="0" algn="l">
              <a:lnSpc>
                <a:spcPct val="100000"/>
              </a:lnSpc>
              <a:spcBef>
                <a:spcPts val="48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The object on which an instance method is invoked is called a </a:t>
            </a:r>
            <a:r>
              <a:rPr b="0" i="1" lang="en-US" sz="2400" u="none">
                <a:solidFill>
                  <a:schemeClr val="dk1"/>
                </a:solidFill>
                <a:latin typeface="Times New Roman"/>
                <a:ea typeface="Times New Roman"/>
                <a:cs typeface="Times New Roman"/>
                <a:sym typeface="Times New Roman"/>
              </a:rPr>
              <a:t>calling object</a:t>
            </a:r>
            <a:r>
              <a:rPr b="0" i="0" lang="en-US" sz="2400" u="none">
                <a:solidFill>
                  <a:schemeClr val="dk1"/>
                </a:solidFill>
                <a:latin typeface="Times New Roman"/>
                <a:ea typeface="Times New Roman"/>
                <a:cs typeface="Times New Roman"/>
                <a:sym typeface="Times New Roman"/>
              </a:rPr>
              <a:t>. </a:t>
            </a:r>
            <a:endParaRPr/>
          </a:p>
          <a:p>
            <a:pPr indent="-228600" lvl="0" marL="342900" rtl="0" algn="l">
              <a:spcBef>
                <a:spcPts val="480"/>
              </a:spcBef>
              <a:spcAft>
                <a:spcPts val="0"/>
              </a:spcAft>
              <a:buSzPts val="1800"/>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65" name="Google Shape;465;p46"/>
          <p:cNvSpPr txBox="1"/>
          <p:nvPr>
            <p:ph type="title"/>
          </p:nvPr>
        </p:nvSpPr>
        <p:spPr>
          <a:xfrm>
            <a:off x="152400" y="304800"/>
            <a:ext cx="8991600" cy="533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Caution</a:t>
            </a:r>
            <a:endParaRPr/>
          </a:p>
        </p:txBody>
      </p:sp>
      <p:sp>
        <p:nvSpPr>
          <p:cNvPr id="466" name="Google Shape;466;p46"/>
          <p:cNvSpPr txBox="1"/>
          <p:nvPr>
            <p:ph idx="1" type="body"/>
          </p:nvPr>
        </p:nvSpPr>
        <p:spPr>
          <a:xfrm>
            <a:off x="152400" y="1219200"/>
            <a:ext cx="8991600" cy="5029200"/>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Recall that you use </a:t>
            </a:r>
            <a:endParaRPr/>
          </a:p>
          <a:p>
            <a:pPr indent="-285749" lvl="1" marL="979487" rtl="0" algn="l">
              <a:lnSpc>
                <a:spcPct val="90000"/>
              </a:lnSpc>
              <a:spcBef>
                <a:spcPts val="400"/>
              </a:spcBef>
              <a:spcAft>
                <a:spcPts val="0"/>
              </a:spcAft>
              <a:buSzPts val="2000"/>
              <a:buFont typeface="Times New Roman"/>
              <a:buNone/>
            </a:pPr>
            <a:r>
              <a:rPr b="0" i="0" lang="en-US" sz="2000" u="none">
                <a:solidFill>
                  <a:schemeClr val="dk1"/>
                </a:solidFill>
                <a:latin typeface="Times New Roman"/>
                <a:ea typeface="Times New Roman"/>
                <a:cs typeface="Times New Roman"/>
                <a:sym typeface="Times New Roman"/>
              </a:rPr>
              <a:t>Math.methodName(arguments) (e.g., Math.pow(3, 2.5)) </a:t>
            </a:r>
            <a:endParaRPr/>
          </a:p>
          <a:p>
            <a:pPr indent="-342900" lvl="0" marL="342900" rtl="0" algn="l">
              <a:lnSpc>
                <a:spcPct val="90000"/>
              </a:lnSpc>
              <a:spcBef>
                <a:spcPts val="480"/>
              </a:spcBef>
              <a:spcAft>
                <a:spcPts val="0"/>
              </a:spcAft>
              <a:buSzPts val="1800"/>
              <a:buNone/>
            </a:pPr>
            <a:r>
              <a:t/>
            </a:r>
            <a:endParaRPr b="0" i="0" sz="2400" u="none">
              <a:solidFill>
                <a:schemeClr val="dk1"/>
              </a:solidFill>
              <a:latin typeface="Times New Roman"/>
              <a:ea typeface="Times New Roman"/>
              <a:cs typeface="Times New Roman"/>
              <a:sym typeface="Times New Roman"/>
            </a:endParaRPr>
          </a:p>
          <a:p>
            <a:pPr indent="-342900" lvl="0" marL="342900" rtl="0" algn="l">
              <a:lnSpc>
                <a:spcPct val="90000"/>
              </a:lnSpc>
              <a:spcBef>
                <a:spcPts val="480"/>
              </a:spcBef>
              <a:spcAft>
                <a:spcPts val="0"/>
              </a:spcAft>
              <a:buSzPts val="1800"/>
              <a:buNone/>
            </a:pPr>
            <a:r>
              <a:rPr b="0" i="0" lang="en-US" sz="2400" u="none">
                <a:solidFill>
                  <a:schemeClr val="dk1"/>
                </a:solidFill>
                <a:latin typeface="Times New Roman"/>
                <a:ea typeface="Times New Roman"/>
                <a:cs typeface="Times New Roman"/>
                <a:sym typeface="Times New Roman"/>
              </a:rPr>
              <a:t>	to invoke a method in the Math class. Can you invoke getArea() using SimpleCircle.getArea()? </a:t>
            </a:r>
            <a:r>
              <a:rPr b="0" i="0" lang="en-US" sz="2400" u="none">
                <a:solidFill>
                  <a:srgbClr val="FF0000"/>
                </a:solidFill>
                <a:latin typeface="Times New Roman"/>
                <a:ea typeface="Times New Roman"/>
                <a:cs typeface="Times New Roman"/>
                <a:sym typeface="Times New Roman"/>
              </a:rPr>
              <a:t>The answer is no</a:t>
            </a:r>
            <a:r>
              <a:rPr b="0" i="0" lang="en-US" sz="2400" u="none">
                <a:solidFill>
                  <a:schemeClr val="dk1"/>
                </a:solidFill>
                <a:latin typeface="Times New Roman"/>
                <a:ea typeface="Times New Roman"/>
                <a:cs typeface="Times New Roman"/>
                <a:sym typeface="Times New Roman"/>
              </a:rPr>
              <a:t>. </a:t>
            </a:r>
            <a:endParaRPr/>
          </a:p>
          <a:p>
            <a:pPr indent="-342900" lvl="0" marL="342900" rtl="0" algn="l">
              <a:lnSpc>
                <a:spcPct val="90000"/>
              </a:lnSpc>
              <a:spcBef>
                <a:spcPts val="480"/>
              </a:spcBef>
              <a:spcAft>
                <a:spcPts val="0"/>
              </a:spcAft>
              <a:buSzPts val="1800"/>
              <a:buNone/>
            </a:pPr>
            <a:r>
              <a:t/>
            </a:r>
            <a:endParaRPr b="0" i="0" sz="2400" u="none">
              <a:solidFill>
                <a:schemeClr val="dk1"/>
              </a:solidFill>
              <a:latin typeface="Times New Roman"/>
              <a:ea typeface="Times New Roman"/>
              <a:cs typeface="Times New Roman"/>
              <a:sym typeface="Times New Roman"/>
            </a:endParaRPr>
          </a:p>
          <a:p>
            <a:pPr indent="-342900" lvl="0" marL="342900" rtl="0" algn="l">
              <a:lnSpc>
                <a:spcPct val="90000"/>
              </a:lnSpc>
              <a:spcBef>
                <a:spcPts val="48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All the methods used before this chapter are </a:t>
            </a:r>
            <a:r>
              <a:rPr b="0" i="0" lang="en-US" sz="2400" u="none">
                <a:solidFill>
                  <a:srgbClr val="FF0000"/>
                </a:solidFill>
                <a:latin typeface="Times New Roman"/>
                <a:ea typeface="Times New Roman"/>
                <a:cs typeface="Times New Roman"/>
                <a:sym typeface="Times New Roman"/>
              </a:rPr>
              <a:t>static methods</a:t>
            </a:r>
            <a:r>
              <a:rPr b="0" i="0" lang="en-US" sz="2400" u="none">
                <a:solidFill>
                  <a:schemeClr val="dk1"/>
                </a:solidFill>
                <a:latin typeface="Times New Roman"/>
                <a:ea typeface="Times New Roman"/>
                <a:cs typeface="Times New Roman"/>
                <a:sym typeface="Times New Roman"/>
              </a:rPr>
              <a:t>, which are defined using the static keyword. However, getArea() is non-static. It must be invoked from an object using </a:t>
            </a:r>
            <a:endParaRPr/>
          </a:p>
          <a:p>
            <a:pPr indent="-342900" lvl="0" marL="342900" rtl="0" algn="l">
              <a:lnSpc>
                <a:spcPct val="90000"/>
              </a:lnSpc>
              <a:spcBef>
                <a:spcPts val="480"/>
              </a:spcBef>
              <a:spcAft>
                <a:spcPts val="0"/>
              </a:spcAft>
              <a:buSzPts val="1800"/>
              <a:buNone/>
            </a:pPr>
            <a:r>
              <a:t/>
            </a:r>
            <a:endParaRPr b="0" i="0" sz="2400" u="none">
              <a:solidFill>
                <a:schemeClr val="dk1"/>
              </a:solidFill>
              <a:latin typeface="Times New Roman"/>
              <a:ea typeface="Times New Roman"/>
              <a:cs typeface="Times New Roman"/>
              <a:sym typeface="Times New Roman"/>
            </a:endParaRPr>
          </a:p>
          <a:p>
            <a:pPr indent="-285749" lvl="1" marL="979487" rtl="0" algn="l">
              <a:lnSpc>
                <a:spcPct val="90000"/>
              </a:lnSpc>
              <a:spcBef>
                <a:spcPts val="400"/>
              </a:spcBef>
              <a:spcAft>
                <a:spcPts val="0"/>
              </a:spcAft>
              <a:buSzPts val="2000"/>
              <a:buFont typeface="Times New Roman"/>
              <a:buNone/>
            </a:pPr>
            <a:r>
              <a:rPr b="0" i="0" lang="en-US" sz="2000" u="none">
                <a:solidFill>
                  <a:schemeClr val="dk1"/>
                </a:solidFill>
                <a:latin typeface="Times New Roman"/>
                <a:ea typeface="Times New Roman"/>
                <a:cs typeface="Times New Roman"/>
                <a:sym typeface="Times New Roman"/>
              </a:rPr>
              <a:t>objectRefVar.methodName(arguments) (e.g., myCircle.getArea()). </a:t>
            </a:r>
            <a:endParaRPr/>
          </a:p>
          <a:p>
            <a:pPr indent="-247650" lvl="0" marL="342900" rtl="0" algn="l">
              <a:spcBef>
                <a:spcPts val="400"/>
              </a:spcBef>
              <a:spcAft>
                <a:spcPts val="0"/>
              </a:spcAft>
              <a:buSzPts val="1500"/>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72" name="Google Shape;472;p47"/>
          <p:cNvSpPr txBox="1"/>
          <p:nvPr>
            <p:ph type="title"/>
          </p:nvPr>
        </p:nvSpPr>
        <p:spPr>
          <a:xfrm>
            <a:off x="685800" y="228600"/>
            <a:ext cx="7772400" cy="666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Reference Data Fields</a:t>
            </a:r>
            <a:endParaRPr/>
          </a:p>
        </p:txBody>
      </p:sp>
      <p:sp>
        <p:nvSpPr>
          <p:cNvPr id="473" name="Google Shape;473;p47"/>
          <p:cNvSpPr txBox="1"/>
          <p:nvPr>
            <p:ph idx="1" type="body"/>
          </p:nvPr>
        </p:nvSpPr>
        <p:spPr>
          <a:xfrm>
            <a:off x="304800" y="1066800"/>
            <a:ext cx="8458200" cy="1295400"/>
          </a:xfrm>
          <a:prstGeom prst="rect">
            <a:avLst/>
          </a:prstGeom>
          <a:noFill/>
          <a:ln>
            <a:noFill/>
          </a:ln>
        </p:spPr>
        <p:txBody>
          <a:bodyPr anchorCtr="0" anchor="t" bIns="46025" lIns="92075" spcFirstLastPara="1" rIns="92075" wrap="square" tIns="46025">
            <a:noAutofit/>
          </a:bodyPr>
          <a:lstStyle/>
          <a:p>
            <a:pPr indent="0" lvl="0" marL="0" rtl="0" algn="l">
              <a:lnSpc>
                <a:spcPct val="90000"/>
              </a:lnSpc>
              <a:spcBef>
                <a:spcPts val="0"/>
              </a:spcBef>
              <a:spcAft>
                <a:spcPts val="0"/>
              </a:spcAft>
              <a:buSzPts val="2100"/>
              <a:buNone/>
            </a:pPr>
            <a:r>
              <a:rPr b="0" i="0" lang="en-US" sz="2800" u="none">
                <a:solidFill>
                  <a:schemeClr val="dk1"/>
                </a:solidFill>
                <a:latin typeface="Times New Roman"/>
                <a:ea typeface="Times New Roman"/>
                <a:cs typeface="Times New Roman"/>
                <a:sym typeface="Times New Roman"/>
              </a:rPr>
              <a:t>The data fields can be of reference types. For example, the following </a:t>
            </a:r>
            <a:r>
              <a:rPr b="0" i="0" lang="en-US" sz="2800" u="none">
                <a:solidFill>
                  <a:srgbClr val="0070C0"/>
                </a:solidFill>
                <a:latin typeface="Times New Roman"/>
                <a:ea typeface="Times New Roman"/>
                <a:cs typeface="Times New Roman"/>
                <a:sym typeface="Times New Roman"/>
              </a:rPr>
              <a:t>Student </a:t>
            </a:r>
            <a:r>
              <a:rPr b="0" i="0" lang="en-US" sz="2800" u="none">
                <a:solidFill>
                  <a:schemeClr val="dk1"/>
                </a:solidFill>
                <a:latin typeface="Times New Roman"/>
                <a:ea typeface="Times New Roman"/>
                <a:cs typeface="Times New Roman"/>
                <a:sym typeface="Times New Roman"/>
              </a:rPr>
              <a:t>class contains a data field </a:t>
            </a:r>
            <a:r>
              <a:rPr b="0" i="0" lang="en-US" sz="2800" u="none">
                <a:solidFill>
                  <a:srgbClr val="0070C0"/>
                </a:solidFill>
                <a:latin typeface="Times New Roman"/>
                <a:ea typeface="Times New Roman"/>
                <a:cs typeface="Times New Roman"/>
                <a:sym typeface="Times New Roman"/>
              </a:rPr>
              <a:t>nam</a:t>
            </a:r>
            <a:r>
              <a:rPr b="0" i="0" lang="en-US" sz="2800" u="none">
                <a:solidFill>
                  <a:schemeClr val="dk1"/>
                </a:solidFill>
                <a:latin typeface="Times New Roman"/>
                <a:ea typeface="Times New Roman"/>
                <a:cs typeface="Times New Roman"/>
                <a:sym typeface="Times New Roman"/>
              </a:rPr>
              <a:t>e of the </a:t>
            </a:r>
            <a:r>
              <a:rPr b="0" i="0" lang="en-US" sz="2800" u="none">
                <a:solidFill>
                  <a:srgbClr val="0070C0"/>
                </a:solidFill>
                <a:latin typeface="Times New Roman"/>
                <a:ea typeface="Times New Roman"/>
                <a:cs typeface="Times New Roman"/>
                <a:sym typeface="Times New Roman"/>
              </a:rPr>
              <a:t>String</a:t>
            </a:r>
            <a:r>
              <a:rPr b="0" i="0" lang="en-US" sz="2800" u="none">
                <a:solidFill>
                  <a:schemeClr val="dk1"/>
                </a:solidFill>
                <a:latin typeface="Times New Roman"/>
                <a:ea typeface="Times New Roman"/>
                <a:cs typeface="Times New Roman"/>
                <a:sym typeface="Times New Roman"/>
              </a:rPr>
              <a:t> type.</a:t>
            </a:r>
            <a:endParaRPr b="0" i="0" sz="3200" u="none">
              <a:solidFill>
                <a:schemeClr val="dk1"/>
              </a:solidFill>
              <a:latin typeface="Times New Roman"/>
              <a:ea typeface="Times New Roman"/>
              <a:cs typeface="Times New Roman"/>
              <a:sym typeface="Times New Roman"/>
            </a:endParaRPr>
          </a:p>
          <a:p>
            <a:pPr indent="-190500" lvl="0" marL="342900" rtl="0" algn="l">
              <a:spcBef>
                <a:spcPts val="640"/>
              </a:spcBef>
              <a:spcAft>
                <a:spcPts val="0"/>
              </a:spcAft>
              <a:buSzPts val="2400"/>
              <a:buNone/>
            </a:pPr>
            <a:r>
              <a:t/>
            </a:r>
            <a:endParaRPr b="0" i="0" sz="3200" u="none">
              <a:solidFill>
                <a:schemeClr val="dk1"/>
              </a:solidFill>
              <a:latin typeface="Times New Roman"/>
              <a:ea typeface="Times New Roman"/>
              <a:cs typeface="Times New Roman"/>
              <a:sym typeface="Times New Roman"/>
            </a:endParaRPr>
          </a:p>
        </p:txBody>
      </p:sp>
      <p:sp>
        <p:nvSpPr>
          <p:cNvPr id="474" name="Google Shape;474;p47"/>
          <p:cNvSpPr txBox="1"/>
          <p:nvPr/>
        </p:nvSpPr>
        <p:spPr>
          <a:xfrm>
            <a:off x="304800" y="2667000"/>
            <a:ext cx="8610600" cy="18288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public class Student {</a:t>
            </a:r>
            <a:endParaRPr b="1" i="0" sz="1600" u="none">
              <a:solidFill>
                <a:schemeClr val="dk2"/>
              </a:solidFill>
              <a:latin typeface="Courier"/>
              <a:ea typeface="Courier"/>
              <a:cs typeface="Courier"/>
              <a:sym typeface="Courie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String name; // name has default value null</a:t>
            </a:r>
            <a:endParaRPr b="1" i="0" sz="1600" u="none">
              <a:solidFill>
                <a:schemeClr val="dk2"/>
              </a:solidFill>
              <a:latin typeface="Courier"/>
              <a:ea typeface="Courier"/>
              <a:cs typeface="Courier"/>
              <a:sym typeface="Courie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int age; // age has default value 0</a:t>
            </a:r>
            <a:endParaRPr b="1" i="0" sz="1600" u="none">
              <a:solidFill>
                <a:schemeClr val="dk2"/>
              </a:solidFill>
              <a:latin typeface="Courier"/>
              <a:ea typeface="Courier"/>
              <a:cs typeface="Courier"/>
              <a:sym typeface="Courie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boolean isScienceMajor; // isScienceMajor has default value false</a:t>
            </a:r>
            <a:endParaRPr b="1" i="0" sz="1600" u="none">
              <a:solidFill>
                <a:schemeClr val="dk2"/>
              </a:solidFill>
              <a:latin typeface="Courier"/>
              <a:ea typeface="Courier"/>
              <a:cs typeface="Courier"/>
              <a:sym typeface="Courie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char gender; // c has default value '\u0000'</a:t>
            </a:r>
            <a:endParaRPr b="1" i="0" sz="1600" u="none">
              <a:solidFill>
                <a:schemeClr val="dk2"/>
              </a:solidFill>
              <a:latin typeface="Courier"/>
              <a:ea typeface="Courier"/>
              <a:cs typeface="Courier"/>
              <a:sym typeface="Courie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80" name="Google Shape;480;p48"/>
          <p:cNvSpPr txBox="1"/>
          <p:nvPr>
            <p:ph type="title"/>
          </p:nvPr>
        </p:nvSpPr>
        <p:spPr>
          <a:xfrm>
            <a:off x="685800" y="228600"/>
            <a:ext cx="7772400" cy="666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null Value</a:t>
            </a:r>
            <a:endParaRPr/>
          </a:p>
        </p:txBody>
      </p:sp>
      <p:sp>
        <p:nvSpPr>
          <p:cNvPr id="481" name="Google Shape;481;p48"/>
          <p:cNvSpPr txBox="1"/>
          <p:nvPr>
            <p:ph idx="1" type="body"/>
          </p:nvPr>
        </p:nvSpPr>
        <p:spPr>
          <a:xfrm>
            <a:off x="304800" y="1066800"/>
            <a:ext cx="8610600" cy="5334000"/>
          </a:xfrm>
          <a:prstGeom prst="rect">
            <a:avLst/>
          </a:prstGeom>
          <a:noFill/>
          <a:ln>
            <a:noFill/>
          </a:ln>
        </p:spPr>
        <p:txBody>
          <a:bodyPr anchorCtr="0" anchor="t" bIns="46025" lIns="92075" spcFirstLastPara="1" rIns="92075" wrap="square" tIns="46025">
            <a:noAutofit/>
          </a:bodyPr>
          <a:lstStyle/>
          <a:p>
            <a:pPr indent="0" lvl="0" marL="0" rtl="0" algn="l">
              <a:lnSpc>
                <a:spcPct val="100000"/>
              </a:lnSpc>
              <a:spcBef>
                <a:spcPts val="0"/>
              </a:spcBef>
              <a:spcAft>
                <a:spcPts val="0"/>
              </a:spcAft>
              <a:buSzPts val="2700"/>
              <a:buNone/>
            </a:pPr>
            <a:r>
              <a:rPr b="0" i="0" lang="en-US" sz="3600" u="none">
                <a:solidFill>
                  <a:schemeClr val="dk1"/>
                </a:solidFill>
                <a:latin typeface="Times New Roman"/>
                <a:ea typeface="Times New Roman"/>
                <a:cs typeface="Times New Roman"/>
                <a:sym typeface="Times New Roman"/>
              </a:rPr>
              <a:t>If a data field of a reference type does not reference any object, the data field holds a special literal value, null. </a:t>
            </a:r>
            <a:endParaRPr/>
          </a:p>
          <a:p>
            <a:pPr indent="-171450" lvl="0" marL="342900" rtl="0" algn="l">
              <a:spcBef>
                <a:spcPts val="720"/>
              </a:spcBef>
              <a:spcAft>
                <a:spcPts val="0"/>
              </a:spcAft>
              <a:buSzPts val="2700"/>
              <a:buNone/>
            </a:pPr>
            <a:r>
              <a:t/>
            </a:r>
            <a:endParaRPr b="0" i="0" sz="3600" u="none">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87" name="Google Shape;487;p49"/>
          <p:cNvSpPr txBox="1"/>
          <p:nvPr>
            <p:ph type="title"/>
          </p:nvPr>
        </p:nvSpPr>
        <p:spPr>
          <a:xfrm>
            <a:off x="685800" y="228600"/>
            <a:ext cx="7772400" cy="666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Default Value for a Data Field</a:t>
            </a:r>
            <a:endParaRPr/>
          </a:p>
        </p:txBody>
      </p:sp>
      <p:sp>
        <p:nvSpPr>
          <p:cNvPr id="488" name="Google Shape;488;p49"/>
          <p:cNvSpPr txBox="1"/>
          <p:nvPr>
            <p:ph idx="1" type="body"/>
          </p:nvPr>
        </p:nvSpPr>
        <p:spPr>
          <a:xfrm>
            <a:off x="304800" y="1066800"/>
            <a:ext cx="8610600" cy="2057400"/>
          </a:xfrm>
          <a:prstGeom prst="rect">
            <a:avLst/>
          </a:prstGeom>
          <a:noFill/>
          <a:ln>
            <a:noFill/>
          </a:ln>
        </p:spPr>
        <p:txBody>
          <a:bodyPr anchorCtr="0" anchor="t" bIns="46025" lIns="92075" spcFirstLastPara="1" rIns="92075" wrap="square" tIns="46025">
            <a:noAutofit/>
          </a:bodyPr>
          <a:lstStyle/>
          <a:p>
            <a:pPr indent="0" lvl="0" marL="0" rtl="0" algn="l">
              <a:lnSpc>
                <a:spcPct val="80000"/>
              </a:lnSpc>
              <a:spcBef>
                <a:spcPts val="0"/>
              </a:spcBef>
              <a:spcAft>
                <a:spcPts val="0"/>
              </a:spcAft>
              <a:buSzPts val="2400"/>
              <a:buNone/>
            </a:pPr>
            <a:r>
              <a:rPr b="0" i="0" lang="en-US" sz="3200" u="none">
                <a:solidFill>
                  <a:schemeClr val="dk1"/>
                </a:solidFill>
                <a:latin typeface="Times New Roman"/>
                <a:ea typeface="Times New Roman"/>
                <a:cs typeface="Times New Roman"/>
                <a:sym typeface="Times New Roman"/>
              </a:rPr>
              <a:t>The default value of a data field is null for a reference type, 0 for a numeric type, false for a boolean type, and '\u0000' for a char type. However, </a:t>
            </a:r>
            <a:r>
              <a:rPr b="0" i="0" lang="en-US" sz="3200" u="none">
                <a:solidFill>
                  <a:srgbClr val="FF0000"/>
                </a:solidFill>
                <a:latin typeface="Times New Roman"/>
                <a:ea typeface="Times New Roman"/>
                <a:cs typeface="Times New Roman"/>
                <a:sym typeface="Times New Roman"/>
              </a:rPr>
              <a:t>Java assigns no default value to a local variable inside a method</a:t>
            </a:r>
            <a:r>
              <a:rPr b="0" i="0" lang="en-US" sz="3200" u="none">
                <a:solidFill>
                  <a:schemeClr val="dk1"/>
                </a:solidFill>
                <a:latin typeface="Times New Roman"/>
                <a:ea typeface="Times New Roman"/>
                <a:cs typeface="Times New Roman"/>
                <a:sym typeface="Times New Roman"/>
              </a:rPr>
              <a:t>. </a:t>
            </a:r>
            <a:endParaRPr/>
          </a:p>
        </p:txBody>
      </p:sp>
      <p:sp>
        <p:nvSpPr>
          <p:cNvPr id="489" name="Google Shape;489;p49"/>
          <p:cNvSpPr txBox="1"/>
          <p:nvPr/>
        </p:nvSpPr>
        <p:spPr>
          <a:xfrm>
            <a:off x="228600" y="3276600"/>
            <a:ext cx="8763000" cy="2743200"/>
          </a:xfrm>
          <a:prstGeom prst="rect">
            <a:avLst/>
          </a:prstGeom>
          <a:noFill/>
          <a:ln>
            <a:noFill/>
          </a:ln>
        </p:spPr>
        <p:txBody>
          <a:bodyPr anchorCtr="0" anchor="t" bIns="46025" lIns="92075" spcFirstLastPara="1" rIns="92075" wrap="square" tIns="46025">
            <a:noAutofit/>
          </a:bodyPr>
          <a:lstStyle/>
          <a:p>
            <a:pPr indent="0" lvl="0" marL="0" marR="0" rtl="0" algn="l">
              <a:lnSpc>
                <a:spcPct val="100000"/>
              </a:lnSpc>
              <a:spcBef>
                <a:spcPts val="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public class Test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public static void main(String[] args)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Student student = new Student();</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System.out.println("name? " + student.name);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System.out.println("age? " + student.age);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System.out.println("isScienceMajor? " + student.isScienceMajor);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System.out.println("gender? " + student.gender);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  }</a:t>
            </a:r>
            <a:endParaRPr/>
          </a:p>
          <a:p>
            <a:pPr indent="0" lvl="0" marL="0" marR="0" rtl="0" algn="l">
              <a:lnSpc>
                <a:spcPct val="100000"/>
              </a:lnSpc>
              <a:spcBef>
                <a:spcPts val="320"/>
              </a:spcBef>
              <a:spcAft>
                <a:spcPts val="0"/>
              </a:spcAft>
              <a:buClr>
                <a:schemeClr val="dk2"/>
              </a:buClr>
              <a:buSzPts val="1600"/>
              <a:buFont typeface="Courier New"/>
              <a:buNone/>
            </a:pPr>
            <a:r>
              <a:rPr b="1" i="0" lang="en-US" sz="1600" u="none">
                <a:solidFill>
                  <a:schemeClr val="dk2"/>
                </a:solidFill>
                <a:latin typeface="Courier New"/>
                <a:ea typeface="Courier New"/>
                <a:cs typeface="Courier New"/>
                <a:sym typeface="Courier New"/>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495" name="Google Shape;495;p50"/>
          <p:cNvSpPr txBox="1"/>
          <p:nvPr>
            <p:ph type="title"/>
          </p:nvPr>
        </p:nvSpPr>
        <p:spPr>
          <a:xfrm>
            <a:off x="685800" y="228600"/>
            <a:ext cx="7772400" cy="666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a:t>
            </a:r>
            <a:endParaRPr/>
          </a:p>
        </p:txBody>
      </p:sp>
      <p:sp>
        <p:nvSpPr>
          <p:cNvPr id="496" name="Google Shape;496;p50"/>
          <p:cNvSpPr txBox="1"/>
          <p:nvPr>
            <p:ph idx="1" type="body"/>
          </p:nvPr>
        </p:nvSpPr>
        <p:spPr>
          <a:xfrm>
            <a:off x="381000" y="2438400"/>
            <a:ext cx="8610600" cy="2667000"/>
          </a:xfrm>
          <a:prstGeom prst="rect">
            <a:avLst/>
          </a:prstGeom>
          <a:noFill/>
          <a:ln>
            <a:noFill/>
          </a:ln>
        </p:spPr>
        <p:txBody>
          <a:bodyPr anchorCtr="0" anchor="t" bIns="46025" lIns="92075" spcFirstLastPara="1" rIns="92075" wrap="square" tIns="46025">
            <a:noAutofit/>
          </a:bodyPr>
          <a:lstStyle/>
          <a:p>
            <a:pPr indent="0" lvl="0" marL="0" rtl="0" algn="l">
              <a:lnSpc>
                <a:spcPct val="90000"/>
              </a:lnSpc>
              <a:spcBef>
                <a:spcPts val="0"/>
              </a:spcBef>
              <a:spcAft>
                <a:spcPts val="0"/>
              </a:spcAft>
              <a:buSzPts val="1350"/>
              <a:buNone/>
            </a:pPr>
            <a:r>
              <a:rPr b="1" i="0" lang="en-US" sz="1800" u="none">
                <a:solidFill>
                  <a:schemeClr val="dk2"/>
                </a:solidFill>
                <a:latin typeface="Courier New"/>
                <a:ea typeface="Courier New"/>
                <a:cs typeface="Courier New"/>
                <a:sym typeface="Courier New"/>
              </a:rPr>
              <a:t>public class Test {</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public static void main(String[] args) {</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int x; // x has no default value</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String y; // y has no default value</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System.out.println("x is " + x); </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System.out.println("y is " + y); </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  }</a:t>
            </a:r>
            <a:endParaRPr b="1" i="0" sz="1800" u="none">
              <a:solidFill>
                <a:schemeClr val="dk2"/>
              </a:solidFill>
              <a:latin typeface="Courier"/>
              <a:ea typeface="Courier"/>
              <a:cs typeface="Courier"/>
              <a:sym typeface="Courier"/>
            </a:endParaRPr>
          </a:p>
          <a:p>
            <a:pPr indent="0" lvl="0" marL="0" rtl="0" algn="l">
              <a:lnSpc>
                <a:spcPct val="90000"/>
              </a:lnSpc>
              <a:spcBef>
                <a:spcPts val="360"/>
              </a:spcBef>
              <a:spcAft>
                <a:spcPts val="0"/>
              </a:spcAft>
              <a:buSzPts val="1350"/>
              <a:buNone/>
            </a:pPr>
            <a:r>
              <a:rPr b="1" i="0" lang="en-US" sz="1800" u="none">
                <a:solidFill>
                  <a:schemeClr val="dk2"/>
                </a:solidFill>
                <a:latin typeface="Courier New"/>
                <a:ea typeface="Courier New"/>
                <a:cs typeface="Courier New"/>
                <a:sym typeface="Courier New"/>
              </a:rPr>
              <a:t>}</a:t>
            </a:r>
            <a:endParaRPr/>
          </a:p>
        </p:txBody>
      </p:sp>
      <p:cxnSp>
        <p:nvCxnSpPr>
          <p:cNvPr id="497" name="Google Shape;497;p50"/>
          <p:cNvCxnSpPr/>
          <p:nvPr/>
        </p:nvCxnSpPr>
        <p:spPr>
          <a:xfrm flipH="1">
            <a:off x="2819400" y="3886200"/>
            <a:ext cx="2133600" cy="1676400"/>
          </a:xfrm>
          <a:prstGeom prst="straightConnector1">
            <a:avLst/>
          </a:prstGeom>
          <a:noFill/>
          <a:ln cap="flat" cmpd="sng" w="12700">
            <a:solidFill>
              <a:srgbClr val="FF0000"/>
            </a:solidFill>
            <a:prstDash val="solid"/>
            <a:miter lim="800000"/>
            <a:headEnd len="sm" w="sm" type="stealth"/>
            <a:tailEnd len="med" w="med" type="none"/>
          </a:ln>
        </p:spPr>
      </p:cxnSp>
      <p:cxnSp>
        <p:nvCxnSpPr>
          <p:cNvPr id="498" name="Google Shape;498;p50"/>
          <p:cNvCxnSpPr/>
          <p:nvPr/>
        </p:nvCxnSpPr>
        <p:spPr>
          <a:xfrm flipH="1">
            <a:off x="3048000" y="4267200"/>
            <a:ext cx="1905000" cy="1295400"/>
          </a:xfrm>
          <a:prstGeom prst="straightConnector1">
            <a:avLst/>
          </a:prstGeom>
          <a:noFill/>
          <a:ln cap="flat" cmpd="sng" w="12700">
            <a:solidFill>
              <a:srgbClr val="FF0000"/>
            </a:solidFill>
            <a:prstDash val="solid"/>
            <a:miter lim="800000"/>
            <a:headEnd len="sm" w="sm" type="stealth"/>
            <a:tailEnd len="med" w="med" type="none"/>
          </a:ln>
        </p:spPr>
      </p:cxnSp>
      <p:sp>
        <p:nvSpPr>
          <p:cNvPr id="499" name="Google Shape;499;p50"/>
          <p:cNvSpPr txBox="1"/>
          <p:nvPr/>
        </p:nvSpPr>
        <p:spPr>
          <a:xfrm>
            <a:off x="2438400" y="5638800"/>
            <a:ext cx="3429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Compile error: variable not initialized</a:t>
            </a:r>
            <a:endParaRPr/>
          </a:p>
        </p:txBody>
      </p:sp>
      <p:sp>
        <p:nvSpPr>
          <p:cNvPr id="500" name="Google Shape;500;p50"/>
          <p:cNvSpPr txBox="1"/>
          <p:nvPr/>
        </p:nvSpPr>
        <p:spPr>
          <a:xfrm>
            <a:off x="381000" y="1219200"/>
            <a:ext cx="8610600" cy="685800"/>
          </a:xfrm>
          <a:prstGeom prst="rect">
            <a:avLst/>
          </a:prstGeom>
          <a:noFill/>
          <a:ln>
            <a:noFill/>
          </a:ln>
        </p:spPr>
        <p:txBody>
          <a:bodyPr anchorCtr="0" anchor="t" bIns="46025" lIns="92075" spcFirstLastPara="1" rIns="92075" wrap="square" tIns="46025">
            <a:noAutofit/>
          </a:bodyPr>
          <a:lstStyle/>
          <a:p>
            <a:pPr indent="0" lvl="0" marL="0" marR="0" rtl="0" algn="l">
              <a:lnSpc>
                <a:spcPct val="8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Java assigns no default value to a local variable inside a method.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06" name="Google Shape;506;p51"/>
          <p:cNvSpPr txBox="1"/>
          <p:nvPr>
            <p:ph type="title"/>
          </p:nvPr>
        </p:nvSpPr>
        <p:spPr>
          <a:xfrm>
            <a:off x="0" y="381000"/>
            <a:ext cx="9144000" cy="1047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Differences between Variables of </a:t>
            </a:r>
            <a:br>
              <a:rPr b="0" i="0" lang="en-US" sz="4000" u="none">
                <a:solidFill>
                  <a:schemeClr val="dk2"/>
                </a:solidFill>
                <a:latin typeface="Times New Roman"/>
                <a:ea typeface="Times New Roman"/>
                <a:cs typeface="Times New Roman"/>
                <a:sym typeface="Times New Roman"/>
              </a:rPr>
            </a:br>
            <a:r>
              <a:rPr b="0" i="0" lang="en-US" sz="4000" u="none">
                <a:solidFill>
                  <a:schemeClr val="dk2"/>
                </a:solidFill>
                <a:latin typeface="Times New Roman"/>
                <a:ea typeface="Times New Roman"/>
                <a:cs typeface="Times New Roman"/>
                <a:sym typeface="Times New Roman"/>
              </a:rPr>
              <a:t>Primitive Data Types and Object Types</a:t>
            </a:r>
            <a:br>
              <a:rPr b="1" i="0" lang="en-US" sz="4000" u="none">
                <a:solidFill>
                  <a:schemeClr val="dk2"/>
                </a:solidFill>
                <a:latin typeface="Courier"/>
                <a:ea typeface="Courier"/>
                <a:cs typeface="Courier"/>
                <a:sym typeface="Courier"/>
              </a:rPr>
            </a:br>
            <a:endParaRPr/>
          </a:p>
        </p:txBody>
      </p:sp>
      <p:sp>
        <p:nvSpPr>
          <p:cNvPr id="507" name="Google Shape;507;p51"/>
          <p:cNvSpPr txBox="1"/>
          <p:nvPr/>
        </p:nvSpPr>
        <p:spPr>
          <a:xfrm>
            <a:off x="3113087" y="24272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 name="Google Shape;508;p51"/>
          <p:cNvSpPr txBox="1"/>
          <p:nvPr/>
        </p:nvSpPr>
        <p:spPr>
          <a:xfrm>
            <a:off x="2371725" y="288607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09" name="Google Shape;509;p51"/>
          <p:cNvPicPr preferRelativeResize="0"/>
          <p:nvPr/>
        </p:nvPicPr>
        <p:blipFill rotWithShape="1">
          <a:blip r:embed="rId3">
            <a:alphaModFix/>
          </a:blip>
          <a:srcRect b="0" l="0" r="0" t="0"/>
          <a:stretch/>
        </p:blipFill>
        <p:spPr>
          <a:xfrm>
            <a:off x="160337" y="3602037"/>
            <a:ext cx="8823325" cy="2679700"/>
          </a:xfrm>
          <a:prstGeom prst="rect">
            <a:avLst/>
          </a:prstGeom>
          <a:noFill/>
          <a:ln>
            <a:noFill/>
          </a:ln>
        </p:spPr>
      </p:pic>
      <p:sp>
        <p:nvSpPr>
          <p:cNvPr id="510" name="Google Shape;510;p51"/>
          <p:cNvSpPr txBox="1"/>
          <p:nvPr/>
        </p:nvSpPr>
        <p:spPr>
          <a:xfrm>
            <a:off x="461962" y="1428750"/>
            <a:ext cx="7996237" cy="23082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a:ea typeface="Times"/>
                <a:cs typeface="Times"/>
                <a:sym typeface="Times"/>
              </a:rPr>
              <a:t>Every variable represents a memory location that holds a value. When you declare a variable, you are telling the compiler what type of value the variable can hold. For a variable of a primitive type, the value is of the primitive type. For a variable of a reference type, the value is a </a:t>
            </a:r>
            <a:r>
              <a:rPr b="0" i="0" lang="en-US" sz="2400" u="none">
                <a:solidFill>
                  <a:srgbClr val="FF0000"/>
                </a:solidFill>
                <a:latin typeface="Times"/>
                <a:ea typeface="Times"/>
                <a:cs typeface="Times"/>
                <a:sym typeface="Times"/>
              </a:rPr>
              <a:t>reference to where </a:t>
            </a:r>
            <a:r>
              <a:rPr b="0" i="0" lang="en-US" sz="2400" u="none">
                <a:solidFill>
                  <a:schemeClr val="dk1"/>
                </a:solidFill>
                <a:latin typeface="Times"/>
                <a:ea typeface="Times"/>
                <a:cs typeface="Times"/>
                <a:sym typeface="Times"/>
              </a:rPr>
              <a:t>an object is located.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16" name="Google Shape;516;p52"/>
          <p:cNvSpPr txBox="1"/>
          <p:nvPr>
            <p:ph type="title"/>
          </p:nvPr>
        </p:nvSpPr>
        <p:spPr>
          <a:xfrm>
            <a:off x="0" y="0"/>
            <a:ext cx="91440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Copying Variables of Primitive Data Types and Object Types</a:t>
            </a:r>
            <a:endParaRPr/>
          </a:p>
        </p:txBody>
      </p:sp>
      <p:sp>
        <p:nvSpPr>
          <p:cNvPr id="517" name="Google Shape;517;p52"/>
          <p:cNvSpPr txBox="1"/>
          <p:nvPr/>
        </p:nvSpPr>
        <p:spPr>
          <a:xfrm>
            <a:off x="0" y="255746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8" name="Google Shape;518;p52"/>
          <p:cNvSpPr txBox="1"/>
          <p:nvPr/>
        </p:nvSpPr>
        <p:spPr>
          <a:xfrm>
            <a:off x="0" y="28305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9" name="Google Shape;519;p52"/>
          <p:cNvSpPr txBox="1"/>
          <p:nvPr/>
        </p:nvSpPr>
        <p:spPr>
          <a:xfrm>
            <a:off x="0" y="255746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20" name="Google Shape;520;p52"/>
          <p:cNvPicPr preferRelativeResize="0"/>
          <p:nvPr/>
        </p:nvPicPr>
        <p:blipFill rotWithShape="1">
          <a:blip r:embed="rId3">
            <a:alphaModFix/>
          </a:blip>
          <a:srcRect b="0" l="0" r="0" t="0"/>
          <a:stretch/>
        </p:blipFill>
        <p:spPr>
          <a:xfrm>
            <a:off x="2382837" y="701675"/>
            <a:ext cx="3794125" cy="2246312"/>
          </a:xfrm>
          <a:prstGeom prst="rect">
            <a:avLst/>
          </a:prstGeom>
          <a:noFill/>
          <a:ln>
            <a:noFill/>
          </a:ln>
        </p:spPr>
      </p:pic>
      <p:pic>
        <p:nvPicPr>
          <p:cNvPr id="521" name="Google Shape;521;p52"/>
          <p:cNvPicPr preferRelativeResize="0"/>
          <p:nvPr/>
        </p:nvPicPr>
        <p:blipFill rotWithShape="1">
          <a:blip r:embed="rId4">
            <a:alphaModFix/>
          </a:blip>
          <a:srcRect b="0" l="0" r="0" t="0"/>
          <a:stretch/>
        </p:blipFill>
        <p:spPr>
          <a:xfrm>
            <a:off x="636587" y="3159125"/>
            <a:ext cx="7286625" cy="329088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27" name="Google Shape;527;p53"/>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Garbage Collection</a:t>
            </a:r>
            <a:endParaRPr/>
          </a:p>
        </p:txBody>
      </p:sp>
      <p:sp>
        <p:nvSpPr>
          <p:cNvPr id="528" name="Google Shape;528;p53"/>
          <p:cNvSpPr txBox="1"/>
          <p:nvPr>
            <p:ph idx="1" type="body"/>
          </p:nvPr>
        </p:nvSpPr>
        <p:spPr>
          <a:xfrm>
            <a:off x="269875" y="1371600"/>
            <a:ext cx="8416925" cy="4953000"/>
          </a:xfrm>
          <a:prstGeom prst="rect">
            <a:avLst/>
          </a:prstGeom>
          <a:noFill/>
          <a:ln>
            <a:noFill/>
          </a:ln>
        </p:spPr>
        <p:txBody>
          <a:bodyPr anchorCtr="0" anchor="t" bIns="46025" lIns="92075" spcFirstLastPara="1" rIns="92075" wrap="square" tIns="46025">
            <a:noAutofit/>
          </a:bodyPr>
          <a:lstStyle/>
          <a:p>
            <a:pPr indent="0" lvl="0" marL="0" rtl="0" algn="l">
              <a:lnSpc>
                <a:spcPct val="100000"/>
              </a:lnSpc>
              <a:spcBef>
                <a:spcPts val="0"/>
              </a:spcBef>
              <a:spcAft>
                <a:spcPts val="0"/>
              </a:spcAft>
              <a:buSzPts val="2700"/>
              <a:buNone/>
            </a:pPr>
            <a:r>
              <a:rPr b="0" i="0" lang="en-US" sz="3600" u="none">
                <a:solidFill>
                  <a:schemeClr val="dk1"/>
                </a:solidFill>
                <a:latin typeface="Times New Roman"/>
                <a:ea typeface="Times New Roman"/>
                <a:cs typeface="Times New Roman"/>
                <a:sym typeface="Times New Roman"/>
              </a:rPr>
              <a:t>As shown in the previous figure, after the assignment statement c1 = c2, c1 points to the same object referenced by c2. The object previously referenced by c1 is no longer referenced. This object is known as garbage. Garbage is automatically collected by JVM.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34" name="Google Shape;534;p54"/>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Garbage Collection, cont</a:t>
            </a:r>
            <a:endParaRPr/>
          </a:p>
        </p:txBody>
      </p:sp>
      <p:sp>
        <p:nvSpPr>
          <p:cNvPr id="535" name="Google Shape;535;p54"/>
          <p:cNvSpPr txBox="1"/>
          <p:nvPr>
            <p:ph idx="1" type="body"/>
          </p:nvPr>
        </p:nvSpPr>
        <p:spPr>
          <a:xfrm>
            <a:off x="155575" y="1371600"/>
            <a:ext cx="8531225" cy="49530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2700"/>
              <a:buNone/>
            </a:pPr>
            <a:r>
              <a:rPr b="0" i="0" lang="en-US" sz="3600" u="none">
                <a:solidFill>
                  <a:schemeClr val="dk1"/>
                </a:solidFill>
                <a:latin typeface="Courier"/>
                <a:ea typeface="Courier"/>
                <a:cs typeface="Courier"/>
                <a:sym typeface="Courier"/>
              </a:rPr>
              <a:t> </a:t>
            </a:r>
            <a:r>
              <a:rPr b="0" i="0" lang="en-US" sz="3600" u="none">
                <a:solidFill>
                  <a:schemeClr val="dk1"/>
                </a:solidFill>
                <a:latin typeface="Times New Roman"/>
                <a:ea typeface="Times New Roman"/>
                <a:cs typeface="Times New Roman"/>
                <a:sym typeface="Times New Roman"/>
              </a:rPr>
              <a:t>TIP: If you know that an object is no longer needed, you can explicitly assign null to a reference variable for the object. The JVM will automatically collect the space if the object is not referenced by any variable</a:t>
            </a:r>
            <a:r>
              <a:rPr b="0" i="0" lang="en-US" sz="3600" u="none">
                <a:solidFill>
                  <a:schemeClr val="dk1"/>
                </a:solidFill>
                <a:latin typeface="Courier"/>
                <a:ea typeface="Courier"/>
                <a:cs typeface="Courier"/>
                <a:sym typeface="Courier"/>
              </a:rPr>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41" name="Google Shape;541;p55"/>
          <p:cNvSpPr txBox="1"/>
          <p:nvPr>
            <p:ph type="title"/>
          </p:nvPr>
        </p:nvSpPr>
        <p:spPr>
          <a:xfrm>
            <a:off x="-112712" y="457200"/>
            <a:ext cx="9177337" cy="78263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Instance Variables, and Methods </a:t>
            </a:r>
            <a:br>
              <a:rPr b="0" i="0" lang="en-US" sz="4400" u="none">
                <a:solidFill>
                  <a:schemeClr val="dk2"/>
                </a:solidFill>
                <a:latin typeface="Times New Roman"/>
                <a:ea typeface="Times New Roman"/>
                <a:cs typeface="Times New Roman"/>
                <a:sym typeface="Times New Roman"/>
              </a:rPr>
            </a:br>
            <a:endParaRPr/>
          </a:p>
        </p:txBody>
      </p:sp>
      <p:sp>
        <p:nvSpPr>
          <p:cNvPr id="542" name="Google Shape;542;p55"/>
          <p:cNvSpPr txBox="1"/>
          <p:nvPr/>
        </p:nvSpPr>
        <p:spPr>
          <a:xfrm>
            <a:off x="654050" y="1778000"/>
            <a:ext cx="7924800" cy="4114800"/>
          </a:xfrm>
          <a:prstGeom prst="rect">
            <a:avLst/>
          </a:prstGeom>
          <a:noFill/>
          <a:ln>
            <a:noFill/>
          </a:ln>
        </p:spPr>
        <p:txBody>
          <a:bodyPr anchorCtr="0" anchor="ctr" bIns="46025" lIns="92075" spcFirstLastPara="1" rIns="92075" wrap="square" tIns="46025">
            <a:noAutofit/>
          </a:bodyPr>
          <a:lstStyle/>
          <a:p>
            <a:pPr indent="-457200" lvl="0" marL="457200" marR="0" rtl="0" algn="l">
              <a:lnSpc>
                <a:spcPct val="10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Instance variables belong to a specific instance.</a:t>
            </a:r>
            <a:br>
              <a:rPr b="0" i="0" lang="en-US" sz="3000" u="none">
                <a:solidFill>
                  <a:schemeClr val="dk1"/>
                </a:solidFill>
                <a:latin typeface="Times New Roman"/>
                <a:ea typeface="Times New Roman"/>
                <a:cs typeface="Times New Roman"/>
                <a:sym typeface="Times New Roman"/>
              </a:rPr>
            </a:br>
            <a:endParaRPr/>
          </a:p>
          <a:p>
            <a:pPr indent="-457200" lvl="0" marL="457200" marR="0" rtl="0" algn="l">
              <a:lnSpc>
                <a:spcPct val="10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Instance methods are invoked by any instance of the class.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48" name="Google Shape;548;p56"/>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Static Variables, Constants,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and Methods</a:t>
            </a:r>
            <a:endParaRPr/>
          </a:p>
        </p:txBody>
      </p:sp>
      <p:sp>
        <p:nvSpPr>
          <p:cNvPr id="549" name="Google Shape;549;p56"/>
          <p:cNvSpPr txBox="1"/>
          <p:nvPr/>
        </p:nvSpPr>
        <p:spPr>
          <a:xfrm>
            <a:off x="381000" y="1444625"/>
            <a:ext cx="8382000" cy="493871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Static variables are shared by all the instances of the class.</a:t>
            </a:r>
            <a:endParaRPr/>
          </a:p>
          <a:p>
            <a:pPr indent="-457200" lvl="0" marL="457200" marR="0" rtl="0" algn="l">
              <a:lnSpc>
                <a:spcPct val="100000"/>
              </a:lnSpc>
              <a:spcBef>
                <a:spcPts val="15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Static methods are not tied to a specific object. Because of this, a static method cannot access instance members of the class</a:t>
            </a:r>
            <a:endParaRPr/>
          </a:p>
          <a:p>
            <a:pPr indent="-457200" lvl="0" marL="457200" marR="0" rtl="0" algn="l">
              <a:lnSpc>
                <a:spcPct val="100000"/>
              </a:lnSpc>
              <a:spcBef>
                <a:spcPts val="15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Static constants are final variables shared by all the instances of the class.</a:t>
            </a:r>
            <a:endParaRPr/>
          </a:p>
          <a:p>
            <a:pPr indent="-457200" lvl="0" marL="457200" marR="0" rtl="0" algn="l">
              <a:lnSpc>
                <a:spcPct val="100000"/>
              </a:lnSpc>
              <a:spcBef>
                <a:spcPts val="15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A non-static (or instance) variable is tied to a specific instance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55" name="Google Shape;555;p57"/>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Static Variables, Constants,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and Methods</a:t>
            </a:r>
            <a:endParaRPr/>
          </a:p>
        </p:txBody>
      </p:sp>
      <p:sp>
        <p:nvSpPr>
          <p:cNvPr id="556" name="Google Shape;556;p57"/>
          <p:cNvSpPr txBox="1"/>
          <p:nvPr/>
        </p:nvSpPr>
        <p:spPr>
          <a:xfrm>
            <a:off x="381000" y="1444625"/>
            <a:ext cx="8382000" cy="497046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Static variables store values for the variables in a common memory location. Because of this common location, if one object changes the value of a static variable, all objects of the same class are affected. </a:t>
            </a:r>
            <a:endParaRPr/>
          </a:p>
          <a:p>
            <a:pPr indent="-457200" lvl="0" marL="457200" marR="0" rtl="0" algn="l">
              <a:lnSpc>
                <a:spcPct val="100000"/>
              </a:lnSpc>
              <a:spcBef>
                <a:spcPts val="160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Java supports static methods as well as static variables. </a:t>
            </a:r>
            <a:r>
              <a:rPr b="0" i="1" lang="en-US" sz="3200" u="none">
                <a:solidFill>
                  <a:schemeClr val="dk1"/>
                </a:solidFill>
                <a:latin typeface="Times New Roman"/>
                <a:ea typeface="Times New Roman"/>
                <a:cs typeface="Times New Roman"/>
                <a:sym typeface="Times New Roman"/>
              </a:rPr>
              <a:t>Static methods </a:t>
            </a:r>
            <a:r>
              <a:rPr b="0" i="0" lang="en-US" sz="3200" u="none">
                <a:solidFill>
                  <a:schemeClr val="dk1"/>
                </a:solidFill>
                <a:latin typeface="Times New Roman"/>
                <a:ea typeface="Times New Roman"/>
                <a:cs typeface="Times New Roman"/>
                <a:sym typeface="Times New Roman"/>
              </a:rPr>
              <a:t>can be called without creating an instance of the class. </a:t>
            </a:r>
            <a:endParaRPr/>
          </a:p>
          <a:p>
            <a:pPr indent="0" lvl="0" marL="0" marR="0" rtl="0" algn="l">
              <a:lnSpc>
                <a:spcPct val="100000"/>
              </a:lnSpc>
              <a:spcBef>
                <a:spcPts val="0"/>
              </a:spcBef>
              <a:spcAft>
                <a:spcPts val="0"/>
              </a:spcAft>
              <a:buNone/>
            </a:pPr>
            <a:r>
              <a:t/>
            </a:r>
            <a:endParaRPr b="0" i="0" sz="3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62" name="Google Shape;562;p58"/>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Static Variables, Constants,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and Methods, cont.</a:t>
            </a:r>
            <a:endParaRPr/>
          </a:p>
        </p:txBody>
      </p:sp>
      <p:sp>
        <p:nvSpPr>
          <p:cNvPr id="563" name="Google Shape;563;p58"/>
          <p:cNvSpPr txBox="1"/>
          <p:nvPr/>
        </p:nvSpPr>
        <p:spPr>
          <a:xfrm>
            <a:off x="269875" y="1658937"/>
            <a:ext cx="8564562" cy="5402262"/>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To declare static variables, constants, and methods, use the static modifier. </a:t>
            </a:r>
            <a:r>
              <a:rPr b="0" i="0" lang="en-US" sz="3200" u="none">
                <a:solidFill>
                  <a:schemeClr val="dk1"/>
                </a:solidFill>
                <a:latin typeface="Times New Roman"/>
                <a:ea typeface="Times New Roman"/>
                <a:cs typeface="Times New Roman"/>
                <a:sym typeface="Times New Roman"/>
              </a:rPr>
              <a:t>For example, the constant </a:t>
            </a:r>
            <a:r>
              <a:rPr b="1" i="0" lang="en-US" sz="3200" u="none">
                <a:solidFill>
                  <a:schemeClr val="dk1"/>
                </a:solidFill>
                <a:latin typeface="Times New Roman"/>
                <a:ea typeface="Times New Roman"/>
                <a:cs typeface="Times New Roman"/>
                <a:sym typeface="Times New Roman"/>
              </a:rPr>
              <a:t>PI </a:t>
            </a:r>
            <a:r>
              <a:rPr b="0" i="0" lang="en-US" sz="3200" u="none">
                <a:solidFill>
                  <a:schemeClr val="dk1"/>
                </a:solidFill>
                <a:latin typeface="Times New Roman"/>
                <a:ea typeface="Times New Roman"/>
                <a:cs typeface="Times New Roman"/>
                <a:sym typeface="Times New Roman"/>
              </a:rPr>
              <a:t>in the </a:t>
            </a:r>
            <a:r>
              <a:rPr b="1" i="0" lang="en-US" sz="3200" u="none">
                <a:solidFill>
                  <a:schemeClr val="dk1"/>
                </a:solidFill>
                <a:latin typeface="Times New Roman"/>
                <a:ea typeface="Times New Roman"/>
                <a:cs typeface="Times New Roman"/>
                <a:sym typeface="Times New Roman"/>
              </a:rPr>
              <a:t>Math </a:t>
            </a:r>
            <a:r>
              <a:rPr b="0" i="0" lang="en-US" sz="3200" u="none">
                <a:solidFill>
                  <a:schemeClr val="dk1"/>
                </a:solidFill>
                <a:latin typeface="Times New Roman"/>
                <a:ea typeface="Times New Roman"/>
                <a:cs typeface="Times New Roman"/>
                <a:sym typeface="Times New Roman"/>
              </a:rPr>
              <a:t>class is defined as</a:t>
            </a:r>
            <a:endParaRPr/>
          </a:p>
          <a:p>
            <a:pPr indent="-457200" lvl="0" marL="457200" marR="0" rtl="0" algn="ctr">
              <a:lnSpc>
                <a:spcPct val="100000"/>
              </a:lnSpc>
              <a:spcBef>
                <a:spcPts val="0"/>
              </a:spcBef>
              <a:spcAft>
                <a:spcPts val="0"/>
              </a:spcAft>
              <a:buClr>
                <a:srgbClr val="0070C0"/>
              </a:buClr>
              <a:buSzPts val="2400"/>
              <a:buFont typeface="Times New Roman"/>
              <a:buNone/>
            </a:pPr>
            <a:r>
              <a:rPr b="1" i="0" lang="en-US" sz="2400" u="none">
                <a:solidFill>
                  <a:srgbClr val="0070C0"/>
                </a:solidFill>
                <a:latin typeface="Times New Roman"/>
                <a:ea typeface="Times New Roman"/>
                <a:cs typeface="Times New Roman"/>
                <a:sym typeface="Times New Roman"/>
              </a:rPr>
              <a:t>final static double </a:t>
            </a:r>
            <a:r>
              <a:rPr b="0" i="0" lang="en-US" sz="2400" u="none">
                <a:solidFill>
                  <a:srgbClr val="0070C0"/>
                </a:solidFill>
                <a:latin typeface="Times New Roman"/>
                <a:ea typeface="Times New Roman"/>
                <a:cs typeface="Times New Roman"/>
                <a:sym typeface="Times New Roman"/>
              </a:rPr>
              <a:t>PI=</a:t>
            </a:r>
            <a:r>
              <a:rPr b="1" i="0" lang="en-US" sz="2400" u="none">
                <a:solidFill>
                  <a:srgbClr val="0070C0"/>
                </a:solidFill>
                <a:latin typeface="Times New Roman"/>
                <a:ea typeface="Times New Roman"/>
                <a:cs typeface="Times New Roman"/>
                <a:sym typeface="Times New Roman"/>
              </a:rPr>
              <a:t>3.14159265358979323846</a:t>
            </a:r>
            <a:endParaRPr b="0" i="0" sz="2400" u="none">
              <a:solidFill>
                <a:srgbClr val="0070C0"/>
              </a:solidFill>
              <a:latin typeface="Times New Roman"/>
              <a:ea typeface="Times New Roman"/>
              <a:cs typeface="Times New Roman"/>
              <a:sym typeface="Times New Roman"/>
            </a:endParaRPr>
          </a:p>
          <a:p>
            <a:pPr indent="-457200" lvl="0" marL="457200" marR="0" rtl="0" algn="l">
              <a:lnSpc>
                <a:spcPct val="100000"/>
              </a:lnSpc>
              <a:spcBef>
                <a:spcPts val="140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Let’s modify the </a:t>
            </a:r>
            <a:r>
              <a:rPr b="1" i="0" lang="en-US" sz="2800" u="none">
                <a:solidFill>
                  <a:schemeClr val="dk1"/>
                </a:solidFill>
                <a:latin typeface="Times New Roman"/>
                <a:ea typeface="Times New Roman"/>
                <a:cs typeface="Times New Roman"/>
                <a:sym typeface="Times New Roman"/>
              </a:rPr>
              <a:t>Circle </a:t>
            </a:r>
            <a:r>
              <a:rPr b="0" i="0" lang="en-US" sz="2800" u="none">
                <a:solidFill>
                  <a:schemeClr val="dk1"/>
                </a:solidFill>
                <a:latin typeface="Times New Roman"/>
                <a:ea typeface="Times New Roman"/>
                <a:cs typeface="Times New Roman"/>
                <a:sym typeface="Times New Roman"/>
              </a:rPr>
              <a:t>class by adding a static variable </a:t>
            </a:r>
            <a:r>
              <a:rPr b="1" i="0" lang="en-US" sz="2800" u="none">
                <a:solidFill>
                  <a:schemeClr val="dk1"/>
                </a:solidFill>
                <a:latin typeface="Times New Roman"/>
                <a:ea typeface="Times New Roman"/>
                <a:cs typeface="Times New Roman"/>
                <a:sym typeface="Times New Roman"/>
              </a:rPr>
              <a:t>numberOfObjects </a:t>
            </a:r>
            <a:r>
              <a:rPr b="0" i="0" lang="en-US" sz="2800" u="none">
                <a:solidFill>
                  <a:schemeClr val="dk1"/>
                </a:solidFill>
                <a:latin typeface="Times New Roman"/>
                <a:ea typeface="Times New Roman"/>
                <a:cs typeface="Times New Roman"/>
                <a:sym typeface="Times New Roman"/>
              </a:rPr>
              <a:t>to count the number of circle objects created. When the first object of this class is created, </a:t>
            </a:r>
            <a:r>
              <a:rPr b="1" i="0" lang="en-US" sz="2800" u="none">
                <a:solidFill>
                  <a:schemeClr val="dk1"/>
                </a:solidFill>
                <a:latin typeface="Times New Roman"/>
                <a:ea typeface="Times New Roman"/>
                <a:cs typeface="Times New Roman"/>
                <a:sym typeface="Times New Roman"/>
              </a:rPr>
              <a:t>numberOfObjects </a:t>
            </a:r>
            <a:r>
              <a:rPr b="0" i="0" lang="en-US" sz="2800" u="none">
                <a:solidFill>
                  <a:schemeClr val="dk1"/>
                </a:solidFill>
                <a:latin typeface="Times New Roman"/>
                <a:ea typeface="Times New Roman"/>
                <a:cs typeface="Times New Roman"/>
                <a:sym typeface="Times New Roman"/>
              </a:rPr>
              <a:t>is </a:t>
            </a:r>
            <a:r>
              <a:rPr b="1" i="0" lang="en-US" sz="2800" u="none">
                <a:solidFill>
                  <a:schemeClr val="dk1"/>
                </a:solidFill>
                <a:latin typeface="Times New Roman"/>
                <a:ea typeface="Times New Roman"/>
                <a:cs typeface="Times New Roman"/>
                <a:sym typeface="Times New Roman"/>
              </a:rPr>
              <a:t>1</a:t>
            </a:r>
            <a:r>
              <a:rPr b="0" i="0" lang="en-US" sz="2800" u="none">
                <a:solidFill>
                  <a:schemeClr val="dk1"/>
                </a:solidFill>
                <a:latin typeface="Times New Roman"/>
                <a:ea typeface="Times New Roman"/>
                <a:cs typeface="Times New Roman"/>
                <a:sym typeface="Times New Roman"/>
              </a:rPr>
              <a:t>. When the second object is created, </a:t>
            </a:r>
            <a:r>
              <a:rPr b="1" i="0" lang="en-US" sz="2800" u="none">
                <a:solidFill>
                  <a:schemeClr val="dk1"/>
                </a:solidFill>
                <a:latin typeface="Times New Roman"/>
                <a:ea typeface="Times New Roman"/>
                <a:cs typeface="Times New Roman"/>
                <a:sym typeface="Times New Roman"/>
              </a:rPr>
              <a:t>numberOfObjects </a:t>
            </a:r>
            <a:r>
              <a:rPr b="0" i="0" lang="en-US" sz="2800" u="none">
                <a:solidFill>
                  <a:schemeClr val="dk1"/>
                </a:solidFill>
                <a:latin typeface="Times New Roman"/>
                <a:ea typeface="Times New Roman"/>
                <a:cs typeface="Times New Roman"/>
                <a:sym typeface="Times New Roman"/>
              </a:rPr>
              <a:t>becomes </a:t>
            </a:r>
            <a:r>
              <a:rPr b="1" i="0" lang="en-US" sz="2800" u="none">
                <a:solidFill>
                  <a:schemeClr val="dk1"/>
                </a:solidFill>
                <a:latin typeface="Times New Roman"/>
                <a:ea typeface="Times New Roman"/>
                <a:cs typeface="Times New Roman"/>
                <a:sym typeface="Times New Roman"/>
              </a:rPr>
              <a:t>2</a:t>
            </a:r>
            <a:r>
              <a:rPr b="0" i="0" lang="en-US" sz="2800" u="none">
                <a:solidFill>
                  <a:schemeClr val="dk1"/>
                </a:solidFill>
                <a:latin typeface="Times New Roman"/>
                <a:ea typeface="Times New Roman"/>
                <a:cs typeface="Times New Roman"/>
                <a:sym typeface="Times New Roman"/>
              </a:rPr>
              <a:t>. The UML of the new circle class is shown below </a:t>
            </a:r>
            <a:endParaRPr/>
          </a:p>
          <a:p>
            <a:pPr indent="0" lvl="0" marL="0" marR="0" rtl="0" algn="l">
              <a:lnSpc>
                <a:spcPct val="100000"/>
              </a:lnSpc>
              <a:spcBef>
                <a:spcPts val="0"/>
              </a:spcBef>
              <a:spcAft>
                <a:spcPts val="0"/>
              </a:spcAft>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69" name="Google Shape;569;p59"/>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Static Variables, Constants,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and Methods, cont.</a:t>
            </a:r>
            <a:endParaRPr/>
          </a:p>
        </p:txBody>
      </p:sp>
      <p:sp>
        <p:nvSpPr>
          <p:cNvPr id="570" name="Google Shape;570;p59"/>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1" name="Google Shape;571;p59"/>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2" name="Google Shape;572;p59"/>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3" name="Google Shape;573;p59"/>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4" name="Google Shape;574;p59"/>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75" name="Google Shape;575;p59"/>
          <p:cNvPicPr preferRelativeResize="0"/>
          <p:nvPr/>
        </p:nvPicPr>
        <p:blipFill rotWithShape="1">
          <a:blip r:embed="rId3">
            <a:alphaModFix/>
          </a:blip>
          <a:srcRect b="0" l="0" r="0" t="0"/>
          <a:stretch/>
        </p:blipFill>
        <p:spPr>
          <a:xfrm>
            <a:off x="-12700" y="3106737"/>
            <a:ext cx="9144000" cy="2662237"/>
          </a:xfrm>
          <a:prstGeom prst="rect">
            <a:avLst/>
          </a:prstGeom>
          <a:noFill/>
          <a:ln>
            <a:noFill/>
          </a:ln>
        </p:spPr>
      </p:pic>
      <p:pic>
        <p:nvPicPr>
          <p:cNvPr id="576" name="Google Shape;576;p59"/>
          <p:cNvPicPr preferRelativeResize="0"/>
          <p:nvPr/>
        </p:nvPicPr>
        <p:blipFill rotWithShape="1">
          <a:blip r:embed="rId4">
            <a:alphaModFix/>
          </a:blip>
          <a:srcRect b="0" l="0" r="0" t="0"/>
          <a:stretch/>
        </p:blipFill>
        <p:spPr>
          <a:xfrm>
            <a:off x="95250" y="1885950"/>
            <a:ext cx="3362325" cy="60483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82" name="Google Shape;582;p60"/>
          <p:cNvSpPr txBox="1"/>
          <p:nvPr>
            <p:ph type="title"/>
          </p:nvPr>
        </p:nvSpPr>
        <p:spPr>
          <a:xfrm>
            <a:off x="685800" y="0"/>
            <a:ext cx="7772400" cy="91598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CircleWithStaticMembers Class</a:t>
            </a:r>
            <a:r>
              <a:rPr b="1" i="0" lang="en-US" sz="4400" u="none">
                <a:solidFill>
                  <a:schemeClr val="dk2"/>
                </a:solidFill>
                <a:latin typeface="Times New Roman"/>
                <a:ea typeface="Times New Roman"/>
                <a:cs typeface="Times New Roman"/>
                <a:sym typeface="Times New Roman"/>
              </a:rPr>
              <a:t> </a:t>
            </a:r>
            <a:endParaRPr/>
          </a:p>
        </p:txBody>
      </p:sp>
      <p:sp>
        <p:nvSpPr>
          <p:cNvPr id="583" name="Google Shape;583;p60"/>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60"/>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 name="Google Shape;585;p60"/>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6" name="Google Shape;586;p60"/>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7" name="Google Shape;587;p60"/>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588" name="Google Shape;588;p60"/>
          <p:cNvPicPr preferRelativeResize="0"/>
          <p:nvPr/>
        </p:nvPicPr>
        <p:blipFill rotWithShape="1">
          <a:blip r:embed="rId3">
            <a:alphaModFix/>
          </a:blip>
          <a:srcRect b="0" l="0" r="0" t="0"/>
          <a:stretch/>
        </p:blipFill>
        <p:spPr>
          <a:xfrm>
            <a:off x="2228850" y="1030287"/>
            <a:ext cx="5000625" cy="539591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594" name="Google Shape;594;p61"/>
          <p:cNvSpPr txBox="1"/>
          <p:nvPr>
            <p:ph type="title"/>
          </p:nvPr>
        </p:nvSpPr>
        <p:spPr>
          <a:xfrm>
            <a:off x="685800" y="0"/>
            <a:ext cx="7772400" cy="91598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TestCircleWithStaticMembers.java</a:t>
            </a:r>
            <a:r>
              <a:rPr b="1" i="0" lang="en-US" sz="4400" u="none">
                <a:solidFill>
                  <a:schemeClr val="dk2"/>
                </a:solidFill>
                <a:latin typeface="Times New Roman"/>
                <a:ea typeface="Times New Roman"/>
                <a:cs typeface="Times New Roman"/>
                <a:sym typeface="Times New Roman"/>
              </a:rPr>
              <a:t> </a:t>
            </a:r>
            <a:endParaRPr/>
          </a:p>
        </p:txBody>
      </p:sp>
      <p:sp>
        <p:nvSpPr>
          <p:cNvPr id="595" name="Google Shape;595;p61"/>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6" name="Google Shape;596;p61"/>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7" name="Google Shape;597;p61"/>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8" name="Google Shape;598;p61"/>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9" name="Google Shape;599;p61"/>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0" name="Google Shape;600;p61"/>
          <p:cNvSpPr/>
          <p:nvPr/>
        </p:nvSpPr>
        <p:spPr>
          <a:xfrm>
            <a:off x="6216650" y="1497012"/>
            <a:ext cx="2419350" cy="1806575"/>
          </a:xfrm>
          <a:custGeom>
            <a:rect b="b" l="l" r="r" t="t"/>
            <a:pathLst>
              <a:path extrusionOk="0" h="120000" w="120000">
                <a:moveTo>
                  <a:pt x="0" y="0"/>
                </a:moveTo>
                <a:lnTo>
                  <a:pt x="120000" y="0"/>
                </a:lnTo>
                <a:lnTo>
                  <a:pt x="120000" y="120000"/>
                </a:lnTo>
                <a:lnTo>
                  <a:pt x="0" y="120000"/>
                </a:lnTo>
                <a:close/>
              </a:path>
              <a:path extrusionOk="0" fill="none" h="120000" w="120000">
                <a:moveTo>
                  <a:pt x="6676" y="-15377"/>
                </a:moveTo>
                <a:lnTo>
                  <a:pt x="7075" y="-5028"/>
                </a:lnTo>
                <a:lnTo>
                  <a:pt x="-56000" y="135000"/>
                </a:lnTo>
              </a:path>
            </a:pathLst>
          </a:custGeom>
          <a:solidFill>
            <a:srgbClr val="D9D9D9"/>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a:solidFill>
                  <a:schemeClr val="dk1"/>
                </a:solidFill>
                <a:latin typeface="Times New Roman"/>
                <a:ea typeface="Times New Roman"/>
                <a:cs typeface="Times New Roman"/>
                <a:sym typeface="Times New Roman"/>
              </a:rPr>
              <a:t>Static variables and methods can be accessed without creating objects. Line 6 displays the number of objects, which is </a:t>
            </a:r>
            <a:r>
              <a:rPr b="1" i="0" lang="en-US" sz="1600" u="none">
                <a:solidFill>
                  <a:schemeClr val="dk1"/>
                </a:solidFill>
                <a:latin typeface="Times New Roman"/>
                <a:ea typeface="Times New Roman"/>
                <a:cs typeface="Times New Roman"/>
                <a:sym typeface="Times New Roman"/>
              </a:rPr>
              <a:t>0</a:t>
            </a:r>
            <a:r>
              <a:rPr b="0" i="0" lang="en-US" sz="1600" u="none">
                <a:solidFill>
                  <a:schemeClr val="dk1"/>
                </a:solidFill>
                <a:latin typeface="Times New Roman"/>
                <a:ea typeface="Times New Roman"/>
                <a:cs typeface="Times New Roman"/>
                <a:sym typeface="Times New Roman"/>
              </a:rPr>
              <a:t>, since no objects have been created. </a:t>
            </a:r>
            <a:endParaRPr/>
          </a:p>
          <a:p>
            <a:pPr indent="0" lvl="0" marL="0" marR="0" rtl="0" algn="l">
              <a:lnSpc>
                <a:spcPct val="100000"/>
              </a:lnSpc>
              <a:spcBef>
                <a:spcPts val="0"/>
              </a:spcBef>
              <a:spcAft>
                <a:spcPts val="0"/>
              </a:spcAft>
              <a:buNone/>
            </a:pPr>
            <a:r>
              <a:t/>
            </a:r>
            <a:endParaRPr b="0" i="0" sz="1600" u="none">
              <a:solidFill>
                <a:schemeClr val="dk1"/>
              </a:solidFill>
              <a:latin typeface="Times New Roman"/>
              <a:ea typeface="Times New Roman"/>
              <a:cs typeface="Times New Roman"/>
              <a:sym typeface="Times New Roman"/>
            </a:endParaRPr>
          </a:p>
        </p:txBody>
      </p:sp>
      <p:pic>
        <p:nvPicPr>
          <p:cNvPr id="601" name="Google Shape;601;p61"/>
          <p:cNvPicPr preferRelativeResize="0"/>
          <p:nvPr/>
        </p:nvPicPr>
        <p:blipFill rotWithShape="1">
          <a:blip r:embed="rId3">
            <a:alphaModFix/>
          </a:blip>
          <a:srcRect b="0" l="0" r="0" t="0"/>
          <a:stretch/>
        </p:blipFill>
        <p:spPr>
          <a:xfrm>
            <a:off x="425450" y="915987"/>
            <a:ext cx="5365750" cy="51847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07" name="Google Shape;607;p62"/>
          <p:cNvSpPr txBox="1"/>
          <p:nvPr>
            <p:ph type="title"/>
          </p:nvPr>
        </p:nvSpPr>
        <p:spPr>
          <a:xfrm>
            <a:off x="685800" y="0"/>
            <a:ext cx="7772400" cy="91598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Static and Instance Methods</a:t>
            </a:r>
            <a:endParaRPr/>
          </a:p>
        </p:txBody>
      </p:sp>
      <p:sp>
        <p:nvSpPr>
          <p:cNvPr id="608" name="Google Shape;608;p62"/>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9" name="Google Shape;609;p62"/>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0" name="Google Shape;610;p62"/>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1" name="Google Shape;611;p62"/>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 name="Google Shape;612;p62"/>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3" name="Google Shape;613;p62"/>
          <p:cNvSpPr txBox="1"/>
          <p:nvPr/>
        </p:nvSpPr>
        <p:spPr>
          <a:xfrm>
            <a:off x="309562" y="915987"/>
            <a:ext cx="8256587" cy="2308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An instance method can invoke an instance or static method and access an instance or static data field. A static method can invoke a static method and access a static data field. However, a static method cannot invoke an instance method or access an instance data field, since static methods and static data fields don’t belong to a particular object. </a:t>
            </a:r>
            <a:endParaRPr/>
          </a:p>
        </p:txBody>
      </p:sp>
      <p:pic>
        <p:nvPicPr>
          <p:cNvPr id="614" name="Google Shape;614;p62"/>
          <p:cNvPicPr preferRelativeResize="0"/>
          <p:nvPr/>
        </p:nvPicPr>
        <p:blipFill rotWithShape="1">
          <a:blip r:embed="rId3">
            <a:alphaModFix/>
          </a:blip>
          <a:srcRect b="0" l="0" r="0" t="0"/>
          <a:stretch/>
        </p:blipFill>
        <p:spPr>
          <a:xfrm>
            <a:off x="0" y="3638550"/>
            <a:ext cx="9144000" cy="19367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20" name="Google Shape;620;p63"/>
          <p:cNvSpPr txBox="1"/>
          <p:nvPr>
            <p:ph type="title"/>
          </p:nvPr>
        </p:nvSpPr>
        <p:spPr>
          <a:xfrm>
            <a:off x="685800" y="0"/>
            <a:ext cx="7772400" cy="91598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Examples</a:t>
            </a:r>
            <a:r>
              <a:rPr b="1" i="0" lang="en-US" sz="4400" u="none">
                <a:solidFill>
                  <a:schemeClr val="dk2"/>
                </a:solidFill>
                <a:latin typeface="Times New Roman"/>
                <a:ea typeface="Times New Roman"/>
                <a:cs typeface="Times New Roman"/>
                <a:sym typeface="Times New Roman"/>
              </a:rPr>
              <a:t> </a:t>
            </a:r>
            <a:endParaRPr/>
          </a:p>
        </p:txBody>
      </p:sp>
      <p:sp>
        <p:nvSpPr>
          <p:cNvPr id="621" name="Google Shape;621;p63"/>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2" name="Google Shape;622;p63"/>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3" name="Google Shape;623;p63"/>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4" name="Google Shape;624;p63"/>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5" name="Google Shape;625;p63"/>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26" name="Google Shape;626;p63"/>
          <p:cNvPicPr preferRelativeResize="0"/>
          <p:nvPr/>
        </p:nvPicPr>
        <p:blipFill rotWithShape="1">
          <a:blip r:embed="rId3">
            <a:alphaModFix/>
          </a:blip>
          <a:srcRect b="0" l="0" r="0" t="0"/>
          <a:stretch/>
        </p:blipFill>
        <p:spPr>
          <a:xfrm>
            <a:off x="1384300" y="1417637"/>
            <a:ext cx="6896100" cy="436086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32" name="Google Shape;632;p64"/>
          <p:cNvSpPr txBox="1"/>
          <p:nvPr>
            <p:ph type="title"/>
          </p:nvPr>
        </p:nvSpPr>
        <p:spPr>
          <a:xfrm>
            <a:off x="685800" y="0"/>
            <a:ext cx="7772400" cy="915987"/>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1" i="0" lang="en-US" sz="3200" u="none">
                <a:solidFill>
                  <a:schemeClr val="dk2"/>
                </a:solidFill>
                <a:latin typeface="Times New Roman"/>
                <a:ea typeface="Times New Roman"/>
                <a:cs typeface="Times New Roman"/>
                <a:sym typeface="Times New Roman"/>
              </a:rPr>
              <a:t>Examples</a:t>
            </a:r>
            <a:r>
              <a:rPr b="1" i="0" lang="en-US" sz="4400" u="none">
                <a:solidFill>
                  <a:schemeClr val="dk2"/>
                </a:solidFill>
                <a:latin typeface="Times New Roman"/>
                <a:ea typeface="Times New Roman"/>
                <a:cs typeface="Times New Roman"/>
                <a:sym typeface="Times New Roman"/>
              </a:rPr>
              <a:t> </a:t>
            </a:r>
            <a:endParaRPr/>
          </a:p>
        </p:txBody>
      </p:sp>
      <p:sp>
        <p:nvSpPr>
          <p:cNvPr id="633" name="Google Shape;633;p64"/>
          <p:cNvSpPr txBox="1"/>
          <p:nvPr/>
        </p:nvSpPr>
        <p:spPr>
          <a:xfrm>
            <a:off x="2000250" y="2228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4" name="Google Shape;634;p64"/>
          <p:cNvSpPr txBox="1"/>
          <p:nvPr/>
        </p:nvSpPr>
        <p:spPr>
          <a:xfrm>
            <a:off x="2000250" y="228600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5" name="Google Shape;635;p64"/>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6" name="Google Shape;636;p64"/>
          <p:cNvSpPr txBox="1"/>
          <p:nvPr/>
        </p:nvSpPr>
        <p:spPr>
          <a:xfrm>
            <a:off x="0" y="24003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7" name="Google Shape;637;p64"/>
          <p:cNvSpPr txBox="1"/>
          <p:nvPr/>
        </p:nvSpPr>
        <p:spPr>
          <a:xfrm>
            <a:off x="0" y="247650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38" name="Google Shape;638;p64"/>
          <p:cNvPicPr preferRelativeResize="0"/>
          <p:nvPr/>
        </p:nvPicPr>
        <p:blipFill rotWithShape="1">
          <a:blip r:embed="rId3">
            <a:alphaModFix/>
          </a:blip>
          <a:srcRect b="0" l="0" r="0" t="0"/>
          <a:stretch/>
        </p:blipFill>
        <p:spPr>
          <a:xfrm>
            <a:off x="749300" y="1257300"/>
            <a:ext cx="7632700" cy="43434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44" name="Google Shape;644;p65"/>
          <p:cNvSpPr txBox="1"/>
          <p:nvPr>
            <p:ph type="title"/>
          </p:nvPr>
        </p:nvSpPr>
        <p:spPr>
          <a:xfrm>
            <a:off x="685800" y="0"/>
            <a:ext cx="77724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Visibility Modifiers and Accessor/Mutator Methods</a:t>
            </a:r>
            <a:endParaRPr/>
          </a:p>
        </p:txBody>
      </p:sp>
      <p:sp>
        <p:nvSpPr>
          <p:cNvPr id="645" name="Google Shape;645;p65"/>
          <p:cNvSpPr txBox="1"/>
          <p:nvPr>
            <p:ph idx="1" type="body"/>
          </p:nvPr>
        </p:nvSpPr>
        <p:spPr>
          <a:xfrm>
            <a:off x="685800" y="1371600"/>
            <a:ext cx="7848600" cy="4668837"/>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1650"/>
              <a:buFont typeface="Arial"/>
              <a:buChar char="●"/>
            </a:pPr>
            <a:r>
              <a:rPr b="0" i="0" lang="en-US" sz="2200" u="none">
                <a:solidFill>
                  <a:schemeClr val="dk1"/>
                </a:solidFill>
                <a:latin typeface="Times New Roman"/>
                <a:ea typeface="Times New Roman"/>
                <a:cs typeface="Times New Roman"/>
                <a:sym typeface="Times New Roman"/>
              </a:rPr>
              <a:t>You can use the </a:t>
            </a:r>
            <a:r>
              <a:rPr b="1" i="0" lang="en-US" sz="2200" u="none">
                <a:solidFill>
                  <a:schemeClr val="dk1"/>
                </a:solidFill>
                <a:latin typeface="Times New Roman"/>
                <a:ea typeface="Times New Roman"/>
                <a:cs typeface="Times New Roman"/>
                <a:sym typeface="Times New Roman"/>
              </a:rPr>
              <a:t>public </a:t>
            </a:r>
            <a:r>
              <a:rPr b="0" i="0" lang="en-US" sz="2200" u="none">
                <a:solidFill>
                  <a:schemeClr val="dk1"/>
                </a:solidFill>
                <a:latin typeface="Times New Roman"/>
                <a:ea typeface="Times New Roman"/>
                <a:cs typeface="Times New Roman"/>
                <a:sym typeface="Times New Roman"/>
              </a:rPr>
              <a:t>visibility modifier for classes, methods, and data fields to denote that they can be accessed from </a:t>
            </a:r>
            <a:r>
              <a:rPr b="0" i="0" lang="en-US" sz="2200" u="none">
                <a:solidFill>
                  <a:srgbClr val="0070C0"/>
                </a:solidFill>
                <a:latin typeface="Times New Roman"/>
                <a:ea typeface="Times New Roman"/>
                <a:cs typeface="Times New Roman"/>
                <a:sym typeface="Times New Roman"/>
              </a:rPr>
              <a:t>any other classes</a:t>
            </a:r>
            <a:r>
              <a:rPr b="0" i="0" lang="en-US" sz="2200" u="none">
                <a:solidFill>
                  <a:schemeClr val="dk1"/>
                </a:solidFill>
                <a:latin typeface="Times New Roman"/>
                <a:ea typeface="Times New Roman"/>
                <a:cs typeface="Times New Roman"/>
                <a:sym typeface="Times New Roman"/>
              </a:rPr>
              <a:t>. </a:t>
            </a:r>
            <a:endParaRPr/>
          </a:p>
          <a:p>
            <a:pPr indent="-342900" lvl="0" marL="342900" rtl="0" algn="l">
              <a:lnSpc>
                <a:spcPct val="100000"/>
              </a:lnSpc>
              <a:spcBef>
                <a:spcPts val="440"/>
              </a:spcBef>
              <a:spcAft>
                <a:spcPts val="0"/>
              </a:spcAft>
              <a:buClr>
                <a:schemeClr val="dk2"/>
              </a:buClr>
              <a:buSzPts val="1650"/>
              <a:buFont typeface="Arial"/>
              <a:buChar char="●"/>
            </a:pPr>
            <a:r>
              <a:rPr b="0" i="0" lang="en-US" sz="2200" u="none">
                <a:solidFill>
                  <a:schemeClr val="dk1"/>
                </a:solidFill>
                <a:latin typeface="Times New Roman"/>
                <a:ea typeface="Times New Roman"/>
                <a:cs typeface="Times New Roman"/>
                <a:sym typeface="Times New Roman"/>
              </a:rPr>
              <a:t>If no visibility modifier is used, then by default the classes, methods, and data fields are accessible by any class </a:t>
            </a:r>
            <a:r>
              <a:rPr b="0" i="0" lang="en-US" sz="2200" u="none">
                <a:solidFill>
                  <a:srgbClr val="0070C0"/>
                </a:solidFill>
                <a:latin typeface="Times New Roman"/>
                <a:ea typeface="Times New Roman"/>
                <a:cs typeface="Times New Roman"/>
                <a:sym typeface="Times New Roman"/>
              </a:rPr>
              <a:t>in the same package</a:t>
            </a:r>
            <a:r>
              <a:rPr b="0" i="0" lang="en-US" sz="2200" u="none">
                <a:solidFill>
                  <a:schemeClr val="dk1"/>
                </a:solidFill>
                <a:latin typeface="Times New Roman"/>
                <a:ea typeface="Times New Roman"/>
                <a:cs typeface="Times New Roman"/>
                <a:sym typeface="Times New Roman"/>
              </a:rPr>
              <a:t>. This is known as </a:t>
            </a:r>
            <a:r>
              <a:rPr b="0" i="1" lang="en-US" sz="2200" u="none">
                <a:solidFill>
                  <a:schemeClr val="dk1"/>
                </a:solidFill>
                <a:latin typeface="Times New Roman"/>
                <a:ea typeface="Times New Roman"/>
                <a:cs typeface="Times New Roman"/>
                <a:sym typeface="Times New Roman"/>
              </a:rPr>
              <a:t>package-private </a:t>
            </a:r>
            <a:r>
              <a:rPr b="0" i="0" lang="en-US" sz="2200" u="none">
                <a:solidFill>
                  <a:schemeClr val="dk1"/>
                </a:solidFill>
                <a:latin typeface="Times New Roman"/>
                <a:ea typeface="Times New Roman"/>
                <a:cs typeface="Times New Roman"/>
                <a:sym typeface="Times New Roman"/>
              </a:rPr>
              <a:t>or </a:t>
            </a:r>
            <a:r>
              <a:rPr b="0" i="1" lang="en-US" sz="2200" u="none">
                <a:solidFill>
                  <a:schemeClr val="dk1"/>
                </a:solidFill>
                <a:latin typeface="Times New Roman"/>
                <a:ea typeface="Times New Roman"/>
                <a:cs typeface="Times New Roman"/>
                <a:sym typeface="Times New Roman"/>
              </a:rPr>
              <a:t>package-access</a:t>
            </a:r>
            <a:r>
              <a:rPr b="0" i="0" lang="en-US" sz="2200" u="none">
                <a:solidFill>
                  <a:schemeClr val="dk1"/>
                </a:solidFill>
                <a:latin typeface="Times New Roman"/>
                <a:ea typeface="Times New Roman"/>
                <a:cs typeface="Times New Roman"/>
                <a:sym typeface="Times New Roman"/>
              </a:rPr>
              <a:t>. </a:t>
            </a:r>
            <a:endParaRPr/>
          </a:p>
          <a:p>
            <a:pPr indent="-342900" lvl="0" marL="342900" rtl="0" algn="l">
              <a:lnSpc>
                <a:spcPct val="100000"/>
              </a:lnSpc>
              <a:spcBef>
                <a:spcPts val="440"/>
              </a:spcBef>
              <a:spcAft>
                <a:spcPts val="0"/>
              </a:spcAft>
              <a:buClr>
                <a:schemeClr val="dk2"/>
              </a:buClr>
              <a:buSzPts val="1650"/>
              <a:buFont typeface="Arial"/>
              <a:buChar char="●"/>
            </a:pPr>
            <a:r>
              <a:rPr b="0" i="0" lang="en-US" sz="2200" u="none">
                <a:solidFill>
                  <a:schemeClr val="dk1"/>
                </a:solidFill>
                <a:latin typeface="Times New Roman"/>
                <a:ea typeface="Times New Roman"/>
                <a:cs typeface="Times New Roman"/>
                <a:sym typeface="Times New Roman"/>
              </a:rPr>
              <a:t>Packages can be used to organize classes. To do so, you need to add the following line as the first statement in the program: </a:t>
            </a:r>
            <a:endParaRPr/>
          </a:p>
          <a:p>
            <a:pPr indent="-342900" lvl="0" marL="342900" rtl="0" algn="l">
              <a:lnSpc>
                <a:spcPct val="100000"/>
              </a:lnSpc>
              <a:spcBef>
                <a:spcPts val="440"/>
              </a:spcBef>
              <a:spcAft>
                <a:spcPts val="0"/>
              </a:spcAft>
              <a:buSzPts val="1650"/>
              <a:buNone/>
            </a:pPr>
            <a:r>
              <a:rPr b="1" i="0" lang="en-US" sz="2200" u="none">
                <a:solidFill>
                  <a:schemeClr val="dk1"/>
                </a:solidFill>
                <a:latin typeface="Times New Roman"/>
                <a:ea typeface="Times New Roman"/>
                <a:cs typeface="Times New Roman"/>
                <a:sym typeface="Times New Roman"/>
              </a:rPr>
              <a:t>	package </a:t>
            </a:r>
            <a:r>
              <a:rPr b="0" i="0" lang="en-US" sz="2200" u="none">
                <a:solidFill>
                  <a:schemeClr val="dk1"/>
                </a:solidFill>
                <a:latin typeface="Times New Roman"/>
                <a:ea typeface="Times New Roman"/>
                <a:cs typeface="Times New Roman"/>
                <a:sym typeface="Times New Roman"/>
              </a:rPr>
              <a:t>packageName;</a:t>
            </a:r>
            <a:endParaRPr/>
          </a:p>
          <a:p>
            <a:pPr indent="-342900" lvl="0" marL="342900" rtl="0" algn="l">
              <a:lnSpc>
                <a:spcPct val="100000"/>
              </a:lnSpc>
              <a:spcBef>
                <a:spcPts val="560"/>
              </a:spcBef>
              <a:spcAft>
                <a:spcPts val="0"/>
              </a:spcAft>
              <a:buClr>
                <a:schemeClr val="dk2"/>
              </a:buClr>
              <a:buSzPts val="1650"/>
              <a:buFont typeface="Arial"/>
              <a:buChar char="●"/>
            </a:pPr>
            <a:r>
              <a:rPr b="0" i="0" lang="en-US" sz="2200" u="none">
                <a:solidFill>
                  <a:schemeClr val="dk1"/>
                </a:solidFill>
                <a:latin typeface="Times New Roman"/>
                <a:ea typeface="Times New Roman"/>
                <a:cs typeface="Times New Roman"/>
                <a:sym typeface="Times New Roman"/>
              </a:rPr>
              <a:t>If a class is defined without the package statement, it is said to be placed in the </a:t>
            </a:r>
            <a:r>
              <a:rPr b="0" i="1" lang="en-US" sz="2200" u="none">
                <a:solidFill>
                  <a:schemeClr val="dk1"/>
                </a:solidFill>
                <a:latin typeface="Times New Roman"/>
                <a:ea typeface="Times New Roman"/>
                <a:cs typeface="Times New Roman"/>
                <a:sym typeface="Times New Roman"/>
              </a:rPr>
              <a:t>default package</a:t>
            </a:r>
            <a:r>
              <a:rPr b="0" i="0" lang="en-US" sz="2800" u="none">
                <a:solidFill>
                  <a:schemeClr val="dk1"/>
                </a:solidFill>
                <a:latin typeface="Times New Roman"/>
                <a:ea typeface="Times New Roman"/>
                <a:cs typeface="Times New Roman"/>
                <a:sym typeface="Times New Roman"/>
              </a:rPr>
              <a:t>. </a:t>
            </a:r>
            <a:endParaRPr/>
          </a:p>
          <a:p>
            <a:pPr indent="-209550" lvl="0" marL="342900" rtl="0" algn="l">
              <a:spcBef>
                <a:spcPts val="560"/>
              </a:spcBef>
              <a:spcAft>
                <a:spcPts val="0"/>
              </a:spcAft>
              <a:buSzPts val="2100"/>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51" name="Google Shape;651;p66"/>
          <p:cNvSpPr txBox="1"/>
          <p:nvPr>
            <p:ph type="title"/>
          </p:nvPr>
        </p:nvSpPr>
        <p:spPr>
          <a:xfrm>
            <a:off x="685800" y="0"/>
            <a:ext cx="77724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Visibility Modifiers and Accessor/Mutator Methods</a:t>
            </a:r>
            <a:endParaRPr/>
          </a:p>
        </p:txBody>
      </p:sp>
      <p:sp>
        <p:nvSpPr>
          <p:cNvPr id="652" name="Google Shape;652;p66"/>
          <p:cNvSpPr txBox="1"/>
          <p:nvPr>
            <p:ph idx="1" type="body"/>
          </p:nvPr>
        </p:nvSpPr>
        <p:spPr>
          <a:xfrm>
            <a:off x="682625" y="995362"/>
            <a:ext cx="7848600" cy="1143000"/>
          </a:xfrm>
          <a:prstGeom prst="rect">
            <a:avLst/>
          </a:prstGeom>
          <a:noFill/>
          <a:ln>
            <a:noFill/>
          </a:ln>
        </p:spPr>
        <p:txBody>
          <a:bodyPr anchorCtr="0" anchor="t" bIns="46025" lIns="92075" spcFirstLastPara="1" rIns="92075" wrap="square" tIns="46025">
            <a:noAutofit/>
          </a:bodyPr>
          <a:lstStyle/>
          <a:p>
            <a:pPr indent="0" lvl="0" marL="0" rtl="0" algn="l">
              <a:lnSpc>
                <a:spcPct val="100000"/>
              </a:lnSpc>
              <a:spcBef>
                <a:spcPts val="0"/>
              </a:spcBef>
              <a:spcAft>
                <a:spcPts val="0"/>
              </a:spcAft>
              <a:buSzPts val="2250"/>
              <a:buNone/>
            </a:pPr>
            <a:r>
              <a:rPr b="0" i="0" lang="en-US" sz="3000" u="none">
                <a:solidFill>
                  <a:schemeClr val="dk1"/>
                </a:solidFill>
                <a:latin typeface="Times New Roman"/>
                <a:ea typeface="Times New Roman"/>
                <a:cs typeface="Times New Roman"/>
                <a:sym typeface="Times New Roman"/>
              </a:rPr>
              <a:t>By default, the class, variable, or method can be</a:t>
            </a:r>
            <a:br>
              <a:rPr b="0" i="0" lang="en-US" sz="3000" u="none">
                <a:solidFill>
                  <a:schemeClr val="dk1"/>
                </a:solidFill>
                <a:latin typeface="Times New Roman"/>
                <a:ea typeface="Times New Roman"/>
                <a:cs typeface="Times New Roman"/>
                <a:sym typeface="Times New Roman"/>
              </a:rPr>
            </a:br>
            <a:r>
              <a:rPr b="0" i="0" lang="en-US" sz="3000" u="none">
                <a:solidFill>
                  <a:schemeClr val="dk1"/>
                </a:solidFill>
                <a:latin typeface="Times New Roman"/>
                <a:ea typeface="Times New Roman"/>
                <a:cs typeface="Times New Roman"/>
                <a:sym typeface="Times New Roman"/>
              </a:rPr>
              <a:t>accessed by any class in the same package.</a:t>
            </a:r>
            <a:r>
              <a:rPr b="0" i="0" lang="en-US" sz="2800" u="none">
                <a:solidFill>
                  <a:schemeClr val="dk1"/>
                </a:solidFill>
                <a:latin typeface="Times New Roman"/>
                <a:ea typeface="Times New Roman"/>
                <a:cs typeface="Times New Roman"/>
                <a:sym typeface="Times New Roman"/>
              </a:rPr>
              <a:t> </a:t>
            </a:r>
            <a:endParaRPr/>
          </a:p>
        </p:txBody>
      </p:sp>
      <p:sp>
        <p:nvSpPr>
          <p:cNvPr id="653" name="Google Shape;653;p66"/>
          <p:cNvSpPr txBox="1"/>
          <p:nvPr/>
        </p:nvSpPr>
        <p:spPr>
          <a:xfrm>
            <a:off x="263525" y="2166937"/>
            <a:ext cx="8686800" cy="3884612"/>
          </a:xfrm>
          <a:prstGeom prst="rect">
            <a:avLst/>
          </a:prstGeom>
          <a:noFill/>
          <a:ln>
            <a:noFill/>
          </a:ln>
        </p:spPr>
        <p:txBody>
          <a:bodyPr anchorCtr="0" anchor="t" bIns="46025" lIns="92075" spcFirstLastPara="1" rIns="92075" wrap="square" tIns="46025">
            <a:noAutofit/>
          </a:bodyPr>
          <a:lstStyle/>
          <a:p>
            <a:pPr indent="-457200" lvl="0" marL="457200" marR="0" rtl="0" algn="l">
              <a:lnSpc>
                <a:spcPct val="100000"/>
              </a:lnSpc>
              <a:spcBef>
                <a:spcPts val="0"/>
              </a:spcBef>
              <a:spcAft>
                <a:spcPts val="0"/>
              </a:spcAft>
              <a:buClr>
                <a:schemeClr val="dk2"/>
              </a:buClr>
              <a:buSzPts val="2100"/>
              <a:buFont typeface="Noto Sans Symbols"/>
              <a:buChar char="❑"/>
            </a:pPr>
            <a:r>
              <a:rPr b="0" i="0" lang="en-US" sz="2800" u="none">
                <a:solidFill>
                  <a:schemeClr val="dk1"/>
                </a:solidFill>
                <a:latin typeface="Courier New"/>
                <a:ea typeface="Courier New"/>
                <a:cs typeface="Courier New"/>
                <a:sym typeface="Courier New"/>
              </a:rPr>
              <a:t>public</a:t>
            </a:r>
            <a:endParaRPr b="0" i="0" sz="30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dk1"/>
              </a:buClr>
              <a:buSzPts val="2600"/>
              <a:buFont typeface="Times New Roman"/>
              <a:buNone/>
            </a:pPr>
            <a:r>
              <a:rPr b="0" i="0" lang="en-US" sz="2600" u="none">
                <a:solidFill>
                  <a:schemeClr val="dk1"/>
                </a:solidFill>
                <a:latin typeface="Times New Roman"/>
                <a:ea typeface="Times New Roman"/>
                <a:cs typeface="Times New Roman"/>
                <a:sym typeface="Times New Roman"/>
              </a:rPr>
              <a:t>	The class, data, or method is visible to any class in any package. </a:t>
            </a:r>
            <a:endParaRPr/>
          </a:p>
          <a:p>
            <a:pPr indent="-457200" lvl="0" marL="457200" marR="0" rtl="0" algn="l">
              <a:lnSpc>
                <a:spcPct val="100000"/>
              </a:lnSpc>
              <a:spcBef>
                <a:spcPts val="1600"/>
              </a:spcBef>
              <a:spcAft>
                <a:spcPts val="0"/>
              </a:spcAft>
              <a:buClr>
                <a:schemeClr val="dk2"/>
              </a:buClr>
              <a:buSzPts val="2100"/>
              <a:buFont typeface="Noto Sans Symbols"/>
              <a:buChar char="❑"/>
            </a:pPr>
            <a:r>
              <a:rPr b="0" i="0" lang="en-US" sz="2800" u="none">
                <a:solidFill>
                  <a:schemeClr val="dk1"/>
                </a:solidFill>
                <a:latin typeface="Courier New"/>
                <a:ea typeface="Courier New"/>
                <a:cs typeface="Courier New"/>
                <a:sym typeface="Courier New"/>
              </a:rPr>
              <a:t>private</a:t>
            </a:r>
            <a:r>
              <a:rPr b="0" i="0" lang="en-US" sz="3200" u="none">
                <a:solidFill>
                  <a:schemeClr val="dk1"/>
                </a:solidFill>
                <a:latin typeface="Times New Roman"/>
                <a:ea typeface="Times New Roman"/>
                <a:cs typeface="Times New Roman"/>
                <a:sym typeface="Times New Roman"/>
              </a:rPr>
              <a:t> </a:t>
            </a:r>
            <a:endParaRPr b="0" i="0" sz="24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52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r>
              <a:rPr b="0" i="0" lang="en-US" sz="2600" u="none">
                <a:solidFill>
                  <a:schemeClr val="dk1"/>
                </a:solidFill>
                <a:latin typeface="Times New Roman"/>
                <a:ea typeface="Times New Roman"/>
                <a:cs typeface="Times New Roman"/>
                <a:sym typeface="Times New Roman"/>
              </a:rPr>
              <a:t>The data or methods can be accessed only by the declaring class.	</a:t>
            </a:r>
            <a:endParaRPr/>
          </a:p>
          <a:p>
            <a:pPr indent="0" lvl="1" marL="285750" marR="0" rtl="0" algn="l">
              <a:lnSpc>
                <a:spcPct val="100000"/>
              </a:lnSpc>
              <a:spcBef>
                <a:spcPts val="520"/>
              </a:spcBef>
              <a:spcAft>
                <a:spcPts val="0"/>
              </a:spcAft>
              <a:buClr>
                <a:srgbClr val="FF0000"/>
              </a:buClr>
              <a:buSzPts val="2600"/>
              <a:buFont typeface="Times New Roman"/>
              <a:buNone/>
            </a:pPr>
            <a:r>
              <a:rPr b="0" i="0" lang="en-US" sz="2600" u="none" cap="none" strike="noStrike">
                <a:solidFill>
                  <a:srgbClr val="FF0000"/>
                </a:solidFill>
                <a:latin typeface="Times New Roman"/>
                <a:ea typeface="Times New Roman"/>
                <a:cs typeface="Times New Roman"/>
                <a:sym typeface="Times New Roman"/>
              </a:rPr>
              <a:t>Public</a:t>
            </a:r>
            <a:r>
              <a:rPr b="0" i="0" lang="en-US" sz="2600" u="none" cap="none" strike="noStrike">
                <a:solidFill>
                  <a:schemeClr val="dk1"/>
                </a:solidFill>
                <a:latin typeface="Times New Roman"/>
                <a:ea typeface="Times New Roman"/>
                <a:cs typeface="Times New Roman"/>
                <a:sym typeface="Times New Roman"/>
              </a:rPr>
              <a:t>  getter (Accessor) and setter (Mutator) methods are used to read and modify </a:t>
            </a:r>
            <a:r>
              <a:rPr b="0" i="0" lang="en-US" sz="2600" u="none" cap="none" strike="noStrike">
                <a:solidFill>
                  <a:srgbClr val="FF0000"/>
                </a:solidFill>
                <a:latin typeface="Times New Roman"/>
                <a:ea typeface="Times New Roman"/>
                <a:cs typeface="Times New Roman"/>
                <a:sym typeface="Times New Roman"/>
              </a:rPr>
              <a:t>private</a:t>
            </a:r>
            <a:r>
              <a:rPr b="0" i="0" lang="en-US" sz="2600" u="none" cap="none" strike="noStrike">
                <a:solidFill>
                  <a:schemeClr val="dk1"/>
                </a:solidFill>
                <a:latin typeface="Times New Roman"/>
                <a:ea typeface="Times New Roman"/>
                <a:cs typeface="Times New Roman"/>
                <a:sym typeface="Times New Roman"/>
              </a:rPr>
              <a:t> properties.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6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59" name="Google Shape;659;p67"/>
          <p:cNvSpPr txBox="1"/>
          <p:nvPr/>
        </p:nvSpPr>
        <p:spPr>
          <a:xfrm>
            <a:off x="2286000" y="20843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0" name="Google Shape;660;p67"/>
          <p:cNvSpPr txBox="1"/>
          <p:nvPr/>
        </p:nvSpPr>
        <p:spPr>
          <a:xfrm>
            <a:off x="1971675" y="24860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1" name="Google Shape;661;p67"/>
          <p:cNvSpPr txBox="1"/>
          <p:nvPr/>
        </p:nvSpPr>
        <p:spPr>
          <a:xfrm>
            <a:off x="357187" y="4740275"/>
            <a:ext cx="8415337" cy="15684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private modifier restricts access to within a class, </a:t>
            </a:r>
            <a:endParaRPr/>
          </a:p>
          <a:p>
            <a:pPr indent="-342900" lvl="0" marL="342900" marR="0" rtl="0" algn="l">
              <a:lnSpc>
                <a:spcPct val="100000"/>
              </a:lnSpc>
              <a:spcBef>
                <a:spcPts val="120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default modifier restricts access to within a package, </a:t>
            </a:r>
            <a:endParaRPr/>
          </a:p>
          <a:p>
            <a:pPr indent="-342900" lvl="0" marL="342900" marR="0" rtl="0" algn="l">
              <a:lnSpc>
                <a:spcPct val="100000"/>
              </a:lnSpc>
              <a:spcBef>
                <a:spcPts val="120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public modifier enables unrestricted access. </a:t>
            </a:r>
            <a:endParaRPr/>
          </a:p>
        </p:txBody>
      </p:sp>
      <p:sp>
        <p:nvSpPr>
          <p:cNvPr id="662" name="Google Shape;662;p67"/>
          <p:cNvSpPr txBox="1"/>
          <p:nvPr/>
        </p:nvSpPr>
        <p:spPr>
          <a:xfrm>
            <a:off x="0" y="24860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3" name="Google Shape;663;p67"/>
          <p:cNvSpPr txBox="1"/>
          <p:nvPr/>
        </p:nvSpPr>
        <p:spPr>
          <a:xfrm>
            <a:off x="0" y="30289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64" name="Google Shape;664;p67"/>
          <p:cNvPicPr preferRelativeResize="0"/>
          <p:nvPr/>
        </p:nvPicPr>
        <p:blipFill rotWithShape="1">
          <a:blip r:embed="rId3">
            <a:alphaModFix/>
          </a:blip>
          <a:srcRect b="0" l="0" r="0" t="0"/>
          <a:stretch/>
        </p:blipFill>
        <p:spPr>
          <a:xfrm>
            <a:off x="-1587" y="1123950"/>
            <a:ext cx="9129712" cy="3182937"/>
          </a:xfrm>
          <a:prstGeom prst="rect">
            <a:avLst/>
          </a:prstGeom>
          <a:noFill/>
          <a:ln>
            <a:noFill/>
          </a:ln>
        </p:spPr>
      </p:pic>
      <p:sp>
        <p:nvSpPr>
          <p:cNvPr id="665" name="Google Shape;665;p67"/>
          <p:cNvSpPr txBox="1"/>
          <p:nvPr>
            <p:ph type="title"/>
          </p:nvPr>
        </p:nvSpPr>
        <p:spPr>
          <a:xfrm>
            <a:off x="685800" y="0"/>
            <a:ext cx="77724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Examples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71" name="Google Shape;671;p68"/>
          <p:cNvSpPr txBox="1"/>
          <p:nvPr/>
        </p:nvSpPr>
        <p:spPr>
          <a:xfrm>
            <a:off x="2286000" y="20843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2" name="Google Shape;672;p68"/>
          <p:cNvSpPr txBox="1"/>
          <p:nvPr/>
        </p:nvSpPr>
        <p:spPr>
          <a:xfrm>
            <a:off x="1971675" y="2486025"/>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3" name="Google Shape;673;p68"/>
          <p:cNvSpPr txBox="1"/>
          <p:nvPr/>
        </p:nvSpPr>
        <p:spPr>
          <a:xfrm>
            <a:off x="363537" y="3659187"/>
            <a:ext cx="8415337" cy="13843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default modifier on a class restricts access to within a package</a:t>
            </a:r>
            <a:endParaRPr/>
          </a:p>
          <a:p>
            <a:pPr indent="-342900" lvl="0" marL="342900" marR="0" rtl="0" algn="l">
              <a:lnSpc>
                <a:spcPct val="100000"/>
              </a:lnSpc>
              <a:spcBef>
                <a:spcPts val="120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public modifier enables unrestricted access. </a:t>
            </a:r>
            <a:endParaRPr/>
          </a:p>
        </p:txBody>
      </p:sp>
      <p:sp>
        <p:nvSpPr>
          <p:cNvPr id="674" name="Google Shape;674;p68"/>
          <p:cNvSpPr txBox="1"/>
          <p:nvPr/>
        </p:nvSpPr>
        <p:spPr>
          <a:xfrm>
            <a:off x="0" y="2486025"/>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5" name="Google Shape;675;p68"/>
          <p:cNvSpPr txBox="1"/>
          <p:nvPr/>
        </p:nvSpPr>
        <p:spPr>
          <a:xfrm>
            <a:off x="0" y="30289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76" name="Google Shape;676;p68"/>
          <p:cNvPicPr preferRelativeResize="0"/>
          <p:nvPr/>
        </p:nvPicPr>
        <p:blipFill rotWithShape="1">
          <a:blip r:embed="rId3">
            <a:alphaModFix/>
          </a:blip>
          <a:srcRect b="0" l="0" r="0" t="0"/>
          <a:stretch/>
        </p:blipFill>
        <p:spPr>
          <a:xfrm>
            <a:off x="188912" y="1585912"/>
            <a:ext cx="8766175" cy="1612900"/>
          </a:xfrm>
          <a:prstGeom prst="rect">
            <a:avLst/>
          </a:prstGeom>
          <a:noFill/>
          <a:ln>
            <a:noFill/>
          </a:ln>
        </p:spPr>
      </p:pic>
      <p:sp>
        <p:nvSpPr>
          <p:cNvPr id="677" name="Google Shape;677;p68"/>
          <p:cNvSpPr txBox="1"/>
          <p:nvPr>
            <p:ph type="title"/>
          </p:nvPr>
        </p:nvSpPr>
        <p:spPr>
          <a:xfrm>
            <a:off x="685800" y="0"/>
            <a:ext cx="77724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2800"/>
              <a:buFont typeface="Times New Roman"/>
              <a:buNone/>
            </a:pPr>
            <a:r>
              <a:rPr b="0" i="0" lang="en-US" sz="2800" u="none">
                <a:solidFill>
                  <a:schemeClr val="dk2"/>
                </a:solidFill>
                <a:latin typeface="Times New Roman"/>
                <a:ea typeface="Times New Roman"/>
                <a:cs typeface="Times New Roman"/>
                <a:sym typeface="Times New Roman"/>
              </a:rPr>
              <a:t>Visibility Modifier of Classes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6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83" name="Google Shape;683;p69"/>
          <p:cNvSpPr txBox="1"/>
          <p:nvPr>
            <p:ph type="title"/>
          </p:nvPr>
        </p:nvSpPr>
        <p:spPr>
          <a:xfrm>
            <a:off x="685800" y="228600"/>
            <a:ext cx="7772400" cy="6858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NOTE</a:t>
            </a:r>
            <a:endParaRPr/>
          </a:p>
        </p:txBody>
      </p:sp>
      <p:sp>
        <p:nvSpPr>
          <p:cNvPr id="684" name="Google Shape;684;p69"/>
          <p:cNvSpPr txBox="1"/>
          <p:nvPr/>
        </p:nvSpPr>
        <p:spPr>
          <a:xfrm>
            <a:off x="304800" y="895350"/>
            <a:ext cx="8534400" cy="2362200"/>
          </a:xfrm>
          <a:prstGeom prst="rect">
            <a:avLst/>
          </a:prstGeom>
          <a:noFill/>
          <a:ln>
            <a:noFill/>
          </a:ln>
        </p:spPr>
        <p:txBody>
          <a:bodyPr anchorCtr="0" anchor="ctr" bIns="46025" lIns="92075" spcFirstLastPara="1" rIns="92075" wrap="square" tIns="46025">
            <a:noAutofit/>
          </a:bodyPr>
          <a:lstStyle/>
          <a:p>
            <a:pPr indent="-457200" lvl="0" marL="457200" marR="0" rtl="0" algn="l">
              <a:lnSpc>
                <a:spcPct val="100000"/>
              </a:lnSpc>
              <a:spcBef>
                <a:spcPts val="0"/>
              </a:spcBef>
              <a:spcAft>
                <a:spcPts val="0"/>
              </a:spcAft>
              <a:buClr>
                <a:schemeClr val="dk1"/>
              </a:buClr>
              <a:buSzPts val="2600"/>
              <a:buFont typeface="Arial"/>
              <a:buChar char="•"/>
            </a:pPr>
            <a:r>
              <a:rPr b="0" i="0" lang="en-US" sz="2600" u="none">
                <a:solidFill>
                  <a:schemeClr val="dk1"/>
                </a:solidFill>
                <a:latin typeface="Times New Roman"/>
                <a:ea typeface="Times New Roman"/>
                <a:cs typeface="Times New Roman"/>
                <a:sym typeface="Times New Roman"/>
              </a:rPr>
              <a:t>An object cannot access its private members, as shown in (b). It is OK, however, if the object is declared in its own class, as shown in (a).</a:t>
            </a:r>
            <a:r>
              <a:rPr b="0" i="0" lang="en-US" sz="4400" u="none">
                <a:solidFill>
                  <a:schemeClr val="dk2"/>
                </a:solidFill>
                <a:latin typeface="Times New Roman"/>
                <a:ea typeface="Times New Roman"/>
                <a:cs typeface="Times New Roman"/>
                <a:sym typeface="Times New Roman"/>
              </a:rPr>
              <a:t> </a:t>
            </a:r>
            <a:endParaRPr/>
          </a:p>
        </p:txBody>
      </p:sp>
      <p:sp>
        <p:nvSpPr>
          <p:cNvPr id="685" name="Google Shape;685;p69"/>
          <p:cNvSpPr txBox="1"/>
          <p:nvPr/>
        </p:nvSpPr>
        <p:spPr>
          <a:xfrm>
            <a:off x="0" y="25003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686" name="Google Shape;686;p69"/>
          <p:cNvPicPr preferRelativeResize="0"/>
          <p:nvPr/>
        </p:nvPicPr>
        <p:blipFill rotWithShape="1">
          <a:blip r:embed="rId3">
            <a:alphaModFix/>
          </a:blip>
          <a:srcRect b="0" l="0" r="0" t="0"/>
          <a:stretch/>
        </p:blipFill>
        <p:spPr>
          <a:xfrm>
            <a:off x="0" y="3251200"/>
            <a:ext cx="9144000" cy="29495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92" name="Google Shape;692;p70"/>
          <p:cNvSpPr txBox="1"/>
          <p:nvPr>
            <p:ph type="title"/>
          </p:nvPr>
        </p:nvSpPr>
        <p:spPr>
          <a:xfrm>
            <a:off x="685800" y="228600"/>
            <a:ext cx="7772400" cy="6858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NOTE</a:t>
            </a:r>
            <a:endParaRPr/>
          </a:p>
        </p:txBody>
      </p:sp>
      <p:sp>
        <p:nvSpPr>
          <p:cNvPr id="693" name="Google Shape;693;p70"/>
          <p:cNvSpPr txBox="1"/>
          <p:nvPr/>
        </p:nvSpPr>
        <p:spPr>
          <a:xfrm>
            <a:off x="193675" y="1022350"/>
            <a:ext cx="8529637" cy="5376862"/>
          </a:xfrm>
          <a:prstGeom prst="rect">
            <a:avLst/>
          </a:prstGeom>
          <a:noFill/>
          <a:ln>
            <a:noFill/>
          </a:ln>
        </p:spPr>
        <p:txBody>
          <a:bodyPr anchorCtr="0" anchor="ctr" bIns="46025" lIns="92075" spcFirstLastPara="1" rIns="92075" wrap="square" tIns="46025">
            <a:noAutofit/>
          </a:bodyPr>
          <a:lstStyle/>
          <a:p>
            <a:pPr indent="-457200" lvl="0" marL="4572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private </a:t>
            </a:r>
            <a:r>
              <a:rPr b="0" i="0" lang="en-US" sz="2400" u="none">
                <a:solidFill>
                  <a:schemeClr val="dk1"/>
                </a:solidFill>
                <a:latin typeface="Times New Roman"/>
                <a:ea typeface="Times New Roman"/>
                <a:cs typeface="Times New Roman"/>
                <a:sym typeface="Times New Roman"/>
              </a:rPr>
              <a:t>modifier applies only to the members of a class. The </a:t>
            </a:r>
            <a:r>
              <a:rPr b="1" i="0" lang="en-US" sz="2400" u="none">
                <a:solidFill>
                  <a:schemeClr val="dk1"/>
                </a:solidFill>
                <a:latin typeface="Times New Roman"/>
                <a:ea typeface="Times New Roman"/>
                <a:cs typeface="Times New Roman"/>
                <a:sym typeface="Times New Roman"/>
              </a:rPr>
              <a:t>public </a:t>
            </a:r>
            <a:r>
              <a:rPr b="0" i="0" lang="en-US" sz="2400" u="none">
                <a:solidFill>
                  <a:schemeClr val="dk1"/>
                </a:solidFill>
                <a:latin typeface="Times New Roman"/>
                <a:ea typeface="Times New Roman"/>
                <a:cs typeface="Times New Roman"/>
                <a:sym typeface="Times New Roman"/>
              </a:rPr>
              <a:t>modifier can apply to a class or members of a class. Using the modifiers </a:t>
            </a:r>
            <a:r>
              <a:rPr b="1" i="0" lang="en-US" sz="2400" u="none">
                <a:solidFill>
                  <a:schemeClr val="dk1"/>
                </a:solidFill>
                <a:latin typeface="Times New Roman"/>
                <a:ea typeface="Times New Roman"/>
                <a:cs typeface="Times New Roman"/>
                <a:sym typeface="Times New Roman"/>
              </a:rPr>
              <a:t>public </a:t>
            </a:r>
            <a:r>
              <a:rPr b="0" i="0" lang="en-US" sz="2400" u="none">
                <a:solidFill>
                  <a:schemeClr val="dk1"/>
                </a:solidFill>
                <a:latin typeface="Times New Roman"/>
                <a:ea typeface="Times New Roman"/>
                <a:cs typeface="Times New Roman"/>
                <a:sym typeface="Times New Roman"/>
              </a:rPr>
              <a:t>and </a:t>
            </a:r>
            <a:r>
              <a:rPr b="1" i="0" lang="en-US" sz="2400" u="none">
                <a:solidFill>
                  <a:schemeClr val="dk1"/>
                </a:solidFill>
                <a:latin typeface="Times New Roman"/>
                <a:ea typeface="Times New Roman"/>
                <a:cs typeface="Times New Roman"/>
                <a:sym typeface="Times New Roman"/>
              </a:rPr>
              <a:t>private </a:t>
            </a:r>
            <a:r>
              <a:rPr b="0" i="0" lang="en-US" sz="2400" u="none">
                <a:solidFill>
                  <a:schemeClr val="dk1"/>
                </a:solidFill>
                <a:latin typeface="Times New Roman"/>
                <a:ea typeface="Times New Roman"/>
                <a:cs typeface="Times New Roman"/>
                <a:sym typeface="Times New Roman"/>
              </a:rPr>
              <a:t>on local variables would cause a compile error.</a:t>
            </a:r>
            <a:endParaRPr/>
          </a:p>
          <a:p>
            <a:pPr indent="-304800" lvl="0" marL="45720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In most cases, the constructor should be public. However, if you want to prohibit the user from creating an instance of a class, use a </a:t>
            </a:r>
            <a:r>
              <a:rPr b="0" i="1" lang="en-US" sz="2400" u="none">
                <a:solidFill>
                  <a:schemeClr val="dk1"/>
                </a:solidFill>
                <a:latin typeface="Times New Roman"/>
                <a:ea typeface="Times New Roman"/>
                <a:cs typeface="Times New Roman"/>
                <a:sym typeface="Times New Roman"/>
              </a:rPr>
              <a:t>private constructor</a:t>
            </a:r>
            <a:r>
              <a:rPr b="0" i="0" lang="en-US" sz="2400" u="none">
                <a:solidFill>
                  <a:schemeClr val="dk1"/>
                </a:solidFill>
                <a:latin typeface="Times New Roman"/>
                <a:ea typeface="Times New Roman"/>
                <a:cs typeface="Times New Roman"/>
                <a:sym typeface="Times New Roman"/>
              </a:rPr>
              <a:t>. For example, there is no reason to create an instance from the </a:t>
            </a:r>
            <a:r>
              <a:rPr b="1" i="0" lang="en-US" sz="2400" u="none">
                <a:solidFill>
                  <a:schemeClr val="dk1"/>
                </a:solidFill>
                <a:latin typeface="Times New Roman"/>
                <a:ea typeface="Times New Roman"/>
                <a:cs typeface="Times New Roman"/>
                <a:sym typeface="Times New Roman"/>
              </a:rPr>
              <a:t>Math </a:t>
            </a:r>
            <a:r>
              <a:rPr b="0" i="0" lang="en-US" sz="2400" u="none">
                <a:solidFill>
                  <a:schemeClr val="dk1"/>
                </a:solidFill>
                <a:latin typeface="Times New Roman"/>
                <a:ea typeface="Times New Roman"/>
                <a:cs typeface="Times New Roman"/>
                <a:sym typeface="Times New Roman"/>
              </a:rPr>
              <a:t>class, because all of its data fields and methods are static. To prevent the user from creating objects from the </a:t>
            </a:r>
            <a:r>
              <a:rPr b="1" i="0" lang="en-US" sz="2400" u="none">
                <a:solidFill>
                  <a:schemeClr val="dk1"/>
                </a:solidFill>
                <a:latin typeface="Times New Roman"/>
                <a:ea typeface="Times New Roman"/>
                <a:cs typeface="Times New Roman"/>
                <a:sym typeface="Times New Roman"/>
              </a:rPr>
              <a:t>Math </a:t>
            </a:r>
            <a:r>
              <a:rPr b="0" i="0" lang="en-US" sz="2400" u="none">
                <a:solidFill>
                  <a:schemeClr val="dk1"/>
                </a:solidFill>
                <a:latin typeface="Times New Roman"/>
                <a:ea typeface="Times New Roman"/>
                <a:cs typeface="Times New Roman"/>
                <a:sym typeface="Times New Roman"/>
              </a:rPr>
              <a:t>class, the constructor in </a:t>
            </a:r>
            <a:r>
              <a:rPr b="1" i="0" lang="en-US" sz="2400" u="none">
                <a:solidFill>
                  <a:schemeClr val="dk1"/>
                </a:solidFill>
                <a:latin typeface="Times New Roman"/>
                <a:ea typeface="Times New Roman"/>
                <a:cs typeface="Times New Roman"/>
                <a:sym typeface="Times New Roman"/>
              </a:rPr>
              <a:t>java.lang.Math </a:t>
            </a:r>
            <a:r>
              <a:rPr b="0" i="0" lang="en-US" sz="2400" u="none">
                <a:solidFill>
                  <a:schemeClr val="dk1"/>
                </a:solidFill>
                <a:latin typeface="Times New Roman"/>
                <a:ea typeface="Times New Roman"/>
                <a:cs typeface="Times New Roman"/>
                <a:sym typeface="Times New Roman"/>
              </a:rPr>
              <a:t>is defined as private. </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4" name="Google Shape;694;p70"/>
          <p:cNvSpPr txBox="1"/>
          <p:nvPr/>
        </p:nvSpPr>
        <p:spPr>
          <a:xfrm>
            <a:off x="0" y="25003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00" name="Google Shape;700;p71"/>
          <p:cNvSpPr txBox="1"/>
          <p:nvPr>
            <p:ph type="title"/>
          </p:nvPr>
        </p:nvSpPr>
        <p:spPr>
          <a:xfrm>
            <a:off x="193675" y="247650"/>
            <a:ext cx="8264525"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Data Field Encapsulation</a:t>
            </a:r>
            <a:endParaRPr/>
          </a:p>
        </p:txBody>
      </p:sp>
      <p:sp>
        <p:nvSpPr>
          <p:cNvPr id="701" name="Google Shape;701;p71"/>
          <p:cNvSpPr txBox="1"/>
          <p:nvPr>
            <p:ph idx="1" type="body"/>
          </p:nvPr>
        </p:nvSpPr>
        <p:spPr>
          <a:xfrm>
            <a:off x="601662" y="1508125"/>
            <a:ext cx="7848600" cy="4340225"/>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Clr>
                <a:schemeClr val="dk2"/>
              </a:buClr>
              <a:buSzPts val="1800"/>
              <a:buFont typeface="Arial"/>
              <a:buChar char="●"/>
            </a:pPr>
            <a:r>
              <a:rPr b="0" i="1" lang="en-US" sz="2400" u="none">
                <a:solidFill>
                  <a:schemeClr val="dk1"/>
                </a:solidFill>
                <a:latin typeface="Times New Roman"/>
                <a:ea typeface="Times New Roman"/>
                <a:cs typeface="Times New Roman"/>
                <a:sym typeface="Times New Roman"/>
              </a:rPr>
              <a:t>Making data fields private</a:t>
            </a:r>
            <a:r>
              <a:rPr b="0" i="0" lang="en-US" sz="2400" u="none">
                <a:solidFill>
                  <a:schemeClr val="dk1"/>
                </a:solidFill>
                <a:latin typeface="Times New Roman"/>
                <a:ea typeface="Times New Roman"/>
                <a:cs typeface="Times New Roman"/>
                <a:sym typeface="Times New Roman"/>
              </a:rPr>
              <a:t> protect data.</a:t>
            </a:r>
            <a:endParaRPr/>
          </a:p>
          <a:p>
            <a:pPr indent="-342900" lvl="0" marL="342900" rtl="0" algn="l">
              <a:lnSpc>
                <a:spcPct val="90000"/>
              </a:lnSpc>
              <a:spcBef>
                <a:spcPts val="2400"/>
              </a:spcBef>
              <a:spcAft>
                <a:spcPts val="0"/>
              </a:spcAft>
              <a:buClr>
                <a:schemeClr val="dk2"/>
              </a:buClr>
              <a:buSzPts val="1800"/>
              <a:buFont typeface="Arial"/>
              <a:buChar char="●"/>
            </a:pPr>
            <a:r>
              <a:rPr b="0" i="1" lang="en-US" sz="2400" u="none">
                <a:solidFill>
                  <a:schemeClr val="dk1"/>
                </a:solidFill>
                <a:latin typeface="Times New Roman"/>
                <a:ea typeface="Times New Roman"/>
                <a:cs typeface="Times New Roman"/>
                <a:sym typeface="Times New Roman"/>
              </a:rPr>
              <a:t>Making data fields private </a:t>
            </a:r>
            <a:r>
              <a:rPr b="0" i="0" lang="en-US" sz="2400" u="none">
                <a:solidFill>
                  <a:schemeClr val="dk1"/>
                </a:solidFill>
                <a:latin typeface="Times New Roman"/>
                <a:ea typeface="Times New Roman"/>
                <a:cs typeface="Times New Roman"/>
                <a:sym typeface="Times New Roman"/>
              </a:rPr>
              <a:t>helps to make code easy to maintain since the client programs cannot modify them.</a:t>
            </a:r>
            <a:endParaRPr/>
          </a:p>
          <a:p>
            <a:pPr indent="-342900" lvl="0" marL="342900" rtl="0" algn="l">
              <a:lnSpc>
                <a:spcPct val="90000"/>
              </a:lnSpc>
              <a:spcBef>
                <a:spcPts val="240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To prevent direct modifications of data fields, declaring the data fields private is known as </a:t>
            </a:r>
            <a:r>
              <a:rPr b="0" i="1" lang="en-US" sz="2400" u="none">
                <a:solidFill>
                  <a:schemeClr val="dk1"/>
                </a:solidFill>
                <a:latin typeface="Times New Roman"/>
                <a:ea typeface="Times New Roman"/>
                <a:cs typeface="Times New Roman"/>
                <a:sym typeface="Times New Roman"/>
              </a:rPr>
              <a:t>data field encapsulation</a:t>
            </a:r>
            <a:r>
              <a:rPr b="0" i="0" lang="en-US" sz="2400" u="none">
                <a:solidFill>
                  <a:schemeClr val="dk1"/>
                </a:solidFill>
                <a:latin typeface="Times New Roman"/>
                <a:ea typeface="Times New Roman"/>
                <a:cs typeface="Times New Roman"/>
                <a:sym typeface="Times New Roman"/>
              </a:rPr>
              <a:t>. </a:t>
            </a:r>
            <a:endParaRPr/>
          </a:p>
          <a:p>
            <a:pPr indent="-342900" lvl="0" marL="342900" rtl="0" algn="l">
              <a:lnSpc>
                <a:spcPct val="90000"/>
              </a:lnSpc>
              <a:spcBef>
                <a:spcPts val="2400"/>
              </a:spcBef>
              <a:spcAft>
                <a:spcPts val="0"/>
              </a:spcAft>
              <a:buClr>
                <a:schemeClr val="dk2"/>
              </a:buClr>
              <a:buSzPts val="1800"/>
              <a:buFont typeface="Arial"/>
              <a:buChar char="●"/>
            </a:pPr>
            <a:r>
              <a:rPr b="0" i="0" lang="en-US" sz="2400" u="none">
                <a:solidFill>
                  <a:schemeClr val="dk1"/>
                </a:solidFill>
                <a:latin typeface="Times New Roman"/>
                <a:ea typeface="Times New Roman"/>
                <a:cs typeface="Times New Roman"/>
                <a:sym typeface="Times New Roman"/>
              </a:rPr>
              <a:t> To make a private data field accessible, provide a </a:t>
            </a:r>
            <a:r>
              <a:rPr b="0" i="1" lang="en-US" sz="2400" u="none">
                <a:solidFill>
                  <a:schemeClr val="dk1"/>
                </a:solidFill>
                <a:latin typeface="Times New Roman"/>
                <a:ea typeface="Times New Roman"/>
                <a:cs typeface="Times New Roman"/>
                <a:sym typeface="Times New Roman"/>
              </a:rPr>
              <a:t>getter </a:t>
            </a:r>
            <a:r>
              <a:rPr b="0" i="0" lang="en-US" sz="2400" u="none">
                <a:solidFill>
                  <a:schemeClr val="dk1"/>
                </a:solidFill>
                <a:latin typeface="Times New Roman"/>
                <a:ea typeface="Times New Roman"/>
                <a:cs typeface="Times New Roman"/>
                <a:sym typeface="Times New Roman"/>
              </a:rPr>
              <a:t>method to return its value. To enable a private data field to be updated, provide a </a:t>
            </a:r>
            <a:r>
              <a:rPr b="0" i="1" lang="en-US" sz="2400" u="none">
                <a:solidFill>
                  <a:schemeClr val="dk1"/>
                </a:solidFill>
                <a:latin typeface="Times New Roman"/>
                <a:ea typeface="Times New Roman"/>
                <a:cs typeface="Times New Roman"/>
                <a:sym typeface="Times New Roman"/>
              </a:rPr>
              <a:t>setter </a:t>
            </a:r>
            <a:r>
              <a:rPr b="0" i="0" lang="en-US" sz="2400" u="none">
                <a:solidFill>
                  <a:schemeClr val="dk1"/>
                </a:solidFill>
                <a:latin typeface="Times New Roman"/>
                <a:ea typeface="Times New Roman"/>
                <a:cs typeface="Times New Roman"/>
                <a:sym typeface="Times New Roman"/>
              </a:rPr>
              <a:t>method to set a new value. A getter method is also referred to as an </a:t>
            </a:r>
            <a:r>
              <a:rPr b="0" i="1" lang="en-US" sz="2400" u="none">
                <a:solidFill>
                  <a:schemeClr val="dk1"/>
                </a:solidFill>
                <a:latin typeface="Times New Roman"/>
                <a:ea typeface="Times New Roman"/>
                <a:cs typeface="Times New Roman"/>
                <a:sym typeface="Times New Roman"/>
              </a:rPr>
              <a:t>accessor </a:t>
            </a:r>
            <a:r>
              <a:rPr b="0" i="0" lang="en-US" sz="2400" u="none">
                <a:solidFill>
                  <a:schemeClr val="dk1"/>
                </a:solidFill>
                <a:latin typeface="Times New Roman"/>
                <a:ea typeface="Times New Roman"/>
                <a:cs typeface="Times New Roman"/>
                <a:sym typeface="Times New Roman"/>
              </a:rPr>
              <a:t>and a setter to a </a:t>
            </a:r>
            <a:r>
              <a:rPr b="0" i="1" lang="en-US" sz="2400" u="none">
                <a:solidFill>
                  <a:schemeClr val="dk1"/>
                </a:solidFill>
                <a:latin typeface="Times New Roman"/>
                <a:ea typeface="Times New Roman"/>
                <a:cs typeface="Times New Roman"/>
                <a:sym typeface="Times New Roman"/>
              </a:rPr>
              <a:t>mutator</a:t>
            </a:r>
            <a:r>
              <a:rPr b="0" i="0" lang="en-US" sz="2400" u="none">
                <a:solidFill>
                  <a:schemeClr val="dk1"/>
                </a:solidFill>
                <a:latin typeface="Times New Roman"/>
                <a:ea typeface="Times New Roman"/>
                <a:cs typeface="Times New Roman"/>
                <a:sym typeface="Times New Roman"/>
              </a:rPr>
              <a:t>. </a:t>
            </a:r>
            <a:endParaRPr/>
          </a:p>
          <a:p>
            <a:pPr indent="-228600" lvl="0" marL="342900" rtl="0" algn="l">
              <a:spcBef>
                <a:spcPts val="480"/>
              </a:spcBef>
              <a:spcAft>
                <a:spcPts val="0"/>
              </a:spcAft>
              <a:buSzPts val="1800"/>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7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07" name="Google Shape;707;p72"/>
          <p:cNvSpPr txBox="1"/>
          <p:nvPr>
            <p:ph type="title"/>
          </p:nvPr>
        </p:nvSpPr>
        <p:spPr>
          <a:xfrm>
            <a:off x="615950" y="165100"/>
            <a:ext cx="7950200" cy="119062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 of</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Data Field Encapsulation</a:t>
            </a:r>
            <a:endParaRPr/>
          </a:p>
        </p:txBody>
      </p:sp>
      <p:sp>
        <p:nvSpPr>
          <p:cNvPr id="708" name="Google Shape;708;p72"/>
          <p:cNvSpPr txBox="1"/>
          <p:nvPr/>
        </p:nvSpPr>
        <p:spPr>
          <a:xfrm>
            <a:off x="0" y="25638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09" name="Google Shape;709;p72"/>
          <p:cNvPicPr preferRelativeResize="0"/>
          <p:nvPr/>
        </p:nvPicPr>
        <p:blipFill rotWithShape="1">
          <a:blip r:embed="rId3">
            <a:alphaModFix/>
          </a:blip>
          <a:srcRect b="0" l="0" r="0" t="0"/>
          <a:stretch/>
        </p:blipFill>
        <p:spPr>
          <a:xfrm>
            <a:off x="0" y="2095500"/>
            <a:ext cx="9144000" cy="2646362"/>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15" name="Google Shape;715;p73"/>
          <p:cNvSpPr txBox="1"/>
          <p:nvPr>
            <p:ph type="title"/>
          </p:nvPr>
        </p:nvSpPr>
        <p:spPr>
          <a:xfrm>
            <a:off x="615950" y="165100"/>
            <a:ext cx="7950200" cy="119062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 of</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Data Field Encapsulation</a:t>
            </a:r>
            <a:endParaRPr/>
          </a:p>
        </p:txBody>
      </p:sp>
      <p:sp>
        <p:nvSpPr>
          <p:cNvPr id="716" name="Google Shape;716;p73"/>
          <p:cNvSpPr txBox="1"/>
          <p:nvPr/>
        </p:nvSpPr>
        <p:spPr>
          <a:xfrm>
            <a:off x="0" y="25638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17" name="Google Shape;717;p73"/>
          <p:cNvPicPr preferRelativeResize="0"/>
          <p:nvPr/>
        </p:nvPicPr>
        <p:blipFill rotWithShape="1">
          <a:blip r:embed="rId3">
            <a:alphaModFix/>
          </a:blip>
          <a:srcRect b="0" l="0" r="0" t="0"/>
          <a:stretch/>
        </p:blipFill>
        <p:spPr>
          <a:xfrm>
            <a:off x="1000125" y="1700212"/>
            <a:ext cx="6921500" cy="37465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7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23" name="Google Shape;723;p74"/>
          <p:cNvSpPr txBox="1"/>
          <p:nvPr>
            <p:ph type="title"/>
          </p:nvPr>
        </p:nvSpPr>
        <p:spPr>
          <a:xfrm>
            <a:off x="615950" y="165100"/>
            <a:ext cx="7950200" cy="119062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Example of Data Field Encapsulation</a:t>
            </a:r>
            <a:endParaRPr/>
          </a:p>
        </p:txBody>
      </p:sp>
      <p:sp>
        <p:nvSpPr>
          <p:cNvPr id="724" name="Google Shape;724;p74"/>
          <p:cNvSpPr txBox="1"/>
          <p:nvPr/>
        </p:nvSpPr>
        <p:spPr>
          <a:xfrm>
            <a:off x="0" y="25638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25" name="Google Shape;725;p74"/>
          <p:cNvPicPr preferRelativeResize="0"/>
          <p:nvPr/>
        </p:nvPicPr>
        <p:blipFill rotWithShape="1">
          <a:blip r:embed="rId3">
            <a:alphaModFix/>
          </a:blip>
          <a:srcRect b="0" l="0" r="0" t="0"/>
          <a:stretch/>
        </p:blipFill>
        <p:spPr>
          <a:xfrm>
            <a:off x="1517650" y="1154112"/>
            <a:ext cx="6108700" cy="52451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7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31" name="Google Shape;731;p75"/>
          <p:cNvSpPr txBox="1"/>
          <p:nvPr>
            <p:ph type="title"/>
          </p:nvPr>
        </p:nvSpPr>
        <p:spPr>
          <a:xfrm>
            <a:off x="615950" y="165100"/>
            <a:ext cx="7950200" cy="119062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Example of Data Field Encapsulation</a:t>
            </a:r>
            <a:endParaRPr/>
          </a:p>
        </p:txBody>
      </p:sp>
      <p:sp>
        <p:nvSpPr>
          <p:cNvPr id="732" name="Google Shape;732;p75"/>
          <p:cNvSpPr txBox="1"/>
          <p:nvPr/>
        </p:nvSpPr>
        <p:spPr>
          <a:xfrm>
            <a:off x="0" y="2563812"/>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33" name="Google Shape;733;p75"/>
          <p:cNvPicPr preferRelativeResize="0"/>
          <p:nvPr/>
        </p:nvPicPr>
        <p:blipFill rotWithShape="1">
          <a:blip r:embed="rId3">
            <a:alphaModFix/>
          </a:blip>
          <a:srcRect b="0" l="0" r="0" t="0"/>
          <a:stretch/>
        </p:blipFill>
        <p:spPr>
          <a:xfrm>
            <a:off x="749300" y="1282700"/>
            <a:ext cx="7645400" cy="42926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7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39" name="Google Shape;739;p76"/>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Passing Objects to Methods</a:t>
            </a:r>
            <a:endParaRPr/>
          </a:p>
        </p:txBody>
      </p:sp>
      <p:sp>
        <p:nvSpPr>
          <p:cNvPr id="740" name="Google Shape;740;p76"/>
          <p:cNvSpPr txBox="1"/>
          <p:nvPr>
            <p:ph idx="1" type="body"/>
          </p:nvPr>
        </p:nvSpPr>
        <p:spPr>
          <a:xfrm>
            <a:off x="685800" y="1657350"/>
            <a:ext cx="7848600" cy="245745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2400"/>
              <a:buFont typeface="Noto Sans Symbols"/>
              <a:buChar char="❑"/>
            </a:pPr>
            <a:r>
              <a:rPr b="0" i="0" lang="en-US" sz="3200" u="none">
                <a:solidFill>
                  <a:schemeClr val="dk1"/>
                </a:solidFill>
                <a:latin typeface="Times New Roman"/>
                <a:ea typeface="Times New Roman"/>
                <a:cs typeface="Times New Roman"/>
                <a:sym typeface="Times New Roman"/>
              </a:rPr>
              <a:t>Passing by value for primitive type value (the value is passed to the parameter)</a:t>
            </a:r>
            <a:endParaRPr/>
          </a:p>
          <a:p>
            <a:pPr indent="-342900" lvl="0" marL="342900" rtl="0" algn="l">
              <a:lnSpc>
                <a:spcPct val="100000"/>
              </a:lnSpc>
              <a:spcBef>
                <a:spcPts val="1600"/>
              </a:spcBef>
              <a:spcAft>
                <a:spcPts val="0"/>
              </a:spcAft>
              <a:buClr>
                <a:schemeClr val="dk2"/>
              </a:buClr>
              <a:buSzPts val="2400"/>
              <a:buFont typeface="Noto Sans Symbols"/>
              <a:buChar char="❑"/>
            </a:pPr>
            <a:r>
              <a:rPr b="0" i="0" lang="en-US" sz="3200" u="none">
                <a:solidFill>
                  <a:schemeClr val="dk1"/>
                </a:solidFill>
                <a:latin typeface="Times New Roman"/>
                <a:ea typeface="Times New Roman"/>
                <a:cs typeface="Times New Roman"/>
                <a:sym typeface="Times New Roman"/>
              </a:rPr>
              <a:t>Passing by value for reference type value (the value is the reference to the object)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46" name="Google Shape;746;p77"/>
          <p:cNvSpPr txBox="1"/>
          <p:nvPr>
            <p:ph type="title"/>
          </p:nvPr>
        </p:nvSpPr>
        <p:spPr>
          <a:xfrm>
            <a:off x="685800" y="0"/>
            <a:ext cx="7772400" cy="142875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Passing Objects to Methods</a:t>
            </a:r>
            <a:endParaRPr/>
          </a:p>
        </p:txBody>
      </p:sp>
      <p:pic>
        <p:nvPicPr>
          <p:cNvPr id="747" name="Google Shape;747;p77"/>
          <p:cNvPicPr preferRelativeResize="0"/>
          <p:nvPr/>
        </p:nvPicPr>
        <p:blipFill rotWithShape="1">
          <a:blip r:embed="rId3">
            <a:alphaModFix/>
          </a:blip>
          <a:srcRect b="0" l="0" r="0" t="0"/>
          <a:stretch/>
        </p:blipFill>
        <p:spPr>
          <a:xfrm>
            <a:off x="423862" y="1739900"/>
            <a:ext cx="8364537" cy="3541712"/>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53" name="Google Shape;753;p78"/>
          <p:cNvSpPr txBox="1"/>
          <p:nvPr>
            <p:ph type="title"/>
          </p:nvPr>
        </p:nvSpPr>
        <p:spPr>
          <a:xfrm>
            <a:off x="0" y="111125"/>
            <a:ext cx="91440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Passing a primitive type value and a reference value </a:t>
            </a:r>
            <a:endParaRPr/>
          </a:p>
        </p:txBody>
      </p:sp>
      <p:pic>
        <p:nvPicPr>
          <p:cNvPr id="754" name="Google Shape;754;p78"/>
          <p:cNvPicPr preferRelativeResize="0"/>
          <p:nvPr/>
        </p:nvPicPr>
        <p:blipFill rotWithShape="1">
          <a:blip r:embed="rId3">
            <a:alphaModFix/>
          </a:blip>
          <a:srcRect b="0" l="0" r="0" t="0"/>
          <a:stretch/>
        </p:blipFill>
        <p:spPr>
          <a:xfrm>
            <a:off x="1160462" y="812800"/>
            <a:ext cx="7297737" cy="59944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60" name="Google Shape;760;p79"/>
          <p:cNvSpPr txBox="1"/>
          <p:nvPr>
            <p:ph type="title"/>
          </p:nvPr>
        </p:nvSpPr>
        <p:spPr>
          <a:xfrm>
            <a:off x="0" y="111125"/>
            <a:ext cx="9144000" cy="701675"/>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3200"/>
              <a:buFont typeface="Times New Roman"/>
              <a:buNone/>
            </a:pPr>
            <a:r>
              <a:rPr b="0" i="0" lang="en-US" sz="3200" u="none">
                <a:solidFill>
                  <a:schemeClr val="dk2"/>
                </a:solidFill>
                <a:latin typeface="Times New Roman"/>
                <a:ea typeface="Times New Roman"/>
                <a:cs typeface="Times New Roman"/>
                <a:sym typeface="Times New Roman"/>
              </a:rPr>
              <a:t>Passing a primitive type value and a reference value </a:t>
            </a:r>
            <a:endParaRPr/>
          </a:p>
        </p:txBody>
      </p:sp>
      <p:pic>
        <p:nvPicPr>
          <p:cNvPr id="761" name="Google Shape;761;p79"/>
          <p:cNvPicPr preferRelativeResize="0"/>
          <p:nvPr/>
        </p:nvPicPr>
        <p:blipFill rotWithShape="1">
          <a:blip r:embed="rId3">
            <a:alphaModFix/>
          </a:blip>
          <a:srcRect b="0" l="0" r="0" t="0"/>
          <a:stretch/>
        </p:blipFill>
        <p:spPr>
          <a:xfrm>
            <a:off x="192087" y="817562"/>
            <a:ext cx="8220075" cy="2686050"/>
          </a:xfrm>
          <a:prstGeom prst="rect">
            <a:avLst/>
          </a:prstGeom>
          <a:noFill/>
          <a:ln>
            <a:noFill/>
          </a:ln>
        </p:spPr>
      </p:pic>
      <p:sp>
        <p:nvSpPr>
          <p:cNvPr id="762" name="Google Shape;762;p79"/>
          <p:cNvSpPr txBox="1"/>
          <p:nvPr/>
        </p:nvSpPr>
        <p:spPr>
          <a:xfrm>
            <a:off x="117475" y="3435350"/>
            <a:ext cx="8564562" cy="3046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When passing an argument of a reference type, the reference of the object is passed. In this case, </a:t>
            </a:r>
            <a:r>
              <a:rPr b="1" i="0" lang="en-US" sz="2000" u="none">
                <a:solidFill>
                  <a:srgbClr val="00ADED"/>
                </a:solidFill>
                <a:latin typeface="Lucida Sans"/>
                <a:ea typeface="Lucida Sans"/>
                <a:cs typeface="Lucida Sans"/>
                <a:sym typeface="Lucida Sans"/>
              </a:rPr>
              <a:t>c </a:t>
            </a:r>
            <a:r>
              <a:rPr b="0" i="0" lang="en-US" sz="2400" u="none">
                <a:solidFill>
                  <a:schemeClr val="dk1"/>
                </a:solidFill>
                <a:latin typeface="Times"/>
                <a:ea typeface="Times"/>
                <a:cs typeface="Times"/>
                <a:sym typeface="Times"/>
              </a:rPr>
              <a:t>contains a reference for the object that is also referenced via </a:t>
            </a:r>
            <a:r>
              <a:rPr b="1" i="0" lang="en-US" sz="2000" u="none">
                <a:solidFill>
                  <a:srgbClr val="00ADED"/>
                </a:solidFill>
                <a:latin typeface="Lucida Sans"/>
                <a:ea typeface="Lucida Sans"/>
                <a:cs typeface="Lucida Sans"/>
                <a:sym typeface="Lucida Sans"/>
              </a:rPr>
              <a:t>myCircle</a:t>
            </a:r>
            <a:r>
              <a:rPr b="0" i="0" lang="en-US" sz="2400" u="none">
                <a:solidFill>
                  <a:schemeClr val="dk1"/>
                </a:solidFill>
                <a:latin typeface="Times"/>
                <a:ea typeface="Times"/>
                <a:cs typeface="Times"/>
                <a:sym typeface="Times"/>
              </a:rPr>
              <a:t>. Therefore, changing the properties of the object through </a:t>
            </a:r>
            <a:r>
              <a:rPr b="1" i="0" lang="en-US" sz="2000" u="none">
                <a:solidFill>
                  <a:srgbClr val="00ADED"/>
                </a:solidFill>
                <a:latin typeface="Lucida Sans"/>
                <a:ea typeface="Lucida Sans"/>
                <a:cs typeface="Lucida Sans"/>
                <a:sym typeface="Lucida Sans"/>
              </a:rPr>
              <a:t>c </a:t>
            </a:r>
            <a:r>
              <a:rPr b="0" i="0" lang="en-US" sz="2400" u="none">
                <a:solidFill>
                  <a:schemeClr val="dk1"/>
                </a:solidFill>
                <a:latin typeface="Times"/>
                <a:ea typeface="Times"/>
                <a:cs typeface="Times"/>
                <a:sym typeface="Times"/>
              </a:rPr>
              <a:t>inside the </a:t>
            </a:r>
            <a:r>
              <a:rPr b="1" i="0" lang="en-US" sz="2000" u="none">
                <a:solidFill>
                  <a:srgbClr val="00ADED"/>
                </a:solidFill>
                <a:latin typeface="Lucida Sans"/>
                <a:ea typeface="Lucida Sans"/>
                <a:cs typeface="Lucida Sans"/>
                <a:sym typeface="Lucida Sans"/>
              </a:rPr>
              <a:t>printAreas </a:t>
            </a:r>
            <a:r>
              <a:rPr b="0" i="0" lang="en-US" sz="2400" u="none">
                <a:solidFill>
                  <a:schemeClr val="dk1"/>
                </a:solidFill>
                <a:latin typeface="Times"/>
                <a:ea typeface="Times"/>
                <a:cs typeface="Times"/>
                <a:sym typeface="Times"/>
              </a:rPr>
              <a:t>method has the same effect as doing so outside the method through the variable </a:t>
            </a:r>
            <a:r>
              <a:rPr b="1" i="0" lang="en-US" sz="2000" u="none">
                <a:solidFill>
                  <a:srgbClr val="00ADED"/>
                </a:solidFill>
                <a:latin typeface="Lucida Sans"/>
                <a:ea typeface="Lucida Sans"/>
                <a:cs typeface="Lucida Sans"/>
                <a:sym typeface="Lucida Sans"/>
              </a:rPr>
              <a:t>myCircle</a:t>
            </a:r>
            <a:r>
              <a:rPr b="0" i="0" lang="en-US" sz="2400" u="none">
                <a:solidFill>
                  <a:schemeClr val="dk1"/>
                </a:solidFill>
                <a:latin typeface="Times"/>
                <a:ea typeface="Times"/>
                <a:cs typeface="Times"/>
                <a:sym typeface="Times"/>
              </a:rPr>
              <a:t>. Pass-by-value on references can be best described semantically as </a:t>
            </a:r>
            <a:r>
              <a:rPr b="0" i="1" lang="en-US" sz="2400" u="none">
                <a:solidFill>
                  <a:schemeClr val="dk1"/>
                </a:solidFill>
                <a:latin typeface="Times"/>
                <a:ea typeface="Times"/>
                <a:cs typeface="Times"/>
                <a:sym typeface="Times"/>
              </a:rPr>
              <a:t>pass-by-sharing</a:t>
            </a:r>
            <a:r>
              <a:rPr b="0" i="0" lang="en-US" sz="2400" u="none">
                <a:solidFill>
                  <a:schemeClr val="dk1"/>
                </a:solidFill>
                <a:latin typeface="Times"/>
                <a:ea typeface="Times"/>
                <a:cs typeface="Times"/>
                <a:sym typeface="Times"/>
              </a:rPr>
              <a:t>; that is, the object referenced in the method is the same as the object being passed.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8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68" name="Google Shape;768;p80"/>
          <p:cNvSpPr txBox="1"/>
          <p:nvPr>
            <p:ph type="title"/>
          </p:nvPr>
        </p:nvSpPr>
        <p:spPr>
          <a:xfrm>
            <a:off x="0" y="152400"/>
            <a:ext cx="91440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Passing Objects to Methods</a:t>
            </a:r>
            <a:endParaRPr/>
          </a:p>
        </p:txBody>
      </p:sp>
      <p:sp>
        <p:nvSpPr>
          <p:cNvPr id="769" name="Google Shape;769;p80"/>
          <p:cNvSpPr txBox="1"/>
          <p:nvPr/>
        </p:nvSpPr>
        <p:spPr>
          <a:xfrm>
            <a:off x="2598737" y="21145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0" name="Google Shape;770;p80"/>
          <p:cNvSpPr txBox="1"/>
          <p:nvPr/>
        </p:nvSpPr>
        <p:spPr>
          <a:xfrm>
            <a:off x="2598737" y="21145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1" name="Google Shape;771;p80"/>
          <p:cNvSpPr txBox="1"/>
          <p:nvPr/>
        </p:nvSpPr>
        <p:spPr>
          <a:xfrm>
            <a:off x="2598737" y="21145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2" name="Google Shape;772;p80"/>
          <p:cNvSpPr txBox="1"/>
          <p:nvPr/>
        </p:nvSpPr>
        <p:spPr>
          <a:xfrm>
            <a:off x="2571750" y="271303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773" name="Google Shape;773;p80"/>
          <p:cNvPicPr preferRelativeResize="0"/>
          <p:nvPr/>
        </p:nvPicPr>
        <p:blipFill rotWithShape="1">
          <a:blip r:embed="rId3">
            <a:alphaModFix/>
          </a:blip>
          <a:srcRect b="0" l="0" r="0" t="0"/>
          <a:stretch/>
        </p:blipFill>
        <p:spPr>
          <a:xfrm>
            <a:off x="244475" y="1901825"/>
            <a:ext cx="8655050" cy="30543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79" name="Google Shape;779;p81"/>
          <p:cNvSpPr txBox="1"/>
          <p:nvPr>
            <p:ph type="title"/>
          </p:nvPr>
        </p:nvSpPr>
        <p:spPr>
          <a:xfrm>
            <a:off x="685800" y="381000"/>
            <a:ext cx="77724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Array of Objects</a:t>
            </a:r>
            <a:endParaRPr/>
          </a:p>
        </p:txBody>
      </p:sp>
      <p:sp>
        <p:nvSpPr>
          <p:cNvPr id="780" name="Google Shape;780;p81"/>
          <p:cNvSpPr txBox="1"/>
          <p:nvPr>
            <p:ph idx="1" type="body"/>
          </p:nvPr>
        </p:nvSpPr>
        <p:spPr>
          <a:xfrm>
            <a:off x="228600" y="1447800"/>
            <a:ext cx="8686800" cy="5105400"/>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SzPts val="2100"/>
              <a:buNone/>
            </a:pPr>
            <a:r>
              <a:rPr b="0" i="0" lang="en-US" sz="2800" u="none">
                <a:solidFill>
                  <a:schemeClr val="dk1"/>
                </a:solidFill>
                <a:latin typeface="Courier New"/>
                <a:ea typeface="Courier New"/>
                <a:cs typeface="Courier New"/>
                <a:sym typeface="Courier New"/>
              </a:rPr>
              <a:t> Circle[] circleArray = new Circle[10];</a:t>
            </a:r>
            <a:r>
              <a:rPr b="0" i="0" lang="en-US" sz="2800" u="none">
                <a:solidFill>
                  <a:schemeClr val="dk1"/>
                </a:solidFill>
                <a:latin typeface="Times New Roman"/>
                <a:ea typeface="Times New Roman"/>
                <a:cs typeface="Times New Roman"/>
                <a:sym typeface="Times New Roman"/>
              </a:rPr>
              <a:t> </a:t>
            </a:r>
            <a:endParaRPr/>
          </a:p>
          <a:p>
            <a:pPr indent="-342900" lvl="0" marL="342900" rtl="0" algn="l">
              <a:lnSpc>
                <a:spcPct val="90000"/>
              </a:lnSpc>
              <a:spcBef>
                <a:spcPts val="560"/>
              </a:spcBef>
              <a:spcAft>
                <a:spcPts val="0"/>
              </a:spcAft>
              <a:buSzPts val="2100"/>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760"/>
              </a:spcBef>
              <a:spcAft>
                <a:spcPts val="0"/>
              </a:spcAft>
              <a:buSzPts val="2850"/>
              <a:buNone/>
            </a:pPr>
            <a:r>
              <a:rPr b="0" i="0" lang="en-US" sz="3800" u="none">
                <a:solidFill>
                  <a:schemeClr val="dk1"/>
                </a:solidFill>
                <a:latin typeface="Courier"/>
                <a:ea typeface="Courier"/>
                <a:cs typeface="Courier"/>
                <a:sym typeface="Courier"/>
              </a:rPr>
              <a:t> </a:t>
            </a:r>
            <a:r>
              <a:rPr b="0" i="0" lang="en-US" sz="2800" u="none">
                <a:solidFill>
                  <a:schemeClr val="dk1"/>
                </a:solidFill>
                <a:latin typeface="Times New Roman"/>
                <a:ea typeface="Times New Roman"/>
                <a:cs typeface="Times New Roman"/>
                <a:sym typeface="Times New Roman"/>
              </a:rPr>
              <a:t>An array of objects is actually an </a:t>
            </a:r>
            <a:r>
              <a:rPr b="0" i="1" lang="en-US" sz="2800" u="none">
                <a:solidFill>
                  <a:schemeClr val="dk1"/>
                </a:solidFill>
                <a:latin typeface="Times New Roman"/>
                <a:ea typeface="Times New Roman"/>
                <a:cs typeface="Times New Roman"/>
                <a:sym typeface="Times New Roman"/>
              </a:rPr>
              <a:t>array of reference variables</a:t>
            </a:r>
            <a:r>
              <a:rPr b="0" i="0" lang="en-US" sz="2800" u="none">
                <a:solidFill>
                  <a:schemeClr val="dk1"/>
                </a:solidFill>
                <a:latin typeface="Times New Roman"/>
                <a:ea typeface="Times New Roman"/>
                <a:cs typeface="Times New Roman"/>
                <a:sym typeface="Times New Roman"/>
              </a:rPr>
              <a:t>. So invoking </a:t>
            </a:r>
            <a:r>
              <a:rPr b="0" i="0" lang="en-US" sz="2800" u="none">
                <a:solidFill>
                  <a:srgbClr val="0070C0"/>
                </a:solidFill>
                <a:latin typeface="Times New Roman"/>
                <a:ea typeface="Times New Roman"/>
                <a:cs typeface="Times New Roman"/>
                <a:sym typeface="Times New Roman"/>
              </a:rPr>
              <a:t>circleArray[1].getArea() </a:t>
            </a:r>
            <a:r>
              <a:rPr b="0" i="0" lang="en-US" sz="2800" u="none">
                <a:solidFill>
                  <a:schemeClr val="dk1"/>
                </a:solidFill>
                <a:latin typeface="Times New Roman"/>
                <a:ea typeface="Times New Roman"/>
                <a:cs typeface="Times New Roman"/>
                <a:sym typeface="Times New Roman"/>
              </a:rPr>
              <a:t>involves two levels of referencing as shown in the next figure. circleArray references to the entire array. circleArray[1] references to a Circle object</a:t>
            </a:r>
            <a:r>
              <a:rPr b="0" i="0" lang="en-US" sz="3800" u="none">
                <a:solidFill>
                  <a:schemeClr val="dk1"/>
                </a:solidFill>
                <a:latin typeface="Times New Roman"/>
                <a:ea typeface="Times New Roman"/>
                <a:cs typeface="Times New Roman"/>
                <a:sym typeface="Times New Roman"/>
              </a:rPr>
              <a:t>.</a:t>
            </a:r>
            <a:r>
              <a:rPr b="0" i="0" lang="en-US" sz="3800" u="none">
                <a:solidFill>
                  <a:schemeClr val="dk1"/>
                </a:solidFill>
                <a:latin typeface="Courier"/>
                <a:ea typeface="Courier"/>
                <a:cs typeface="Courier"/>
                <a:sym typeface="Courier"/>
              </a:rPr>
              <a:t>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8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86" name="Google Shape;786;p82"/>
          <p:cNvSpPr txBox="1"/>
          <p:nvPr>
            <p:ph type="title"/>
          </p:nvPr>
        </p:nvSpPr>
        <p:spPr>
          <a:xfrm>
            <a:off x="685800" y="381000"/>
            <a:ext cx="77724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Array of Objects</a:t>
            </a:r>
            <a:endParaRPr/>
          </a:p>
        </p:txBody>
      </p:sp>
      <p:sp>
        <p:nvSpPr>
          <p:cNvPr id="787" name="Google Shape;787;p82"/>
          <p:cNvSpPr txBox="1"/>
          <p:nvPr/>
        </p:nvSpPr>
        <p:spPr>
          <a:xfrm>
            <a:off x="2598737" y="28844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8" name="Google Shape;788;p82"/>
          <p:cNvSpPr txBox="1"/>
          <p:nvPr>
            <p:ph idx="1" type="body"/>
          </p:nvPr>
        </p:nvSpPr>
        <p:spPr>
          <a:xfrm>
            <a:off x="228600" y="1447800"/>
            <a:ext cx="8686800" cy="5105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SzPts val="1800"/>
              <a:buNone/>
            </a:pPr>
            <a:r>
              <a:rPr b="0" i="0" lang="en-US" sz="2400" u="none">
                <a:solidFill>
                  <a:schemeClr val="dk1"/>
                </a:solidFill>
                <a:latin typeface="Courier New"/>
                <a:ea typeface="Courier New"/>
                <a:cs typeface="Courier New"/>
                <a:sym typeface="Courier New"/>
              </a:rPr>
              <a:t>   Circle[] circleArray = new Circle[10]; </a:t>
            </a:r>
            <a:endParaRPr/>
          </a:p>
          <a:p>
            <a:pPr indent="-228600" lvl="0" marL="342900" rtl="0" algn="l">
              <a:spcBef>
                <a:spcPts val="480"/>
              </a:spcBef>
              <a:spcAft>
                <a:spcPts val="0"/>
              </a:spcAft>
              <a:buSzPts val="1800"/>
              <a:buNone/>
            </a:pPr>
            <a:r>
              <a:t/>
            </a:r>
            <a:endParaRPr b="0" i="0" sz="2400" u="none">
              <a:solidFill>
                <a:schemeClr val="dk1"/>
              </a:solidFill>
              <a:latin typeface="Courier New"/>
              <a:ea typeface="Courier New"/>
              <a:cs typeface="Courier New"/>
              <a:sym typeface="Courier New"/>
            </a:endParaRPr>
          </a:p>
        </p:txBody>
      </p:sp>
      <p:pic>
        <p:nvPicPr>
          <p:cNvPr id="789" name="Google Shape;789;p82"/>
          <p:cNvPicPr preferRelativeResize="0"/>
          <p:nvPr/>
        </p:nvPicPr>
        <p:blipFill rotWithShape="1">
          <a:blip r:embed="rId3">
            <a:alphaModFix/>
          </a:blip>
          <a:srcRect b="0" l="0" r="0" t="0"/>
          <a:stretch/>
        </p:blipFill>
        <p:spPr>
          <a:xfrm>
            <a:off x="85725" y="2320925"/>
            <a:ext cx="8972550" cy="22161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8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795" name="Google Shape;795;p83"/>
          <p:cNvSpPr txBox="1"/>
          <p:nvPr>
            <p:ph type="title"/>
          </p:nvPr>
        </p:nvSpPr>
        <p:spPr>
          <a:xfrm>
            <a:off x="685800" y="381000"/>
            <a:ext cx="77724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Array of Objects</a:t>
            </a:r>
            <a:endParaRPr/>
          </a:p>
        </p:txBody>
      </p:sp>
      <p:sp>
        <p:nvSpPr>
          <p:cNvPr id="796" name="Google Shape;796;p83"/>
          <p:cNvSpPr txBox="1"/>
          <p:nvPr>
            <p:ph idx="1" type="body"/>
          </p:nvPr>
        </p:nvSpPr>
        <p:spPr>
          <a:xfrm>
            <a:off x="228600" y="1447800"/>
            <a:ext cx="8686800" cy="5105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To initialize </a:t>
            </a:r>
            <a:r>
              <a:rPr b="1" i="0" lang="en-US" sz="2800" u="none">
                <a:solidFill>
                  <a:schemeClr val="dk1"/>
                </a:solidFill>
                <a:latin typeface="Times New Roman"/>
                <a:ea typeface="Times New Roman"/>
                <a:cs typeface="Times New Roman"/>
                <a:sym typeface="Times New Roman"/>
              </a:rPr>
              <a:t>circleArray</a:t>
            </a:r>
            <a:r>
              <a:rPr b="0" i="0" lang="en-US" sz="2800" u="none">
                <a:solidFill>
                  <a:schemeClr val="dk1"/>
                </a:solidFill>
                <a:latin typeface="Times New Roman"/>
                <a:ea typeface="Times New Roman"/>
                <a:cs typeface="Times New Roman"/>
                <a:sym typeface="Times New Roman"/>
              </a:rPr>
              <a:t>, you can use a </a:t>
            </a:r>
            <a:r>
              <a:rPr b="1" i="0" lang="en-US" sz="2800" u="none">
                <a:solidFill>
                  <a:schemeClr val="dk1"/>
                </a:solidFill>
                <a:latin typeface="Times New Roman"/>
                <a:ea typeface="Times New Roman"/>
                <a:cs typeface="Times New Roman"/>
                <a:sym typeface="Times New Roman"/>
              </a:rPr>
              <a:t>for </a:t>
            </a:r>
            <a:r>
              <a:rPr b="0" i="0" lang="en-US" sz="2800" u="none">
                <a:solidFill>
                  <a:schemeClr val="dk1"/>
                </a:solidFill>
                <a:latin typeface="Times New Roman"/>
                <a:ea typeface="Times New Roman"/>
                <a:cs typeface="Times New Roman"/>
                <a:sym typeface="Times New Roman"/>
              </a:rPr>
              <a:t>loop</a:t>
            </a:r>
            <a:endParaRPr/>
          </a:p>
          <a:p>
            <a:pPr indent="-342900" lvl="0" marL="342900" rtl="0" algn="l">
              <a:lnSpc>
                <a:spcPct val="100000"/>
              </a:lnSpc>
              <a:spcBef>
                <a:spcPts val="560"/>
              </a:spcBef>
              <a:spcAft>
                <a:spcPts val="0"/>
              </a:spcAft>
              <a:buSzPts val="2100"/>
              <a:buNone/>
            </a:pPr>
            <a:r>
              <a:rPr b="1" i="0" lang="en-US" sz="2800" u="none">
                <a:solidFill>
                  <a:schemeClr val="dk1"/>
                </a:solidFill>
                <a:latin typeface="Times New Roman"/>
                <a:ea typeface="Times New Roman"/>
                <a:cs typeface="Times New Roman"/>
                <a:sym typeface="Times New Roman"/>
              </a:rPr>
              <a:t>	for </a:t>
            </a:r>
            <a:r>
              <a:rPr b="0" i="0" lang="en-US" sz="2800" u="none">
                <a:solidFill>
                  <a:schemeClr val="dk1"/>
                </a:solidFill>
                <a:latin typeface="Times New Roman"/>
                <a:ea typeface="Times New Roman"/>
                <a:cs typeface="Times New Roman"/>
                <a:sym typeface="Times New Roman"/>
              </a:rPr>
              <a:t>(</a:t>
            </a:r>
            <a:r>
              <a:rPr b="1" i="0" lang="en-US" sz="2800" u="none">
                <a:solidFill>
                  <a:schemeClr val="dk1"/>
                </a:solidFill>
                <a:latin typeface="Times New Roman"/>
                <a:ea typeface="Times New Roman"/>
                <a:cs typeface="Times New Roman"/>
                <a:sym typeface="Times New Roman"/>
              </a:rPr>
              <a:t>int </a:t>
            </a:r>
            <a:r>
              <a:rPr b="0" i="0" lang="en-US" sz="2800" u="none">
                <a:solidFill>
                  <a:schemeClr val="dk1"/>
                </a:solidFill>
                <a:latin typeface="Times New Roman"/>
                <a:ea typeface="Times New Roman"/>
                <a:cs typeface="Times New Roman"/>
                <a:sym typeface="Times New Roman"/>
              </a:rPr>
              <a:t>i = </a:t>
            </a:r>
            <a:r>
              <a:rPr b="1" i="0" lang="en-US" sz="2800" u="none">
                <a:solidFill>
                  <a:schemeClr val="dk1"/>
                </a:solidFill>
                <a:latin typeface="Times New Roman"/>
                <a:ea typeface="Times New Roman"/>
                <a:cs typeface="Times New Roman"/>
                <a:sym typeface="Times New Roman"/>
              </a:rPr>
              <a:t>0</a:t>
            </a:r>
            <a:r>
              <a:rPr b="0" i="0" lang="en-US" sz="2800" u="none">
                <a:solidFill>
                  <a:schemeClr val="dk1"/>
                </a:solidFill>
                <a:latin typeface="Times New Roman"/>
                <a:ea typeface="Times New Roman"/>
                <a:cs typeface="Times New Roman"/>
                <a:sym typeface="Times New Roman"/>
              </a:rPr>
              <a:t>; i &lt; circleArray.length; i++) { </a:t>
            </a:r>
            <a:endParaRPr/>
          </a:p>
          <a:p>
            <a:pPr indent="0" lvl="1" marL="457200" rtl="0" algn="l">
              <a:lnSpc>
                <a:spcPct val="100000"/>
              </a:lnSpc>
              <a:spcBef>
                <a:spcPts val="480"/>
              </a:spcBef>
              <a:spcAft>
                <a:spcPts val="0"/>
              </a:spcAft>
              <a:buSzPts val="2400"/>
              <a:buFont typeface="Times New Roman"/>
              <a:buNone/>
            </a:pPr>
            <a:r>
              <a:rPr b="0" i="0" lang="en-US" sz="2400" u="none">
                <a:solidFill>
                  <a:schemeClr val="dk1"/>
                </a:solidFill>
                <a:latin typeface="Times New Roman"/>
                <a:ea typeface="Times New Roman"/>
                <a:cs typeface="Times New Roman"/>
                <a:sym typeface="Times New Roman"/>
              </a:rPr>
              <a:t>	   circleArray[i] = </a:t>
            </a:r>
            <a:r>
              <a:rPr b="1" i="0" lang="en-US" sz="2400" u="none">
                <a:solidFill>
                  <a:schemeClr val="dk1"/>
                </a:solidFill>
                <a:latin typeface="Times New Roman"/>
                <a:ea typeface="Times New Roman"/>
                <a:cs typeface="Times New Roman"/>
                <a:sym typeface="Times New Roman"/>
              </a:rPr>
              <a:t>new </a:t>
            </a:r>
            <a:r>
              <a:rPr b="0" i="0" lang="en-US" sz="2400" u="none">
                <a:solidFill>
                  <a:schemeClr val="dk1"/>
                </a:solidFill>
                <a:latin typeface="Times New Roman"/>
                <a:ea typeface="Times New Roman"/>
                <a:cs typeface="Times New Roman"/>
                <a:sym typeface="Times New Roman"/>
              </a:rPr>
              <a:t>Circle(); </a:t>
            </a:r>
            <a:endParaRPr/>
          </a:p>
          <a:p>
            <a:pPr indent="-342900" lvl="0" marL="342900" rtl="0" algn="l">
              <a:lnSpc>
                <a:spcPct val="100000"/>
              </a:lnSpc>
              <a:spcBef>
                <a:spcPts val="560"/>
              </a:spcBef>
              <a:spcAft>
                <a:spcPts val="0"/>
              </a:spcAft>
              <a:buSzPts val="2100"/>
              <a:buNone/>
            </a:pPr>
            <a:r>
              <a:rPr b="0" i="0" lang="en-US" sz="2800" u="none">
                <a:solidFill>
                  <a:schemeClr val="dk1"/>
                </a:solidFill>
                <a:latin typeface="Times New Roman"/>
                <a:ea typeface="Times New Roman"/>
                <a:cs typeface="Times New Roman"/>
                <a:sym typeface="Times New Roman"/>
              </a:rPr>
              <a:t>   	} 	</a:t>
            </a:r>
            <a:endParaRPr/>
          </a:p>
          <a:p>
            <a:pPr indent="-342900" lvl="0" marL="342900" rtl="0" algn="l">
              <a:lnSpc>
                <a:spcPct val="100000"/>
              </a:lnSpc>
              <a:spcBef>
                <a:spcPts val="56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An array of objects is actually an </a:t>
            </a:r>
            <a:r>
              <a:rPr b="0" i="1" lang="en-US" sz="2800" u="none">
                <a:solidFill>
                  <a:schemeClr val="dk1"/>
                </a:solidFill>
                <a:latin typeface="Times New Roman"/>
                <a:ea typeface="Times New Roman"/>
                <a:cs typeface="Times New Roman"/>
                <a:sym typeface="Times New Roman"/>
              </a:rPr>
              <a:t>array of reference variables</a:t>
            </a:r>
            <a:r>
              <a:rPr b="0" i="0" lang="en-US" sz="2800" u="none">
                <a:solidFill>
                  <a:schemeClr val="dk1"/>
                </a:solidFill>
                <a:latin typeface="Times New Roman"/>
                <a:ea typeface="Times New Roman"/>
                <a:cs typeface="Times New Roman"/>
                <a:sym typeface="Times New Roman"/>
              </a:rPr>
              <a:t>. </a:t>
            </a:r>
            <a:endParaRPr/>
          </a:p>
          <a:p>
            <a:pPr indent="-342900" lvl="0" marL="342900" rtl="0" algn="l">
              <a:lnSpc>
                <a:spcPct val="100000"/>
              </a:lnSpc>
              <a:spcBef>
                <a:spcPts val="560"/>
              </a:spcBef>
              <a:spcAft>
                <a:spcPts val="0"/>
              </a:spcAft>
              <a:buClr>
                <a:schemeClr val="dk2"/>
              </a:buClr>
              <a:buSzPts val="2100"/>
              <a:buFont typeface="Arial"/>
              <a:buChar char="●"/>
            </a:pPr>
            <a:r>
              <a:rPr b="0" i="0" lang="en-US" sz="2800" u="none">
                <a:solidFill>
                  <a:schemeClr val="dk1"/>
                </a:solidFill>
                <a:latin typeface="Times New Roman"/>
                <a:ea typeface="Times New Roman"/>
                <a:cs typeface="Times New Roman"/>
                <a:sym typeface="Times New Roman"/>
              </a:rPr>
              <a:t>When an array of objects is created using the </a:t>
            </a:r>
            <a:r>
              <a:rPr b="1" i="0" lang="en-US" sz="2800" u="none">
                <a:solidFill>
                  <a:schemeClr val="dk1"/>
                </a:solidFill>
                <a:latin typeface="Times New Roman"/>
                <a:ea typeface="Times New Roman"/>
                <a:cs typeface="Times New Roman"/>
                <a:sym typeface="Times New Roman"/>
              </a:rPr>
              <a:t>new </a:t>
            </a:r>
            <a:r>
              <a:rPr b="0" i="0" lang="en-US" sz="2800" u="none">
                <a:solidFill>
                  <a:schemeClr val="dk1"/>
                </a:solidFill>
                <a:latin typeface="Times New Roman"/>
                <a:ea typeface="Times New Roman"/>
                <a:cs typeface="Times New Roman"/>
                <a:sym typeface="Times New Roman"/>
              </a:rPr>
              <a:t>operator, each element in the array is a reference variable with a default value of </a:t>
            </a:r>
            <a:r>
              <a:rPr b="1" i="0" lang="en-US" sz="2800" u="none">
                <a:solidFill>
                  <a:schemeClr val="dk1"/>
                </a:solidFill>
                <a:latin typeface="Times New Roman"/>
                <a:ea typeface="Times New Roman"/>
                <a:cs typeface="Times New Roman"/>
                <a:sym typeface="Times New Roman"/>
              </a:rPr>
              <a:t>null</a:t>
            </a:r>
            <a:r>
              <a:rPr b="0" i="0" lang="en-US" sz="2800" u="none">
                <a:solidFill>
                  <a:schemeClr val="dk1"/>
                </a:solidFill>
                <a:latin typeface="Times New Roman"/>
                <a:ea typeface="Times New Roman"/>
                <a:cs typeface="Times New Roman"/>
                <a:sym typeface="Times New Roman"/>
              </a:rPr>
              <a:t>.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8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02" name="Google Shape;802;p84"/>
          <p:cNvSpPr txBox="1"/>
          <p:nvPr>
            <p:ph type="title"/>
          </p:nvPr>
        </p:nvSpPr>
        <p:spPr>
          <a:xfrm>
            <a:off x="304800" y="42862"/>
            <a:ext cx="84582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Summarizing the areas of the circles</a:t>
            </a:r>
            <a:endParaRPr/>
          </a:p>
        </p:txBody>
      </p:sp>
      <p:sp>
        <p:nvSpPr>
          <p:cNvPr id="803" name="Google Shape;803;p84"/>
          <p:cNvSpPr txBox="1"/>
          <p:nvPr/>
        </p:nvSpPr>
        <p:spPr>
          <a:xfrm>
            <a:off x="2598737" y="28844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04" name="Google Shape;804;p84"/>
          <p:cNvPicPr preferRelativeResize="0"/>
          <p:nvPr/>
        </p:nvPicPr>
        <p:blipFill rotWithShape="1">
          <a:blip r:embed="rId3">
            <a:alphaModFix/>
          </a:blip>
          <a:srcRect b="0" l="0" r="0" t="0"/>
          <a:stretch/>
        </p:blipFill>
        <p:spPr>
          <a:xfrm>
            <a:off x="1077912" y="906462"/>
            <a:ext cx="7162800" cy="54927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5"/>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10" name="Google Shape;810;p85"/>
          <p:cNvSpPr txBox="1"/>
          <p:nvPr>
            <p:ph type="title"/>
          </p:nvPr>
        </p:nvSpPr>
        <p:spPr>
          <a:xfrm>
            <a:off x="304800" y="42862"/>
            <a:ext cx="84582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Immutable Objects</a:t>
            </a:r>
            <a:endParaRPr/>
          </a:p>
        </p:txBody>
      </p:sp>
      <p:sp>
        <p:nvSpPr>
          <p:cNvPr id="811" name="Google Shape;811;p85"/>
          <p:cNvSpPr txBox="1"/>
          <p:nvPr/>
        </p:nvSpPr>
        <p:spPr>
          <a:xfrm>
            <a:off x="2598737" y="28844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2" name="Google Shape;812;p85"/>
          <p:cNvSpPr txBox="1"/>
          <p:nvPr/>
        </p:nvSpPr>
        <p:spPr>
          <a:xfrm>
            <a:off x="482600" y="927100"/>
            <a:ext cx="8102600" cy="56324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Times"/>
                <a:ea typeface="Times"/>
                <a:cs typeface="Times"/>
                <a:sym typeface="Times"/>
              </a:rPr>
              <a:t>Normally, you create an object and allow its contents to be changed later. However, occasionally it is desirable to create an object whose contents cannot be changed once the object has been created. We call such an object as </a:t>
            </a:r>
            <a:r>
              <a:rPr b="0" i="1" lang="en-US" sz="2800" u="none">
                <a:solidFill>
                  <a:schemeClr val="dk1"/>
                </a:solidFill>
                <a:latin typeface="Times"/>
                <a:ea typeface="Times"/>
                <a:cs typeface="Times"/>
                <a:sym typeface="Times"/>
              </a:rPr>
              <a:t>immutable object </a:t>
            </a:r>
            <a:r>
              <a:rPr b="0" i="0" lang="en-US" sz="2800" u="none">
                <a:solidFill>
                  <a:schemeClr val="dk1"/>
                </a:solidFill>
                <a:latin typeface="Times"/>
                <a:ea typeface="Times"/>
                <a:cs typeface="Times"/>
                <a:sym typeface="Times"/>
              </a:rPr>
              <a:t>and its class as </a:t>
            </a:r>
            <a:r>
              <a:rPr b="0" i="1" lang="en-US" sz="2800" u="none">
                <a:solidFill>
                  <a:schemeClr val="dk1"/>
                </a:solidFill>
                <a:latin typeface="Times"/>
                <a:ea typeface="Times"/>
                <a:cs typeface="Times"/>
                <a:sym typeface="Times"/>
              </a:rPr>
              <a:t>immutable class</a:t>
            </a:r>
            <a:r>
              <a:rPr b="0" i="0" lang="en-US" sz="2800" u="none">
                <a:solidFill>
                  <a:schemeClr val="dk1"/>
                </a:solidFill>
                <a:latin typeface="Times"/>
                <a:ea typeface="Times"/>
                <a:cs typeface="Times"/>
                <a:sym typeface="Times"/>
              </a:rPr>
              <a:t>. </a:t>
            </a:r>
            <a:endParaRPr/>
          </a:p>
          <a:p>
            <a:pPr indent="-342900" lvl="0" marL="342900" marR="0" rtl="0" algn="l">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a:ea typeface="Times"/>
              <a:cs typeface="Times"/>
              <a:sym typeface="Times"/>
            </a:endParaRPr>
          </a:p>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If a class is immutable, then all its data fields must be private and it cannot contain public setter methods for any data fields. </a:t>
            </a:r>
            <a:r>
              <a:rPr b="0" i="0" lang="en-US" sz="2800" u="none">
                <a:solidFill>
                  <a:srgbClr val="FF0000"/>
                </a:solidFill>
                <a:latin typeface="Times New Roman"/>
                <a:ea typeface="Times New Roman"/>
                <a:cs typeface="Times New Roman"/>
                <a:sym typeface="Times New Roman"/>
              </a:rPr>
              <a:t>A class with all private data fields and no mutators is not necessarily immutable</a:t>
            </a:r>
            <a:r>
              <a:rPr b="0" i="0" lang="en-US" sz="2800" u="non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86"/>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18" name="Google Shape;818;p86"/>
          <p:cNvSpPr txBox="1"/>
          <p:nvPr>
            <p:ph type="title"/>
          </p:nvPr>
        </p:nvSpPr>
        <p:spPr>
          <a:xfrm>
            <a:off x="304800" y="42862"/>
            <a:ext cx="84582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a:t>
            </a:r>
            <a:endParaRPr/>
          </a:p>
        </p:txBody>
      </p:sp>
      <p:sp>
        <p:nvSpPr>
          <p:cNvPr id="819" name="Google Shape;819;p86"/>
          <p:cNvSpPr txBox="1"/>
          <p:nvPr/>
        </p:nvSpPr>
        <p:spPr>
          <a:xfrm>
            <a:off x="2598737" y="28844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20" name="Google Shape;820;p86"/>
          <p:cNvPicPr preferRelativeResize="0"/>
          <p:nvPr/>
        </p:nvPicPr>
        <p:blipFill rotWithShape="1">
          <a:blip r:embed="rId3">
            <a:alphaModFix/>
          </a:blip>
          <a:srcRect b="0" l="0" r="0" t="0"/>
          <a:stretch/>
        </p:blipFill>
        <p:spPr>
          <a:xfrm>
            <a:off x="1509712" y="741362"/>
            <a:ext cx="6048375" cy="552291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87"/>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26" name="Google Shape;826;p87"/>
          <p:cNvSpPr txBox="1"/>
          <p:nvPr>
            <p:ph type="title"/>
          </p:nvPr>
        </p:nvSpPr>
        <p:spPr>
          <a:xfrm>
            <a:off x="304800" y="0"/>
            <a:ext cx="8458200" cy="914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Example</a:t>
            </a:r>
            <a:endParaRPr/>
          </a:p>
        </p:txBody>
      </p:sp>
      <p:sp>
        <p:nvSpPr>
          <p:cNvPr id="827" name="Google Shape;827;p87"/>
          <p:cNvSpPr txBox="1"/>
          <p:nvPr/>
        </p:nvSpPr>
        <p:spPr>
          <a:xfrm>
            <a:off x="2598737" y="288448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28" name="Google Shape;828;p87"/>
          <p:cNvPicPr preferRelativeResize="0"/>
          <p:nvPr/>
        </p:nvPicPr>
        <p:blipFill rotWithShape="1">
          <a:blip r:embed="rId3">
            <a:alphaModFix/>
          </a:blip>
          <a:srcRect b="0" l="0" r="0" t="0"/>
          <a:stretch/>
        </p:blipFill>
        <p:spPr>
          <a:xfrm>
            <a:off x="304800" y="1201737"/>
            <a:ext cx="8540750" cy="443706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8"/>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34" name="Google Shape;834;p88"/>
          <p:cNvSpPr txBox="1"/>
          <p:nvPr>
            <p:ph type="title"/>
          </p:nvPr>
        </p:nvSpPr>
        <p:spPr>
          <a:xfrm>
            <a:off x="685800" y="381000"/>
            <a:ext cx="7772400" cy="1295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Scope of Variables</a:t>
            </a:r>
            <a:endParaRPr/>
          </a:p>
        </p:txBody>
      </p:sp>
      <p:sp>
        <p:nvSpPr>
          <p:cNvPr id="835" name="Google Shape;835;p88"/>
          <p:cNvSpPr txBox="1"/>
          <p:nvPr>
            <p:ph idx="1" type="body"/>
          </p:nvPr>
        </p:nvSpPr>
        <p:spPr>
          <a:xfrm>
            <a:off x="685800" y="1752600"/>
            <a:ext cx="7772400" cy="4419600"/>
          </a:xfrm>
          <a:prstGeom prst="rect">
            <a:avLst/>
          </a:prstGeom>
          <a:noFill/>
          <a:ln>
            <a:noFill/>
          </a:ln>
        </p:spPr>
        <p:txBody>
          <a:bodyPr anchorCtr="0" anchor="t" bIns="46025" lIns="92075" spcFirstLastPara="1" rIns="92075" wrap="square" tIns="46025">
            <a:noAutofit/>
          </a:bodyPr>
          <a:lstStyle/>
          <a:p>
            <a:pPr indent="-342900" lvl="0" marL="342900" rtl="0" algn="l">
              <a:lnSpc>
                <a:spcPct val="120000"/>
              </a:lnSpc>
              <a:spcBef>
                <a:spcPts val="0"/>
              </a:spcBef>
              <a:spcAft>
                <a:spcPts val="0"/>
              </a:spcAft>
              <a:buClr>
                <a:schemeClr val="dk2"/>
              </a:buClr>
              <a:buSzPts val="2100"/>
              <a:buFont typeface="Noto Sans Symbols"/>
              <a:buChar char="❑"/>
            </a:pPr>
            <a:r>
              <a:rPr b="0" i="0" lang="en-US" sz="2800" u="none">
                <a:solidFill>
                  <a:schemeClr val="dk1"/>
                </a:solidFill>
                <a:latin typeface="Times New Roman"/>
                <a:ea typeface="Times New Roman"/>
                <a:cs typeface="Times New Roman"/>
                <a:sym typeface="Times New Roman"/>
              </a:rPr>
              <a:t>The scope of instance and static variables is the entire class. They can be declared anywhere inside a class.</a:t>
            </a:r>
            <a:endParaRPr/>
          </a:p>
          <a:p>
            <a:pPr indent="-342900" lvl="0" marL="342900" rtl="0" algn="l">
              <a:lnSpc>
                <a:spcPct val="120000"/>
              </a:lnSpc>
              <a:spcBef>
                <a:spcPts val="560"/>
              </a:spcBef>
              <a:spcAft>
                <a:spcPts val="0"/>
              </a:spcAft>
              <a:buClr>
                <a:schemeClr val="dk2"/>
              </a:buClr>
              <a:buSzPts val="2100"/>
              <a:buFont typeface="Noto Sans Symbols"/>
              <a:buChar char="❑"/>
            </a:pPr>
            <a:r>
              <a:rPr b="0" i="0" lang="en-US" sz="2800" u="none">
                <a:solidFill>
                  <a:schemeClr val="dk1"/>
                </a:solidFill>
                <a:latin typeface="Times New Roman"/>
                <a:ea typeface="Times New Roman"/>
                <a:cs typeface="Times New Roman"/>
                <a:sym typeface="Times New Roman"/>
              </a:rPr>
              <a:t>The scope of a local variable (i.e. a variable defined in a method) starts from its declaration and continues to the end of the block that contains the variable. A local variable must be initialized explicitly before it can be used.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89"/>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41" name="Google Shape;841;p89"/>
          <p:cNvSpPr txBox="1"/>
          <p:nvPr>
            <p:ph type="title"/>
          </p:nvPr>
        </p:nvSpPr>
        <p:spPr>
          <a:xfrm>
            <a:off x="685800" y="381000"/>
            <a:ext cx="7772400" cy="1295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Scope of Variables</a:t>
            </a:r>
            <a:endParaRPr/>
          </a:p>
        </p:txBody>
      </p:sp>
      <p:pic>
        <p:nvPicPr>
          <p:cNvPr id="842" name="Google Shape;842;p89"/>
          <p:cNvPicPr preferRelativeResize="0"/>
          <p:nvPr/>
        </p:nvPicPr>
        <p:blipFill rotWithShape="1">
          <a:blip r:embed="rId3">
            <a:alphaModFix/>
          </a:blip>
          <a:srcRect b="0" l="0" r="0" t="0"/>
          <a:stretch/>
        </p:blipFill>
        <p:spPr>
          <a:xfrm>
            <a:off x="1212850" y="1666875"/>
            <a:ext cx="6718300" cy="357346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90"/>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48" name="Google Shape;848;p90"/>
          <p:cNvSpPr txBox="1"/>
          <p:nvPr>
            <p:ph type="title"/>
          </p:nvPr>
        </p:nvSpPr>
        <p:spPr>
          <a:xfrm>
            <a:off x="685800" y="381000"/>
            <a:ext cx="7772400" cy="12954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Scope of Variables</a:t>
            </a:r>
            <a:endParaRPr/>
          </a:p>
        </p:txBody>
      </p:sp>
      <p:sp>
        <p:nvSpPr>
          <p:cNvPr id="849" name="Google Shape;849;p90"/>
          <p:cNvSpPr txBox="1"/>
          <p:nvPr/>
        </p:nvSpPr>
        <p:spPr>
          <a:xfrm>
            <a:off x="347662" y="1431925"/>
            <a:ext cx="8110537" cy="12001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Times"/>
                <a:ea typeface="Times"/>
                <a:cs typeface="Times"/>
                <a:sym typeface="Times"/>
              </a:rPr>
              <a:t>If a local variable has the same name as a class’s variable, the local variable takes precedence and the class’s variable with the same name is </a:t>
            </a:r>
            <a:r>
              <a:rPr b="0" i="1" lang="en-US" sz="2400" u="none">
                <a:solidFill>
                  <a:schemeClr val="dk1"/>
                </a:solidFill>
                <a:latin typeface="Times"/>
                <a:ea typeface="Times"/>
                <a:cs typeface="Times"/>
                <a:sym typeface="Times"/>
              </a:rPr>
              <a:t>hidden. </a:t>
            </a:r>
            <a:endParaRPr/>
          </a:p>
        </p:txBody>
      </p:sp>
      <p:pic>
        <p:nvPicPr>
          <p:cNvPr id="850" name="Google Shape;850;p90"/>
          <p:cNvPicPr preferRelativeResize="0"/>
          <p:nvPr/>
        </p:nvPicPr>
        <p:blipFill rotWithShape="1">
          <a:blip r:embed="rId3">
            <a:alphaModFix/>
          </a:blip>
          <a:srcRect b="0" l="0" r="0" t="0"/>
          <a:stretch/>
        </p:blipFill>
        <p:spPr>
          <a:xfrm>
            <a:off x="1843087" y="2814637"/>
            <a:ext cx="5119687" cy="312896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91"/>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56" name="Google Shape;856;p91"/>
          <p:cNvSpPr txBox="1"/>
          <p:nvPr>
            <p:ph type="title"/>
          </p:nvPr>
        </p:nvSpPr>
        <p:spPr>
          <a:xfrm>
            <a:off x="685800" y="381000"/>
            <a:ext cx="77724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this Keyword </a:t>
            </a:r>
            <a:endParaRPr/>
          </a:p>
        </p:txBody>
      </p:sp>
      <p:sp>
        <p:nvSpPr>
          <p:cNvPr id="857" name="Google Shape;857;p91"/>
          <p:cNvSpPr txBox="1"/>
          <p:nvPr>
            <p:ph idx="1" type="body"/>
          </p:nvPr>
        </p:nvSpPr>
        <p:spPr>
          <a:xfrm>
            <a:off x="309562" y="1277937"/>
            <a:ext cx="8524875" cy="4894262"/>
          </a:xfrm>
          <a:prstGeom prst="rect">
            <a:avLst/>
          </a:prstGeom>
          <a:noFill/>
          <a:ln>
            <a:noFill/>
          </a:ln>
        </p:spPr>
        <p:txBody>
          <a:bodyPr anchorCtr="0" anchor="t" bIns="46025" lIns="92075" spcFirstLastPara="1" rIns="92075" wrap="square" tIns="46025">
            <a:noAutofit/>
          </a:bodyPr>
          <a:lstStyle/>
          <a:p>
            <a:pPr indent="-342900" lvl="0" marL="342900" rtl="0" algn="l">
              <a:lnSpc>
                <a:spcPct val="120000"/>
              </a:lnSpc>
              <a:spcBef>
                <a:spcPts val="0"/>
              </a:spcBef>
              <a:spcAft>
                <a:spcPts val="0"/>
              </a:spcAft>
              <a:buClr>
                <a:schemeClr val="dk2"/>
              </a:buClr>
              <a:buSzPts val="2400"/>
              <a:buFont typeface="Noto Sans Symbols"/>
              <a:buChar char="❑"/>
            </a:pPr>
            <a:r>
              <a:rPr b="0" i="0" lang="en-US" sz="3200" u="none">
                <a:solidFill>
                  <a:schemeClr val="dk1"/>
                </a:solidFill>
                <a:latin typeface="Times New Roman"/>
                <a:ea typeface="Times New Roman"/>
                <a:cs typeface="Times New Roman"/>
                <a:sym typeface="Times New Roman"/>
              </a:rPr>
              <a:t>The </a:t>
            </a:r>
            <a:r>
              <a:rPr b="0" i="0" lang="en-US" sz="3200" u="sng">
                <a:solidFill>
                  <a:schemeClr val="dk1"/>
                </a:solidFill>
                <a:latin typeface="Times New Roman"/>
                <a:ea typeface="Times New Roman"/>
                <a:cs typeface="Times New Roman"/>
                <a:sym typeface="Times New Roman"/>
              </a:rPr>
              <a:t>this</a:t>
            </a:r>
            <a:r>
              <a:rPr b="0" i="0" lang="en-US" sz="3200" u="none">
                <a:solidFill>
                  <a:schemeClr val="dk1"/>
                </a:solidFill>
                <a:latin typeface="Times New Roman"/>
                <a:ea typeface="Times New Roman"/>
                <a:cs typeface="Times New Roman"/>
                <a:sym typeface="Times New Roman"/>
              </a:rPr>
              <a:t> keyword is the name of a reference that refers to an object itself. One common use of the </a:t>
            </a:r>
            <a:r>
              <a:rPr b="0" i="0" lang="en-US" sz="3200" u="sng">
                <a:solidFill>
                  <a:schemeClr val="dk1"/>
                </a:solidFill>
                <a:latin typeface="Times New Roman"/>
                <a:ea typeface="Times New Roman"/>
                <a:cs typeface="Times New Roman"/>
                <a:sym typeface="Times New Roman"/>
              </a:rPr>
              <a:t>this</a:t>
            </a:r>
            <a:r>
              <a:rPr b="0" i="0" lang="en-US" sz="3200" u="none">
                <a:solidFill>
                  <a:schemeClr val="dk1"/>
                </a:solidFill>
                <a:latin typeface="Times New Roman"/>
                <a:ea typeface="Times New Roman"/>
                <a:cs typeface="Times New Roman"/>
                <a:sym typeface="Times New Roman"/>
              </a:rPr>
              <a:t> keyword is reference a class’s </a:t>
            </a:r>
            <a:r>
              <a:rPr b="0" i="1" lang="en-US" sz="3200" u="none">
                <a:solidFill>
                  <a:schemeClr val="dk1"/>
                </a:solidFill>
                <a:latin typeface="Times New Roman"/>
                <a:ea typeface="Times New Roman"/>
                <a:cs typeface="Times New Roman"/>
                <a:sym typeface="Times New Roman"/>
              </a:rPr>
              <a:t>hidden data fields</a:t>
            </a:r>
            <a:r>
              <a:rPr b="0" i="0" lang="en-US" sz="3200" u="none">
                <a:solidFill>
                  <a:schemeClr val="dk1"/>
                </a:solidFill>
                <a:latin typeface="Times New Roman"/>
                <a:ea typeface="Times New Roman"/>
                <a:cs typeface="Times New Roman"/>
                <a:sym typeface="Times New Roman"/>
              </a:rPr>
              <a:t>. </a:t>
            </a:r>
            <a:endParaRPr/>
          </a:p>
          <a:p>
            <a:pPr indent="-342900" lvl="0" marL="342900" rtl="0" algn="l">
              <a:lnSpc>
                <a:spcPct val="120000"/>
              </a:lnSpc>
              <a:spcBef>
                <a:spcPts val="640"/>
              </a:spcBef>
              <a:spcAft>
                <a:spcPts val="0"/>
              </a:spcAft>
              <a:buClr>
                <a:schemeClr val="dk2"/>
              </a:buClr>
              <a:buSzPts val="2400"/>
              <a:buFont typeface="Noto Sans Symbols"/>
              <a:buChar char="❑"/>
            </a:pPr>
            <a:r>
              <a:rPr b="0" i="0" lang="en-US" sz="3200" u="none">
                <a:solidFill>
                  <a:schemeClr val="dk1"/>
                </a:solidFill>
                <a:latin typeface="Times New Roman"/>
                <a:ea typeface="Times New Roman"/>
                <a:cs typeface="Times New Roman"/>
                <a:sym typeface="Times New Roman"/>
              </a:rPr>
              <a:t>Another common use of the </a:t>
            </a:r>
            <a:r>
              <a:rPr b="0" i="0" lang="en-US" sz="3200" u="sng">
                <a:solidFill>
                  <a:schemeClr val="dk1"/>
                </a:solidFill>
                <a:latin typeface="Times New Roman"/>
                <a:ea typeface="Times New Roman"/>
                <a:cs typeface="Times New Roman"/>
                <a:sym typeface="Times New Roman"/>
              </a:rPr>
              <a:t>this</a:t>
            </a:r>
            <a:r>
              <a:rPr b="0" i="0" lang="en-US" sz="3200" u="none">
                <a:solidFill>
                  <a:schemeClr val="dk1"/>
                </a:solidFill>
                <a:latin typeface="Times New Roman"/>
                <a:ea typeface="Times New Roman"/>
                <a:cs typeface="Times New Roman"/>
                <a:sym typeface="Times New Roman"/>
              </a:rPr>
              <a:t> keyword to enable a constructor to invoke another constructor of the same class.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92"/>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63" name="Google Shape;863;p92"/>
          <p:cNvSpPr txBox="1"/>
          <p:nvPr>
            <p:ph type="title"/>
          </p:nvPr>
        </p:nvSpPr>
        <p:spPr>
          <a:xfrm>
            <a:off x="0" y="381000"/>
            <a:ext cx="91440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this Keyword </a:t>
            </a:r>
            <a:endParaRPr/>
          </a:p>
        </p:txBody>
      </p:sp>
      <p:sp>
        <p:nvSpPr>
          <p:cNvPr id="864" name="Google Shape;864;p92"/>
          <p:cNvSpPr txBox="1"/>
          <p:nvPr/>
        </p:nvSpPr>
        <p:spPr>
          <a:xfrm>
            <a:off x="2047875" y="2609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65" name="Google Shape;865;p92"/>
          <p:cNvSpPr txBox="1"/>
          <p:nvPr/>
        </p:nvSpPr>
        <p:spPr>
          <a:xfrm>
            <a:off x="0" y="26098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866" name="Google Shape;866;p92"/>
          <p:cNvPicPr preferRelativeResize="0"/>
          <p:nvPr/>
        </p:nvPicPr>
        <p:blipFill rotWithShape="1">
          <a:blip r:embed="rId3">
            <a:alphaModFix/>
          </a:blip>
          <a:srcRect b="0" l="0" r="0" t="0"/>
          <a:stretch/>
        </p:blipFill>
        <p:spPr>
          <a:xfrm>
            <a:off x="0" y="2006600"/>
            <a:ext cx="9144000" cy="2840037"/>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93"/>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72" name="Google Shape;872;p93"/>
          <p:cNvSpPr txBox="1"/>
          <p:nvPr>
            <p:ph type="title"/>
          </p:nvPr>
        </p:nvSpPr>
        <p:spPr>
          <a:xfrm>
            <a:off x="0" y="381000"/>
            <a:ext cx="91440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Reference the Hidden Data Fields</a:t>
            </a:r>
            <a:endParaRPr/>
          </a:p>
        </p:txBody>
      </p:sp>
      <p:sp>
        <p:nvSpPr>
          <p:cNvPr id="873" name="Google Shape;873;p93"/>
          <p:cNvSpPr txBox="1"/>
          <p:nvPr/>
        </p:nvSpPr>
        <p:spPr>
          <a:xfrm>
            <a:off x="2047875" y="2609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4" name="Google Shape;874;p93"/>
          <p:cNvSpPr txBox="1"/>
          <p:nvPr/>
        </p:nvSpPr>
        <p:spPr>
          <a:xfrm>
            <a:off x="0" y="260985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5" name="Google Shape;875;p93"/>
          <p:cNvSpPr txBox="1"/>
          <p:nvPr/>
        </p:nvSpPr>
        <p:spPr>
          <a:xfrm>
            <a:off x="231775" y="1143000"/>
            <a:ext cx="8410575" cy="1692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The </a:t>
            </a:r>
            <a:r>
              <a:rPr b="1" i="0" lang="en-US" sz="2000" u="none">
                <a:solidFill>
                  <a:schemeClr val="dk1"/>
                </a:solidFill>
                <a:latin typeface="Times New Roman"/>
                <a:ea typeface="Times New Roman"/>
                <a:cs typeface="Times New Roman"/>
                <a:sym typeface="Times New Roman"/>
              </a:rPr>
              <a:t>this </a:t>
            </a:r>
            <a:r>
              <a:rPr b="0" i="0" lang="en-US" sz="2000" u="none">
                <a:solidFill>
                  <a:schemeClr val="dk1"/>
                </a:solidFill>
                <a:latin typeface="Times New Roman"/>
                <a:ea typeface="Times New Roman"/>
                <a:cs typeface="Times New Roman"/>
                <a:sym typeface="Times New Roman"/>
              </a:rPr>
              <a:t>keyword gives us a way to reference the object that invokes an instance method. To invoke </a:t>
            </a:r>
            <a:r>
              <a:rPr b="1" i="0" lang="en-US" sz="2000" u="none">
                <a:solidFill>
                  <a:schemeClr val="dk1"/>
                </a:solidFill>
                <a:latin typeface="Times New Roman"/>
                <a:ea typeface="Times New Roman"/>
                <a:cs typeface="Times New Roman"/>
                <a:sym typeface="Times New Roman"/>
              </a:rPr>
              <a:t>f1.setI(10)</a:t>
            </a:r>
            <a:r>
              <a:rPr b="0" i="0" lang="en-US" sz="2000" u="none">
                <a:solidFill>
                  <a:schemeClr val="dk1"/>
                </a:solidFill>
                <a:latin typeface="Times New Roman"/>
                <a:ea typeface="Times New Roman"/>
                <a:cs typeface="Times New Roman"/>
                <a:sym typeface="Times New Roman"/>
              </a:rPr>
              <a:t>, </a:t>
            </a:r>
            <a:r>
              <a:rPr b="1" i="0" lang="en-US" sz="2000" u="none">
                <a:solidFill>
                  <a:schemeClr val="dk1"/>
                </a:solidFill>
                <a:latin typeface="Times New Roman"/>
                <a:ea typeface="Times New Roman"/>
                <a:cs typeface="Times New Roman"/>
                <a:sym typeface="Times New Roman"/>
              </a:rPr>
              <a:t>this.i = i </a:t>
            </a:r>
            <a:r>
              <a:rPr b="0" i="0" lang="en-US" sz="2000" u="none">
                <a:solidFill>
                  <a:schemeClr val="dk1"/>
                </a:solidFill>
                <a:latin typeface="Times New Roman"/>
                <a:ea typeface="Times New Roman"/>
                <a:cs typeface="Times New Roman"/>
                <a:sym typeface="Times New Roman"/>
              </a:rPr>
              <a:t>is executed, which assigns the value of parameter </a:t>
            </a:r>
            <a:r>
              <a:rPr b="1" i="0" lang="en-US" sz="2000" u="none">
                <a:solidFill>
                  <a:schemeClr val="dk1"/>
                </a:solidFill>
                <a:latin typeface="Times New Roman"/>
                <a:ea typeface="Times New Roman"/>
                <a:cs typeface="Times New Roman"/>
                <a:sym typeface="Times New Roman"/>
              </a:rPr>
              <a:t>i </a:t>
            </a:r>
            <a:r>
              <a:rPr b="0" i="0" lang="en-US" sz="2000" u="none">
                <a:solidFill>
                  <a:schemeClr val="dk1"/>
                </a:solidFill>
                <a:latin typeface="Times New Roman"/>
                <a:ea typeface="Times New Roman"/>
                <a:cs typeface="Times New Roman"/>
                <a:sym typeface="Times New Roman"/>
              </a:rPr>
              <a:t>to the data field </a:t>
            </a:r>
            <a:r>
              <a:rPr b="1" i="0" lang="en-US" sz="2000" u="none">
                <a:solidFill>
                  <a:schemeClr val="dk1"/>
                </a:solidFill>
                <a:latin typeface="Times New Roman"/>
                <a:ea typeface="Times New Roman"/>
                <a:cs typeface="Times New Roman"/>
                <a:sym typeface="Times New Roman"/>
              </a:rPr>
              <a:t>i </a:t>
            </a:r>
            <a:r>
              <a:rPr b="0" i="0" lang="en-US" sz="2000" u="none">
                <a:solidFill>
                  <a:schemeClr val="dk1"/>
                </a:solidFill>
                <a:latin typeface="Times New Roman"/>
                <a:ea typeface="Times New Roman"/>
                <a:cs typeface="Times New Roman"/>
                <a:sym typeface="Times New Roman"/>
              </a:rPr>
              <a:t>of this calling object </a:t>
            </a:r>
            <a:r>
              <a:rPr b="1" i="0" lang="en-US" sz="2000" u="none">
                <a:solidFill>
                  <a:schemeClr val="dk1"/>
                </a:solidFill>
                <a:latin typeface="Times New Roman"/>
                <a:ea typeface="Times New Roman"/>
                <a:cs typeface="Times New Roman"/>
                <a:sym typeface="Times New Roman"/>
              </a:rPr>
              <a:t>f1</a:t>
            </a:r>
            <a:r>
              <a:rPr b="0" i="0" lang="en-US" sz="2000" u="none">
                <a:solidFill>
                  <a:schemeClr val="dk1"/>
                </a:solidFill>
                <a:latin typeface="Times New Roman"/>
                <a:ea typeface="Times New Roman"/>
                <a:cs typeface="Times New Roman"/>
                <a:sym typeface="Times New Roman"/>
              </a:rPr>
              <a:t>. The keyword </a:t>
            </a:r>
            <a:r>
              <a:rPr b="1" i="0" lang="en-US" sz="2000" u="none">
                <a:solidFill>
                  <a:schemeClr val="dk1"/>
                </a:solidFill>
                <a:latin typeface="Times New Roman"/>
                <a:ea typeface="Times New Roman"/>
                <a:cs typeface="Times New Roman"/>
                <a:sym typeface="Times New Roman"/>
              </a:rPr>
              <a:t>this </a:t>
            </a:r>
            <a:r>
              <a:rPr b="0" i="0" lang="en-US" sz="2000" u="none">
                <a:solidFill>
                  <a:schemeClr val="dk1"/>
                </a:solidFill>
                <a:latin typeface="Times New Roman"/>
                <a:ea typeface="Times New Roman"/>
                <a:cs typeface="Times New Roman"/>
                <a:sym typeface="Times New Roman"/>
              </a:rPr>
              <a:t>refers to the object that invokes the instance method </a:t>
            </a:r>
            <a:r>
              <a:rPr b="1" i="0" lang="en-US" sz="2000" u="none">
                <a:solidFill>
                  <a:schemeClr val="dk1"/>
                </a:solidFill>
                <a:latin typeface="Times New Roman"/>
                <a:ea typeface="Times New Roman"/>
                <a:cs typeface="Times New Roman"/>
                <a:sym typeface="Times New Roman"/>
              </a:rPr>
              <a:t>setI</a:t>
            </a:r>
            <a:r>
              <a:rPr b="0" i="0" lang="en-US" sz="2000" u="none">
                <a:solidFill>
                  <a:schemeClr val="dk1"/>
                </a:solidFill>
                <a:latin typeface="Times New Roman"/>
                <a:ea typeface="Times New Roman"/>
                <a:cs typeface="Times New Roman"/>
                <a:sym typeface="Times New Roman"/>
              </a:rPr>
              <a:t>, as shown below:</a:t>
            </a:r>
            <a:endParaRPr/>
          </a:p>
          <a:p>
            <a:pPr indent="0" lvl="0" marL="0" marR="0" rtl="0" algn="l">
              <a:lnSpc>
                <a:spcPct val="100000"/>
              </a:lnSpc>
              <a:spcBef>
                <a:spcPts val="0"/>
              </a:spcBef>
              <a:spcAft>
                <a:spcPts val="0"/>
              </a:spcAft>
              <a:buNone/>
            </a:pPr>
            <a:r>
              <a:t/>
            </a:r>
            <a:endParaRPr b="0" i="0" sz="2000" u="none">
              <a:solidFill>
                <a:schemeClr val="dk1"/>
              </a:solidFill>
              <a:latin typeface="Times New Roman"/>
              <a:ea typeface="Times New Roman"/>
              <a:cs typeface="Times New Roman"/>
              <a:sym typeface="Times New Roman"/>
            </a:endParaRPr>
          </a:p>
        </p:txBody>
      </p:sp>
      <p:pic>
        <p:nvPicPr>
          <p:cNvPr id="876" name="Google Shape;876;p93"/>
          <p:cNvPicPr preferRelativeResize="0"/>
          <p:nvPr/>
        </p:nvPicPr>
        <p:blipFill rotWithShape="1">
          <a:blip r:embed="rId3">
            <a:alphaModFix/>
          </a:blip>
          <a:srcRect b="0" l="0" r="0" t="0"/>
          <a:stretch/>
        </p:blipFill>
        <p:spPr>
          <a:xfrm>
            <a:off x="2017712" y="2670175"/>
            <a:ext cx="4838700" cy="32639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94"/>
          <p:cNvSpPr txBox="1"/>
          <p:nvPr/>
        </p:nvSpPr>
        <p:spPr>
          <a:xfrm>
            <a:off x="6553200" y="6399212"/>
            <a:ext cx="1905000" cy="4572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882" name="Google Shape;882;p94"/>
          <p:cNvSpPr txBox="1"/>
          <p:nvPr>
            <p:ph type="title"/>
          </p:nvPr>
        </p:nvSpPr>
        <p:spPr>
          <a:xfrm>
            <a:off x="0" y="228600"/>
            <a:ext cx="9144000" cy="762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Calling Overloaded Constructor</a:t>
            </a:r>
            <a:endParaRPr/>
          </a:p>
        </p:txBody>
      </p:sp>
      <p:sp>
        <p:nvSpPr>
          <p:cNvPr id="883" name="Google Shape;883;p94"/>
          <p:cNvSpPr txBox="1"/>
          <p:nvPr/>
        </p:nvSpPr>
        <p:spPr>
          <a:xfrm>
            <a:off x="2047875" y="2609850"/>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4" name="Google Shape;884;p94"/>
          <p:cNvSpPr txBox="1"/>
          <p:nvPr/>
        </p:nvSpPr>
        <p:spPr>
          <a:xfrm>
            <a:off x="2919412" y="243363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5" name="Google Shape;885;p94"/>
          <p:cNvSpPr txBox="1"/>
          <p:nvPr/>
        </p:nvSpPr>
        <p:spPr>
          <a:xfrm>
            <a:off x="2871787" y="2433637"/>
            <a:ext cx="9144000" cy="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6" name="Google Shape;886;p94"/>
          <p:cNvSpPr txBox="1"/>
          <p:nvPr/>
        </p:nvSpPr>
        <p:spPr>
          <a:xfrm>
            <a:off x="650875" y="1062037"/>
            <a:ext cx="7796212"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The </a:t>
            </a:r>
            <a:r>
              <a:rPr b="1" i="0" lang="en-US" sz="2000" u="none">
                <a:solidFill>
                  <a:srgbClr val="00ADED"/>
                </a:solidFill>
                <a:latin typeface="Lucida Sans"/>
                <a:ea typeface="Lucida Sans"/>
                <a:cs typeface="Lucida Sans"/>
                <a:sym typeface="Lucida Sans"/>
              </a:rPr>
              <a:t>this </a:t>
            </a:r>
            <a:r>
              <a:rPr b="0" i="0" lang="en-US" sz="2400" u="none">
                <a:solidFill>
                  <a:schemeClr val="dk1"/>
                </a:solidFill>
                <a:latin typeface="Times"/>
                <a:ea typeface="Times"/>
                <a:cs typeface="Times"/>
                <a:sym typeface="Times"/>
              </a:rPr>
              <a:t>keyword can be used to invoke another constructor of the same class. For example,</a:t>
            </a:r>
            <a:r>
              <a:rPr b="0" i="0" lang="en-US" sz="2400" u="none">
                <a:solidFill>
                  <a:schemeClr val="dk1"/>
                </a:solidFill>
                <a:latin typeface="Times New Roman"/>
                <a:ea typeface="Times New Roman"/>
                <a:cs typeface="Times New Roman"/>
                <a:sym typeface="Times New Roman"/>
              </a:rPr>
              <a:t> </a:t>
            </a:r>
            <a:r>
              <a:rPr b="0" i="0" lang="en-US" sz="2400" u="none">
                <a:solidFill>
                  <a:schemeClr val="dk1"/>
                </a:solidFill>
                <a:latin typeface="Times"/>
                <a:ea typeface="Times"/>
                <a:cs typeface="Times"/>
                <a:sym typeface="Times"/>
              </a:rPr>
              <a:t>you can rewrite the </a:t>
            </a:r>
            <a:r>
              <a:rPr b="1" i="0" lang="en-US" sz="2000" u="none">
                <a:solidFill>
                  <a:srgbClr val="00ADED"/>
                </a:solidFill>
                <a:latin typeface="Lucida Sans"/>
                <a:ea typeface="Lucida Sans"/>
                <a:cs typeface="Lucida Sans"/>
                <a:sym typeface="Lucida Sans"/>
              </a:rPr>
              <a:t>Circle </a:t>
            </a:r>
            <a:r>
              <a:rPr b="0" i="0" lang="en-US" sz="2400" u="none">
                <a:solidFill>
                  <a:schemeClr val="dk1"/>
                </a:solidFill>
                <a:latin typeface="Times"/>
                <a:ea typeface="Times"/>
                <a:cs typeface="Times"/>
                <a:sym typeface="Times"/>
              </a:rPr>
              <a:t>class as follows: </a:t>
            </a:r>
            <a:endParaRPr/>
          </a:p>
        </p:txBody>
      </p:sp>
      <p:pic>
        <p:nvPicPr>
          <p:cNvPr id="887" name="Google Shape;887;p94"/>
          <p:cNvPicPr preferRelativeResize="0"/>
          <p:nvPr/>
        </p:nvPicPr>
        <p:blipFill rotWithShape="1">
          <a:blip r:embed="rId3">
            <a:alphaModFix/>
          </a:blip>
          <a:srcRect b="0" l="0" r="0" t="0"/>
          <a:stretch/>
        </p:blipFill>
        <p:spPr>
          <a:xfrm>
            <a:off x="650875" y="2433637"/>
            <a:ext cx="7493000" cy="304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