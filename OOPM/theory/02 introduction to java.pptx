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</p:sldIdLst>
  <p:sldSz cy="6858000" cx="9144000"/>
  <p:notesSz cx="6858000" cy="9144000"/>
  <p:embeddedFontLst>
    <p:embeddedFont>
      <p:font typeface="Roboto"/>
      <p:regular r:id="rId66"/>
      <p:bold r:id="rId67"/>
      <p:italic r:id="rId68"/>
      <p:boldItalic r:id="rId69"/>
    </p:embeddedFont>
    <p:embeddedFont>
      <p:font typeface="Book Antiqua"/>
      <p:regular r:id="rId70"/>
      <p:bold r:id="rId71"/>
      <p:italic r:id="rId72"/>
      <p:boldItalic r:id="rId7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864">
          <p15:clr>
            <a:srgbClr val="000000"/>
          </p15:clr>
        </p15:guide>
        <p15:guide id="2" pos="576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864" orient="horz"/>
        <p:guide pos="576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BookAntiqua-boldItalic.fntdata"/><Relationship Id="rId72" Type="http://schemas.openxmlformats.org/officeDocument/2006/relationships/font" Target="fonts/BookAntiqua-italic.fntdata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BookAntiqua-bold.fntdata"/><Relationship Id="rId70" Type="http://schemas.openxmlformats.org/officeDocument/2006/relationships/font" Target="fonts/BookAntiqua-regular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font" Target="fonts/Roboto-regular.fntdata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font" Target="fonts/Roboto-italic.fntdata"/><Relationship Id="rId23" Type="http://schemas.openxmlformats.org/officeDocument/2006/relationships/slide" Target="slides/slide18.xml"/><Relationship Id="rId67" Type="http://schemas.openxmlformats.org/officeDocument/2006/relationships/font" Target="fonts/Roboto-bold.fntdata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Roboto-bold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1" name="Google Shape;71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b="0" i="0" lang="en-US" sz="1800" u="none" cap="none" strike="noStrike"/>
              <a:t>First Class: Introduction, Prerequisites, Advices, Syllabus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b="0" i="0" lang="en-US" sz="1800" u="none" cap="none" strike="noStrike"/>
              <a:t>Lab 1: Create a Java Project, Compile, and Run.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b="0" i="0" lang="en-US" sz="1800" u="none" cap="none" strike="noStrike"/>
              <a:t>	Show syntax errors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b="0" i="0" lang="en-US" sz="1800" u="none" cap="none" strike="noStrike"/>
              <a:t>         Print program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b="0" i="0" lang="en-US" sz="1800" u="none" cap="none" strike="noStrike"/>
              <a:t>         Capture screen shots, and save it in Word, and print it.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b="0" i="0" lang="en-US" sz="1800" u="none" cap="none" strike="noStrike"/>
              <a:t>Homework One: Check in the class randomly.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7" name="Google Shape;77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" name="Google Shape;8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8" name="Google Shape;98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5" name="Google Shape;105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2" name="Google Shape;112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9" name="Google Shape;119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6" name="Google Shape;126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3" name="Google Shape;133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6" name="Google Shape;156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3" name="Google Shape;163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0" name="Google Shape;170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7" name="Google Shape;177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4" name="Google Shape;234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1" name="Google Shape;241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8" name="Google Shape;248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5" name="Google Shape;255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2" name="Google Shape;262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9" name="Google Shape;269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6" name="Google Shape;276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3" name="Google Shape;283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0" name="Google Shape;290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97" name="Google Shape;297;p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04" name="Google Shape;304;p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13" name="Google Shape;313;p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23" name="Google Shape;323;p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0" name="Google Shape;330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7" name="Google Shape;337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4" name="Google Shape;344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51" name="Google Shape;351;p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8" name="Google Shape;358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5" name="Google Shape;365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2" name="Google Shape;372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9" name="Google Shape;379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6" name="Google Shape;386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3" name="Google Shape;393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0" name="Google Shape;400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07" name="Google Shape;407;p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14" name="Google Shape;414;p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21" name="Google Shape;421;p4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28" name="Google Shape;428;p5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35" name="Google Shape;435;p5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2" name="Google Shape;442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9" name="Google Shape;449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6" name="Google Shape;456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3" name="Google Shape;463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0" name="Google Shape;470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7" name="Google Shape;477;p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4" name="Google Shape;484;p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1" name="Google Shape;491;p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8" name="Google Shape;498;p6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5661233"/>
            <a:ext cx="897600" cy="11967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5661167"/>
            <a:ext cx="897600" cy="11967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2425700"/>
            <a:ext cx="82221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3718840"/>
            <a:ext cx="82221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6260831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753800"/>
            <a:ext cx="8222100" cy="135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6260831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2247900"/>
            <a:ext cx="9144000" cy="4610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2248000"/>
            <a:ext cx="9144000" cy="1449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984967"/>
            <a:ext cx="8222100" cy="102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2558767"/>
            <a:ext cx="8222100" cy="36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6260831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2247900"/>
            <a:ext cx="9144000" cy="4610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2248000"/>
            <a:ext cx="9144000" cy="1449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984967"/>
            <a:ext cx="8222100" cy="102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2558767"/>
            <a:ext cx="3999900" cy="36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2558767"/>
            <a:ext cx="3999900" cy="36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6260831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875100"/>
            <a:ext cx="9144000" cy="5982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875133"/>
            <a:ext cx="9144000" cy="1449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21800"/>
            <a:ext cx="8826600" cy="80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6260831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33"/>
            <a:ext cx="58674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-98100" y="3374700"/>
            <a:ext cx="6858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477067"/>
            <a:ext cx="2808000" cy="12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954400"/>
            <a:ext cx="2808000" cy="42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6260831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651000"/>
            <a:ext cx="62271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6260831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089325" y="3375050"/>
            <a:ext cx="68571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3705956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6260831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-100"/>
            <a:ext cx="9144000" cy="6261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6163733"/>
            <a:ext cx="9144000" cy="987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6262433"/>
            <a:ext cx="8382000" cy="59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6260831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678033"/>
            <a:ext cx="82221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4406167"/>
            <a:ext cx="82221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6260831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6260831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title"/>
          </p:nvPr>
        </p:nvSpPr>
        <p:spPr>
          <a:xfrm>
            <a:off x="685800" y="2857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idx="1" type="body"/>
          </p:nvPr>
        </p:nvSpPr>
        <p:spPr>
          <a:xfrm>
            <a:off x="685800" y="165735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1432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1pPr>
            <a:lvl2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02894" lvl="2" marL="1371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0" type="dt"/>
          </p:nvPr>
        </p:nvSpPr>
        <p:spPr>
          <a:xfrm>
            <a:off x="6858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1" type="ftr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2" type="sldNum"/>
          </p:nvPr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984967"/>
            <a:ext cx="82221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2558767"/>
            <a:ext cx="8222100" cy="3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626083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ctrTitle"/>
          </p:nvPr>
        </p:nvSpPr>
        <p:spPr>
          <a:xfrm>
            <a:off x="685800" y="3429000"/>
            <a:ext cx="77724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b="0" i="1" lang="en-US" sz="4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Programming with Java</a:t>
            </a:r>
            <a:endParaRPr/>
          </a:p>
        </p:txBody>
      </p:sp>
      <p:sp>
        <p:nvSpPr>
          <p:cNvPr id="74" name="Google Shape;74;p14"/>
          <p:cNvSpPr txBox="1"/>
          <p:nvPr>
            <p:ph idx="1" type="subTitle"/>
          </p:nvPr>
        </p:nvSpPr>
        <p:spPr>
          <a:xfrm>
            <a:off x="1371600" y="5181600"/>
            <a:ext cx="6400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Instructor : Neelima Gupta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5"/>
          <p:cNvSpPr txBox="1"/>
          <p:nvPr>
            <p:ph type="title"/>
          </p:nvPr>
        </p:nvSpPr>
        <p:spPr>
          <a:xfrm>
            <a:off x="685800" y="0"/>
            <a:ext cx="77724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Introduction to Java</a:t>
            </a:r>
            <a:endParaRPr/>
          </a:p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609600" y="18288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●"/>
            </a:pP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Java?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●"/>
            </a:pP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Getting Started With Java Programming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Create, Compile and Running a Java Application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6"/>
          <p:cNvSpPr txBox="1"/>
          <p:nvPr>
            <p:ph type="title"/>
          </p:nvPr>
        </p:nvSpPr>
        <p:spPr>
          <a:xfrm>
            <a:off x="685800" y="0"/>
            <a:ext cx="77724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Characteristics of Java</a:t>
            </a:r>
            <a:endParaRPr/>
          </a:p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685800" y="13716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is simple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is object-oriented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is distributed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is interpreted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is robust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is secure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is architecture-neutral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is portable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Java’s performance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is multithreaded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is dynamic</a:t>
            </a:r>
            <a:endParaRPr/>
          </a:p>
          <a:p>
            <a:pPr indent="-24765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b="0" i="0" sz="20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7"/>
          <p:cNvSpPr txBox="1"/>
          <p:nvPr>
            <p:ph type="title"/>
          </p:nvPr>
        </p:nvSpPr>
        <p:spPr>
          <a:xfrm>
            <a:off x="609600" y="533400"/>
            <a:ext cx="77724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Times New Roman"/>
              <a:buNone/>
            </a:pPr>
            <a:r>
              <a:rPr b="0" i="0" lang="en-US" sz="40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Getting Started with Java Programming</a:t>
            </a:r>
            <a:endParaRPr/>
          </a:p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685800" y="22098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50"/>
              <a:buFont typeface="Arial"/>
              <a:buChar char="●"/>
            </a:pPr>
            <a:r>
              <a:rPr b="0" i="0" lang="en-US" sz="3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Simple Java Application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lt2"/>
              </a:buClr>
              <a:buSzPts val="2550"/>
              <a:buFont typeface="Arial"/>
              <a:buChar char="●"/>
            </a:pPr>
            <a:r>
              <a:rPr b="0" i="0" lang="en-US" sz="3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Compiling Programs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lt2"/>
              </a:buClr>
              <a:buSzPts val="2550"/>
              <a:buFont typeface="Arial"/>
              <a:buChar char="●"/>
            </a:pPr>
            <a:r>
              <a:rPr b="0" i="0" lang="en-US" sz="3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Executing Applications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8"/>
          <p:cNvSpPr txBox="1"/>
          <p:nvPr>
            <p:ph type="title"/>
          </p:nvPr>
        </p:nvSpPr>
        <p:spPr>
          <a:xfrm>
            <a:off x="685800" y="0"/>
            <a:ext cx="77724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Simple Application</a:t>
            </a:r>
            <a:endParaRPr/>
          </a:p>
        </p:txBody>
      </p:sp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457200" y="1295400"/>
            <a:ext cx="83058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0" i="0" lang="en-US" sz="36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1.1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b="0" i="0" lang="en-US" sz="24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//This application program prints Welcome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b="0" i="0" lang="en-US" sz="24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//to Java!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i="0" lang="en-US" sz="24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package chapter1;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i="0" lang="en-US" sz="24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Welcome {	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i="0" lang="en-US" sz="24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public static void main(String[] args) {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i="0" lang="en-US" sz="24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System.out.println("Welcome to Java!");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i="0" lang="en-US" sz="24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i="0" lang="en-US" sz="24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9"/>
          <p:cNvSpPr txBox="1"/>
          <p:nvPr>
            <p:ph type="title"/>
          </p:nvPr>
        </p:nvSpPr>
        <p:spPr>
          <a:xfrm>
            <a:off x="685800" y="0"/>
            <a:ext cx="77724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Anatomy of a Java Program</a:t>
            </a:r>
            <a:endParaRPr/>
          </a:p>
        </p:txBody>
      </p:sp>
      <p:sp>
        <p:nvSpPr>
          <p:cNvPr id="109" name="Google Shape;109;p19"/>
          <p:cNvSpPr txBox="1"/>
          <p:nvPr>
            <p:ph idx="1" type="body"/>
          </p:nvPr>
        </p:nvSpPr>
        <p:spPr>
          <a:xfrm>
            <a:off x="457200" y="1295400"/>
            <a:ext cx="83820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●"/>
            </a:pPr>
            <a:r>
              <a:rPr b="0" i="0" lang="en-US" sz="32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Comments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●"/>
            </a:pPr>
            <a:r>
              <a:rPr b="0" i="0" lang="en-US" sz="32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Reserved words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●"/>
            </a:pPr>
            <a:r>
              <a:rPr b="0" i="0" lang="en-US" sz="32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Modifiers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●"/>
            </a:pPr>
            <a:r>
              <a:rPr b="0" i="0" lang="en-US" sz="32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●"/>
            </a:pPr>
            <a:r>
              <a:rPr b="0" i="0" lang="en-US" sz="32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●"/>
            </a:pPr>
            <a:r>
              <a:rPr b="0" i="0" lang="en-US" sz="32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●"/>
            </a:pPr>
            <a:r>
              <a:rPr b="0" i="0" lang="en-US" sz="32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●"/>
            </a:pPr>
            <a:r>
              <a:rPr b="0" i="0" lang="en-US" sz="32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main method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●"/>
            </a:pPr>
            <a:r>
              <a:rPr b="0" i="0" lang="en-US" sz="32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exit method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0"/>
          <p:cNvSpPr txBox="1"/>
          <p:nvPr>
            <p:ph type="title"/>
          </p:nvPr>
        </p:nvSpPr>
        <p:spPr>
          <a:xfrm>
            <a:off x="685800" y="0"/>
            <a:ext cx="77724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Comments</a:t>
            </a:r>
            <a:endParaRPr/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152400" y="1524000"/>
            <a:ext cx="8991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i="0" lang="en-US" sz="3500" u="none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In Java, comments are preceded by two slashes (</a:t>
            </a:r>
            <a:r>
              <a:rPr b="0" i="0" lang="en-US" sz="3500" u="sng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//</a:t>
            </a:r>
            <a:r>
              <a:rPr b="0" i="0" lang="en-US" sz="3500" u="none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) in a line, or enclosed between </a:t>
            </a:r>
            <a:r>
              <a:rPr b="0" i="0" lang="en-US" sz="3500" u="sng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/*</a:t>
            </a:r>
            <a:r>
              <a:rPr b="0" i="0" lang="en-US" sz="3500" u="none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 and </a:t>
            </a:r>
            <a:r>
              <a:rPr b="0" i="0" lang="en-US" sz="3500" u="sng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*/</a:t>
            </a:r>
            <a:r>
              <a:rPr b="0" i="0" lang="en-US" sz="3500" u="none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 in one or multiple lines. When the compiler sees </a:t>
            </a:r>
            <a:r>
              <a:rPr b="0" i="0" lang="en-US" sz="3500" u="sng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//</a:t>
            </a:r>
            <a:r>
              <a:rPr b="0" i="0" lang="en-US" sz="3500" u="none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, it ignores all text after </a:t>
            </a:r>
            <a:r>
              <a:rPr b="0" i="0" lang="en-US" sz="3500" u="sng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//</a:t>
            </a:r>
            <a:r>
              <a:rPr b="0" i="0" lang="en-US" sz="3500" u="none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 in the same line. When it sees </a:t>
            </a:r>
            <a:r>
              <a:rPr b="0" i="0" lang="en-US" sz="3500" u="sng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/*</a:t>
            </a:r>
            <a:r>
              <a:rPr b="0" i="0" lang="en-US" sz="3500" u="none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, it scans for the next </a:t>
            </a:r>
            <a:r>
              <a:rPr b="0" i="0" lang="en-US" sz="3500" u="sng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*/</a:t>
            </a:r>
            <a:r>
              <a:rPr b="0" i="0" lang="en-US" sz="3500" u="none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 and ignores any text between </a:t>
            </a:r>
            <a:r>
              <a:rPr b="0" i="0" lang="en-US" sz="3500" u="sng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/*</a:t>
            </a:r>
            <a:r>
              <a:rPr b="0" i="0" lang="en-US" sz="3500" u="none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 and </a:t>
            </a:r>
            <a:r>
              <a:rPr b="0" i="0" lang="en-US" sz="3500" u="sng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*/</a:t>
            </a:r>
            <a:r>
              <a:rPr b="0" i="0" lang="en-US" sz="3500" u="none">
                <a:solidFill>
                  <a:schemeClr val="lt2"/>
                </a:solidFill>
                <a:latin typeface="Palatino"/>
                <a:ea typeface="Palatino"/>
                <a:cs typeface="Palatino"/>
                <a:sym typeface="Palatino"/>
              </a:rPr>
              <a:t>. </a:t>
            </a:r>
            <a:endParaRPr sz="1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1"/>
          <p:cNvSpPr txBox="1"/>
          <p:nvPr>
            <p:ph type="title"/>
          </p:nvPr>
        </p:nvSpPr>
        <p:spPr>
          <a:xfrm>
            <a:off x="685800" y="-304800"/>
            <a:ext cx="77724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Reserved Words</a:t>
            </a:r>
            <a:endParaRPr/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152400" y="762000"/>
            <a:ext cx="8991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0" i="1" lang="en-US" sz="3500" u="none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Reserved words</a:t>
            </a:r>
            <a:r>
              <a:rPr b="0" i="0" lang="en-US" sz="3500" u="none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 or </a:t>
            </a:r>
            <a:r>
              <a:rPr b="0" i="1" lang="en-US" sz="3500" u="none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keywords</a:t>
            </a:r>
            <a:r>
              <a:rPr b="0" i="0" lang="en-US" sz="3500" u="none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 are words that have a specific meaning to the compiler and cannot be used for other purposes in the program. For example, when the compiler sees the word </a:t>
            </a:r>
            <a:r>
              <a:rPr b="0" i="0" lang="en-US" sz="3500" u="sng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class</a:t>
            </a:r>
            <a:r>
              <a:rPr b="0" i="0" lang="en-US" sz="3500" u="none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, it understands that the word after </a:t>
            </a:r>
            <a:r>
              <a:rPr b="0" i="0" lang="en-US" sz="3500" u="sng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class</a:t>
            </a:r>
            <a:r>
              <a:rPr b="0" i="0" lang="en-US" sz="3500" u="none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 is the name for the class. Other reserved words in Example 1.1 are </a:t>
            </a:r>
            <a:r>
              <a:rPr b="0" i="0" lang="en-US" sz="3500" u="sng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public</a:t>
            </a:r>
            <a:r>
              <a:rPr b="0" i="0" lang="en-US" sz="3500" u="none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, </a:t>
            </a:r>
            <a:r>
              <a:rPr b="0" i="0" lang="en-US" sz="3500" u="sng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static</a:t>
            </a:r>
            <a:r>
              <a:rPr b="0" i="0" lang="en-US" sz="3500" u="none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, and </a:t>
            </a:r>
            <a:r>
              <a:rPr b="0" i="0" lang="en-US" sz="3500" u="sng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void</a:t>
            </a:r>
            <a:r>
              <a:rPr b="0" i="0" lang="en-US" sz="3500" u="none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. Their use will be introduced later.</a:t>
            </a:r>
            <a:endParaRPr sz="1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2"/>
          <p:cNvSpPr txBox="1"/>
          <p:nvPr>
            <p:ph type="title"/>
          </p:nvPr>
        </p:nvSpPr>
        <p:spPr>
          <a:xfrm>
            <a:off x="685800" y="0"/>
            <a:ext cx="77724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Modifiers</a:t>
            </a:r>
            <a:endParaRPr/>
          </a:p>
        </p:txBody>
      </p:sp>
      <p:sp>
        <p:nvSpPr>
          <p:cNvPr id="130" name="Google Shape;130;p22"/>
          <p:cNvSpPr txBox="1"/>
          <p:nvPr>
            <p:ph idx="1" type="body"/>
          </p:nvPr>
        </p:nvSpPr>
        <p:spPr>
          <a:xfrm>
            <a:off x="152400" y="1371600"/>
            <a:ext cx="8991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0" i="0" lang="en-US" sz="3600" u="none">
                <a:solidFill>
                  <a:schemeClr val="lt2"/>
                </a:solidFill>
                <a:latin typeface="Palatino"/>
                <a:ea typeface="Palatino"/>
                <a:cs typeface="Palatino"/>
                <a:sym typeface="Palatino"/>
              </a:rPr>
              <a:t>Java uses certain reserved words called </a:t>
            </a:r>
            <a:r>
              <a:rPr b="0" i="1" lang="en-US" sz="3600" u="none">
                <a:solidFill>
                  <a:schemeClr val="lt2"/>
                </a:solidFill>
                <a:latin typeface="Palatino"/>
                <a:ea typeface="Palatino"/>
                <a:cs typeface="Palatino"/>
                <a:sym typeface="Palatino"/>
              </a:rPr>
              <a:t>modifiers</a:t>
            </a:r>
            <a:r>
              <a:rPr b="0" i="0" lang="en-US" sz="3600" u="none">
                <a:solidFill>
                  <a:schemeClr val="lt2"/>
                </a:solidFill>
                <a:latin typeface="Palatino"/>
                <a:ea typeface="Palatino"/>
                <a:cs typeface="Palatino"/>
                <a:sym typeface="Palatino"/>
              </a:rPr>
              <a:t> that specify the properties of the data, methods, and classes and how they can be used. Examples of modifiers are </a:t>
            </a:r>
            <a:r>
              <a:rPr b="0" i="0" lang="en-US" sz="3600" u="sng">
                <a:solidFill>
                  <a:schemeClr val="lt2"/>
                </a:solidFill>
                <a:latin typeface="Palatino"/>
                <a:ea typeface="Palatino"/>
                <a:cs typeface="Palatino"/>
                <a:sym typeface="Palatino"/>
              </a:rPr>
              <a:t>public</a:t>
            </a:r>
            <a:r>
              <a:rPr b="0" i="0" lang="en-US" sz="3600" u="none">
                <a:solidFill>
                  <a:schemeClr val="lt2"/>
                </a:solidFill>
                <a:latin typeface="Palatino"/>
                <a:ea typeface="Palatino"/>
                <a:cs typeface="Palatino"/>
                <a:sym typeface="Palatino"/>
              </a:rPr>
              <a:t> and </a:t>
            </a:r>
            <a:r>
              <a:rPr b="0" i="0" lang="en-US" sz="3600" u="sng">
                <a:solidFill>
                  <a:schemeClr val="lt2"/>
                </a:solidFill>
                <a:latin typeface="Palatino"/>
                <a:ea typeface="Palatino"/>
                <a:cs typeface="Palatino"/>
                <a:sym typeface="Palatino"/>
              </a:rPr>
              <a:t>static</a:t>
            </a:r>
            <a:r>
              <a:rPr b="0" i="0" lang="en-US" sz="3600" u="none">
                <a:solidFill>
                  <a:schemeClr val="lt2"/>
                </a:solidFill>
                <a:latin typeface="Palatino"/>
                <a:ea typeface="Palatino"/>
                <a:cs typeface="Palatino"/>
                <a:sym typeface="Palatino"/>
              </a:rPr>
              <a:t>. Other modifiers are </a:t>
            </a:r>
            <a:r>
              <a:rPr b="0" i="0" lang="en-US" sz="3600" u="sng">
                <a:solidFill>
                  <a:schemeClr val="lt2"/>
                </a:solidFill>
                <a:latin typeface="Palatino"/>
                <a:ea typeface="Palatino"/>
                <a:cs typeface="Palatino"/>
                <a:sym typeface="Palatino"/>
              </a:rPr>
              <a:t>private</a:t>
            </a:r>
            <a:r>
              <a:rPr b="0" i="0" lang="en-US" sz="3600" u="none">
                <a:solidFill>
                  <a:schemeClr val="lt2"/>
                </a:solidFill>
                <a:latin typeface="Palatino"/>
                <a:ea typeface="Palatino"/>
                <a:cs typeface="Palatino"/>
                <a:sym typeface="Palatino"/>
              </a:rPr>
              <a:t>, </a:t>
            </a:r>
            <a:r>
              <a:rPr b="0" i="0" lang="en-US" sz="3600" u="sng">
                <a:solidFill>
                  <a:schemeClr val="lt2"/>
                </a:solidFill>
                <a:latin typeface="Palatino"/>
                <a:ea typeface="Palatino"/>
                <a:cs typeface="Palatino"/>
                <a:sym typeface="Palatino"/>
              </a:rPr>
              <a:t>final</a:t>
            </a:r>
            <a:r>
              <a:rPr b="0" i="0" lang="en-US" sz="3600" u="none">
                <a:solidFill>
                  <a:schemeClr val="lt2"/>
                </a:solidFill>
                <a:latin typeface="Palatino"/>
                <a:ea typeface="Palatino"/>
                <a:cs typeface="Palatino"/>
                <a:sym typeface="Palatino"/>
              </a:rPr>
              <a:t>, </a:t>
            </a:r>
            <a:r>
              <a:rPr b="0" i="0" lang="en-US" sz="3600" u="sng">
                <a:solidFill>
                  <a:schemeClr val="lt2"/>
                </a:solidFill>
                <a:latin typeface="Palatino"/>
                <a:ea typeface="Palatino"/>
                <a:cs typeface="Palatino"/>
                <a:sym typeface="Palatino"/>
              </a:rPr>
              <a:t>abstract</a:t>
            </a:r>
            <a:r>
              <a:rPr b="0" i="0" lang="en-US" sz="3600" u="none">
                <a:solidFill>
                  <a:schemeClr val="lt2"/>
                </a:solidFill>
                <a:latin typeface="Palatino"/>
                <a:ea typeface="Palatino"/>
                <a:cs typeface="Palatino"/>
                <a:sym typeface="Palatino"/>
              </a:rPr>
              <a:t>, and </a:t>
            </a:r>
            <a:r>
              <a:rPr b="0" i="0" lang="en-US" sz="3600" u="sng">
                <a:solidFill>
                  <a:schemeClr val="lt2"/>
                </a:solidFill>
                <a:latin typeface="Palatino"/>
                <a:ea typeface="Palatino"/>
                <a:cs typeface="Palatino"/>
                <a:sym typeface="Palatino"/>
              </a:rPr>
              <a:t>protected</a:t>
            </a:r>
            <a:r>
              <a:rPr b="0" i="0" lang="en-US" sz="3600" u="none">
                <a:solidFill>
                  <a:schemeClr val="lt2"/>
                </a:solidFill>
                <a:latin typeface="Palatino"/>
                <a:ea typeface="Palatino"/>
                <a:cs typeface="Palatino"/>
                <a:sym typeface="Palatino"/>
              </a:rPr>
              <a:t>. A </a:t>
            </a:r>
            <a:r>
              <a:rPr b="0" i="0" lang="en-US" sz="3600" u="sng">
                <a:solidFill>
                  <a:schemeClr val="lt2"/>
                </a:solidFill>
                <a:latin typeface="Palatino"/>
                <a:ea typeface="Palatino"/>
                <a:cs typeface="Palatino"/>
                <a:sym typeface="Palatino"/>
              </a:rPr>
              <a:t>public</a:t>
            </a:r>
            <a:r>
              <a:rPr b="0" i="0" lang="en-US" sz="3600" u="none">
                <a:solidFill>
                  <a:schemeClr val="lt2"/>
                </a:solidFill>
                <a:latin typeface="Palatino"/>
                <a:ea typeface="Palatino"/>
                <a:cs typeface="Palatino"/>
                <a:sym typeface="Palatino"/>
              </a:rPr>
              <a:t> datum, method, or class can be accessed by other programs. A </a:t>
            </a:r>
            <a:r>
              <a:rPr b="0" i="0" lang="en-US" sz="3600" u="sng">
                <a:solidFill>
                  <a:schemeClr val="lt2"/>
                </a:solidFill>
                <a:latin typeface="Palatino"/>
                <a:ea typeface="Palatino"/>
                <a:cs typeface="Palatino"/>
                <a:sym typeface="Palatino"/>
              </a:rPr>
              <a:t>private</a:t>
            </a:r>
            <a:r>
              <a:rPr b="0" i="0" lang="en-US" sz="3600" u="none">
                <a:solidFill>
                  <a:schemeClr val="lt2"/>
                </a:solidFill>
                <a:latin typeface="Palatino"/>
                <a:ea typeface="Palatino"/>
                <a:cs typeface="Palatino"/>
                <a:sym typeface="Palatino"/>
              </a:rPr>
              <a:t> datum or method cannot be accessed by other programs.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3"/>
          <p:cNvSpPr txBox="1"/>
          <p:nvPr>
            <p:ph type="title"/>
          </p:nvPr>
        </p:nvSpPr>
        <p:spPr>
          <a:xfrm>
            <a:off x="685800" y="-381000"/>
            <a:ext cx="77724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Statements</a:t>
            </a:r>
            <a:endParaRPr/>
          </a:p>
        </p:txBody>
      </p:sp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152400" y="685800"/>
            <a:ext cx="8991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i="0" lang="en-US" sz="3900" u="none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A </a:t>
            </a:r>
            <a:r>
              <a:rPr b="0" i="1" lang="en-US" sz="3900" u="none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statement</a:t>
            </a:r>
            <a:r>
              <a:rPr b="0" i="0" lang="en-US" sz="3900" u="none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 represents an action or a sequence of actions. The statement </a:t>
            </a:r>
            <a:r>
              <a:rPr b="0" i="0" lang="en-US" sz="3900" u="sng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System.out.println("Welcome to Java!")</a:t>
            </a:r>
            <a:r>
              <a:rPr b="0" i="0" lang="en-US" sz="3900" u="none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; in the program in Example 1.1 is a statement to display the greeting "Welcome to Java!" Every statement in Java ends with a semicolon (;).</a:t>
            </a:r>
            <a:endParaRPr sz="1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4"/>
          <p:cNvSpPr txBox="1"/>
          <p:nvPr>
            <p:ph type="title"/>
          </p:nvPr>
        </p:nvSpPr>
        <p:spPr>
          <a:xfrm>
            <a:off x="685800" y="152400"/>
            <a:ext cx="7772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Blocks</a:t>
            </a:r>
            <a:endParaRPr/>
          </a:p>
        </p:txBody>
      </p:sp>
      <p:sp>
        <p:nvSpPr>
          <p:cNvPr id="144" name="Google Shape;144;p24"/>
          <p:cNvSpPr txBox="1"/>
          <p:nvPr/>
        </p:nvSpPr>
        <p:spPr>
          <a:xfrm>
            <a:off x="2027237" y="1795462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1943100" y="1882775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24"/>
          <p:cNvSpPr txBox="1"/>
          <p:nvPr/>
        </p:nvSpPr>
        <p:spPr>
          <a:xfrm>
            <a:off x="1943100" y="2182812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24"/>
          <p:cNvSpPr txBox="1"/>
          <p:nvPr/>
        </p:nvSpPr>
        <p:spPr>
          <a:xfrm>
            <a:off x="2438400" y="19812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24"/>
          <p:cNvSpPr txBox="1"/>
          <p:nvPr/>
        </p:nvSpPr>
        <p:spPr>
          <a:xfrm>
            <a:off x="2655887" y="14287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24"/>
          <p:cNvSpPr txBox="1"/>
          <p:nvPr/>
        </p:nvSpPr>
        <p:spPr>
          <a:xfrm>
            <a:off x="2743200" y="23241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24"/>
          <p:cNvSpPr txBox="1"/>
          <p:nvPr/>
        </p:nvSpPr>
        <p:spPr>
          <a:xfrm>
            <a:off x="2400300" y="27051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24"/>
          <p:cNvSpPr txBox="1"/>
          <p:nvPr/>
        </p:nvSpPr>
        <p:spPr>
          <a:xfrm>
            <a:off x="0" y="1066800"/>
            <a:ext cx="9144000" cy="131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ourier"/>
              <a:buNone/>
            </a:pPr>
            <a:r>
              <a:rPr b="0" i="0" lang="en-US" sz="4000" u="none" cap="none" strike="noStrike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A pair of braces in a program forms a block that groups components of a program.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4"/>
          <p:cNvSpPr txBox="1"/>
          <p:nvPr/>
        </p:nvSpPr>
        <p:spPr>
          <a:xfrm>
            <a:off x="2400300" y="29718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3" name="Google Shape;15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33400" y="3276600"/>
            <a:ext cx="9677400" cy="2036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5"/>
          <p:cNvSpPr txBox="1"/>
          <p:nvPr>
            <p:ph type="title"/>
          </p:nvPr>
        </p:nvSpPr>
        <p:spPr>
          <a:xfrm>
            <a:off x="685800" y="0"/>
            <a:ext cx="77724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Classes</a:t>
            </a:r>
            <a:endParaRPr/>
          </a:p>
        </p:txBody>
      </p:sp>
      <p:sp>
        <p:nvSpPr>
          <p:cNvPr id="160" name="Google Shape;160;p25"/>
          <p:cNvSpPr txBox="1"/>
          <p:nvPr>
            <p:ph idx="1" type="body"/>
          </p:nvPr>
        </p:nvSpPr>
        <p:spPr>
          <a:xfrm>
            <a:off x="152400" y="1371600"/>
            <a:ext cx="8991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0" i="0" lang="en-US" sz="3600" u="none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The </a:t>
            </a:r>
            <a:r>
              <a:rPr b="0" i="1" lang="en-US" sz="3600" u="none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class</a:t>
            </a:r>
            <a:r>
              <a:rPr b="0" i="0" lang="en-US" sz="3600" u="none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 is the essential Java construct. A class is a template or blueprint for objects.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SzPts val="2700"/>
              <a:buNone/>
            </a:pPr>
            <a:r>
              <a:t/>
            </a:r>
            <a:endParaRPr b="0" i="0" sz="3600" u="none">
              <a:solidFill>
                <a:schemeClr val="lt2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700"/>
              <a:buNone/>
            </a:pPr>
            <a:r>
              <a:rPr b="0" i="0" lang="en-US" sz="3600" u="none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A java program is defined by using one or more classes.</a:t>
            </a:r>
            <a:r>
              <a:rPr b="0" i="0" lang="en-US" sz="4000" u="none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6"/>
          <p:cNvSpPr txBox="1"/>
          <p:nvPr>
            <p:ph type="title"/>
          </p:nvPr>
        </p:nvSpPr>
        <p:spPr>
          <a:xfrm>
            <a:off x="685800" y="0"/>
            <a:ext cx="77724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Methods</a:t>
            </a:r>
            <a:endParaRPr/>
          </a:p>
        </p:txBody>
      </p:sp>
      <p:sp>
        <p:nvSpPr>
          <p:cNvPr id="167" name="Google Shape;167;p26"/>
          <p:cNvSpPr txBox="1"/>
          <p:nvPr>
            <p:ph idx="1" type="body"/>
          </p:nvPr>
        </p:nvSpPr>
        <p:spPr>
          <a:xfrm>
            <a:off x="152400" y="1143000"/>
            <a:ext cx="89916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●"/>
            </a:pPr>
            <a:r>
              <a:rPr b="0" i="0" lang="en-US" sz="3200" u="none">
                <a:solidFill>
                  <a:schemeClr val="lt2"/>
                </a:solidFill>
                <a:latin typeface="Palatino"/>
                <a:ea typeface="Palatino"/>
                <a:cs typeface="Palatino"/>
                <a:sym typeface="Palatino"/>
              </a:rPr>
              <a:t>What is </a:t>
            </a:r>
            <a:r>
              <a:rPr b="0" i="0" lang="en-US" sz="3200" u="sng">
                <a:solidFill>
                  <a:schemeClr val="lt2"/>
                </a:solidFill>
                <a:latin typeface="Palatino"/>
                <a:ea typeface="Palatino"/>
                <a:cs typeface="Palatino"/>
                <a:sym typeface="Palatino"/>
              </a:rPr>
              <a:t>System.out.println</a:t>
            </a:r>
            <a:r>
              <a:rPr b="0" i="0" lang="en-US" sz="3200" u="none">
                <a:solidFill>
                  <a:schemeClr val="lt2"/>
                </a:solidFill>
                <a:latin typeface="Palatino"/>
                <a:ea typeface="Palatino"/>
                <a:cs typeface="Palatino"/>
                <a:sym typeface="Palatino"/>
              </a:rPr>
              <a:t>? It is a </a:t>
            </a:r>
            <a:r>
              <a:rPr b="0" i="1" lang="en-US" sz="3200" u="none">
                <a:solidFill>
                  <a:schemeClr val="lt2"/>
                </a:solidFill>
                <a:latin typeface="Palatino"/>
                <a:ea typeface="Palatino"/>
                <a:cs typeface="Palatino"/>
                <a:sym typeface="Palatino"/>
              </a:rPr>
              <a:t>method</a:t>
            </a:r>
            <a:r>
              <a:rPr b="0" i="0" lang="en-US" sz="3200" u="none">
                <a:solidFill>
                  <a:schemeClr val="lt2"/>
                </a:solidFill>
                <a:latin typeface="Palatino"/>
                <a:ea typeface="Palatino"/>
                <a:cs typeface="Palatino"/>
                <a:sym typeface="Palatino"/>
              </a:rPr>
              <a:t>: a collection of statements that performs a sequence of operations to display a message on the console.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●"/>
            </a:pPr>
            <a:r>
              <a:rPr b="0" i="0" lang="en-US" sz="3200" u="none">
                <a:solidFill>
                  <a:schemeClr val="lt2"/>
                </a:solidFill>
                <a:latin typeface="Palatino"/>
                <a:ea typeface="Palatino"/>
                <a:cs typeface="Palatino"/>
                <a:sym typeface="Palatino"/>
              </a:rPr>
              <a:t> It can be used even without fully understanding the details of how it works.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●"/>
            </a:pPr>
            <a:r>
              <a:rPr b="0" i="0" lang="en-US" sz="3200" u="none">
                <a:solidFill>
                  <a:schemeClr val="lt2"/>
                </a:solidFill>
                <a:latin typeface="Palatino"/>
                <a:ea typeface="Palatino"/>
                <a:cs typeface="Palatino"/>
                <a:sym typeface="Palatino"/>
              </a:rPr>
              <a:t>It is used by invoking a statement with a string argument. The string argument is enclosed within parentheses. In this case, the argument is </a:t>
            </a:r>
            <a:r>
              <a:rPr b="0" i="0" lang="en-US" sz="3200" u="sng">
                <a:solidFill>
                  <a:schemeClr val="lt2"/>
                </a:solidFill>
                <a:latin typeface="Palatino"/>
                <a:ea typeface="Palatino"/>
                <a:cs typeface="Palatino"/>
                <a:sym typeface="Palatino"/>
              </a:rPr>
              <a:t>"Welcome to Java!"</a:t>
            </a:r>
            <a:r>
              <a:rPr b="0" i="0" lang="en-US" sz="3200" u="none">
                <a:solidFill>
                  <a:schemeClr val="lt2"/>
                </a:solidFill>
                <a:latin typeface="Palatino"/>
                <a:ea typeface="Palatino"/>
                <a:cs typeface="Palatino"/>
                <a:sym typeface="Palatino"/>
              </a:rPr>
              <a:t>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●"/>
            </a:pPr>
            <a:r>
              <a:rPr b="0" i="0" lang="en-US" sz="3200" u="none">
                <a:solidFill>
                  <a:schemeClr val="lt2"/>
                </a:solidFill>
                <a:latin typeface="Palatino"/>
                <a:ea typeface="Palatino"/>
                <a:cs typeface="Palatino"/>
                <a:sym typeface="Palatino"/>
              </a:rPr>
              <a:t>You can call the same </a:t>
            </a:r>
            <a:r>
              <a:rPr b="0" i="0" lang="en-US" sz="3200" u="sng">
                <a:solidFill>
                  <a:schemeClr val="lt2"/>
                </a:solidFill>
                <a:latin typeface="Palatino"/>
                <a:ea typeface="Palatino"/>
                <a:cs typeface="Palatino"/>
                <a:sym typeface="Palatino"/>
              </a:rPr>
              <a:t>println</a:t>
            </a:r>
            <a:r>
              <a:rPr b="0" i="0" lang="en-US" sz="3200" u="none">
                <a:solidFill>
                  <a:schemeClr val="lt2"/>
                </a:solidFill>
                <a:latin typeface="Palatino"/>
                <a:ea typeface="Palatino"/>
                <a:cs typeface="Palatino"/>
                <a:sym typeface="Palatino"/>
              </a:rPr>
              <a:t> method with a different argument to print a different message.</a:t>
            </a:r>
            <a:r>
              <a:rPr b="0" i="0" lang="en-US" sz="3200" u="none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7"/>
          <p:cNvSpPr txBox="1"/>
          <p:nvPr>
            <p:ph type="title"/>
          </p:nvPr>
        </p:nvSpPr>
        <p:spPr>
          <a:xfrm>
            <a:off x="685800" y="-304800"/>
            <a:ext cx="77724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 Method</a:t>
            </a:r>
            <a:endParaRPr/>
          </a:p>
        </p:txBody>
      </p:sp>
      <p:sp>
        <p:nvSpPr>
          <p:cNvPr id="174" name="Google Shape;174;p27"/>
          <p:cNvSpPr txBox="1"/>
          <p:nvPr>
            <p:ph idx="1" type="body"/>
          </p:nvPr>
        </p:nvSpPr>
        <p:spPr>
          <a:xfrm>
            <a:off x="152400" y="533400"/>
            <a:ext cx="89916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0" i="0" lang="en-US" sz="3600" u="none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The </a:t>
            </a:r>
            <a:r>
              <a:rPr b="0" i="0" lang="en-US" sz="3600" u="sng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main</a:t>
            </a:r>
            <a:r>
              <a:rPr b="0" i="0" lang="en-US" sz="3600" u="none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 method provides the control of program flow. The Java interpreter executes the application by invoking the </a:t>
            </a:r>
            <a:r>
              <a:rPr b="0" i="0" lang="en-US" sz="3600" u="sng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main</a:t>
            </a:r>
            <a:r>
              <a:rPr b="0" i="0" lang="en-US" sz="3600" u="none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 method. 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SzPts val="2700"/>
              <a:buNone/>
            </a:pPr>
            <a:r>
              <a:rPr b="0" i="0" lang="en-US" sz="3600" u="none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 </a:t>
            </a:r>
            <a:endParaRPr b="0" i="0" sz="3600" u="none">
              <a:solidFill>
                <a:schemeClr val="lt2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SzPts val="2700"/>
              <a:buNone/>
            </a:pPr>
            <a:r>
              <a:rPr b="0" i="0" lang="en-US" sz="3600" u="none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The </a:t>
            </a:r>
            <a:r>
              <a:rPr b="0" i="0" lang="en-US" sz="3600" u="sng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main</a:t>
            </a:r>
            <a:r>
              <a:rPr b="0" i="0" lang="en-US" sz="3600" u="none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 method looks like this: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SzPts val="2700"/>
              <a:buNone/>
            </a:pPr>
            <a:r>
              <a:rPr b="0" i="0" lang="en-US" sz="3600" u="none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 </a:t>
            </a:r>
            <a:endParaRPr b="0" i="0" sz="3600" u="none">
              <a:solidFill>
                <a:schemeClr val="lt2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SzPts val="2700"/>
              <a:buNone/>
            </a:pPr>
            <a:r>
              <a:rPr b="0" i="0" lang="en-US" sz="3600" u="none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public static void main(String[] args)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SzPts val="2700"/>
              <a:buNone/>
            </a:pPr>
            <a:r>
              <a:rPr b="0" i="0" lang="en-US" sz="3600" u="none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  // Statements; }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8"/>
          <p:cNvSpPr txBox="1"/>
          <p:nvPr>
            <p:ph type="title"/>
          </p:nvPr>
        </p:nvSpPr>
        <p:spPr>
          <a:xfrm>
            <a:off x="685800" y="0"/>
            <a:ext cx="77724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exit Method </a:t>
            </a:r>
            <a:endParaRPr/>
          </a:p>
        </p:txBody>
      </p:sp>
      <p:sp>
        <p:nvSpPr>
          <p:cNvPr id="181" name="Google Shape;181;p28"/>
          <p:cNvSpPr txBox="1"/>
          <p:nvPr>
            <p:ph idx="1" type="body"/>
          </p:nvPr>
        </p:nvSpPr>
        <p:spPr>
          <a:xfrm>
            <a:off x="457200" y="1295400"/>
            <a:ext cx="8458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i="0" lang="en-US" sz="40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Exit to terminate the program and stop all threads.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b="0" i="0" sz="4000" u="none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000"/>
              <a:buNone/>
            </a:pPr>
            <a:r>
              <a:rPr b="0" i="0" lang="en-US" sz="40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your program starts, a thread is spawned to run the program. To terminate the thread, you have to invoke the exit method.</a:t>
            </a:r>
            <a:r>
              <a:rPr b="0" i="0" lang="en-US" sz="2800" u="sng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b="0" i="0" sz="2800" u="none">
              <a:solidFill>
                <a:schemeClr val="lt2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20955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b="0" i="0" sz="2800" u="none">
              <a:solidFill>
                <a:schemeClr val="lt2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82" name="Google Shape;182;p28"/>
          <p:cNvSpPr txBox="1"/>
          <p:nvPr/>
        </p:nvSpPr>
        <p:spPr>
          <a:xfrm>
            <a:off x="3543300" y="26177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9"/>
          <p:cNvSpPr txBox="1"/>
          <p:nvPr>
            <p:ph type="title"/>
          </p:nvPr>
        </p:nvSpPr>
        <p:spPr>
          <a:xfrm>
            <a:off x="685800" y="2286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Identifiers</a:t>
            </a:r>
            <a:endParaRPr/>
          </a:p>
        </p:txBody>
      </p:sp>
      <p:sp>
        <p:nvSpPr>
          <p:cNvPr id="189" name="Google Shape;189;p29"/>
          <p:cNvSpPr txBox="1"/>
          <p:nvPr>
            <p:ph idx="1" type="body"/>
          </p:nvPr>
        </p:nvSpPr>
        <p:spPr>
          <a:xfrm>
            <a:off x="228600" y="838200"/>
            <a:ext cx="86868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Arial"/>
              <a:buChar char="●"/>
            </a:pPr>
            <a:r>
              <a:rPr b="0" i="0" lang="en-US" sz="28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An identifier is a sequence of characters that consist of letters, digits, underscores (_), and dollar signs ($).</a:t>
            </a: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Arial"/>
              <a:buChar char="●"/>
            </a:pPr>
            <a:r>
              <a:rPr b="0" i="0" lang="en-US" sz="28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An identifier must start with a letter, an underscore (_), or a dollar sign ($). It cannot start with a digit.</a:t>
            </a: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Arial"/>
              <a:buChar char="●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identifier cannot be a reserved word. (See Appendix A, “Java Keywords,” for a list of reserved words).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Arial"/>
              <a:buChar char="●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identifier cannot be</a:t>
            </a: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6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0" lang="en-US" sz="26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or</a:t>
            </a:r>
            <a:b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6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Arial"/>
              <a:buChar char="●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identifier can be of any length.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0"/>
          <p:cNvSpPr txBox="1"/>
          <p:nvPr>
            <p:ph type="title"/>
          </p:nvPr>
        </p:nvSpPr>
        <p:spPr>
          <a:xfrm>
            <a:off x="381000" y="0"/>
            <a:ext cx="84582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Times New Roman"/>
              <a:buNone/>
            </a:pPr>
            <a:r>
              <a:rPr b="0" i="0" lang="en-US" sz="36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Primitive Data Types and Operations</a:t>
            </a:r>
            <a:endParaRPr/>
          </a:p>
        </p:txBody>
      </p:sp>
      <p:sp>
        <p:nvSpPr>
          <p:cNvPr id="196" name="Google Shape;196;p30"/>
          <p:cNvSpPr txBox="1"/>
          <p:nvPr>
            <p:ph idx="1" type="body"/>
          </p:nvPr>
        </p:nvSpPr>
        <p:spPr>
          <a:xfrm>
            <a:off x="304800" y="1371600"/>
            <a:ext cx="81534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50"/>
              <a:buFont typeface="Arial"/>
              <a:buChar char="●"/>
            </a:pPr>
            <a:r>
              <a:rPr b="0" i="0" lang="en-US" sz="26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Introduce Programming with an Example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lt2"/>
              </a:buClr>
              <a:buSzPts val="1950"/>
              <a:buFont typeface="Arial"/>
              <a:buChar char="●"/>
            </a:pPr>
            <a:r>
              <a:rPr b="0" i="0" lang="en-US" sz="26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Identifiers, Variables, and Constants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lt2"/>
              </a:buClr>
              <a:buSzPts val="1950"/>
              <a:buFont typeface="Arial"/>
              <a:buChar char="●"/>
            </a:pPr>
            <a:r>
              <a:rPr b="0" i="0" lang="en-US" sz="26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Primitive Data Types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Times New Roman"/>
              <a:buChar char="–"/>
            </a:pPr>
            <a:r>
              <a:rPr b="0" i="0" lang="en-US" sz="2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byte, short, int, long, float, double, char, boolean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lt2"/>
              </a:buClr>
              <a:buSzPts val="1950"/>
              <a:buFont typeface="Arial"/>
              <a:buChar char="●"/>
            </a:pPr>
            <a:r>
              <a:rPr b="0" i="0" lang="en-US" sz="26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Expressions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lt2"/>
              </a:buClr>
              <a:buSzPts val="1950"/>
              <a:buFont typeface="Arial"/>
              <a:buChar char="●"/>
            </a:pPr>
            <a:r>
              <a:rPr b="0" i="0" lang="en-US" sz="26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Operators, Precedence, Associativity, Operand Evaluation Order: ++, --, *, /, %, +=, -=, *=, /=, %=, ^, &amp;, |, +, -,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lt2"/>
              </a:buClr>
              <a:buSzPts val="1950"/>
              <a:buFont typeface="Arial"/>
              <a:buChar char="●"/>
            </a:pPr>
            <a:r>
              <a:rPr b="0" i="0" lang="en-US" sz="26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Getting Input from Input Dialog Boxes</a:t>
            </a:r>
            <a:r>
              <a:rPr b="0" i="0" lang="en-US" sz="26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lt2"/>
              </a:buClr>
              <a:buSzPts val="1950"/>
              <a:buFont typeface="Arial"/>
              <a:buChar char="●"/>
            </a:pPr>
            <a:r>
              <a:rPr b="0" i="0" lang="en-US" sz="26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Studies </a:t>
            </a:r>
            <a:r>
              <a:rPr b="0" i="0" lang="en-US" sz="2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(Computing Mortgage, and Computing Changes)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lt2"/>
              </a:buClr>
              <a:buSzPts val="1950"/>
              <a:buFont typeface="Arial"/>
              <a:buChar char="●"/>
            </a:pPr>
            <a:r>
              <a:rPr b="0" i="0" lang="en-US" sz="26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Style and Documentation Guidelines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lt2"/>
              </a:buClr>
              <a:buSzPts val="1950"/>
              <a:buFont typeface="Arial"/>
              <a:buChar char="●"/>
            </a:pPr>
            <a:r>
              <a:rPr b="0" i="0" lang="en-US" sz="26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Syntax Errors, Runtime Errors, and Logic Errors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1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31"/>
          <p:cNvSpPr txBox="1"/>
          <p:nvPr>
            <p:ph type="title"/>
          </p:nvPr>
        </p:nvSpPr>
        <p:spPr>
          <a:xfrm>
            <a:off x="685800" y="0"/>
            <a:ext cx="77724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Variables</a:t>
            </a:r>
            <a:endParaRPr/>
          </a:p>
        </p:txBody>
      </p:sp>
      <p:sp>
        <p:nvSpPr>
          <p:cNvPr id="203" name="Google Shape;203;p31"/>
          <p:cNvSpPr txBox="1"/>
          <p:nvPr>
            <p:ph idx="1" type="body"/>
          </p:nvPr>
        </p:nvSpPr>
        <p:spPr>
          <a:xfrm>
            <a:off x="609600" y="1447800"/>
            <a:ext cx="79248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50"/>
              <a:buNone/>
            </a:pPr>
            <a:r>
              <a:rPr b="0" i="0" lang="en-US" sz="26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// Compute the first area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50"/>
              <a:buNone/>
            </a:pPr>
            <a:r>
              <a:rPr b="0" i="0" lang="en-US" sz="26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radius = 1.0;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50"/>
              <a:buNone/>
            </a:pPr>
            <a:r>
              <a:rPr b="0" i="0" lang="en-US" sz="26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area = radius*radius*3.14159;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50"/>
              <a:buNone/>
            </a:pPr>
            <a:r>
              <a:rPr b="0" i="0" lang="en-US" sz="26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System.out.println("The area is “ + area + " for radius "+radius);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50"/>
              <a:buNone/>
            </a:pPr>
            <a:r>
              <a:t/>
            </a:r>
            <a:endParaRPr b="0" i="0" sz="2600" u="non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50"/>
              <a:buNone/>
            </a:pPr>
            <a:r>
              <a:rPr b="0" i="0" lang="en-US" sz="26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// Compute the second area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50"/>
              <a:buNone/>
            </a:pPr>
            <a:r>
              <a:rPr b="0" i="0" lang="en-US" sz="26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radius = 2.0;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50"/>
              <a:buNone/>
            </a:pPr>
            <a:r>
              <a:rPr b="0" i="0" lang="en-US" sz="26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area = radius*radius*3.14159;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50"/>
              <a:buNone/>
            </a:pPr>
            <a:r>
              <a:rPr b="0" i="0" lang="en-US" sz="26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System.out.println("The area is “ + area + " for radius "+radius);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2"/>
          <p:cNvSpPr txBox="1"/>
          <p:nvPr>
            <p:ph type="title"/>
          </p:nvPr>
        </p:nvSpPr>
        <p:spPr>
          <a:xfrm>
            <a:off x="685800" y="0"/>
            <a:ext cx="77724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Declaring Variables</a:t>
            </a:r>
            <a:endParaRPr/>
          </a:p>
        </p:txBody>
      </p:sp>
      <p:sp>
        <p:nvSpPr>
          <p:cNvPr id="210" name="Google Shape;210;p32"/>
          <p:cNvSpPr txBox="1"/>
          <p:nvPr>
            <p:ph idx="1" type="body"/>
          </p:nvPr>
        </p:nvSpPr>
        <p:spPr>
          <a:xfrm>
            <a:off x="914400" y="1371600"/>
            <a:ext cx="8153400" cy="291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50"/>
              <a:buNone/>
            </a:pPr>
            <a:r>
              <a:rPr b="0" i="0" lang="en-US" sz="26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int x;         // Declare x to be an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50"/>
              <a:buNone/>
            </a:pPr>
            <a:r>
              <a:rPr b="0" i="0" lang="en-US" sz="26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// integer variable;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1950"/>
              <a:buNone/>
            </a:pPr>
            <a:r>
              <a:rPr b="0" i="0" lang="en-US" sz="26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double radius; // Declare radius to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50"/>
              <a:buNone/>
            </a:pPr>
            <a:r>
              <a:rPr b="0" i="0" lang="en-US" sz="26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// be a double variable;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1950"/>
              <a:buNone/>
            </a:pPr>
            <a:r>
              <a:rPr b="0" i="0" lang="en-US" sz="26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char a;        // Declare a to be a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50"/>
              <a:buNone/>
            </a:pPr>
            <a:r>
              <a:rPr b="0" i="0" lang="en-US" sz="26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// character variable;</a:t>
            </a:r>
            <a:endParaRPr/>
          </a:p>
          <a:p>
            <a:pPr indent="-219075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950"/>
              <a:buNone/>
            </a:pPr>
            <a:r>
              <a:t/>
            </a:r>
            <a:endParaRPr b="0" i="0" sz="2600" u="non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3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33"/>
          <p:cNvSpPr txBox="1"/>
          <p:nvPr>
            <p:ph type="title"/>
          </p:nvPr>
        </p:nvSpPr>
        <p:spPr>
          <a:xfrm>
            <a:off x="685800" y="0"/>
            <a:ext cx="77724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Numerical Data Types (p.33)</a:t>
            </a:r>
            <a:endParaRPr/>
          </a:p>
        </p:txBody>
      </p:sp>
      <p:sp>
        <p:nvSpPr>
          <p:cNvPr id="217" name="Google Shape;217;p33"/>
          <p:cNvSpPr txBox="1"/>
          <p:nvPr>
            <p:ph idx="1" type="body"/>
          </p:nvPr>
        </p:nvSpPr>
        <p:spPr>
          <a:xfrm>
            <a:off x="1981200" y="1676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i="0" lang="en-US" sz="30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byte</a:t>
            </a:r>
            <a:r>
              <a:rPr b="0" i="0" lang="en-US" sz="28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 bits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250"/>
              <a:buNone/>
            </a:pPr>
            <a:r>
              <a:rPr b="0" i="0" lang="en-US" sz="30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short</a:t>
            </a:r>
            <a:r>
              <a:rPr b="0" i="0" lang="en-US" sz="28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</a:t>
            </a: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 bits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250"/>
              <a:buNone/>
            </a:pPr>
            <a:r>
              <a:rPr b="0" i="0" lang="en-US" sz="30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0" i="0" lang="en-US" sz="28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 bits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250"/>
              <a:buNone/>
            </a:pPr>
            <a:r>
              <a:rPr b="0" i="0" lang="en-US" sz="30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b="0" i="0" lang="en-US" sz="28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64 bits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250"/>
              <a:buNone/>
            </a:pPr>
            <a:r>
              <a:rPr b="0" i="0" lang="en-US" sz="30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r>
              <a:rPr b="0" i="0" lang="en-US" sz="28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</a:t>
            </a: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 bits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250"/>
              <a:buNone/>
            </a:pPr>
            <a:r>
              <a:rPr b="0" i="0" lang="en-US" sz="30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b="0" i="0" lang="en-US" sz="28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64 bits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4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4"/>
          <p:cNvSpPr txBox="1"/>
          <p:nvPr>
            <p:ph type="title"/>
          </p:nvPr>
        </p:nvSpPr>
        <p:spPr>
          <a:xfrm>
            <a:off x="685800" y="0"/>
            <a:ext cx="77724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 Statements</a:t>
            </a:r>
            <a:endParaRPr/>
          </a:p>
        </p:txBody>
      </p:sp>
      <p:sp>
        <p:nvSpPr>
          <p:cNvPr id="224" name="Google Shape;224;p34"/>
          <p:cNvSpPr txBox="1"/>
          <p:nvPr>
            <p:ph idx="1" type="body"/>
          </p:nvPr>
        </p:nvSpPr>
        <p:spPr>
          <a:xfrm>
            <a:off x="685800" y="1371600"/>
            <a:ext cx="8153400" cy="299085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0"/>
              <a:buNone/>
            </a:pPr>
            <a:r>
              <a:rPr b="0" i="0" lang="en-US" sz="26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x = 1;          // Assign 1 to x;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950"/>
              </a:spcBef>
              <a:spcAft>
                <a:spcPts val="0"/>
              </a:spcAft>
              <a:buSzPts val="1950"/>
              <a:buNone/>
            </a:pPr>
            <a:r>
              <a:rPr b="0" i="0" lang="en-US" sz="26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radius = 1.0;   // Assign 1.0 to radius;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950"/>
              <a:buNone/>
            </a:pPr>
            <a:r>
              <a:rPr b="0" i="0" lang="en-US" sz="26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 = 'A';        // Assign 'A' to a;</a:t>
            </a:r>
            <a:br>
              <a:rPr b="0" i="0" lang="en-US" sz="28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5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5"/>
          <p:cNvSpPr txBox="1"/>
          <p:nvPr>
            <p:ph type="title"/>
          </p:nvPr>
        </p:nvSpPr>
        <p:spPr>
          <a:xfrm>
            <a:off x="685800" y="228600"/>
            <a:ext cx="77724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Declaring and Initializing</a:t>
            </a:r>
            <a:b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One Step</a:t>
            </a:r>
            <a:endParaRPr/>
          </a:p>
        </p:txBody>
      </p:sp>
      <p:sp>
        <p:nvSpPr>
          <p:cNvPr id="231" name="Google Shape;231;p35"/>
          <p:cNvSpPr txBox="1"/>
          <p:nvPr>
            <p:ph idx="1" type="body"/>
          </p:nvPr>
        </p:nvSpPr>
        <p:spPr>
          <a:xfrm>
            <a:off x="685800" y="2057400"/>
            <a:ext cx="6324600" cy="337185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50"/>
              <a:buFont typeface="Arial"/>
              <a:buChar char="●"/>
            </a:pPr>
            <a:r>
              <a:rPr b="0" i="0" lang="en-US" sz="30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int x = 1;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lt2"/>
              </a:buClr>
              <a:buSzPts val="2250"/>
              <a:buFont typeface="Arial"/>
              <a:buChar char="●"/>
            </a:pPr>
            <a:r>
              <a:rPr b="0" i="0" lang="en-US" sz="30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double d = 1.4;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lt2"/>
              </a:buClr>
              <a:buSzPts val="2250"/>
              <a:buFont typeface="Arial"/>
              <a:buChar char="●"/>
            </a:pPr>
            <a:r>
              <a:rPr b="0" i="0" lang="en-US" sz="30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float f = 1.4;</a:t>
            </a:r>
            <a:endParaRPr b="0" i="0" sz="2800" u="non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None/>
            </a:pP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Is this statement correct?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6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6"/>
          <p:cNvSpPr txBox="1"/>
          <p:nvPr>
            <p:ph type="title"/>
          </p:nvPr>
        </p:nvSpPr>
        <p:spPr>
          <a:xfrm>
            <a:off x="685800" y="0"/>
            <a:ext cx="77724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Constants</a:t>
            </a:r>
            <a:endParaRPr/>
          </a:p>
        </p:txBody>
      </p:sp>
      <p:sp>
        <p:nvSpPr>
          <p:cNvPr id="238" name="Google Shape;238;p36"/>
          <p:cNvSpPr txBox="1"/>
          <p:nvPr>
            <p:ph idx="1" type="body"/>
          </p:nvPr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0"/>
              <a:buNone/>
            </a:pPr>
            <a:r>
              <a:rPr b="0" i="0" lang="en-US" sz="26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final datatype CONSTANTNAME = VALUE;  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950"/>
              <a:buNone/>
            </a:pPr>
            <a:r>
              <a:t/>
            </a:r>
            <a:endParaRPr b="0" i="0" sz="2600" u="non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950"/>
              <a:buNone/>
            </a:pPr>
            <a:r>
              <a:rPr b="0" i="0" lang="en-US" sz="26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final double PI = 3.14159;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950"/>
              <a:buNone/>
            </a:pPr>
            <a:r>
              <a:rPr b="0" i="0" lang="en-US" sz="26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final int SIZE = 3;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7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37"/>
          <p:cNvSpPr txBox="1"/>
          <p:nvPr>
            <p:ph type="title"/>
          </p:nvPr>
        </p:nvSpPr>
        <p:spPr>
          <a:xfrm>
            <a:off x="685800" y="0"/>
            <a:ext cx="77724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Operators</a:t>
            </a:r>
            <a:endParaRPr/>
          </a:p>
        </p:txBody>
      </p:sp>
      <p:sp>
        <p:nvSpPr>
          <p:cNvPr id="245" name="Google Shape;245;p37"/>
          <p:cNvSpPr txBox="1"/>
          <p:nvPr>
            <p:ph idx="1" type="body"/>
          </p:nvPr>
        </p:nvSpPr>
        <p:spPr>
          <a:xfrm>
            <a:off x="685800" y="13716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i="0" lang="en-US" sz="3000" u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rPr>
              <a:t>+, -, *, /, and %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1350"/>
              </a:spcBef>
              <a:spcAft>
                <a:spcPts val="0"/>
              </a:spcAft>
              <a:buSzPts val="2250"/>
              <a:buNone/>
            </a:pPr>
            <a:r>
              <a:t/>
            </a:r>
            <a:endParaRPr b="0" i="0" sz="3000" u="none">
              <a:solidFill>
                <a:schemeClr val="lt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42900" lvl="0" marL="342900" rtl="0" algn="just">
              <a:lnSpc>
                <a:spcPct val="90000"/>
              </a:lnSpc>
              <a:spcBef>
                <a:spcPts val="1350"/>
              </a:spcBef>
              <a:spcAft>
                <a:spcPts val="0"/>
              </a:spcAft>
              <a:buSzPts val="2250"/>
              <a:buNone/>
            </a:pPr>
            <a:r>
              <a:rPr b="0" i="0" lang="en-US" sz="3000" u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rPr>
              <a:t>5/2 yields an integer 2.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1350"/>
              </a:spcBef>
              <a:spcAft>
                <a:spcPts val="0"/>
              </a:spcAft>
              <a:buSzPts val="2250"/>
              <a:buNone/>
            </a:pPr>
            <a:r>
              <a:rPr b="0" i="0" lang="en-US" sz="3000" u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rPr>
              <a:t>5.0/2 yields a double value 2.5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1350"/>
              </a:spcBef>
              <a:spcAft>
                <a:spcPts val="0"/>
              </a:spcAft>
              <a:buSzPts val="2250"/>
              <a:buNone/>
            </a:pPr>
            <a:r>
              <a:t/>
            </a:r>
            <a:endParaRPr b="0" i="0" sz="3000" u="none">
              <a:solidFill>
                <a:schemeClr val="lt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42900" lvl="0" marL="342900" rtl="0" algn="just">
              <a:lnSpc>
                <a:spcPct val="90000"/>
              </a:lnSpc>
              <a:spcBef>
                <a:spcPts val="1350"/>
              </a:spcBef>
              <a:spcAft>
                <a:spcPts val="0"/>
              </a:spcAft>
              <a:buSzPts val="2250"/>
              <a:buNone/>
            </a:pPr>
            <a:r>
              <a:rPr b="0" i="0" lang="en-US" sz="3000" u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rPr>
              <a:t>5 % 2 yields 1 (the remainder of the division)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1350"/>
              </a:spcBef>
              <a:spcAft>
                <a:spcPts val="0"/>
              </a:spcAft>
              <a:buSzPts val="2250"/>
              <a:buNone/>
            </a:pPr>
            <a:r>
              <a:rPr b="0" i="0" lang="en-US" sz="3000" u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rPr>
              <a:t>5.0 % 2 is not defined : modulo is defined only for integers. </a:t>
            </a:r>
            <a:endParaRPr/>
          </a:p>
          <a:p>
            <a:pPr indent="-200025" lvl="0" marL="342900" rtl="0" algn="l">
              <a:lnSpc>
                <a:spcPct val="100000"/>
              </a:lnSpc>
              <a:spcBef>
                <a:spcPts val="1350"/>
              </a:spcBef>
              <a:spcAft>
                <a:spcPts val="0"/>
              </a:spcAft>
              <a:buSzPts val="2250"/>
              <a:buNone/>
            </a:pPr>
            <a:r>
              <a:t/>
            </a:r>
            <a:endParaRPr b="0" i="0" sz="3000" u="none">
              <a:solidFill>
                <a:schemeClr val="lt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8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38"/>
          <p:cNvSpPr txBox="1"/>
          <p:nvPr>
            <p:ph type="title"/>
          </p:nvPr>
        </p:nvSpPr>
        <p:spPr>
          <a:xfrm>
            <a:off x="685800" y="1524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</a:t>
            </a:r>
            <a:endParaRPr/>
          </a:p>
        </p:txBody>
      </p:sp>
      <p:sp>
        <p:nvSpPr>
          <p:cNvPr id="252" name="Google Shape;252;p38"/>
          <p:cNvSpPr txBox="1"/>
          <p:nvPr>
            <p:ph idx="1" type="body"/>
          </p:nvPr>
        </p:nvSpPr>
        <p:spPr>
          <a:xfrm>
            <a:off x="381000" y="1143000"/>
            <a:ext cx="84582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i="0" lang="en-US" sz="27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Calculations involving floating-point numbers are approximated because these numbers are not stored with complete accuracy. For example, </a:t>
            </a:r>
            <a:endParaRPr sz="1500"/>
          </a:p>
          <a:p>
            <a:pPr indent="-342900" lvl="0" marL="342900" rtl="0" algn="just">
              <a:lnSpc>
                <a:spcPct val="90000"/>
              </a:lnSpc>
              <a:spcBef>
                <a:spcPts val="1350"/>
              </a:spcBef>
              <a:spcAft>
                <a:spcPts val="0"/>
              </a:spcAft>
              <a:buSzPts val="2250"/>
              <a:buNone/>
            </a:pPr>
            <a:r>
              <a:rPr b="0" i="0" lang="en-US" sz="2700" u="sng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System.out.println(1 - 0.1 - 0.1 - 0.1 - 0.1 - 0.1);</a:t>
            </a:r>
            <a:endParaRPr sz="1500"/>
          </a:p>
          <a:p>
            <a:pPr indent="-342900" lvl="0" marL="342900" rtl="0" algn="just">
              <a:lnSpc>
                <a:spcPct val="90000"/>
              </a:lnSpc>
              <a:spcBef>
                <a:spcPts val="1350"/>
              </a:spcBef>
              <a:spcAft>
                <a:spcPts val="0"/>
              </a:spcAft>
              <a:buSzPts val="2250"/>
              <a:buNone/>
            </a:pPr>
            <a:r>
              <a:rPr b="0" i="0" lang="en-US" sz="27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displays 0.5000000000000001, not 0.5, and </a:t>
            </a:r>
            <a:endParaRPr sz="1500"/>
          </a:p>
          <a:p>
            <a:pPr indent="-342900" lvl="0" marL="342900" rtl="0" algn="just">
              <a:lnSpc>
                <a:spcPct val="90000"/>
              </a:lnSpc>
              <a:spcBef>
                <a:spcPts val="1350"/>
              </a:spcBef>
              <a:spcAft>
                <a:spcPts val="0"/>
              </a:spcAft>
              <a:buSzPts val="2250"/>
              <a:buNone/>
            </a:pPr>
            <a:r>
              <a:rPr b="0" i="0" lang="en-US" sz="2700" u="sng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System.out.println(1.0 - 0.9);</a:t>
            </a:r>
            <a:endParaRPr sz="1500"/>
          </a:p>
          <a:p>
            <a:pPr indent="-342900" lvl="0" marL="342900" rtl="0" algn="just">
              <a:lnSpc>
                <a:spcPct val="90000"/>
              </a:lnSpc>
              <a:spcBef>
                <a:spcPts val="1350"/>
              </a:spcBef>
              <a:spcAft>
                <a:spcPts val="0"/>
              </a:spcAft>
              <a:buSzPts val="2250"/>
              <a:buNone/>
            </a:pPr>
            <a:r>
              <a:rPr b="0" i="0" lang="en-US" sz="27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displays 0.09999999999999998, not 0.1. Integers are stored precisely. Therefore, calculations with integers yield a precise integer result. </a:t>
            </a:r>
            <a:endParaRPr sz="15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9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9"/>
          <p:cNvSpPr txBox="1"/>
          <p:nvPr>
            <p:ph type="title"/>
          </p:nvPr>
        </p:nvSpPr>
        <p:spPr>
          <a:xfrm>
            <a:off x="685800" y="2857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Program 1: Addition</a:t>
            </a:r>
            <a:endParaRPr/>
          </a:p>
        </p:txBody>
      </p:sp>
      <p:pic>
        <p:nvPicPr>
          <p:cNvPr id="259" name="Google Shape;259;p3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712" y="1657350"/>
            <a:ext cx="7394575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0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40"/>
          <p:cNvSpPr txBox="1"/>
          <p:nvPr>
            <p:ph type="title"/>
          </p:nvPr>
        </p:nvSpPr>
        <p:spPr>
          <a:xfrm>
            <a:off x="685800" y="2857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Program 2 : Division</a:t>
            </a:r>
            <a:endParaRPr/>
          </a:p>
        </p:txBody>
      </p:sp>
      <p:pic>
        <p:nvPicPr>
          <p:cNvPr id="266" name="Google Shape;266;p4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777212"/>
            <a:ext cx="7772400" cy="330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1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41"/>
          <p:cNvSpPr txBox="1"/>
          <p:nvPr>
            <p:ph type="title"/>
          </p:nvPr>
        </p:nvSpPr>
        <p:spPr>
          <a:xfrm>
            <a:off x="685800" y="2857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Download Java</a:t>
            </a:r>
            <a:endParaRPr/>
          </a:p>
        </p:txBody>
      </p:sp>
      <p:sp>
        <p:nvSpPr>
          <p:cNvPr id="273" name="Google Shape;273;p41"/>
          <p:cNvSpPr txBox="1"/>
          <p:nvPr>
            <p:ph idx="1" type="body"/>
          </p:nvPr>
        </p:nvSpPr>
        <p:spPr>
          <a:xfrm>
            <a:off x="685800" y="165735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Arial"/>
              <a:buChar char="●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www.java.sun.com/j2se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Arial"/>
              <a:buChar char="●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Click on j2se 5.0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Arial"/>
              <a:buChar char="●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See on your right (popular downloads) ..click on j2se 5.0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Arial"/>
              <a:buChar char="●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Click on download jdk 5.0 update 3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Arial"/>
              <a:buChar char="●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Accept the agreement and continue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Arial"/>
              <a:buChar char="●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Download the version as per your platform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Arial"/>
              <a:buChar char="●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example, for Windows click on Windows offline installation – this will download the required file .. This will take a lot of time .. depending upon the speed of your line .. Once downloaded ..run this file to install Java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2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42"/>
          <p:cNvSpPr txBox="1"/>
          <p:nvPr>
            <p:ph type="title"/>
          </p:nvPr>
        </p:nvSpPr>
        <p:spPr>
          <a:xfrm>
            <a:off x="685800" y="2857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Compiling and Running a Java Program</a:t>
            </a:r>
            <a:endParaRPr/>
          </a:p>
        </p:txBody>
      </p:sp>
      <p:sp>
        <p:nvSpPr>
          <p:cNvPr id="280" name="Google Shape;280;p42"/>
          <p:cNvSpPr txBox="1"/>
          <p:nvPr>
            <p:ph idx="1" type="body"/>
          </p:nvPr>
        </p:nvSpPr>
        <p:spPr>
          <a:xfrm>
            <a:off x="685800" y="165735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Arial"/>
              <a:buChar char="●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source code files (files with a </a:t>
            </a:r>
            <a:r>
              <a:rPr b="0" i="1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.java</a:t>
            </a: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extension) are compiled into a format called </a:t>
            </a:r>
            <a:r>
              <a:rPr b="0" i="1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bytecode </a:t>
            </a: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(files with a </a:t>
            </a:r>
            <a:r>
              <a:rPr b="0" i="1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.class</a:t>
            </a: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extension), which can then be executed by a Java interpreter. Compiled Java code can run on most computers because Java interpreters and runtime environments, known as </a:t>
            </a:r>
            <a:r>
              <a:rPr b="0" i="1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Virtual Machines (VMs),</a:t>
            </a: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exist for most operating systems, including UNIX, the MACintosh OS, and Windows. Bytecode can also be converted directly into machine language instructions by a just-in-time compiler (JIT).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3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43"/>
          <p:cNvSpPr txBox="1"/>
          <p:nvPr>
            <p:ph type="title"/>
          </p:nvPr>
        </p:nvSpPr>
        <p:spPr>
          <a:xfrm>
            <a:off x="685800" y="2857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Example</a:t>
            </a:r>
            <a:endParaRPr/>
          </a:p>
        </p:txBody>
      </p:sp>
      <p:sp>
        <p:nvSpPr>
          <p:cNvPr id="287" name="Google Shape;287;p43"/>
          <p:cNvSpPr txBox="1"/>
          <p:nvPr>
            <p:ph idx="1" type="body"/>
          </p:nvPr>
        </p:nvSpPr>
        <p:spPr>
          <a:xfrm>
            <a:off x="685800" y="165735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Arial"/>
              <a:buChar char="●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a file named say .. addition.java using some editor say wordpad.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Arial"/>
              <a:buChar char="●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the command line type the following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–"/>
            </a:pPr>
            <a:r>
              <a:rPr b="0" i="0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javac addition.java   (java code compiled to a bytecode)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Arial"/>
              <a:buChar char="●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file called addition.class(bytecode) is created,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Arial"/>
              <a:buChar char="●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Now type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java addition (bytecode being executed by java interpreter)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you will get the results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4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44"/>
          <p:cNvSpPr txBox="1"/>
          <p:nvPr>
            <p:ph type="title"/>
          </p:nvPr>
        </p:nvSpPr>
        <p:spPr>
          <a:xfrm>
            <a:off x="685800" y="0"/>
            <a:ext cx="77724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Literals</a:t>
            </a:r>
            <a:endParaRPr/>
          </a:p>
        </p:txBody>
      </p:sp>
      <p:sp>
        <p:nvSpPr>
          <p:cNvPr id="294" name="Google Shape;294;p44"/>
          <p:cNvSpPr txBox="1"/>
          <p:nvPr>
            <p:ph idx="1" type="body"/>
          </p:nvPr>
        </p:nvSpPr>
        <p:spPr>
          <a:xfrm>
            <a:off x="685800" y="13716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0"/>
              <a:buNone/>
            </a:pPr>
            <a:r>
              <a:rPr b="0" i="0" lang="en-US" sz="26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A </a:t>
            </a:r>
            <a:r>
              <a:rPr b="0" i="1" lang="en-US" sz="26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literal</a:t>
            </a:r>
            <a:r>
              <a:rPr b="0" i="0" lang="en-US" sz="26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 is a constant value that appears directly in the program. For example, 34, 1,000,000, and 5.0 are literals in the following statements: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1170"/>
              </a:spcBef>
              <a:spcAft>
                <a:spcPts val="0"/>
              </a:spcAft>
              <a:buSzPts val="1950"/>
              <a:buNone/>
            </a:pPr>
            <a:r>
              <a:rPr b="0" i="0" lang="en-US" sz="26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 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1170"/>
              </a:spcBef>
              <a:spcAft>
                <a:spcPts val="0"/>
              </a:spcAft>
              <a:buSzPts val="1950"/>
              <a:buNone/>
            </a:pPr>
            <a:r>
              <a:rPr b="0" i="0" lang="en-US" sz="26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int i = 34;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1170"/>
              </a:spcBef>
              <a:spcAft>
                <a:spcPts val="0"/>
              </a:spcAft>
              <a:buSzPts val="1950"/>
              <a:buNone/>
            </a:pPr>
            <a:r>
              <a:rPr b="0" i="0" lang="en-US" sz="26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long l = 1000000;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1170"/>
              </a:spcBef>
              <a:spcAft>
                <a:spcPts val="0"/>
              </a:spcAft>
              <a:buSzPts val="1950"/>
              <a:buNone/>
            </a:pPr>
            <a:r>
              <a:rPr b="0" i="0" lang="en-US" sz="26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double d = 5.0;</a:t>
            </a:r>
            <a:r>
              <a:rPr b="0" i="0" lang="en-US" sz="26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5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45"/>
          <p:cNvSpPr txBox="1"/>
          <p:nvPr>
            <p:ph type="title"/>
          </p:nvPr>
        </p:nvSpPr>
        <p:spPr>
          <a:xfrm>
            <a:off x="533400" y="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Shortcut Assignment Operators</a:t>
            </a:r>
            <a:endParaRPr/>
          </a:p>
        </p:txBody>
      </p:sp>
      <p:sp>
        <p:nvSpPr>
          <p:cNvPr id="301" name="Google Shape;301;p45"/>
          <p:cNvSpPr txBox="1"/>
          <p:nvPr/>
        </p:nvSpPr>
        <p:spPr>
          <a:xfrm>
            <a:off x="1600200" y="1371600"/>
            <a:ext cx="6096000" cy="397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imes New Roman"/>
              <a:buNone/>
            </a:pPr>
            <a:r>
              <a:rPr b="0" i="1" lang="en-US" sz="3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Operator	Example	Equivalent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ourier New"/>
              <a:buNone/>
            </a:pPr>
            <a:r>
              <a:rPr b="0" i="0" lang="en-US" sz="3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+=</a:t>
            </a:r>
            <a:r>
              <a:rPr b="0" i="0" lang="en-US" sz="3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3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i+=8</a:t>
            </a:r>
            <a:r>
              <a:rPr b="0" i="0" lang="en-US" sz="3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3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 = i+8</a:t>
            </a:r>
            <a:endParaRPr b="0" i="0" sz="3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ourier New"/>
              <a:buNone/>
            </a:pPr>
            <a:r>
              <a:rPr b="0" i="0" lang="en-US" sz="3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-=</a:t>
            </a:r>
            <a:r>
              <a:rPr b="0" i="0" lang="en-US" sz="3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3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f-=8.0</a:t>
            </a:r>
            <a:r>
              <a:rPr b="0" i="0" lang="en-US" sz="3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3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 = f-8.0</a:t>
            </a:r>
            <a:endParaRPr b="0" i="0" sz="3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ourier New"/>
              <a:buNone/>
            </a:pPr>
            <a:r>
              <a:rPr b="0" i="0" lang="en-US" sz="3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*=</a:t>
            </a:r>
            <a:r>
              <a:rPr b="0" i="0" lang="en-US" sz="3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3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i*=8</a:t>
            </a:r>
            <a:r>
              <a:rPr b="0" i="0" lang="en-US" sz="3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3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 = i*8</a:t>
            </a:r>
            <a:endParaRPr b="0" i="0" sz="3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ourier New"/>
              <a:buNone/>
            </a:pPr>
            <a:r>
              <a:rPr b="0" i="0" lang="en-US" sz="3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/=</a:t>
            </a:r>
            <a:r>
              <a:rPr b="0" i="0" lang="en-US" sz="3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3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i/=8</a:t>
            </a:r>
            <a:r>
              <a:rPr b="0" i="0" lang="en-US" sz="3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3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 = i/8</a:t>
            </a:r>
            <a:endParaRPr b="0" i="0" sz="3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ourier New"/>
              <a:buNone/>
            </a:pPr>
            <a:r>
              <a:rPr b="0" i="0" lang="en-US" sz="3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%=</a:t>
            </a:r>
            <a:r>
              <a:rPr b="0" i="0" lang="en-US" sz="3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3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i%=8</a:t>
            </a:r>
            <a:r>
              <a:rPr b="0" i="0" lang="en-US" sz="3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3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 = i%8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6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46"/>
          <p:cNvSpPr txBox="1"/>
          <p:nvPr>
            <p:ph type="title"/>
          </p:nvPr>
        </p:nvSpPr>
        <p:spPr>
          <a:xfrm>
            <a:off x="685800" y="381000"/>
            <a:ext cx="77724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Increment and</a:t>
            </a:r>
            <a:b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Decrement Operators</a:t>
            </a:r>
            <a:endParaRPr/>
          </a:p>
        </p:txBody>
      </p:sp>
      <p:sp>
        <p:nvSpPr>
          <p:cNvPr id="308" name="Google Shape;308;p46"/>
          <p:cNvSpPr txBox="1"/>
          <p:nvPr/>
        </p:nvSpPr>
        <p:spPr>
          <a:xfrm>
            <a:off x="2933700" y="26670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9" name="Google Shape;30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905000"/>
            <a:ext cx="8001000" cy="372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46"/>
          <p:cNvSpPr txBox="1"/>
          <p:nvPr/>
        </p:nvSpPr>
        <p:spPr>
          <a:xfrm>
            <a:off x="2933700" y="2620962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7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47"/>
          <p:cNvSpPr txBox="1"/>
          <p:nvPr>
            <p:ph type="title"/>
          </p:nvPr>
        </p:nvSpPr>
        <p:spPr>
          <a:xfrm>
            <a:off x="685800" y="381000"/>
            <a:ext cx="77724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Increment and</a:t>
            </a:r>
            <a:b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Decrement Operators, cont.</a:t>
            </a:r>
            <a:endParaRPr/>
          </a:p>
        </p:txBody>
      </p:sp>
      <p:sp>
        <p:nvSpPr>
          <p:cNvPr id="317" name="Google Shape;317;p47"/>
          <p:cNvSpPr txBox="1"/>
          <p:nvPr/>
        </p:nvSpPr>
        <p:spPr>
          <a:xfrm>
            <a:off x="2476500" y="30861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8" name="Google Shape;318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2209800"/>
            <a:ext cx="7848600" cy="1284287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47"/>
          <p:cNvSpPr txBox="1"/>
          <p:nvPr/>
        </p:nvSpPr>
        <p:spPr>
          <a:xfrm>
            <a:off x="2400300" y="30861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0" name="Google Shape;320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4191000"/>
            <a:ext cx="8001000" cy="126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8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48"/>
          <p:cNvSpPr txBox="1"/>
          <p:nvPr>
            <p:ph type="title"/>
          </p:nvPr>
        </p:nvSpPr>
        <p:spPr>
          <a:xfrm>
            <a:off x="685800" y="381000"/>
            <a:ext cx="77724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Increment and</a:t>
            </a:r>
            <a:b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Decrement Operators, cont.</a:t>
            </a:r>
            <a:endParaRPr/>
          </a:p>
        </p:txBody>
      </p:sp>
      <p:sp>
        <p:nvSpPr>
          <p:cNvPr id="327" name="Google Shape;327;p48"/>
          <p:cNvSpPr txBox="1"/>
          <p:nvPr/>
        </p:nvSpPr>
        <p:spPr>
          <a:xfrm>
            <a:off x="533400" y="2057400"/>
            <a:ext cx="7848600" cy="3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ourier"/>
              <a:buNone/>
            </a:pPr>
            <a:r>
              <a:rPr b="0" i="0" lang="en-US" sz="2500" u="none" cap="none" strike="noStrik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Using increment and decrement operators makes expressions short, but it also makes them complex and difficult to read.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Times New Roman"/>
              <a:buNone/>
            </a:pPr>
            <a:r>
              <a:t/>
            </a:r>
            <a:endParaRPr b="0" i="0" sz="2500" u="none" cap="none" strike="noStrike">
              <a:solidFill>
                <a:schemeClr val="lt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ourier"/>
              <a:buNone/>
            </a:pPr>
            <a:r>
              <a:rPr b="0" i="0" lang="en-US" sz="2500" u="none" cap="none" strike="noStrik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Avoid using these operators in expressions that modify multiple variables, or the same variable for multiple times such as this: </a:t>
            </a:r>
            <a:r>
              <a:rPr b="0" i="0" lang="en-US" sz="2500" u="sng" cap="none" strike="noStrik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int k = ++i + i</a:t>
            </a:r>
            <a:r>
              <a:rPr b="0" i="0" lang="en-US" sz="2500" u="none" cap="none" strike="noStrik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. Its not a good programming practice.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9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49"/>
          <p:cNvSpPr txBox="1"/>
          <p:nvPr>
            <p:ph type="title"/>
          </p:nvPr>
        </p:nvSpPr>
        <p:spPr>
          <a:xfrm>
            <a:off x="685800" y="2857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4" name="Google Shape;334;p4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755775"/>
            <a:ext cx="7772400" cy="391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0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50"/>
          <p:cNvSpPr txBox="1"/>
          <p:nvPr>
            <p:ph type="title"/>
          </p:nvPr>
        </p:nvSpPr>
        <p:spPr>
          <a:xfrm>
            <a:off x="685800" y="2857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41" name="Google Shape;341;p5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857375"/>
            <a:ext cx="7772400" cy="3713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1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51"/>
          <p:cNvSpPr txBox="1"/>
          <p:nvPr>
            <p:ph type="title"/>
          </p:nvPr>
        </p:nvSpPr>
        <p:spPr>
          <a:xfrm>
            <a:off x="685800" y="2857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48" name="Google Shape;348;p5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755775"/>
            <a:ext cx="7772400" cy="391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2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52"/>
          <p:cNvSpPr txBox="1"/>
          <p:nvPr>
            <p:ph type="title"/>
          </p:nvPr>
        </p:nvSpPr>
        <p:spPr>
          <a:xfrm>
            <a:off x="685800" y="381000"/>
            <a:ext cx="77724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Times New Roman"/>
              <a:buNone/>
            </a:pPr>
            <a:r>
              <a:rPr b="0" i="0" lang="en-US" sz="40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 Expressions and Assignment Statements</a:t>
            </a:r>
            <a:endParaRPr/>
          </a:p>
        </p:txBody>
      </p:sp>
      <p:sp>
        <p:nvSpPr>
          <p:cNvPr id="355" name="Google Shape;355;p52"/>
          <p:cNvSpPr txBox="1"/>
          <p:nvPr>
            <p:ph idx="1" type="body"/>
          </p:nvPr>
        </p:nvSpPr>
        <p:spPr>
          <a:xfrm>
            <a:off x="304800" y="1905000"/>
            <a:ext cx="8686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0" i="0" lang="en-US" sz="28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Prior to Java 2, all the expressions can be used as statements. Since Java 2, only the following types of expressions can be statements: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</a:pPr>
            <a:r>
              <a:rPr b="0" i="0" lang="en-US" sz="28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variable op= expression; // Where op is +, -, *, /, or %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</a:pPr>
            <a:r>
              <a:rPr b="0" i="0" lang="en-US" sz="28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++variable;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</a:pPr>
            <a:r>
              <a:rPr b="0" i="0" lang="en-US" sz="28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variable++;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</a:pPr>
            <a:r>
              <a:rPr b="0" i="0" lang="en-US" sz="28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--variable;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</a:pPr>
            <a:r>
              <a:rPr b="0" i="0" lang="en-US" sz="28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variable--;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3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53"/>
          <p:cNvSpPr txBox="1"/>
          <p:nvPr>
            <p:ph type="title"/>
          </p:nvPr>
        </p:nvSpPr>
        <p:spPr>
          <a:xfrm>
            <a:off x="685800" y="0"/>
            <a:ext cx="77724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Numeric Type Conversion</a:t>
            </a:r>
            <a:endParaRPr/>
          </a:p>
        </p:txBody>
      </p:sp>
      <p:sp>
        <p:nvSpPr>
          <p:cNvPr id="362" name="Google Shape;362;p53"/>
          <p:cNvSpPr txBox="1"/>
          <p:nvPr>
            <p:ph idx="1" type="body"/>
          </p:nvPr>
        </p:nvSpPr>
        <p:spPr>
          <a:xfrm>
            <a:off x="381000" y="1371600"/>
            <a:ext cx="84582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 the following statements: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2800"/>
              </a:spcBef>
              <a:spcAft>
                <a:spcPts val="0"/>
              </a:spcAft>
              <a:buSzPts val="2100"/>
              <a:buNone/>
            </a:pPr>
            <a:r>
              <a:rPr b="0" i="0" lang="en-US" sz="28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byte i = 100;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</a:pPr>
            <a:r>
              <a:rPr b="0" i="0" lang="en-US" sz="28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long k = i*3+4;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</a:pPr>
            <a:r>
              <a:rPr b="0" i="0" lang="en-US" sz="28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double d = i*3.1+k/2;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0" sz="3200" u="none">
              <a:solidFill>
                <a:schemeClr val="lt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42900" lvl="0" marL="3429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</a:pPr>
            <a:r>
              <a:rPr b="0" i="0" lang="en-US" sz="28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int x = k; //(Wrong)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</a:pPr>
            <a:r>
              <a:rPr b="0" i="0" lang="en-US" sz="28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long k = x; //(fine,implicit casting)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4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54"/>
          <p:cNvSpPr txBox="1"/>
          <p:nvPr>
            <p:ph type="title"/>
          </p:nvPr>
        </p:nvSpPr>
        <p:spPr>
          <a:xfrm>
            <a:off x="685800" y="0"/>
            <a:ext cx="77724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Casting</a:t>
            </a:r>
            <a:endParaRPr/>
          </a:p>
        </p:txBody>
      </p:sp>
      <p:sp>
        <p:nvSpPr>
          <p:cNvPr id="369" name="Google Shape;369;p54"/>
          <p:cNvSpPr txBox="1"/>
          <p:nvPr>
            <p:ph idx="1" type="body"/>
          </p:nvPr>
        </p:nvSpPr>
        <p:spPr>
          <a:xfrm>
            <a:off x="1371600" y="1600200"/>
            <a:ext cx="66294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●"/>
            </a:pPr>
            <a:r>
              <a:rPr b="0" i="0" lang="en-US" sz="32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endParaRPr/>
          </a:p>
          <a:p>
            <a:pPr indent="-342900" lvl="0" marL="342900" rtl="0" algn="l">
              <a:lnSpc>
                <a:spcPct val="7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●"/>
            </a:pPr>
            <a:r>
              <a:rPr b="0" i="0" lang="en-US" sz="32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endParaRPr/>
          </a:p>
          <a:p>
            <a:pPr indent="-342900" lvl="0" marL="342900" rtl="0" algn="l">
              <a:lnSpc>
                <a:spcPct val="7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●"/>
            </a:pPr>
            <a:r>
              <a:rPr b="0" i="0" lang="en-US" sz="32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endParaRPr/>
          </a:p>
          <a:p>
            <a:pPr indent="-342900" lvl="0" marL="342900" rtl="0" algn="l">
              <a:lnSpc>
                <a:spcPct val="7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●"/>
            </a:pPr>
            <a:r>
              <a:rPr b="0" i="0" lang="en-US" sz="32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endParaRPr/>
          </a:p>
          <a:p>
            <a:pPr indent="-342900" lvl="0" marL="342900" rtl="0" algn="l">
              <a:lnSpc>
                <a:spcPct val="7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●"/>
            </a:pPr>
            <a:r>
              <a:rPr b="0" i="0" lang="en-US" sz="32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short</a:t>
            </a:r>
            <a:endParaRPr/>
          </a:p>
          <a:p>
            <a:pPr indent="-342900" lvl="0" marL="342900" rtl="0" algn="l">
              <a:lnSpc>
                <a:spcPct val="7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●"/>
            </a:pPr>
            <a:r>
              <a:rPr b="0" i="0" lang="en-US" sz="32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byte</a:t>
            </a:r>
            <a:r>
              <a:rPr b="0" i="0" lang="en-US" sz="3200" u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5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55"/>
          <p:cNvSpPr txBox="1"/>
          <p:nvPr>
            <p:ph type="title"/>
          </p:nvPr>
        </p:nvSpPr>
        <p:spPr>
          <a:xfrm>
            <a:off x="685800" y="0"/>
            <a:ext cx="77724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Casting, cont.</a:t>
            </a:r>
            <a:endParaRPr/>
          </a:p>
        </p:txBody>
      </p:sp>
      <p:sp>
        <p:nvSpPr>
          <p:cNvPr id="376" name="Google Shape;376;p55"/>
          <p:cNvSpPr txBox="1"/>
          <p:nvPr>
            <p:ph idx="1" type="body"/>
          </p:nvPr>
        </p:nvSpPr>
        <p:spPr>
          <a:xfrm>
            <a:off x="304800" y="1676400"/>
            <a:ext cx="8610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i="0" lang="en-US" sz="30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Implicit casting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50"/>
              <a:buNone/>
            </a:pPr>
            <a:r>
              <a:rPr b="0" i="0" lang="en-US" sz="30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double d = 3; (type widening)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50"/>
              <a:buNone/>
            </a:pPr>
            <a:r>
              <a:t/>
            </a:r>
            <a:endParaRPr b="0" i="0" sz="3000" u="non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50"/>
              <a:buNone/>
            </a:pPr>
            <a:r>
              <a:rPr b="0" i="0" lang="en-US" sz="30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Explicit casting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50"/>
              <a:buNone/>
            </a:pPr>
            <a:r>
              <a:rPr b="0" i="0" lang="en-US" sz="30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int i = (int)3.0; (type narrowing)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50"/>
              <a:buNone/>
            </a:pPr>
            <a:r>
              <a:t/>
            </a:r>
            <a:endParaRPr b="0" i="0" sz="3000" u="non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50"/>
              <a:buNone/>
            </a:pPr>
            <a:r>
              <a:rPr b="0" i="0" lang="en-US" sz="30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wrong?	int x = 5/2.0;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6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56"/>
          <p:cNvSpPr txBox="1"/>
          <p:nvPr>
            <p:ph type="title"/>
          </p:nvPr>
        </p:nvSpPr>
        <p:spPr>
          <a:xfrm>
            <a:off x="685800" y="2857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</a:t>
            </a:r>
            <a:endParaRPr/>
          </a:p>
        </p:txBody>
      </p:sp>
      <p:sp>
        <p:nvSpPr>
          <p:cNvPr id="383" name="Google Shape;383;p56"/>
          <p:cNvSpPr txBox="1"/>
          <p:nvPr>
            <p:ph idx="1" type="body"/>
          </p:nvPr>
        </p:nvSpPr>
        <p:spPr>
          <a:xfrm>
            <a:off x="685800" y="165735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●"/>
            </a:pP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Needs explicit type cast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t/>
            </a:r>
            <a:endParaRPr b="0" i="0" sz="32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●"/>
            </a:pP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x = (int) 5/2.0;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7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57"/>
          <p:cNvSpPr txBox="1"/>
          <p:nvPr>
            <p:ph type="title"/>
          </p:nvPr>
        </p:nvSpPr>
        <p:spPr>
          <a:xfrm>
            <a:off x="685800" y="0"/>
            <a:ext cx="77724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Character Data Type</a:t>
            </a:r>
            <a:endParaRPr/>
          </a:p>
        </p:txBody>
      </p:sp>
      <p:sp>
        <p:nvSpPr>
          <p:cNvPr id="390" name="Google Shape;390;p57"/>
          <p:cNvSpPr txBox="1"/>
          <p:nvPr>
            <p:ph idx="1" type="body"/>
          </p:nvPr>
        </p:nvSpPr>
        <p:spPr>
          <a:xfrm>
            <a:off x="381000" y="1752600"/>
            <a:ext cx="8534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i="0" lang="en-US" sz="30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char letter = 'A'; (ASCII)      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50"/>
              <a:buNone/>
            </a:pPr>
            <a:r>
              <a:rPr b="0" i="0" lang="en-US" sz="30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char numChar = '4'; (ASCII)</a:t>
            </a:r>
            <a:endParaRPr/>
          </a:p>
          <a:p>
            <a:pPr indent="-342900" lvl="0" marL="342900" rtl="0" algn="l">
              <a:lnSpc>
                <a:spcPct val="30000"/>
              </a:lnSpc>
              <a:spcBef>
                <a:spcPts val="3000"/>
              </a:spcBef>
              <a:spcAft>
                <a:spcPts val="0"/>
              </a:spcAft>
              <a:buSzPts val="2250"/>
              <a:buNone/>
            </a:pPr>
            <a:r>
              <a:rPr b="0" i="0" lang="en-US" sz="30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char letter = '\u0041'; (Unicode)</a:t>
            </a:r>
            <a:endParaRPr/>
          </a:p>
          <a:p>
            <a:pPr indent="-342900" lvl="0" marL="342900" rtl="0" algn="l">
              <a:lnSpc>
                <a:spcPct val="30000"/>
              </a:lnSpc>
              <a:spcBef>
                <a:spcPts val="3000"/>
              </a:spcBef>
              <a:spcAft>
                <a:spcPts val="0"/>
              </a:spcAft>
              <a:buSzPts val="2250"/>
              <a:buNone/>
            </a:pPr>
            <a:r>
              <a:rPr b="0" i="0" lang="en-US" sz="30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char numChar = '\u0034'; (Unicode)</a:t>
            </a:r>
            <a:endParaRPr/>
          </a:p>
          <a:p>
            <a:pPr indent="-342900" lvl="0" marL="342900" rtl="0" algn="l">
              <a:lnSpc>
                <a:spcPct val="30000"/>
              </a:lnSpc>
              <a:spcBef>
                <a:spcPts val="3000"/>
              </a:spcBef>
              <a:spcAft>
                <a:spcPts val="0"/>
              </a:spcAft>
              <a:buSzPts val="2250"/>
              <a:buNone/>
            </a:pPr>
            <a:r>
              <a:t/>
            </a:r>
            <a:endParaRPr b="0" i="0" sz="3000" u="non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30000"/>
              </a:lnSpc>
              <a:spcBef>
                <a:spcPts val="3000"/>
              </a:spcBef>
              <a:spcAft>
                <a:spcPts val="0"/>
              </a:spcAft>
              <a:buSzPts val="2250"/>
              <a:buNone/>
            </a:pPr>
            <a:r>
              <a:rPr b="0" i="0" lang="en-US" sz="30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Special characters</a:t>
            </a:r>
            <a:endParaRPr/>
          </a:p>
          <a:p>
            <a:pPr indent="-342900" lvl="0" marL="342900" rtl="0" algn="l">
              <a:lnSpc>
                <a:spcPct val="30000"/>
              </a:lnSpc>
              <a:spcBef>
                <a:spcPts val="3000"/>
              </a:spcBef>
              <a:spcAft>
                <a:spcPts val="0"/>
              </a:spcAft>
              <a:buSzPts val="2250"/>
              <a:buNone/>
            </a:pPr>
            <a:r>
              <a:rPr b="0" i="0" lang="en-US" sz="30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char tab = ‘\t’;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8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58"/>
          <p:cNvSpPr txBox="1"/>
          <p:nvPr>
            <p:ph type="title"/>
          </p:nvPr>
        </p:nvSpPr>
        <p:spPr>
          <a:xfrm>
            <a:off x="685800" y="0"/>
            <a:ext cx="77724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Casting between char and Numeric Types</a:t>
            </a:r>
            <a:endParaRPr/>
          </a:p>
        </p:txBody>
      </p:sp>
      <p:sp>
        <p:nvSpPr>
          <p:cNvPr id="397" name="Google Shape;397;p58"/>
          <p:cNvSpPr txBox="1"/>
          <p:nvPr/>
        </p:nvSpPr>
        <p:spPr>
          <a:xfrm>
            <a:off x="304800" y="1752600"/>
            <a:ext cx="8686800" cy="17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ourier New"/>
              <a:buNone/>
            </a:pPr>
            <a:r>
              <a:rPr b="0" i="0" lang="en-US" sz="2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int i = </a:t>
            </a:r>
            <a:r>
              <a:rPr b="0" i="0" lang="en-US" sz="3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  <a:r>
              <a:rPr b="0" i="0" lang="en-US" sz="2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0" i="0" lang="en-US" sz="3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  <a:r>
              <a:rPr b="0" i="0" lang="en-US" sz="2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; // Same as int i = (int)</a:t>
            </a:r>
            <a:r>
              <a:rPr b="0" i="0" lang="en-US" sz="3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  <a:r>
              <a:rPr b="0" i="0" lang="en-US" sz="2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0" i="0" lang="en-US" sz="3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  <a:r>
              <a:rPr b="0" i="0" lang="en-US" sz="2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Times New Roman"/>
              <a:buNone/>
            </a:pPr>
            <a:r>
              <a:t/>
            </a:r>
            <a:endParaRPr b="0" i="0" sz="26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ourier New"/>
              <a:buNone/>
            </a:pPr>
            <a:r>
              <a:rPr b="0" i="0" lang="en-US" sz="2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char c = 97; // Same as char c = (char)97;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9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59"/>
          <p:cNvSpPr txBox="1"/>
          <p:nvPr>
            <p:ph type="title"/>
          </p:nvPr>
        </p:nvSpPr>
        <p:spPr>
          <a:xfrm>
            <a:off x="685800" y="0"/>
            <a:ext cx="77724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Font typeface="Times New Roman"/>
              <a:buNone/>
            </a:pPr>
            <a:r>
              <a:rPr b="0" i="0" lang="en-US" sz="39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0" i="0" lang="en-US" sz="39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boolean</a:t>
            </a:r>
            <a:r>
              <a:rPr b="0" i="0" lang="en-US" sz="39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Type and Operators</a:t>
            </a:r>
            <a:endParaRPr/>
          </a:p>
        </p:txBody>
      </p:sp>
      <p:sp>
        <p:nvSpPr>
          <p:cNvPr id="404" name="Google Shape;404;p59"/>
          <p:cNvSpPr txBox="1"/>
          <p:nvPr>
            <p:ph idx="1" type="body"/>
          </p:nvPr>
        </p:nvSpPr>
        <p:spPr>
          <a:xfrm>
            <a:off x="685800" y="1524000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i="0" lang="en-US" sz="30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boolean lightsOn = true;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250"/>
              <a:buNone/>
            </a:pPr>
            <a:r>
              <a:rPr b="0" i="0" lang="en-US" sz="30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boolean lightsOn = false;</a:t>
            </a:r>
            <a:r>
              <a:rPr b="0" i="0" lang="en-US" sz="3200" u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SzPts val="2250"/>
              <a:buNone/>
            </a:pPr>
            <a:r>
              <a:rPr b="0" i="0" lang="en-US" sz="30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boolean b = (1 &gt; 2);</a:t>
            </a:r>
            <a:r>
              <a:rPr b="0" i="0" lang="en-US" sz="3200" u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0" sz="3200" u="none">
              <a:solidFill>
                <a:schemeClr val="lt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42900" lvl="0" marL="3429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●"/>
            </a:pPr>
            <a:r>
              <a:rPr b="0" i="0" lang="en-US" sz="3200" u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rPr>
              <a:t>&amp;&amp; (and)   	(1 &lt; x) &amp;&amp; (x &lt; 100)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●"/>
            </a:pPr>
            <a:r>
              <a:rPr b="0" i="0" lang="en-US" sz="32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|| (or)	</a:t>
            </a:r>
            <a:r>
              <a:rPr b="0" i="0" lang="en-US" sz="3200" u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rPr>
              <a:t>(lightsOn) </a:t>
            </a:r>
            <a:r>
              <a:rPr b="0" i="0" lang="en-US" sz="32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|| </a:t>
            </a:r>
            <a:r>
              <a:rPr b="0" i="0" lang="en-US" sz="3200" u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rPr>
              <a:t>(isDayTime)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●"/>
            </a:pPr>
            <a:r>
              <a:rPr b="0" i="0" lang="en-US" sz="3200" u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rPr>
              <a:t>!       (not)	!(isStopped)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60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60"/>
          <p:cNvSpPr txBox="1"/>
          <p:nvPr>
            <p:ph type="title"/>
          </p:nvPr>
        </p:nvSpPr>
        <p:spPr>
          <a:xfrm>
            <a:off x="533400" y="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Comparison Operators</a:t>
            </a:r>
            <a:endParaRPr/>
          </a:p>
        </p:txBody>
      </p:sp>
      <p:sp>
        <p:nvSpPr>
          <p:cNvPr id="411" name="Google Shape;411;p60"/>
          <p:cNvSpPr txBox="1"/>
          <p:nvPr/>
        </p:nvSpPr>
        <p:spPr>
          <a:xfrm>
            <a:off x="914400" y="1371600"/>
            <a:ext cx="7467600" cy="4664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imes New Roman"/>
              <a:buNone/>
            </a:pPr>
            <a:r>
              <a:rPr b="0" i="1" lang="en-US" sz="3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Operator 	Name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ourier New"/>
              <a:buNone/>
            </a:pPr>
            <a:r>
              <a:rPr b="0" i="0" lang="en-US" sz="3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3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less than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ourier New"/>
              <a:buNone/>
            </a:pPr>
            <a:r>
              <a:rPr b="0" i="0" lang="en-US" sz="3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&lt;=</a:t>
            </a:r>
            <a:r>
              <a:rPr b="0" i="0" lang="en-US" sz="3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less than or equal 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ourier New"/>
              <a:buNone/>
            </a:pPr>
            <a:r>
              <a:rPr b="0" i="0" lang="en-US" sz="3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3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greater than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ourier New"/>
              <a:buNone/>
            </a:pPr>
            <a:r>
              <a:rPr b="0" i="0" lang="en-US" sz="3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&gt;=</a:t>
            </a:r>
            <a:r>
              <a:rPr b="0" i="0" lang="en-US" sz="3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greater than or equal 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ourier New"/>
              <a:buNone/>
            </a:pPr>
            <a:r>
              <a:rPr b="0" i="0" lang="en-US" sz="3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b="0" i="0" lang="en-US" sz="3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equal 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ourier New"/>
              <a:buNone/>
            </a:pPr>
            <a:r>
              <a:rPr b="0" i="0" lang="en-US" sz="3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!=	</a:t>
            </a:r>
            <a:r>
              <a:rPr b="0" i="0" lang="en-US" sz="3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equal 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1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61"/>
          <p:cNvSpPr txBox="1"/>
          <p:nvPr>
            <p:ph type="title"/>
          </p:nvPr>
        </p:nvSpPr>
        <p:spPr>
          <a:xfrm>
            <a:off x="533400" y="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 Operators</a:t>
            </a:r>
            <a:endParaRPr/>
          </a:p>
        </p:txBody>
      </p:sp>
      <p:sp>
        <p:nvSpPr>
          <p:cNvPr id="418" name="Google Shape;418;p61"/>
          <p:cNvSpPr txBox="1"/>
          <p:nvPr/>
        </p:nvSpPr>
        <p:spPr>
          <a:xfrm>
            <a:off x="914400" y="1371600"/>
            <a:ext cx="6781800" cy="3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imes New Roman"/>
              <a:buNone/>
            </a:pPr>
            <a:r>
              <a:rPr b="0" i="1" lang="en-US" sz="3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Operator 	Name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ourier New"/>
              <a:buNone/>
            </a:pPr>
            <a:r>
              <a:rPr b="0" i="0" lang="en-US" sz="3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!</a:t>
            </a:r>
            <a:r>
              <a:rPr b="0" i="0" lang="en-US" sz="3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not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ourier New"/>
              <a:buNone/>
            </a:pPr>
            <a:r>
              <a:rPr b="0" i="0" lang="en-US" sz="3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&amp;&amp;</a:t>
            </a:r>
            <a:r>
              <a:rPr b="0" i="0" lang="en-US" sz="3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and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ourier New"/>
              <a:buNone/>
            </a:pPr>
            <a:r>
              <a:rPr b="0" i="0" lang="en-US" sz="3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||</a:t>
            </a:r>
            <a:r>
              <a:rPr b="0" i="0" lang="en-US" sz="3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or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ourier New"/>
              <a:buNone/>
            </a:pPr>
            <a:r>
              <a:rPr b="0" i="0" lang="en-US" sz="3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^</a:t>
            </a:r>
            <a:r>
              <a:rPr b="0" i="0" lang="en-US" sz="3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exclusive or</a:t>
            </a:r>
            <a:r>
              <a:rPr b="0" i="0" lang="en-US" sz="3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3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62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62"/>
          <p:cNvSpPr txBox="1"/>
          <p:nvPr>
            <p:ph type="title"/>
          </p:nvPr>
        </p:nvSpPr>
        <p:spPr>
          <a:xfrm>
            <a:off x="533400" y="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Truth Table for Operator !</a:t>
            </a:r>
            <a:endParaRPr/>
          </a:p>
        </p:txBody>
      </p:sp>
      <p:sp>
        <p:nvSpPr>
          <p:cNvPr id="425" name="Google Shape;425;p62"/>
          <p:cNvSpPr txBox="1"/>
          <p:nvPr/>
        </p:nvSpPr>
        <p:spPr>
          <a:xfrm>
            <a:off x="914400" y="1371600"/>
            <a:ext cx="6781800" cy="397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ourier New"/>
              <a:buNone/>
            </a:pPr>
            <a:r>
              <a:rPr b="0" i="0" lang="en-US" sz="3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Truth Table for Operator 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imes New Roman"/>
              <a:buNone/>
            </a:pPr>
            <a:r>
              <a:t/>
            </a:r>
            <a:endParaRPr b="0" i="0" sz="30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ourier New"/>
              <a:buNone/>
            </a:pPr>
            <a:r>
              <a:rPr b="0" i="0" lang="en-US" sz="3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Operand	!Operand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imes New Roman"/>
              <a:buNone/>
            </a:pPr>
            <a:r>
              <a:rPr b="0" i="0" lang="en-US" sz="3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true	 false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imes New Roman"/>
              <a:buNone/>
            </a:pPr>
            <a:r>
              <a:rPr b="0" i="0" lang="en-US" sz="3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false	 true</a:t>
            </a:r>
            <a:endParaRPr b="0" i="0" sz="3000" u="none" cap="none" strike="noStrike">
              <a:solidFill>
                <a:schemeClr val="lt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lt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63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63"/>
          <p:cNvSpPr txBox="1"/>
          <p:nvPr>
            <p:ph type="title"/>
          </p:nvPr>
        </p:nvSpPr>
        <p:spPr>
          <a:xfrm>
            <a:off x="533400" y="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Truth Table for Operator &amp;&amp;</a:t>
            </a:r>
            <a:endParaRPr/>
          </a:p>
        </p:txBody>
      </p:sp>
      <p:sp>
        <p:nvSpPr>
          <p:cNvPr id="432" name="Google Shape;432;p63"/>
          <p:cNvSpPr txBox="1"/>
          <p:nvPr/>
        </p:nvSpPr>
        <p:spPr>
          <a:xfrm>
            <a:off x="914400" y="1371600"/>
            <a:ext cx="7772400" cy="3262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ourier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Operand1	Operand2	Operand1 </a:t>
            </a:r>
            <a:r>
              <a:rPr b="1" i="0" lang="en-US" sz="2800" u="sng" cap="none" strike="noStrik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&amp;&amp;</a:t>
            </a:r>
            <a:r>
              <a:rPr b="1" i="0" lang="en-US" sz="2800" u="none" cap="none" strike="noStrik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 Operand2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imes New Roman"/>
              <a:buNone/>
            </a:pPr>
            <a:r>
              <a:rPr b="0" i="0" lang="en-US" sz="3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false	false	false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imes New Roman"/>
              <a:buNone/>
            </a:pPr>
            <a:r>
              <a:rPr b="0" i="0" lang="en-US" sz="3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false	true	false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imes New Roman"/>
              <a:buNone/>
            </a:pPr>
            <a:r>
              <a:rPr b="0" i="0" lang="en-US" sz="3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true	false	false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imes New Roman"/>
              <a:buNone/>
            </a:pPr>
            <a:r>
              <a:rPr b="0" i="0" lang="en-US" sz="3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true	true	true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64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64"/>
          <p:cNvSpPr txBox="1"/>
          <p:nvPr>
            <p:ph type="title"/>
          </p:nvPr>
        </p:nvSpPr>
        <p:spPr>
          <a:xfrm>
            <a:off x="533400" y="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Truth Table for Operator ||</a:t>
            </a:r>
            <a:endParaRPr/>
          </a:p>
        </p:txBody>
      </p:sp>
      <p:sp>
        <p:nvSpPr>
          <p:cNvPr id="439" name="Google Shape;439;p64"/>
          <p:cNvSpPr txBox="1"/>
          <p:nvPr/>
        </p:nvSpPr>
        <p:spPr>
          <a:xfrm>
            <a:off x="914400" y="1371600"/>
            <a:ext cx="7772400" cy="3262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ourier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Operand1	Operand2	Operand1 </a:t>
            </a:r>
            <a:r>
              <a:rPr b="1" i="0" lang="en-US" sz="2800" u="sng" cap="none" strike="noStrik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|| </a:t>
            </a:r>
            <a:r>
              <a:rPr b="1" i="0" lang="en-US" sz="2800" u="none" cap="none" strike="noStrik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Operand2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imes New Roman"/>
              <a:buNone/>
            </a:pPr>
            <a:r>
              <a:rPr b="0" i="0" lang="en-US" sz="3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false	false	false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imes New Roman"/>
              <a:buNone/>
            </a:pPr>
            <a:r>
              <a:rPr b="0" i="0" lang="en-US" sz="3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false	true	true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imes New Roman"/>
              <a:buNone/>
            </a:pPr>
            <a:r>
              <a:rPr b="0" i="0" lang="en-US" sz="3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true	false	true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imes New Roman"/>
              <a:buNone/>
            </a:pPr>
            <a:r>
              <a:rPr b="0" i="0" lang="en-US" sz="3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true	true	true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65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65"/>
          <p:cNvSpPr txBox="1"/>
          <p:nvPr>
            <p:ph type="title"/>
          </p:nvPr>
        </p:nvSpPr>
        <p:spPr>
          <a:xfrm>
            <a:off x="6858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Operator Precedence</a:t>
            </a:r>
            <a:endParaRPr/>
          </a:p>
        </p:txBody>
      </p:sp>
      <p:sp>
        <p:nvSpPr>
          <p:cNvPr id="446" name="Google Shape;446;p65"/>
          <p:cNvSpPr txBox="1"/>
          <p:nvPr>
            <p:ph idx="1" type="body"/>
          </p:nvPr>
        </p:nvSpPr>
        <p:spPr>
          <a:xfrm>
            <a:off x="533400" y="1295400"/>
            <a:ext cx="76200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i="0" lang="en-US" sz="24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How to evaluate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b="0" i="0" lang="en-US" sz="24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3 + 4 * 4  &gt;  5 * (4 + 3) - ++i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66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66"/>
          <p:cNvSpPr txBox="1"/>
          <p:nvPr>
            <p:ph type="title"/>
          </p:nvPr>
        </p:nvSpPr>
        <p:spPr>
          <a:xfrm>
            <a:off x="6858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Operator Precedence</a:t>
            </a:r>
            <a:endParaRPr/>
          </a:p>
        </p:txBody>
      </p:sp>
      <p:sp>
        <p:nvSpPr>
          <p:cNvPr id="453" name="Google Shape;453;p66"/>
          <p:cNvSpPr txBox="1"/>
          <p:nvPr>
            <p:ph idx="1" type="body"/>
          </p:nvPr>
        </p:nvSpPr>
        <p:spPr>
          <a:xfrm>
            <a:off x="914400" y="1066800"/>
            <a:ext cx="76200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var++, var--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+, - (Unary plus and minus), ++var</a:t>
            </a:r>
            <a:r>
              <a:rPr b="0" i="0" lang="en-US" sz="20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0" lang="en-US" sz="20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--var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(type) Casting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! (Not)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b="0" i="0" lang="en-US" sz="20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0" lang="en-US" sz="20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/</a:t>
            </a:r>
            <a:r>
              <a:rPr b="0" i="0" lang="en-US" sz="20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0" lang="en-US" sz="20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% (Multiplication, division, and modulus)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b="0" i="0" lang="en-US" sz="20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0" lang="en-US" sz="20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- (Binary addition and subtraction)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20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0" lang="en-US" sz="20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&lt;=</a:t>
            </a:r>
            <a:r>
              <a:rPr b="0" i="0" lang="en-US" sz="20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0" lang="en-US" sz="20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&gt;</a:t>
            </a:r>
            <a:r>
              <a:rPr b="0" i="0" lang="en-US" sz="20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0" lang="en-US" sz="20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&gt;= (Comparison)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b="0" i="0" lang="en-US" sz="20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0" lang="en-US" sz="20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!=; (Equality)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&amp; (Unconditional AND)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^ (Exclusive OR)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| (Unconditional OR)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&amp;&amp; (Conditional AND) Short-circuit AND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|| (Conditional OR) Short-circuit OR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●"/>
            </a:pPr>
            <a:r>
              <a:rPr b="0" i="0" lang="en-US" sz="20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20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0" lang="en-US" sz="20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+=</a:t>
            </a:r>
            <a:r>
              <a:rPr b="0" i="0" lang="en-US" sz="20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0" lang="en-US" sz="20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-=</a:t>
            </a:r>
            <a:r>
              <a:rPr b="0" i="0" lang="en-US" sz="20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0" lang="en-US" sz="20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*=</a:t>
            </a:r>
            <a:r>
              <a:rPr b="0" i="0" lang="en-US" sz="20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0" lang="en-US" sz="20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/=</a:t>
            </a:r>
            <a:r>
              <a:rPr b="0" i="0" lang="en-US" sz="20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0" lang="en-US" sz="2000" u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%= (Assignment operator)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67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67"/>
          <p:cNvSpPr txBox="1"/>
          <p:nvPr>
            <p:ph type="title"/>
          </p:nvPr>
        </p:nvSpPr>
        <p:spPr>
          <a:xfrm>
            <a:off x="6858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Operator Associativity</a:t>
            </a:r>
            <a:endParaRPr/>
          </a:p>
        </p:txBody>
      </p:sp>
      <p:sp>
        <p:nvSpPr>
          <p:cNvPr id="460" name="Google Shape;460;p67"/>
          <p:cNvSpPr txBox="1"/>
          <p:nvPr>
            <p:ph idx="1" type="body"/>
          </p:nvPr>
        </p:nvSpPr>
        <p:spPr>
          <a:xfrm>
            <a:off x="0" y="785050"/>
            <a:ext cx="9144000" cy="52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i="0" lang="en-US" sz="24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b="0" i="0" lang="en-US" sz="29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When two operators with the same precedence are evaluated, the </a:t>
            </a:r>
            <a:r>
              <a:rPr b="0" i="1" lang="en-US" sz="29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associativity</a:t>
            </a:r>
            <a:r>
              <a:rPr b="0" i="0" lang="en-US" sz="29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 of the operators determines the order of evaluation. All binary operators except assignment operators are </a:t>
            </a:r>
            <a:r>
              <a:rPr b="0" i="1" lang="en-US" sz="29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left-associative</a:t>
            </a:r>
            <a:r>
              <a:rPr b="0" i="0" lang="en-US" sz="29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175"/>
              <a:buNone/>
            </a:pPr>
            <a:r>
              <a:rPr b="0" i="0" lang="en-US" sz="29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    a – b + c – d is equivalent to  ((a – b) + c) – d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175"/>
              <a:buNone/>
            </a:pPr>
            <a:r>
              <a:rPr b="0" i="0" lang="en-US" sz="29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    Assignment operators are </a:t>
            </a:r>
            <a:r>
              <a:rPr b="0" i="1" lang="en-US" sz="29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right-associative</a:t>
            </a:r>
            <a:r>
              <a:rPr b="0" i="0" lang="en-US" sz="29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. Therefore, the expression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175"/>
              <a:buNone/>
            </a:pPr>
            <a:r>
              <a:rPr b="0" i="0" lang="en-US" sz="29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    a = b += c = 5 is equivalent to a = (b += (c = 5))</a:t>
            </a:r>
            <a:endParaRPr/>
          </a:p>
          <a:p>
            <a:pPr indent="-204787" lvl="0" marL="3429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175"/>
              <a:buNone/>
            </a:pPr>
            <a:r>
              <a:t/>
            </a:r>
            <a:endParaRPr b="0" i="0" sz="2900" u="none">
              <a:solidFill>
                <a:schemeClr val="lt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8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68"/>
          <p:cNvSpPr txBox="1"/>
          <p:nvPr>
            <p:ph type="title"/>
          </p:nvPr>
        </p:nvSpPr>
        <p:spPr>
          <a:xfrm>
            <a:off x="6858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Operand Evaluation Order</a:t>
            </a:r>
            <a:endParaRPr/>
          </a:p>
        </p:txBody>
      </p:sp>
      <p:sp>
        <p:nvSpPr>
          <p:cNvPr id="467" name="Google Shape;467;p68"/>
          <p:cNvSpPr txBox="1"/>
          <p:nvPr>
            <p:ph idx="1" type="body"/>
          </p:nvPr>
        </p:nvSpPr>
        <p:spPr>
          <a:xfrm>
            <a:off x="100" y="1219200"/>
            <a:ext cx="91440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5"/>
              <a:buNone/>
            </a:pPr>
            <a:r>
              <a:rPr b="0" i="0" lang="en-US" sz="33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The precedence and associativity rules specify the order of the operators, but do not specify the order in which the operands of a binary operator are evaluated. Operands are evaluated from left to right in Java.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SzPts val="2475"/>
              <a:buNone/>
            </a:pPr>
            <a:r>
              <a:rPr b="0" i="1" lang="en-US" sz="33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The left-hand operand of a binary operator is evaluated before any part of the right-hand operand is evaluated.</a:t>
            </a:r>
            <a:r>
              <a:rPr b="0" i="0" lang="en-US" sz="33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9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69"/>
          <p:cNvSpPr txBox="1"/>
          <p:nvPr>
            <p:ph type="title"/>
          </p:nvPr>
        </p:nvSpPr>
        <p:spPr>
          <a:xfrm>
            <a:off x="6858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Operand Evaluation Order, cont.</a:t>
            </a:r>
            <a:endParaRPr/>
          </a:p>
        </p:txBody>
      </p:sp>
      <p:sp>
        <p:nvSpPr>
          <p:cNvPr id="474" name="Google Shape;474;p69"/>
          <p:cNvSpPr txBox="1"/>
          <p:nvPr>
            <p:ph idx="1" type="body"/>
          </p:nvPr>
        </p:nvSpPr>
        <p:spPr>
          <a:xfrm>
            <a:off x="0" y="1219200"/>
            <a:ext cx="91440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75"/>
              <a:buNone/>
            </a:pPr>
            <a:r>
              <a:rPr b="0" i="0" lang="en-US" sz="29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If no operands have </a:t>
            </a:r>
            <a:r>
              <a:rPr b="0" i="1" lang="en-US" sz="29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side effects</a:t>
            </a:r>
            <a:r>
              <a:rPr b="0" i="0" lang="en-US" sz="29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 that change the value of a variable, the order of operand evaluation is irrelevant. Interesting cases arise when operands do have a side effect. For example, </a:t>
            </a:r>
            <a:r>
              <a:rPr b="0" i="1" lang="en-US" sz="29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x</a:t>
            </a:r>
            <a:r>
              <a:rPr b="0" i="0" lang="en-US" sz="29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 becomes 1 in the following code, because </a:t>
            </a:r>
            <a:r>
              <a:rPr b="0" i="0" lang="en-US" sz="2900" u="sng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a</a:t>
            </a:r>
            <a:r>
              <a:rPr b="0" i="0" lang="en-US" sz="29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 is evaluated to 0 before </a:t>
            </a:r>
            <a:r>
              <a:rPr b="0" i="1" lang="en-US" sz="29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++a</a:t>
            </a:r>
            <a:r>
              <a:rPr b="0" i="0" lang="en-US" sz="29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 is evaluated to 1. 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500"/>
              <a:buFont typeface="Courier"/>
              <a:buNone/>
            </a:pPr>
            <a:r>
              <a:rPr b="0" i="0" lang="en-US" sz="25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int a = 0;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500"/>
              <a:buFont typeface="Courier"/>
              <a:buNone/>
            </a:pPr>
            <a:r>
              <a:rPr b="0" i="0" lang="en-US" sz="25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int x = a + (++a);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SzPts val="2175"/>
              <a:buNone/>
            </a:pPr>
            <a:r>
              <a:rPr b="0" i="0" lang="en-US" sz="29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But </a:t>
            </a:r>
            <a:r>
              <a:rPr b="0" i="1" lang="en-US" sz="29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x</a:t>
            </a:r>
            <a:r>
              <a:rPr b="0" i="0" lang="en-US" sz="29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 becomes 2 in the following code, because </a:t>
            </a:r>
            <a:r>
              <a:rPr b="0" i="1" lang="en-US" sz="29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++a</a:t>
            </a:r>
            <a:r>
              <a:rPr b="0" i="0" lang="en-US" sz="29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 is evaluated to 1, then </a:t>
            </a:r>
            <a:r>
              <a:rPr b="0" i="1" lang="en-US" sz="29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a</a:t>
            </a:r>
            <a:r>
              <a:rPr b="0" i="0" lang="en-US" sz="29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 is evaluated to 1.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500"/>
              <a:buFont typeface="Courier"/>
              <a:buNone/>
            </a:pPr>
            <a:r>
              <a:rPr b="0" i="0" lang="en-US" sz="25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int a = 0;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500"/>
              <a:buFont typeface="Courier"/>
              <a:buNone/>
            </a:pPr>
            <a:r>
              <a:rPr b="0" i="0" lang="en-US" sz="25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int x = ++a + a;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70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70"/>
          <p:cNvSpPr txBox="1"/>
          <p:nvPr>
            <p:ph type="title"/>
          </p:nvPr>
        </p:nvSpPr>
        <p:spPr>
          <a:xfrm>
            <a:off x="6858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Operator Precedence</a:t>
            </a:r>
            <a:endParaRPr/>
          </a:p>
        </p:txBody>
      </p:sp>
      <p:sp>
        <p:nvSpPr>
          <p:cNvPr id="481" name="Google Shape;481;p70"/>
          <p:cNvSpPr txBox="1"/>
          <p:nvPr>
            <p:ph idx="1" type="body"/>
          </p:nvPr>
        </p:nvSpPr>
        <p:spPr>
          <a:xfrm>
            <a:off x="533400" y="1295400"/>
            <a:ext cx="76200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i="0" lang="en-US" sz="24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How to evaluate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342900" lvl="0" marL="342900" rtl="0" algn="just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b="0" i="0" lang="en-US" sz="24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3 + 4 * 4  &gt;  5 * (4 + 3) - ++i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0" sz="32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b="0" i="0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Lets parenthisize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b="0" i="0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 + (4 * 4) ) &gt; ( (5 * (4 + 3)) – (++i ) )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b="0" i="0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evaluates to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b="0" i="0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19  &gt; (35 – (++i))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b="0" i="0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evaluates to true if the value of i just before this expression is &gt; 15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71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71"/>
          <p:cNvSpPr txBox="1"/>
          <p:nvPr>
            <p:ph type="title"/>
          </p:nvPr>
        </p:nvSpPr>
        <p:spPr>
          <a:xfrm>
            <a:off x="381000" y="228600"/>
            <a:ext cx="8458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ourier"/>
              <a:buNone/>
            </a:pPr>
            <a:r>
              <a:rPr lang="en-US" sz="4000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Converting</a:t>
            </a:r>
            <a:r>
              <a:rPr b="0" i="0" lang="en-US" sz="4000" u="none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 Strings to Integers</a:t>
            </a:r>
            <a:endParaRPr/>
          </a:p>
        </p:txBody>
      </p:sp>
      <p:sp>
        <p:nvSpPr>
          <p:cNvPr id="488" name="Google Shape;488;p71"/>
          <p:cNvSpPr txBox="1"/>
          <p:nvPr>
            <p:ph idx="1" type="body"/>
          </p:nvPr>
        </p:nvSpPr>
        <p:spPr>
          <a:xfrm>
            <a:off x="228600" y="1143000"/>
            <a:ext cx="87630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75"/>
              <a:buNone/>
            </a:pPr>
            <a:r>
              <a:rPr b="0" i="0" lang="en-US" sz="29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The input returned from the input dialog box is a string. If you enter a numeric value such as 123, it returns “123”. To obtain the input as a number, you have to convert a string into a number.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SzPts val="2175"/>
              <a:buNone/>
            </a:pPr>
            <a:r>
              <a:rPr b="0" i="0" lang="en-US" sz="29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SzPts val="2175"/>
              <a:buNone/>
            </a:pPr>
            <a:r>
              <a:rPr b="0" i="0" lang="en-US" sz="29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To convert a string into an </a:t>
            </a:r>
            <a:r>
              <a:rPr b="0" i="0" lang="en-US" sz="2900" u="sng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int</a:t>
            </a:r>
            <a:r>
              <a:rPr b="0" i="0" lang="en-US" sz="29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 value, you can use the static </a:t>
            </a:r>
            <a:r>
              <a:rPr b="0" i="0" lang="en-US" sz="2900" u="sng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parseInt</a:t>
            </a:r>
            <a:r>
              <a:rPr b="0" i="0" lang="en-US" sz="29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 method in the </a:t>
            </a:r>
            <a:r>
              <a:rPr b="0" i="0" lang="en-US" sz="2900" u="sng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Integer</a:t>
            </a:r>
            <a:r>
              <a:rPr b="0" i="0" lang="en-US" sz="29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 class as follows: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SzPts val="2175"/>
              <a:buNone/>
            </a:pPr>
            <a:r>
              <a:rPr b="0" i="0" lang="en-US" sz="29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SzPts val="2175"/>
              <a:buNone/>
            </a:pPr>
            <a:r>
              <a:rPr b="0" i="0" lang="en-US" sz="2900" u="sng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int intValue = Integer.parseInt(intString);</a:t>
            </a:r>
            <a:endParaRPr u="sng"/>
          </a:p>
          <a:p>
            <a:pPr indent="0" lvl="0" marL="0" rtl="0" algn="l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SzPts val="2175"/>
              <a:buNone/>
            </a:pPr>
            <a:r>
              <a:rPr b="0" i="0" lang="en-US" sz="29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SzPts val="2175"/>
              <a:buNone/>
            </a:pPr>
            <a:r>
              <a:rPr b="0" i="0" lang="en-US" sz="29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where </a:t>
            </a:r>
            <a:r>
              <a:rPr b="0" i="0" lang="en-US" sz="2900" u="sng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intString</a:t>
            </a:r>
            <a:r>
              <a:rPr b="0" i="0" lang="en-US" sz="29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 is a numeric string such as “123”. 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72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72"/>
          <p:cNvSpPr txBox="1"/>
          <p:nvPr>
            <p:ph type="title"/>
          </p:nvPr>
        </p:nvSpPr>
        <p:spPr>
          <a:xfrm>
            <a:off x="381000" y="228600"/>
            <a:ext cx="8458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ourier"/>
              <a:buNone/>
            </a:pPr>
            <a:r>
              <a:rPr b="0" i="0" lang="en-US" sz="4000" u="none">
                <a:solidFill>
                  <a:schemeClr val="lt2"/>
                </a:solidFill>
                <a:latin typeface="Courier"/>
                <a:ea typeface="Courier"/>
                <a:cs typeface="Courier"/>
                <a:sym typeface="Courier"/>
              </a:rPr>
              <a:t>Converting Strings to Doubles</a:t>
            </a:r>
            <a:endParaRPr/>
          </a:p>
        </p:txBody>
      </p:sp>
      <p:sp>
        <p:nvSpPr>
          <p:cNvPr id="495" name="Google Shape;495;p72"/>
          <p:cNvSpPr txBox="1"/>
          <p:nvPr>
            <p:ph idx="1" type="body"/>
          </p:nvPr>
        </p:nvSpPr>
        <p:spPr>
          <a:xfrm>
            <a:off x="228600" y="1143000"/>
            <a:ext cx="87630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75"/>
              <a:buNone/>
            </a:pPr>
            <a:r>
              <a:rPr b="0" i="0" lang="en-US" sz="29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To convert a string into a </a:t>
            </a:r>
            <a:r>
              <a:rPr b="0" i="0" lang="en-US" sz="2900" u="sng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double</a:t>
            </a:r>
            <a:r>
              <a:rPr b="0" i="0" lang="en-US" sz="29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 value, you can use the static </a:t>
            </a:r>
            <a:r>
              <a:rPr b="0" i="0" lang="en-US" sz="2900" u="sng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parseDouble</a:t>
            </a:r>
            <a:r>
              <a:rPr b="0" i="0" lang="en-US" sz="29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 method in the </a:t>
            </a:r>
            <a:r>
              <a:rPr b="0" i="0" lang="en-US" sz="2900" u="sng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Double</a:t>
            </a:r>
            <a:r>
              <a:rPr b="0" i="0" lang="en-US" sz="29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 class as follows: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175"/>
              <a:buNone/>
            </a:pPr>
            <a:r>
              <a:rPr b="0" i="0" lang="en-US" sz="29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 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175"/>
              <a:buNone/>
            </a:pPr>
            <a:r>
              <a:rPr b="0" i="0" lang="en-US" sz="2900" u="sng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double doubleValue =Double.parseDouble(doubleString);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175"/>
              <a:buNone/>
            </a:pPr>
            <a:r>
              <a:rPr b="0" i="0" lang="en-US" sz="29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 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175"/>
              <a:buNone/>
            </a:pPr>
            <a:r>
              <a:rPr b="0" i="0" lang="en-US" sz="29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where </a:t>
            </a:r>
            <a:r>
              <a:rPr b="0" i="0" lang="en-US" sz="2900" u="sng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doubleString</a:t>
            </a:r>
            <a:r>
              <a:rPr b="0" i="0" lang="en-US" sz="2900" u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 is a numeric string such as “123.45”. 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73"/>
          <p:cNvSpPr txBox="1"/>
          <p:nvPr/>
        </p:nvSpPr>
        <p:spPr>
          <a:xfrm>
            <a:off x="6553200" y="63992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73"/>
          <p:cNvSpPr txBox="1"/>
          <p:nvPr>
            <p:ph type="title"/>
          </p:nvPr>
        </p:nvSpPr>
        <p:spPr>
          <a:xfrm>
            <a:off x="685800" y="0"/>
            <a:ext cx="77724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Times New Roman"/>
              <a:buNone/>
            </a:pPr>
            <a:r>
              <a:rPr b="0" i="0" lang="en-US" sz="40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 Styles</a:t>
            </a:r>
            <a:endParaRPr/>
          </a:p>
        </p:txBody>
      </p:sp>
      <p:sp>
        <p:nvSpPr>
          <p:cNvPr id="502" name="Google Shape;502;p73"/>
          <p:cNvSpPr txBox="1"/>
          <p:nvPr>
            <p:ph idx="1" type="body"/>
          </p:nvPr>
        </p:nvSpPr>
        <p:spPr>
          <a:xfrm>
            <a:off x="685800" y="1295400"/>
            <a:ext cx="7924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end-of-line style for braces.</a:t>
            </a:r>
            <a:endParaRPr b="0" i="0" sz="3200" u="none">
              <a:solidFill>
                <a:schemeClr val="lt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-1905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0" sz="3200" u="none">
              <a:solidFill>
                <a:schemeClr val="lt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503" name="Google Shape;503;p73"/>
          <p:cNvSpPr txBox="1"/>
          <p:nvPr/>
        </p:nvSpPr>
        <p:spPr>
          <a:xfrm>
            <a:off x="0" y="2362200"/>
            <a:ext cx="9144000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ourier"/>
              <a:buNone/>
            </a:pPr>
            <a:r>
              <a:rPr b="0" i="0" lang="en-US" sz="800" u="sng" cap="none" strike="noStrik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sng" cap="none" strike="noStrike">
              <a:solidFill>
                <a:schemeClr val="lt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pic>
        <p:nvPicPr>
          <p:cNvPr id="504" name="Google Shape;504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362200"/>
            <a:ext cx="8229600" cy="3776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