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Arial Black"/>
      <p:regular r:id="rId28"/>
    </p:embeddedFont>
    <p:embeddedFont>
      <p:font typeface="Century Gothic"/>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ixEogZiGyFKJVue/bhCHQpXo3o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ArialBlack-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CenturyGothic-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enturyGothic-italic.fntdata"/><Relationship Id="rId30" Type="http://schemas.openxmlformats.org/officeDocument/2006/relationships/font" Target="fonts/CenturyGothic-bold.fntdata"/><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font" Target="fonts/CenturyGothic-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5e36283526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5e3628352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5e36283526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5e3628352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5e36283526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5e36283526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5e36283526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5e36283526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5e36283526_1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5e36283526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5e36283526_1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5e36283526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5e36283526_1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5e36283526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5e36283526_1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5e36283526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5e36283526_1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5e36283526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5e36283526_1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5e36283526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5e36283526_1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5e36283526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5e36283526_1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5e36283526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5e36283526_1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5e36283526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5e36283526_1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5e36283526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5e36283526_1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5e36283526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5e36283526_1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5e36283526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5e36283526_1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5e36283526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5e36283526_1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5e36283526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 name="Shape 38"/>
        <p:cNvGrpSpPr/>
        <p:nvPr/>
      </p:nvGrpSpPr>
      <p:grpSpPr>
        <a:xfrm>
          <a:off x="0" y="0"/>
          <a:ext cx="0" cy="0"/>
          <a:chOff x="0" y="0"/>
          <a:chExt cx="0" cy="0"/>
        </a:xfrm>
      </p:grpSpPr>
      <p:sp>
        <p:nvSpPr>
          <p:cNvPr id="39" name="Google Shape;39;p7"/>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7"/>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1" name="Google Shape;41;p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p8"/>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8"/>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8" name="Google Shape;48;p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9"/>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9"/>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5" name="Google Shape;55;p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9"/>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10"/>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0"/>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2" name="Google Shape;62;p10"/>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3" name="Google Shape;63;p1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11"/>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1"/>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0" name="Google Shape;70;p11"/>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1" name="Google Shape;71;p11"/>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2" name="Google Shape;72;p11"/>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3" name="Google Shape;73;p1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2"/>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p1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14"/>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4"/>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1" name="Google Shape;91;p14"/>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2" name="Google Shape;92;p1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sp>
        <p:nvSpPr>
          <p:cNvPr id="97" name="Google Shape;97;p15"/>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5"/>
          <p:cNvSpPr/>
          <p:nvPr>
            <p:ph idx="2" type="pic"/>
          </p:nvPr>
        </p:nvSpPr>
        <p:spPr>
          <a:xfrm>
            <a:off x="2589212" y="634965"/>
            <a:ext cx="8915400" cy="3854970"/>
          </a:xfrm>
          <a:prstGeom prst="rect">
            <a:avLst/>
          </a:prstGeom>
          <a:noFill/>
          <a:ln>
            <a:noFill/>
          </a:ln>
        </p:spPr>
      </p:sp>
      <p:sp>
        <p:nvSpPr>
          <p:cNvPr id="99" name="Google Shape;99;p15"/>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0" name="Google Shape;100;p1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5"/>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4" name="Shape 104"/>
        <p:cNvGrpSpPr/>
        <p:nvPr/>
      </p:nvGrpSpPr>
      <p:grpSpPr>
        <a:xfrm>
          <a:off x="0" y="0"/>
          <a:ext cx="0" cy="0"/>
          <a:chOff x="0" y="0"/>
          <a:chExt cx="0" cy="0"/>
        </a:xfrm>
      </p:grpSpPr>
      <p:sp>
        <p:nvSpPr>
          <p:cNvPr id="105" name="Google Shape;105;p16"/>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6"/>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07" name="Google Shape;107;p1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6"/>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1" name="Shape 111"/>
        <p:cNvGrpSpPr/>
        <p:nvPr/>
      </p:nvGrpSpPr>
      <p:grpSpPr>
        <a:xfrm>
          <a:off x="0" y="0"/>
          <a:ext cx="0" cy="0"/>
          <a:chOff x="0" y="0"/>
          <a:chExt cx="0" cy="0"/>
        </a:xfrm>
      </p:grpSpPr>
      <p:sp>
        <p:nvSpPr>
          <p:cNvPr id="112" name="Google Shape;112;p17"/>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7"/>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4" name="Google Shape;114;p17"/>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5" name="Google Shape;115;p1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7"/>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17"/>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
        <p:nvSpPr>
          <p:cNvPr id="120" name="Google Shape;120;p17"/>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21" name="Shape 121"/>
        <p:cNvGrpSpPr/>
        <p:nvPr/>
      </p:nvGrpSpPr>
      <p:grpSpPr>
        <a:xfrm>
          <a:off x="0" y="0"/>
          <a:ext cx="0" cy="0"/>
          <a:chOff x="0" y="0"/>
          <a:chExt cx="0" cy="0"/>
        </a:xfrm>
      </p:grpSpPr>
      <p:sp>
        <p:nvSpPr>
          <p:cNvPr id="122" name="Google Shape;122;p18"/>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8"/>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1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8"/>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8"/>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8" name="Shape 128"/>
        <p:cNvGrpSpPr/>
        <p:nvPr/>
      </p:nvGrpSpPr>
      <p:grpSpPr>
        <a:xfrm>
          <a:off x="0" y="0"/>
          <a:ext cx="0" cy="0"/>
          <a:chOff x="0" y="0"/>
          <a:chExt cx="0" cy="0"/>
        </a:xfrm>
      </p:grpSpPr>
      <p:sp>
        <p:nvSpPr>
          <p:cNvPr id="129" name="Google Shape;129;p19"/>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9"/>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1" name="Google Shape;131;p19"/>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2" name="Google Shape;132;p1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9"/>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9"/>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6" name="Google Shape;136;p19"/>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
        <p:nvSpPr>
          <p:cNvPr id="137" name="Google Shape;137;p19"/>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8" name="Shape 138"/>
        <p:cNvGrpSpPr/>
        <p:nvPr/>
      </p:nvGrpSpPr>
      <p:grpSpPr>
        <a:xfrm>
          <a:off x="0" y="0"/>
          <a:ext cx="0" cy="0"/>
          <a:chOff x="0" y="0"/>
          <a:chExt cx="0" cy="0"/>
        </a:xfrm>
      </p:grpSpPr>
      <p:sp>
        <p:nvSpPr>
          <p:cNvPr id="139" name="Google Shape;139;p20"/>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0"/>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20"/>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2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0"/>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0"/>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21"/>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1"/>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2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1"/>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22"/>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2"/>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6" name="Google Shape;156;p2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4DCE3"/>
            </a:gs>
          </a:gsLst>
          <a:lin ang="5400000" scaled="0"/>
        </a:gradFill>
      </p:bgPr>
    </p:bg>
    <p:spTree>
      <p:nvGrpSpPr>
        <p:cNvPr id="5" name="Shape 5"/>
        <p:cNvGrpSpPr/>
        <p:nvPr/>
      </p:nvGrpSpPr>
      <p:grpSpPr>
        <a:xfrm>
          <a:off x="0" y="0"/>
          <a:ext cx="0" cy="0"/>
          <a:chOff x="0" y="0"/>
          <a:chExt cx="0" cy="0"/>
        </a:xfrm>
      </p:grpSpPr>
      <p:grpSp>
        <p:nvGrpSpPr>
          <p:cNvPr id="6" name="Google Shape;6;p6"/>
          <p:cNvGrpSpPr/>
          <p:nvPr/>
        </p:nvGrpSpPr>
        <p:grpSpPr>
          <a:xfrm>
            <a:off x="1" y="228600"/>
            <a:ext cx="2851516" cy="6638628"/>
            <a:chOff x="2487613" y="285750"/>
            <a:chExt cx="2428875" cy="5654676"/>
          </a:xfrm>
        </p:grpSpPr>
        <p:sp>
          <p:nvSpPr>
            <p:cNvPr id="7" name="Google Shape;7;p6"/>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6"/>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6"/>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6"/>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6"/>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6"/>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6"/>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6"/>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6"/>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6"/>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6"/>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6"/>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6"/>
          <p:cNvGrpSpPr/>
          <p:nvPr/>
        </p:nvGrpSpPr>
        <p:grpSpPr>
          <a:xfrm>
            <a:off x="27221" y="157"/>
            <a:ext cx="2356674" cy="6853096"/>
            <a:chOff x="6627813" y="195610"/>
            <a:chExt cx="1952625" cy="5678141"/>
          </a:xfrm>
        </p:grpSpPr>
        <p:sp>
          <p:nvSpPr>
            <p:cNvPr id="20" name="Google Shape;20;p6"/>
            <p:cNvSpPr/>
            <p:nvPr/>
          </p:nvSpPr>
          <p:spPr>
            <a:xfrm>
              <a:off x="6627813" y="195610"/>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6"/>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6"/>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6"/>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6"/>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6"/>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6"/>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6"/>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6"/>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6"/>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168DBA"/>
              </a:buClr>
              <a:buSzPts val="3600"/>
              <a:buFont typeface="Century Gothic"/>
              <a:buNone/>
              <a:defRPr b="0" i="0" sz="3600" u="none" cap="none" strike="noStrike">
                <a:solidFill>
                  <a:srgbClr val="168DBA"/>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6"/>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
          <p:cNvSpPr txBox="1"/>
          <p:nvPr>
            <p:ph type="ctrTitle"/>
          </p:nvPr>
        </p:nvSpPr>
        <p:spPr>
          <a:xfrm>
            <a:off x="1524000" y="1122362"/>
            <a:ext cx="9477676" cy="2843245"/>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168DBA"/>
              </a:buClr>
              <a:buSzPts val="5400"/>
              <a:buFont typeface="Century Gothic"/>
              <a:buNone/>
            </a:pPr>
            <a:r>
              <a:rPr b="1" lang="en-US" sz="4900">
                <a:solidFill>
                  <a:schemeClr val="dk1"/>
                </a:solidFill>
                <a:latin typeface="Arial Black"/>
                <a:ea typeface="Arial Black"/>
                <a:cs typeface="Arial Black"/>
                <a:sym typeface="Arial Black"/>
              </a:rPr>
              <a:t>Automated Teller Machine</a:t>
            </a:r>
            <a:endParaRPr b="1" sz="4900">
              <a:solidFill>
                <a:schemeClr val="dk1"/>
              </a:solidFill>
              <a:latin typeface="Arial Black"/>
              <a:ea typeface="Arial Black"/>
              <a:cs typeface="Arial Black"/>
              <a:sym typeface="Arial Black"/>
            </a:endParaRPr>
          </a:p>
          <a:p>
            <a:pPr indent="0" lvl="0" marL="0" rtl="0" algn="ctr">
              <a:spcBef>
                <a:spcPts val="0"/>
              </a:spcBef>
              <a:spcAft>
                <a:spcPts val="0"/>
              </a:spcAft>
              <a:buClr>
                <a:srgbClr val="168DBA"/>
              </a:buClr>
              <a:buSzPts val="5400"/>
              <a:buFont typeface="Century Gothic"/>
              <a:buNone/>
            </a:pPr>
            <a:r>
              <a:rPr b="1" lang="en-US" sz="4900">
                <a:solidFill>
                  <a:schemeClr val="dk1"/>
                </a:solidFill>
                <a:latin typeface="Arial Black"/>
                <a:ea typeface="Arial Black"/>
                <a:cs typeface="Arial Black"/>
                <a:sym typeface="Arial Black"/>
              </a:rPr>
              <a:t>In Java</a:t>
            </a:r>
            <a:endParaRPr b="1" sz="4900">
              <a:solidFill>
                <a:schemeClr val="dk1"/>
              </a:solidFill>
              <a:latin typeface="Arial Black"/>
              <a:ea typeface="Arial Black"/>
              <a:cs typeface="Arial Black"/>
              <a:sym typeface="Arial Black"/>
            </a:endParaRPr>
          </a:p>
        </p:txBody>
      </p:sp>
      <p:sp>
        <p:nvSpPr>
          <p:cNvPr id="165" name="Google Shape;165;p1"/>
          <p:cNvSpPr txBox="1"/>
          <p:nvPr>
            <p:ph idx="1" type="subTitle"/>
          </p:nvPr>
        </p:nvSpPr>
        <p:spPr>
          <a:xfrm>
            <a:off x="1857676" y="4283241"/>
            <a:ext cx="9144000" cy="165576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800"/>
              <a:buNone/>
            </a:pPr>
            <a:r>
              <a:rPr lang="en-US">
                <a:solidFill>
                  <a:schemeClr val="dk1"/>
                </a:solidFill>
                <a:latin typeface="Arial"/>
                <a:ea typeface="Arial"/>
                <a:cs typeface="Arial"/>
                <a:sym typeface="Arial"/>
              </a:rPr>
              <a:t>PRESENTED BY:</a:t>
            </a:r>
            <a:endParaRPr>
              <a:solidFill>
                <a:schemeClr val="dk1"/>
              </a:solidFill>
              <a:latin typeface="Arial"/>
              <a:ea typeface="Arial"/>
              <a:cs typeface="Arial"/>
              <a:sym typeface="Arial"/>
            </a:endParaRPr>
          </a:p>
          <a:p>
            <a:pPr indent="0" lvl="0" marL="0" rtl="0" algn="ctr">
              <a:spcBef>
                <a:spcPts val="1000"/>
              </a:spcBef>
              <a:spcAft>
                <a:spcPts val="0"/>
              </a:spcAft>
              <a:buSzPts val="1800"/>
              <a:buNone/>
            </a:pPr>
            <a:r>
              <a:rPr lang="en-US">
                <a:solidFill>
                  <a:schemeClr val="dk1"/>
                </a:solidFill>
                <a:latin typeface="Arial"/>
                <a:ea typeface="Arial"/>
                <a:cs typeface="Arial"/>
                <a:sym typeface="Arial"/>
              </a:rPr>
              <a:t>PEETH CHOWDHARY - 16010122034</a:t>
            </a:r>
            <a:endParaRPr>
              <a:solidFill>
                <a:schemeClr val="dk1"/>
              </a:solidFill>
              <a:latin typeface="Arial"/>
              <a:ea typeface="Arial"/>
              <a:cs typeface="Arial"/>
              <a:sym typeface="Arial"/>
            </a:endParaRPr>
          </a:p>
          <a:p>
            <a:pPr indent="0" lvl="0" marL="0" rtl="0" algn="ctr">
              <a:spcBef>
                <a:spcPts val="1000"/>
              </a:spcBef>
              <a:spcAft>
                <a:spcPts val="0"/>
              </a:spcAft>
              <a:buSzPts val="1800"/>
              <a:buNone/>
            </a:pPr>
            <a:r>
              <a:rPr lang="en-US">
                <a:solidFill>
                  <a:schemeClr val="dk1"/>
                </a:solidFill>
                <a:latin typeface="Arial"/>
                <a:ea typeface="Arial"/>
                <a:cs typeface="Arial"/>
                <a:sym typeface="Arial"/>
              </a:rPr>
              <a:t>DHRUV DESAI - 16010122038</a:t>
            </a:r>
            <a:endParaRPr>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
          <p:cNvSpPr txBox="1"/>
          <p:nvPr>
            <p:ph type="title"/>
          </p:nvPr>
        </p:nvSpPr>
        <p:spPr>
          <a:xfrm>
            <a:off x="838200" y="598250"/>
            <a:ext cx="10515600" cy="7074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168DBA"/>
              </a:buClr>
              <a:buSzPts val="3600"/>
              <a:buFont typeface="Arial Black"/>
              <a:buNone/>
            </a:pPr>
            <a:r>
              <a:rPr b="1" lang="en-US">
                <a:solidFill>
                  <a:schemeClr val="dk1"/>
                </a:solidFill>
                <a:latin typeface="Arial Black"/>
                <a:ea typeface="Arial Black"/>
                <a:cs typeface="Arial Black"/>
                <a:sym typeface="Arial Black"/>
              </a:rPr>
              <a:t>BACKGROUND </a:t>
            </a:r>
            <a:endParaRPr b="1">
              <a:solidFill>
                <a:schemeClr val="dk1"/>
              </a:solidFill>
              <a:latin typeface="Arial Black"/>
              <a:ea typeface="Arial Black"/>
              <a:cs typeface="Arial Black"/>
              <a:sym typeface="Arial Black"/>
            </a:endParaRPr>
          </a:p>
        </p:txBody>
      </p:sp>
      <p:sp>
        <p:nvSpPr>
          <p:cNvPr id="171" name="Google Shape;171;p2"/>
          <p:cNvSpPr txBox="1"/>
          <p:nvPr>
            <p:ph idx="1" type="body"/>
          </p:nvPr>
        </p:nvSpPr>
        <p:spPr>
          <a:xfrm>
            <a:off x="1165458" y="1376412"/>
            <a:ext cx="10875745" cy="5126088"/>
          </a:xfrm>
          <a:prstGeom prst="rect">
            <a:avLst/>
          </a:prstGeom>
          <a:noFill/>
          <a:ln>
            <a:noFill/>
          </a:ln>
        </p:spPr>
        <p:txBody>
          <a:bodyPr anchorCtr="0" anchor="t" bIns="45700" lIns="91425" spcFirstLastPara="1" rIns="91425" wrap="square" tIns="45700">
            <a:noAutofit/>
          </a:bodyPr>
          <a:lstStyle/>
          <a:p>
            <a:pPr indent="-331470" lvl="0" marL="342900" rtl="0" algn="l">
              <a:spcBef>
                <a:spcPts val="0"/>
              </a:spcBef>
              <a:spcAft>
                <a:spcPts val="0"/>
              </a:spcAft>
              <a:buClr>
                <a:schemeClr val="dk1"/>
              </a:buClr>
              <a:buSzPts val="1800"/>
              <a:buFont typeface="Arial"/>
              <a:buChar char="🠶"/>
            </a:pPr>
            <a:r>
              <a:rPr i="0" lang="en-US">
                <a:solidFill>
                  <a:schemeClr val="dk1"/>
                </a:solidFill>
                <a:latin typeface="Arial"/>
                <a:ea typeface="Arial"/>
                <a:cs typeface="Arial"/>
                <a:sym typeface="Arial"/>
              </a:rPr>
              <a:t>In the modern banking landscape, Automated Teller Machines (ATMs) serve as essential self-service points for customers to conduct various financial transactions. A bank has recently implemented a new ATM system to cater to the needs of its customers. The system allows pre-existing bank customers to perform the following transactions:</a:t>
            </a:r>
            <a:endParaRPr>
              <a:solidFill>
                <a:schemeClr val="dk1"/>
              </a:solidFill>
              <a:latin typeface="Arial"/>
              <a:ea typeface="Arial"/>
              <a:cs typeface="Arial"/>
              <a:sym typeface="Arial"/>
            </a:endParaRPr>
          </a:p>
          <a:p>
            <a:pPr indent="-331470" lvl="0" marL="342900" rtl="0" algn="l">
              <a:spcBef>
                <a:spcPts val="1000"/>
              </a:spcBef>
              <a:spcAft>
                <a:spcPts val="0"/>
              </a:spcAft>
              <a:buClr>
                <a:schemeClr val="dk1"/>
              </a:buClr>
              <a:buSzPts val="1800"/>
              <a:buFont typeface="Century Gothic"/>
              <a:buAutoNum type="arabicPeriod"/>
            </a:pPr>
            <a:r>
              <a:rPr b="1" i="0" lang="en-US">
                <a:solidFill>
                  <a:schemeClr val="dk1"/>
                </a:solidFill>
                <a:latin typeface="Arial"/>
                <a:ea typeface="Arial"/>
                <a:cs typeface="Arial"/>
                <a:sym typeface="Arial"/>
              </a:rPr>
              <a:t>Deposit Money:</a:t>
            </a:r>
            <a:r>
              <a:rPr i="0" lang="en-US">
                <a:solidFill>
                  <a:schemeClr val="dk1"/>
                </a:solidFill>
                <a:latin typeface="Arial"/>
                <a:ea typeface="Arial"/>
                <a:cs typeface="Arial"/>
                <a:sym typeface="Arial"/>
              </a:rPr>
              <a:t> Customers can deposit funds into their bank accounts via the ATM.</a:t>
            </a:r>
            <a:endParaRPr>
              <a:solidFill>
                <a:schemeClr val="dk1"/>
              </a:solidFill>
              <a:latin typeface="Arial"/>
              <a:ea typeface="Arial"/>
              <a:cs typeface="Arial"/>
              <a:sym typeface="Arial"/>
            </a:endParaRPr>
          </a:p>
          <a:p>
            <a:pPr indent="-331470" lvl="0" marL="342900" rtl="0" algn="l">
              <a:spcBef>
                <a:spcPts val="1000"/>
              </a:spcBef>
              <a:spcAft>
                <a:spcPts val="0"/>
              </a:spcAft>
              <a:buClr>
                <a:schemeClr val="dk1"/>
              </a:buClr>
              <a:buSzPts val="1800"/>
              <a:buFont typeface="Century Gothic"/>
              <a:buAutoNum type="arabicPeriod"/>
            </a:pPr>
            <a:r>
              <a:rPr b="1" i="0" lang="en-US">
                <a:solidFill>
                  <a:schemeClr val="dk1"/>
                </a:solidFill>
                <a:latin typeface="Arial"/>
                <a:ea typeface="Arial"/>
                <a:cs typeface="Arial"/>
                <a:sym typeface="Arial"/>
              </a:rPr>
              <a:t>Withdraw Money:</a:t>
            </a:r>
            <a:r>
              <a:rPr i="0" lang="en-US">
                <a:solidFill>
                  <a:schemeClr val="dk1"/>
                </a:solidFill>
                <a:latin typeface="Arial"/>
                <a:ea typeface="Arial"/>
                <a:cs typeface="Arial"/>
                <a:sym typeface="Arial"/>
              </a:rPr>
              <a:t> Customers can withdraw funds from their bank accounts using the ATM.</a:t>
            </a:r>
            <a:endParaRPr>
              <a:solidFill>
                <a:schemeClr val="dk1"/>
              </a:solidFill>
              <a:latin typeface="Arial"/>
              <a:ea typeface="Arial"/>
              <a:cs typeface="Arial"/>
              <a:sym typeface="Arial"/>
            </a:endParaRPr>
          </a:p>
          <a:p>
            <a:pPr indent="-331470" lvl="0" marL="342900" rtl="0" algn="l">
              <a:spcBef>
                <a:spcPts val="1000"/>
              </a:spcBef>
              <a:spcAft>
                <a:spcPts val="0"/>
              </a:spcAft>
              <a:buClr>
                <a:schemeClr val="dk1"/>
              </a:buClr>
              <a:buSzPts val="1800"/>
              <a:buFont typeface="Century Gothic"/>
              <a:buAutoNum type="arabicPeriod"/>
            </a:pPr>
            <a:r>
              <a:rPr b="1" i="0" lang="en-US">
                <a:solidFill>
                  <a:schemeClr val="dk1"/>
                </a:solidFill>
                <a:latin typeface="Arial"/>
                <a:ea typeface="Arial"/>
                <a:cs typeface="Arial"/>
                <a:sym typeface="Arial"/>
              </a:rPr>
              <a:t>View Transactions:</a:t>
            </a:r>
            <a:r>
              <a:rPr i="0" lang="en-US">
                <a:solidFill>
                  <a:schemeClr val="dk1"/>
                </a:solidFill>
                <a:latin typeface="Arial"/>
                <a:ea typeface="Arial"/>
                <a:cs typeface="Arial"/>
                <a:sym typeface="Arial"/>
              </a:rPr>
              <a:t> Customers can view their transaction history to keep track of their financial activities.</a:t>
            </a:r>
            <a:endParaRPr>
              <a:solidFill>
                <a:schemeClr val="dk1"/>
              </a:solidFill>
              <a:latin typeface="Arial"/>
              <a:ea typeface="Arial"/>
              <a:cs typeface="Arial"/>
              <a:sym typeface="Arial"/>
            </a:endParaRPr>
          </a:p>
          <a:p>
            <a:pPr indent="0" lvl="0" marL="0" rtl="0" algn="l">
              <a:spcBef>
                <a:spcPts val="1000"/>
              </a:spcBef>
              <a:spcAft>
                <a:spcPts val="0"/>
              </a:spcAft>
              <a:buSzPts val="3600"/>
              <a:buNone/>
            </a:pPr>
            <a:r>
              <a:t/>
            </a:r>
            <a:endParaRPr i="0">
              <a:solidFill>
                <a:schemeClr val="dk1"/>
              </a:solidFill>
              <a:latin typeface="Arial"/>
              <a:ea typeface="Arial"/>
              <a:cs typeface="Arial"/>
              <a:sym typeface="Arial"/>
            </a:endParaRPr>
          </a:p>
          <a:p>
            <a:pPr indent="-331470" lvl="0" marL="342900" rtl="0" algn="l">
              <a:spcBef>
                <a:spcPts val="1000"/>
              </a:spcBef>
              <a:spcAft>
                <a:spcPts val="0"/>
              </a:spcAft>
              <a:buClr>
                <a:schemeClr val="dk1"/>
              </a:buClr>
              <a:buSzPts val="1800"/>
              <a:buFont typeface="Arial"/>
              <a:buChar char="🠶"/>
            </a:pPr>
            <a:r>
              <a:rPr b="1" i="0" lang="en-US">
                <a:solidFill>
                  <a:schemeClr val="dk1"/>
                </a:solidFill>
                <a:latin typeface="Arial"/>
                <a:ea typeface="Arial"/>
                <a:cs typeface="Arial"/>
                <a:sym typeface="Arial"/>
              </a:rPr>
              <a:t>Account Types:</a:t>
            </a:r>
            <a:endParaRPr i="0">
              <a:solidFill>
                <a:schemeClr val="dk1"/>
              </a:solidFill>
              <a:latin typeface="Arial"/>
              <a:ea typeface="Arial"/>
              <a:cs typeface="Arial"/>
              <a:sym typeface="Arial"/>
            </a:endParaRPr>
          </a:p>
          <a:p>
            <a:pPr indent="-331470" lvl="0" marL="342900" rtl="0" algn="l">
              <a:spcBef>
                <a:spcPts val="1000"/>
              </a:spcBef>
              <a:spcAft>
                <a:spcPts val="0"/>
              </a:spcAft>
              <a:buClr>
                <a:schemeClr val="dk1"/>
              </a:buClr>
              <a:buSzPts val="1800"/>
              <a:buFont typeface="Arial"/>
              <a:buChar char="🠶"/>
            </a:pPr>
            <a:r>
              <a:rPr i="0" lang="en-US">
                <a:solidFill>
                  <a:schemeClr val="dk1"/>
                </a:solidFill>
                <a:latin typeface="Arial"/>
                <a:ea typeface="Arial"/>
                <a:cs typeface="Arial"/>
                <a:sym typeface="Arial"/>
              </a:rPr>
              <a:t>The bank offers two types of accounts:</a:t>
            </a:r>
            <a:endParaRPr>
              <a:solidFill>
                <a:schemeClr val="dk1"/>
              </a:solidFill>
              <a:latin typeface="Arial"/>
              <a:ea typeface="Arial"/>
              <a:cs typeface="Arial"/>
              <a:sym typeface="Arial"/>
            </a:endParaRPr>
          </a:p>
          <a:p>
            <a:pPr indent="-331470" lvl="0" marL="342900" rtl="0" algn="l">
              <a:spcBef>
                <a:spcPts val="1000"/>
              </a:spcBef>
              <a:spcAft>
                <a:spcPts val="0"/>
              </a:spcAft>
              <a:buClr>
                <a:schemeClr val="dk1"/>
              </a:buClr>
              <a:buSzPts val="1800"/>
              <a:buFont typeface="Century Gothic"/>
              <a:buAutoNum type="arabicPeriod"/>
            </a:pPr>
            <a:r>
              <a:rPr b="1" i="0" lang="en-US">
                <a:solidFill>
                  <a:schemeClr val="dk1"/>
                </a:solidFill>
                <a:latin typeface="Arial"/>
                <a:ea typeface="Arial"/>
                <a:cs typeface="Arial"/>
                <a:sym typeface="Arial"/>
              </a:rPr>
              <a:t>Current Account:</a:t>
            </a:r>
            <a:r>
              <a:rPr i="0" lang="en-US">
                <a:solidFill>
                  <a:schemeClr val="dk1"/>
                </a:solidFill>
                <a:latin typeface="Arial"/>
                <a:ea typeface="Arial"/>
                <a:cs typeface="Arial"/>
                <a:sym typeface="Arial"/>
              </a:rPr>
              <a:t> This account type offers unlimited transactions and has no specific transaction limits. It is designed for customers who require easy access to their funds.</a:t>
            </a:r>
            <a:endParaRPr>
              <a:solidFill>
                <a:schemeClr val="dk1"/>
              </a:solidFill>
              <a:latin typeface="Arial"/>
              <a:ea typeface="Arial"/>
              <a:cs typeface="Arial"/>
              <a:sym typeface="Arial"/>
            </a:endParaRPr>
          </a:p>
          <a:p>
            <a:pPr indent="-331470" lvl="0" marL="342900" rtl="0" algn="l">
              <a:spcBef>
                <a:spcPts val="1000"/>
              </a:spcBef>
              <a:spcAft>
                <a:spcPts val="0"/>
              </a:spcAft>
              <a:buClr>
                <a:schemeClr val="dk1"/>
              </a:buClr>
              <a:buSzPts val="1800"/>
              <a:buFont typeface="Century Gothic"/>
              <a:buAutoNum type="arabicPeriod"/>
            </a:pPr>
            <a:r>
              <a:rPr b="1" i="0" lang="en-US">
                <a:solidFill>
                  <a:schemeClr val="dk1"/>
                </a:solidFill>
                <a:latin typeface="Arial"/>
                <a:ea typeface="Arial"/>
                <a:cs typeface="Arial"/>
                <a:sym typeface="Arial"/>
              </a:rPr>
              <a:t>Savings Account:</a:t>
            </a:r>
            <a:r>
              <a:rPr i="0" lang="en-US">
                <a:solidFill>
                  <a:schemeClr val="dk1"/>
                </a:solidFill>
                <a:latin typeface="Arial"/>
                <a:ea typeface="Arial"/>
                <a:cs typeface="Arial"/>
                <a:sym typeface="Arial"/>
              </a:rPr>
              <a:t> This account type has a maximum transaction limit. It is intended for customers who want to save money while still having some transaction flexibility.</a:t>
            </a:r>
            <a:endParaRPr>
              <a:solidFill>
                <a:schemeClr val="dk1"/>
              </a:solidFill>
              <a:latin typeface="Arial"/>
              <a:ea typeface="Arial"/>
              <a:cs typeface="Arial"/>
              <a:sym typeface="Arial"/>
            </a:endParaRPr>
          </a:p>
          <a:p>
            <a:pPr indent="-280035" lvl="0" marL="342900" rtl="0" algn="l">
              <a:spcBef>
                <a:spcPts val="1000"/>
              </a:spcBef>
              <a:spcAft>
                <a:spcPts val="0"/>
              </a:spcAft>
              <a:buSzPts val="1800"/>
              <a:buNone/>
            </a:pPr>
            <a:r>
              <a:t/>
            </a:r>
            <a:endParaRPr>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168DBA"/>
              </a:buClr>
              <a:buSzPts val="3600"/>
              <a:buFont typeface="Arial Black"/>
              <a:buNone/>
            </a:pPr>
            <a:r>
              <a:rPr b="1" lang="en-US">
                <a:solidFill>
                  <a:schemeClr val="dk1"/>
                </a:solidFill>
                <a:latin typeface="Arial Black"/>
                <a:ea typeface="Arial Black"/>
                <a:cs typeface="Arial Black"/>
                <a:sym typeface="Arial Black"/>
              </a:rPr>
              <a:t>PROBLEM STATEMENT</a:t>
            </a:r>
            <a:endParaRPr b="1">
              <a:solidFill>
                <a:schemeClr val="dk1"/>
              </a:solidFill>
              <a:latin typeface="Arial Black"/>
              <a:ea typeface="Arial Black"/>
              <a:cs typeface="Arial Black"/>
              <a:sym typeface="Arial Black"/>
            </a:endParaRPr>
          </a:p>
        </p:txBody>
      </p:sp>
      <p:sp>
        <p:nvSpPr>
          <p:cNvPr id="177" name="Google Shape;177;p3"/>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Autofit/>
          </a:bodyPr>
          <a:lstStyle/>
          <a:p>
            <a:pPr indent="-361950" lvl="0" marL="342900" rtl="0" algn="l">
              <a:spcBef>
                <a:spcPts val="0"/>
              </a:spcBef>
              <a:spcAft>
                <a:spcPts val="0"/>
              </a:spcAft>
              <a:buClr>
                <a:schemeClr val="dk1"/>
              </a:buClr>
              <a:buSzPts val="2700"/>
              <a:buFont typeface="Arial"/>
              <a:buChar char="🠶"/>
            </a:pPr>
            <a:r>
              <a:rPr i="0" lang="en-US" sz="2700">
                <a:solidFill>
                  <a:schemeClr val="dk1"/>
                </a:solidFill>
                <a:latin typeface="Arial"/>
                <a:ea typeface="Arial"/>
                <a:cs typeface="Arial"/>
                <a:sym typeface="Arial"/>
              </a:rPr>
              <a:t>The goal of this project is to design and implement a class diagram for the ATM system that allows customers to interact with their bank accounts through the ATM.</a:t>
            </a:r>
            <a:endParaRPr sz="2700">
              <a:solidFill>
                <a:schemeClr val="dk1"/>
              </a:solidFill>
              <a:latin typeface="Arial"/>
              <a:ea typeface="Arial"/>
              <a:cs typeface="Arial"/>
              <a:sym typeface="Arial"/>
            </a:endParaRPr>
          </a:p>
          <a:p>
            <a:pPr indent="-361950" lvl="0" marL="342900" rtl="0" algn="l">
              <a:spcBef>
                <a:spcPts val="1000"/>
              </a:spcBef>
              <a:spcAft>
                <a:spcPts val="0"/>
              </a:spcAft>
              <a:buClr>
                <a:schemeClr val="dk1"/>
              </a:buClr>
              <a:buSzPts val="2700"/>
              <a:buFont typeface="Arial"/>
              <a:buChar char="🠶"/>
            </a:pPr>
            <a:r>
              <a:rPr i="0" lang="en-US" sz="2700">
                <a:solidFill>
                  <a:schemeClr val="dk1"/>
                </a:solidFill>
                <a:latin typeface="Arial"/>
                <a:ea typeface="Arial"/>
                <a:cs typeface="Arial"/>
                <a:sym typeface="Arial"/>
              </a:rPr>
              <a:t>The system should provide a user-friendly interface for customers to deposit, withdraw, and view transactions.</a:t>
            </a:r>
            <a:endParaRPr sz="2700">
              <a:solidFill>
                <a:schemeClr val="dk1"/>
              </a:solidFill>
              <a:latin typeface="Arial"/>
              <a:ea typeface="Arial"/>
              <a:cs typeface="Arial"/>
              <a:sym typeface="Arial"/>
            </a:endParaRPr>
          </a:p>
          <a:p>
            <a:pPr indent="-361950" lvl="0" marL="342900" rtl="0" algn="l">
              <a:spcBef>
                <a:spcPts val="1000"/>
              </a:spcBef>
              <a:spcAft>
                <a:spcPts val="0"/>
              </a:spcAft>
              <a:buClr>
                <a:schemeClr val="dk1"/>
              </a:buClr>
              <a:buSzPts val="2700"/>
              <a:buFont typeface="Arial"/>
              <a:buChar char="🠶"/>
            </a:pPr>
            <a:r>
              <a:rPr i="0" lang="en-US" sz="2700">
                <a:solidFill>
                  <a:schemeClr val="dk1"/>
                </a:solidFill>
                <a:latin typeface="Arial"/>
                <a:ea typeface="Arial"/>
                <a:cs typeface="Arial"/>
                <a:sym typeface="Arial"/>
              </a:rPr>
              <a:t>It should also enforce the account-specific transaction limits for savings accounts.</a:t>
            </a:r>
            <a:endParaRPr sz="2700">
              <a:solidFill>
                <a:schemeClr val="dk1"/>
              </a:solidFill>
              <a:latin typeface="Arial"/>
              <a:ea typeface="Arial"/>
              <a:cs typeface="Arial"/>
              <a:sym typeface="Arial"/>
            </a:endParaRPr>
          </a:p>
          <a:p>
            <a:pPr indent="-190500" lvl="0" marL="342900" rtl="0" algn="l">
              <a:spcBef>
                <a:spcPts val="1000"/>
              </a:spcBef>
              <a:spcAft>
                <a:spcPts val="0"/>
              </a:spcAft>
              <a:buSzPts val="2400"/>
              <a:buNone/>
            </a:pPr>
            <a:r>
              <a:t/>
            </a:r>
            <a:endParaRPr sz="27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g25e36283526_1_0"/>
          <p:cNvPicPr preferRelativeResize="0"/>
          <p:nvPr/>
        </p:nvPicPr>
        <p:blipFill>
          <a:blip r:embed="rId3">
            <a:alphaModFix/>
          </a:blip>
          <a:stretch>
            <a:fillRect/>
          </a:stretch>
        </p:blipFill>
        <p:spPr>
          <a:xfrm>
            <a:off x="0" y="400838"/>
            <a:ext cx="12192000" cy="60563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25e36283526_1_7"/>
          <p:cNvSpPr txBox="1"/>
          <p:nvPr>
            <p:ph type="title"/>
          </p:nvPr>
        </p:nvSpPr>
        <p:spPr>
          <a:xfrm>
            <a:off x="2592925" y="624110"/>
            <a:ext cx="8911800" cy="12810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b="1" lang="en-US">
                <a:solidFill>
                  <a:schemeClr val="dk1"/>
                </a:solidFill>
                <a:latin typeface="Arial Black"/>
                <a:ea typeface="Arial Black"/>
                <a:cs typeface="Arial Black"/>
                <a:sym typeface="Arial Black"/>
              </a:rPr>
              <a:t>FEATURES</a:t>
            </a:r>
            <a:endParaRPr b="1">
              <a:solidFill>
                <a:schemeClr val="dk1"/>
              </a:solidFill>
              <a:latin typeface="Arial Black"/>
              <a:ea typeface="Arial Black"/>
              <a:cs typeface="Arial Black"/>
              <a:sym typeface="Arial Black"/>
            </a:endParaRPr>
          </a:p>
        </p:txBody>
      </p:sp>
      <p:sp>
        <p:nvSpPr>
          <p:cNvPr id="188" name="Google Shape;188;g25e36283526_1_7"/>
          <p:cNvSpPr txBox="1"/>
          <p:nvPr>
            <p:ph idx="1" type="body"/>
          </p:nvPr>
        </p:nvSpPr>
        <p:spPr>
          <a:xfrm>
            <a:off x="2589212" y="2133600"/>
            <a:ext cx="8915400" cy="37776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2200">
                <a:solidFill>
                  <a:schemeClr val="dk1"/>
                </a:solidFill>
              </a:rPr>
              <a:t>Inheritance:</a:t>
            </a:r>
            <a:r>
              <a:rPr lang="en-US" sz="2200">
                <a:solidFill>
                  <a:schemeClr val="dk1"/>
                </a:solidFill>
              </a:rPr>
              <a:t> SavingAccount and CurrentAccount classes inherit from Account class. </a:t>
            </a:r>
            <a:endParaRPr sz="2200">
              <a:solidFill>
                <a:schemeClr val="dk1"/>
              </a:solidFill>
            </a:endParaRPr>
          </a:p>
          <a:p>
            <a:pPr indent="0" lvl="0" marL="0" rtl="0" algn="l">
              <a:spcBef>
                <a:spcPts val="1000"/>
              </a:spcBef>
              <a:spcAft>
                <a:spcPts val="0"/>
              </a:spcAft>
              <a:buNone/>
            </a:pPr>
            <a:r>
              <a:rPr b="1" lang="en-US" sz="2200">
                <a:solidFill>
                  <a:schemeClr val="dk1"/>
                </a:solidFill>
              </a:rPr>
              <a:t>Dependencies: </a:t>
            </a:r>
            <a:r>
              <a:rPr lang="en-US" sz="2200">
                <a:solidFill>
                  <a:schemeClr val="dk1"/>
                </a:solidFill>
              </a:rPr>
              <a:t>The Atm and AtmTransaction classes are dependent on the Customer class while the Customer class is dependent on the Account, SavingAccount and CurrentAccount classes.</a:t>
            </a:r>
            <a:endParaRPr sz="2200">
              <a:solidFill>
                <a:schemeClr val="dk1"/>
              </a:solidFill>
            </a:endParaRPr>
          </a:p>
          <a:p>
            <a:pPr indent="0" lvl="0" marL="0" rtl="0" algn="l">
              <a:spcBef>
                <a:spcPts val="1000"/>
              </a:spcBef>
              <a:spcAft>
                <a:spcPts val="0"/>
              </a:spcAft>
              <a:buNone/>
            </a:pPr>
            <a:r>
              <a:rPr b="1" lang="en-US" sz="2200">
                <a:solidFill>
                  <a:schemeClr val="dk1"/>
                </a:solidFill>
              </a:rPr>
              <a:t>Aggregation:</a:t>
            </a:r>
            <a:r>
              <a:rPr lang="en-US" sz="2200">
                <a:solidFill>
                  <a:schemeClr val="dk1"/>
                </a:solidFill>
              </a:rPr>
              <a:t> There is an aggregation relationship between Atm class and AtmTransaction class</a:t>
            </a:r>
            <a:endParaRPr sz="2200">
              <a:solidFill>
                <a:schemeClr val="dk1"/>
              </a:solidFill>
            </a:endParaRPr>
          </a:p>
          <a:p>
            <a:pPr indent="0" lvl="0" marL="0" rtl="0" algn="l">
              <a:spcBef>
                <a:spcPts val="1000"/>
              </a:spcBef>
              <a:spcAft>
                <a:spcPts val="0"/>
              </a:spcAft>
              <a:buNone/>
            </a:pPr>
            <a:r>
              <a:rPr b="1" lang="en-US" sz="2200">
                <a:solidFill>
                  <a:schemeClr val="dk1"/>
                </a:solidFill>
              </a:rPr>
              <a:t>Packages:</a:t>
            </a:r>
            <a:r>
              <a:rPr lang="en-US" sz="2200">
                <a:solidFill>
                  <a:schemeClr val="dk1"/>
                </a:solidFill>
              </a:rPr>
              <a:t> The only user defined </a:t>
            </a:r>
            <a:r>
              <a:rPr lang="en-US" sz="2200">
                <a:solidFill>
                  <a:schemeClr val="dk1"/>
                </a:solidFill>
              </a:rPr>
              <a:t>package</a:t>
            </a:r>
            <a:r>
              <a:rPr lang="en-US" sz="2200">
                <a:solidFill>
                  <a:schemeClr val="dk1"/>
                </a:solidFill>
              </a:rPr>
              <a:t> in the clas diagram is accountDetails. It holds Customer, Account, SavingAccount and CurrentAccount classes.</a:t>
            </a:r>
            <a:endParaRPr sz="2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25e36283526_1_13"/>
          <p:cNvSpPr txBox="1"/>
          <p:nvPr>
            <p:ph type="title"/>
          </p:nvPr>
        </p:nvSpPr>
        <p:spPr>
          <a:xfrm>
            <a:off x="2363100" y="3067200"/>
            <a:ext cx="7465800" cy="723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SzPts val="990"/>
              <a:buNone/>
            </a:pPr>
            <a:r>
              <a:rPr b="1" lang="en-US" sz="3640">
                <a:solidFill>
                  <a:schemeClr val="dk1"/>
                </a:solidFill>
                <a:latin typeface="Arial Black"/>
                <a:ea typeface="Arial Black"/>
                <a:cs typeface="Arial Black"/>
                <a:sym typeface="Arial Black"/>
              </a:rPr>
              <a:t>IMPLEMENTATION DETAILS</a:t>
            </a:r>
            <a:endParaRPr b="1" sz="3640">
              <a:solidFill>
                <a:schemeClr val="dk1"/>
              </a:solidFill>
              <a:latin typeface="Arial Black"/>
              <a:ea typeface="Arial Black"/>
              <a:cs typeface="Arial Black"/>
              <a:sym typeface="Arial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g25e36283526_1_32"/>
          <p:cNvPicPr preferRelativeResize="0"/>
          <p:nvPr/>
        </p:nvPicPr>
        <p:blipFill>
          <a:blip r:embed="rId3">
            <a:alphaModFix/>
          </a:blip>
          <a:stretch>
            <a:fillRect/>
          </a:stretch>
        </p:blipFill>
        <p:spPr>
          <a:xfrm>
            <a:off x="0" y="0"/>
            <a:ext cx="8624899" cy="5481251"/>
          </a:xfrm>
          <a:prstGeom prst="rect">
            <a:avLst/>
          </a:prstGeom>
          <a:noFill/>
          <a:ln>
            <a:noFill/>
          </a:ln>
        </p:spPr>
      </p:pic>
      <p:pic>
        <p:nvPicPr>
          <p:cNvPr id="199" name="Google Shape;199;g25e36283526_1_32"/>
          <p:cNvPicPr preferRelativeResize="0"/>
          <p:nvPr/>
        </p:nvPicPr>
        <p:blipFill>
          <a:blip r:embed="rId4">
            <a:alphaModFix/>
          </a:blip>
          <a:stretch>
            <a:fillRect/>
          </a:stretch>
        </p:blipFill>
        <p:spPr>
          <a:xfrm>
            <a:off x="4303925" y="3983025"/>
            <a:ext cx="7888075" cy="2874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g25e36283526_1_36"/>
          <p:cNvPicPr preferRelativeResize="0"/>
          <p:nvPr/>
        </p:nvPicPr>
        <p:blipFill>
          <a:blip r:embed="rId3">
            <a:alphaModFix/>
          </a:blip>
          <a:stretch>
            <a:fillRect/>
          </a:stretch>
        </p:blipFill>
        <p:spPr>
          <a:xfrm>
            <a:off x="0" y="229863"/>
            <a:ext cx="12192001" cy="639827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g25e36283526_1_43"/>
          <p:cNvPicPr preferRelativeResize="0"/>
          <p:nvPr/>
        </p:nvPicPr>
        <p:blipFill>
          <a:blip r:embed="rId3">
            <a:alphaModFix/>
          </a:blip>
          <a:stretch>
            <a:fillRect/>
          </a:stretch>
        </p:blipFill>
        <p:spPr>
          <a:xfrm>
            <a:off x="935788" y="0"/>
            <a:ext cx="10320418" cy="68579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g25e36283526_1_48"/>
          <p:cNvPicPr preferRelativeResize="0"/>
          <p:nvPr/>
        </p:nvPicPr>
        <p:blipFill>
          <a:blip r:embed="rId3">
            <a:alphaModFix/>
          </a:blip>
          <a:stretch>
            <a:fillRect/>
          </a:stretch>
        </p:blipFill>
        <p:spPr>
          <a:xfrm>
            <a:off x="2311100" y="0"/>
            <a:ext cx="7569786"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g25e36283526_1_53"/>
          <p:cNvPicPr preferRelativeResize="0"/>
          <p:nvPr/>
        </p:nvPicPr>
        <p:blipFill>
          <a:blip r:embed="rId3">
            <a:alphaModFix/>
          </a:blip>
          <a:stretch>
            <a:fillRect/>
          </a:stretch>
        </p:blipFill>
        <p:spPr>
          <a:xfrm>
            <a:off x="1302753" y="2003653"/>
            <a:ext cx="9586499" cy="2850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g25e36283526_1_72"/>
          <p:cNvPicPr preferRelativeResize="0"/>
          <p:nvPr/>
        </p:nvPicPr>
        <p:blipFill>
          <a:blip r:embed="rId3">
            <a:alphaModFix/>
          </a:blip>
          <a:stretch>
            <a:fillRect/>
          </a:stretch>
        </p:blipFill>
        <p:spPr>
          <a:xfrm>
            <a:off x="354300" y="0"/>
            <a:ext cx="11483397" cy="68580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g25e36283526_1_58"/>
          <p:cNvPicPr preferRelativeResize="0"/>
          <p:nvPr/>
        </p:nvPicPr>
        <p:blipFill>
          <a:blip r:embed="rId3">
            <a:alphaModFix/>
          </a:blip>
          <a:stretch>
            <a:fillRect/>
          </a:stretch>
        </p:blipFill>
        <p:spPr>
          <a:xfrm>
            <a:off x="0" y="407112"/>
            <a:ext cx="12191999" cy="604377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g25e36283526_1_63"/>
          <p:cNvPicPr preferRelativeResize="0"/>
          <p:nvPr/>
        </p:nvPicPr>
        <p:blipFill>
          <a:blip r:embed="rId3">
            <a:alphaModFix/>
          </a:blip>
          <a:stretch>
            <a:fillRect/>
          </a:stretch>
        </p:blipFill>
        <p:spPr>
          <a:xfrm>
            <a:off x="0" y="253288"/>
            <a:ext cx="12192000" cy="63514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g25e36283526_1_67"/>
          <p:cNvPicPr preferRelativeResize="0"/>
          <p:nvPr/>
        </p:nvPicPr>
        <p:blipFill>
          <a:blip r:embed="rId3">
            <a:alphaModFix/>
          </a:blip>
          <a:stretch>
            <a:fillRect/>
          </a:stretch>
        </p:blipFill>
        <p:spPr>
          <a:xfrm>
            <a:off x="2447250" y="0"/>
            <a:ext cx="7297492" cy="68580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25e36283526_1_18"/>
          <p:cNvSpPr txBox="1"/>
          <p:nvPr>
            <p:ph type="title"/>
          </p:nvPr>
        </p:nvSpPr>
        <p:spPr>
          <a:xfrm>
            <a:off x="4445250" y="3067200"/>
            <a:ext cx="3523200" cy="7236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SzPts val="990"/>
              <a:buNone/>
            </a:pPr>
            <a:r>
              <a:rPr b="1" lang="en-US" sz="3640">
                <a:solidFill>
                  <a:schemeClr val="dk1"/>
                </a:solidFill>
                <a:latin typeface="Arial Black"/>
                <a:ea typeface="Arial Black"/>
                <a:cs typeface="Arial Black"/>
                <a:sym typeface="Arial Black"/>
              </a:rPr>
              <a:t>TEST CASES</a:t>
            </a:r>
            <a:endParaRPr b="1" sz="3640">
              <a:solidFill>
                <a:schemeClr val="dk1"/>
              </a:solidFill>
              <a:latin typeface="Arial Black"/>
              <a:ea typeface="Arial Black"/>
              <a:cs typeface="Arial Black"/>
              <a:sym typeface="Arial Blac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g25e36283526_1_89"/>
          <p:cNvPicPr preferRelativeResize="0"/>
          <p:nvPr/>
        </p:nvPicPr>
        <p:blipFill>
          <a:blip r:embed="rId3">
            <a:alphaModFix/>
          </a:blip>
          <a:stretch>
            <a:fillRect/>
          </a:stretch>
        </p:blipFill>
        <p:spPr>
          <a:xfrm>
            <a:off x="0" y="0"/>
            <a:ext cx="5387418" cy="6857999"/>
          </a:xfrm>
          <a:prstGeom prst="rect">
            <a:avLst/>
          </a:prstGeom>
          <a:noFill/>
          <a:ln>
            <a:noFill/>
          </a:ln>
        </p:spPr>
      </p:pic>
      <p:pic>
        <p:nvPicPr>
          <p:cNvPr id="250" name="Google Shape;250;g25e36283526_1_89"/>
          <p:cNvPicPr preferRelativeResize="0"/>
          <p:nvPr/>
        </p:nvPicPr>
        <p:blipFill>
          <a:blip r:embed="rId4">
            <a:alphaModFix/>
          </a:blip>
          <a:stretch>
            <a:fillRect/>
          </a:stretch>
        </p:blipFill>
        <p:spPr>
          <a:xfrm>
            <a:off x="5934621" y="0"/>
            <a:ext cx="6257379" cy="6858000"/>
          </a:xfrm>
          <a:prstGeom prst="rect">
            <a:avLst/>
          </a:prstGeom>
          <a:noFill/>
          <a:ln>
            <a:noFill/>
          </a:ln>
        </p:spPr>
      </p:pic>
      <p:sp>
        <p:nvSpPr>
          <p:cNvPr id="251" name="Google Shape;251;g25e36283526_1_89"/>
          <p:cNvSpPr txBox="1"/>
          <p:nvPr>
            <p:ph idx="4294967295" type="title"/>
          </p:nvPr>
        </p:nvSpPr>
        <p:spPr>
          <a:xfrm>
            <a:off x="3256825" y="2752750"/>
            <a:ext cx="1864200" cy="723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t>Test 1</a:t>
            </a:r>
            <a:endParaRPr/>
          </a:p>
        </p:txBody>
      </p:sp>
      <p:sp>
        <p:nvSpPr>
          <p:cNvPr id="252" name="Google Shape;252;g25e36283526_1_89"/>
          <p:cNvSpPr txBox="1"/>
          <p:nvPr>
            <p:ph idx="4294967295" type="title"/>
          </p:nvPr>
        </p:nvSpPr>
        <p:spPr>
          <a:xfrm>
            <a:off x="3184625" y="5031450"/>
            <a:ext cx="1864200" cy="723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t>Test 2</a:t>
            </a:r>
            <a:endParaRPr/>
          </a:p>
        </p:txBody>
      </p:sp>
      <p:sp>
        <p:nvSpPr>
          <p:cNvPr id="253" name="Google Shape;253;g25e36283526_1_89"/>
          <p:cNvSpPr txBox="1"/>
          <p:nvPr>
            <p:ph idx="4294967295" type="title"/>
          </p:nvPr>
        </p:nvSpPr>
        <p:spPr>
          <a:xfrm>
            <a:off x="10075225" y="916300"/>
            <a:ext cx="1864200" cy="723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t>Test 3</a:t>
            </a:r>
            <a:endParaRPr/>
          </a:p>
        </p:txBody>
      </p:sp>
      <p:sp>
        <p:nvSpPr>
          <p:cNvPr id="254" name="Google Shape;254;g25e36283526_1_89"/>
          <p:cNvSpPr txBox="1"/>
          <p:nvPr>
            <p:ph idx="4294967295" type="title"/>
          </p:nvPr>
        </p:nvSpPr>
        <p:spPr>
          <a:xfrm>
            <a:off x="9907850" y="4058150"/>
            <a:ext cx="1864200" cy="723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t>Test 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g25e36283526_1_97"/>
          <p:cNvPicPr preferRelativeResize="0"/>
          <p:nvPr/>
        </p:nvPicPr>
        <p:blipFill>
          <a:blip r:embed="rId3">
            <a:alphaModFix/>
          </a:blip>
          <a:stretch>
            <a:fillRect/>
          </a:stretch>
        </p:blipFill>
        <p:spPr>
          <a:xfrm>
            <a:off x="28797" y="0"/>
            <a:ext cx="5562102" cy="6858000"/>
          </a:xfrm>
          <a:prstGeom prst="rect">
            <a:avLst/>
          </a:prstGeom>
          <a:noFill/>
          <a:ln>
            <a:noFill/>
          </a:ln>
        </p:spPr>
      </p:pic>
      <p:pic>
        <p:nvPicPr>
          <p:cNvPr id="260" name="Google Shape;260;g25e36283526_1_97"/>
          <p:cNvPicPr preferRelativeResize="0"/>
          <p:nvPr/>
        </p:nvPicPr>
        <p:blipFill>
          <a:blip r:embed="rId4">
            <a:alphaModFix/>
          </a:blip>
          <a:stretch>
            <a:fillRect/>
          </a:stretch>
        </p:blipFill>
        <p:spPr>
          <a:xfrm>
            <a:off x="5590900" y="275575"/>
            <a:ext cx="6601100" cy="6306846"/>
          </a:xfrm>
          <a:prstGeom prst="rect">
            <a:avLst/>
          </a:prstGeom>
          <a:noFill/>
          <a:ln>
            <a:noFill/>
          </a:ln>
        </p:spPr>
      </p:pic>
      <p:sp>
        <p:nvSpPr>
          <p:cNvPr id="261" name="Google Shape;261;g25e36283526_1_97"/>
          <p:cNvSpPr txBox="1"/>
          <p:nvPr>
            <p:ph idx="4294967295" type="title"/>
          </p:nvPr>
        </p:nvSpPr>
        <p:spPr>
          <a:xfrm>
            <a:off x="3346675" y="5328250"/>
            <a:ext cx="1864200" cy="723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t>Test 5</a:t>
            </a:r>
            <a:endParaRPr/>
          </a:p>
        </p:txBody>
      </p:sp>
      <p:sp>
        <p:nvSpPr>
          <p:cNvPr id="262" name="Google Shape;262;g25e36283526_1_97"/>
          <p:cNvSpPr txBox="1"/>
          <p:nvPr>
            <p:ph idx="4294967295" type="title"/>
          </p:nvPr>
        </p:nvSpPr>
        <p:spPr>
          <a:xfrm>
            <a:off x="8163900" y="3082150"/>
            <a:ext cx="4028100" cy="1140600"/>
          </a:xfrm>
          <a:prstGeom prst="rect">
            <a:avLst/>
          </a:prstGeom>
        </p:spPr>
        <p:txBody>
          <a:bodyPr anchorCtr="0" anchor="t" bIns="45700" lIns="91425" spcFirstLastPara="1" rIns="91425" wrap="square" tIns="45700">
            <a:normAutofit fontScale="90000"/>
          </a:bodyPr>
          <a:lstStyle/>
          <a:p>
            <a:pPr indent="0" lvl="0" marL="0" rtl="0" algn="ctr">
              <a:spcBef>
                <a:spcPts val="0"/>
              </a:spcBef>
              <a:spcAft>
                <a:spcPts val="0"/>
              </a:spcAft>
              <a:buNone/>
            </a:pPr>
            <a:r>
              <a:rPr lang="en-US"/>
              <a:t>Test 4 Continued and Desired Result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g25e36283526_1_105"/>
          <p:cNvPicPr preferRelativeResize="0"/>
          <p:nvPr/>
        </p:nvPicPr>
        <p:blipFill>
          <a:blip r:embed="rId3">
            <a:alphaModFix/>
          </a:blip>
          <a:stretch>
            <a:fillRect/>
          </a:stretch>
        </p:blipFill>
        <p:spPr>
          <a:xfrm>
            <a:off x="0" y="0"/>
            <a:ext cx="5654553" cy="6858000"/>
          </a:xfrm>
          <a:prstGeom prst="rect">
            <a:avLst/>
          </a:prstGeom>
          <a:noFill/>
          <a:ln>
            <a:noFill/>
          </a:ln>
        </p:spPr>
      </p:pic>
      <p:pic>
        <p:nvPicPr>
          <p:cNvPr id="268" name="Google Shape;268;g25e36283526_1_105"/>
          <p:cNvPicPr preferRelativeResize="0"/>
          <p:nvPr/>
        </p:nvPicPr>
        <p:blipFill>
          <a:blip r:embed="rId4">
            <a:alphaModFix/>
          </a:blip>
          <a:stretch>
            <a:fillRect/>
          </a:stretch>
        </p:blipFill>
        <p:spPr>
          <a:xfrm>
            <a:off x="9067064" y="0"/>
            <a:ext cx="3124936" cy="6857999"/>
          </a:xfrm>
          <a:prstGeom prst="rect">
            <a:avLst/>
          </a:prstGeom>
          <a:noFill/>
          <a:ln>
            <a:noFill/>
          </a:ln>
        </p:spPr>
      </p:pic>
      <p:sp>
        <p:nvSpPr>
          <p:cNvPr id="269" name="Google Shape;269;g25e36283526_1_105"/>
          <p:cNvSpPr txBox="1"/>
          <p:nvPr>
            <p:ph idx="4294967295" type="title"/>
          </p:nvPr>
        </p:nvSpPr>
        <p:spPr>
          <a:xfrm>
            <a:off x="6428700" y="1183800"/>
            <a:ext cx="1864200" cy="723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highlight>
                  <a:schemeClr val="dk1"/>
                </a:highlight>
              </a:rPr>
              <a:t> </a:t>
            </a:r>
            <a:r>
              <a:rPr lang="en-US">
                <a:highlight>
                  <a:schemeClr val="dk1"/>
                </a:highlight>
              </a:rPr>
              <a:t>Test 6</a:t>
            </a:r>
            <a:r>
              <a:rPr lang="en-US">
                <a:solidFill>
                  <a:schemeClr val="dk1"/>
                </a:solidFill>
                <a:highlight>
                  <a:schemeClr val="dk1"/>
                </a:highlight>
              </a:rPr>
              <a:t>.</a:t>
            </a:r>
            <a:endParaRPr>
              <a:solidFill>
                <a:schemeClr val="dk1"/>
              </a:solidFill>
              <a:highlight>
                <a:schemeClr val="dk1"/>
              </a:highlight>
            </a:endParaRPr>
          </a:p>
        </p:txBody>
      </p:sp>
      <p:sp>
        <p:nvSpPr>
          <p:cNvPr id="270" name="Google Shape;270;g25e36283526_1_105"/>
          <p:cNvSpPr txBox="1"/>
          <p:nvPr>
            <p:ph idx="4294967295" type="title"/>
          </p:nvPr>
        </p:nvSpPr>
        <p:spPr>
          <a:xfrm>
            <a:off x="6311750" y="4080175"/>
            <a:ext cx="1864200" cy="723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highlight>
                  <a:schemeClr val="dk1"/>
                </a:highlight>
              </a:rPr>
              <a:t> </a:t>
            </a:r>
            <a:r>
              <a:rPr lang="en-US">
                <a:highlight>
                  <a:schemeClr val="dk1"/>
                </a:highlight>
              </a:rPr>
              <a:t>Test 7</a:t>
            </a:r>
            <a:r>
              <a:rPr lang="en-US">
                <a:solidFill>
                  <a:schemeClr val="dk1"/>
                </a:solidFill>
                <a:highlight>
                  <a:schemeClr val="dk1"/>
                </a:highlight>
              </a:rPr>
              <a:t>.</a:t>
            </a:r>
            <a:endParaRPr>
              <a:solidFill>
                <a:schemeClr val="dk1"/>
              </a:solidFill>
              <a:highlight>
                <a:schemeClr val="dk1"/>
              </a:highlight>
            </a:endParaRPr>
          </a:p>
        </p:txBody>
      </p:sp>
      <p:cxnSp>
        <p:nvCxnSpPr>
          <p:cNvPr id="271" name="Google Shape;271;g25e36283526_1_105"/>
          <p:cNvCxnSpPr>
            <a:stCxn id="270" idx="3"/>
          </p:cNvCxnSpPr>
          <p:nvPr/>
        </p:nvCxnSpPr>
        <p:spPr>
          <a:xfrm flipH="1" rot="10800000">
            <a:off x="8175950" y="4426975"/>
            <a:ext cx="843000" cy="15000"/>
          </a:xfrm>
          <a:prstGeom prst="straightConnector1">
            <a:avLst/>
          </a:prstGeom>
          <a:noFill/>
          <a:ln cap="flat" cmpd="sng" w="38100">
            <a:solidFill>
              <a:schemeClr val="dk1"/>
            </a:solidFill>
            <a:prstDash val="solid"/>
            <a:round/>
            <a:headEnd len="med" w="med" type="none"/>
            <a:tailEnd len="med" w="med" type="triangle"/>
          </a:ln>
        </p:spPr>
      </p:cxnSp>
      <p:cxnSp>
        <p:nvCxnSpPr>
          <p:cNvPr id="272" name="Google Shape;272;g25e36283526_1_105"/>
          <p:cNvCxnSpPr>
            <a:stCxn id="269" idx="1"/>
          </p:cNvCxnSpPr>
          <p:nvPr/>
        </p:nvCxnSpPr>
        <p:spPr>
          <a:xfrm flipH="1">
            <a:off x="5612400" y="1545600"/>
            <a:ext cx="816300" cy="330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g25e36283526_1_113"/>
          <p:cNvPicPr preferRelativeResize="0"/>
          <p:nvPr/>
        </p:nvPicPr>
        <p:blipFill>
          <a:blip r:embed="rId3">
            <a:alphaModFix/>
          </a:blip>
          <a:stretch>
            <a:fillRect/>
          </a:stretch>
        </p:blipFill>
        <p:spPr>
          <a:xfrm>
            <a:off x="3459475" y="2202488"/>
            <a:ext cx="5273050" cy="2453025"/>
          </a:xfrm>
          <a:prstGeom prst="rect">
            <a:avLst/>
          </a:prstGeom>
          <a:noFill/>
          <a:ln>
            <a:noFill/>
          </a:ln>
        </p:spPr>
      </p:pic>
      <p:sp>
        <p:nvSpPr>
          <p:cNvPr id="278" name="Google Shape;278;g25e36283526_1_113"/>
          <p:cNvSpPr txBox="1"/>
          <p:nvPr>
            <p:ph idx="4294967295" type="title"/>
          </p:nvPr>
        </p:nvSpPr>
        <p:spPr>
          <a:xfrm>
            <a:off x="6443713" y="3067200"/>
            <a:ext cx="1864200" cy="723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t>Test 8</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g25e36283526_1_136"/>
          <p:cNvPicPr preferRelativeResize="0"/>
          <p:nvPr/>
        </p:nvPicPr>
        <p:blipFill>
          <a:blip r:embed="rId3">
            <a:alphaModFix/>
          </a:blip>
          <a:stretch>
            <a:fillRect/>
          </a:stretch>
        </p:blipFill>
        <p:spPr>
          <a:xfrm>
            <a:off x="-1" y="0"/>
            <a:ext cx="5023893" cy="6858000"/>
          </a:xfrm>
          <a:prstGeom prst="rect">
            <a:avLst/>
          </a:prstGeom>
          <a:noFill/>
          <a:ln>
            <a:noFill/>
          </a:ln>
        </p:spPr>
      </p:pic>
      <p:pic>
        <p:nvPicPr>
          <p:cNvPr id="284" name="Google Shape;284;g25e36283526_1_136"/>
          <p:cNvPicPr preferRelativeResize="0"/>
          <p:nvPr/>
        </p:nvPicPr>
        <p:blipFill>
          <a:blip r:embed="rId4">
            <a:alphaModFix/>
          </a:blip>
          <a:stretch>
            <a:fillRect/>
          </a:stretch>
        </p:blipFill>
        <p:spPr>
          <a:xfrm>
            <a:off x="6651500" y="2013825"/>
            <a:ext cx="4777975" cy="2830350"/>
          </a:xfrm>
          <a:prstGeom prst="rect">
            <a:avLst/>
          </a:prstGeom>
          <a:noFill/>
          <a:ln>
            <a:noFill/>
          </a:ln>
        </p:spPr>
      </p:pic>
      <p:sp>
        <p:nvSpPr>
          <p:cNvPr id="285" name="Google Shape;285;g25e36283526_1_136"/>
          <p:cNvSpPr txBox="1"/>
          <p:nvPr>
            <p:ph idx="4294967295" type="title"/>
          </p:nvPr>
        </p:nvSpPr>
        <p:spPr>
          <a:xfrm>
            <a:off x="3007213" y="3217250"/>
            <a:ext cx="1864200" cy="723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t>Test 9</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
          <p:cNvSpPr txBox="1"/>
          <p:nvPr>
            <p:ph type="title"/>
          </p:nvPr>
        </p:nvSpPr>
        <p:spPr>
          <a:xfrm>
            <a:off x="838200" y="622823"/>
            <a:ext cx="10515600" cy="712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168DBA"/>
              </a:buClr>
              <a:buSzPts val="3600"/>
              <a:buFont typeface="Arial Black"/>
              <a:buNone/>
            </a:pPr>
            <a:r>
              <a:rPr b="1" lang="en-US">
                <a:solidFill>
                  <a:schemeClr val="dk1"/>
                </a:solidFill>
                <a:latin typeface="Arial Black"/>
                <a:ea typeface="Arial Black"/>
                <a:cs typeface="Arial Black"/>
                <a:sym typeface="Arial Black"/>
              </a:rPr>
              <a:t>LEARNING OUTCOMES</a:t>
            </a:r>
            <a:endParaRPr b="1">
              <a:solidFill>
                <a:schemeClr val="dk1"/>
              </a:solidFill>
              <a:latin typeface="Arial Black"/>
              <a:ea typeface="Arial Black"/>
              <a:cs typeface="Arial Black"/>
              <a:sym typeface="Arial Black"/>
            </a:endParaRPr>
          </a:p>
        </p:txBody>
      </p:sp>
      <p:sp>
        <p:nvSpPr>
          <p:cNvPr id="291" name="Google Shape;291;p4"/>
          <p:cNvSpPr txBox="1"/>
          <p:nvPr>
            <p:ph idx="1" type="body"/>
          </p:nvPr>
        </p:nvSpPr>
        <p:spPr>
          <a:xfrm>
            <a:off x="1680725" y="1154475"/>
            <a:ext cx="10356600" cy="5895900"/>
          </a:xfrm>
          <a:prstGeom prst="rect">
            <a:avLst/>
          </a:prstGeom>
          <a:noFill/>
          <a:ln>
            <a:noFill/>
          </a:ln>
        </p:spPr>
        <p:txBody>
          <a:bodyPr anchorCtr="0" anchor="ctr" bIns="198375" lIns="0" spcFirstLastPara="1" rIns="0" wrap="square" tIns="198375">
            <a:spAutoFit/>
          </a:bodyPr>
          <a:lstStyle/>
          <a:p>
            <a:pPr indent="0" lvl="0" marL="0" marR="0" rtl="0" algn="l">
              <a:lnSpc>
                <a:spcPct val="100000"/>
              </a:lnSpc>
              <a:spcBef>
                <a:spcPts val="0"/>
              </a:spcBef>
              <a:spcAft>
                <a:spcPts val="0"/>
              </a:spcAft>
              <a:buClr>
                <a:srgbClr val="000000"/>
              </a:buClr>
              <a:buSzPts val="2200"/>
              <a:buFont typeface="Noto Sans Symbols"/>
              <a:buNone/>
            </a:pPr>
            <a:r>
              <a:rPr i="0" lang="en-US" sz="2100" u="none" cap="none" strike="noStrike">
                <a:solidFill>
                  <a:schemeClr val="dk1"/>
                </a:solidFill>
                <a:latin typeface="Arial"/>
                <a:ea typeface="Arial"/>
                <a:cs typeface="Arial"/>
                <a:sym typeface="Arial"/>
              </a:rPr>
              <a:t>Creating a class diagram for an ATM system </a:t>
            </a:r>
            <a:r>
              <a:rPr lang="en-US" sz="2100">
                <a:solidFill>
                  <a:schemeClr val="dk1"/>
                </a:solidFill>
                <a:latin typeface="Arial"/>
                <a:ea typeface="Arial"/>
                <a:cs typeface="Arial"/>
                <a:sym typeface="Arial"/>
              </a:rPr>
              <a:t>helped us better understand</a:t>
            </a:r>
            <a:r>
              <a:rPr i="0" lang="en-US" sz="2100" u="none" cap="none" strike="noStrike">
                <a:solidFill>
                  <a:schemeClr val="dk1"/>
                </a:solidFill>
                <a:latin typeface="Arial"/>
                <a:ea typeface="Arial"/>
                <a:cs typeface="Arial"/>
                <a:sym typeface="Arial"/>
              </a:rPr>
              <a:t> key Object-Oriented Programming (OOP) concepts as well as inbuilt functions, keywords </a:t>
            </a:r>
            <a:r>
              <a:rPr lang="en-US" sz="2100">
                <a:solidFill>
                  <a:schemeClr val="dk1"/>
                </a:solidFill>
                <a:latin typeface="Arial"/>
                <a:ea typeface="Arial"/>
                <a:cs typeface="Arial"/>
                <a:sym typeface="Arial"/>
              </a:rPr>
              <a:t>and their proper ut</a:t>
            </a:r>
            <a:r>
              <a:rPr lang="en-US" sz="2100">
                <a:solidFill>
                  <a:schemeClr val="dk1"/>
                </a:solidFill>
                <a:latin typeface="Arial"/>
                <a:ea typeface="Arial"/>
                <a:cs typeface="Arial"/>
                <a:sym typeface="Arial"/>
              </a:rPr>
              <a:t>ilization.</a:t>
            </a:r>
            <a:endParaRPr sz="2100">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Noto Sans Symbols"/>
              <a:buNone/>
            </a:pPr>
            <a:r>
              <a:t/>
            </a:r>
            <a:endParaRPr sz="21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US" sz="2100" u="none" cap="none" strike="noStrike">
                <a:solidFill>
                  <a:schemeClr val="dk1"/>
                </a:solidFill>
                <a:latin typeface="Arial"/>
                <a:ea typeface="Arial"/>
                <a:cs typeface="Arial"/>
                <a:sym typeface="Arial"/>
              </a:rPr>
              <a:t>Abstraction:</a:t>
            </a:r>
            <a:r>
              <a:rPr i="0" lang="en-US" sz="2100" u="none" cap="none" strike="noStrike">
                <a:solidFill>
                  <a:schemeClr val="dk1"/>
                </a:solidFill>
                <a:latin typeface="Arial"/>
                <a:ea typeface="Arial"/>
                <a:cs typeface="Arial"/>
                <a:sym typeface="Arial"/>
              </a:rPr>
              <a:t> Simplifying a system by defining classes that represent real-world entities.</a:t>
            </a:r>
            <a:endParaRPr i="0" sz="2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US" sz="2100" u="none" cap="none" strike="noStrike">
                <a:solidFill>
                  <a:schemeClr val="dk1"/>
                </a:solidFill>
                <a:latin typeface="Arial"/>
                <a:ea typeface="Arial"/>
                <a:cs typeface="Arial"/>
                <a:sym typeface="Arial"/>
              </a:rPr>
              <a:t>Encapsulation:</a:t>
            </a:r>
            <a:r>
              <a:rPr i="0" lang="en-US" sz="2100" u="none" cap="none" strike="noStrike">
                <a:solidFill>
                  <a:schemeClr val="dk1"/>
                </a:solidFill>
                <a:latin typeface="Arial"/>
                <a:ea typeface="Arial"/>
                <a:cs typeface="Arial"/>
                <a:sym typeface="Arial"/>
              </a:rPr>
              <a:t> Bundling data and methods within a class</a:t>
            </a:r>
            <a:r>
              <a:rPr lang="en-US" sz="2100">
                <a:solidFill>
                  <a:schemeClr val="dk1"/>
                </a:solidFill>
                <a:latin typeface="Arial"/>
                <a:ea typeface="Arial"/>
                <a:cs typeface="Arial"/>
                <a:sym typeface="Arial"/>
              </a:rPr>
              <a:t> to</a:t>
            </a:r>
            <a:r>
              <a:rPr i="0" lang="en-US" sz="2100" u="none" cap="none" strike="noStrike">
                <a:solidFill>
                  <a:schemeClr val="dk1"/>
                </a:solidFill>
                <a:latin typeface="Arial"/>
                <a:ea typeface="Arial"/>
                <a:cs typeface="Arial"/>
                <a:sym typeface="Arial"/>
              </a:rPr>
              <a:t> preserving data integrity specially for the </a:t>
            </a:r>
            <a:r>
              <a:rPr lang="en-US" sz="2100">
                <a:solidFill>
                  <a:schemeClr val="dk1"/>
                </a:solidFill>
                <a:latin typeface="Arial"/>
                <a:ea typeface="Arial"/>
                <a:cs typeface="Arial"/>
                <a:sym typeface="Arial"/>
              </a:rPr>
              <a:t>use case</a:t>
            </a:r>
            <a:r>
              <a:rPr i="0" lang="en-US" sz="2100" u="none" cap="none" strike="noStrike">
                <a:solidFill>
                  <a:schemeClr val="dk1"/>
                </a:solidFill>
                <a:latin typeface="Arial"/>
                <a:ea typeface="Arial"/>
                <a:cs typeface="Arial"/>
                <a:sym typeface="Arial"/>
              </a:rPr>
              <a:t> of the PINs associated with each ATM card.</a:t>
            </a:r>
            <a:endParaRPr i="0" sz="2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21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US" sz="2100" u="none" cap="none" strike="noStrike">
                <a:solidFill>
                  <a:schemeClr val="dk1"/>
                </a:solidFill>
                <a:latin typeface="Arial"/>
                <a:ea typeface="Arial"/>
                <a:cs typeface="Arial"/>
                <a:sym typeface="Arial"/>
              </a:rPr>
              <a:t>Inheritance and Modularity:</a:t>
            </a:r>
            <a:r>
              <a:rPr i="0" lang="en-US" sz="2100" u="none" cap="none" strike="noStrike">
                <a:solidFill>
                  <a:schemeClr val="dk1"/>
                </a:solidFill>
                <a:latin typeface="Arial"/>
                <a:ea typeface="Arial"/>
                <a:cs typeface="Arial"/>
                <a:sym typeface="Arial"/>
              </a:rPr>
              <a:t> Creating relationships between classes, allowing one to inherit attributes and methods from another in a way that reduces the need to repeat the code we had written </a:t>
            </a:r>
            <a:r>
              <a:rPr lang="en-US" sz="2100">
                <a:solidFill>
                  <a:schemeClr val="dk1"/>
                </a:solidFill>
                <a:latin typeface="Arial"/>
                <a:ea typeface="Arial"/>
                <a:cs typeface="Arial"/>
                <a:sym typeface="Arial"/>
              </a:rPr>
              <a:t>and, at the same time, increase the code’s efficiency and readability</a:t>
            </a:r>
            <a:r>
              <a:rPr i="0" lang="en-US" sz="2100" u="none" cap="none" strike="noStrike">
                <a:solidFill>
                  <a:schemeClr val="dk1"/>
                </a:solidFill>
                <a:latin typeface="Arial"/>
                <a:ea typeface="Arial"/>
                <a:cs typeface="Arial"/>
                <a:sym typeface="Arial"/>
              </a:rPr>
              <a:t>.</a:t>
            </a:r>
            <a:endParaRPr sz="21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sz="21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2100">
                <a:solidFill>
                  <a:schemeClr val="dk1"/>
                </a:solidFill>
                <a:latin typeface="Arial"/>
                <a:ea typeface="Arial"/>
                <a:cs typeface="Arial"/>
                <a:sym typeface="Arial"/>
              </a:rPr>
              <a:t>We also learnt how to better use vectors and attributes of objects with the help of a user defined package in classes outside the package we defined.  </a:t>
            </a:r>
            <a:endParaRPr i="0" sz="21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
          <p:cNvSpPr txBox="1"/>
          <p:nvPr>
            <p:ph type="title"/>
          </p:nvPr>
        </p:nvSpPr>
        <p:spPr>
          <a:xfrm>
            <a:off x="2592925" y="624104"/>
            <a:ext cx="8911800" cy="756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168DBA"/>
              </a:buClr>
              <a:buSzPts val="3600"/>
              <a:buFont typeface="Arial Black"/>
              <a:buNone/>
            </a:pPr>
            <a:r>
              <a:rPr b="1" lang="en-US">
                <a:solidFill>
                  <a:schemeClr val="dk1"/>
                </a:solidFill>
                <a:latin typeface="Arial Black"/>
                <a:ea typeface="Arial Black"/>
                <a:cs typeface="Arial Black"/>
                <a:sym typeface="Arial Black"/>
              </a:rPr>
              <a:t>CONCLUSION</a:t>
            </a:r>
            <a:endParaRPr b="1">
              <a:solidFill>
                <a:schemeClr val="dk1"/>
              </a:solidFill>
              <a:latin typeface="Arial Black"/>
              <a:ea typeface="Arial Black"/>
              <a:cs typeface="Arial Black"/>
              <a:sym typeface="Arial Black"/>
            </a:endParaRPr>
          </a:p>
        </p:txBody>
      </p:sp>
      <p:sp>
        <p:nvSpPr>
          <p:cNvPr id="297" name="Google Shape;297;p5"/>
          <p:cNvSpPr txBox="1"/>
          <p:nvPr>
            <p:ph idx="1" type="body"/>
          </p:nvPr>
        </p:nvSpPr>
        <p:spPr>
          <a:xfrm>
            <a:off x="2591137" y="1540188"/>
            <a:ext cx="8915400" cy="3777600"/>
          </a:xfrm>
          <a:prstGeom prst="rect">
            <a:avLst/>
          </a:prstGeom>
          <a:noFill/>
          <a:ln>
            <a:noFill/>
          </a:ln>
        </p:spPr>
        <p:txBody>
          <a:bodyPr anchorCtr="0" anchor="t" bIns="45700" lIns="91425" spcFirstLastPara="1" rIns="91425" wrap="square" tIns="45700">
            <a:noAutofit/>
          </a:bodyPr>
          <a:lstStyle/>
          <a:p>
            <a:pPr indent="-360680" lvl="0" marL="342900" rtl="0" algn="l">
              <a:spcBef>
                <a:spcPts val="0"/>
              </a:spcBef>
              <a:spcAft>
                <a:spcPts val="0"/>
              </a:spcAft>
              <a:buClr>
                <a:schemeClr val="dk1"/>
              </a:buClr>
              <a:buSzPts val="2500"/>
              <a:buFont typeface="Arial"/>
              <a:buChar char="🠶"/>
            </a:pPr>
            <a:r>
              <a:rPr i="0" lang="en-US" sz="2500">
                <a:solidFill>
                  <a:schemeClr val="dk1"/>
                </a:solidFill>
                <a:latin typeface="Arial"/>
                <a:ea typeface="Arial"/>
                <a:cs typeface="Arial"/>
                <a:sym typeface="Arial"/>
              </a:rPr>
              <a:t>The successful implementation of the ATM system will provide bank customers with a convenient and secure way to manage their accounts, make deposits, withdraw money, and keep track of their financial transactions. It should ensure that all transactions are accurate and compliant with the account-specific limits, contributing to an enhanced customer experience while maintaining the bank's security and regulatory standards.</a:t>
            </a:r>
            <a:endParaRPr sz="2500">
              <a:solidFill>
                <a:schemeClr val="dk1"/>
              </a:solidFill>
              <a:latin typeface="Arial"/>
              <a:ea typeface="Arial"/>
              <a:cs typeface="Arial"/>
              <a:sym typeface="Arial"/>
            </a:endParaRPr>
          </a:p>
          <a:p>
            <a:pPr indent="-360680" lvl="0" marL="342900" rtl="0" algn="l">
              <a:spcBef>
                <a:spcPts val="1000"/>
              </a:spcBef>
              <a:spcAft>
                <a:spcPts val="0"/>
              </a:spcAft>
              <a:buClr>
                <a:schemeClr val="dk1"/>
              </a:buClr>
              <a:buSzPts val="2500"/>
              <a:buFont typeface="Arial"/>
              <a:buChar char="🠶"/>
            </a:pPr>
            <a:r>
              <a:rPr i="0" lang="en-US" sz="2500">
                <a:solidFill>
                  <a:schemeClr val="dk1"/>
                </a:solidFill>
                <a:latin typeface="Arial"/>
                <a:ea typeface="Arial"/>
                <a:cs typeface="Arial"/>
                <a:sym typeface="Arial"/>
              </a:rPr>
              <a:t>The designed class diagram will serve as the foundation for implementing this ATM system, allowing for the creation of the necessary classes, their relationships, and methods for efficient and secure customer transactions.</a:t>
            </a:r>
            <a:endParaRPr sz="2500">
              <a:solidFill>
                <a:schemeClr val="dk1"/>
              </a:solidFill>
              <a:latin typeface="Arial"/>
              <a:ea typeface="Arial"/>
              <a:cs typeface="Arial"/>
              <a:sym typeface="Arial"/>
            </a:endParaRPr>
          </a:p>
          <a:p>
            <a:pPr indent="-201930" lvl="0" marL="342900" rtl="0" algn="l">
              <a:spcBef>
                <a:spcPts val="1000"/>
              </a:spcBef>
              <a:spcAft>
                <a:spcPts val="0"/>
              </a:spcAft>
              <a:buSzPts val="2400"/>
              <a:buNone/>
            </a:pPr>
            <a:r>
              <a:t/>
            </a:r>
            <a:endParaRPr sz="25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2023-10-30T16:38:10Z</dcterms:created>
  <dc:creator>Dhruv Desai</dc:creator>
</cp:coreProperties>
</file>