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87" roundtripDataSignature="AMtx7miEnHl0fX7hFL4rMM5+PhqODW07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617678-91CF-41B0-B690-F04CE90FFFDD}">
  <a:tblStyle styleId="{F5617678-91CF-41B0-B690-F04CE90FFFD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D529E6C-D494-49B1-8367-85739208E830}"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slide" Target="slides/slide78.xml"/><Relationship Id="rId83" Type="http://schemas.openxmlformats.org/officeDocument/2006/relationships/slide" Target="slides/slide77.xml"/><Relationship Id="rId42" Type="http://schemas.openxmlformats.org/officeDocument/2006/relationships/slide" Target="slides/slide36.xml"/><Relationship Id="rId86" Type="http://schemas.openxmlformats.org/officeDocument/2006/relationships/slide" Target="slides/slide80.xml"/><Relationship Id="rId41" Type="http://schemas.openxmlformats.org/officeDocument/2006/relationships/slide" Target="slides/slide35.xml"/><Relationship Id="rId85" Type="http://schemas.openxmlformats.org/officeDocument/2006/relationships/slide" Target="slides/slide79.xml"/><Relationship Id="rId44" Type="http://schemas.openxmlformats.org/officeDocument/2006/relationships/slide" Target="slides/slide38.xml"/><Relationship Id="rId43" Type="http://schemas.openxmlformats.org/officeDocument/2006/relationships/slide" Target="slides/slide37.xml"/><Relationship Id="rId87" Type="http://customschemas.google.com/relationships/presentationmetadata" Target="metadata"/><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45aa5eecf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145aa5eecf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g145aa5eecf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45aa5eecfc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145aa5eecfc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g145aa5eecfc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4464aad1b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g14464aad1b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4464aad1b1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14464aad1b1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g14464aad1b1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4464aad1b1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14464aad1b1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g14464aad1b1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4464aad1b1_3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3" name="Google Shape;333;g14464aad1b1_3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145eb60f366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g145eb60f366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145eb60f366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2" name="Google Shape;372;g145eb60f366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45aa5eecfc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g145aa5eecfc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145aa5eecfc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g145aa5eecfc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145aa5eecfc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g145aa5eecfc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145aa5eecfc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g145aa5eecfc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g145aa5eecfc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45aa5eecfc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g145aa5eecfc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2" name="Google Shape;422;g145aa5eecfc_0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4b51d4441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8" name="Google Shape;438;g14b51d4441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4b51d44415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 name="Google Shape;453;g14b51d44415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4b51d44415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g14b51d44415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4b51d44415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9" name="Google Shape;469;g14b51d44415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153c3bd0df0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4" name="Google Shape;494;g153c3bd0df0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53c3bd0df0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2" name="Google Shape;502;g153c3bd0df0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145aa5eecfc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5" name="Google Shape;515;g145aa5eecfc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53c3bd0df0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5" name="Google Shape;525;g153c3bd0df0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153c3bd0df0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5" name="Google Shape;535;g153c3bd0df0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53c3bd0df0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5" name="Google Shape;545;g153c3bd0df0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145aa5eecfc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g145aa5eecfc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4" name="Google Shape;56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2" name="Google Shape;57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0" name="Google Shape;580;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9" name="Google Shape;589;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8" name="Google Shape;598;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7" name="Google Shape;607;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4" name="Google Shape;62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2" name="Google Shape;63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10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1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8" name="Google Shape;658;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7" name="Google Shape;66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3" name="Google Shape;683;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2" name="Google Shape;692;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2" name="Google Shape;70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0" name="Google Shape;71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1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2" name="Google Shape;75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8" name="Google Shape;76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4" name="Google Shape;784;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1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2" name="Google Shape;792;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p:nvPr>
            <p:ph idx="2" type="pic"/>
          </p:nvPr>
        </p:nvSpPr>
        <p:spPr>
          <a:xfrm>
            <a:off x="5183188" y="987425"/>
            <a:ext cx="6172200" cy="4873625"/>
          </a:xfrm>
          <a:prstGeom prst="rect">
            <a:avLst/>
          </a:prstGeom>
          <a:noFill/>
          <a:ln>
            <a:noFill/>
          </a:ln>
        </p:spPr>
      </p:sp>
      <p:sp>
        <p:nvSpPr>
          <p:cNvPr id="68" name="Google Shape;68;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9.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feedbacksampleform.pdf" TargetMode="External"/><Relationship Id="rId4" Type="http://schemas.openxmlformats.org/officeDocument/2006/relationships/hyperlink" Target="about:blank" TargetMode="External"/><Relationship Id="rId5" Type="http://schemas.openxmlformats.org/officeDocument/2006/relationships/hyperlink" Target="http://responsesingraphicalform.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3.png"/><Relationship Id="rId4" Type="http://schemas.openxmlformats.org/officeDocument/2006/relationships/image" Target="../media/image31.png"/><Relationship Id="rId5" Type="http://schemas.openxmlformats.org/officeDocument/2006/relationships/image" Target="../media/image20.png"/><Relationship Id="rId6"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6.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4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4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5.jpg"/><Relationship Id="rId4" Type="http://schemas.openxmlformats.org/officeDocument/2006/relationships/image" Target="../media/image34.png"/><Relationship Id="rId5" Type="http://schemas.openxmlformats.org/officeDocument/2006/relationships/image" Target="../media/image3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40.png"/><Relationship Id="rId4" Type="http://schemas.openxmlformats.org/officeDocument/2006/relationships/image" Target="../media/image3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46.png"/><Relationship Id="rId4" Type="http://schemas.openxmlformats.org/officeDocument/2006/relationships/image" Target="../media/image4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41.png"/><Relationship Id="rId4" Type="http://schemas.openxmlformats.org/officeDocument/2006/relationships/image" Target="../media/image4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4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4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5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600"/>
              <a:buFont typeface="Times New Roman"/>
              <a:buNone/>
            </a:pPr>
            <a:r>
              <a:rPr b="1" lang="en-US" sz="6600">
                <a:latin typeface="Times New Roman"/>
                <a:ea typeface="Times New Roman"/>
                <a:cs typeface="Times New Roman"/>
                <a:sym typeface="Times New Roman"/>
              </a:rPr>
              <a:t>Data Visualization</a:t>
            </a:r>
            <a:endParaRPr sz="6600"/>
          </a:p>
        </p:txBody>
      </p:sp>
      <p:sp>
        <p:nvSpPr>
          <p:cNvPr id="89" name="Google Shape;89;p1"/>
          <p:cNvSpPr txBox="1"/>
          <p:nvPr>
            <p:ph idx="1" type="subTitle"/>
          </p:nvPr>
        </p:nvSpPr>
        <p:spPr>
          <a:xfrm>
            <a:off x="1524000" y="3870979"/>
            <a:ext cx="9144000" cy="636475"/>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4000"/>
              <a:buNone/>
            </a:pPr>
            <a:r>
              <a:rPr b="1" lang="en-US" sz="4000">
                <a:latin typeface="Times New Roman"/>
                <a:ea typeface="Times New Roman"/>
                <a:cs typeface="Times New Roman"/>
                <a:sym typeface="Times New Roman"/>
              </a:rPr>
              <a:t>116N54C301</a:t>
            </a:r>
            <a:endParaRPr sz="4000"/>
          </a:p>
        </p:txBody>
      </p:sp>
      <p:graphicFrame>
        <p:nvGraphicFramePr>
          <p:cNvPr id="90" name="Google Shape;90;p1"/>
          <p:cNvGraphicFramePr/>
          <p:nvPr/>
        </p:nvGraphicFramePr>
        <p:xfrm>
          <a:off x="945776" y="5692934"/>
          <a:ext cx="3000000" cy="3000000"/>
        </p:xfrm>
        <a:graphic>
          <a:graphicData uri="http://schemas.openxmlformats.org/drawingml/2006/table">
            <a:tbl>
              <a:tblPr>
                <a:noFill/>
                <a:tableStyleId>{F5617678-91CF-41B0-B690-F04CE90FFFDD}</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solidFill>
                <a:srgbClr val="833C0B"/>
              </a:solidFill>
            </a:endParaRPr>
          </a:p>
        </p:txBody>
      </p:sp>
      <p:sp>
        <p:nvSpPr>
          <p:cNvPr id="92" name="Google Shape;92;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93" name="Google Shape;93;p1"/>
          <p:cNvSpPr txBox="1"/>
          <p:nvPr/>
        </p:nvSpPr>
        <p:spPr>
          <a:xfrm>
            <a:off x="2377975" y="4992425"/>
            <a:ext cx="7606800" cy="831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200"/>
              <a:buFont typeface="Arial"/>
              <a:buNone/>
            </a:pPr>
            <a:r>
              <a:rPr b="0" i="0" lang="en-US" sz="4200" u="none" cap="none" strike="noStrike">
                <a:solidFill>
                  <a:srgbClr val="FF0000"/>
                </a:solidFill>
                <a:latin typeface="Calibri"/>
                <a:ea typeface="Calibri"/>
                <a:cs typeface="Calibri"/>
                <a:sym typeface="Calibri"/>
              </a:rPr>
              <a:t>Module 1</a:t>
            </a:r>
            <a:endParaRPr b="0" i="0" sz="4400" u="none" cap="none" strike="noStrike">
              <a:solidFill>
                <a:srgbClr val="FF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838200" y="0"/>
            <a:ext cx="10515600" cy="1008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Introduction data visualization  </a:t>
            </a:r>
            <a:endParaRPr/>
          </a:p>
        </p:txBody>
      </p:sp>
      <p:graphicFrame>
        <p:nvGraphicFramePr>
          <p:cNvPr id="99" name="Google Shape;99;p2"/>
          <p:cNvGraphicFramePr/>
          <p:nvPr/>
        </p:nvGraphicFramePr>
        <p:xfrm>
          <a:off x="838200" y="3864134"/>
          <a:ext cx="3000000" cy="3000000"/>
        </p:xfrm>
        <a:graphic>
          <a:graphicData uri="http://schemas.openxmlformats.org/drawingml/2006/table">
            <a:tbl>
              <a:tblPr>
                <a:noFill/>
                <a:tableStyleId>{F5617678-91CF-41B0-B690-F04CE90FFFDD}</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100" name="Google Shape;100;p2"/>
          <p:cNvGraphicFramePr/>
          <p:nvPr/>
        </p:nvGraphicFramePr>
        <p:xfrm>
          <a:off x="838200" y="1229449"/>
          <a:ext cx="3000000" cy="3000000"/>
        </p:xfrm>
        <a:graphic>
          <a:graphicData uri="http://schemas.openxmlformats.org/drawingml/2006/table">
            <a:tbl>
              <a:tblPr>
                <a:noFill/>
                <a:tableStyleId>{F5617678-91CF-41B0-B690-F04CE90FFFDD}</a:tableStyleId>
              </a:tblPr>
              <a:tblGrid>
                <a:gridCol w="10285200"/>
              </a:tblGrid>
              <a:tr h="4763350">
                <a:tc>
                  <a:txBody>
                    <a:bodyPr/>
                    <a:lstStyle/>
                    <a:p>
                      <a:pPr indent="-285750" lvl="0" marL="285750" marR="0" rtl="0" algn="l">
                        <a:lnSpc>
                          <a:spcPct val="100000"/>
                        </a:lnSpc>
                        <a:spcBef>
                          <a:spcPts val="0"/>
                        </a:spcBef>
                        <a:spcAft>
                          <a:spcPts val="0"/>
                        </a:spcAft>
                        <a:buClr>
                          <a:srgbClr val="2F5496"/>
                        </a:buClr>
                        <a:buSzPts val="2400"/>
                        <a:buFont typeface="Arial"/>
                        <a:buChar char="•"/>
                      </a:pPr>
                      <a:r>
                        <a:rPr b="1" lang="en-US" sz="2400" u="none" cap="none" strike="noStrike">
                          <a:solidFill>
                            <a:srgbClr val="2F5496"/>
                          </a:solidFill>
                          <a:latin typeface="Times New Roman"/>
                          <a:ea typeface="Times New Roman"/>
                          <a:cs typeface="Times New Roman"/>
                          <a:sym typeface="Times New Roman"/>
                        </a:rPr>
                        <a:t>Introduction to data visualization and it’s needs. </a:t>
                      </a:r>
                      <a:endParaRPr sz="1400" u="none" cap="none" strike="noStrike"/>
                    </a:p>
                    <a:p>
                      <a:pPr indent="-285750" lvl="0" marL="285750" marR="0" rtl="0" algn="l">
                        <a:lnSpc>
                          <a:spcPct val="100000"/>
                        </a:lnSpc>
                        <a:spcBef>
                          <a:spcPts val="0"/>
                        </a:spcBef>
                        <a:spcAft>
                          <a:spcPts val="0"/>
                        </a:spcAft>
                        <a:buClr>
                          <a:srgbClr val="2F5496"/>
                        </a:buClr>
                        <a:buSzPts val="2400"/>
                        <a:buFont typeface="Arial"/>
                        <a:buChar char="•"/>
                      </a:pPr>
                      <a:r>
                        <a:rPr b="1" lang="en-US" sz="2400" u="none" cap="none" strike="noStrike">
                          <a:solidFill>
                            <a:srgbClr val="2F5496"/>
                          </a:solidFill>
                          <a:latin typeface="Times New Roman"/>
                          <a:ea typeface="Times New Roman"/>
                          <a:cs typeface="Times New Roman"/>
                          <a:sym typeface="Times New Roman"/>
                        </a:rPr>
                        <a:t>Data analysis lifecycle. </a:t>
                      </a:r>
                      <a:endParaRPr sz="1400" u="none" cap="none" strike="noStrike"/>
                    </a:p>
                    <a:p>
                      <a:pPr indent="-285750" lvl="0" marL="285750" marR="0" rtl="0" algn="l">
                        <a:lnSpc>
                          <a:spcPct val="100000"/>
                        </a:lnSpc>
                        <a:spcBef>
                          <a:spcPts val="0"/>
                        </a:spcBef>
                        <a:spcAft>
                          <a:spcPts val="0"/>
                        </a:spcAft>
                        <a:buClr>
                          <a:srgbClr val="2F5496"/>
                        </a:buClr>
                        <a:buSzPts val="2400"/>
                        <a:buFont typeface="Arial"/>
                        <a:buChar char="•"/>
                      </a:pPr>
                      <a:r>
                        <a:rPr b="1" lang="en-US" sz="2400" u="none" cap="none" strike="noStrike">
                          <a:solidFill>
                            <a:srgbClr val="2F5496"/>
                          </a:solidFill>
                          <a:latin typeface="Times New Roman"/>
                          <a:ea typeface="Times New Roman"/>
                          <a:cs typeface="Times New Roman"/>
                          <a:sym typeface="Times New Roman"/>
                        </a:rPr>
                        <a:t>A Visual Revolution, Various types of visualization with its best practices. </a:t>
                      </a:r>
                      <a:endParaRPr sz="1400" u="none" cap="none" strike="noStrike"/>
                    </a:p>
                    <a:p>
                      <a:pPr indent="-285750" lvl="0" marL="285750" marR="0" rtl="0" algn="l">
                        <a:lnSpc>
                          <a:spcPct val="100000"/>
                        </a:lnSpc>
                        <a:spcBef>
                          <a:spcPts val="0"/>
                        </a:spcBef>
                        <a:spcAft>
                          <a:spcPts val="0"/>
                        </a:spcAft>
                        <a:buClr>
                          <a:srgbClr val="2F5496"/>
                        </a:buClr>
                        <a:buSzPts val="2400"/>
                        <a:buFont typeface="Arial"/>
                        <a:buChar char="•"/>
                      </a:pPr>
                      <a:r>
                        <a:rPr b="1" lang="en-US" sz="2400" u="none" cap="none" strike="noStrike">
                          <a:solidFill>
                            <a:srgbClr val="2F5496"/>
                          </a:solidFill>
                          <a:latin typeface="Times New Roman"/>
                          <a:ea typeface="Times New Roman"/>
                          <a:cs typeface="Times New Roman"/>
                          <a:sym typeface="Times New Roman"/>
                        </a:rPr>
                        <a:t>From Visualization to Visual Data Storytelling: An Evolution, From Visual to Story: Bridging the Gap</a:t>
                      </a:r>
                      <a:endParaRPr sz="1400" u="none" cap="none" strike="noStrike"/>
                    </a:p>
                    <a:p>
                      <a:pPr indent="-285750" lvl="0" marL="285750" marR="0" rtl="0" algn="l">
                        <a:lnSpc>
                          <a:spcPct val="100000"/>
                        </a:lnSpc>
                        <a:spcBef>
                          <a:spcPts val="0"/>
                        </a:spcBef>
                        <a:spcAft>
                          <a:spcPts val="0"/>
                        </a:spcAft>
                        <a:buClr>
                          <a:srgbClr val="00B050"/>
                        </a:buClr>
                        <a:buSzPts val="2400"/>
                        <a:buFont typeface="Arial"/>
                        <a:buChar char="•"/>
                      </a:pPr>
                      <a:r>
                        <a:rPr b="1" lang="en-US" sz="2400" u="none" cap="none" strike="noStrike">
                          <a:solidFill>
                            <a:srgbClr val="00B050"/>
                          </a:solidFill>
                          <a:latin typeface="Times New Roman"/>
                          <a:ea typeface="Times New Roman"/>
                          <a:cs typeface="Times New Roman"/>
                          <a:sym typeface="Times New Roman"/>
                        </a:rPr>
                        <a:t>Data Fundamentals, Collecting data, Preparing Data</a:t>
                      </a:r>
                      <a:endParaRPr sz="1400" u="none" cap="none" strike="noStrike"/>
                    </a:p>
                    <a:p>
                      <a:pPr indent="-285750" lvl="0" marL="28575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Introduction to basic Visualization and it’s need. </a:t>
                      </a:r>
                      <a:endParaRPr sz="1400" u="none" cap="none" strike="noStrike"/>
                    </a:p>
                    <a:p>
                      <a:pPr indent="-381000" lvl="1" marL="91440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The Bar Chart </a:t>
                      </a:r>
                      <a:endParaRPr sz="1400" u="none" cap="none" strike="noStrike"/>
                    </a:p>
                    <a:p>
                      <a:pPr indent="-381000" lvl="1" marL="91440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The Line Chart </a:t>
                      </a:r>
                      <a:endParaRPr sz="1400" u="none" cap="none" strike="noStrike"/>
                    </a:p>
                    <a:p>
                      <a:pPr indent="-381000" lvl="1" marL="91440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The Pie and Donut Charts </a:t>
                      </a:r>
                      <a:endParaRPr sz="1400" u="none" cap="none" strike="noStrike"/>
                    </a:p>
                    <a:p>
                      <a:pPr indent="-381000" lvl="1" marL="91440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The Scatter Plot </a:t>
                      </a:r>
                      <a:endParaRPr sz="1400" u="none" cap="none" strike="noStrike"/>
                    </a:p>
                    <a:p>
                      <a:pPr indent="-381000" lvl="1" marL="91440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The Packed Bubble Chart </a:t>
                      </a:r>
                      <a:endParaRPr b="1" sz="24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01" name="Google Shape;101;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
        <p:nvSpPr>
          <p:cNvPr id="102" name="Google Shape;10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145aa5eecfc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t>Books</a:t>
            </a:r>
            <a:endParaRPr/>
          </a:p>
        </p:txBody>
      </p:sp>
      <p:sp>
        <p:nvSpPr>
          <p:cNvPr id="109" name="Google Shape;109;g145aa5eecfc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1000"/>
              </a:spcBef>
              <a:spcAft>
                <a:spcPts val="0"/>
              </a:spcAft>
              <a:buSzPts val="275"/>
              <a:buNone/>
            </a:pPr>
            <a:r>
              <a:rPr b="1" lang="en-US"/>
              <a:t>Sosulski, K. </a:t>
            </a:r>
            <a:r>
              <a:rPr lang="en-US"/>
              <a:t>,”Data Visualization  Made Simple: Insights into Becoming Visual”, New York: Routledge. First edition, 2018</a:t>
            </a:r>
            <a:endParaRPr/>
          </a:p>
          <a:p>
            <a:pPr indent="0" lvl="0" marL="0" rtl="0" algn="l">
              <a:lnSpc>
                <a:spcPct val="70000"/>
              </a:lnSpc>
              <a:spcBef>
                <a:spcPts val="1000"/>
              </a:spcBef>
              <a:spcAft>
                <a:spcPts val="0"/>
              </a:spcAft>
              <a:buSzPts val="275"/>
              <a:buNone/>
            </a:pPr>
            <a:r>
              <a:t/>
            </a:r>
            <a:endParaRPr/>
          </a:p>
          <a:p>
            <a:pPr indent="0" lvl="0" marL="0" rtl="0" algn="l">
              <a:lnSpc>
                <a:spcPct val="70000"/>
              </a:lnSpc>
              <a:spcBef>
                <a:spcPts val="1000"/>
              </a:spcBef>
              <a:spcAft>
                <a:spcPts val="0"/>
              </a:spcAft>
              <a:buSzPts val="275"/>
              <a:buNone/>
            </a:pPr>
            <a:r>
              <a:rPr b="1" lang="en-US"/>
              <a:t>Lindy Ryan</a:t>
            </a:r>
            <a:r>
              <a:rPr lang="en-US"/>
              <a:t>, “Visual Data Storytelling with Tableau”, Pearson Education First edition, 2018</a:t>
            </a:r>
            <a:endParaRPr/>
          </a:p>
          <a:p>
            <a:pPr indent="0" lvl="0" marL="0" rtl="0" algn="l">
              <a:lnSpc>
                <a:spcPct val="70000"/>
              </a:lnSpc>
              <a:spcBef>
                <a:spcPts val="1000"/>
              </a:spcBef>
              <a:spcAft>
                <a:spcPts val="0"/>
              </a:spcAft>
              <a:buSzPts val="275"/>
              <a:buNone/>
            </a:pPr>
            <a:r>
              <a:t/>
            </a:r>
            <a:endParaRPr/>
          </a:p>
          <a:p>
            <a:pPr indent="0" lvl="0" marL="0" rtl="0" algn="l">
              <a:lnSpc>
                <a:spcPct val="70000"/>
              </a:lnSpc>
              <a:spcBef>
                <a:spcPts val="1000"/>
              </a:spcBef>
              <a:spcAft>
                <a:spcPts val="0"/>
              </a:spcAft>
              <a:buSzPts val="275"/>
              <a:buNone/>
            </a:pPr>
            <a:r>
              <a:rPr b="1" lang="en-US"/>
              <a:t>Cole Nussbaumer Knaflic</a:t>
            </a:r>
            <a:r>
              <a:rPr lang="en-US"/>
              <a:t>, “Storytelling with Data”, Wiley First edition,</a:t>
            </a:r>
            <a:endParaRPr/>
          </a:p>
          <a:p>
            <a:pPr indent="0" lvl="0" marL="0" rtl="0" algn="l">
              <a:lnSpc>
                <a:spcPct val="70000"/>
              </a:lnSpc>
              <a:spcBef>
                <a:spcPts val="1000"/>
              </a:spcBef>
              <a:spcAft>
                <a:spcPts val="0"/>
              </a:spcAft>
              <a:buSzPts val="275"/>
              <a:buNone/>
            </a:pPr>
            <a:r>
              <a:rPr lang="en-US"/>
              <a:t>2015</a:t>
            </a:r>
            <a:endParaRPr/>
          </a:p>
        </p:txBody>
      </p:sp>
      <p:sp>
        <p:nvSpPr>
          <p:cNvPr id="110" name="Google Shape;110;g145aa5eecfc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sp>
        <p:nvSpPr>
          <p:cNvPr id="111" name="Google Shape;111;g145aa5eecfc_0_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145aa5eecfc_0_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pic>
        <p:nvPicPr>
          <p:cNvPr id="118" name="Google Shape;118;g145aa5eecfc_0_8"/>
          <p:cNvPicPr preferRelativeResize="0"/>
          <p:nvPr/>
        </p:nvPicPr>
        <p:blipFill rotWithShape="1">
          <a:blip r:embed="rId3">
            <a:alphaModFix/>
          </a:blip>
          <a:srcRect b="0" l="0" r="0" t="0"/>
          <a:stretch/>
        </p:blipFill>
        <p:spPr>
          <a:xfrm>
            <a:off x="80392" y="152400"/>
            <a:ext cx="3999384" cy="6156920"/>
          </a:xfrm>
          <a:prstGeom prst="rect">
            <a:avLst/>
          </a:prstGeom>
          <a:noFill/>
          <a:ln>
            <a:noFill/>
          </a:ln>
        </p:spPr>
      </p:pic>
      <p:pic>
        <p:nvPicPr>
          <p:cNvPr id="119" name="Google Shape;119;g145aa5eecfc_0_8"/>
          <p:cNvPicPr preferRelativeResize="0"/>
          <p:nvPr/>
        </p:nvPicPr>
        <p:blipFill rotWithShape="1">
          <a:blip r:embed="rId4">
            <a:alphaModFix/>
          </a:blip>
          <a:srcRect b="0" l="0" r="0" t="0"/>
          <a:stretch/>
        </p:blipFill>
        <p:spPr>
          <a:xfrm>
            <a:off x="4151784" y="181288"/>
            <a:ext cx="3888432" cy="6056023"/>
          </a:xfrm>
          <a:prstGeom prst="rect">
            <a:avLst/>
          </a:prstGeom>
          <a:noFill/>
          <a:ln>
            <a:noFill/>
          </a:ln>
        </p:spPr>
      </p:pic>
      <p:pic>
        <p:nvPicPr>
          <p:cNvPr id="120" name="Google Shape;120;g145aa5eecfc_0_8"/>
          <p:cNvPicPr preferRelativeResize="0"/>
          <p:nvPr/>
        </p:nvPicPr>
        <p:blipFill rotWithShape="1">
          <a:blip r:embed="rId5">
            <a:alphaModFix/>
          </a:blip>
          <a:srcRect b="0" l="0" r="0" t="0"/>
          <a:stretch/>
        </p:blipFill>
        <p:spPr>
          <a:xfrm>
            <a:off x="8112224" y="181301"/>
            <a:ext cx="4077613" cy="6056011"/>
          </a:xfrm>
          <a:prstGeom prst="rect">
            <a:avLst/>
          </a:prstGeom>
          <a:noFill/>
          <a:ln>
            <a:noFill/>
          </a:ln>
        </p:spPr>
      </p:pic>
      <p:sp>
        <p:nvSpPr>
          <p:cNvPr id="121" name="Google Shape;121;g145aa5eecfc_0_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745732"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solidFill>
                  <a:srgbClr val="002060"/>
                </a:solidFill>
              </a:rPr>
              <a:t>Data Visualization</a:t>
            </a:r>
            <a:endParaRPr b="1">
              <a:solidFill>
                <a:srgbClr val="002060"/>
              </a:solidFill>
            </a:endParaRPr>
          </a:p>
        </p:txBody>
      </p:sp>
      <p:sp>
        <p:nvSpPr>
          <p:cNvPr id="127" name="Google Shape;127;p3"/>
          <p:cNvSpPr txBox="1"/>
          <p:nvPr>
            <p:ph idx="1" type="body"/>
          </p:nvPr>
        </p:nvSpPr>
        <p:spPr>
          <a:xfrm>
            <a:off x="838200" y="1071565"/>
            <a:ext cx="10515600" cy="623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picture speaks more than 1000 words</a:t>
            </a:r>
            <a:endParaRPr/>
          </a:p>
        </p:txBody>
      </p:sp>
      <p:sp>
        <p:nvSpPr>
          <p:cNvPr id="128" name="Google Shape;128;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129" name="Google Shape;129;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grpSp>
        <p:nvGrpSpPr>
          <p:cNvPr id="130" name="Google Shape;130;p3"/>
          <p:cNvGrpSpPr/>
          <p:nvPr/>
        </p:nvGrpSpPr>
        <p:grpSpPr>
          <a:xfrm>
            <a:off x="900362" y="3430864"/>
            <a:ext cx="3048000" cy="2667000"/>
            <a:chOff x="1325366" y="3430864"/>
            <a:chExt cx="3048000" cy="2667000"/>
          </a:xfrm>
        </p:grpSpPr>
        <p:pic>
          <p:nvPicPr>
            <p:cNvPr id="131" name="Google Shape;131;p3"/>
            <p:cNvPicPr preferRelativeResize="0"/>
            <p:nvPr/>
          </p:nvPicPr>
          <p:blipFill rotWithShape="1">
            <a:blip r:embed="rId3">
              <a:alphaModFix/>
            </a:blip>
            <a:srcRect b="0" l="0" r="0" t="0"/>
            <a:stretch/>
          </p:blipFill>
          <p:spPr>
            <a:xfrm>
              <a:off x="1325366" y="3430864"/>
              <a:ext cx="3048000" cy="2667000"/>
            </a:xfrm>
            <a:prstGeom prst="rect">
              <a:avLst/>
            </a:prstGeom>
            <a:noFill/>
            <a:ln>
              <a:noFill/>
            </a:ln>
          </p:spPr>
        </p:pic>
        <p:sp>
          <p:nvSpPr>
            <p:cNvPr id="132" name="Google Shape;132;p3"/>
            <p:cNvSpPr txBox="1"/>
            <p:nvPr/>
          </p:nvSpPr>
          <p:spPr>
            <a:xfrm>
              <a:off x="1325366" y="3945276"/>
              <a:ext cx="3048000"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3" name="Google Shape;133;p3"/>
          <p:cNvGrpSpPr/>
          <p:nvPr/>
        </p:nvGrpSpPr>
        <p:grpSpPr>
          <a:xfrm>
            <a:off x="4158862" y="3519195"/>
            <a:ext cx="3323762" cy="1266503"/>
            <a:chOff x="4931596" y="3637052"/>
            <a:chExt cx="3323762" cy="1266503"/>
          </a:xfrm>
        </p:grpSpPr>
        <p:grpSp>
          <p:nvGrpSpPr>
            <p:cNvPr id="134" name="Google Shape;134;p3"/>
            <p:cNvGrpSpPr/>
            <p:nvPr/>
          </p:nvGrpSpPr>
          <p:grpSpPr>
            <a:xfrm>
              <a:off x="4931596" y="3637052"/>
              <a:ext cx="3323762" cy="493159"/>
              <a:chOff x="4931596" y="3637052"/>
              <a:chExt cx="3323762" cy="493159"/>
            </a:xfrm>
          </p:grpSpPr>
          <p:sp>
            <p:nvSpPr>
              <p:cNvPr id="135" name="Google Shape;135;p3"/>
              <p:cNvSpPr/>
              <p:nvPr/>
            </p:nvSpPr>
            <p:spPr>
              <a:xfrm>
                <a:off x="4931596" y="3637052"/>
                <a:ext cx="493159" cy="493159"/>
              </a:xfrm>
              <a:prstGeom prst="ellipse">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p3"/>
              <p:cNvSpPr txBox="1"/>
              <p:nvPr/>
            </p:nvSpPr>
            <p:spPr>
              <a:xfrm>
                <a:off x="5821251" y="3637052"/>
                <a:ext cx="24341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Vegetarian</a:t>
                </a:r>
                <a:endParaRPr b="0" i="0" sz="1400" u="none" cap="none" strike="noStrike">
                  <a:solidFill>
                    <a:srgbClr val="000000"/>
                  </a:solidFill>
                  <a:latin typeface="Arial"/>
                  <a:ea typeface="Arial"/>
                  <a:cs typeface="Arial"/>
                  <a:sym typeface="Arial"/>
                </a:endParaRPr>
              </a:p>
            </p:txBody>
          </p:sp>
        </p:grpSp>
        <p:grpSp>
          <p:nvGrpSpPr>
            <p:cNvPr id="137" name="Google Shape;137;p3"/>
            <p:cNvGrpSpPr/>
            <p:nvPr/>
          </p:nvGrpSpPr>
          <p:grpSpPr>
            <a:xfrm>
              <a:off x="4931596" y="4410396"/>
              <a:ext cx="3323762" cy="493159"/>
              <a:chOff x="4931596" y="3637052"/>
              <a:chExt cx="3323762" cy="493159"/>
            </a:xfrm>
          </p:grpSpPr>
          <p:sp>
            <p:nvSpPr>
              <p:cNvPr id="138" name="Google Shape;138;p3"/>
              <p:cNvSpPr/>
              <p:nvPr/>
            </p:nvSpPr>
            <p:spPr>
              <a:xfrm>
                <a:off x="4931596" y="3637052"/>
                <a:ext cx="493159" cy="493159"/>
              </a:xfrm>
              <a:prstGeom prst="ellipse">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3"/>
              <p:cNvSpPr txBox="1"/>
              <p:nvPr/>
            </p:nvSpPr>
            <p:spPr>
              <a:xfrm>
                <a:off x="5821251" y="3637052"/>
                <a:ext cx="24341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Non- Vegetarian</a:t>
                </a:r>
                <a:endParaRPr b="0" i="0" sz="1400" u="none" cap="none" strike="noStrike">
                  <a:solidFill>
                    <a:srgbClr val="000000"/>
                  </a:solidFill>
                  <a:latin typeface="Arial"/>
                  <a:ea typeface="Arial"/>
                  <a:cs typeface="Arial"/>
                  <a:sym typeface="Arial"/>
                </a:endParaRPr>
              </a:p>
            </p:txBody>
          </p:sp>
        </p:grpSp>
      </p:grpSp>
      <p:pic>
        <p:nvPicPr>
          <p:cNvPr id="140" name="Google Shape;140;p3"/>
          <p:cNvPicPr preferRelativeResize="0"/>
          <p:nvPr/>
        </p:nvPicPr>
        <p:blipFill rotWithShape="1">
          <a:blip r:embed="rId4">
            <a:alphaModFix/>
          </a:blip>
          <a:srcRect b="0" l="0" r="0" t="0"/>
          <a:stretch/>
        </p:blipFill>
        <p:spPr>
          <a:xfrm>
            <a:off x="6774267" y="3240364"/>
            <a:ext cx="2857500" cy="2857500"/>
          </a:xfrm>
          <a:prstGeom prst="rect">
            <a:avLst/>
          </a:prstGeom>
          <a:noFill/>
          <a:ln>
            <a:noFill/>
          </a:ln>
        </p:spPr>
      </p:pic>
      <p:pic>
        <p:nvPicPr>
          <p:cNvPr id="141" name="Google Shape;141;p3"/>
          <p:cNvPicPr preferRelativeResize="0"/>
          <p:nvPr/>
        </p:nvPicPr>
        <p:blipFill rotWithShape="1">
          <a:blip r:embed="rId5">
            <a:alphaModFix/>
          </a:blip>
          <a:srcRect b="0" l="0" r="0" t="0"/>
          <a:stretch/>
        </p:blipFill>
        <p:spPr>
          <a:xfrm>
            <a:off x="9464325" y="3361953"/>
            <a:ext cx="2750491" cy="2354330"/>
          </a:xfrm>
          <a:prstGeom prst="rect">
            <a:avLst/>
          </a:prstGeom>
          <a:noFill/>
          <a:ln>
            <a:noFill/>
          </a:ln>
        </p:spPr>
      </p:pic>
      <p:sp>
        <p:nvSpPr>
          <p:cNvPr id="142" name="Google Shape;142;p3"/>
          <p:cNvSpPr txBox="1"/>
          <p:nvPr/>
        </p:nvSpPr>
        <p:spPr>
          <a:xfrm>
            <a:off x="838200" y="1606325"/>
            <a:ext cx="6300900" cy="572700"/>
          </a:xfrm>
          <a:prstGeom prst="rect">
            <a:avLst/>
          </a:prstGeom>
          <a:noFill/>
          <a:ln>
            <a:noFill/>
          </a:ln>
        </p:spPr>
        <p:txBody>
          <a:bodyPr anchorCtr="0" anchor="t" bIns="91425" lIns="91425" spcFirstLastPara="1" rIns="91425" wrap="square" tIns="91425">
            <a:spAutoFit/>
          </a:bodyPr>
          <a:lstStyle/>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Colors attracts more attention  </a:t>
            </a:r>
            <a:endParaRPr b="0" i="0" sz="2800" u="none" cap="none" strike="noStrike">
              <a:solidFill>
                <a:schemeClr val="dk1"/>
              </a:solidFill>
              <a:latin typeface="Calibri"/>
              <a:ea typeface="Calibri"/>
              <a:cs typeface="Calibri"/>
              <a:sym typeface="Calibri"/>
            </a:endParaRPr>
          </a:p>
        </p:txBody>
      </p:sp>
      <p:sp>
        <p:nvSpPr>
          <p:cNvPr id="143" name="Google Shape;143;p3"/>
          <p:cNvSpPr txBox="1"/>
          <p:nvPr/>
        </p:nvSpPr>
        <p:spPr>
          <a:xfrm>
            <a:off x="900350" y="2181175"/>
            <a:ext cx="9336900" cy="572700"/>
          </a:xfrm>
          <a:prstGeom prst="rect">
            <a:avLst/>
          </a:prstGeom>
          <a:noFill/>
          <a:ln>
            <a:noFill/>
          </a:ln>
        </p:spPr>
        <p:txBody>
          <a:bodyPr anchorCtr="0" anchor="t" bIns="91425" lIns="91425" spcFirstLastPara="1" rIns="91425" wrap="square" tIns="91425">
            <a:spAutoFit/>
          </a:bodyPr>
          <a:lstStyle/>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Non-verbal communication can influence human mind subtly </a:t>
            </a:r>
            <a:endParaRPr b="0" i="0" sz="1400" u="none" cap="none" strike="noStrike">
              <a:solidFill>
                <a:srgbClr val="000000"/>
              </a:solidFill>
              <a:latin typeface="Arial"/>
              <a:ea typeface="Arial"/>
              <a:cs typeface="Arial"/>
              <a:sym typeface="Arial"/>
            </a:endParaRPr>
          </a:p>
        </p:txBody>
      </p:sp>
      <p:sp>
        <p:nvSpPr>
          <p:cNvPr id="144" name="Google Shape;144;p3"/>
          <p:cNvSpPr txBox="1"/>
          <p:nvPr/>
        </p:nvSpPr>
        <p:spPr>
          <a:xfrm>
            <a:off x="1042874" y="2806025"/>
            <a:ext cx="5485173" cy="700674"/>
          </a:xfrm>
          <a:prstGeom prst="rect">
            <a:avLst/>
          </a:prstGeom>
          <a:noFill/>
          <a:ln>
            <a:noFill/>
          </a:ln>
        </p:spPr>
        <p:txBody>
          <a:bodyPr anchorCtr="0" anchor="t" bIns="91425" lIns="91425" spcFirstLastPara="1" rIns="91425" wrap="square" tIns="91425">
            <a:spAutoFit/>
          </a:bodyPr>
          <a:lstStyle/>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Universal language has no bar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838200" y="0"/>
            <a:ext cx="111106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150" name="Google Shape;150;p4"/>
          <p:cNvSpPr txBox="1"/>
          <p:nvPr>
            <p:ph idx="1" type="body"/>
          </p:nvPr>
        </p:nvSpPr>
        <p:spPr>
          <a:xfrm>
            <a:off x="838200" y="1435199"/>
            <a:ext cx="10515600" cy="4817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900"/>
              <a:buChar char="•"/>
            </a:pPr>
            <a:r>
              <a:rPr b="1" lang="en-US" sz="2900">
                <a:latin typeface="Times New Roman"/>
                <a:ea typeface="Times New Roman"/>
                <a:cs typeface="Times New Roman"/>
                <a:sym typeface="Times New Roman"/>
              </a:rPr>
              <a:t>Data visualization:</a:t>
            </a:r>
            <a:r>
              <a:rPr lang="en-US" sz="2900">
                <a:latin typeface="Times New Roman"/>
                <a:ea typeface="Times New Roman"/>
                <a:cs typeface="Times New Roman"/>
                <a:sym typeface="Times New Roman"/>
              </a:rPr>
              <a:t> </a:t>
            </a:r>
            <a:endParaRPr sz="2900"/>
          </a:p>
          <a:p>
            <a:pPr indent="-234950" lvl="1" marL="685800" rtl="0" algn="l">
              <a:lnSpc>
                <a:spcPct val="90000"/>
              </a:lnSpc>
              <a:spcBef>
                <a:spcPts val="500"/>
              </a:spcBef>
              <a:spcAft>
                <a:spcPts val="0"/>
              </a:spcAft>
              <a:buClr>
                <a:schemeClr val="dk1"/>
              </a:buClr>
              <a:buSzPts val="2500"/>
              <a:buChar char="•"/>
            </a:pPr>
            <a:r>
              <a:rPr lang="en-US" sz="2500">
                <a:latin typeface="Times New Roman"/>
                <a:ea typeface="Times New Roman"/>
                <a:cs typeface="Times New Roman"/>
                <a:sym typeface="Times New Roman"/>
              </a:rPr>
              <a:t>A graphic representation that </a:t>
            </a:r>
            <a:r>
              <a:rPr lang="en-US" sz="2500" u="sng">
                <a:latin typeface="Times New Roman"/>
                <a:ea typeface="Times New Roman"/>
                <a:cs typeface="Times New Roman"/>
                <a:sym typeface="Times New Roman"/>
              </a:rPr>
              <a:t>expresses the significance of data</a:t>
            </a:r>
            <a:r>
              <a:rPr lang="en-US" sz="2500">
                <a:latin typeface="Times New Roman"/>
                <a:ea typeface="Times New Roman"/>
                <a:cs typeface="Times New Roman"/>
                <a:sym typeface="Times New Roman"/>
              </a:rPr>
              <a:t> </a:t>
            </a:r>
            <a:endParaRPr sz="2500"/>
          </a:p>
          <a:p>
            <a:pPr indent="-234950" lvl="1" marL="685800" rtl="0" algn="l">
              <a:lnSpc>
                <a:spcPct val="90000"/>
              </a:lnSpc>
              <a:spcBef>
                <a:spcPts val="1000"/>
              </a:spcBef>
              <a:spcAft>
                <a:spcPts val="0"/>
              </a:spcAft>
              <a:buClr>
                <a:schemeClr val="dk1"/>
              </a:buClr>
              <a:buSzPts val="2500"/>
              <a:buChar char="•"/>
            </a:pPr>
            <a:r>
              <a:rPr lang="en-US" sz="2500">
                <a:latin typeface="Times New Roman"/>
                <a:ea typeface="Times New Roman"/>
                <a:cs typeface="Times New Roman"/>
                <a:sym typeface="Times New Roman"/>
              </a:rPr>
              <a:t>Reveals insights and patterns that are not immediately visible in the raw data</a:t>
            </a:r>
            <a:endParaRPr sz="2500"/>
          </a:p>
          <a:p>
            <a:pPr indent="-234950" lvl="1" marL="685800" rtl="0" algn="l">
              <a:lnSpc>
                <a:spcPct val="90000"/>
              </a:lnSpc>
              <a:spcBef>
                <a:spcPts val="1000"/>
              </a:spcBef>
              <a:spcAft>
                <a:spcPts val="0"/>
              </a:spcAft>
              <a:buClr>
                <a:schemeClr val="dk1"/>
              </a:buClr>
              <a:buSzPts val="2500"/>
              <a:buChar char="•"/>
            </a:pPr>
            <a:r>
              <a:rPr lang="en-US" sz="2500">
                <a:latin typeface="Times New Roman"/>
                <a:ea typeface="Times New Roman"/>
                <a:cs typeface="Times New Roman"/>
                <a:sym typeface="Times New Roman"/>
              </a:rPr>
              <a:t>An art through which information, numbers, and measurements can be made easy to understand and manipulate making the information useful</a:t>
            </a:r>
            <a:endParaRPr sz="2500"/>
          </a:p>
          <a:p>
            <a:pPr indent="-234950" lvl="1" marL="685800" rtl="0" algn="l">
              <a:lnSpc>
                <a:spcPct val="90000"/>
              </a:lnSpc>
              <a:spcBef>
                <a:spcPts val="1000"/>
              </a:spcBef>
              <a:spcAft>
                <a:spcPts val="0"/>
              </a:spcAft>
              <a:buClr>
                <a:srgbClr val="833C0B"/>
              </a:buClr>
              <a:buSzPts val="2500"/>
              <a:buChar char="•"/>
            </a:pPr>
            <a:r>
              <a:rPr b="1" lang="en-US" sz="2500">
                <a:solidFill>
                  <a:srgbClr val="833C0B"/>
                </a:solidFill>
                <a:latin typeface="Times New Roman"/>
                <a:ea typeface="Times New Roman"/>
                <a:cs typeface="Times New Roman"/>
                <a:sym typeface="Times New Roman"/>
              </a:rPr>
              <a:t>Primary goal is to communicate information clearly and effectively through graphical means</a:t>
            </a:r>
            <a:endParaRPr b="1" sz="2500">
              <a:solidFill>
                <a:srgbClr val="833C0B"/>
              </a:solidFill>
              <a:latin typeface="Times New Roman"/>
              <a:ea typeface="Times New Roman"/>
              <a:cs typeface="Times New Roman"/>
              <a:sym typeface="Times New Roman"/>
            </a:endParaRPr>
          </a:p>
          <a:p>
            <a:pPr indent="-234950" lvl="1" marL="685800" rtl="0" algn="l">
              <a:lnSpc>
                <a:spcPct val="90000"/>
              </a:lnSpc>
              <a:spcBef>
                <a:spcPts val="1000"/>
              </a:spcBef>
              <a:spcAft>
                <a:spcPts val="0"/>
              </a:spcAft>
              <a:buSzPts val="2500"/>
              <a:buFont typeface="Times New Roman"/>
              <a:buChar char="•"/>
            </a:pPr>
            <a:r>
              <a:rPr b="1" lang="en-US" sz="2500">
                <a:latin typeface="Times New Roman"/>
                <a:ea typeface="Times New Roman"/>
                <a:cs typeface="Times New Roman"/>
                <a:sym typeface="Times New Roman"/>
              </a:rPr>
              <a:t>Pictorial format representing some form of collected data which would help in making decision or navigation</a:t>
            </a:r>
            <a:endParaRPr b="1" sz="2500">
              <a:latin typeface="Times New Roman"/>
              <a:ea typeface="Times New Roman"/>
              <a:cs typeface="Times New Roman"/>
              <a:sym typeface="Times New Roman"/>
            </a:endParaRPr>
          </a:p>
          <a:p>
            <a:pPr indent="0" lvl="0" marL="685800" rtl="0" algn="l">
              <a:lnSpc>
                <a:spcPct val="90000"/>
              </a:lnSpc>
              <a:spcBef>
                <a:spcPts val="1000"/>
              </a:spcBef>
              <a:spcAft>
                <a:spcPts val="0"/>
              </a:spcAft>
              <a:buSzPts val="1800"/>
              <a:buNone/>
            </a:pPr>
            <a:r>
              <a:t/>
            </a:r>
            <a:endParaRPr sz="2900">
              <a:latin typeface="Times New Roman"/>
              <a:ea typeface="Times New Roman"/>
              <a:cs typeface="Times New Roman"/>
              <a:sym typeface="Times New Roman"/>
            </a:endParaRPr>
          </a:p>
        </p:txBody>
      </p:sp>
      <p:sp>
        <p:nvSpPr>
          <p:cNvPr id="151" name="Google Shape;15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152" name="Google Shape;15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14464aad1b1_0_0"/>
          <p:cNvSpPr txBox="1"/>
          <p:nvPr>
            <p:ph type="title"/>
          </p:nvPr>
        </p:nvSpPr>
        <p:spPr>
          <a:xfrm>
            <a:off x="838200" y="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158" name="Google Shape;158;g14464aad1b1_0_0"/>
          <p:cNvSpPr txBox="1"/>
          <p:nvPr>
            <p:ph idx="1" type="body"/>
          </p:nvPr>
        </p:nvSpPr>
        <p:spPr>
          <a:xfrm>
            <a:off x="838200" y="1435207"/>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a:t>
            </a:r>
            <a:endParaRPr/>
          </a:p>
          <a:p>
            <a:pPr indent="-228600" lvl="1" marL="685800" rtl="0" algn="l">
              <a:lnSpc>
                <a:spcPct val="90000"/>
              </a:lnSpc>
              <a:spcBef>
                <a:spcPts val="500"/>
              </a:spcBef>
              <a:spcAft>
                <a:spcPts val="0"/>
              </a:spcAft>
              <a:buClr>
                <a:schemeClr val="dk1"/>
              </a:buClr>
              <a:buSzPts val="2400"/>
              <a:buChar char="•"/>
            </a:pPr>
            <a:r>
              <a:rPr b="1" lang="en-US">
                <a:latin typeface="Times New Roman"/>
                <a:ea typeface="Times New Roman"/>
                <a:cs typeface="Times New Roman"/>
                <a:sym typeface="Times New Roman"/>
              </a:rPr>
              <a:t>65% of the audience is visual learner</a:t>
            </a:r>
            <a:endParaRPr b="1">
              <a:latin typeface="Times New Roman"/>
              <a:ea typeface="Times New Roman"/>
              <a:cs typeface="Times New Roman"/>
              <a:sym typeface="Times New Roman"/>
            </a:endParaRPr>
          </a:p>
          <a:p>
            <a:pPr indent="-1905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Easy to retain</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b="1" lang="en-US" sz="2600">
                <a:solidFill>
                  <a:srgbClr val="833C0B"/>
                </a:solidFill>
                <a:latin typeface="Times New Roman"/>
                <a:ea typeface="Times New Roman"/>
                <a:cs typeface="Times New Roman"/>
                <a:sym typeface="Times New Roman"/>
              </a:rPr>
              <a:t>80% of what we see compared </a:t>
            </a:r>
            <a:r>
              <a:rPr b="1" lang="en-US" sz="2400">
                <a:solidFill>
                  <a:srgbClr val="F4B081"/>
                </a:solidFill>
                <a:latin typeface="Times New Roman"/>
                <a:ea typeface="Times New Roman"/>
                <a:cs typeface="Times New Roman"/>
                <a:sym typeface="Times New Roman"/>
              </a:rPr>
              <a:t>to  20% of what we read</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 </a:t>
            </a:r>
            <a:r>
              <a:rPr b="1" lang="en-US">
                <a:solidFill>
                  <a:srgbClr val="F7CAAC"/>
                </a:solidFill>
                <a:latin typeface="Times New Roman"/>
                <a:ea typeface="Times New Roman"/>
                <a:cs typeface="Times New Roman"/>
                <a:sym typeface="Times New Roman"/>
              </a:rPr>
              <a:t>0% of what we hear</a:t>
            </a:r>
            <a:endParaRPr b="1">
              <a:solidFill>
                <a:srgbClr val="F7CAAC"/>
              </a:solidFill>
              <a:latin typeface="Times New Roman"/>
              <a:ea typeface="Times New Roman"/>
              <a:cs typeface="Times New Roman"/>
              <a:sym typeface="Times New Roman"/>
            </a:endParaRPr>
          </a:p>
          <a:p>
            <a:pPr indent="-2286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It takes </a:t>
            </a:r>
            <a:r>
              <a:rPr b="1" lang="en-US" u="sng">
                <a:latin typeface="Times New Roman"/>
                <a:ea typeface="Times New Roman"/>
                <a:cs typeface="Times New Roman"/>
                <a:sym typeface="Times New Roman"/>
              </a:rPr>
              <a:t>just 1/10 seconds </a:t>
            </a:r>
            <a:r>
              <a:rPr b="1" lang="en-US">
                <a:latin typeface="Times New Roman"/>
                <a:ea typeface="Times New Roman"/>
                <a:cs typeface="Times New Roman"/>
                <a:sym typeface="Times New Roman"/>
              </a:rPr>
              <a:t>for brain to process as an image </a:t>
            </a:r>
            <a:endParaRPr b="1">
              <a:latin typeface="Times New Roman"/>
              <a:ea typeface="Times New Roman"/>
              <a:cs typeface="Times New Roman"/>
              <a:sym typeface="Times New Roman"/>
            </a:endParaRPr>
          </a:p>
          <a:p>
            <a:pPr indent="-2286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Pictures would help in </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Decision making</a:t>
            </a:r>
            <a:endParaRPr>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Uncovering patterns and trends</a:t>
            </a:r>
            <a:endParaRPr>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Presenting arguments or telling story  </a:t>
            </a:r>
            <a:endParaRPr>
              <a:latin typeface="Times New Roman"/>
              <a:ea typeface="Times New Roman"/>
              <a:cs typeface="Times New Roman"/>
              <a:sym typeface="Times New Roman"/>
            </a:endParaRPr>
          </a:p>
        </p:txBody>
      </p:sp>
      <p:sp>
        <p:nvSpPr>
          <p:cNvPr id="159" name="Google Shape;159;g14464aad1b1_0_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160" name="Google Shape;160;g14464aad1b1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93"/>
          <p:cNvSpPr txBox="1"/>
          <p:nvPr>
            <p:ph type="title"/>
          </p:nvPr>
        </p:nvSpPr>
        <p:spPr>
          <a:xfrm>
            <a:off x="838200" y="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166" name="Google Shape;166;p93"/>
          <p:cNvSpPr txBox="1"/>
          <p:nvPr>
            <p:ph idx="1" type="body"/>
          </p:nvPr>
        </p:nvSpPr>
        <p:spPr>
          <a:xfrm>
            <a:off x="838200" y="1124744"/>
            <a:ext cx="10515600" cy="5256584"/>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89030"/>
              <a:buChar char="•"/>
            </a:pPr>
            <a:r>
              <a:rPr b="1" lang="en-US" sz="3400">
                <a:latin typeface="Times New Roman"/>
                <a:ea typeface="Times New Roman"/>
                <a:cs typeface="Times New Roman"/>
                <a:sym typeface="Times New Roman"/>
              </a:rPr>
              <a:t>Data visualization: </a:t>
            </a:r>
            <a:endParaRPr b="1" sz="3400">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78624"/>
              <a:buChar char="•"/>
            </a:pPr>
            <a:r>
              <a:rPr b="1" lang="en-US" sz="3300">
                <a:latin typeface="Times New Roman"/>
                <a:ea typeface="Times New Roman"/>
                <a:cs typeface="Times New Roman"/>
                <a:sym typeface="Times New Roman"/>
              </a:rPr>
              <a:t>65% of the audience is visual learner</a:t>
            </a:r>
            <a:endParaRPr/>
          </a:p>
          <a:p>
            <a:pPr indent="-342900" lvl="1" marL="914400" rtl="0" algn="l">
              <a:lnSpc>
                <a:spcPct val="90000"/>
              </a:lnSpc>
              <a:spcBef>
                <a:spcPts val="500"/>
              </a:spcBef>
              <a:spcAft>
                <a:spcPts val="0"/>
              </a:spcAft>
              <a:buSzPct val="69498"/>
              <a:buChar char="•"/>
            </a:pPr>
            <a:r>
              <a:rPr b="1" lang="en-US" sz="2800"/>
              <a:t>Tools for Visual Learners</a:t>
            </a:r>
            <a:endParaRPr/>
          </a:p>
          <a:p>
            <a:pPr indent="-342900" lvl="2" marL="1371600" rtl="0" algn="l">
              <a:lnSpc>
                <a:spcPct val="90000"/>
              </a:lnSpc>
              <a:spcBef>
                <a:spcPts val="500"/>
              </a:spcBef>
              <a:spcAft>
                <a:spcPts val="0"/>
              </a:spcAft>
              <a:buSzPct val="88452"/>
              <a:buChar char="•"/>
            </a:pPr>
            <a:r>
              <a:rPr lang="en-US" sz="2200"/>
              <a:t>Use mind pictures or mind maps</a:t>
            </a:r>
            <a:endParaRPr/>
          </a:p>
          <a:p>
            <a:pPr indent="-342900" lvl="2" marL="1371600" rtl="0" algn="l">
              <a:lnSpc>
                <a:spcPct val="90000"/>
              </a:lnSpc>
              <a:spcBef>
                <a:spcPts val="500"/>
              </a:spcBef>
              <a:spcAft>
                <a:spcPts val="0"/>
              </a:spcAft>
              <a:buSzPct val="88452"/>
              <a:buChar char="•"/>
            </a:pPr>
            <a:r>
              <a:rPr lang="en-US" sz="2200"/>
              <a:t>Take notes</a:t>
            </a:r>
            <a:endParaRPr/>
          </a:p>
          <a:p>
            <a:pPr indent="-342900" lvl="2" marL="1371600" rtl="0" algn="l">
              <a:lnSpc>
                <a:spcPct val="90000"/>
              </a:lnSpc>
              <a:spcBef>
                <a:spcPts val="500"/>
              </a:spcBef>
              <a:spcAft>
                <a:spcPts val="0"/>
              </a:spcAft>
              <a:buSzPct val="88452"/>
              <a:buChar char="•"/>
            </a:pPr>
            <a:r>
              <a:rPr lang="en-US" sz="2200"/>
              <a:t>Use "clue" words for recalling</a:t>
            </a:r>
            <a:endParaRPr/>
          </a:p>
          <a:p>
            <a:pPr indent="-342900" lvl="2" marL="1371600" rtl="0" algn="l">
              <a:lnSpc>
                <a:spcPct val="90000"/>
              </a:lnSpc>
              <a:spcBef>
                <a:spcPts val="500"/>
              </a:spcBef>
              <a:spcAft>
                <a:spcPts val="0"/>
              </a:spcAft>
              <a:buSzPct val="88452"/>
              <a:buChar char="•"/>
            </a:pPr>
            <a:r>
              <a:rPr lang="en-US" sz="2200"/>
              <a:t>Use colored highlighters to color code texts and notes</a:t>
            </a:r>
            <a:endParaRPr/>
          </a:p>
          <a:p>
            <a:pPr indent="-342900" lvl="2" marL="1371600" rtl="0" algn="l">
              <a:lnSpc>
                <a:spcPct val="90000"/>
              </a:lnSpc>
              <a:spcBef>
                <a:spcPts val="500"/>
              </a:spcBef>
              <a:spcAft>
                <a:spcPts val="0"/>
              </a:spcAft>
              <a:buSzPct val="88452"/>
              <a:buChar char="•"/>
            </a:pPr>
            <a:r>
              <a:rPr lang="en-US" sz="2200"/>
              <a:t>Use maps, charts, diagrams, and lists</a:t>
            </a:r>
            <a:endParaRPr/>
          </a:p>
          <a:p>
            <a:pPr indent="-342900" lvl="2" marL="1371600" rtl="0" algn="l">
              <a:lnSpc>
                <a:spcPct val="90000"/>
              </a:lnSpc>
              <a:spcBef>
                <a:spcPts val="500"/>
              </a:spcBef>
              <a:spcAft>
                <a:spcPts val="0"/>
              </a:spcAft>
              <a:buSzPct val="88452"/>
              <a:buChar char="•"/>
            </a:pPr>
            <a:r>
              <a:rPr lang="en-US" sz="2200"/>
              <a:t>Watch audiovisuals</a:t>
            </a:r>
            <a:endParaRPr/>
          </a:p>
          <a:p>
            <a:pPr indent="-342900" lvl="2" marL="1371600" rtl="0" algn="l">
              <a:lnSpc>
                <a:spcPct val="90000"/>
              </a:lnSpc>
              <a:spcBef>
                <a:spcPts val="500"/>
              </a:spcBef>
              <a:spcAft>
                <a:spcPts val="0"/>
              </a:spcAft>
              <a:buSzPct val="88452"/>
              <a:buChar char="•"/>
            </a:pPr>
            <a:r>
              <a:rPr lang="en-US" sz="2200"/>
              <a:t>Take photographs</a:t>
            </a:r>
            <a:endParaRPr/>
          </a:p>
          <a:p>
            <a:pPr indent="-342900" lvl="2" marL="1371600" rtl="0" algn="l">
              <a:lnSpc>
                <a:spcPct val="90000"/>
              </a:lnSpc>
              <a:spcBef>
                <a:spcPts val="500"/>
              </a:spcBef>
              <a:spcAft>
                <a:spcPts val="0"/>
              </a:spcAft>
              <a:buSzPct val="88452"/>
              <a:buChar char="•"/>
            </a:pPr>
            <a:r>
              <a:rPr lang="en-US" sz="2200"/>
              <a:t>Use study cards or flashcards</a:t>
            </a:r>
            <a:endParaRPr/>
          </a:p>
          <a:p>
            <a:pPr indent="-342900" lvl="2" marL="1371600" rtl="0" algn="l">
              <a:lnSpc>
                <a:spcPct val="90000"/>
              </a:lnSpc>
              <a:spcBef>
                <a:spcPts val="500"/>
              </a:spcBef>
              <a:spcAft>
                <a:spcPts val="0"/>
              </a:spcAft>
              <a:buSzPct val="88452"/>
              <a:buChar char="•"/>
            </a:pPr>
            <a:r>
              <a:rPr lang="en-US" sz="2200"/>
              <a:t>Use notebooks</a:t>
            </a:r>
            <a:endParaRPr/>
          </a:p>
          <a:p>
            <a:pPr indent="-342900" lvl="2" marL="1371600" rtl="0" algn="l">
              <a:lnSpc>
                <a:spcPct val="90000"/>
              </a:lnSpc>
              <a:spcBef>
                <a:spcPts val="500"/>
              </a:spcBef>
              <a:spcAft>
                <a:spcPts val="0"/>
              </a:spcAft>
              <a:buSzPct val="88452"/>
              <a:buChar char="•"/>
            </a:pPr>
            <a:r>
              <a:rPr lang="en-US" sz="2200"/>
              <a:t>Watch instructor's mouth and face</a:t>
            </a:r>
            <a:endParaRPr/>
          </a:p>
          <a:p>
            <a:pPr indent="-342900" lvl="2" marL="1371600" rtl="0" algn="l">
              <a:lnSpc>
                <a:spcPct val="90000"/>
              </a:lnSpc>
              <a:spcBef>
                <a:spcPts val="500"/>
              </a:spcBef>
              <a:spcAft>
                <a:spcPts val="0"/>
              </a:spcAft>
              <a:buSzPct val="88452"/>
              <a:buChar char="•"/>
            </a:pPr>
            <a:r>
              <a:rPr lang="en-US" sz="2200"/>
              <a:t>Use visual chains or mnemonics</a:t>
            </a:r>
            <a:endParaRPr/>
          </a:p>
          <a:p>
            <a:pPr indent="-342900" lvl="2" marL="1371600" rtl="0" algn="l">
              <a:lnSpc>
                <a:spcPct val="90000"/>
              </a:lnSpc>
              <a:spcBef>
                <a:spcPts val="500"/>
              </a:spcBef>
              <a:spcAft>
                <a:spcPts val="0"/>
              </a:spcAft>
              <a:buSzPct val="88452"/>
              <a:buChar char="•"/>
            </a:pPr>
            <a:r>
              <a:rPr lang="en-US" sz="2200"/>
              <a:t>Watch TV</a:t>
            </a:r>
            <a:endParaRPr/>
          </a:p>
          <a:p>
            <a:pPr indent="-342900" lvl="2" marL="1371600" rtl="0" algn="l">
              <a:lnSpc>
                <a:spcPct val="90000"/>
              </a:lnSpc>
              <a:spcBef>
                <a:spcPts val="500"/>
              </a:spcBef>
              <a:spcAft>
                <a:spcPts val="0"/>
              </a:spcAft>
              <a:buSzPct val="88452"/>
              <a:buChar char="•"/>
            </a:pPr>
            <a:r>
              <a:rPr lang="en-US" sz="2200"/>
              <a:t>See parts of words</a:t>
            </a:r>
            <a:endParaRPr/>
          </a:p>
          <a:p>
            <a:pPr indent="-342900" lvl="2" marL="1371600" rtl="0" algn="l">
              <a:lnSpc>
                <a:spcPct val="90000"/>
              </a:lnSpc>
              <a:spcBef>
                <a:spcPts val="500"/>
              </a:spcBef>
              <a:spcAft>
                <a:spcPts val="0"/>
              </a:spcAft>
              <a:buSzPct val="88452"/>
              <a:buChar char="•"/>
            </a:pPr>
            <a:r>
              <a:rPr lang="en-US" sz="2200"/>
              <a:t>Write down directions</a:t>
            </a:r>
            <a:endParaRPr/>
          </a:p>
          <a:p>
            <a:pPr indent="-76200" lvl="1" marL="685800" rtl="0" algn="l">
              <a:lnSpc>
                <a:spcPct val="90000"/>
              </a:lnSpc>
              <a:spcBef>
                <a:spcPts val="500"/>
              </a:spcBef>
              <a:spcAft>
                <a:spcPts val="0"/>
              </a:spcAft>
              <a:buClr>
                <a:schemeClr val="dk1"/>
              </a:buClr>
              <a:buSzPct val="108108"/>
              <a:buNone/>
            </a:pPr>
            <a:r>
              <a:t/>
            </a:r>
            <a:endParaRPr b="1">
              <a:latin typeface="Times New Roman"/>
              <a:ea typeface="Times New Roman"/>
              <a:cs typeface="Times New Roman"/>
              <a:sym typeface="Times New Roman"/>
            </a:endParaRPr>
          </a:p>
        </p:txBody>
      </p:sp>
      <p:sp>
        <p:nvSpPr>
          <p:cNvPr id="167" name="Google Shape;167;p9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168" name="Google Shape;168;p9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4"/>
          <p:cNvSpPr txBox="1"/>
          <p:nvPr>
            <p:ph type="title"/>
          </p:nvPr>
        </p:nvSpPr>
        <p:spPr>
          <a:xfrm>
            <a:off x="838200" y="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174" name="Google Shape;174;p94"/>
          <p:cNvSpPr txBox="1"/>
          <p:nvPr>
            <p:ph idx="1" type="body"/>
          </p:nvPr>
        </p:nvSpPr>
        <p:spPr>
          <a:xfrm>
            <a:off x="767408" y="980728"/>
            <a:ext cx="10515600" cy="151216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a:t>
            </a:r>
            <a:endParaRPr/>
          </a:p>
          <a:p>
            <a:pPr indent="-1905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Easy to retain</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b="1" lang="en-US" sz="2600">
                <a:solidFill>
                  <a:srgbClr val="833C0B"/>
                </a:solidFill>
                <a:latin typeface="Times New Roman"/>
                <a:ea typeface="Times New Roman"/>
                <a:cs typeface="Times New Roman"/>
                <a:sym typeface="Times New Roman"/>
              </a:rPr>
              <a:t>80% of what we see </a:t>
            </a:r>
            <a:r>
              <a:rPr b="1" lang="en-US" sz="2600">
                <a:solidFill>
                  <a:srgbClr val="2E75B5"/>
                </a:solidFill>
                <a:latin typeface="Times New Roman"/>
                <a:ea typeface="Times New Roman"/>
                <a:cs typeface="Times New Roman"/>
                <a:sym typeface="Times New Roman"/>
              </a:rPr>
              <a:t>compared </a:t>
            </a:r>
            <a:r>
              <a:rPr b="1" lang="en-US" sz="2400">
                <a:solidFill>
                  <a:srgbClr val="2E75B5"/>
                </a:solidFill>
                <a:latin typeface="Times New Roman"/>
                <a:ea typeface="Times New Roman"/>
                <a:cs typeface="Times New Roman"/>
                <a:sym typeface="Times New Roman"/>
              </a:rPr>
              <a:t>to</a:t>
            </a:r>
            <a:r>
              <a:rPr b="1" lang="en-US" sz="2400">
                <a:solidFill>
                  <a:srgbClr val="F4B081"/>
                </a:solidFill>
                <a:latin typeface="Times New Roman"/>
                <a:ea typeface="Times New Roman"/>
                <a:cs typeface="Times New Roman"/>
                <a:sym typeface="Times New Roman"/>
              </a:rPr>
              <a:t>  20% of what we read</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 </a:t>
            </a:r>
            <a:r>
              <a:rPr b="1" lang="en-US">
                <a:solidFill>
                  <a:srgbClr val="F7CAAC"/>
                </a:solidFill>
                <a:latin typeface="Times New Roman"/>
                <a:ea typeface="Times New Roman"/>
                <a:cs typeface="Times New Roman"/>
                <a:sym typeface="Times New Roman"/>
              </a:rPr>
              <a:t>10% of what we hear</a:t>
            </a:r>
            <a:endParaRPr b="1">
              <a:solidFill>
                <a:srgbClr val="F7CAAC"/>
              </a:solidFill>
              <a:latin typeface="Times New Roman"/>
              <a:ea typeface="Times New Roman"/>
              <a:cs typeface="Times New Roman"/>
              <a:sym typeface="Times New Roman"/>
            </a:endParaRPr>
          </a:p>
        </p:txBody>
      </p:sp>
      <p:sp>
        <p:nvSpPr>
          <p:cNvPr id="175" name="Google Shape;175;p9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176" name="Google Shape;176;p9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177" name="Google Shape;177;p94"/>
          <p:cNvPicPr preferRelativeResize="0"/>
          <p:nvPr/>
        </p:nvPicPr>
        <p:blipFill rotWithShape="1">
          <a:blip r:embed="rId3">
            <a:alphaModFix/>
          </a:blip>
          <a:srcRect b="0" l="0" r="0" t="51135"/>
          <a:stretch/>
        </p:blipFill>
        <p:spPr>
          <a:xfrm>
            <a:off x="2127128" y="2636912"/>
            <a:ext cx="2361886" cy="3168352"/>
          </a:xfrm>
          <a:prstGeom prst="rect">
            <a:avLst/>
          </a:prstGeom>
          <a:noFill/>
          <a:ln>
            <a:noFill/>
          </a:ln>
        </p:spPr>
      </p:pic>
      <p:pic>
        <p:nvPicPr>
          <p:cNvPr id="178" name="Google Shape;178;p94"/>
          <p:cNvPicPr preferRelativeResize="0"/>
          <p:nvPr/>
        </p:nvPicPr>
        <p:blipFill rotWithShape="1">
          <a:blip r:embed="rId4">
            <a:alphaModFix/>
          </a:blip>
          <a:srcRect b="10740" l="21428" r="60280" t="45876"/>
          <a:stretch/>
        </p:blipFill>
        <p:spPr>
          <a:xfrm>
            <a:off x="4838164" y="2670776"/>
            <a:ext cx="2230018" cy="2975194"/>
          </a:xfrm>
          <a:prstGeom prst="rect">
            <a:avLst/>
          </a:prstGeom>
          <a:noFill/>
          <a:ln>
            <a:noFill/>
          </a:ln>
        </p:spPr>
      </p:pic>
      <p:pic>
        <p:nvPicPr>
          <p:cNvPr id="179" name="Google Shape;179;p94"/>
          <p:cNvPicPr preferRelativeResize="0"/>
          <p:nvPr/>
        </p:nvPicPr>
        <p:blipFill rotWithShape="1">
          <a:blip r:embed="rId5">
            <a:alphaModFix/>
          </a:blip>
          <a:srcRect b="9091" l="40057" r="40767" t="45757"/>
          <a:stretch/>
        </p:blipFill>
        <p:spPr>
          <a:xfrm>
            <a:off x="7646476" y="2702143"/>
            <a:ext cx="2337956" cy="309649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95"/>
          <p:cNvPicPr preferRelativeResize="0"/>
          <p:nvPr/>
        </p:nvPicPr>
        <p:blipFill rotWithShape="1">
          <a:blip r:embed="rId3">
            <a:alphaModFix/>
          </a:blip>
          <a:srcRect b="11667" l="4773" r="43665" t="26061"/>
          <a:stretch/>
        </p:blipFill>
        <p:spPr>
          <a:xfrm>
            <a:off x="2495600" y="2254680"/>
            <a:ext cx="6286501" cy="4270664"/>
          </a:xfrm>
          <a:prstGeom prst="rect">
            <a:avLst/>
          </a:prstGeom>
          <a:noFill/>
          <a:ln>
            <a:noFill/>
          </a:ln>
        </p:spPr>
      </p:pic>
      <p:sp>
        <p:nvSpPr>
          <p:cNvPr id="185" name="Google Shape;185;p95"/>
          <p:cNvSpPr txBox="1"/>
          <p:nvPr>
            <p:ph type="title"/>
          </p:nvPr>
        </p:nvSpPr>
        <p:spPr>
          <a:xfrm>
            <a:off x="838200" y="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186" name="Google Shape;186;p95"/>
          <p:cNvSpPr txBox="1"/>
          <p:nvPr>
            <p:ph idx="1" type="body"/>
          </p:nvPr>
        </p:nvSpPr>
        <p:spPr>
          <a:xfrm>
            <a:off x="407368" y="980728"/>
            <a:ext cx="11377264" cy="151216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a:t>
            </a:r>
            <a:endParaRPr/>
          </a:p>
          <a:p>
            <a:pPr indent="-1905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Easy to retain</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b="1" lang="en-US" sz="2600">
                <a:solidFill>
                  <a:srgbClr val="833C0B"/>
                </a:solidFill>
                <a:latin typeface="Times New Roman"/>
                <a:ea typeface="Times New Roman"/>
                <a:cs typeface="Times New Roman"/>
                <a:sym typeface="Times New Roman"/>
              </a:rPr>
              <a:t>80% of what we see </a:t>
            </a:r>
            <a:r>
              <a:rPr b="1" lang="en-US" sz="2600">
                <a:solidFill>
                  <a:srgbClr val="2E75B5"/>
                </a:solidFill>
                <a:latin typeface="Times New Roman"/>
                <a:ea typeface="Times New Roman"/>
                <a:cs typeface="Times New Roman"/>
                <a:sym typeface="Times New Roman"/>
              </a:rPr>
              <a:t>compared </a:t>
            </a:r>
            <a:r>
              <a:rPr b="1" lang="en-US" sz="2400">
                <a:solidFill>
                  <a:srgbClr val="2E75B5"/>
                </a:solidFill>
                <a:latin typeface="Times New Roman"/>
                <a:ea typeface="Times New Roman"/>
                <a:cs typeface="Times New Roman"/>
                <a:sym typeface="Times New Roman"/>
              </a:rPr>
              <a:t>to</a:t>
            </a:r>
            <a:r>
              <a:rPr b="1" lang="en-US" sz="2400">
                <a:solidFill>
                  <a:srgbClr val="F4B081"/>
                </a:solidFill>
                <a:latin typeface="Times New Roman"/>
                <a:ea typeface="Times New Roman"/>
                <a:cs typeface="Times New Roman"/>
                <a:sym typeface="Times New Roman"/>
              </a:rPr>
              <a:t>  20% of what we read</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 </a:t>
            </a:r>
            <a:r>
              <a:rPr b="1" lang="en-US">
                <a:solidFill>
                  <a:srgbClr val="F7CAAC"/>
                </a:solidFill>
                <a:latin typeface="Times New Roman"/>
                <a:ea typeface="Times New Roman"/>
                <a:cs typeface="Times New Roman"/>
                <a:sym typeface="Times New Roman"/>
              </a:rPr>
              <a:t>10% of what we hear</a:t>
            </a:r>
            <a:endParaRPr b="1">
              <a:solidFill>
                <a:srgbClr val="F7CAAC"/>
              </a:solidFill>
              <a:latin typeface="Times New Roman"/>
              <a:ea typeface="Times New Roman"/>
              <a:cs typeface="Times New Roman"/>
              <a:sym typeface="Times New Roman"/>
            </a:endParaRPr>
          </a:p>
        </p:txBody>
      </p:sp>
      <p:sp>
        <p:nvSpPr>
          <p:cNvPr id="187" name="Google Shape;187;p9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188" name="Google Shape;188;p9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96"/>
          <p:cNvPicPr preferRelativeResize="0"/>
          <p:nvPr/>
        </p:nvPicPr>
        <p:blipFill rotWithShape="1">
          <a:blip r:embed="rId3">
            <a:alphaModFix/>
          </a:blip>
          <a:srcRect b="10758" l="12869" r="66080" t="58654"/>
          <a:stretch/>
        </p:blipFill>
        <p:spPr>
          <a:xfrm>
            <a:off x="6672064" y="3111748"/>
            <a:ext cx="4176464" cy="3413596"/>
          </a:xfrm>
          <a:prstGeom prst="rect">
            <a:avLst/>
          </a:prstGeom>
          <a:noFill/>
          <a:ln>
            <a:noFill/>
          </a:ln>
        </p:spPr>
      </p:pic>
      <p:sp>
        <p:nvSpPr>
          <p:cNvPr id="194" name="Google Shape;194;p96"/>
          <p:cNvSpPr txBox="1"/>
          <p:nvPr>
            <p:ph type="title"/>
          </p:nvPr>
        </p:nvSpPr>
        <p:spPr>
          <a:xfrm>
            <a:off x="838200" y="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195" name="Google Shape;195;p96"/>
          <p:cNvSpPr txBox="1"/>
          <p:nvPr>
            <p:ph idx="1" type="body"/>
          </p:nvPr>
        </p:nvSpPr>
        <p:spPr>
          <a:xfrm>
            <a:off x="407368" y="980728"/>
            <a:ext cx="11377264" cy="151216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a:t>
            </a:r>
            <a:endParaRPr/>
          </a:p>
          <a:p>
            <a:pPr indent="-1905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Easy to retain</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b="1" lang="en-US" sz="2600">
                <a:solidFill>
                  <a:srgbClr val="833C0B"/>
                </a:solidFill>
                <a:latin typeface="Times New Roman"/>
                <a:ea typeface="Times New Roman"/>
                <a:cs typeface="Times New Roman"/>
                <a:sym typeface="Times New Roman"/>
              </a:rPr>
              <a:t>80% of what we see </a:t>
            </a:r>
            <a:r>
              <a:rPr b="1" lang="en-US" sz="2600">
                <a:solidFill>
                  <a:srgbClr val="2E75B5"/>
                </a:solidFill>
                <a:latin typeface="Times New Roman"/>
                <a:ea typeface="Times New Roman"/>
                <a:cs typeface="Times New Roman"/>
                <a:sym typeface="Times New Roman"/>
              </a:rPr>
              <a:t>compared </a:t>
            </a:r>
            <a:r>
              <a:rPr b="1" lang="en-US" sz="2400">
                <a:solidFill>
                  <a:srgbClr val="2E75B5"/>
                </a:solidFill>
                <a:latin typeface="Times New Roman"/>
                <a:ea typeface="Times New Roman"/>
                <a:cs typeface="Times New Roman"/>
                <a:sym typeface="Times New Roman"/>
              </a:rPr>
              <a:t>to</a:t>
            </a:r>
            <a:r>
              <a:rPr b="1" lang="en-US" sz="2400">
                <a:solidFill>
                  <a:srgbClr val="F4B081"/>
                </a:solidFill>
                <a:latin typeface="Times New Roman"/>
                <a:ea typeface="Times New Roman"/>
                <a:cs typeface="Times New Roman"/>
                <a:sym typeface="Times New Roman"/>
              </a:rPr>
              <a:t>  20% of what we read</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 </a:t>
            </a:r>
            <a:r>
              <a:rPr b="1" lang="en-US">
                <a:solidFill>
                  <a:srgbClr val="F7CAAC"/>
                </a:solidFill>
                <a:latin typeface="Times New Roman"/>
                <a:ea typeface="Times New Roman"/>
                <a:cs typeface="Times New Roman"/>
                <a:sym typeface="Times New Roman"/>
              </a:rPr>
              <a:t>10% of what we hear</a:t>
            </a:r>
            <a:endParaRPr b="1">
              <a:solidFill>
                <a:srgbClr val="F7CAAC"/>
              </a:solidFill>
              <a:latin typeface="Times New Roman"/>
              <a:ea typeface="Times New Roman"/>
              <a:cs typeface="Times New Roman"/>
              <a:sym typeface="Times New Roman"/>
            </a:endParaRPr>
          </a:p>
        </p:txBody>
      </p:sp>
      <p:sp>
        <p:nvSpPr>
          <p:cNvPr id="196" name="Google Shape;196;p9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197" name="Google Shape;197;p9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198" name="Google Shape;198;p96"/>
          <p:cNvPicPr preferRelativeResize="0"/>
          <p:nvPr/>
        </p:nvPicPr>
        <p:blipFill rotWithShape="1">
          <a:blip r:embed="rId4">
            <a:alphaModFix/>
          </a:blip>
          <a:srcRect b="0" l="0" r="0" t="0"/>
          <a:stretch/>
        </p:blipFill>
        <p:spPr>
          <a:xfrm>
            <a:off x="4005263" y="2313310"/>
            <a:ext cx="5370744" cy="971674"/>
          </a:xfrm>
          <a:prstGeom prst="rect">
            <a:avLst/>
          </a:prstGeom>
          <a:noFill/>
          <a:ln>
            <a:noFill/>
          </a:ln>
        </p:spPr>
      </p:pic>
      <p:pic>
        <p:nvPicPr>
          <p:cNvPr id="199" name="Google Shape;199;p96"/>
          <p:cNvPicPr preferRelativeResize="0"/>
          <p:nvPr/>
        </p:nvPicPr>
        <p:blipFill rotWithShape="1">
          <a:blip r:embed="rId3">
            <a:alphaModFix/>
          </a:blip>
          <a:srcRect b="41272" l="12869" r="66080" t="31495"/>
          <a:stretch/>
        </p:blipFill>
        <p:spPr>
          <a:xfrm>
            <a:off x="846858" y="3210087"/>
            <a:ext cx="4457054" cy="32432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97"/>
          <p:cNvSpPr txBox="1"/>
          <p:nvPr>
            <p:ph type="title"/>
          </p:nvPr>
        </p:nvSpPr>
        <p:spPr>
          <a:xfrm>
            <a:off x="838200" y="-17140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205" name="Google Shape;205;p97"/>
          <p:cNvSpPr txBox="1"/>
          <p:nvPr>
            <p:ph idx="1" type="body"/>
          </p:nvPr>
        </p:nvSpPr>
        <p:spPr>
          <a:xfrm>
            <a:off x="838200" y="1022016"/>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a:t>
            </a:r>
            <a:endParaRPr/>
          </a:p>
          <a:p>
            <a:pPr indent="-2286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It takes just </a:t>
            </a:r>
            <a:r>
              <a:rPr b="1" lang="en-US" u="sng">
                <a:latin typeface="Times New Roman"/>
                <a:ea typeface="Times New Roman"/>
                <a:cs typeface="Times New Roman"/>
                <a:sym typeface="Times New Roman"/>
              </a:rPr>
              <a:t>1/10 seconds </a:t>
            </a:r>
            <a:r>
              <a:rPr b="1" lang="en-US">
                <a:latin typeface="Times New Roman"/>
                <a:ea typeface="Times New Roman"/>
                <a:cs typeface="Times New Roman"/>
                <a:sym typeface="Times New Roman"/>
              </a:rPr>
              <a:t>for brain to process as an image </a:t>
            </a:r>
            <a:endParaRPr b="1">
              <a:latin typeface="Times New Roman"/>
              <a:ea typeface="Times New Roman"/>
              <a:cs typeface="Times New Roman"/>
              <a:sym typeface="Times New Roman"/>
            </a:endParaRPr>
          </a:p>
          <a:p>
            <a:pPr indent="-2286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Pictures would help in </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Decision making</a:t>
            </a:r>
            <a:endParaRPr>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Uncovering patterns and trends</a:t>
            </a:r>
            <a:endParaRPr>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Presenting arguments or telling story  </a:t>
            </a:r>
            <a:endParaRPr>
              <a:latin typeface="Times New Roman"/>
              <a:ea typeface="Times New Roman"/>
              <a:cs typeface="Times New Roman"/>
              <a:sym typeface="Times New Roman"/>
            </a:endParaRPr>
          </a:p>
        </p:txBody>
      </p:sp>
      <p:sp>
        <p:nvSpPr>
          <p:cNvPr id="206" name="Google Shape;206;p9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207" name="Google Shape;207;p9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208" name="Google Shape;208;p97"/>
          <p:cNvPicPr preferRelativeResize="0"/>
          <p:nvPr/>
        </p:nvPicPr>
        <p:blipFill rotWithShape="1">
          <a:blip r:embed="rId3">
            <a:alphaModFix/>
          </a:blip>
          <a:srcRect b="0" l="0" r="0" t="0"/>
          <a:stretch/>
        </p:blipFill>
        <p:spPr>
          <a:xfrm>
            <a:off x="1055440" y="3432207"/>
            <a:ext cx="3312368" cy="2735721"/>
          </a:xfrm>
          <a:prstGeom prst="rect">
            <a:avLst/>
          </a:prstGeom>
          <a:noFill/>
          <a:ln>
            <a:noFill/>
          </a:ln>
        </p:spPr>
      </p:pic>
      <p:pic>
        <p:nvPicPr>
          <p:cNvPr id="209" name="Google Shape;209;p97"/>
          <p:cNvPicPr preferRelativeResize="0"/>
          <p:nvPr/>
        </p:nvPicPr>
        <p:blipFill rotWithShape="1">
          <a:blip r:embed="rId4">
            <a:alphaModFix/>
          </a:blip>
          <a:srcRect b="0" l="0" r="0" t="0"/>
          <a:stretch/>
        </p:blipFill>
        <p:spPr>
          <a:xfrm>
            <a:off x="4727848" y="3428999"/>
            <a:ext cx="3528392" cy="2750479"/>
          </a:xfrm>
          <a:prstGeom prst="rect">
            <a:avLst/>
          </a:prstGeom>
          <a:noFill/>
          <a:ln>
            <a:noFill/>
          </a:ln>
        </p:spPr>
      </p:pic>
      <p:pic>
        <p:nvPicPr>
          <p:cNvPr id="210" name="Google Shape;210;p97"/>
          <p:cNvPicPr preferRelativeResize="0"/>
          <p:nvPr/>
        </p:nvPicPr>
        <p:blipFill rotWithShape="1">
          <a:blip r:embed="rId5">
            <a:alphaModFix/>
          </a:blip>
          <a:srcRect b="0" l="0" r="0" t="0"/>
          <a:stretch/>
        </p:blipFill>
        <p:spPr>
          <a:xfrm>
            <a:off x="8616280" y="3411131"/>
            <a:ext cx="3168352" cy="27971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14464aad1b1_0_7"/>
          <p:cNvSpPr txBox="1"/>
          <p:nvPr>
            <p:ph type="title"/>
          </p:nvPr>
        </p:nvSpPr>
        <p:spPr>
          <a:xfrm>
            <a:off x="838200" y="6767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a:solidFill>
                  <a:srgbClr val="2E75B5"/>
                </a:solidFill>
              </a:rPr>
              <a:t>Importance of data visualisation</a:t>
            </a:r>
            <a:endParaRPr b="1">
              <a:solidFill>
                <a:srgbClr val="2E75B5"/>
              </a:solidFill>
            </a:endParaRPr>
          </a:p>
        </p:txBody>
      </p:sp>
      <p:sp>
        <p:nvSpPr>
          <p:cNvPr id="217" name="Google Shape;217;g14464aad1b1_0_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pic>
        <p:nvPicPr>
          <p:cNvPr id="218" name="Google Shape;218;g14464aad1b1_0_7"/>
          <p:cNvPicPr preferRelativeResize="0"/>
          <p:nvPr/>
        </p:nvPicPr>
        <p:blipFill rotWithShape="1">
          <a:blip r:embed="rId3">
            <a:alphaModFix/>
          </a:blip>
          <a:srcRect b="0" l="0" r="0" t="0"/>
          <a:stretch/>
        </p:blipFill>
        <p:spPr>
          <a:xfrm>
            <a:off x="1140250" y="1317651"/>
            <a:ext cx="9218351" cy="5142225"/>
          </a:xfrm>
          <a:prstGeom prst="rect">
            <a:avLst/>
          </a:prstGeom>
          <a:noFill/>
          <a:ln>
            <a:noFill/>
          </a:ln>
        </p:spPr>
      </p:pic>
      <p:sp>
        <p:nvSpPr>
          <p:cNvPr id="219" name="Google Shape;219;g14464aad1b1_0_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14464aad1b1_0_15"/>
          <p:cNvSpPr txBox="1"/>
          <p:nvPr>
            <p:ph type="title"/>
          </p:nvPr>
        </p:nvSpPr>
        <p:spPr>
          <a:xfrm>
            <a:off x="689475"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a:solidFill>
                  <a:srgbClr val="2E75B5"/>
                </a:solidFill>
              </a:rPr>
              <a:t>Same data presented in graphical form </a:t>
            </a:r>
            <a:endParaRPr b="1">
              <a:solidFill>
                <a:srgbClr val="2E75B5"/>
              </a:solidFill>
            </a:endParaRPr>
          </a:p>
        </p:txBody>
      </p:sp>
      <p:sp>
        <p:nvSpPr>
          <p:cNvPr id="226" name="Google Shape;226;g14464aad1b1_0_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227" name="Google Shape;227;g14464aad1b1_0_15"/>
          <p:cNvPicPr preferRelativeResize="0"/>
          <p:nvPr/>
        </p:nvPicPr>
        <p:blipFill rotWithShape="1">
          <a:blip r:embed="rId3">
            <a:alphaModFix/>
          </a:blip>
          <a:srcRect b="0" l="0" r="0" t="0"/>
          <a:stretch/>
        </p:blipFill>
        <p:spPr>
          <a:xfrm>
            <a:off x="1061300" y="3694075"/>
            <a:ext cx="8915400" cy="2886075"/>
          </a:xfrm>
          <a:prstGeom prst="rect">
            <a:avLst/>
          </a:prstGeom>
          <a:noFill/>
          <a:ln>
            <a:noFill/>
          </a:ln>
        </p:spPr>
      </p:pic>
      <p:pic>
        <p:nvPicPr>
          <p:cNvPr id="228" name="Google Shape;228;g14464aad1b1_0_15"/>
          <p:cNvPicPr preferRelativeResize="0"/>
          <p:nvPr/>
        </p:nvPicPr>
        <p:blipFill rotWithShape="1">
          <a:blip r:embed="rId4">
            <a:alphaModFix/>
          </a:blip>
          <a:srcRect b="0" l="0" r="0" t="0"/>
          <a:stretch/>
        </p:blipFill>
        <p:spPr>
          <a:xfrm>
            <a:off x="1101897" y="1249500"/>
            <a:ext cx="8664103" cy="2804725"/>
          </a:xfrm>
          <a:prstGeom prst="rect">
            <a:avLst/>
          </a:prstGeom>
          <a:noFill/>
          <a:ln>
            <a:noFill/>
          </a:ln>
        </p:spPr>
      </p:pic>
      <p:sp>
        <p:nvSpPr>
          <p:cNvPr id="229" name="Google Shape;229;g14464aad1b1_0_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5"/>
          <p:cNvSpPr txBox="1"/>
          <p:nvPr>
            <p:ph type="title"/>
          </p:nvPr>
        </p:nvSpPr>
        <p:spPr>
          <a:xfrm>
            <a:off x="838200" y="92411"/>
            <a:ext cx="10515600" cy="716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Visualization steps</a:t>
            </a:r>
            <a:endParaRPr/>
          </a:p>
        </p:txBody>
      </p:sp>
      <p:sp>
        <p:nvSpPr>
          <p:cNvPr id="235" name="Google Shape;23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236" name="Google Shape;23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37" name="Google Shape;237;p5"/>
          <p:cNvSpPr/>
          <p:nvPr/>
        </p:nvSpPr>
        <p:spPr>
          <a:xfrm>
            <a:off x="746975" y="1416676"/>
            <a:ext cx="3103808" cy="656823"/>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Data acquisition</a:t>
            </a:r>
            <a:endParaRPr b="0" i="0" sz="1400" u="none" cap="none" strike="noStrike">
              <a:solidFill>
                <a:srgbClr val="000000"/>
              </a:solidFill>
              <a:latin typeface="Arial"/>
              <a:ea typeface="Arial"/>
              <a:cs typeface="Arial"/>
              <a:sym typeface="Arial"/>
            </a:endParaRPr>
          </a:p>
        </p:txBody>
      </p:sp>
      <p:sp>
        <p:nvSpPr>
          <p:cNvPr id="238" name="Google Shape;238;p5"/>
          <p:cNvSpPr/>
          <p:nvPr/>
        </p:nvSpPr>
        <p:spPr>
          <a:xfrm>
            <a:off x="1725769" y="2539284"/>
            <a:ext cx="3103808" cy="656823"/>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Data enhancement</a:t>
            </a:r>
            <a:endParaRPr b="0" i="0" sz="1400" u="none" cap="none" strike="noStrike">
              <a:solidFill>
                <a:srgbClr val="000000"/>
              </a:solidFill>
              <a:latin typeface="Arial"/>
              <a:ea typeface="Arial"/>
              <a:cs typeface="Arial"/>
              <a:sym typeface="Arial"/>
            </a:endParaRPr>
          </a:p>
        </p:txBody>
      </p:sp>
      <p:sp>
        <p:nvSpPr>
          <p:cNvPr id="239" name="Google Shape;239;p5"/>
          <p:cNvSpPr/>
          <p:nvPr/>
        </p:nvSpPr>
        <p:spPr>
          <a:xfrm>
            <a:off x="2486696" y="3661892"/>
            <a:ext cx="3103808" cy="656823"/>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Visualization mapping</a:t>
            </a:r>
            <a:endParaRPr b="0" i="0" sz="1400" u="none" cap="none" strike="noStrike">
              <a:solidFill>
                <a:srgbClr val="000000"/>
              </a:solidFill>
              <a:latin typeface="Arial"/>
              <a:ea typeface="Arial"/>
              <a:cs typeface="Arial"/>
              <a:sym typeface="Arial"/>
            </a:endParaRPr>
          </a:p>
        </p:txBody>
      </p:sp>
      <p:sp>
        <p:nvSpPr>
          <p:cNvPr id="240" name="Google Shape;240;p5"/>
          <p:cNvSpPr/>
          <p:nvPr/>
        </p:nvSpPr>
        <p:spPr>
          <a:xfrm>
            <a:off x="3447246" y="4771621"/>
            <a:ext cx="3103808" cy="656823"/>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Rendering (ND to  2D)</a:t>
            </a:r>
            <a:endParaRPr b="0" i="0" sz="1400" u="none" cap="none" strike="noStrike">
              <a:solidFill>
                <a:srgbClr val="000000"/>
              </a:solidFill>
              <a:latin typeface="Arial"/>
              <a:ea typeface="Arial"/>
              <a:cs typeface="Arial"/>
              <a:sym typeface="Arial"/>
            </a:endParaRPr>
          </a:p>
        </p:txBody>
      </p:sp>
      <p:sp>
        <p:nvSpPr>
          <p:cNvPr id="241" name="Google Shape;241;p5"/>
          <p:cNvSpPr txBox="1"/>
          <p:nvPr/>
        </p:nvSpPr>
        <p:spPr>
          <a:xfrm>
            <a:off x="7469746" y="1326524"/>
            <a:ext cx="4340181" cy="415498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Data generated/ collected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Data processed</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Data mapped to visual primitive; (color, geometry etc.)</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Images generated  </a:t>
            </a:r>
            <a:endParaRPr b="0" i="0" sz="1400" u="none" cap="none" strike="noStrike">
              <a:solidFill>
                <a:srgbClr val="000000"/>
              </a:solidFill>
              <a:latin typeface="Arial"/>
              <a:ea typeface="Arial"/>
              <a:cs typeface="Arial"/>
              <a:sym typeface="Arial"/>
            </a:endParaRPr>
          </a:p>
        </p:txBody>
      </p:sp>
      <p:sp>
        <p:nvSpPr>
          <p:cNvPr id="242" name="Google Shape;242;p5"/>
          <p:cNvSpPr/>
          <p:nvPr/>
        </p:nvSpPr>
        <p:spPr>
          <a:xfrm>
            <a:off x="1068946" y="2073499"/>
            <a:ext cx="656823" cy="965915"/>
          </a:xfrm>
          <a:prstGeom prst="curvedRightArrow">
            <a:avLst>
              <a:gd fmla="val 25000" name="adj1"/>
              <a:gd fmla="val 50000" name="adj2"/>
              <a:gd fmla="val 25000" name="adj3"/>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5"/>
          <p:cNvSpPr/>
          <p:nvPr/>
        </p:nvSpPr>
        <p:spPr>
          <a:xfrm>
            <a:off x="1813777" y="3191815"/>
            <a:ext cx="656823" cy="965915"/>
          </a:xfrm>
          <a:prstGeom prst="curvedRightArrow">
            <a:avLst>
              <a:gd fmla="val 25000" name="adj1"/>
              <a:gd fmla="val 50000" name="adj2"/>
              <a:gd fmla="val 25000" name="adj3"/>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5"/>
          <p:cNvSpPr/>
          <p:nvPr/>
        </p:nvSpPr>
        <p:spPr>
          <a:xfrm>
            <a:off x="2728177" y="4312276"/>
            <a:ext cx="656823" cy="965915"/>
          </a:xfrm>
          <a:prstGeom prst="curvedRightArrow">
            <a:avLst>
              <a:gd fmla="val 25000" name="adj1"/>
              <a:gd fmla="val 50000" name="adj2"/>
              <a:gd fmla="val 25000" name="adj3"/>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6"/>
          <p:cNvSpPr txBox="1"/>
          <p:nvPr>
            <p:ph type="title"/>
          </p:nvPr>
        </p:nvSpPr>
        <p:spPr>
          <a:xfrm>
            <a:off x="838200" y="-52348"/>
            <a:ext cx="10515600" cy="118568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Types of Visualisation</a:t>
            </a:r>
            <a:endParaRPr b="1">
              <a:solidFill>
                <a:srgbClr val="BFBFBF"/>
              </a:solidFill>
              <a:latin typeface="Times New Roman"/>
              <a:ea typeface="Times New Roman"/>
              <a:cs typeface="Times New Roman"/>
              <a:sym typeface="Times New Roman"/>
            </a:endParaRPr>
          </a:p>
        </p:txBody>
      </p:sp>
      <p:sp>
        <p:nvSpPr>
          <p:cNvPr id="250" name="Google Shape;250;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251" name="Google Shape;251;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52" name="Google Shape;252;p6"/>
          <p:cNvSpPr/>
          <p:nvPr/>
        </p:nvSpPr>
        <p:spPr>
          <a:xfrm>
            <a:off x="928352" y="1090519"/>
            <a:ext cx="10425448" cy="25545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3200" u="none" cap="none" strike="noStrike">
                <a:solidFill>
                  <a:schemeClr val="dk1"/>
                </a:solidFill>
                <a:latin typeface="Times New Roman"/>
                <a:ea typeface="Times New Roman"/>
                <a:cs typeface="Times New Roman"/>
                <a:sym typeface="Times New Roman"/>
              </a:rPr>
              <a:t>Scientific Visualisation SciVis</a:t>
            </a:r>
            <a:r>
              <a:rPr b="0" i="0" lang="en-US" sz="3200" u="none" cap="none" strike="noStrike">
                <a:solidFill>
                  <a:schemeClr val="dk1"/>
                </a:solidFill>
                <a:latin typeface="Times New Roman"/>
                <a:ea typeface="Times New Roman"/>
                <a:cs typeface="Times New Roman"/>
                <a:sym typeface="Times New Roman"/>
              </a:rPr>
              <a:t>:</a:t>
            </a:r>
            <a:endParaRPr/>
          </a:p>
          <a:p>
            <a:pPr indent="-457200" lvl="0" marL="457200" marR="0" rtl="0" algn="l">
              <a:lnSpc>
                <a:spcPct val="100000"/>
              </a:lnSpc>
              <a:spcBef>
                <a:spcPts val="0"/>
              </a:spcBef>
              <a:spcAft>
                <a:spcPts val="0"/>
              </a:spcAft>
              <a:buClr>
                <a:srgbClr val="000000"/>
              </a:buClr>
              <a:buSzPts val="2400"/>
              <a:buFont typeface="Arial"/>
              <a:buChar char="•"/>
            </a:pPr>
            <a:r>
              <a:rPr b="0" i="0" lang="en-US" sz="3200" u="none" cap="none" strike="noStrike">
                <a:solidFill>
                  <a:srgbClr val="000000"/>
                </a:solidFill>
                <a:latin typeface="Times New Roman"/>
                <a:ea typeface="Times New Roman"/>
                <a:cs typeface="Times New Roman"/>
                <a:sym typeface="Times New Roman"/>
              </a:rPr>
              <a:t>used for the clarification of well-known phenomena</a:t>
            </a:r>
            <a:endParaRPr/>
          </a:p>
          <a:p>
            <a:pPr indent="0" lvl="0" marL="0" marR="0" rtl="0" algn="l">
              <a:lnSpc>
                <a:spcPct val="100000"/>
              </a:lnSpc>
              <a:spcBef>
                <a:spcPts val="0"/>
              </a:spcBef>
              <a:spcAft>
                <a:spcPts val="0"/>
              </a:spcAft>
              <a:buClr>
                <a:srgbClr val="000000"/>
              </a:buClr>
              <a:buSzPts val="24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i="0" lang="en-US" sz="3200" u="none" cap="none" strike="noStrike">
                <a:solidFill>
                  <a:schemeClr val="dk1"/>
                </a:solidFill>
                <a:latin typeface="Times New Roman"/>
                <a:ea typeface="Times New Roman"/>
                <a:cs typeface="Times New Roman"/>
                <a:sym typeface="Times New Roman"/>
              </a:rPr>
              <a:t>Information Visualisation InfoVis:</a:t>
            </a:r>
            <a:endParaRPr/>
          </a:p>
          <a:p>
            <a:pPr indent="-457200" lvl="0" marL="457200" marR="0" rtl="0" algn="l">
              <a:lnSpc>
                <a:spcPct val="100000"/>
              </a:lnSpc>
              <a:spcBef>
                <a:spcPts val="0"/>
              </a:spcBef>
              <a:spcAft>
                <a:spcPts val="0"/>
              </a:spcAft>
              <a:buClr>
                <a:srgbClr val="000000"/>
              </a:buClr>
              <a:buSzPts val="2400"/>
              <a:buFont typeface="Arial"/>
              <a:buChar char="•"/>
            </a:pPr>
            <a:r>
              <a:rPr b="0" i="0" lang="en-US" sz="3200" u="none" cap="none" strike="noStrike">
                <a:solidFill>
                  <a:srgbClr val="000000"/>
                </a:solidFill>
                <a:latin typeface="Times New Roman"/>
                <a:ea typeface="Times New Roman"/>
                <a:cs typeface="Times New Roman"/>
                <a:sym typeface="Times New Roman"/>
              </a:rPr>
              <a:t>used for searching for interesting phenomena</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98"/>
          <p:cNvSpPr txBox="1"/>
          <p:nvPr>
            <p:ph type="title"/>
          </p:nvPr>
        </p:nvSpPr>
        <p:spPr>
          <a:xfrm>
            <a:off x="838200" y="-52348"/>
            <a:ext cx="10515600" cy="118568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SciVis vs. </a:t>
            </a:r>
            <a:r>
              <a:rPr b="1" lang="en-US">
                <a:solidFill>
                  <a:srgbClr val="BFBFBF"/>
                </a:solidFill>
                <a:latin typeface="Times New Roman"/>
                <a:ea typeface="Times New Roman"/>
                <a:cs typeface="Times New Roman"/>
                <a:sym typeface="Times New Roman"/>
              </a:rPr>
              <a:t>InfoVis</a:t>
            </a:r>
            <a:endParaRPr b="1">
              <a:solidFill>
                <a:srgbClr val="BFBFBF"/>
              </a:solidFill>
              <a:latin typeface="Times New Roman"/>
              <a:ea typeface="Times New Roman"/>
              <a:cs typeface="Times New Roman"/>
              <a:sym typeface="Times New Roman"/>
            </a:endParaRPr>
          </a:p>
        </p:txBody>
      </p:sp>
      <p:sp>
        <p:nvSpPr>
          <p:cNvPr id="258" name="Google Shape;258;p9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259" name="Google Shape;259;p9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260" name="Google Shape;260;p98"/>
          <p:cNvPicPr preferRelativeResize="0"/>
          <p:nvPr/>
        </p:nvPicPr>
        <p:blipFill rotWithShape="1">
          <a:blip r:embed="rId3">
            <a:alphaModFix/>
          </a:blip>
          <a:srcRect b="16994" l="28013" r="8604" t="40563"/>
          <a:stretch/>
        </p:blipFill>
        <p:spPr>
          <a:xfrm>
            <a:off x="2434107" y="3322748"/>
            <a:ext cx="6954591" cy="2910625"/>
          </a:xfrm>
          <a:prstGeom prst="rect">
            <a:avLst/>
          </a:prstGeom>
          <a:noFill/>
          <a:ln>
            <a:noFill/>
          </a:ln>
        </p:spPr>
      </p:pic>
      <p:sp>
        <p:nvSpPr>
          <p:cNvPr id="261" name="Google Shape;261;p98"/>
          <p:cNvSpPr/>
          <p:nvPr/>
        </p:nvSpPr>
        <p:spPr>
          <a:xfrm>
            <a:off x="928352" y="889217"/>
            <a:ext cx="10425448"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Scientific visualization is mostly concerned with: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Data defined in physical space, i.e. spatio-temporal data (2~4 dimensions)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Data describes continuous events in continuous space, however, the representation is discrete (i.e. sampled data)</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Examples include simulation and measurement data from physics, chemistry, geo-science, medical-biological, climate, oceanography, energy,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Features are well-defined</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7"/>
          <p:cNvSpPr txBox="1"/>
          <p:nvPr>
            <p:ph type="title"/>
          </p:nvPr>
        </p:nvSpPr>
        <p:spPr>
          <a:xfrm>
            <a:off x="838200" y="-52348"/>
            <a:ext cx="10515600" cy="87896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BFBFBF"/>
              </a:buClr>
              <a:buSzPts val="4400"/>
              <a:buFont typeface="Times New Roman"/>
              <a:buNone/>
            </a:pPr>
            <a:r>
              <a:rPr b="1" lang="en-US">
                <a:solidFill>
                  <a:srgbClr val="BFBFBF"/>
                </a:solidFill>
                <a:latin typeface="Times New Roman"/>
                <a:ea typeface="Times New Roman"/>
                <a:cs typeface="Times New Roman"/>
                <a:sym typeface="Times New Roman"/>
              </a:rPr>
              <a:t>SciVis vs. </a:t>
            </a:r>
            <a:r>
              <a:rPr b="1" lang="en-US">
                <a:latin typeface="Times New Roman"/>
                <a:ea typeface="Times New Roman"/>
                <a:cs typeface="Times New Roman"/>
                <a:sym typeface="Times New Roman"/>
              </a:rPr>
              <a:t>InfoVis</a:t>
            </a:r>
            <a:endParaRPr b="1">
              <a:latin typeface="Times New Roman"/>
              <a:ea typeface="Times New Roman"/>
              <a:cs typeface="Times New Roman"/>
              <a:sym typeface="Times New Roman"/>
            </a:endParaRPr>
          </a:p>
        </p:txBody>
      </p:sp>
      <p:sp>
        <p:nvSpPr>
          <p:cNvPr id="267" name="Google Shape;26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268" name="Google Shape;26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69" name="Google Shape;269;p7"/>
          <p:cNvSpPr/>
          <p:nvPr/>
        </p:nvSpPr>
        <p:spPr>
          <a:xfrm>
            <a:off x="928352" y="673249"/>
            <a:ext cx="10425448"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Information visualization focuses on: </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high-dimensional (&gt;&gt;4), abstract data (i.e. tree, graphs, hierarchy, …)</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Data is discrete in the nature</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Examples include financial, marketing, HR, statistical, social media, political, …... </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Feature are not well-defined, the typical analysis tasks including finding patterns, clusters, voids, outliers</a:t>
            </a:r>
            <a:endParaRPr b="0" i="0" sz="2400" u="none" cap="none" strike="noStrike">
              <a:solidFill>
                <a:schemeClr val="dk1"/>
              </a:solidFill>
              <a:latin typeface="Times New Roman"/>
              <a:ea typeface="Times New Roman"/>
              <a:cs typeface="Times New Roman"/>
              <a:sym typeface="Times New Roman"/>
            </a:endParaRPr>
          </a:p>
        </p:txBody>
      </p:sp>
      <p:pic>
        <p:nvPicPr>
          <p:cNvPr id="270" name="Google Shape;270;p7"/>
          <p:cNvPicPr preferRelativeResize="0"/>
          <p:nvPr/>
        </p:nvPicPr>
        <p:blipFill rotWithShape="1">
          <a:blip r:embed="rId3">
            <a:alphaModFix/>
          </a:blip>
          <a:srcRect b="40845" l="27191" r="6024" t="15212"/>
          <a:stretch/>
        </p:blipFill>
        <p:spPr>
          <a:xfrm>
            <a:off x="2654121" y="3287694"/>
            <a:ext cx="7328079" cy="30136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8"/>
          <p:cNvSpPr txBox="1"/>
          <p:nvPr>
            <p:ph type="title"/>
          </p:nvPr>
        </p:nvSpPr>
        <p:spPr>
          <a:xfrm>
            <a:off x="838200" y="-17140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800"/>
              <a:buFont typeface="Calibri"/>
              <a:buNone/>
            </a:pPr>
            <a:r>
              <a:rPr b="1" lang="en-US" sz="4800">
                <a:solidFill>
                  <a:srgbClr val="0070C0"/>
                </a:solidFill>
              </a:rPr>
              <a:t>Need of Data Visualization  </a:t>
            </a:r>
            <a:endParaRPr/>
          </a:p>
        </p:txBody>
      </p:sp>
      <p:sp>
        <p:nvSpPr>
          <p:cNvPr id="276" name="Google Shape;276;p8"/>
          <p:cNvSpPr txBox="1"/>
          <p:nvPr>
            <p:ph idx="1" type="body"/>
          </p:nvPr>
        </p:nvSpPr>
        <p:spPr>
          <a:xfrm>
            <a:off x="838200" y="836712"/>
            <a:ext cx="113538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650"/>
              <a:buChar char="•"/>
            </a:pPr>
            <a:r>
              <a:rPr lang="en-US" sz="2650">
                <a:latin typeface="Times New Roman"/>
                <a:ea typeface="Times New Roman"/>
                <a:cs typeface="Times New Roman"/>
                <a:sym typeface="Times New Roman"/>
              </a:rPr>
              <a:t>Data visualization </a:t>
            </a:r>
            <a:r>
              <a:rPr b="1" lang="en-US" sz="2650">
                <a:latin typeface="Times New Roman"/>
                <a:ea typeface="Times New Roman"/>
                <a:cs typeface="Times New Roman"/>
                <a:sym typeface="Times New Roman"/>
              </a:rPr>
              <a:t>helps to tell stories by curating data into a form easier to understand, highlighting the trends and outliers</a:t>
            </a:r>
            <a:r>
              <a:rPr lang="en-US" sz="2650">
                <a:latin typeface="Times New Roman"/>
                <a:ea typeface="Times New Roman"/>
                <a:cs typeface="Times New Roman"/>
                <a:sym typeface="Times New Roman"/>
              </a:rPr>
              <a:t>. </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B050"/>
              </a:buClr>
              <a:buSzPts val="2650"/>
              <a:buChar char="•"/>
            </a:pPr>
            <a:r>
              <a:rPr b="1" lang="en-US" sz="2650">
                <a:solidFill>
                  <a:srgbClr val="00B050"/>
                </a:solidFill>
                <a:latin typeface="Times New Roman"/>
                <a:ea typeface="Times New Roman"/>
                <a:cs typeface="Times New Roman"/>
                <a:sym typeface="Times New Roman"/>
              </a:rPr>
              <a:t> Analysing the Data in a Better way</a:t>
            </a:r>
            <a:endParaRPr sz="2650">
              <a:solidFill>
                <a:srgbClr val="00B05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lang="en-US" sz="2650">
                <a:latin typeface="Times New Roman"/>
                <a:ea typeface="Times New Roman"/>
                <a:cs typeface="Times New Roman"/>
                <a:sym typeface="Times New Roman"/>
              </a:rPr>
              <a:t>Data visualization can help by delivering data in the most efficient way possible.</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lang="en-US" sz="2650">
                <a:latin typeface="Times New Roman"/>
                <a:ea typeface="Times New Roman"/>
                <a:cs typeface="Times New Roman"/>
                <a:sym typeface="Times New Roman"/>
              </a:rPr>
              <a:t>Data visualization takes the raw data, models it, and delivers the data so that conclusions can be reached. </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b="1" lang="en-US" sz="2650">
                <a:latin typeface="Times New Roman"/>
                <a:ea typeface="Times New Roman"/>
                <a:cs typeface="Times New Roman"/>
                <a:sym typeface="Times New Roman"/>
              </a:rPr>
              <a:t>Faster Decision Making</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lang="en-US" sz="2650">
                <a:latin typeface="Times New Roman"/>
                <a:ea typeface="Times New Roman"/>
                <a:cs typeface="Times New Roman"/>
                <a:sym typeface="Times New Roman"/>
              </a:rPr>
              <a:t>Data visualization uses visual data to communicate information in a manner that is universal, fast, and effective. </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b="1" lang="en-US" sz="2650">
                <a:latin typeface="Times New Roman"/>
                <a:ea typeface="Times New Roman"/>
                <a:cs typeface="Times New Roman"/>
                <a:sym typeface="Times New Roman"/>
              </a:rPr>
              <a:t>Making Sense of Complicated Data</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lang="en-US" sz="2650">
                <a:latin typeface="Times New Roman"/>
                <a:ea typeface="Times New Roman"/>
                <a:cs typeface="Times New Roman"/>
                <a:sym typeface="Times New Roman"/>
              </a:rPr>
              <a:t>Data visualization positively affects an organization’s decision-making process with interactive visual representations of data.</a:t>
            </a:r>
            <a:endParaRPr sz="2650">
              <a:latin typeface="Times New Roman"/>
              <a:ea typeface="Times New Roman"/>
              <a:cs typeface="Times New Roman"/>
              <a:sym typeface="Times New Roman"/>
            </a:endParaRPr>
          </a:p>
          <a:p>
            <a:pPr indent="-77470" lvl="0" marL="228600" rtl="0" algn="l">
              <a:lnSpc>
                <a:spcPct val="90000"/>
              </a:lnSpc>
              <a:spcBef>
                <a:spcPts val="1000"/>
              </a:spcBef>
              <a:spcAft>
                <a:spcPts val="0"/>
              </a:spcAft>
              <a:buClr>
                <a:schemeClr val="dk1"/>
              </a:buClr>
              <a:buSzPts val="2650"/>
              <a:buNone/>
            </a:pPr>
            <a:r>
              <a:t/>
            </a:r>
            <a:endParaRPr sz="2650">
              <a:latin typeface="Times New Roman"/>
              <a:ea typeface="Times New Roman"/>
              <a:cs typeface="Times New Roman"/>
              <a:sym typeface="Times New Roman"/>
            </a:endParaRPr>
          </a:p>
        </p:txBody>
      </p:sp>
      <p:sp>
        <p:nvSpPr>
          <p:cNvPr id="277" name="Google Shape;27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278" name="Google Shape;27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9"/>
          <p:cNvSpPr txBox="1"/>
          <p:nvPr>
            <p:ph type="title"/>
          </p:nvPr>
        </p:nvSpPr>
        <p:spPr>
          <a:xfrm>
            <a:off x="695400" y="-17140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t/>
            </a:r>
            <a:endParaRPr/>
          </a:p>
        </p:txBody>
      </p:sp>
      <p:sp>
        <p:nvSpPr>
          <p:cNvPr id="284" name="Google Shape;284;p9"/>
          <p:cNvSpPr txBox="1"/>
          <p:nvPr>
            <p:ph idx="1" type="body"/>
          </p:nvPr>
        </p:nvSpPr>
        <p:spPr>
          <a:xfrm>
            <a:off x="839416" y="1124744"/>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u="sng">
                <a:solidFill>
                  <a:schemeClr val="hlink"/>
                </a:solidFill>
                <a:hlinkClick r:id="rId3"/>
              </a:rPr>
              <a:t>Google form to collect Data</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u="sng">
                <a:solidFill>
                  <a:schemeClr val="hlink"/>
                </a:solidFill>
                <a:hlinkClick r:id="rId4"/>
              </a:rPr>
              <a:t>Sample Responses (Excel format)</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u="sng">
                <a:solidFill>
                  <a:schemeClr val="hlink"/>
                </a:solidFill>
                <a:hlinkClick r:id="rId5"/>
              </a:rPr>
              <a:t>Sample Responses Graphical form</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285" name="Google Shape;28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286" name="Google Shape;28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1"/>
          <p:cNvSpPr txBox="1"/>
          <p:nvPr>
            <p:ph type="title"/>
          </p:nvPr>
        </p:nvSpPr>
        <p:spPr>
          <a:xfrm>
            <a:off x="838200" y="190465"/>
            <a:ext cx="10515600" cy="7855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292" name="Google Shape;292;p11"/>
          <p:cNvSpPr txBox="1"/>
          <p:nvPr>
            <p:ph idx="1" type="body"/>
          </p:nvPr>
        </p:nvSpPr>
        <p:spPr>
          <a:xfrm>
            <a:off x="910119" y="1055062"/>
            <a:ext cx="10515600" cy="51916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50"/>
              <a:buFont typeface="Times New Roman"/>
              <a:buChar char="•"/>
            </a:pPr>
            <a:r>
              <a:rPr lang="en-US">
                <a:latin typeface="Times New Roman"/>
                <a:ea typeface="Times New Roman"/>
                <a:cs typeface="Times New Roman"/>
                <a:sym typeface="Times New Roman"/>
              </a:rPr>
              <a:t>Businesses can now recognize patterns more quickly because they can interpret data in graphical or pictorial forms.</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Correlations in Relationships:</a:t>
            </a:r>
            <a:r>
              <a:rPr b="1" lang="en-US" sz="2150">
                <a:latin typeface="Times New Roman"/>
                <a:ea typeface="Times New Roman"/>
                <a:cs typeface="Times New Roman"/>
                <a:sym typeface="Times New Roman"/>
              </a:rPr>
              <a:t> </a:t>
            </a:r>
            <a:r>
              <a:rPr lang="en-US" sz="2150">
                <a:latin typeface="Times New Roman"/>
                <a:ea typeface="Times New Roman"/>
                <a:cs typeface="Times New Roman"/>
                <a:sym typeface="Times New Roman"/>
              </a:rPr>
              <a:t>Without data visualization, it is challenging to identify the correlations between the relationship of independent variables. Make better business decisions by making sense of those independent variables.</a:t>
            </a:r>
            <a:endParaRPr sz="2150">
              <a:latin typeface="Times New Roman"/>
              <a:ea typeface="Times New Roman"/>
              <a:cs typeface="Times New Roman"/>
              <a:sym typeface="Times New Roman"/>
            </a:endParaRPr>
          </a:p>
        </p:txBody>
      </p:sp>
      <p:sp>
        <p:nvSpPr>
          <p:cNvPr id="293" name="Google Shape;29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294" name="Google Shape;29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295" name="Google Shape;295;p11"/>
          <p:cNvPicPr preferRelativeResize="0"/>
          <p:nvPr/>
        </p:nvPicPr>
        <p:blipFill rotWithShape="1">
          <a:blip r:embed="rId3">
            <a:alphaModFix/>
          </a:blip>
          <a:srcRect b="0" l="0" r="0" t="0"/>
          <a:stretch/>
        </p:blipFill>
        <p:spPr>
          <a:xfrm>
            <a:off x="3647728" y="2924944"/>
            <a:ext cx="4178101" cy="33159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99"/>
          <p:cNvSpPr txBox="1"/>
          <p:nvPr>
            <p:ph type="title"/>
          </p:nvPr>
        </p:nvSpPr>
        <p:spPr>
          <a:xfrm>
            <a:off x="838200" y="190465"/>
            <a:ext cx="10515600" cy="7855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301" name="Google Shape;301;p99"/>
          <p:cNvSpPr txBox="1"/>
          <p:nvPr>
            <p:ph idx="1" type="body"/>
          </p:nvPr>
        </p:nvSpPr>
        <p:spPr>
          <a:xfrm>
            <a:off x="910119" y="1055062"/>
            <a:ext cx="10515600" cy="51916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50"/>
              <a:buFont typeface="Times New Roman"/>
              <a:buChar char="•"/>
            </a:pPr>
            <a:r>
              <a:rPr lang="en-US">
                <a:latin typeface="Times New Roman"/>
                <a:ea typeface="Times New Roman"/>
                <a:cs typeface="Times New Roman"/>
                <a:sym typeface="Times New Roman"/>
              </a:rPr>
              <a:t>Businesses can now recognize patterns more quickly because they can interpret data in graphical or pictorial forms.</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Trends Over Time:</a:t>
            </a:r>
            <a:r>
              <a:rPr b="1" lang="en-US" sz="2150">
                <a:latin typeface="Times New Roman"/>
                <a:ea typeface="Times New Roman"/>
                <a:cs typeface="Times New Roman"/>
                <a:sym typeface="Times New Roman"/>
              </a:rPr>
              <a:t> </a:t>
            </a:r>
            <a:r>
              <a:rPr lang="en-US" sz="2150">
                <a:latin typeface="Times New Roman"/>
                <a:ea typeface="Times New Roman"/>
                <a:cs typeface="Times New Roman"/>
                <a:sym typeface="Times New Roman"/>
              </a:rPr>
              <a:t>an obvious and one of the most valuable applications use of data visualization It’s impossible to make predictions without having the necessary information from the past and present. Trends over time tell where we were and where we can potentially go.</a:t>
            </a:r>
            <a:r>
              <a:rPr b="1"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p:txBody>
      </p:sp>
      <p:sp>
        <p:nvSpPr>
          <p:cNvPr id="302" name="Google Shape;302;p9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303" name="Google Shape;303;p9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304" name="Google Shape;304;p99"/>
          <p:cNvPicPr preferRelativeResize="0"/>
          <p:nvPr/>
        </p:nvPicPr>
        <p:blipFill rotWithShape="1">
          <a:blip r:embed="rId3">
            <a:alphaModFix/>
          </a:blip>
          <a:srcRect b="0" l="0" r="0" t="0"/>
          <a:stretch/>
        </p:blipFill>
        <p:spPr>
          <a:xfrm>
            <a:off x="3575720" y="3140968"/>
            <a:ext cx="4320480" cy="31541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00"/>
          <p:cNvSpPr txBox="1"/>
          <p:nvPr>
            <p:ph type="title"/>
          </p:nvPr>
        </p:nvSpPr>
        <p:spPr>
          <a:xfrm>
            <a:off x="838200" y="190465"/>
            <a:ext cx="10515600" cy="7855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310" name="Google Shape;310;p100"/>
          <p:cNvSpPr txBox="1"/>
          <p:nvPr>
            <p:ph idx="1" type="body"/>
          </p:nvPr>
        </p:nvSpPr>
        <p:spPr>
          <a:xfrm>
            <a:off x="910119" y="1055062"/>
            <a:ext cx="10515600" cy="51916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50"/>
              <a:buFont typeface="Times New Roman"/>
              <a:buChar char="•"/>
            </a:pPr>
            <a:r>
              <a:rPr lang="en-US">
                <a:latin typeface="Times New Roman"/>
                <a:ea typeface="Times New Roman"/>
                <a:cs typeface="Times New Roman"/>
                <a:sym typeface="Times New Roman"/>
              </a:rPr>
              <a:t>Businesses can now recognize patterns more quickly because they can interpret data in graphical or pictorial forms.</a:t>
            </a:r>
            <a:r>
              <a:rPr b="1"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Frequency:</a:t>
            </a:r>
            <a:r>
              <a:rPr lang="en-US" sz="2150">
                <a:latin typeface="Times New Roman"/>
                <a:ea typeface="Times New Roman"/>
                <a:cs typeface="Times New Roman"/>
                <a:sym typeface="Times New Roman"/>
              </a:rPr>
              <a:t> Closely related to trends over time is frequency. By examining the rate, or how often, customers purchase and when they buy gives a better feel for how potential new customers might act and react to different marketing and customer acquisition strategies. </a:t>
            </a:r>
            <a:endParaRPr sz="2150">
              <a:latin typeface="Times New Roman"/>
              <a:ea typeface="Times New Roman"/>
              <a:cs typeface="Times New Roman"/>
              <a:sym typeface="Times New Roman"/>
            </a:endParaRPr>
          </a:p>
          <a:p>
            <a:pPr indent="0" lvl="0" marL="228600" rtl="0" algn="l">
              <a:lnSpc>
                <a:spcPct val="90000"/>
              </a:lnSpc>
              <a:spcBef>
                <a:spcPts val="1000"/>
              </a:spcBef>
              <a:spcAft>
                <a:spcPts val="0"/>
              </a:spcAft>
              <a:buSzPts val="1800"/>
              <a:buNone/>
            </a:pPr>
            <a:r>
              <a:t/>
            </a:r>
            <a:endParaRPr sz="2150">
              <a:latin typeface="Times New Roman"/>
              <a:ea typeface="Times New Roman"/>
              <a:cs typeface="Times New Roman"/>
              <a:sym typeface="Times New Roman"/>
            </a:endParaRPr>
          </a:p>
        </p:txBody>
      </p:sp>
      <p:sp>
        <p:nvSpPr>
          <p:cNvPr id="311" name="Google Shape;311;p10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312" name="Google Shape;312;p10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313" name="Google Shape;313;p100"/>
          <p:cNvPicPr preferRelativeResize="0"/>
          <p:nvPr/>
        </p:nvPicPr>
        <p:blipFill rotWithShape="1">
          <a:blip r:embed="rId3">
            <a:alphaModFix/>
          </a:blip>
          <a:srcRect b="0" l="0" r="0" t="0"/>
          <a:stretch/>
        </p:blipFill>
        <p:spPr>
          <a:xfrm>
            <a:off x="3799632" y="2910938"/>
            <a:ext cx="4672632" cy="34703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01"/>
          <p:cNvSpPr txBox="1"/>
          <p:nvPr>
            <p:ph type="title"/>
          </p:nvPr>
        </p:nvSpPr>
        <p:spPr>
          <a:xfrm>
            <a:off x="838200" y="190465"/>
            <a:ext cx="10515600" cy="7855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319" name="Google Shape;319;p101"/>
          <p:cNvSpPr txBox="1"/>
          <p:nvPr>
            <p:ph idx="1" type="body"/>
          </p:nvPr>
        </p:nvSpPr>
        <p:spPr>
          <a:xfrm>
            <a:off x="910119" y="1055062"/>
            <a:ext cx="10515600" cy="51916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50"/>
              <a:buFont typeface="Times New Roman"/>
              <a:buChar char="•"/>
            </a:pPr>
            <a:r>
              <a:rPr lang="en-US">
                <a:latin typeface="Times New Roman"/>
                <a:ea typeface="Times New Roman"/>
                <a:cs typeface="Times New Roman"/>
                <a:sym typeface="Times New Roman"/>
              </a:rPr>
              <a:t>Businesses can now recognize patterns more quickly because they can interpret data in graphical or pictorial forms.</a:t>
            </a:r>
            <a:r>
              <a:rPr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Examining the Market:</a:t>
            </a:r>
            <a:r>
              <a:rPr b="1" lang="en-US" sz="2150">
                <a:latin typeface="Times New Roman"/>
                <a:ea typeface="Times New Roman"/>
                <a:cs typeface="Times New Roman"/>
                <a:sym typeface="Times New Roman"/>
              </a:rPr>
              <a:t> </a:t>
            </a:r>
            <a:r>
              <a:rPr lang="en-US" sz="2150">
                <a:latin typeface="Times New Roman"/>
                <a:ea typeface="Times New Roman"/>
                <a:cs typeface="Times New Roman"/>
                <a:sym typeface="Times New Roman"/>
              </a:rPr>
              <a:t>Data visualization takes the information from different markets to give you insights into which audiences to focus your attention on and which ones to stay away from. We get a clearer picture of the opportunities within those markets by displaying this data on various charts and graphs.</a:t>
            </a:r>
            <a:endParaRPr sz="2150">
              <a:latin typeface="Times New Roman"/>
              <a:ea typeface="Times New Roman"/>
              <a:cs typeface="Times New Roman"/>
              <a:sym typeface="Times New Roman"/>
            </a:endParaRPr>
          </a:p>
          <a:p>
            <a:pPr indent="0" lvl="0" marL="228600" rtl="0" algn="l">
              <a:lnSpc>
                <a:spcPct val="90000"/>
              </a:lnSpc>
              <a:spcBef>
                <a:spcPts val="1000"/>
              </a:spcBef>
              <a:spcAft>
                <a:spcPts val="0"/>
              </a:spcAft>
              <a:buSzPts val="1800"/>
              <a:buNone/>
            </a:pPr>
            <a:r>
              <a:t/>
            </a:r>
            <a:endParaRPr sz="2150">
              <a:latin typeface="Times New Roman"/>
              <a:ea typeface="Times New Roman"/>
              <a:cs typeface="Times New Roman"/>
              <a:sym typeface="Times New Roman"/>
            </a:endParaRPr>
          </a:p>
        </p:txBody>
      </p:sp>
      <p:sp>
        <p:nvSpPr>
          <p:cNvPr id="320" name="Google Shape;320;p10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321" name="Google Shape;321;p10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322" name="Google Shape;322;p101"/>
          <p:cNvPicPr preferRelativeResize="0"/>
          <p:nvPr/>
        </p:nvPicPr>
        <p:blipFill rotWithShape="1">
          <a:blip r:embed="rId3">
            <a:alphaModFix/>
          </a:blip>
          <a:srcRect b="0" l="0" r="0" t="0"/>
          <a:stretch/>
        </p:blipFill>
        <p:spPr>
          <a:xfrm>
            <a:off x="3160713" y="3238078"/>
            <a:ext cx="5867400" cy="3143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02"/>
          <p:cNvSpPr txBox="1"/>
          <p:nvPr>
            <p:ph type="title"/>
          </p:nvPr>
        </p:nvSpPr>
        <p:spPr>
          <a:xfrm>
            <a:off x="838200" y="190465"/>
            <a:ext cx="10515600" cy="7855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328" name="Google Shape;328;p102"/>
          <p:cNvSpPr txBox="1"/>
          <p:nvPr>
            <p:ph idx="1" type="body"/>
          </p:nvPr>
        </p:nvSpPr>
        <p:spPr>
          <a:xfrm>
            <a:off x="910119" y="1055062"/>
            <a:ext cx="10515600" cy="51916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50"/>
              <a:buFont typeface="Times New Roman"/>
              <a:buChar char="•"/>
            </a:pPr>
            <a:r>
              <a:rPr lang="en-US">
                <a:latin typeface="Times New Roman"/>
                <a:ea typeface="Times New Roman"/>
                <a:cs typeface="Times New Roman"/>
                <a:sym typeface="Times New Roman"/>
              </a:rPr>
              <a:t>Businesses can now recognize patterns more quickly because they can interpret data in graphical or pictorial forms.</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Correlations in Relationships:</a:t>
            </a:r>
            <a:r>
              <a:rPr b="1" lang="en-US" sz="2150">
                <a:latin typeface="Times New Roman"/>
                <a:ea typeface="Times New Roman"/>
                <a:cs typeface="Times New Roman"/>
                <a:sym typeface="Times New Roman"/>
              </a:rPr>
              <a:t> </a:t>
            </a:r>
            <a:r>
              <a:rPr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Trends Over Time:</a:t>
            </a:r>
            <a:r>
              <a:rPr b="1"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Frequency:</a:t>
            </a:r>
            <a:r>
              <a:rPr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Examining the Market:</a:t>
            </a:r>
            <a:r>
              <a:rPr b="1" lang="en-US" sz="2150">
                <a:latin typeface="Times New Roman"/>
                <a:ea typeface="Times New Roman"/>
                <a:cs typeface="Times New Roman"/>
                <a:sym typeface="Times New Roman"/>
              </a:rPr>
              <a:t> </a:t>
            </a:r>
            <a:r>
              <a:rPr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0" lvl="0" marL="228600" rtl="0" algn="l">
              <a:lnSpc>
                <a:spcPct val="90000"/>
              </a:lnSpc>
              <a:spcBef>
                <a:spcPts val="1000"/>
              </a:spcBef>
              <a:spcAft>
                <a:spcPts val="0"/>
              </a:spcAft>
              <a:buSzPts val="1800"/>
              <a:buNone/>
            </a:pPr>
            <a:r>
              <a:t/>
            </a:r>
            <a:endParaRPr sz="2150">
              <a:latin typeface="Times New Roman"/>
              <a:ea typeface="Times New Roman"/>
              <a:cs typeface="Times New Roman"/>
              <a:sym typeface="Times New Roman"/>
            </a:endParaRPr>
          </a:p>
        </p:txBody>
      </p:sp>
      <p:sp>
        <p:nvSpPr>
          <p:cNvPr id="329" name="Google Shape;329;p10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330" name="Google Shape;330;p10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14464aad1b1_3_6"/>
          <p:cNvSpPr txBox="1"/>
          <p:nvPr>
            <p:ph type="title"/>
          </p:nvPr>
        </p:nvSpPr>
        <p:spPr>
          <a:xfrm>
            <a:off x="838200" y="190465"/>
            <a:ext cx="10515600" cy="78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336" name="Google Shape;336;g14464aad1b1_3_6"/>
          <p:cNvSpPr txBox="1"/>
          <p:nvPr>
            <p:ph idx="1" type="body"/>
          </p:nvPr>
        </p:nvSpPr>
        <p:spPr>
          <a:xfrm>
            <a:off x="910119" y="1055062"/>
            <a:ext cx="10515600" cy="5191500"/>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1000"/>
              </a:spcBef>
              <a:spcAft>
                <a:spcPts val="0"/>
              </a:spcAft>
              <a:buClr>
                <a:srgbClr val="0070C0"/>
              </a:buClr>
              <a:buSzPts val="2200"/>
              <a:buChar char="•"/>
            </a:pPr>
            <a:r>
              <a:rPr b="1" lang="en-US" sz="2200">
                <a:solidFill>
                  <a:srgbClr val="0070C0"/>
                </a:solidFill>
                <a:latin typeface="Times New Roman"/>
                <a:ea typeface="Times New Roman"/>
                <a:cs typeface="Times New Roman"/>
                <a:sym typeface="Times New Roman"/>
              </a:rPr>
              <a:t>Risk and Reward:</a:t>
            </a:r>
            <a:r>
              <a:rPr b="1" lang="en-US" sz="2200">
                <a:latin typeface="Times New Roman"/>
                <a:ea typeface="Times New Roman"/>
                <a:cs typeface="Times New Roman"/>
                <a:sym typeface="Times New Roman"/>
              </a:rPr>
              <a:t> </a:t>
            </a:r>
            <a:r>
              <a:rPr lang="en-US" sz="2200">
                <a:latin typeface="Times New Roman"/>
                <a:ea typeface="Times New Roman"/>
                <a:cs typeface="Times New Roman"/>
                <a:sym typeface="Times New Roman"/>
              </a:rPr>
              <a:t>Looking at value and risk metrics requires expertise because, without data visualization, we must interpret complicated spreadsheets and numbers. Once information is visualized, we can then pinpoint areas that may or may not require action.</a:t>
            </a:r>
            <a:endParaRPr sz="2200">
              <a:latin typeface="Times New Roman"/>
              <a:ea typeface="Times New Roman"/>
              <a:cs typeface="Times New Roman"/>
              <a:sym typeface="Times New Roman"/>
            </a:endParaRPr>
          </a:p>
          <a:p>
            <a:pPr indent="-228600" lvl="0" marL="228600" rtl="0" algn="l">
              <a:lnSpc>
                <a:spcPct val="80000"/>
              </a:lnSpc>
              <a:spcBef>
                <a:spcPts val="1000"/>
              </a:spcBef>
              <a:spcAft>
                <a:spcPts val="0"/>
              </a:spcAft>
              <a:buClr>
                <a:srgbClr val="0070C0"/>
              </a:buClr>
              <a:buSzPts val="2200"/>
              <a:buChar char="•"/>
            </a:pPr>
            <a:r>
              <a:rPr b="1" lang="en-US" sz="2200">
                <a:solidFill>
                  <a:srgbClr val="0070C0"/>
                </a:solidFill>
                <a:latin typeface="Times New Roman"/>
                <a:ea typeface="Times New Roman"/>
                <a:cs typeface="Times New Roman"/>
                <a:sym typeface="Times New Roman"/>
              </a:rPr>
              <a:t>Reacting to the Market:</a:t>
            </a:r>
            <a:r>
              <a:rPr b="1" lang="en-US" sz="2200">
                <a:latin typeface="Times New Roman"/>
                <a:ea typeface="Times New Roman"/>
                <a:cs typeface="Times New Roman"/>
                <a:sym typeface="Times New Roman"/>
              </a:rPr>
              <a:t> </a:t>
            </a:r>
            <a:r>
              <a:rPr lang="en-US" sz="2200">
                <a:latin typeface="Times New Roman"/>
                <a:ea typeface="Times New Roman"/>
                <a:cs typeface="Times New Roman"/>
                <a:sym typeface="Times New Roman"/>
              </a:rPr>
              <a:t>The ability to obtain information quickly and easily with data displayed clearly on a functional dashboard allows businesses to act and respond to findings swiftly and helps to avoid making mistakes.</a:t>
            </a:r>
            <a:endParaRPr sz="2200">
              <a:latin typeface="Times New Roman"/>
              <a:ea typeface="Times New Roman"/>
              <a:cs typeface="Times New Roman"/>
              <a:sym typeface="Times New Roman"/>
            </a:endParaRPr>
          </a:p>
          <a:p>
            <a:pPr indent="0" lvl="0" marL="228600" rtl="0" algn="l">
              <a:lnSpc>
                <a:spcPct val="80000"/>
              </a:lnSpc>
              <a:spcBef>
                <a:spcPts val="0"/>
              </a:spcBef>
              <a:spcAft>
                <a:spcPts val="0"/>
              </a:spcAft>
              <a:buSzPts val="1800"/>
              <a:buNone/>
            </a:pPr>
            <a:r>
              <a:t/>
            </a:r>
            <a:endParaRPr sz="2200">
              <a:solidFill>
                <a:srgbClr val="333333"/>
              </a:solidFill>
              <a:latin typeface="Times New Roman"/>
              <a:ea typeface="Times New Roman"/>
              <a:cs typeface="Times New Roman"/>
              <a:sym typeface="Times New Roman"/>
            </a:endParaRPr>
          </a:p>
          <a:p>
            <a:pPr indent="-228600" lvl="0" marL="228600" rtl="0" algn="l">
              <a:lnSpc>
                <a:spcPct val="80000"/>
              </a:lnSpc>
              <a:spcBef>
                <a:spcPts val="1000"/>
              </a:spcBef>
              <a:spcAft>
                <a:spcPts val="0"/>
              </a:spcAft>
              <a:buClr>
                <a:schemeClr val="dk1"/>
              </a:buClr>
              <a:buSzPts val="2800"/>
              <a:buFont typeface="Times New Roman"/>
              <a:buChar char="•"/>
            </a:pPr>
            <a:r>
              <a:rPr lang="en-US" sz="2200">
                <a:solidFill>
                  <a:srgbClr val="333333"/>
                </a:solidFill>
                <a:latin typeface="Times New Roman"/>
                <a:ea typeface="Times New Roman"/>
                <a:cs typeface="Times New Roman"/>
                <a:sym typeface="Times New Roman"/>
              </a:rPr>
              <a:t>Data visualization helps to tell stories by curating data into a form easier to understand, highlighting the trends and outliers</a:t>
            </a:r>
            <a:endParaRPr sz="2200">
              <a:solidFill>
                <a:srgbClr val="333333"/>
              </a:solidFill>
              <a:latin typeface="Times New Roman"/>
              <a:ea typeface="Times New Roman"/>
              <a:cs typeface="Times New Roman"/>
              <a:sym typeface="Times New Roman"/>
            </a:endParaRPr>
          </a:p>
          <a:p>
            <a:pPr indent="-228600" lvl="0" marL="228600" rtl="0" algn="l">
              <a:lnSpc>
                <a:spcPct val="80000"/>
              </a:lnSpc>
              <a:spcBef>
                <a:spcPts val="1000"/>
              </a:spcBef>
              <a:spcAft>
                <a:spcPts val="0"/>
              </a:spcAft>
              <a:buClr>
                <a:schemeClr val="dk1"/>
              </a:buClr>
              <a:buSzPts val="2800"/>
              <a:buFont typeface="Times New Roman"/>
              <a:buChar char="•"/>
            </a:pPr>
            <a:r>
              <a:rPr lang="en-US" sz="2200">
                <a:solidFill>
                  <a:srgbClr val="333333"/>
                </a:solidFill>
                <a:latin typeface="Times New Roman"/>
                <a:ea typeface="Times New Roman"/>
                <a:cs typeface="Times New Roman"/>
                <a:sym typeface="Times New Roman"/>
              </a:rPr>
              <a:t>A good visualization tells a story, removing the noise from data and highlighting the useful information</a:t>
            </a:r>
            <a:endParaRPr sz="2200">
              <a:solidFill>
                <a:srgbClr val="333333"/>
              </a:solidFill>
              <a:latin typeface="Times New Roman"/>
              <a:ea typeface="Times New Roman"/>
              <a:cs typeface="Times New Roman"/>
              <a:sym typeface="Times New Roman"/>
            </a:endParaRPr>
          </a:p>
          <a:p>
            <a:pPr indent="-228600" lvl="0" marL="228600" rtl="0" algn="l">
              <a:lnSpc>
                <a:spcPct val="80000"/>
              </a:lnSpc>
              <a:spcBef>
                <a:spcPts val="1000"/>
              </a:spcBef>
              <a:spcAft>
                <a:spcPts val="0"/>
              </a:spcAft>
              <a:buClr>
                <a:schemeClr val="dk1"/>
              </a:buClr>
              <a:buSzPts val="2800"/>
              <a:buFont typeface="Times New Roman"/>
              <a:buChar char="•"/>
            </a:pPr>
            <a:r>
              <a:rPr lang="en-US" sz="2200">
                <a:solidFill>
                  <a:srgbClr val="333333"/>
                </a:solidFill>
                <a:latin typeface="Times New Roman"/>
                <a:ea typeface="Times New Roman"/>
                <a:cs typeface="Times New Roman"/>
                <a:sym typeface="Times New Roman"/>
              </a:rPr>
              <a:t>Effective data visualization is a delicate balancing act between form and function</a:t>
            </a:r>
            <a:endParaRPr sz="2200">
              <a:solidFill>
                <a:srgbClr val="333333"/>
              </a:solidFill>
              <a:latin typeface="Times New Roman"/>
              <a:ea typeface="Times New Roman"/>
              <a:cs typeface="Times New Roman"/>
              <a:sym typeface="Times New Roman"/>
            </a:endParaRPr>
          </a:p>
          <a:p>
            <a:pPr indent="-228600" lvl="0" marL="228600" rtl="0" algn="l">
              <a:lnSpc>
                <a:spcPct val="80000"/>
              </a:lnSpc>
              <a:spcBef>
                <a:spcPts val="1000"/>
              </a:spcBef>
              <a:spcAft>
                <a:spcPts val="0"/>
              </a:spcAft>
              <a:buClr>
                <a:schemeClr val="dk1"/>
              </a:buClr>
              <a:buSzPts val="2800"/>
              <a:buFont typeface="Times New Roman"/>
              <a:buChar char="•"/>
            </a:pPr>
            <a:r>
              <a:rPr lang="en-US" sz="2200">
                <a:solidFill>
                  <a:srgbClr val="333333"/>
                </a:solidFill>
                <a:latin typeface="Times New Roman"/>
                <a:ea typeface="Times New Roman"/>
                <a:cs typeface="Times New Roman"/>
                <a:sym typeface="Times New Roman"/>
              </a:rPr>
              <a:t>The most stunning visualization could utterly fail at conveying the right message or it could speak volumes </a:t>
            </a:r>
            <a:endParaRPr sz="2200">
              <a:solidFill>
                <a:srgbClr val="333333"/>
              </a:solidFill>
              <a:latin typeface="Times New Roman"/>
              <a:ea typeface="Times New Roman"/>
              <a:cs typeface="Times New Roman"/>
              <a:sym typeface="Times New Roman"/>
            </a:endParaRPr>
          </a:p>
          <a:p>
            <a:pPr indent="-228600" lvl="0" marL="228600" rtl="0" algn="l">
              <a:lnSpc>
                <a:spcPct val="80000"/>
              </a:lnSpc>
              <a:spcBef>
                <a:spcPts val="1000"/>
              </a:spcBef>
              <a:spcAft>
                <a:spcPts val="1000"/>
              </a:spcAft>
              <a:buClr>
                <a:schemeClr val="dk1"/>
              </a:buClr>
              <a:buSzPts val="2700"/>
              <a:buFont typeface="Times New Roman"/>
              <a:buChar char="•"/>
            </a:pPr>
            <a:r>
              <a:rPr lang="en-US" sz="2200">
                <a:solidFill>
                  <a:srgbClr val="333333"/>
                </a:solidFill>
                <a:latin typeface="Times New Roman"/>
                <a:ea typeface="Times New Roman"/>
                <a:cs typeface="Times New Roman"/>
                <a:sym typeface="Times New Roman"/>
              </a:rPr>
              <a:t>The data and the visuals need to work togethe</a:t>
            </a:r>
            <a:r>
              <a:rPr lang="en-US" sz="2000">
                <a:solidFill>
                  <a:srgbClr val="333333"/>
                </a:solidFill>
                <a:latin typeface="Times New Roman"/>
                <a:ea typeface="Times New Roman"/>
                <a:cs typeface="Times New Roman"/>
                <a:sym typeface="Times New Roman"/>
              </a:rPr>
              <a:t>r </a:t>
            </a:r>
            <a:endParaRPr sz="2000">
              <a:solidFill>
                <a:srgbClr val="333333"/>
              </a:solidFill>
              <a:latin typeface="Times New Roman"/>
              <a:ea typeface="Times New Roman"/>
              <a:cs typeface="Times New Roman"/>
              <a:sym typeface="Times New Roman"/>
            </a:endParaRPr>
          </a:p>
        </p:txBody>
      </p:sp>
      <p:sp>
        <p:nvSpPr>
          <p:cNvPr id="337" name="Google Shape;337;g14464aad1b1_3_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338" name="Google Shape;338;g14464aad1b1_3_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03"/>
          <p:cNvSpPr txBox="1"/>
          <p:nvPr>
            <p:ph type="title"/>
          </p:nvPr>
        </p:nvSpPr>
        <p:spPr>
          <a:xfrm>
            <a:off x="838200" y="365126"/>
            <a:ext cx="10515600" cy="631468"/>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70C0"/>
              </a:buClr>
              <a:buSzPct val="100000"/>
              <a:buFont typeface="Calibri"/>
              <a:buNone/>
            </a:pPr>
            <a:r>
              <a:rPr b="1" lang="en-US">
                <a:solidFill>
                  <a:srgbClr val="0070C0"/>
                </a:solidFill>
              </a:rPr>
              <a:t>Data Analysis Lifecycle</a:t>
            </a:r>
            <a:endParaRPr/>
          </a:p>
        </p:txBody>
      </p:sp>
      <p:sp>
        <p:nvSpPr>
          <p:cNvPr id="344" name="Google Shape;344;p10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345" name="Google Shape;345;p10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46" name="Google Shape;346;p103"/>
          <p:cNvSpPr/>
          <p:nvPr/>
        </p:nvSpPr>
        <p:spPr>
          <a:xfrm>
            <a:off x="4744464" y="1265625"/>
            <a:ext cx="1870800" cy="1403700"/>
          </a:xfrm>
          <a:prstGeom prst="ellipse">
            <a:avLst/>
          </a:prstGeom>
          <a:solidFill>
            <a:srgbClr val="FFF2CC"/>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964E"/>
                </a:solidFill>
                <a:latin typeface="Calibri"/>
                <a:ea typeface="Calibri"/>
                <a:cs typeface="Calibri"/>
                <a:sym typeface="Calibri"/>
              </a:rPr>
              <a:t>Objective</a:t>
            </a:r>
            <a:endParaRPr b="1" i="0" sz="2200" u="none" cap="none" strike="noStrike">
              <a:solidFill>
                <a:srgbClr val="000000"/>
              </a:solidFill>
              <a:latin typeface="Calibri"/>
              <a:ea typeface="Calibri"/>
              <a:cs typeface="Calibri"/>
              <a:sym typeface="Calibri"/>
            </a:endParaRPr>
          </a:p>
        </p:txBody>
      </p:sp>
      <p:sp>
        <p:nvSpPr>
          <p:cNvPr id="347" name="Google Shape;347;p103"/>
          <p:cNvSpPr/>
          <p:nvPr/>
        </p:nvSpPr>
        <p:spPr>
          <a:xfrm>
            <a:off x="2478776" y="3783024"/>
            <a:ext cx="2208600" cy="1554600"/>
          </a:xfrm>
          <a:prstGeom prst="ellipse">
            <a:avLst/>
          </a:prstGeom>
          <a:solidFill>
            <a:srgbClr val="FFF2CC"/>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00FF"/>
                </a:solidFill>
                <a:latin typeface="Calibri"/>
                <a:ea typeface="Calibri"/>
                <a:cs typeface="Calibri"/>
                <a:sym typeface="Calibri"/>
              </a:rPr>
              <a:t>Data Analytics</a:t>
            </a:r>
            <a:endParaRPr b="1" i="0" sz="2200" u="none" cap="none" strike="noStrike">
              <a:solidFill>
                <a:srgbClr val="FF00FF"/>
              </a:solidFill>
              <a:latin typeface="Calibri"/>
              <a:ea typeface="Calibri"/>
              <a:cs typeface="Calibri"/>
              <a:sym typeface="Calibri"/>
            </a:endParaRPr>
          </a:p>
        </p:txBody>
      </p:sp>
      <p:sp>
        <p:nvSpPr>
          <p:cNvPr id="348" name="Google Shape;348;p103"/>
          <p:cNvSpPr/>
          <p:nvPr/>
        </p:nvSpPr>
        <p:spPr>
          <a:xfrm>
            <a:off x="6672325" y="3783025"/>
            <a:ext cx="2631300" cy="1554600"/>
          </a:xfrm>
          <a:prstGeom prst="ellipse">
            <a:avLst/>
          </a:prstGeom>
          <a:solidFill>
            <a:srgbClr val="FFF2CC"/>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Data Cleaning &amp; Transformation</a:t>
            </a:r>
            <a:endParaRPr b="1" i="0" sz="1800" u="none" cap="none" strike="noStrike">
              <a:solidFill>
                <a:schemeClr val="dk1"/>
              </a:solidFill>
              <a:latin typeface="Calibri"/>
              <a:ea typeface="Calibri"/>
              <a:cs typeface="Calibri"/>
              <a:sym typeface="Calibri"/>
            </a:endParaRPr>
          </a:p>
        </p:txBody>
      </p:sp>
      <p:sp>
        <p:nvSpPr>
          <p:cNvPr id="349" name="Google Shape;349;p103"/>
          <p:cNvSpPr/>
          <p:nvPr/>
        </p:nvSpPr>
        <p:spPr>
          <a:xfrm>
            <a:off x="6672325" y="1987550"/>
            <a:ext cx="2631300" cy="1554600"/>
          </a:xfrm>
          <a:prstGeom prst="ellipse">
            <a:avLst/>
          </a:prstGeom>
          <a:solidFill>
            <a:srgbClr val="F4B08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Arial"/>
                <a:ea typeface="Arial"/>
                <a:cs typeface="Arial"/>
                <a:sym typeface="Arial"/>
              </a:rPr>
              <a:t>Understanding the data</a:t>
            </a:r>
            <a:endParaRPr b="0" i="0" sz="1800" u="none" cap="none" strike="noStrike">
              <a:solidFill>
                <a:srgbClr val="000000"/>
              </a:solidFill>
              <a:latin typeface="Arial"/>
              <a:ea typeface="Arial"/>
              <a:cs typeface="Arial"/>
              <a:sym typeface="Arial"/>
            </a:endParaRPr>
          </a:p>
        </p:txBody>
      </p:sp>
      <p:sp>
        <p:nvSpPr>
          <p:cNvPr id="350" name="Google Shape;350;p103"/>
          <p:cNvSpPr/>
          <p:nvPr/>
        </p:nvSpPr>
        <p:spPr>
          <a:xfrm>
            <a:off x="4602203" y="4839901"/>
            <a:ext cx="2208600" cy="1621500"/>
          </a:xfrm>
          <a:prstGeom prst="ellipse">
            <a:avLst/>
          </a:prstGeom>
          <a:solidFill>
            <a:srgbClr val="F4B08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chemeClr val="lt1"/>
                </a:solidFill>
                <a:latin typeface="Calibri"/>
                <a:ea typeface="Calibri"/>
                <a:cs typeface="Calibri"/>
                <a:sym typeface="Calibri"/>
              </a:rPr>
              <a:t>Data Enhancing</a:t>
            </a:r>
            <a:endParaRPr b="1" i="0" sz="1900" u="none" cap="none" strike="noStrike">
              <a:solidFill>
                <a:schemeClr val="lt1"/>
              </a:solidFill>
              <a:latin typeface="Calibri"/>
              <a:ea typeface="Calibri"/>
              <a:cs typeface="Calibri"/>
              <a:sym typeface="Calibri"/>
            </a:endParaRPr>
          </a:p>
        </p:txBody>
      </p:sp>
      <p:sp>
        <p:nvSpPr>
          <p:cNvPr id="351" name="Google Shape;351;p103"/>
          <p:cNvSpPr/>
          <p:nvPr/>
        </p:nvSpPr>
        <p:spPr>
          <a:xfrm>
            <a:off x="2478799" y="2138500"/>
            <a:ext cx="2208600" cy="1403700"/>
          </a:xfrm>
          <a:prstGeom prst="ellipse">
            <a:avLst/>
          </a:prstGeom>
          <a:solidFill>
            <a:srgbClr val="F4B08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FF"/>
                </a:solidFill>
                <a:latin typeface="Calibri"/>
                <a:ea typeface="Calibri"/>
                <a:cs typeface="Calibri"/>
                <a:sym typeface="Calibri"/>
              </a:rPr>
              <a:t>Data Visualisation</a:t>
            </a:r>
            <a:endParaRPr b="1" i="0" sz="2000" u="none" cap="none" strike="noStrike">
              <a:solidFill>
                <a:srgbClr val="0000FF"/>
              </a:solidFill>
              <a:latin typeface="Calibri"/>
              <a:ea typeface="Calibri"/>
              <a:cs typeface="Calibri"/>
              <a:sym typeface="Calibri"/>
            </a:endParaRPr>
          </a:p>
        </p:txBody>
      </p:sp>
      <p:sp>
        <p:nvSpPr>
          <p:cNvPr id="352" name="Google Shape;352;p103"/>
          <p:cNvSpPr/>
          <p:nvPr/>
        </p:nvSpPr>
        <p:spPr>
          <a:xfrm rot="5400000">
            <a:off x="5464700" y="3199313"/>
            <a:ext cx="1581600" cy="1110600"/>
          </a:xfrm>
          <a:prstGeom prst="curvedDown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03"/>
          <p:cNvSpPr/>
          <p:nvPr/>
        </p:nvSpPr>
        <p:spPr>
          <a:xfrm rot="-5400000">
            <a:off x="4208550" y="3121163"/>
            <a:ext cx="1581600" cy="1110600"/>
          </a:xfrm>
          <a:prstGeom prst="curvedDown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3"/>
          <p:cNvSpPr txBox="1"/>
          <p:nvPr>
            <p:ph type="title"/>
          </p:nvPr>
        </p:nvSpPr>
        <p:spPr>
          <a:xfrm>
            <a:off x="838200" y="365126"/>
            <a:ext cx="10515600" cy="63146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rPr>
              <a:t>Data Analysis Lifecycle</a:t>
            </a:r>
            <a:endParaRPr/>
          </a:p>
        </p:txBody>
      </p:sp>
      <p:sp>
        <p:nvSpPr>
          <p:cNvPr id="359" name="Google Shape;359;p13"/>
          <p:cNvSpPr txBox="1"/>
          <p:nvPr>
            <p:ph idx="1" type="body"/>
          </p:nvPr>
        </p:nvSpPr>
        <p:spPr>
          <a:xfrm>
            <a:off x="838200" y="1126972"/>
            <a:ext cx="10515600" cy="5229300"/>
          </a:xfrm>
          <a:prstGeom prst="rect">
            <a:avLst/>
          </a:prstGeom>
          <a:noFill/>
          <a:ln>
            <a:noFill/>
          </a:ln>
        </p:spPr>
        <p:txBody>
          <a:bodyPr anchorCtr="0" anchor="t" bIns="45700" lIns="91425" spcFirstLastPara="1" rIns="91425" wrap="square" tIns="45700">
            <a:normAutofit lnSpcReduction="10000"/>
          </a:bodyPr>
          <a:lstStyle/>
          <a:p>
            <a:pPr indent="-406400" lvl="0" marL="457200" rtl="0" algn="l">
              <a:lnSpc>
                <a:spcPct val="90000"/>
              </a:lnSpc>
              <a:spcBef>
                <a:spcPts val="0"/>
              </a:spcBef>
              <a:spcAft>
                <a:spcPts val="0"/>
              </a:spcAft>
              <a:buSzPts val="2800"/>
              <a:buAutoNum type="arabicPeriod"/>
            </a:pPr>
            <a:r>
              <a:rPr lang="en-US">
                <a:latin typeface="Arial"/>
                <a:ea typeface="Arial"/>
                <a:cs typeface="Arial"/>
                <a:sym typeface="Arial"/>
              </a:rPr>
              <a:t>Objective</a:t>
            </a:r>
            <a:endParaRPr>
              <a:latin typeface="Arial"/>
              <a:ea typeface="Arial"/>
              <a:cs typeface="Arial"/>
              <a:sym typeface="Arial"/>
            </a:endParaRPr>
          </a:p>
          <a:p>
            <a:pPr indent="-342900" lvl="1" marL="914400" rtl="0" algn="l">
              <a:lnSpc>
                <a:spcPct val="90000"/>
              </a:lnSpc>
              <a:spcBef>
                <a:spcPts val="0"/>
              </a:spcBef>
              <a:spcAft>
                <a:spcPts val="0"/>
              </a:spcAft>
              <a:buSzPts val="1800"/>
              <a:buFont typeface="Arial"/>
              <a:buChar char="•"/>
            </a:pPr>
            <a:r>
              <a:rPr lang="en-US">
                <a:latin typeface="Arial"/>
                <a:ea typeface="Arial"/>
                <a:cs typeface="Arial"/>
                <a:sym typeface="Arial"/>
              </a:rPr>
              <a:t>Identify </a:t>
            </a:r>
            <a:r>
              <a:rPr b="1" lang="en-US">
                <a:latin typeface="Arial"/>
                <a:ea typeface="Arial"/>
                <a:cs typeface="Arial"/>
                <a:sym typeface="Arial"/>
              </a:rPr>
              <a:t>WHY</a:t>
            </a:r>
            <a:r>
              <a:rPr lang="en-US">
                <a:latin typeface="Arial"/>
                <a:ea typeface="Arial"/>
                <a:cs typeface="Arial"/>
                <a:sym typeface="Arial"/>
              </a:rPr>
              <a:t> is the data collected.</a:t>
            </a:r>
            <a:endParaRPr>
              <a:latin typeface="Arial"/>
              <a:ea typeface="Arial"/>
              <a:cs typeface="Arial"/>
              <a:sym typeface="Arial"/>
            </a:endParaRPr>
          </a:p>
          <a:p>
            <a:pPr indent="-342900" lvl="1" marL="914400" rtl="0" algn="l">
              <a:lnSpc>
                <a:spcPct val="90000"/>
              </a:lnSpc>
              <a:spcBef>
                <a:spcPts val="0"/>
              </a:spcBef>
              <a:spcAft>
                <a:spcPts val="0"/>
              </a:spcAft>
              <a:buSzPts val="1800"/>
              <a:buFont typeface="Arial"/>
              <a:buChar char="•"/>
            </a:pPr>
            <a:r>
              <a:rPr lang="en-US">
                <a:latin typeface="Arial"/>
                <a:ea typeface="Arial"/>
                <a:cs typeface="Arial"/>
                <a:sym typeface="Arial"/>
              </a:rPr>
              <a:t>The purpose of data collection decides </a:t>
            </a:r>
            <a:r>
              <a:rPr b="1" lang="en-US">
                <a:latin typeface="Arial"/>
                <a:ea typeface="Arial"/>
                <a:cs typeface="Arial"/>
                <a:sym typeface="Arial"/>
              </a:rPr>
              <a:t>WHAT</a:t>
            </a:r>
            <a:r>
              <a:rPr lang="en-US">
                <a:latin typeface="Arial"/>
                <a:ea typeface="Arial"/>
                <a:cs typeface="Arial"/>
                <a:sym typeface="Arial"/>
              </a:rPr>
              <a:t> to collect and </a:t>
            </a:r>
            <a:r>
              <a:rPr b="1" lang="en-US">
                <a:latin typeface="Arial"/>
                <a:ea typeface="Arial"/>
                <a:cs typeface="Arial"/>
                <a:sym typeface="Arial"/>
              </a:rPr>
              <a:t>HOW</a:t>
            </a:r>
            <a:r>
              <a:rPr lang="en-US">
                <a:latin typeface="Arial"/>
                <a:ea typeface="Arial"/>
                <a:cs typeface="Arial"/>
                <a:sym typeface="Arial"/>
              </a:rPr>
              <a:t> and from </a:t>
            </a:r>
            <a:r>
              <a:rPr b="1" lang="en-US">
                <a:latin typeface="Arial"/>
                <a:ea typeface="Arial"/>
                <a:cs typeface="Arial"/>
                <a:sym typeface="Arial"/>
              </a:rPr>
              <a:t>WHOM</a:t>
            </a:r>
            <a:r>
              <a:rPr lang="en-US">
                <a:latin typeface="Arial"/>
                <a:ea typeface="Arial"/>
                <a:cs typeface="Arial"/>
                <a:sym typeface="Arial"/>
              </a:rPr>
              <a:t> and to </a:t>
            </a:r>
            <a:r>
              <a:rPr b="1" lang="en-US">
                <a:latin typeface="Arial"/>
                <a:ea typeface="Arial"/>
                <a:cs typeface="Arial"/>
                <a:sym typeface="Arial"/>
              </a:rPr>
              <a:t>WHOM</a:t>
            </a:r>
            <a:r>
              <a:rPr lang="en-US">
                <a:latin typeface="Arial"/>
                <a:ea typeface="Arial"/>
                <a:cs typeface="Arial"/>
                <a:sym typeface="Arial"/>
              </a:rPr>
              <a:t> will that be presented   </a:t>
            </a:r>
            <a:endParaRPr>
              <a:latin typeface="Arial"/>
              <a:ea typeface="Arial"/>
              <a:cs typeface="Arial"/>
              <a:sym typeface="Arial"/>
            </a:endParaRPr>
          </a:p>
          <a:p>
            <a:pPr indent="-406400" lvl="0" marL="457200" rtl="0" algn="l">
              <a:lnSpc>
                <a:spcPct val="90000"/>
              </a:lnSpc>
              <a:spcBef>
                <a:spcPts val="0"/>
              </a:spcBef>
              <a:spcAft>
                <a:spcPts val="0"/>
              </a:spcAft>
              <a:buSzPts val="2800"/>
              <a:buAutoNum type="arabicPeriod"/>
            </a:pPr>
            <a:r>
              <a:rPr lang="en-US"/>
              <a:t>Understanding the Data</a:t>
            </a:r>
            <a:endParaRPr/>
          </a:p>
          <a:p>
            <a:pPr indent="-342900" lvl="1" marL="914400" rtl="0" algn="l">
              <a:lnSpc>
                <a:spcPct val="90000"/>
              </a:lnSpc>
              <a:spcBef>
                <a:spcPts val="0"/>
              </a:spcBef>
              <a:spcAft>
                <a:spcPts val="0"/>
              </a:spcAft>
              <a:buSzPts val="1800"/>
              <a:buChar char="•"/>
            </a:pPr>
            <a:r>
              <a:rPr lang="en-US"/>
              <a:t>Know </a:t>
            </a:r>
            <a:r>
              <a:rPr b="1" lang="en-US"/>
              <a:t>WHAT</a:t>
            </a:r>
            <a:r>
              <a:rPr lang="en-US"/>
              <a:t> is collected </a:t>
            </a:r>
            <a:endParaRPr/>
          </a:p>
          <a:p>
            <a:pPr indent="-406400" lvl="0" marL="457200" rtl="0" algn="l">
              <a:lnSpc>
                <a:spcPct val="90000"/>
              </a:lnSpc>
              <a:spcBef>
                <a:spcPts val="0"/>
              </a:spcBef>
              <a:spcAft>
                <a:spcPts val="0"/>
              </a:spcAft>
              <a:buSzPts val="2800"/>
              <a:buAutoNum type="arabicPeriod"/>
            </a:pPr>
            <a:r>
              <a:rPr lang="en-US"/>
              <a:t>Data Cleaning &amp; Data Transformation</a:t>
            </a:r>
            <a:endParaRPr/>
          </a:p>
          <a:p>
            <a:pPr indent="-342900" lvl="1" marL="914400" rtl="0" algn="l">
              <a:lnSpc>
                <a:spcPct val="90000"/>
              </a:lnSpc>
              <a:spcBef>
                <a:spcPts val="0"/>
              </a:spcBef>
              <a:spcAft>
                <a:spcPts val="0"/>
              </a:spcAft>
              <a:buSzPts val="1800"/>
              <a:buChar char="•"/>
            </a:pPr>
            <a:r>
              <a:rPr lang="en-US"/>
              <a:t>Remove the UNWANTED data (noise) which may be irrelevant </a:t>
            </a:r>
            <a:endParaRPr/>
          </a:p>
          <a:p>
            <a:pPr indent="-342900" lvl="1" marL="914400" rtl="0" algn="l">
              <a:lnSpc>
                <a:spcPct val="90000"/>
              </a:lnSpc>
              <a:spcBef>
                <a:spcPts val="0"/>
              </a:spcBef>
              <a:spcAft>
                <a:spcPts val="0"/>
              </a:spcAft>
              <a:buSzPts val="1800"/>
              <a:buChar char="•"/>
            </a:pPr>
            <a:r>
              <a:rPr lang="en-US"/>
              <a:t>Convert data from one form to another if needed</a:t>
            </a:r>
            <a:endParaRPr/>
          </a:p>
          <a:p>
            <a:pPr indent="-406400" lvl="0" marL="457200" rtl="0" algn="l">
              <a:lnSpc>
                <a:spcPct val="90000"/>
              </a:lnSpc>
              <a:spcBef>
                <a:spcPts val="0"/>
              </a:spcBef>
              <a:spcAft>
                <a:spcPts val="0"/>
              </a:spcAft>
              <a:buSzPts val="2800"/>
              <a:buAutoNum type="arabicPeriod"/>
            </a:pPr>
            <a:r>
              <a:rPr lang="en-US"/>
              <a:t>Data Enhancing</a:t>
            </a:r>
            <a:endParaRPr/>
          </a:p>
          <a:p>
            <a:pPr indent="-342900" lvl="1" marL="914400" rtl="0" algn="l">
              <a:lnSpc>
                <a:spcPct val="90000"/>
              </a:lnSpc>
              <a:spcBef>
                <a:spcPts val="0"/>
              </a:spcBef>
              <a:spcAft>
                <a:spcPts val="0"/>
              </a:spcAft>
              <a:buSzPts val="1800"/>
              <a:buChar char="•"/>
            </a:pPr>
            <a:r>
              <a:rPr lang="en-US"/>
              <a:t>Identify the distinguishing  features of the data and highlight them</a:t>
            </a:r>
            <a:endParaRPr/>
          </a:p>
          <a:p>
            <a:pPr indent="-406400" lvl="0" marL="457200" rtl="0" algn="l">
              <a:lnSpc>
                <a:spcPct val="90000"/>
              </a:lnSpc>
              <a:spcBef>
                <a:spcPts val="0"/>
              </a:spcBef>
              <a:spcAft>
                <a:spcPts val="0"/>
              </a:spcAft>
              <a:buSzPts val="2800"/>
              <a:buAutoNum type="arabicPeriod"/>
            </a:pPr>
            <a:r>
              <a:rPr lang="en-US"/>
              <a:t>Data Analytics</a:t>
            </a:r>
            <a:endParaRPr/>
          </a:p>
          <a:p>
            <a:pPr indent="-342900" lvl="1" marL="914400" rtl="0" algn="l">
              <a:lnSpc>
                <a:spcPct val="90000"/>
              </a:lnSpc>
              <a:spcBef>
                <a:spcPts val="0"/>
              </a:spcBef>
              <a:spcAft>
                <a:spcPts val="0"/>
              </a:spcAft>
              <a:buSzPts val="1800"/>
              <a:buChar char="•"/>
            </a:pPr>
            <a:r>
              <a:rPr lang="en-US"/>
              <a:t>Model the data for presentation</a:t>
            </a:r>
            <a:endParaRPr/>
          </a:p>
          <a:p>
            <a:pPr indent="-342900" lvl="1" marL="914400" rtl="0" algn="l">
              <a:lnSpc>
                <a:spcPct val="90000"/>
              </a:lnSpc>
              <a:spcBef>
                <a:spcPts val="0"/>
              </a:spcBef>
              <a:spcAft>
                <a:spcPts val="0"/>
              </a:spcAft>
              <a:buSzPts val="1800"/>
              <a:buChar char="•"/>
            </a:pPr>
            <a:r>
              <a:rPr lang="en-US"/>
              <a:t>Interpret the data</a:t>
            </a:r>
            <a:endParaRPr/>
          </a:p>
          <a:p>
            <a:pPr indent="-406400" lvl="0" marL="457200" rtl="0" algn="l">
              <a:lnSpc>
                <a:spcPct val="90000"/>
              </a:lnSpc>
              <a:spcBef>
                <a:spcPts val="0"/>
              </a:spcBef>
              <a:spcAft>
                <a:spcPts val="0"/>
              </a:spcAft>
              <a:buSzPts val="2800"/>
              <a:buAutoNum type="arabicPeriod"/>
            </a:pPr>
            <a:r>
              <a:rPr lang="en-US"/>
              <a:t>Data Visualisation </a:t>
            </a:r>
            <a:endParaRPr/>
          </a:p>
          <a:p>
            <a:pPr indent="-342900" lvl="1" marL="914400" rtl="0" algn="l">
              <a:lnSpc>
                <a:spcPct val="90000"/>
              </a:lnSpc>
              <a:spcBef>
                <a:spcPts val="0"/>
              </a:spcBef>
              <a:spcAft>
                <a:spcPts val="0"/>
              </a:spcAft>
              <a:buSzPts val="1800"/>
              <a:buChar char="•"/>
            </a:pPr>
            <a:r>
              <a:rPr lang="en-US"/>
              <a:t>Present the data to the end user in the way (s)he will use to gain </a:t>
            </a:r>
            <a:endParaRPr/>
          </a:p>
        </p:txBody>
      </p:sp>
      <p:sp>
        <p:nvSpPr>
          <p:cNvPr id="360" name="Google Shape;36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361" name="Google Shape;36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145eb60f366_0_6"/>
          <p:cNvSpPr txBox="1"/>
          <p:nvPr>
            <p:ph type="title"/>
          </p:nvPr>
        </p:nvSpPr>
        <p:spPr>
          <a:xfrm>
            <a:off x="838200" y="365126"/>
            <a:ext cx="10515600" cy="631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rPr>
              <a:t>Data Analytics Lifecycle</a:t>
            </a:r>
            <a:endParaRPr/>
          </a:p>
        </p:txBody>
      </p:sp>
      <p:sp>
        <p:nvSpPr>
          <p:cNvPr id="367" name="Google Shape;367;g145eb60f366_0_6"/>
          <p:cNvSpPr txBox="1"/>
          <p:nvPr>
            <p:ph idx="1" type="body"/>
          </p:nvPr>
        </p:nvSpPr>
        <p:spPr>
          <a:xfrm>
            <a:off x="838200" y="1126972"/>
            <a:ext cx="10515600" cy="5229300"/>
          </a:xfrm>
          <a:prstGeom prst="rect">
            <a:avLst/>
          </a:prstGeom>
          <a:noFill/>
          <a:ln>
            <a:noFill/>
          </a:ln>
        </p:spPr>
        <p:txBody>
          <a:bodyPr anchorCtr="0" anchor="t" bIns="45700" lIns="91425" spcFirstLastPara="1" rIns="91425" wrap="square" tIns="45700">
            <a:noAutofit/>
          </a:bodyPr>
          <a:lstStyle/>
          <a:p>
            <a:pPr indent="-406400" lvl="0" marL="457200" rtl="0" algn="l">
              <a:lnSpc>
                <a:spcPct val="90000"/>
              </a:lnSpc>
              <a:spcBef>
                <a:spcPts val="0"/>
              </a:spcBef>
              <a:spcAft>
                <a:spcPts val="0"/>
              </a:spcAft>
              <a:buClr>
                <a:srgbClr val="1155CC"/>
              </a:buClr>
              <a:buSzPts val="2800"/>
              <a:buAutoNum type="arabicPeriod"/>
            </a:pPr>
            <a:r>
              <a:rPr b="1" lang="en-US" sz="2300">
                <a:solidFill>
                  <a:srgbClr val="1155CC"/>
                </a:solidFill>
                <a:latin typeface="Arial"/>
                <a:ea typeface="Arial"/>
                <a:cs typeface="Arial"/>
                <a:sym typeface="Arial"/>
              </a:rPr>
              <a:t>Data Discovery and Formation</a:t>
            </a:r>
            <a:endParaRPr b="1" sz="2300">
              <a:solidFill>
                <a:srgbClr val="1155CC"/>
              </a:solidFill>
              <a:latin typeface="Arial"/>
              <a:ea typeface="Arial"/>
              <a:cs typeface="Arial"/>
              <a:sym typeface="Arial"/>
            </a:endParaRPr>
          </a:p>
          <a:p>
            <a:pPr indent="-342900" lvl="1" marL="914400" rtl="0" algn="l">
              <a:lnSpc>
                <a:spcPct val="90000"/>
              </a:lnSpc>
              <a:spcBef>
                <a:spcPts val="0"/>
              </a:spcBef>
              <a:spcAft>
                <a:spcPts val="0"/>
              </a:spcAft>
              <a:buSzPts val="1800"/>
              <a:buFont typeface="Arial"/>
              <a:buChar char="○"/>
            </a:pPr>
            <a:r>
              <a:rPr lang="en-US" sz="2300">
                <a:latin typeface="Arial"/>
                <a:ea typeface="Arial"/>
                <a:cs typeface="Arial"/>
                <a:sym typeface="Arial"/>
              </a:rPr>
              <a:t>Identify data’s purpose and how to achieve it</a:t>
            </a:r>
            <a:endParaRPr sz="2300">
              <a:latin typeface="Arial"/>
              <a:ea typeface="Arial"/>
              <a:cs typeface="Arial"/>
              <a:sym typeface="Arial"/>
            </a:endParaRPr>
          </a:p>
          <a:p>
            <a:pPr indent="-342900" lvl="1" marL="914400" rtl="0" algn="l">
              <a:lnSpc>
                <a:spcPct val="90000"/>
              </a:lnSpc>
              <a:spcBef>
                <a:spcPts val="0"/>
              </a:spcBef>
              <a:spcAft>
                <a:spcPts val="0"/>
              </a:spcAft>
              <a:buSzPts val="1800"/>
              <a:buFont typeface="Arial"/>
              <a:buChar char="○"/>
            </a:pPr>
            <a:r>
              <a:rPr lang="en-US" sz="2300">
                <a:latin typeface="Arial"/>
                <a:ea typeface="Arial"/>
                <a:cs typeface="Arial"/>
                <a:sym typeface="Arial"/>
              </a:rPr>
              <a:t>Consists of mapping out the potential use and requirement of data,</a:t>
            </a:r>
            <a:endParaRPr sz="2300">
              <a:latin typeface="Arial"/>
              <a:ea typeface="Arial"/>
              <a:cs typeface="Arial"/>
              <a:sym typeface="Arial"/>
            </a:endParaRPr>
          </a:p>
          <a:p>
            <a:pPr indent="-342900" lvl="2" marL="1371600" rtl="0" algn="l">
              <a:lnSpc>
                <a:spcPct val="90000"/>
              </a:lnSpc>
              <a:spcBef>
                <a:spcPts val="0"/>
              </a:spcBef>
              <a:spcAft>
                <a:spcPts val="0"/>
              </a:spcAft>
              <a:buSzPts val="1800"/>
              <a:buFont typeface="Arial"/>
              <a:buChar char="■"/>
            </a:pPr>
            <a:r>
              <a:rPr lang="en-US" sz="2300">
                <a:latin typeface="Arial"/>
                <a:ea typeface="Arial"/>
                <a:cs typeface="Arial"/>
                <a:sym typeface="Arial"/>
              </a:rPr>
              <a:t>Source of information; Where the information is coming from</a:t>
            </a:r>
            <a:endParaRPr sz="2300">
              <a:latin typeface="Arial"/>
              <a:ea typeface="Arial"/>
              <a:cs typeface="Arial"/>
              <a:sym typeface="Arial"/>
            </a:endParaRPr>
          </a:p>
          <a:p>
            <a:pPr indent="-342900" lvl="2" marL="1371600" rtl="0" algn="l">
              <a:lnSpc>
                <a:spcPct val="90000"/>
              </a:lnSpc>
              <a:spcBef>
                <a:spcPts val="0"/>
              </a:spcBef>
              <a:spcAft>
                <a:spcPts val="0"/>
              </a:spcAft>
              <a:buSzPts val="1800"/>
              <a:buFont typeface="Arial"/>
              <a:buChar char="■"/>
            </a:pPr>
            <a:r>
              <a:rPr lang="en-US" sz="2300">
                <a:latin typeface="Arial"/>
                <a:ea typeface="Arial"/>
                <a:cs typeface="Arial"/>
                <a:sym typeface="Arial"/>
              </a:rPr>
              <a:t>What story you want your data to convey</a:t>
            </a:r>
            <a:endParaRPr sz="2300">
              <a:latin typeface="Arial"/>
              <a:ea typeface="Arial"/>
              <a:cs typeface="Arial"/>
              <a:sym typeface="Arial"/>
            </a:endParaRPr>
          </a:p>
          <a:p>
            <a:pPr indent="-342900" lvl="2" marL="1371600" rtl="0" algn="l">
              <a:lnSpc>
                <a:spcPct val="90000"/>
              </a:lnSpc>
              <a:spcBef>
                <a:spcPts val="0"/>
              </a:spcBef>
              <a:spcAft>
                <a:spcPts val="0"/>
              </a:spcAft>
              <a:buSzPts val="1800"/>
              <a:buFont typeface="Arial"/>
              <a:buChar char="■"/>
            </a:pPr>
            <a:r>
              <a:rPr lang="en-US" sz="2300">
                <a:latin typeface="Arial"/>
                <a:ea typeface="Arial"/>
                <a:cs typeface="Arial"/>
                <a:sym typeface="Arial"/>
              </a:rPr>
              <a:t>How your organization benefits from the incoming data</a:t>
            </a:r>
            <a:endParaRPr sz="2300">
              <a:latin typeface="Arial"/>
              <a:ea typeface="Arial"/>
              <a:cs typeface="Arial"/>
              <a:sym typeface="Arial"/>
            </a:endParaRPr>
          </a:p>
          <a:p>
            <a:pPr indent="-342900" lvl="2" marL="1371600" rtl="0" algn="l">
              <a:lnSpc>
                <a:spcPct val="90000"/>
              </a:lnSpc>
              <a:spcBef>
                <a:spcPts val="0"/>
              </a:spcBef>
              <a:spcAft>
                <a:spcPts val="0"/>
              </a:spcAft>
              <a:buSzPts val="1800"/>
              <a:buChar char="■"/>
            </a:pPr>
            <a:r>
              <a:rPr b="1" lang="en-US" sz="2300">
                <a:latin typeface="Arial"/>
                <a:ea typeface="Arial"/>
                <a:cs typeface="Arial"/>
                <a:sym typeface="Arial"/>
              </a:rPr>
              <a:t>Focus on enterprise requirements related to data, rather than data itself</a:t>
            </a:r>
            <a:endParaRPr b="1" sz="2300">
              <a:latin typeface="Arial"/>
              <a:ea typeface="Arial"/>
              <a:cs typeface="Arial"/>
              <a:sym typeface="Arial"/>
            </a:endParaRPr>
          </a:p>
          <a:p>
            <a:pPr indent="-342900" lvl="2" marL="1371600" rtl="0" algn="l">
              <a:lnSpc>
                <a:spcPct val="90000"/>
              </a:lnSpc>
              <a:spcBef>
                <a:spcPts val="0"/>
              </a:spcBef>
              <a:spcAft>
                <a:spcPts val="0"/>
              </a:spcAft>
              <a:buSzPts val="1800"/>
              <a:buFont typeface="Arial"/>
              <a:buChar char="■"/>
            </a:pPr>
            <a:r>
              <a:rPr b="1" lang="en-US" sz="2300">
                <a:latin typeface="Arial"/>
                <a:ea typeface="Arial"/>
                <a:cs typeface="Arial"/>
                <a:sym typeface="Arial"/>
              </a:rPr>
              <a:t>Assessing the tools and systems that are necessary to read, organize, and process all the incoming data.</a:t>
            </a:r>
            <a:endParaRPr b="1" sz="2300">
              <a:latin typeface="Arial"/>
              <a:ea typeface="Arial"/>
              <a:cs typeface="Arial"/>
              <a:sym typeface="Arial"/>
            </a:endParaRPr>
          </a:p>
          <a:p>
            <a:pPr indent="-342900" lvl="2" marL="1371600" rtl="0" algn="l">
              <a:lnSpc>
                <a:spcPct val="90000"/>
              </a:lnSpc>
              <a:spcBef>
                <a:spcPts val="0"/>
              </a:spcBef>
              <a:spcAft>
                <a:spcPts val="0"/>
              </a:spcAft>
              <a:buSzPts val="1800"/>
              <a:buChar char="■"/>
            </a:pPr>
            <a:r>
              <a:rPr lang="en-US" sz="2300">
                <a:latin typeface="Arial"/>
                <a:ea typeface="Arial"/>
                <a:cs typeface="Arial"/>
                <a:sym typeface="Arial"/>
              </a:rPr>
              <a:t>The data science team learn and investigate the problem.</a:t>
            </a:r>
            <a:endParaRPr sz="2300">
              <a:latin typeface="Arial"/>
              <a:ea typeface="Arial"/>
              <a:cs typeface="Arial"/>
              <a:sym typeface="Arial"/>
            </a:endParaRPr>
          </a:p>
          <a:p>
            <a:pPr indent="-342900" lvl="2" marL="1371600" rtl="0" algn="l">
              <a:lnSpc>
                <a:spcPct val="90000"/>
              </a:lnSpc>
              <a:spcBef>
                <a:spcPts val="0"/>
              </a:spcBef>
              <a:spcAft>
                <a:spcPts val="0"/>
              </a:spcAft>
              <a:buSzPts val="1800"/>
              <a:buChar char="■"/>
            </a:pPr>
            <a:r>
              <a:rPr lang="en-US" sz="2300">
                <a:latin typeface="Arial"/>
                <a:ea typeface="Arial"/>
                <a:cs typeface="Arial"/>
                <a:sym typeface="Arial"/>
              </a:rPr>
              <a:t>Develop context and understanding.</a:t>
            </a:r>
            <a:endParaRPr sz="2300">
              <a:latin typeface="Arial"/>
              <a:ea typeface="Arial"/>
              <a:cs typeface="Arial"/>
              <a:sym typeface="Arial"/>
            </a:endParaRPr>
          </a:p>
          <a:p>
            <a:pPr indent="-342900" lvl="2" marL="1371600" rtl="0" algn="l">
              <a:lnSpc>
                <a:spcPct val="90000"/>
              </a:lnSpc>
              <a:spcBef>
                <a:spcPts val="0"/>
              </a:spcBef>
              <a:spcAft>
                <a:spcPts val="0"/>
              </a:spcAft>
              <a:buSzPts val="1800"/>
              <a:buChar char="■"/>
            </a:pPr>
            <a:r>
              <a:rPr lang="en-US" sz="2300">
                <a:latin typeface="Arial"/>
                <a:ea typeface="Arial"/>
                <a:cs typeface="Arial"/>
                <a:sym typeface="Arial"/>
              </a:rPr>
              <a:t>Come to know about data sources needed and available for the project.</a:t>
            </a:r>
            <a:endParaRPr sz="2300">
              <a:latin typeface="Arial"/>
              <a:ea typeface="Arial"/>
              <a:cs typeface="Arial"/>
              <a:sym typeface="Arial"/>
            </a:endParaRPr>
          </a:p>
          <a:p>
            <a:pPr indent="-342900" lvl="2" marL="1371600" rtl="0" algn="l">
              <a:lnSpc>
                <a:spcPct val="90000"/>
              </a:lnSpc>
              <a:spcBef>
                <a:spcPts val="0"/>
              </a:spcBef>
              <a:spcAft>
                <a:spcPts val="0"/>
              </a:spcAft>
              <a:buSzPts val="1800"/>
              <a:buChar char="■"/>
            </a:pPr>
            <a:r>
              <a:rPr lang="en-US" sz="2300">
                <a:latin typeface="Arial"/>
                <a:ea typeface="Arial"/>
                <a:cs typeface="Arial"/>
                <a:sym typeface="Arial"/>
              </a:rPr>
              <a:t>The team formulates initial hypothesis that can be later tested with data</a:t>
            </a:r>
            <a:endParaRPr sz="2300"/>
          </a:p>
        </p:txBody>
      </p:sp>
      <p:sp>
        <p:nvSpPr>
          <p:cNvPr id="368" name="Google Shape;368;g145eb60f366_0_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369" name="Google Shape;369;g145eb60f366_0_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145eb60f366_0_14"/>
          <p:cNvSpPr txBox="1"/>
          <p:nvPr>
            <p:ph type="title"/>
          </p:nvPr>
        </p:nvSpPr>
        <p:spPr>
          <a:xfrm>
            <a:off x="838200" y="365126"/>
            <a:ext cx="10515600" cy="631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rPr>
              <a:t>Data Analytics Lifecycle</a:t>
            </a:r>
            <a:endParaRPr/>
          </a:p>
        </p:txBody>
      </p:sp>
      <p:sp>
        <p:nvSpPr>
          <p:cNvPr id="375" name="Google Shape;375;g145eb60f366_0_14"/>
          <p:cNvSpPr txBox="1"/>
          <p:nvPr>
            <p:ph idx="1" type="body"/>
          </p:nvPr>
        </p:nvSpPr>
        <p:spPr>
          <a:xfrm>
            <a:off x="838200" y="1126972"/>
            <a:ext cx="10515600" cy="5229300"/>
          </a:xfrm>
          <a:prstGeom prst="rect">
            <a:avLst/>
          </a:prstGeom>
          <a:noFill/>
          <a:ln>
            <a:noFill/>
          </a:ln>
        </p:spPr>
        <p:txBody>
          <a:bodyPr anchorCtr="0" anchor="t" bIns="45700" lIns="91425" spcFirstLastPara="1" rIns="91425" wrap="square" tIns="45700">
            <a:normAutofit lnSpcReduction="10000"/>
          </a:bodyPr>
          <a:lstStyle/>
          <a:p>
            <a:pPr indent="-406400" lvl="0" marL="457200" rtl="0" algn="l">
              <a:lnSpc>
                <a:spcPct val="90000"/>
              </a:lnSpc>
              <a:spcBef>
                <a:spcPts val="0"/>
              </a:spcBef>
              <a:spcAft>
                <a:spcPts val="0"/>
              </a:spcAft>
              <a:buClr>
                <a:srgbClr val="2E75B5"/>
              </a:buClr>
              <a:buSzPts val="2800"/>
              <a:buAutoNum type="arabicPeriod"/>
            </a:pPr>
            <a:r>
              <a:rPr b="1" lang="en-US">
                <a:solidFill>
                  <a:srgbClr val="BFBFBF"/>
                </a:solidFill>
                <a:latin typeface="Arial"/>
                <a:ea typeface="Arial"/>
                <a:cs typeface="Arial"/>
                <a:sym typeface="Arial"/>
              </a:rPr>
              <a:t>Data Discovery and Formation</a:t>
            </a:r>
            <a:endParaRPr>
              <a:solidFill>
                <a:srgbClr val="BFBFBF"/>
              </a:solidFill>
              <a:latin typeface="Arial"/>
              <a:ea typeface="Arial"/>
              <a:cs typeface="Arial"/>
              <a:sym typeface="Arial"/>
            </a:endParaRPr>
          </a:p>
          <a:p>
            <a:pPr indent="-406400" lvl="0" marL="457200" rtl="0" algn="l">
              <a:lnSpc>
                <a:spcPct val="90000"/>
              </a:lnSpc>
              <a:spcBef>
                <a:spcPts val="0"/>
              </a:spcBef>
              <a:spcAft>
                <a:spcPts val="0"/>
              </a:spcAft>
              <a:buClr>
                <a:schemeClr val="accent1"/>
              </a:buClr>
              <a:buSzPts val="2800"/>
              <a:buAutoNum type="arabicPeriod"/>
            </a:pPr>
            <a:r>
              <a:rPr b="1" lang="en-US">
                <a:solidFill>
                  <a:schemeClr val="accent1"/>
                </a:solidFill>
              </a:rPr>
              <a:t>Data Preparation </a:t>
            </a:r>
            <a:endParaRPr b="1">
              <a:solidFill>
                <a:schemeClr val="accent1"/>
              </a:solidFill>
            </a:endParaRPr>
          </a:p>
          <a:p>
            <a:pPr indent="-342900" lvl="1" marL="914400" rtl="0" algn="l">
              <a:lnSpc>
                <a:spcPct val="90000"/>
              </a:lnSpc>
              <a:spcBef>
                <a:spcPts val="0"/>
              </a:spcBef>
              <a:spcAft>
                <a:spcPts val="0"/>
              </a:spcAft>
              <a:buSzPts val="1800"/>
              <a:buChar char="•"/>
            </a:pPr>
            <a:r>
              <a:rPr lang="en-US"/>
              <a:t>Steps to explore, preprocess, and condition data prior to modeling and analysis.</a:t>
            </a:r>
            <a:endParaRPr/>
          </a:p>
          <a:p>
            <a:pPr indent="-342900" lvl="1" marL="914400" rtl="0" algn="l">
              <a:lnSpc>
                <a:spcPct val="90000"/>
              </a:lnSpc>
              <a:spcBef>
                <a:spcPts val="0"/>
              </a:spcBef>
              <a:spcAft>
                <a:spcPts val="0"/>
              </a:spcAft>
              <a:buSzPts val="1800"/>
              <a:buChar char="•"/>
            </a:pPr>
            <a:r>
              <a:rPr lang="en-US"/>
              <a:t>Execute, load, and transform the data </a:t>
            </a:r>
            <a:endParaRPr/>
          </a:p>
          <a:p>
            <a:pPr indent="-342900" lvl="1" marL="914400" rtl="0" algn="l">
              <a:lnSpc>
                <a:spcPct val="90000"/>
              </a:lnSpc>
              <a:spcBef>
                <a:spcPts val="0"/>
              </a:spcBef>
              <a:spcAft>
                <a:spcPts val="0"/>
              </a:spcAft>
              <a:buSzPts val="1800"/>
              <a:buChar char="•"/>
            </a:pPr>
            <a:r>
              <a:rPr lang="en-US"/>
              <a:t>Tasks could be performed multiple times and not in predefined order</a:t>
            </a:r>
            <a:endParaRPr/>
          </a:p>
          <a:p>
            <a:pPr indent="-342900" lvl="1" marL="914400" rtl="0" algn="l">
              <a:lnSpc>
                <a:spcPct val="90000"/>
              </a:lnSpc>
              <a:spcBef>
                <a:spcPts val="0"/>
              </a:spcBef>
              <a:spcAft>
                <a:spcPts val="0"/>
              </a:spcAft>
              <a:buSzPts val="1800"/>
              <a:buChar char="•"/>
            </a:pPr>
            <a:r>
              <a:rPr lang="en-US"/>
              <a:t>Several tools commonly used for this phase are – Hadoop, Alpine Miner, Open Refine, etc.</a:t>
            </a:r>
            <a:endParaRPr/>
          </a:p>
          <a:p>
            <a:pPr indent="-406400" lvl="0" marL="457200" rtl="0" algn="l">
              <a:lnSpc>
                <a:spcPct val="90000"/>
              </a:lnSpc>
              <a:spcBef>
                <a:spcPts val="0"/>
              </a:spcBef>
              <a:spcAft>
                <a:spcPts val="0"/>
              </a:spcAft>
              <a:buClr>
                <a:schemeClr val="accent1"/>
              </a:buClr>
              <a:buSzPts val="2800"/>
              <a:buAutoNum type="arabicPeriod"/>
            </a:pPr>
            <a:r>
              <a:rPr b="1" lang="en-US">
                <a:solidFill>
                  <a:schemeClr val="accent1"/>
                </a:solidFill>
              </a:rPr>
              <a:t>Model Planning </a:t>
            </a:r>
            <a:endParaRPr b="1">
              <a:solidFill>
                <a:schemeClr val="accent1"/>
              </a:solidFill>
            </a:endParaRPr>
          </a:p>
          <a:p>
            <a:pPr indent="-342900" lvl="1" marL="914400" rtl="0" algn="l">
              <a:lnSpc>
                <a:spcPct val="90000"/>
              </a:lnSpc>
              <a:spcBef>
                <a:spcPts val="0"/>
              </a:spcBef>
              <a:spcAft>
                <a:spcPts val="0"/>
              </a:spcAft>
              <a:buSzPts val="1800"/>
              <a:buChar char="•"/>
            </a:pPr>
            <a:r>
              <a:rPr lang="en-US"/>
              <a:t>Data is explored to learn about relationships between variables and subsequently, selects key variables and the most suitable models.</a:t>
            </a:r>
            <a:endParaRPr/>
          </a:p>
          <a:p>
            <a:pPr indent="-342900" lvl="1" marL="914400" rtl="0" algn="l">
              <a:lnSpc>
                <a:spcPct val="90000"/>
              </a:lnSpc>
              <a:spcBef>
                <a:spcPts val="0"/>
              </a:spcBef>
              <a:spcAft>
                <a:spcPts val="0"/>
              </a:spcAft>
              <a:buSzPts val="1800"/>
              <a:buChar char="•"/>
            </a:pPr>
            <a:r>
              <a:rPr lang="en-US"/>
              <a:t>Data science team develop data sets for training, testing, and production purposes</a:t>
            </a:r>
            <a:endParaRPr/>
          </a:p>
          <a:p>
            <a:pPr indent="-342900" lvl="1" marL="914400" rtl="0" algn="l">
              <a:lnSpc>
                <a:spcPct val="90000"/>
              </a:lnSpc>
              <a:spcBef>
                <a:spcPts val="0"/>
              </a:spcBef>
              <a:spcAft>
                <a:spcPts val="0"/>
              </a:spcAft>
              <a:buSzPts val="1800"/>
              <a:buChar char="•"/>
            </a:pPr>
            <a:r>
              <a:rPr lang="en-US"/>
              <a:t>Team builds and executes models based on the work done in the model planning phase.</a:t>
            </a:r>
            <a:endParaRPr/>
          </a:p>
          <a:p>
            <a:pPr indent="-342900" lvl="1" marL="914400" rtl="0" algn="l">
              <a:lnSpc>
                <a:spcPct val="90000"/>
              </a:lnSpc>
              <a:spcBef>
                <a:spcPts val="0"/>
              </a:spcBef>
              <a:spcAft>
                <a:spcPts val="0"/>
              </a:spcAft>
              <a:buSzPts val="1800"/>
              <a:buChar char="•"/>
            </a:pPr>
            <a:r>
              <a:rPr lang="en-US"/>
              <a:t>Several tools commonly used for this phase are – Matlab, STASTICA.</a:t>
            </a:r>
            <a:endParaRPr/>
          </a:p>
          <a:p>
            <a:pPr indent="0" lvl="0" marL="0" rtl="0" algn="l">
              <a:lnSpc>
                <a:spcPct val="90000"/>
              </a:lnSpc>
              <a:spcBef>
                <a:spcPts val="0"/>
              </a:spcBef>
              <a:spcAft>
                <a:spcPts val="0"/>
              </a:spcAft>
              <a:buSzPts val="1800"/>
              <a:buNone/>
            </a:pPr>
            <a:r>
              <a:t/>
            </a:r>
            <a:endParaRPr/>
          </a:p>
        </p:txBody>
      </p:sp>
      <p:sp>
        <p:nvSpPr>
          <p:cNvPr id="376" name="Google Shape;376;g145eb60f366_0_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377" name="Google Shape;377;g145eb60f366_0_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145aa5eecfc_0_18"/>
          <p:cNvSpPr txBox="1"/>
          <p:nvPr>
            <p:ph type="title"/>
          </p:nvPr>
        </p:nvSpPr>
        <p:spPr>
          <a:xfrm>
            <a:off x="838200" y="365126"/>
            <a:ext cx="10515600" cy="631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rPr>
              <a:t>Data Analytics Lifecycle</a:t>
            </a:r>
            <a:endParaRPr/>
          </a:p>
        </p:txBody>
      </p:sp>
      <p:sp>
        <p:nvSpPr>
          <p:cNvPr id="383" name="Google Shape;383;g145aa5eecfc_0_18"/>
          <p:cNvSpPr txBox="1"/>
          <p:nvPr>
            <p:ph idx="1" type="body"/>
          </p:nvPr>
        </p:nvSpPr>
        <p:spPr>
          <a:xfrm>
            <a:off x="838200" y="1126972"/>
            <a:ext cx="10515600" cy="5229300"/>
          </a:xfrm>
          <a:prstGeom prst="rect">
            <a:avLst/>
          </a:prstGeom>
          <a:noFill/>
          <a:ln>
            <a:noFill/>
          </a:ln>
        </p:spPr>
        <p:txBody>
          <a:bodyPr anchorCtr="0" anchor="t" bIns="45700" lIns="91425" spcFirstLastPara="1" rIns="91425" wrap="square" tIns="45700">
            <a:normAutofit fontScale="92500"/>
          </a:bodyPr>
          <a:lstStyle/>
          <a:p>
            <a:pPr indent="-406400" lvl="0" marL="457200" rtl="0" algn="l">
              <a:lnSpc>
                <a:spcPct val="90000"/>
              </a:lnSpc>
              <a:spcBef>
                <a:spcPts val="0"/>
              </a:spcBef>
              <a:spcAft>
                <a:spcPts val="0"/>
              </a:spcAft>
              <a:buClr>
                <a:srgbClr val="2E75B5"/>
              </a:buClr>
              <a:buSzPct val="108108"/>
              <a:buAutoNum type="arabicPeriod"/>
            </a:pPr>
            <a:r>
              <a:rPr b="1" lang="en-US">
                <a:solidFill>
                  <a:srgbClr val="A5A5A5"/>
                </a:solidFill>
                <a:latin typeface="Arial"/>
                <a:ea typeface="Arial"/>
                <a:cs typeface="Arial"/>
                <a:sym typeface="Arial"/>
              </a:rPr>
              <a:t>Data Discovery and Formation</a:t>
            </a:r>
            <a:endParaRPr>
              <a:solidFill>
                <a:srgbClr val="A5A5A5"/>
              </a:solidFill>
              <a:latin typeface="Arial"/>
              <a:ea typeface="Arial"/>
              <a:cs typeface="Arial"/>
              <a:sym typeface="Arial"/>
            </a:endParaRPr>
          </a:p>
          <a:p>
            <a:pPr indent="-406400" lvl="0" marL="457200" rtl="0" algn="l">
              <a:lnSpc>
                <a:spcPct val="90000"/>
              </a:lnSpc>
              <a:spcBef>
                <a:spcPts val="0"/>
              </a:spcBef>
              <a:spcAft>
                <a:spcPts val="0"/>
              </a:spcAft>
              <a:buClr>
                <a:srgbClr val="2E75B5"/>
              </a:buClr>
              <a:buSzPct val="108108"/>
              <a:buAutoNum type="arabicPeriod"/>
            </a:pPr>
            <a:r>
              <a:rPr b="1" lang="en-US">
                <a:solidFill>
                  <a:srgbClr val="A5A5A5"/>
                </a:solidFill>
              </a:rPr>
              <a:t>Data Preparation </a:t>
            </a:r>
            <a:endParaRPr>
              <a:solidFill>
                <a:srgbClr val="A5A5A5"/>
              </a:solidFill>
            </a:endParaRPr>
          </a:p>
          <a:p>
            <a:pPr indent="-406400" lvl="0" marL="457200" rtl="0" algn="l">
              <a:lnSpc>
                <a:spcPct val="90000"/>
              </a:lnSpc>
              <a:spcBef>
                <a:spcPts val="0"/>
              </a:spcBef>
              <a:spcAft>
                <a:spcPts val="0"/>
              </a:spcAft>
              <a:buClr>
                <a:srgbClr val="2E75B5"/>
              </a:buClr>
              <a:buSzPct val="108108"/>
              <a:buAutoNum type="arabicPeriod"/>
            </a:pPr>
            <a:r>
              <a:rPr b="1" lang="en-US">
                <a:solidFill>
                  <a:srgbClr val="A5A5A5"/>
                </a:solidFill>
              </a:rPr>
              <a:t>Model Planning </a:t>
            </a:r>
            <a:endParaRPr>
              <a:solidFill>
                <a:srgbClr val="A5A5A5"/>
              </a:solidFill>
            </a:endParaRPr>
          </a:p>
          <a:p>
            <a:pPr indent="-406400" lvl="0" marL="457200" rtl="0" algn="l">
              <a:lnSpc>
                <a:spcPct val="90000"/>
              </a:lnSpc>
              <a:spcBef>
                <a:spcPts val="0"/>
              </a:spcBef>
              <a:spcAft>
                <a:spcPts val="0"/>
              </a:spcAft>
              <a:buClr>
                <a:schemeClr val="accent1"/>
              </a:buClr>
              <a:buSzPct val="108108"/>
              <a:buAutoNum type="arabicPeriod"/>
            </a:pPr>
            <a:r>
              <a:rPr b="1" lang="en-US">
                <a:solidFill>
                  <a:schemeClr val="accent1"/>
                </a:solidFill>
              </a:rPr>
              <a:t>Model Building </a:t>
            </a:r>
            <a:endParaRPr b="1">
              <a:solidFill>
                <a:schemeClr val="accent1"/>
              </a:solidFill>
            </a:endParaRPr>
          </a:p>
          <a:p>
            <a:pPr indent="-342900" lvl="1" marL="914400" rtl="0" algn="l">
              <a:lnSpc>
                <a:spcPct val="90000"/>
              </a:lnSpc>
              <a:spcBef>
                <a:spcPts val="0"/>
              </a:spcBef>
              <a:spcAft>
                <a:spcPts val="0"/>
              </a:spcAft>
              <a:buSzPct val="81081"/>
              <a:buChar char="•"/>
            </a:pPr>
            <a:r>
              <a:rPr lang="en-US"/>
              <a:t>Team develops datasets for testing, training, and production purposes.</a:t>
            </a:r>
            <a:endParaRPr/>
          </a:p>
          <a:p>
            <a:pPr indent="-342900" lvl="1" marL="914400" rtl="0" algn="l">
              <a:lnSpc>
                <a:spcPct val="90000"/>
              </a:lnSpc>
              <a:spcBef>
                <a:spcPts val="0"/>
              </a:spcBef>
              <a:spcAft>
                <a:spcPts val="0"/>
              </a:spcAft>
              <a:buSzPct val="81081"/>
              <a:buChar char="•"/>
            </a:pPr>
            <a:r>
              <a:rPr lang="en-US"/>
              <a:t>Team also considers whether its existing tools will suffice for running the models or if they need more robust environment for executing models.</a:t>
            </a:r>
            <a:endParaRPr/>
          </a:p>
          <a:p>
            <a:pPr indent="-342900" lvl="1" marL="914400" rtl="0" algn="l">
              <a:lnSpc>
                <a:spcPct val="90000"/>
              </a:lnSpc>
              <a:spcBef>
                <a:spcPts val="0"/>
              </a:spcBef>
              <a:spcAft>
                <a:spcPts val="0"/>
              </a:spcAft>
              <a:buSzPct val="81081"/>
              <a:buChar char="•"/>
            </a:pPr>
            <a:r>
              <a:rPr lang="en-US"/>
              <a:t>Free or open-source tools – Rand PL/R, Octave, WEKA.</a:t>
            </a:r>
            <a:endParaRPr/>
          </a:p>
          <a:p>
            <a:pPr indent="-342900" lvl="1" marL="914400" rtl="0" algn="l">
              <a:lnSpc>
                <a:spcPct val="90000"/>
              </a:lnSpc>
              <a:spcBef>
                <a:spcPts val="0"/>
              </a:spcBef>
              <a:spcAft>
                <a:spcPts val="0"/>
              </a:spcAft>
              <a:buSzPct val="81081"/>
              <a:buChar char="•"/>
            </a:pPr>
            <a:r>
              <a:rPr lang="en-US"/>
              <a:t>Commercial tools – Matlab , STASTICA.</a:t>
            </a:r>
            <a:endParaRPr/>
          </a:p>
          <a:p>
            <a:pPr indent="-406400" lvl="0" marL="457200" rtl="0" algn="l">
              <a:lnSpc>
                <a:spcPct val="90000"/>
              </a:lnSpc>
              <a:spcBef>
                <a:spcPts val="0"/>
              </a:spcBef>
              <a:spcAft>
                <a:spcPts val="0"/>
              </a:spcAft>
              <a:buClr>
                <a:schemeClr val="accent1"/>
              </a:buClr>
              <a:buSzPct val="108108"/>
              <a:buAutoNum type="arabicPeriod"/>
            </a:pPr>
            <a:r>
              <a:rPr b="1" lang="en-US">
                <a:solidFill>
                  <a:schemeClr val="accent1"/>
                </a:solidFill>
              </a:rPr>
              <a:t>Communication of Results</a:t>
            </a:r>
            <a:endParaRPr b="1">
              <a:solidFill>
                <a:schemeClr val="accent1"/>
              </a:solidFill>
            </a:endParaRPr>
          </a:p>
          <a:p>
            <a:pPr indent="-342900" lvl="1" marL="914400" rtl="0" algn="l">
              <a:lnSpc>
                <a:spcPct val="90000"/>
              </a:lnSpc>
              <a:spcBef>
                <a:spcPts val="0"/>
              </a:spcBef>
              <a:spcAft>
                <a:spcPts val="0"/>
              </a:spcAft>
              <a:buSzPct val="81081"/>
              <a:buChar char="•"/>
            </a:pPr>
            <a:r>
              <a:rPr lang="en-US"/>
              <a:t>After executing model team need to compare outcomes of modeling to criteria established for success and failure.</a:t>
            </a:r>
            <a:endParaRPr/>
          </a:p>
          <a:p>
            <a:pPr indent="-342900" lvl="1" marL="914400" rtl="0" algn="l">
              <a:lnSpc>
                <a:spcPct val="90000"/>
              </a:lnSpc>
              <a:spcBef>
                <a:spcPts val="0"/>
              </a:spcBef>
              <a:spcAft>
                <a:spcPts val="0"/>
              </a:spcAft>
              <a:buSzPct val="81081"/>
              <a:buChar char="•"/>
            </a:pPr>
            <a:r>
              <a:rPr lang="en-US"/>
              <a:t>Team considers how best to articulate findings and outcomes to various team members and stakeholders, taking into account warning, assumptions.</a:t>
            </a:r>
            <a:endParaRPr/>
          </a:p>
          <a:p>
            <a:pPr indent="-342900" lvl="1" marL="914400" rtl="0" algn="l">
              <a:lnSpc>
                <a:spcPct val="90000"/>
              </a:lnSpc>
              <a:spcBef>
                <a:spcPts val="0"/>
              </a:spcBef>
              <a:spcAft>
                <a:spcPts val="0"/>
              </a:spcAft>
              <a:buSzPct val="81081"/>
              <a:buChar char="•"/>
            </a:pPr>
            <a:r>
              <a:rPr lang="en-US"/>
              <a:t>Team should identify key findings, quantify business value, and develop narrative to summarize and convey findings to stakeholders.</a:t>
            </a:r>
            <a:endParaRPr/>
          </a:p>
          <a:p>
            <a:pPr indent="0" lvl="0" marL="457200" rtl="0" algn="l">
              <a:lnSpc>
                <a:spcPct val="90000"/>
              </a:lnSpc>
              <a:spcBef>
                <a:spcPts val="0"/>
              </a:spcBef>
              <a:spcAft>
                <a:spcPts val="0"/>
              </a:spcAft>
              <a:buSzPct val="69498"/>
              <a:buNone/>
            </a:pPr>
            <a:r>
              <a:t/>
            </a:r>
            <a:endParaRPr/>
          </a:p>
        </p:txBody>
      </p:sp>
      <p:sp>
        <p:nvSpPr>
          <p:cNvPr id="384" name="Google Shape;384;g145aa5eecfc_0_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385" name="Google Shape;385;g145aa5eecfc_0_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145aa5eecfc_0_25"/>
          <p:cNvSpPr txBox="1"/>
          <p:nvPr>
            <p:ph type="title"/>
          </p:nvPr>
        </p:nvSpPr>
        <p:spPr>
          <a:xfrm>
            <a:off x="838200" y="365126"/>
            <a:ext cx="10515600" cy="631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rPr>
              <a:t>Data Analytics Lifecycle</a:t>
            </a:r>
            <a:endParaRPr/>
          </a:p>
        </p:txBody>
      </p:sp>
      <p:sp>
        <p:nvSpPr>
          <p:cNvPr id="391" name="Google Shape;391;g145aa5eecfc_0_25"/>
          <p:cNvSpPr txBox="1"/>
          <p:nvPr>
            <p:ph idx="1" type="body"/>
          </p:nvPr>
        </p:nvSpPr>
        <p:spPr>
          <a:xfrm>
            <a:off x="838200" y="1126972"/>
            <a:ext cx="10515600" cy="5229300"/>
          </a:xfrm>
          <a:prstGeom prst="rect">
            <a:avLst/>
          </a:prstGeom>
          <a:noFill/>
          <a:ln>
            <a:noFill/>
          </a:ln>
        </p:spPr>
        <p:txBody>
          <a:bodyPr anchorCtr="0" anchor="t" bIns="45700" lIns="91425" spcFirstLastPara="1" rIns="91425" wrap="square" tIns="45700">
            <a:normAutofit/>
          </a:bodyPr>
          <a:lstStyle/>
          <a:p>
            <a:pPr indent="-406400" lvl="0" marL="457200" rtl="0" algn="l">
              <a:lnSpc>
                <a:spcPct val="90000"/>
              </a:lnSpc>
              <a:spcBef>
                <a:spcPts val="0"/>
              </a:spcBef>
              <a:spcAft>
                <a:spcPts val="0"/>
              </a:spcAft>
              <a:buClr>
                <a:srgbClr val="2F5496"/>
              </a:buClr>
              <a:buSzPts val="2800"/>
              <a:buAutoNum type="arabicPeriod"/>
            </a:pPr>
            <a:r>
              <a:rPr b="1" lang="en-US">
                <a:solidFill>
                  <a:srgbClr val="BFBFBF"/>
                </a:solidFill>
                <a:latin typeface="Arial"/>
                <a:ea typeface="Arial"/>
                <a:cs typeface="Arial"/>
                <a:sym typeface="Arial"/>
              </a:rPr>
              <a:t>Data Discovery and Formation</a:t>
            </a:r>
            <a:endParaRPr>
              <a:solidFill>
                <a:srgbClr val="BFBFBF"/>
              </a:solidFill>
              <a:latin typeface="Arial"/>
              <a:ea typeface="Arial"/>
              <a:cs typeface="Arial"/>
              <a:sym typeface="Arial"/>
            </a:endParaRPr>
          </a:p>
          <a:p>
            <a:pPr indent="-406400" lvl="0" marL="457200" rtl="0" algn="l">
              <a:lnSpc>
                <a:spcPct val="90000"/>
              </a:lnSpc>
              <a:spcBef>
                <a:spcPts val="0"/>
              </a:spcBef>
              <a:spcAft>
                <a:spcPts val="0"/>
              </a:spcAft>
              <a:buClr>
                <a:srgbClr val="2F5496"/>
              </a:buClr>
              <a:buSzPts val="2800"/>
              <a:buAutoNum type="arabicPeriod"/>
            </a:pPr>
            <a:r>
              <a:rPr b="1" lang="en-US">
                <a:solidFill>
                  <a:srgbClr val="BFBFBF"/>
                </a:solidFill>
              </a:rPr>
              <a:t>Data Preparation </a:t>
            </a:r>
            <a:endParaRPr>
              <a:solidFill>
                <a:srgbClr val="BFBFBF"/>
              </a:solidFill>
            </a:endParaRPr>
          </a:p>
          <a:p>
            <a:pPr indent="-406400" lvl="0" marL="457200" rtl="0" algn="l">
              <a:lnSpc>
                <a:spcPct val="90000"/>
              </a:lnSpc>
              <a:spcBef>
                <a:spcPts val="0"/>
              </a:spcBef>
              <a:spcAft>
                <a:spcPts val="0"/>
              </a:spcAft>
              <a:buClr>
                <a:srgbClr val="2F5496"/>
              </a:buClr>
              <a:buSzPts val="2800"/>
              <a:buAutoNum type="arabicPeriod"/>
            </a:pPr>
            <a:r>
              <a:rPr b="1" lang="en-US">
                <a:solidFill>
                  <a:srgbClr val="BFBFBF"/>
                </a:solidFill>
              </a:rPr>
              <a:t>Model Planning </a:t>
            </a:r>
            <a:endParaRPr>
              <a:solidFill>
                <a:srgbClr val="BFBFBF"/>
              </a:solidFill>
            </a:endParaRPr>
          </a:p>
          <a:p>
            <a:pPr indent="-406400" lvl="0" marL="457200" rtl="0" algn="l">
              <a:lnSpc>
                <a:spcPct val="90000"/>
              </a:lnSpc>
              <a:spcBef>
                <a:spcPts val="0"/>
              </a:spcBef>
              <a:spcAft>
                <a:spcPts val="0"/>
              </a:spcAft>
              <a:buClr>
                <a:schemeClr val="accent1"/>
              </a:buClr>
              <a:buSzPts val="2800"/>
              <a:buAutoNum type="arabicPeriod"/>
            </a:pPr>
            <a:r>
              <a:rPr b="1" lang="en-US">
                <a:solidFill>
                  <a:srgbClr val="BFBFBF"/>
                </a:solidFill>
              </a:rPr>
              <a:t>Model Building </a:t>
            </a:r>
            <a:endParaRPr b="1">
              <a:solidFill>
                <a:srgbClr val="BFBFBF"/>
              </a:solidFill>
            </a:endParaRPr>
          </a:p>
          <a:p>
            <a:pPr indent="-406400" lvl="0" marL="457200" rtl="0" algn="l">
              <a:lnSpc>
                <a:spcPct val="90000"/>
              </a:lnSpc>
              <a:spcBef>
                <a:spcPts val="0"/>
              </a:spcBef>
              <a:spcAft>
                <a:spcPts val="0"/>
              </a:spcAft>
              <a:buClr>
                <a:schemeClr val="accent1"/>
              </a:buClr>
              <a:buSzPts val="2800"/>
              <a:buAutoNum type="arabicPeriod"/>
            </a:pPr>
            <a:r>
              <a:rPr b="1" lang="en-US">
                <a:solidFill>
                  <a:srgbClr val="BFBFBF"/>
                </a:solidFill>
              </a:rPr>
              <a:t>Communication of Results</a:t>
            </a:r>
            <a:endParaRPr b="1">
              <a:solidFill>
                <a:srgbClr val="BFBFBF"/>
              </a:solidFill>
            </a:endParaRPr>
          </a:p>
          <a:p>
            <a:pPr indent="-406400" lvl="0" marL="457200" rtl="0" algn="l">
              <a:lnSpc>
                <a:spcPct val="90000"/>
              </a:lnSpc>
              <a:spcBef>
                <a:spcPts val="0"/>
              </a:spcBef>
              <a:spcAft>
                <a:spcPts val="0"/>
              </a:spcAft>
              <a:buClr>
                <a:schemeClr val="accent1"/>
              </a:buClr>
              <a:buSzPts val="2800"/>
              <a:buAutoNum type="arabicPeriod"/>
            </a:pPr>
            <a:r>
              <a:rPr b="1" lang="en-US">
                <a:solidFill>
                  <a:schemeClr val="accent1"/>
                </a:solidFill>
              </a:rPr>
              <a:t>Optimization</a:t>
            </a:r>
            <a:endParaRPr b="1">
              <a:solidFill>
                <a:schemeClr val="accent1"/>
              </a:solidFill>
            </a:endParaRPr>
          </a:p>
          <a:p>
            <a:pPr indent="-342900" lvl="1" marL="914400" rtl="0" algn="l">
              <a:lnSpc>
                <a:spcPct val="90000"/>
              </a:lnSpc>
              <a:spcBef>
                <a:spcPts val="0"/>
              </a:spcBef>
              <a:spcAft>
                <a:spcPts val="0"/>
              </a:spcAft>
              <a:buSzPts val="1800"/>
              <a:buChar char="•"/>
            </a:pPr>
            <a:r>
              <a:rPr lang="en-US"/>
              <a:t>The team communicates benefits of project more broadly and sets up pilot project to deploy work in controlled way before broadening the work to full enterprise of users.</a:t>
            </a:r>
            <a:endParaRPr/>
          </a:p>
          <a:p>
            <a:pPr indent="-342900" lvl="1" marL="914400" rtl="0" algn="l">
              <a:lnSpc>
                <a:spcPct val="90000"/>
              </a:lnSpc>
              <a:spcBef>
                <a:spcPts val="0"/>
              </a:spcBef>
              <a:spcAft>
                <a:spcPts val="0"/>
              </a:spcAft>
              <a:buSzPts val="1800"/>
              <a:buChar char="•"/>
            </a:pPr>
            <a:r>
              <a:rPr lang="en-US"/>
              <a:t>This approach enables team to learn about performance and related constraints of the model in production environment on small scale  , and make adjustments before full deployment.</a:t>
            </a:r>
            <a:endParaRPr/>
          </a:p>
          <a:p>
            <a:pPr indent="-342900" lvl="1" marL="914400" rtl="0" algn="l">
              <a:lnSpc>
                <a:spcPct val="90000"/>
              </a:lnSpc>
              <a:spcBef>
                <a:spcPts val="0"/>
              </a:spcBef>
              <a:spcAft>
                <a:spcPts val="0"/>
              </a:spcAft>
              <a:buSzPts val="1800"/>
              <a:buChar char="•"/>
            </a:pPr>
            <a:r>
              <a:rPr lang="en-US"/>
              <a:t>The team delivers final reports, briefings, codes.</a:t>
            </a:r>
            <a:endParaRPr/>
          </a:p>
          <a:p>
            <a:pPr indent="-342900" lvl="1" marL="914400" rtl="0" algn="l">
              <a:lnSpc>
                <a:spcPct val="90000"/>
              </a:lnSpc>
              <a:spcBef>
                <a:spcPts val="0"/>
              </a:spcBef>
              <a:spcAft>
                <a:spcPts val="0"/>
              </a:spcAft>
              <a:buSzPts val="1800"/>
              <a:buChar char="•"/>
            </a:pPr>
            <a:r>
              <a:rPr lang="en-US"/>
              <a:t>Free or open source tools – Octave, WEKA, SQL, MADlib.</a:t>
            </a:r>
            <a:endParaRPr/>
          </a:p>
        </p:txBody>
      </p:sp>
      <p:sp>
        <p:nvSpPr>
          <p:cNvPr id="392" name="Google Shape;392;g145aa5eecfc_0_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393" name="Google Shape;393;g145aa5eecfc_0_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14"/>
          <p:cNvSpPr txBox="1"/>
          <p:nvPr>
            <p:ph type="title"/>
          </p:nvPr>
        </p:nvSpPr>
        <p:spPr>
          <a:xfrm>
            <a:off x="838200" y="19046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F5496"/>
              </a:buClr>
              <a:buSzPts val="4400"/>
              <a:buFont typeface="Times New Roman"/>
              <a:buNone/>
            </a:pPr>
            <a:r>
              <a:rPr b="1" lang="en-US">
                <a:solidFill>
                  <a:srgbClr val="2F5496"/>
                </a:solidFill>
                <a:latin typeface="Times New Roman"/>
                <a:ea typeface="Times New Roman"/>
                <a:cs typeface="Times New Roman"/>
                <a:sym typeface="Times New Roman"/>
              </a:rPr>
              <a:t>Visual Revolution, Various types of visualization with its best practices.</a:t>
            </a:r>
            <a:endParaRPr/>
          </a:p>
        </p:txBody>
      </p:sp>
      <p:sp>
        <p:nvSpPr>
          <p:cNvPr id="399" name="Google Shape;399;p14"/>
          <p:cNvSpPr txBox="1"/>
          <p:nvPr>
            <p:ph idx="1" type="body"/>
          </p:nvPr>
        </p:nvSpPr>
        <p:spPr>
          <a:xfrm>
            <a:off x="838200" y="1825625"/>
            <a:ext cx="10515600" cy="4585800"/>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SzPts val="1800"/>
              <a:buNone/>
            </a:pPr>
            <a:r>
              <a:rPr b="1" lang="en-US" sz="3100">
                <a:solidFill>
                  <a:srgbClr val="FFFF00"/>
                </a:solidFill>
                <a:highlight>
                  <a:srgbClr val="0000FF"/>
                </a:highlight>
              </a:rPr>
              <a:t>A 'Visual Revolution' is changing the way we communicate</a:t>
            </a:r>
            <a:endParaRPr b="1" sz="3100">
              <a:solidFill>
                <a:srgbClr val="FFFF00"/>
              </a:solidFill>
              <a:highlight>
                <a:srgbClr val="0000FF"/>
              </a:highlight>
            </a:endParaRPr>
          </a:p>
          <a:p>
            <a:pPr indent="0" lvl="0" marL="457200" rtl="0" algn="l">
              <a:lnSpc>
                <a:spcPct val="90000"/>
              </a:lnSpc>
              <a:spcBef>
                <a:spcPts val="0"/>
              </a:spcBef>
              <a:spcAft>
                <a:spcPts val="0"/>
              </a:spcAft>
              <a:buSzPts val="1800"/>
              <a:buNone/>
            </a:pPr>
            <a:r>
              <a:t/>
            </a:r>
            <a:endParaRPr b="1" sz="3100">
              <a:solidFill>
                <a:srgbClr val="FFFF00"/>
              </a:solidFill>
              <a:highlight>
                <a:srgbClr val="0000FF"/>
              </a:highlight>
            </a:endParaRPr>
          </a:p>
          <a:p>
            <a:pPr indent="-342900" lvl="0" marL="457200" rtl="0" algn="l">
              <a:lnSpc>
                <a:spcPct val="90000"/>
              </a:lnSpc>
              <a:spcBef>
                <a:spcPts val="0"/>
              </a:spcBef>
              <a:spcAft>
                <a:spcPts val="0"/>
              </a:spcAft>
              <a:buSzPts val="1800"/>
              <a:buChar char="•"/>
            </a:pPr>
            <a:r>
              <a:rPr b="1" lang="en-US"/>
              <a:t>Use all kind of visuals - images, graphics, videos and animations to create emotional connections</a:t>
            </a:r>
            <a:endParaRPr b="1"/>
          </a:p>
          <a:p>
            <a:pPr indent="-342900" lvl="0" marL="457200" rtl="0" algn="l">
              <a:lnSpc>
                <a:spcPct val="90000"/>
              </a:lnSpc>
              <a:spcBef>
                <a:spcPts val="0"/>
              </a:spcBef>
              <a:spcAft>
                <a:spcPts val="0"/>
              </a:spcAft>
              <a:buSzPts val="1800"/>
              <a:buChar char="•"/>
            </a:pPr>
            <a:r>
              <a:rPr b="1" lang="en-US"/>
              <a:t>Make sure your content is unique so that people will remember for longer duration, creating impact</a:t>
            </a:r>
            <a:endParaRPr b="1"/>
          </a:p>
          <a:p>
            <a:pPr indent="-342900" lvl="0" marL="457200" rtl="0" algn="l">
              <a:lnSpc>
                <a:spcPct val="90000"/>
              </a:lnSpc>
              <a:spcBef>
                <a:spcPts val="0"/>
              </a:spcBef>
              <a:spcAft>
                <a:spcPts val="0"/>
              </a:spcAft>
              <a:buSzPts val="1800"/>
              <a:buChar char="•"/>
            </a:pPr>
            <a:r>
              <a:rPr b="1" lang="en-US"/>
              <a:t>Create visuals that are useful to customers, or other supporters</a:t>
            </a:r>
            <a:endParaRPr b="1"/>
          </a:p>
          <a:p>
            <a:pPr indent="-342900" lvl="0" marL="457200" rtl="0" algn="l">
              <a:lnSpc>
                <a:spcPct val="90000"/>
              </a:lnSpc>
              <a:spcBef>
                <a:spcPts val="0"/>
              </a:spcBef>
              <a:spcAft>
                <a:spcPts val="0"/>
              </a:spcAft>
              <a:buSzPts val="1800"/>
              <a:buChar char="•"/>
            </a:pPr>
            <a:r>
              <a:rPr b="1" lang="en-US"/>
              <a:t>Invite other people to share their images to encourage interaction and engagement</a:t>
            </a:r>
            <a:endParaRPr b="1"/>
          </a:p>
          <a:p>
            <a:pPr indent="-342900" lvl="0" marL="457200" rtl="0" algn="l">
              <a:lnSpc>
                <a:spcPct val="90000"/>
              </a:lnSpc>
              <a:spcBef>
                <a:spcPts val="0"/>
              </a:spcBef>
              <a:spcAft>
                <a:spcPts val="0"/>
              </a:spcAft>
              <a:buSzPts val="1800"/>
              <a:buChar char="•"/>
            </a:pPr>
            <a:r>
              <a:rPr b="1" lang="en-US"/>
              <a:t>Include short captions with your visuals to give context or include a call to action that asks people to take the next step</a:t>
            </a:r>
            <a:endParaRPr b="1"/>
          </a:p>
        </p:txBody>
      </p:sp>
      <p:sp>
        <p:nvSpPr>
          <p:cNvPr id="400" name="Google Shape;40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401" name="Google Shape;40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g145aa5eecfc_0_49"/>
          <p:cNvSpPr txBox="1"/>
          <p:nvPr>
            <p:ph type="title"/>
          </p:nvPr>
        </p:nvSpPr>
        <p:spPr>
          <a:xfrm>
            <a:off x="838200" y="19046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400"/>
              <a:buFont typeface="Times New Roman"/>
              <a:buNone/>
            </a:pPr>
            <a:r>
              <a:rPr b="1" lang="en-US">
                <a:solidFill>
                  <a:srgbClr val="2F5496"/>
                </a:solidFill>
                <a:latin typeface="Times New Roman"/>
                <a:ea typeface="Times New Roman"/>
                <a:cs typeface="Times New Roman"/>
                <a:sym typeface="Times New Roman"/>
              </a:rPr>
              <a:t>Visualization best practices</a:t>
            </a:r>
            <a:endParaRPr/>
          </a:p>
        </p:txBody>
      </p:sp>
      <p:sp>
        <p:nvSpPr>
          <p:cNvPr id="407" name="Google Shape;407;g145aa5eecfc_0_49"/>
          <p:cNvSpPr txBox="1"/>
          <p:nvPr>
            <p:ph idx="1" type="body"/>
          </p:nvPr>
        </p:nvSpPr>
        <p:spPr>
          <a:xfrm>
            <a:off x="838200" y="1825625"/>
            <a:ext cx="10515600" cy="4585800"/>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SzPts val="1800"/>
              <a:buNone/>
            </a:pPr>
            <a:r>
              <a:rPr b="1" lang="en-US" sz="3100">
                <a:solidFill>
                  <a:srgbClr val="FFFF00"/>
                </a:solidFill>
                <a:highlight>
                  <a:srgbClr val="0000FF"/>
                </a:highlight>
              </a:rPr>
              <a:t>With explosion in volume and complexity of data generated, use of data visualitzation becomes essential  </a:t>
            </a:r>
            <a:endParaRPr b="1" sz="3100">
              <a:solidFill>
                <a:srgbClr val="FFFF00"/>
              </a:solidFill>
              <a:highlight>
                <a:srgbClr val="0000FF"/>
              </a:highlight>
            </a:endParaRPr>
          </a:p>
          <a:p>
            <a:pPr indent="0" lvl="0" marL="457200" rtl="0" algn="l">
              <a:lnSpc>
                <a:spcPct val="90000"/>
              </a:lnSpc>
              <a:spcBef>
                <a:spcPts val="0"/>
              </a:spcBef>
              <a:spcAft>
                <a:spcPts val="0"/>
              </a:spcAft>
              <a:buSzPts val="1800"/>
              <a:buNone/>
            </a:pPr>
            <a:r>
              <a:t/>
            </a:r>
            <a:endParaRPr b="1" sz="3100">
              <a:solidFill>
                <a:srgbClr val="FFFF00"/>
              </a:solidFill>
              <a:highlight>
                <a:srgbClr val="0000FF"/>
              </a:highlight>
            </a:endParaRPr>
          </a:p>
          <a:p>
            <a:pPr indent="-342900" lvl="0" marL="457200" rtl="0" algn="l">
              <a:lnSpc>
                <a:spcPct val="90000"/>
              </a:lnSpc>
              <a:spcBef>
                <a:spcPts val="0"/>
              </a:spcBef>
              <a:spcAft>
                <a:spcPts val="0"/>
              </a:spcAft>
              <a:buSzPts val="1800"/>
              <a:buChar char="•"/>
            </a:pPr>
            <a:r>
              <a:rPr b="1" lang="en-US"/>
              <a:t>Human processes visual information better than tables, numbers, and text</a:t>
            </a:r>
            <a:endParaRPr b="1"/>
          </a:p>
          <a:p>
            <a:pPr indent="-342900" lvl="0" marL="457200" rtl="0" algn="l">
              <a:lnSpc>
                <a:spcPct val="90000"/>
              </a:lnSpc>
              <a:spcBef>
                <a:spcPts val="0"/>
              </a:spcBef>
              <a:spcAft>
                <a:spcPts val="0"/>
              </a:spcAft>
              <a:buSzPts val="1800"/>
              <a:buChar char="•"/>
            </a:pPr>
            <a:r>
              <a:rPr b="1" lang="en-US"/>
              <a:t>Converting into graphs and charts data is transformed into easy-to -understand form</a:t>
            </a:r>
            <a:endParaRPr b="1"/>
          </a:p>
          <a:p>
            <a:pPr indent="0" lvl="0" marL="457200" rtl="0" algn="l">
              <a:lnSpc>
                <a:spcPct val="90000"/>
              </a:lnSpc>
              <a:spcBef>
                <a:spcPts val="0"/>
              </a:spcBef>
              <a:spcAft>
                <a:spcPts val="0"/>
              </a:spcAft>
              <a:buSzPts val="1800"/>
              <a:buNone/>
            </a:pPr>
            <a:r>
              <a:t/>
            </a:r>
            <a:endParaRPr b="1"/>
          </a:p>
        </p:txBody>
      </p:sp>
      <p:sp>
        <p:nvSpPr>
          <p:cNvPr id="408" name="Google Shape;408;g145aa5eecfc_0_4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409" name="Google Shape;409;g145aa5eecfc_0_4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4" name="Shape 414"/>
        <p:cNvGrpSpPr/>
        <p:nvPr/>
      </p:nvGrpSpPr>
      <p:grpSpPr>
        <a:xfrm>
          <a:off x="0" y="0"/>
          <a:ext cx="0" cy="0"/>
          <a:chOff x="0" y="0"/>
          <a:chExt cx="0" cy="0"/>
        </a:xfrm>
      </p:grpSpPr>
      <p:sp>
        <p:nvSpPr>
          <p:cNvPr id="415" name="Google Shape;415;g145aa5eecfc_0_56"/>
          <p:cNvSpPr txBox="1"/>
          <p:nvPr>
            <p:ph type="title"/>
          </p:nvPr>
        </p:nvSpPr>
        <p:spPr>
          <a:xfrm>
            <a:off x="740325" y="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t>Data Types </a:t>
            </a:r>
            <a:endParaRPr/>
          </a:p>
        </p:txBody>
      </p:sp>
      <p:sp>
        <p:nvSpPr>
          <p:cNvPr id="416" name="Google Shape;416;g145aa5eecfc_0_56"/>
          <p:cNvSpPr txBox="1"/>
          <p:nvPr>
            <p:ph idx="1" type="body"/>
          </p:nvPr>
        </p:nvSpPr>
        <p:spPr>
          <a:xfrm>
            <a:off x="838200" y="1154500"/>
            <a:ext cx="10515600" cy="47736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1000"/>
              </a:spcBef>
              <a:spcAft>
                <a:spcPts val="0"/>
              </a:spcAft>
              <a:buSzPts val="1800"/>
              <a:buChar char="•"/>
            </a:pPr>
            <a:r>
              <a:rPr lang="en-US"/>
              <a:t>Numeric / alpha numeric / Images/ Audio</a:t>
            </a:r>
            <a:endParaRPr/>
          </a:p>
          <a:p>
            <a:pPr indent="0" lvl="0" marL="0" rtl="0" algn="l">
              <a:lnSpc>
                <a:spcPct val="90000"/>
              </a:lnSpc>
              <a:spcBef>
                <a:spcPts val="1000"/>
              </a:spcBef>
              <a:spcAft>
                <a:spcPts val="0"/>
              </a:spcAft>
              <a:buSzPts val="1800"/>
              <a:buNone/>
            </a:pPr>
            <a:r>
              <a:rPr lang="en-US"/>
              <a:t>Numeric Data:</a:t>
            </a:r>
            <a:endParaRPr/>
          </a:p>
          <a:p>
            <a:pPr indent="-342900" lvl="0" marL="457200" rtl="0" algn="l">
              <a:lnSpc>
                <a:spcPct val="90000"/>
              </a:lnSpc>
              <a:spcBef>
                <a:spcPts val="1000"/>
              </a:spcBef>
              <a:spcAft>
                <a:spcPts val="0"/>
              </a:spcAft>
              <a:buSzPts val="1800"/>
              <a:buChar char="•"/>
            </a:pPr>
            <a:r>
              <a:rPr lang="en-US"/>
              <a:t>Categories based on measurement scale:</a:t>
            </a:r>
            <a:endParaRPr/>
          </a:p>
          <a:p>
            <a:pPr indent="-342900" lvl="1" marL="914400" rtl="0" algn="l">
              <a:lnSpc>
                <a:spcPct val="90000"/>
              </a:lnSpc>
              <a:spcBef>
                <a:spcPts val="0"/>
              </a:spcBef>
              <a:spcAft>
                <a:spcPts val="0"/>
              </a:spcAft>
              <a:buSzPts val="1800"/>
              <a:buChar char="•"/>
            </a:pPr>
            <a:r>
              <a:rPr lang="en-US"/>
              <a:t> </a:t>
            </a:r>
            <a:r>
              <a:rPr b="1" lang="en-US">
                <a:solidFill>
                  <a:srgbClr val="0000FF"/>
                </a:solidFill>
              </a:rPr>
              <a:t>Nominal Scale</a:t>
            </a:r>
            <a:r>
              <a:rPr lang="en-US"/>
              <a:t> (qualitative variable or categorical variable). </a:t>
            </a:r>
            <a:r>
              <a:rPr b="1" lang="en-US"/>
              <a:t>NO arithmetic operations are possible </a:t>
            </a:r>
            <a:endParaRPr b="1"/>
          </a:p>
          <a:p>
            <a:pPr indent="-342900" lvl="2" marL="1371600" rtl="0" algn="l">
              <a:lnSpc>
                <a:spcPct val="90000"/>
              </a:lnSpc>
              <a:spcBef>
                <a:spcPts val="0"/>
              </a:spcBef>
              <a:spcAft>
                <a:spcPts val="0"/>
              </a:spcAft>
              <a:buSzPts val="1800"/>
              <a:buChar char="•"/>
            </a:pPr>
            <a:r>
              <a:rPr lang="en-US"/>
              <a:t>e.g blood group : A, B, AB &amp; O</a:t>
            </a:r>
            <a:endParaRPr/>
          </a:p>
          <a:p>
            <a:pPr indent="-342900" lvl="1" marL="914400" rtl="0" algn="l">
              <a:lnSpc>
                <a:spcPct val="90000"/>
              </a:lnSpc>
              <a:spcBef>
                <a:spcPts val="0"/>
              </a:spcBef>
              <a:spcAft>
                <a:spcPts val="0"/>
              </a:spcAft>
              <a:buSzPts val="1800"/>
              <a:buChar char="•"/>
            </a:pPr>
            <a:r>
              <a:rPr lang="en-US"/>
              <a:t> </a:t>
            </a:r>
            <a:r>
              <a:rPr b="1" lang="en-US">
                <a:solidFill>
                  <a:srgbClr val="0000FF"/>
                </a:solidFill>
              </a:rPr>
              <a:t>Ordinal Scale:</a:t>
            </a:r>
            <a:r>
              <a:rPr b="1" lang="en-US">
                <a:solidFill>
                  <a:srgbClr val="1155CC"/>
                </a:solidFill>
              </a:rPr>
              <a:t> </a:t>
            </a:r>
            <a:r>
              <a:rPr lang="en-US"/>
              <a:t>(values are captured from an ordered set). Order is fixed and no arithmetic operations can be performed</a:t>
            </a:r>
            <a:endParaRPr/>
          </a:p>
          <a:p>
            <a:pPr indent="-342900" lvl="2" marL="1371600" rtl="0" algn="l">
              <a:lnSpc>
                <a:spcPct val="90000"/>
              </a:lnSpc>
              <a:spcBef>
                <a:spcPts val="0"/>
              </a:spcBef>
              <a:spcAft>
                <a:spcPts val="0"/>
              </a:spcAft>
              <a:buSzPts val="1800"/>
              <a:buChar char="•"/>
            </a:pPr>
            <a:r>
              <a:rPr lang="en-US"/>
              <a:t>e.g. review ratings on a Likert scale (1-5, 5 being highest )</a:t>
            </a:r>
            <a:endParaRPr/>
          </a:p>
          <a:p>
            <a:pPr indent="-342900" lvl="1" marL="914400" rtl="0" algn="l">
              <a:lnSpc>
                <a:spcPct val="90000"/>
              </a:lnSpc>
              <a:spcBef>
                <a:spcPts val="0"/>
              </a:spcBef>
              <a:spcAft>
                <a:spcPts val="0"/>
              </a:spcAft>
              <a:buSzPts val="1800"/>
              <a:buChar char="•"/>
            </a:pPr>
            <a:r>
              <a:rPr b="1" lang="en-US">
                <a:solidFill>
                  <a:srgbClr val="0000FF"/>
                </a:solidFill>
              </a:rPr>
              <a:t>Interval Scale:</a:t>
            </a:r>
            <a:r>
              <a:rPr lang="en-US"/>
              <a:t> (Data points taken from a fixed interval set) Cannot perform ratios on interval scale data </a:t>
            </a:r>
            <a:endParaRPr/>
          </a:p>
          <a:p>
            <a:pPr indent="-342900" lvl="2" marL="1371600" rtl="0" algn="l">
              <a:lnSpc>
                <a:spcPct val="90000"/>
              </a:lnSpc>
              <a:spcBef>
                <a:spcPts val="0"/>
              </a:spcBef>
              <a:spcAft>
                <a:spcPts val="0"/>
              </a:spcAft>
              <a:buSzPts val="1800"/>
              <a:buChar char="•"/>
            </a:pPr>
            <a:r>
              <a:rPr lang="en-US"/>
              <a:t>e.g. 50 degree C is not twice hot as 25 degree  C</a:t>
            </a:r>
            <a:endParaRPr/>
          </a:p>
          <a:p>
            <a:pPr indent="-342900" lvl="1" marL="914400" rtl="0" algn="l">
              <a:lnSpc>
                <a:spcPct val="90000"/>
              </a:lnSpc>
              <a:spcBef>
                <a:spcPts val="0"/>
              </a:spcBef>
              <a:spcAft>
                <a:spcPts val="0"/>
              </a:spcAft>
              <a:buSzPts val="1800"/>
              <a:buChar char="•"/>
            </a:pPr>
            <a:r>
              <a:rPr b="1" lang="en-US">
                <a:solidFill>
                  <a:srgbClr val="0000FF"/>
                </a:solidFill>
              </a:rPr>
              <a:t>Ratio Scale:</a:t>
            </a:r>
            <a:r>
              <a:rPr lang="en-US"/>
              <a:t> Arithmetic operations are possible </a:t>
            </a:r>
            <a:endParaRPr/>
          </a:p>
          <a:p>
            <a:pPr indent="-342900" lvl="2" marL="1371600" rtl="0" algn="l">
              <a:lnSpc>
                <a:spcPct val="90000"/>
              </a:lnSpc>
              <a:spcBef>
                <a:spcPts val="0"/>
              </a:spcBef>
              <a:spcAft>
                <a:spcPts val="0"/>
              </a:spcAft>
              <a:buSzPts val="1800"/>
              <a:buChar char="•"/>
            </a:pPr>
            <a:r>
              <a:rPr lang="en-US"/>
              <a:t>Product sales, salary </a:t>
            </a:r>
            <a:endParaRPr/>
          </a:p>
        </p:txBody>
      </p:sp>
      <p:sp>
        <p:nvSpPr>
          <p:cNvPr id="417" name="Google Shape;417;g145aa5eecfc_0_5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sp>
        <p:nvSpPr>
          <p:cNvPr id="418" name="Google Shape;418;g145aa5eecfc_0_5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3" name="Shape 423"/>
        <p:cNvGrpSpPr/>
        <p:nvPr/>
      </p:nvGrpSpPr>
      <p:grpSpPr>
        <a:xfrm>
          <a:off x="0" y="0"/>
          <a:ext cx="0" cy="0"/>
          <a:chOff x="0" y="0"/>
          <a:chExt cx="0" cy="0"/>
        </a:xfrm>
      </p:grpSpPr>
      <p:sp>
        <p:nvSpPr>
          <p:cNvPr id="424" name="Google Shape;424;g145aa5eecfc_0_63"/>
          <p:cNvSpPr txBox="1"/>
          <p:nvPr>
            <p:ph type="title"/>
          </p:nvPr>
        </p:nvSpPr>
        <p:spPr>
          <a:xfrm>
            <a:off x="740325"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Data Types &amp; Operations </a:t>
            </a:r>
            <a:endParaRPr/>
          </a:p>
        </p:txBody>
      </p:sp>
      <p:sp>
        <p:nvSpPr>
          <p:cNvPr id="425" name="Google Shape;425;g145aa5eecfc_0_6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graphicFrame>
        <p:nvGraphicFramePr>
          <p:cNvPr id="426" name="Google Shape;426;g145aa5eecfc_0_63"/>
          <p:cNvGraphicFramePr/>
          <p:nvPr/>
        </p:nvGraphicFramePr>
        <p:xfrm>
          <a:off x="740325" y="1445575"/>
          <a:ext cx="3000000" cy="3000000"/>
        </p:xfrm>
        <a:graphic>
          <a:graphicData uri="http://schemas.openxmlformats.org/drawingml/2006/table">
            <a:tbl>
              <a:tblPr>
                <a:noFill/>
                <a:tableStyleId>{7D529E6C-D494-49B1-8367-85739208E830}</a:tableStyleId>
              </a:tblPr>
              <a:tblGrid>
                <a:gridCol w="1946075"/>
                <a:gridCol w="8340925"/>
              </a:tblGrid>
              <a:tr h="381000">
                <a:tc>
                  <a:txBody>
                    <a:bodyPr/>
                    <a:lstStyle/>
                    <a:p>
                      <a:pPr indent="0" lvl="0" marL="0" marR="0" rtl="0" algn="ctr">
                        <a:lnSpc>
                          <a:spcPct val="100000"/>
                        </a:lnSpc>
                        <a:spcBef>
                          <a:spcPts val="0"/>
                        </a:spcBef>
                        <a:spcAft>
                          <a:spcPts val="0"/>
                        </a:spcAft>
                        <a:buClr>
                          <a:srgbClr val="000000"/>
                        </a:buClr>
                        <a:buSzPts val="2600"/>
                        <a:buFont typeface="Arial"/>
                        <a:buNone/>
                      </a:pPr>
                      <a:r>
                        <a:rPr lang="en-US" sz="2600" u="none" cap="none" strike="noStrike"/>
                        <a:t>Data Type</a:t>
                      </a:r>
                      <a:endParaRPr sz="2600" u="none" cap="none" strike="noStrike"/>
                    </a:p>
                  </a:txBody>
                  <a:tcPr marT="91425" marB="91425" marR="91425" marL="91425">
                    <a:solidFill>
                      <a:srgbClr val="A4C2F4"/>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lang="en-US" sz="2600" u="none" cap="none" strike="noStrike"/>
                        <a:t>Operations </a:t>
                      </a:r>
                      <a:endParaRPr sz="2600" u="none" cap="none" strike="noStrike"/>
                    </a:p>
                  </a:txBody>
                  <a:tcPr marT="91425" marB="91425" marR="91425" marL="91425">
                    <a:solidFill>
                      <a:srgbClr val="A4C2F4"/>
                    </a:solidFill>
                  </a:tcPr>
                </a:tc>
              </a:tr>
              <a:tr h="381000">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Nominal</a:t>
                      </a:r>
                      <a:endParaRPr sz="2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Can only check if the values are same or not (= = or !=)</a:t>
                      </a:r>
                      <a:endParaRPr sz="26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Ordinal</a:t>
                      </a:r>
                      <a:endParaRPr sz="2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Can compare ( ==, != , &lt; , &gt;)</a:t>
                      </a:r>
                      <a:endParaRPr sz="26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Interval</a:t>
                      </a:r>
                      <a:endParaRPr sz="2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Can measure distance or span with operations ( ==, !=, &lt; , &gt; ,-)</a:t>
                      </a:r>
                      <a:endParaRPr sz="26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Ratio</a:t>
                      </a:r>
                      <a:endParaRPr sz="2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Can measure proportions with operations (== ,!=, &lt; , &gt; ,+, - ,%)</a:t>
                      </a:r>
                      <a:endParaRPr sz="2600" u="none" cap="none" strike="noStrike"/>
                    </a:p>
                  </a:txBody>
                  <a:tcPr marT="91425" marB="91425" marR="91425" marL="91425"/>
                </a:tc>
              </a:tr>
            </a:tbl>
          </a:graphicData>
        </a:graphic>
      </p:graphicFrame>
      <p:sp>
        <p:nvSpPr>
          <p:cNvPr id="427" name="Google Shape;427;g145aa5eecfc_0_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15"/>
          <p:cNvSpPr txBox="1"/>
          <p:nvPr>
            <p:ph type="title"/>
          </p:nvPr>
        </p:nvSpPr>
        <p:spPr>
          <a:xfrm>
            <a:off x="838200" y="190475"/>
            <a:ext cx="10972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4200">
                <a:solidFill>
                  <a:srgbClr val="2F5496"/>
                </a:solidFill>
                <a:latin typeface="Times New Roman"/>
                <a:ea typeface="Times New Roman"/>
                <a:cs typeface="Times New Roman"/>
                <a:sym typeface="Times New Roman"/>
              </a:rPr>
              <a:t>From Visualization to Visual Data Storytelling: An Evolution</a:t>
            </a:r>
            <a:endParaRPr sz="4200"/>
          </a:p>
        </p:txBody>
      </p:sp>
      <p:sp>
        <p:nvSpPr>
          <p:cNvPr id="433" name="Google Shape;433;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rPr lang="en-US"/>
              <a:t>Data visualization will depend on statistical understanding of the data, its context and to measure it to avoid false analysis and skewed decision making</a:t>
            </a:r>
            <a:endParaRPr/>
          </a:p>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0"/>
              </a:spcBef>
              <a:spcAft>
                <a:spcPts val="0"/>
              </a:spcAft>
              <a:buClr>
                <a:schemeClr val="dk1"/>
              </a:buClr>
              <a:buSzPts val="2800"/>
              <a:buNone/>
            </a:pPr>
            <a:r>
              <a:rPr lang="en-US"/>
              <a:t>Human visual cognition system demands a way to encode numbers with meaning by relying on colours and shapes to support interpretation</a:t>
            </a:r>
            <a:endParaRPr/>
          </a:p>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0"/>
              </a:spcBef>
              <a:spcAft>
                <a:spcPts val="0"/>
              </a:spcAft>
              <a:buClr>
                <a:schemeClr val="dk1"/>
              </a:buClr>
              <a:buSzPts val="2800"/>
              <a:buNone/>
            </a:pPr>
            <a:r>
              <a:rPr lang="en-US"/>
              <a:t>Data visualization is the best way to see and understand huge, most diverse data </a:t>
            </a:r>
            <a:endParaRPr/>
          </a:p>
        </p:txBody>
      </p:sp>
      <p:sp>
        <p:nvSpPr>
          <p:cNvPr id="434" name="Google Shape;4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435" name="Google Shape;4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14b51d44415_0_0"/>
          <p:cNvSpPr txBox="1"/>
          <p:nvPr>
            <p:ph type="title"/>
          </p:nvPr>
        </p:nvSpPr>
        <p:spPr>
          <a:xfrm>
            <a:off x="838200" y="190475"/>
            <a:ext cx="10972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4200">
                <a:solidFill>
                  <a:srgbClr val="2F5496"/>
                </a:solidFill>
                <a:latin typeface="Times New Roman"/>
                <a:ea typeface="Times New Roman"/>
                <a:cs typeface="Times New Roman"/>
                <a:sym typeface="Times New Roman"/>
              </a:rPr>
              <a:t>From Visualization to Visual Data Storytelling An Evolution</a:t>
            </a:r>
            <a:endParaRPr sz="4200"/>
          </a:p>
        </p:txBody>
      </p:sp>
      <p:sp>
        <p:nvSpPr>
          <p:cNvPr id="441" name="Google Shape;441;g14b51d44415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rPr lang="en-US"/>
              <a:t>Data visualization</a:t>
            </a:r>
            <a:endParaRPr/>
          </a:p>
          <a:p>
            <a:pPr indent="-342900" lvl="0" marL="457200" rtl="0" algn="l">
              <a:lnSpc>
                <a:spcPct val="90000"/>
              </a:lnSpc>
              <a:spcBef>
                <a:spcPts val="0"/>
              </a:spcBef>
              <a:spcAft>
                <a:spcPts val="0"/>
              </a:spcAft>
              <a:buSzPts val="1800"/>
              <a:buChar char="•"/>
            </a:pPr>
            <a:r>
              <a:rPr lang="en-US"/>
              <a:t>Cave drawings</a:t>
            </a:r>
            <a:endParaRPr/>
          </a:p>
          <a:p>
            <a:pPr indent="0" lvl="0" marL="457200" rtl="0" algn="l">
              <a:lnSpc>
                <a:spcPct val="90000"/>
              </a:lnSpc>
              <a:spcBef>
                <a:spcPts val="0"/>
              </a:spcBef>
              <a:spcAft>
                <a:spcPts val="0"/>
              </a:spcAft>
              <a:buSzPts val="1800"/>
              <a:buNone/>
            </a:pPr>
            <a:r>
              <a:t/>
            </a:r>
            <a:endParaRPr/>
          </a:p>
          <a:p>
            <a:pPr indent="0" lvl="0" marL="457200" rtl="0" algn="l">
              <a:lnSpc>
                <a:spcPct val="90000"/>
              </a:lnSpc>
              <a:spcBef>
                <a:spcPts val="0"/>
              </a:spcBef>
              <a:spcAft>
                <a:spcPts val="0"/>
              </a:spcAft>
              <a:buSzPts val="1800"/>
              <a:buNone/>
            </a:pPr>
            <a:r>
              <a:t/>
            </a:r>
            <a:endParaRPr/>
          </a:p>
        </p:txBody>
      </p:sp>
      <p:sp>
        <p:nvSpPr>
          <p:cNvPr id="442" name="Google Shape;442;g14b51d44415_0_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443" name="Google Shape;443;g14b51d44415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444" name="Google Shape;444;g14b51d44415_0_0"/>
          <p:cNvPicPr preferRelativeResize="0"/>
          <p:nvPr/>
        </p:nvPicPr>
        <p:blipFill rotWithShape="1">
          <a:blip r:embed="rId3">
            <a:alphaModFix/>
          </a:blip>
          <a:srcRect b="0" l="0" r="0" t="0"/>
          <a:stretch/>
        </p:blipFill>
        <p:spPr>
          <a:xfrm>
            <a:off x="1340075" y="2763415"/>
            <a:ext cx="3310750" cy="2834825"/>
          </a:xfrm>
          <a:prstGeom prst="rect">
            <a:avLst/>
          </a:prstGeom>
          <a:noFill/>
          <a:ln>
            <a:noFill/>
          </a:ln>
        </p:spPr>
      </p:pic>
      <p:pic>
        <p:nvPicPr>
          <p:cNvPr id="445" name="Google Shape;445;g14b51d44415_0_0"/>
          <p:cNvPicPr preferRelativeResize="0"/>
          <p:nvPr/>
        </p:nvPicPr>
        <p:blipFill rotWithShape="1">
          <a:blip r:embed="rId4">
            <a:alphaModFix/>
          </a:blip>
          <a:srcRect b="0" l="0" r="0" t="0"/>
          <a:stretch/>
        </p:blipFill>
        <p:spPr>
          <a:xfrm>
            <a:off x="3024686" y="2763425"/>
            <a:ext cx="5059089" cy="2834825"/>
          </a:xfrm>
          <a:prstGeom prst="rect">
            <a:avLst/>
          </a:prstGeom>
          <a:noFill/>
          <a:ln>
            <a:noFill/>
          </a:ln>
        </p:spPr>
      </p:pic>
      <p:sp>
        <p:nvSpPr>
          <p:cNvPr id="446" name="Google Shape;446;g14b51d44415_0_0"/>
          <p:cNvSpPr txBox="1"/>
          <p:nvPr/>
        </p:nvSpPr>
        <p:spPr>
          <a:xfrm>
            <a:off x="3796800" y="2147825"/>
            <a:ext cx="1905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Early Maps</a:t>
            </a:r>
            <a:endParaRPr b="0" i="0" sz="2800" u="none" cap="none" strike="noStrike">
              <a:solidFill>
                <a:srgbClr val="000000"/>
              </a:solidFill>
              <a:latin typeface="Calibri"/>
              <a:ea typeface="Calibri"/>
              <a:cs typeface="Calibri"/>
              <a:sym typeface="Calibri"/>
            </a:endParaRPr>
          </a:p>
        </p:txBody>
      </p:sp>
      <p:sp>
        <p:nvSpPr>
          <p:cNvPr id="447" name="Google Shape;447;g14b51d44415_0_0"/>
          <p:cNvSpPr txBox="1"/>
          <p:nvPr/>
        </p:nvSpPr>
        <p:spPr>
          <a:xfrm>
            <a:off x="5942288" y="2147825"/>
            <a:ext cx="2447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Modern Maps</a:t>
            </a:r>
            <a:endParaRPr b="0" i="0" sz="2800" u="none" cap="none" strike="noStrike">
              <a:solidFill>
                <a:srgbClr val="000000"/>
              </a:solidFill>
              <a:latin typeface="Calibri"/>
              <a:ea typeface="Calibri"/>
              <a:cs typeface="Calibri"/>
              <a:sym typeface="Calibri"/>
            </a:endParaRPr>
          </a:p>
        </p:txBody>
      </p:sp>
      <p:sp>
        <p:nvSpPr>
          <p:cNvPr id="448" name="Google Shape;448;g14b51d44415_0_0"/>
          <p:cNvSpPr txBox="1"/>
          <p:nvPr/>
        </p:nvSpPr>
        <p:spPr>
          <a:xfrm>
            <a:off x="8890500" y="2147825"/>
            <a:ext cx="2920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Statistical graphs </a:t>
            </a:r>
            <a:endParaRPr b="0" i="0" sz="2800" u="none" cap="none" strike="noStrike">
              <a:solidFill>
                <a:srgbClr val="000000"/>
              </a:solidFill>
              <a:latin typeface="Calibri"/>
              <a:ea typeface="Calibri"/>
              <a:cs typeface="Calibri"/>
              <a:sym typeface="Calibri"/>
            </a:endParaRPr>
          </a:p>
        </p:txBody>
      </p:sp>
      <p:pic>
        <p:nvPicPr>
          <p:cNvPr id="449" name="Google Shape;449;g14b51d44415_0_0"/>
          <p:cNvPicPr preferRelativeResize="0"/>
          <p:nvPr/>
        </p:nvPicPr>
        <p:blipFill rotWithShape="1">
          <a:blip r:embed="rId5">
            <a:alphaModFix/>
          </a:blip>
          <a:srcRect b="0" l="0" r="0" t="0"/>
          <a:stretch/>
        </p:blipFill>
        <p:spPr>
          <a:xfrm>
            <a:off x="3956800" y="2763425"/>
            <a:ext cx="6191250" cy="3219450"/>
          </a:xfrm>
          <a:prstGeom prst="rect">
            <a:avLst/>
          </a:prstGeom>
          <a:noFill/>
          <a:ln>
            <a:noFill/>
          </a:ln>
        </p:spPr>
      </p:pic>
      <p:pic>
        <p:nvPicPr>
          <p:cNvPr id="450" name="Google Shape;450;g14b51d44415_0_0"/>
          <p:cNvPicPr preferRelativeResize="0"/>
          <p:nvPr/>
        </p:nvPicPr>
        <p:blipFill rotWithShape="1">
          <a:blip r:embed="rId6">
            <a:alphaModFix/>
          </a:blip>
          <a:srcRect b="0" l="0" r="0" t="0"/>
          <a:stretch/>
        </p:blipFill>
        <p:spPr>
          <a:xfrm>
            <a:off x="6767001" y="2763425"/>
            <a:ext cx="5425000" cy="30563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44"/>
                                        </p:tgtEl>
                                      </p:cBhvr>
                                    </p:animEffect>
                                    <p:set>
                                      <p:cBhvr>
                                        <p:cTn dur="1" fill="hold">
                                          <p:stCondLst>
                                            <p:cond delay="1000"/>
                                          </p:stCondLst>
                                        </p:cTn>
                                        <p:tgtEl>
                                          <p:spTgt spid="4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par>
                                <p:cTn fill="hold" nodeType="with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1000"/>
                                        <p:tgtEl>
                                          <p:spTgt spid="4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45"/>
                                        </p:tgtEl>
                                      </p:cBhvr>
                                    </p:animEffect>
                                    <p:set>
                                      <p:cBhvr>
                                        <p:cTn dur="1" fill="hold">
                                          <p:stCondLst>
                                            <p:cond delay="1000"/>
                                          </p:stCondLst>
                                        </p:cTn>
                                        <p:tgtEl>
                                          <p:spTgt spid="44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1000"/>
                                        <p:tgtEl>
                                          <p:spTgt spid="4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49"/>
                                        </p:tgtEl>
                                      </p:cBhvr>
                                    </p:animEffect>
                                    <p:set>
                                      <p:cBhvr>
                                        <p:cTn dur="1" fill="hold">
                                          <p:stCondLst>
                                            <p:cond delay="1000"/>
                                          </p:stCondLst>
                                        </p:cTn>
                                        <p:tgtEl>
                                          <p:spTgt spid="4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1000"/>
                                        <p:tgtEl>
                                          <p:spTgt spid="4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14b51d44415_0_14"/>
          <p:cNvSpPr txBox="1"/>
          <p:nvPr>
            <p:ph type="title"/>
          </p:nvPr>
        </p:nvSpPr>
        <p:spPr>
          <a:xfrm>
            <a:off x="838200" y="190475"/>
            <a:ext cx="10972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4200">
                <a:solidFill>
                  <a:srgbClr val="2F5496"/>
                </a:solidFill>
                <a:latin typeface="Times New Roman"/>
                <a:ea typeface="Times New Roman"/>
                <a:cs typeface="Times New Roman"/>
                <a:sym typeface="Times New Roman"/>
              </a:rPr>
              <a:t>From Visualization to Visual Data Storytelling An Evolution</a:t>
            </a:r>
            <a:endParaRPr sz="4200"/>
          </a:p>
        </p:txBody>
      </p:sp>
      <p:sp>
        <p:nvSpPr>
          <p:cNvPr id="456" name="Google Shape;456;g14b51d44415_0_14"/>
          <p:cNvSpPr txBox="1"/>
          <p:nvPr>
            <p:ph idx="1" type="body"/>
          </p:nvPr>
        </p:nvSpPr>
        <p:spPr>
          <a:xfrm>
            <a:off x="838200" y="1825625"/>
            <a:ext cx="11070000" cy="435120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rPr lang="en-US"/>
              <a:t>Data visualization aided by:</a:t>
            </a:r>
            <a:endParaRPr/>
          </a:p>
          <a:p>
            <a:pPr indent="-342900" lvl="0" marL="457200" rtl="0" algn="l">
              <a:lnSpc>
                <a:spcPct val="90000"/>
              </a:lnSpc>
              <a:spcBef>
                <a:spcPts val="0"/>
              </a:spcBef>
              <a:spcAft>
                <a:spcPts val="0"/>
              </a:spcAft>
              <a:buSzPts val="1800"/>
              <a:buChar char="•"/>
            </a:pPr>
            <a:r>
              <a:rPr lang="en-US"/>
              <a:t>Advancement in visual design</a:t>
            </a:r>
            <a:endParaRPr/>
          </a:p>
          <a:p>
            <a:pPr indent="-342900" lvl="0" marL="457200" rtl="0" algn="l">
              <a:lnSpc>
                <a:spcPct val="90000"/>
              </a:lnSpc>
              <a:spcBef>
                <a:spcPts val="0"/>
              </a:spcBef>
              <a:spcAft>
                <a:spcPts val="0"/>
              </a:spcAft>
              <a:buSzPts val="1800"/>
              <a:buChar char="•"/>
            </a:pPr>
            <a:r>
              <a:rPr lang="en-US"/>
              <a:t>Cognitive science </a:t>
            </a:r>
            <a:endParaRPr/>
          </a:p>
          <a:p>
            <a:pPr indent="-342900" lvl="0" marL="457200" rtl="0" algn="l">
              <a:lnSpc>
                <a:spcPct val="90000"/>
              </a:lnSpc>
              <a:spcBef>
                <a:spcPts val="0"/>
              </a:spcBef>
              <a:spcAft>
                <a:spcPts val="0"/>
              </a:spcAft>
              <a:buSzPts val="1800"/>
              <a:buChar char="•"/>
            </a:pPr>
            <a:r>
              <a:rPr lang="en-US"/>
              <a:t>Technology and </a:t>
            </a:r>
            <a:endParaRPr/>
          </a:p>
          <a:p>
            <a:pPr indent="-342900" lvl="0" marL="457200" rtl="0" algn="l">
              <a:lnSpc>
                <a:spcPct val="90000"/>
              </a:lnSpc>
              <a:spcBef>
                <a:spcPts val="0"/>
              </a:spcBef>
              <a:spcAft>
                <a:spcPts val="0"/>
              </a:spcAft>
              <a:buSzPts val="1800"/>
              <a:buChar char="•"/>
            </a:pPr>
            <a:r>
              <a:rPr lang="en-US"/>
              <a:t>Business intelligence </a:t>
            </a:r>
            <a:endParaRPr/>
          </a:p>
          <a:p>
            <a:pPr indent="0" lvl="0" marL="0" rtl="0" algn="l">
              <a:lnSpc>
                <a:spcPct val="90000"/>
              </a:lnSpc>
              <a:spcBef>
                <a:spcPts val="0"/>
              </a:spcBef>
              <a:spcAft>
                <a:spcPts val="0"/>
              </a:spcAft>
              <a:buSzPts val="1800"/>
              <a:buNone/>
            </a:pPr>
            <a:r>
              <a:t/>
            </a:r>
            <a:endParaRPr/>
          </a:p>
          <a:p>
            <a:pPr indent="0" lvl="0" marL="0" rtl="0" algn="l">
              <a:lnSpc>
                <a:spcPct val="115000"/>
              </a:lnSpc>
              <a:spcBef>
                <a:spcPts val="0"/>
              </a:spcBef>
              <a:spcAft>
                <a:spcPts val="0"/>
              </a:spcAft>
              <a:buClr>
                <a:schemeClr val="dk1"/>
              </a:buClr>
              <a:buSzPts val="1100"/>
              <a:buFont typeface="Arial"/>
              <a:buNone/>
            </a:pPr>
            <a:r>
              <a:rPr lang="en-US"/>
              <a:t>An emerging new approach to storytelling attempts to combine data with graphics and tell the world’s stories through the power of information visualization.</a:t>
            </a:r>
            <a:endParaRPr sz="1100">
              <a:solidFill>
                <a:srgbClr val="333333"/>
              </a:solidFill>
              <a:latin typeface="Arial"/>
              <a:ea typeface="Arial"/>
              <a:cs typeface="Arial"/>
              <a:sym typeface="Arial"/>
            </a:endParaRPr>
          </a:p>
          <a:p>
            <a:pPr indent="0" lvl="0" marL="0" rtl="0" algn="l">
              <a:lnSpc>
                <a:spcPct val="90000"/>
              </a:lnSpc>
              <a:spcBef>
                <a:spcPts val="0"/>
              </a:spcBef>
              <a:spcAft>
                <a:spcPts val="0"/>
              </a:spcAft>
              <a:buSzPts val="1800"/>
              <a:buNone/>
            </a:pPr>
            <a:r>
              <a:t/>
            </a:r>
            <a:endParaRPr/>
          </a:p>
          <a:p>
            <a:pPr indent="0" lvl="0" marL="457200" rtl="0" algn="l">
              <a:lnSpc>
                <a:spcPct val="90000"/>
              </a:lnSpc>
              <a:spcBef>
                <a:spcPts val="0"/>
              </a:spcBef>
              <a:spcAft>
                <a:spcPts val="0"/>
              </a:spcAft>
              <a:buSzPts val="1800"/>
              <a:buNone/>
            </a:pPr>
            <a:r>
              <a:t/>
            </a:r>
            <a:endParaRPr/>
          </a:p>
          <a:p>
            <a:pPr indent="0" lvl="0" marL="457200" rtl="0" algn="l">
              <a:lnSpc>
                <a:spcPct val="90000"/>
              </a:lnSpc>
              <a:spcBef>
                <a:spcPts val="0"/>
              </a:spcBef>
              <a:spcAft>
                <a:spcPts val="0"/>
              </a:spcAft>
              <a:buSzPts val="1800"/>
              <a:buNone/>
            </a:pPr>
            <a:r>
              <a:t/>
            </a:r>
            <a:endParaRPr/>
          </a:p>
        </p:txBody>
      </p:sp>
      <p:sp>
        <p:nvSpPr>
          <p:cNvPr id="457" name="Google Shape;457;g14b51d44415_0_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458" name="Google Shape;458;g14b51d44415_0_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10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14b51d44415_0_29"/>
          <p:cNvSpPr txBox="1"/>
          <p:nvPr>
            <p:ph type="title"/>
          </p:nvPr>
        </p:nvSpPr>
        <p:spPr>
          <a:xfrm>
            <a:off x="838200" y="190475"/>
            <a:ext cx="10972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4200">
                <a:solidFill>
                  <a:srgbClr val="2F5496"/>
                </a:solidFill>
                <a:latin typeface="Times New Roman"/>
                <a:ea typeface="Times New Roman"/>
                <a:cs typeface="Times New Roman"/>
                <a:sym typeface="Times New Roman"/>
              </a:rPr>
              <a:t>From Visualization to Visual Data Storytelling: An Evolution</a:t>
            </a:r>
            <a:endParaRPr sz="4200"/>
          </a:p>
        </p:txBody>
      </p:sp>
      <p:sp>
        <p:nvSpPr>
          <p:cNvPr id="464" name="Google Shape;464;g14b51d44415_0_29"/>
          <p:cNvSpPr txBox="1"/>
          <p:nvPr>
            <p:ph idx="1" type="body"/>
          </p:nvPr>
        </p:nvSpPr>
        <p:spPr>
          <a:xfrm>
            <a:off x="838200" y="1825625"/>
            <a:ext cx="110700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Evidence of the cognitive effects of storytelling in neurology is it’s a central way that we learn, remember, and communicate information.</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Important goal of visual story is to prepare business decision makers to leave a data presentation with a story in their head that helps them both to </a:t>
            </a:r>
            <a:r>
              <a:rPr b="1" lang="en-US"/>
              <a:t>remembe</a:t>
            </a:r>
            <a:r>
              <a:rPr lang="en-US"/>
              <a:t>r your message and </a:t>
            </a:r>
            <a:r>
              <a:rPr b="1" lang="en-US"/>
              <a:t>take action</a:t>
            </a:r>
            <a:r>
              <a:rPr lang="en-US"/>
              <a:t> on it.</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Data stories provide tool to communicate information in ways the facts and figures alone can’t.</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p:txBody>
      </p:sp>
      <p:sp>
        <p:nvSpPr>
          <p:cNvPr id="465" name="Google Shape;465;g14b51d44415_0_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466" name="Google Shape;466;g14b51d44415_0_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1000"/>
                                        <p:tgtEl>
                                          <p:spTgt spid="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14b51d44415_0_36"/>
          <p:cNvSpPr txBox="1"/>
          <p:nvPr>
            <p:ph type="title"/>
          </p:nvPr>
        </p:nvSpPr>
        <p:spPr>
          <a:xfrm>
            <a:off x="838200" y="190475"/>
            <a:ext cx="10972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4200">
                <a:solidFill>
                  <a:srgbClr val="2F5496"/>
                </a:solidFill>
                <a:latin typeface="Times New Roman"/>
                <a:ea typeface="Times New Roman"/>
                <a:cs typeface="Times New Roman"/>
                <a:sym typeface="Times New Roman"/>
              </a:rPr>
              <a:t>From Visualization to Visual Data Storytelling: An Evolution</a:t>
            </a:r>
            <a:endParaRPr sz="4200"/>
          </a:p>
        </p:txBody>
      </p:sp>
      <p:sp>
        <p:nvSpPr>
          <p:cNvPr id="472" name="Google Shape;472;g14b51d44415_0_36"/>
          <p:cNvSpPr txBox="1"/>
          <p:nvPr>
            <p:ph idx="1" type="body"/>
          </p:nvPr>
        </p:nvSpPr>
        <p:spPr>
          <a:xfrm>
            <a:off x="838200" y="1825625"/>
            <a:ext cx="110700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Storytelling Process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p:txBody>
      </p:sp>
      <p:sp>
        <p:nvSpPr>
          <p:cNvPr id="473" name="Google Shape;473;g14b51d44415_0_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474" name="Google Shape;474;g14b51d44415_0_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475" name="Google Shape;475;g14b51d44415_0_36"/>
          <p:cNvSpPr/>
          <p:nvPr/>
        </p:nvSpPr>
        <p:spPr>
          <a:xfrm>
            <a:off x="1218675" y="2651225"/>
            <a:ext cx="8956199" cy="2115925"/>
          </a:xfrm>
          <a:prstGeom prst="rect">
            <a:avLst/>
          </a:prstGeom>
          <a:no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000"/>
                                        <p:tgtEl>
                                          <p:spTgt spid="4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16"/>
          <p:cNvSpPr txBox="1"/>
          <p:nvPr>
            <p:ph type="title"/>
          </p:nvPr>
        </p:nvSpPr>
        <p:spPr>
          <a:xfrm>
            <a:off x="838200" y="-2"/>
            <a:ext cx="10515600" cy="1040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a:solidFill>
                  <a:srgbClr val="2F5496"/>
                </a:solidFill>
                <a:latin typeface="Times New Roman"/>
                <a:ea typeface="Times New Roman"/>
                <a:cs typeface="Times New Roman"/>
                <a:sym typeface="Times New Roman"/>
              </a:rPr>
              <a:t>From Visual to Story: Bridging the Gap</a:t>
            </a:r>
            <a:endParaRPr/>
          </a:p>
        </p:txBody>
      </p:sp>
      <p:sp>
        <p:nvSpPr>
          <p:cNvPr id="481" name="Google Shape;481;p16"/>
          <p:cNvSpPr txBox="1"/>
          <p:nvPr>
            <p:ph idx="1" type="body"/>
          </p:nvPr>
        </p:nvSpPr>
        <p:spPr>
          <a:xfrm>
            <a:off x="838200" y="1120725"/>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Char char="•"/>
            </a:pPr>
            <a:r>
              <a:rPr lang="en-US"/>
              <a:t>Data Storytelling is needed as amount of data is growing day-by-day</a:t>
            </a:r>
            <a:endParaRPr/>
          </a:p>
          <a:p>
            <a:pPr indent="-342900" lvl="0" marL="457200" rtl="0" algn="l">
              <a:lnSpc>
                <a:spcPct val="90000"/>
              </a:lnSpc>
              <a:spcBef>
                <a:spcPts val="0"/>
              </a:spcBef>
              <a:spcAft>
                <a:spcPts val="0"/>
              </a:spcAft>
              <a:buSzPts val="1800"/>
              <a:buChar char="•"/>
            </a:pPr>
            <a:r>
              <a:rPr lang="en-US"/>
              <a:t> Steps </a:t>
            </a:r>
            <a:endParaRPr/>
          </a:p>
          <a:p>
            <a:pPr indent="-342900" lvl="0" marL="914400" rtl="0" algn="l">
              <a:lnSpc>
                <a:spcPct val="90000"/>
              </a:lnSpc>
              <a:spcBef>
                <a:spcPts val="0"/>
              </a:spcBef>
              <a:spcAft>
                <a:spcPts val="0"/>
              </a:spcAft>
              <a:buSzPts val="1800"/>
              <a:buAutoNum type="arabicPeriod"/>
            </a:pPr>
            <a:r>
              <a:rPr lang="en-US"/>
              <a:t>Create Data</a:t>
            </a:r>
            <a:endParaRPr/>
          </a:p>
          <a:p>
            <a:pPr indent="-342900" lvl="0" marL="914400" rtl="0" algn="l">
              <a:lnSpc>
                <a:spcPct val="90000"/>
              </a:lnSpc>
              <a:spcBef>
                <a:spcPts val="0"/>
              </a:spcBef>
              <a:spcAft>
                <a:spcPts val="0"/>
              </a:spcAft>
              <a:buSzPts val="1800"/>
              <a:buAutoNum type="arabicPeriod"/>
            </a:pPr>
            <a:r>
              <a:rPr lang="en-US"/>
              <a:t>Collect Data</a:t>
            </a:r>
            <a:endParaRPr/>
          </a:p>
          <a:p>
            <a:pPr indent="-342900" lvl="0" marL="914400" rtl="0" algn="l">
              <a:lnSpc>
                <a:spcPct val="90000"/>
              </a:lnSpc>
              <a:spcBef>
                <a:spcPts val="0"/>
              </a:spcBef>
              <a:spcAft>
                <a:spcPts val="0"/>
              </a:spcAft>
              <a:buSzPts val="1800"/>
              <a:buAutoNum type="arabicPeriod"/>
            </a:pPr>
            <a:r>
              <a:rPr lang="en-US"/>
              <a:t>Clean/ Prepare Data</a:t>
            </a:r>
            <a:endParaRPr/>
          </a:p>
          <a:p>
            <a:pPr indent="-342900" lvl="0" marL="914400" rtl="0" algn="l">
              <a:lnSpc>
                <a:spcPct val="90000"/>
              </a:lnSpc>
              <a:spcBef>
                <a:spcPts val="0"/>
              </a:spcBef>
              <a:spcAft>
                <a:spcPts val="0"/>
              </a:spcAft>
              <a:buSzPts val="1800"/>
              <a:buAutoNum type="arabicPeriod"/>
            </a:pPr>
            <a:r>
              <a:rPr lang="en-US"/>
              <a:t>Present Data (Visualization)</a:t>
            </a:r>
            <a:endParaRPr/>
          </a:p>
          <a:p>
            <a:pPr indent="-342900" lvl="0" marL="914400" rtl="0" algn="l">
              <a:lnSpc>
                <a:spcPct val="90000"/>
              </a:lnSpc>
              <a:spcBef>
                <a:spcPts val="0"/>
              </a:spcBef>
              <a:spcAft>
                <a:spcPts val="0"/>
              </a:spcAft>
              <a:buSzPts val="1800"/>
              <a:buAutoNum type="arabicPeriod"/>
            </a:pPr>
            <a:r>
              <a:rPr lang="en-US"/>
              <a:t>Storytelling (Communication)</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a:p>
            <a:pPr indent="0" lvl="0" marL="1828800" rtl="0" algn="l">
              <a:lnSpc>
                <a:spcPct val="90000"/>
              </a:lnSpc>
              <a:spcBef>
                <a:spcPts val="0"/>
              </a:spcBef>
              <a:spcAft>
                <a:spcPts val="0"/>
              </a:spcAft>
              <a:buSzPts val="1800"/>
              <a:buNone/>
            </a:pPr>
            <a:r>
              <a:t/>
            </a:r>
            <a:endParaRPr/>
          </a:p>
          <a:p>
            <a:pPr indent="-50800" lvl="0" marL="228600" rtl="0" algn="l">
              <a:lnSpc>
                <a:spcPct val="90000"/>
              </a:lnSpc>
              <a:spcBef>
                <a:spcPts val="0"/>
              </a:spcBef>
              <a:spcAft>
                <a:spcPts val="0"/>
              </a:spcAft>
              <a:buClr>
                <a:schemeClr val="dk1"/>
              </a:buClr>
              <a:buSzPts val="2800"/>
              <a:buNone/>
            </a:pPr>
            <a:r>
              <a:t/>
            </a:r>
            <a:endParaRPr/>
          </a:p>
        </p:txBody>
      </p:sp>
      <p:sp>
        <p:nvSpPr>
          <p:cNvPr id="482" name="Google Shape;482;p16"/>
          <p:cNvSpPr txBox="1"/>
          <p:nvPr>
            <p:ph idx="11" type="ftr"/>
          </p:nvPr>
        </p:nvSpPr>
        <p:spPr>
          <a:xfrm>
            <a:off x="4038600" y="6165304"/>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483" name="Google Shape;48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Data Visualization V/s Data Storytelling </a:t>
            </a:r>
            <a:endParaRPr/>
          </a:p>
        </p:txBody>
      </p:sp>
      <p:sp>
        <p:nvSpPr>
          <p:cNvPr id="489" name="Google Shape;489;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the practice of graphically representing data to help people see and understand patterns, insights, and other discoveries hidden inside information</a:t>
            </a:r>
            <a:endParaRPr/>
          </a:p>
          <a:p>
            <a:pPr indent="-228600" lvl="0" marL="228600" rtl="0" algn="just">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Data storytelling:  </a:t>
            </a:r>
            <a:r>
              <a:rPr lang="en-US">
                <a:latin typeface="Times New Roman"/>
                <a:ea typeface="Times New Roman"/>
                <a:cs typeface="Times New Roman"/>
                <a:sym typeface="Times New Roman"/>
              </a:rPr>
              <a:t>translate seeing into meaning by weaving a narrative around the data to answer questions and support decision making</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
        <p:nvSpPr>
          <p:cNvPr id="490" name="Google Shape;49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491" name="Google Shape;49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g153c3bd0df0_0_3"/>
          <p:cNvSpPr txBox="1"/>
          <p:nvPr>
            <p:ph type="title"/>
          </p:nvPr>
        </p:nvSpPr>
        <p:spPr>
          <a:xfrm>
            <a:off x="838200" y="0"/>
            <a:ext cx="10515600" cy="722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Digital Storytelling </a:t>
            </a:r>
            <a:endParaRPr/>
          </a:p>
        </p:txBody>
      </p:sp>
      <p:sp>
        <p:nvSpPr>
          <p:cNvPr id="497" name="Google Shape;497;g153c3bd0df0_0_3"/>
          <p:cNvSpPr txBox="1"/>
          <p:nvPr>
            <p:ph idx="1" type="body"/>
          </p:nvPr>
        </p:nvSpPr>
        <p:spPr>
          <a:xfrm>
            <a:off x="838200" y="866575"/>
            <a:ext cx="10515600" cy="5216400"/>
          </a:xfrm>
          <a:prstGeom prst="rect">
            <a:avLst/>
          </a:prstGeom>
          <a:noFill/>
          <a:ln>
            <a:noFill/>
          </a:ln>
        </p:spPr>
        <p:txBody>
          <a:bodyPr anchorCtr="0" anchor="t" bIns="45700" lIns="91425" spcFirstLastPara="1" rIns="91425" wrap="square" tIns="45700">
            <a:normAutofit fontScale="25000" lnSpcReduction="20000"/>
          </a:bodyPr>
          <a:lstStyle/>
          <a:p>
            <a:pPr indent="-209550" lvl="0" marL="228600" rtl="0" algn="just">
              <a:lnSpc>
                <a:spcPct val="90000"/>
              </a:lnSpc>
              <a:spcBef>
                <a:spcPts val="1000"/>
              </a:spcBef>
              <a:spcAft>
                <a:spcPts val="0"/>
              </a:spcAft>
              <a:buClr>
                <a:schemeClr val="dk1"/>
              </a:buClr>
              <a:buSzPct val="100000"/>
              <a:buChar char="•"/>
            </a:pPr>
            <a:r>
              <a:rPr b="1" lang="en-US" sz="10000">
                <a:latin typeface="Times New Roman"/>
                <a:ea typeface="Times New Roman"/>
                <a:cs typeface="Times New Roman"/>
                <a:sym typeface="Times New Roman"/>
              </a:rPr>
              <a:t>Process of using Digital Technology to communicate to aid taking decision making </a:t>
            </a:r>
            <a:endParaRPr sz="10000"/>
          </a:p>
          <a:p>
            <a:pPr indent="0" lvl="0" marL="0" rtl="0" algn="l">
              <a:lnSpc>
                <a:spcPct val="90000"/>
              </a:lnSpc>
              <a:spcBef>
                <a:spcPts val="1000"/>
              </a:spcBef>
              <a:spcAft>
                <a:spcPts val="0"/>
              </a:spcAft>
              <a:buClr>
                <a:schemeClr val="dk1"/>
              </a:buClr>
              <a:buSzPct val="35408"/>
              <a:buNone/>
            </a:pPr>
            <a:r>
              <a:t/>
            </a:r>
            <a:endParaRPr sz="7907">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ct val="28000"/>
              <a:buNone/>
            </a:pPr>
            <a:r>
              <a:rPr b="1" lang="en-US" sz="10000">
                <a:latin typeface="Times New Roman"/>
                <a:ea typeface="Times New Roman"/>
                <a:cs typeface="Times New Roman"/>
                <a:sym typeface="Times New Roman"/>
              </a:rPr>
              <a:t>Process of Storytelling:</a:t>
            </a:r>
            <a:endParaRPr sz="7907">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Use of media</a:t>
            </a:r>
            <a:endParaRPr sz="11107">
              <a:latin typeface="Times New Roman"/>
              <a:ea typeface="Times New Roman"/>
              <a:cs typeface="Times New Roman"/>
              <a:sym typeface="Times New Roman"/>
            </a:endParaRPr>
          </a:p>
          <a:p>
            <a:pPr indent="0" lvl="0" marL="45720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Text,</a:t>
            </a:r>
            <a:endParaRPr sz="11107">
              <a:latin typeface="Times New Roman"/>
              <a:ea typeface="Times New Roman"/>
              <a:cs typeface="Times New Roman"/>
              <a:sym typeface="Times New Roman"/>
            </a:endParaRPr>
          </a:p>
          <a:p>
            <a:pPr indent="0" lvl="0" marL="45720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Visuals</a:t>
            </a:r>
            <a:endParaRPr sz="11107">
              <a:latin typeface="Times New Roman"/>
              <a:ea typeface="Times New Roman"/>
              <a:cs typeface="Times New Roman"/>
              <a:sym typeface="Times New Roman"/>
            </a:endParaRPr>
          </a:p>
          <a:p>
            <a:pPr indent="457200" lvl="0" marL="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Music</a:t>
            </a:r>
            <a:endParaRPr sz="11107">
              <a:latin typeface="Times New Roman"/>
              <a:ea typeface="Times New Roman"/>
              <a:cs typeface="Times New Roman"/>
              <a:sym typeface="Times New Roman"/>
            </a:endParaRPr>
          </a:p>
          <a:p>
            <a:pPr indent="457200" lvl="0" marL="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Video</a:t>
            </a:r>
            <a:endParaRPr sz="11107">
              <a:latin typeface="Times New Roman"/>
              <a:ea typeface="Times New Roman"/>
              <a:cs typeface="Times New Roman"/>
              <a:sym typeface="Times New Roman"/>
            </a:endParaRPr>
          </a:p>
          <a:p>
            <a:pPr indent="457200" lvl="0" marL="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Voice</a:t>
            </a:r>
            <a:endParaRPr sz="11107">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ct val="44390"/>
              <a:buNone/>
            </a:pPr>
            <a:r>
              <a:t/>
            </a:r>
            <a:endParaRPr sz="6307">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700"/>
              <a:buNone/>
            </a:pPr>
            <a:r>
              <a:rPr lang="en-US" sz="14707">
                <a:solidFill>
                  <a:srgbClr val="FF0000"/>
                </a:solidFill>
                <a:highlight>
                  <a:srgbClr val="FFF2CC"/>
                </a:highlight>
                <a:latin typeface="Times New Roman"/>
                <a:ea typeface="Times New Roman"/>
                <a:cs typeface="Times New Roman"/>
                <a:sym typeface="Times New Roman"/>
              </a:rPr>
              <a:t>To reach to wider audience in more convincing way</a:t>
            </a:r>
            <a:r>
              <a:rPr lang="en-US" sz="14707">
                <a:solidFill>
                  <a:srgbClr val="FF0000"/>
                </a:solidFill>
                <a:highlight>
                  <a:srgbClr val="6D9EEB"/>
                </a:highlight>
                <a:latin typeface="Times New Roman"/>
                <a:ea typeface="Times New Roman"/>
                <a:cs typeface="Times New Roman"/>
                <a:sym typeface="Times New Roman"/>
              </a:rPr>
              <a:t> </a:t>
            </a:r>
            <a:endParaRPr sz="14707">
              <a:solidFill>
                <a:srgbClr val="FF0000"/>
              </a:solidFill>
              <a:highlight>
                <a:srgbClr val="6D9EEB"/>
              </a:highlight>
              <a:latin typeface="Times New Roman"/>
              <a:ea typeface="Times New Roman"/>
              <a:cs typeface="Times New Roman"/>
              <a:sym typeface="Times New Roman"/>
            </a:endParaRPr>
          </a:p>
          <a:p>
            <a:pPr indent="0" lvl="0" marL="177800" rtl="0" algn="l">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p:txBody>
      </p:sp>
      <p:sp>
        <p:nvSpPr>
          <p:cNvPr id="498" name="Google Shape;498;g153c3bd0df0_0_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499" name="Google Shape;499;g153c3bd0df0_0_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g153c3bd0df0_0_10"/>
          <p:cNvSpPr txBox="1"/>
          <p:nvPr>
            <p:ph type="title"/>
          </p:nvPr>
        </p:nvSpPr>
        <p:spPr>
          <a:xfrm>
            <a:off x="838200" y="0"/>
            <a:ext cx="10515600" cy="722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Digital Storytelling </a:t>
            </a:r>
            <a:endParaRPr/>
          </a:p>
        </p:txBody>
      </p:sp>
      <p:sp>
        <p:nvSpPr>
          <p:cNvPr id="505" name="Google Shape;505;g153c3bd0df0_0_10"/>
          <p:cNvSpPr txBox="1"/>
          <p:nvPr>
            <p:ph idx="1" type="body"/>
          </p:nvPr>
        </p:nvSpPr>
        <p:spPr>
          <a:xfrm>
            <a:off x="838200" y="866575"/>
            <a:ext cx="10515600" cy="2023800"/>
          </a:xfrm>
          <a:prstGeom prst="rect">
            <a:avLst/>
          </a:prstGeom>
          <a:noFill/>
          <a:ln>
            <a:noFill/>
          </a:ln>
        </p:spPr>
        <p:txBody>
          <a:bodyPr anchorCtr="0" anchor="t" bIns="45700" lIns="91425" spcFirstLastPara="1" rIns="91425" wrap="square" tIns="45700">
            <a:normAutofit/>
          </a:bodyPr>
          <a:lstStyle/>
          <a:p>
            <a:pPr indent="0" lvl="0" marL="177800" rtl="0" algn="l">
              <a:lnSpc>
                <a:spcPct val="90000"/>
              </a:lnSpc>
              <a:spcBef>
                <a:spcPts val="1000"/>
              </a:spcBef>
              <a:spcAft>
                <a:spcPts val="0"/>
              </a:spcAft>
              <a:buClr>
                <a:schemeClr val="dk1"/>
              </a:buClr>
              <a:buSzPts val="2800"/>
              <a:buNone/>
            </a:pPr>
            <a:r>
              <a:rPr lang="en-US" sz="2500">
                <a:solidFill>
                  <a:srgbClr val="FF0000"/>
                </a:solidFill>
                <a:highlight>
                  <a:srgbClr val="FFF2CC"/>
                </a:highlight>
                <a:latin typeface="Times New Roman"/>
                <a:ea typeface="Times New Roman"/>
                <a:cs typeface="Times New Roman"/>
                <a:sym typeface="Times New Roman"/>
              </a:rPr>
              <a:t>Data:</a:t>
            </a:r>
            <a:endParaRPr sz="2500">
              <a:solidFill>
                <a:srgbClr val="FF0000"/>
              </a:solidFill>
              <a:highlight>
                <a:srgbClr val="FFF2CC"/>
              </a:highlight>
              <a:latin typeface="Times New Roman"/>
              <a:ea typeface="Times New Roman"/>
              <a:cs typeface="Times New Roman"/>
              <a:sym typeface="Times New Roman"/>
            </a:endParaRPr>
          </a:p>
          <a:p>
            <a:pPr indent="0" lvl="0" marL="177800" rtl="0" algn="l">
              <a:lnSpc>
                <a:spcPct val="90000"/>
              </a:lnSpc>
              <a:spcBef>
                <a:spcPts val="1000"/>
              </a:spcBef>
              <a:spcAft>
                <a:spcPts val="0"/>
              </a:spcAft>
              <a:buClr>
                <a:schemeClr val="dk1"/>
              </a:buClr>
              <a:buSzPts val="2800"/>
              <a:buNone/>
            </a:pPr>
            <a:r>
              <a:rPr lang="en-US" sz="2500">
                <a:highlight>
                  <a:schemeClr val="lt1"/>
                </a:highlight>
                <a:latin typeface="Times New Roman"/>
                <a:ea typeface="Times New Roman"/>
                <a:cs typeface="Times New Roman"/>
                <a:sym typeface="Times New Roman"/>
              </a:rPr>
              <a:t>How to prepare pasta :</a:t>
            </a:r>
            <a:endParaRPr sz="2500">
              <a:highlight>
                <a:schemeClr val="lt1"/>
              </a:highlight>
              <a:latin typeface="Times New Roman"/>
              <a:ea typeface="Times New Roman"/>
              <a:cs typeface="Times New Roman"/>
              <a:sym typeface="Times New Roman"/>
            </a:endParaRPr>
          </a:p>
          <a:p>
            <a:pPr indent="0" lvl="0" marL="177800" rtl="0" algn="l">
              <a:lnSpc>
                <a:spcPct val="90000"/>
              </a:lnSpc>
              <a:spcBef>
                <a:spcPts val="1000"/>
              </a:spcBef>
              <a:spcAft>
                <a:spcPts val="0"/>
              </a:spcAft>
              <a:buClr>
                <a:schemeClr val="dk1"/>
              </a:buClr>
              <a:buSzPts val="2800"/>
              <a:buNone/>
            </a:pPr>
            <a:r>
              <a:rPr lang="en-US" sz="2500">
                <a:highlight>
                  <a:schemeClr val="lt1"/>
                </a:highlight>
                <a:latin typeface="Times New Roman"/>
                <a:ea typeface="Times New Roman"/>
                <a:cs typeface="Times New Roman"/>
                <a:sym typeface="Times New Roman"/>
              </a:rPr>
              <a:t>Ingredients</a:t>
            </a:r>
            <a:endParaRPr sz="2500">
              <a:highlight>
                <a:schemeClr val="lt1"/>
              </a:highlight>
              <a:latin typeface="Times New Roman"/>
              <a:ea typeface="Times New Roman"/>
              <a:cs typeface="Times New Roman"/>
              <a:sym typeface="Times New Roman"/>
            </a:endParaRPr>
          </a:p>
          <a:p>
            <a:pPr indent="0" lvl="0" marL="177800" rtl="0" algn="l">
              <a:lnSpc>
                <a:spcPct val="90000"/>
              </a:lnSpc>
              <a:spcBef>
                <a:spcPts val="1000"/>
              </a:spcBef>
              <a:spcAft>
                <a:spcPts val="0"/>
              </a:spcAft>
              <a:buClr>
                <a:schemeClr val="dk1"/>
              </a:buClr>
              <a:buSzPts val="2800"/>
              <a:buNone/>
            </a:pPr>
            <a:r>
              <a:rPr lang="en-US" sz="2500">
                <a:highlight>
                  <a:schemeClr val="lt1"/>
                </a:highlight>
                <a:latin typeface="Times New Roman"/>
                <a:ea typeface="Times New Roman"/>
                <a:cs typeface="Times New Roman"/>
                <a:sym typeface="Times New Roman"/>
              </a:rPr>
              <a:t>Process/ Procedure</a:t>
            </a:r>
            <a:endParaRPr sz="2500">
              <a:solidFill>
                <a:srgbClr val="FF0000"/>
              </a:solidFill>
              <a:highlight>
                <a:srgbClr val="FFF2CC"/>
              </a:highlight>
              <a:latin typeface="Times New Roman"/>
              <a:ea typeface="Times New Roman"/>
              <a:cs typeface="Times New Roman"/>
              <a:sym typeface="Times New Roman"/>
            </a:endParaRPr>
          </a:p>
        </p:txBody>
      </p:sp>
      <p:sp>
        <p:nvSpPr>
          <p:cNvPr id="506" name="Google Shape;506;g153c3bd0df0_0_1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b="1">
              <a:solidFill>
                <a:srgbClr val="833C0B"/>
              </a:solidFill>
            </a:endParaRPr>
          </a:p>
        </p:txBody>
      </p:sp>
      <p:sp>
        <p:nvSpPr>
          <p:cNvPr id="507" name="Google Shape;507;g153c3bd0df0_0_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descr="Image result for difference between visualization and presentation" id="508" name="Google Shape;508;g153c3bd0df0_0_10"/>
          <p:cNvPicPr preferRelativeResize="0"/>
          <p:nvPr/>
        </p:nvPicPr>
        <p:blipFill rotWithShape="1">
          <a:blip r:embed="rId3">
            <a:alphaModFix/>
          </a:blip>
          <a:srcRect b="0" l="0" r="51872" t="22390"/>
          <a:stretch/>
        </p:blipFill>
        <p:spPr>
          <a:xfrm>
            <a:off x="4799856" y="1052736"/>
            <a:ext cx="3901050" cy="2328525"/>
          </a:xfrm>
          <a:prstGeom prst="rect">
            <a:avLst/>
          </a:prstGeom>
          <a:noFill/>
          <a:ln>
            <a:noFill/>
          </a:ln>
        </p:spPr>
      </p:pic>
      <p:sp>
        <p:nvSpPr>
          <p:cNvPr id="509" name="Google Shape;509;g153c3bd0df0_0_10"/>
          <p:cNvSpPr txBox="1"/>
          <p:nvPr/>
        </p:nvSpPr>
        <p:spPr>
          <a:xfrm>
            <a:off x="936775" y="2904113"/>
            <a:ext cx="3000000" cy="1351800"/>
          </a:xfrm>
          <a:prstGeom prst="rect">
            <a:avLst/>
          </a:prstGeom>
          <a:noFill/>
          <a:ln>
            <a:noFill/>
          </a:ln>
        </p:spPr>
        <p:txBody>
          <a:bodyPr anchorCtr="0" anchor="t" bIns="91425" lIns="91425" spcFirstLastPara="1" rIns="91425" wrap="square" tIns="91425">
            <a:spAutoFit/>
          </a:bodyPr>
          <a:lstStyle/>
          <a:p>
            <a:pPr indent="0" lvl="0" marL="177800" marR="0" rtl="0" algn="l">
              <a:lnSpc>
                <a:spcPct val="90000"/>
              </a:lnSpc>
              <a:spcBef>
                <a:spcPts val="1000"/>
              </a:spcBef>
              <a:spcAft>
                <a:spcPts val="0"/>
              </a:spcAft>
              <a:buClr>
                <a:srgbClr val="000000"/>
              </a:buClr>
              <a:buSzPts val="2500"/>
              <a:buFont typeface="Arial"/>
              <a:buNone/>
            </a:pPr>
            <a:r>
              <a:rPr b="0" i="0" lang="en-US" sz="2500" u="none" cap="none" strike="noStrike">
                <a:solidFill>
                  <a:srgbClr val="FF0000"/>
                </a:solidFill>
                <a:highlight>
                  <a:srgbClr val="FFF2CC"/>
                </a:highlight>
                <a:latin typeface="Times New Roman"/>
                <a:ea typeface="Times New Roman"/>
                <a:cs typeface="Times New Roman"/>
                <a:sym typeface="Times New Roman"/>
              </a:rPr>
              <a:t>Visualisation:</a:t>
            </a:r>
            <a:endParaRPr b="0" i="0" sz="2500" u="none" cap="none" strike="noStrike">
              <a:solidFill>
                <a:srgbClr val="FF0000"/>
              </a:solidFill>
              <a:highlight>
                <a:srgbClr val="FFF2CC"/>
              </a:highlight>
              <a:latin typeface="Times New Roman"/>
              <a:ea typeface="Times New Roman"/>
              <a:cs typeface="Times New Roman"/>
              <a:sym typeface="Times New Roman"/>
            </a:endParaRPr>
          </a:p>
          <a:p>
            <a:pPr indent="0" lvl="0" marL="177800" marR="0" rtl="0" algn="l">
              <a:lnSpc>
                <a:spcPct val="90000"/>
              </a:lnSpc>
              <a:spcBef>
                <a:spcPts val="1000"/>
              </a:spcBef>
              <a:spcAft>
                <a:spcPts val="0"/>
              </a:spcAft>
              <a:buClr>
                <a:srgbClr val="000000"/>
              </a:buClr>
              <a:buSzPts val="2500"/>
              <a:buFont typeface="Arial"/>
              <a:buNone/>
            </a:pPr>
            <a:r>
              <a:rPr b="0" i="0" lang="en-US" sz="2500" u="none" cap="none" strike="noStrike">
                <a:solidFill>
                  <a:schemeClr val="dk1"/>
                </a:solidFill>
                <a:highlight>
                  <a:schemeClr val="lt1"/>
                </a:highlight>
                <a:latin typeface="Times New Roman"/>
                <a:ea typeface="Times New Roman"/>
                <a:cs typeface="Times New Roman"/>
                <a:sym typeface="Times New Roman"/>
              </a:rPr>
              <a:t>Use images to express</a:t>
            </a:r>
            <a:endParaRPr b="0" i="0" sz="1400" u="none" cap="none" strike="noStrike">
              <a:solidFill>
                <a:srgbClr val="000000"/>
              </a:solidFill>
              <a:latin typeface="Arial"/>
              <a:ea typeface="Arial"/>
              <a:cs typeface="Arial"/>
              <a:sym typeface="Arial"/>
            </a:endParaRPr>
          </a:p>
        </p:txBody>
      </p:sp>
      <p:sp>
        <p:nvSpPr>
          <p:cNvPr id="510" name="Google Shape;510;g153c3bd0df0_0_10"/>
          <p:cNvSpPr txBox="1"/>
          <p:nvPr/>
        </p:nvSpPr>
        <p:spPr>
          <a:xfrm>
            <a:off x="936775" y="4809700"/>
            <a:ext cx="3000000" cy="531000"/>
          </a:xfrm>
          <a:prstGeom prst="rect">
            <a:avLst/>
          </a:prstGeom>
          <a:noFill/>
          <a:ln>
            <a:noFill/>
          </a:ln>
        </p:spPr>
        <p:txBody>
          <a:bodyPr anchorCtr="0" anchor="t" bIns="91425" lIns="91425" spcFirstLastPara="1" rIns="91425" wrap="square" tIns="91425">
            <a:spAutoFit/>
          </a:bodyPr>
          <a:lstStyle/>
          <a:p>
            <a:pPr indent="0" lvl="0" marL="177800" marR="0" rtl="0" algn="l">
              <a:lnSpc>
                <a:spcPct val="90000"/>
              </a:lnSpc>
              <a:spcBef>
                <a:spcPts val="1000"/>
              </a:spcBef>
              <a:spcAft>
                <a:spcPts val="0"/>
              </a:spcAft>
              <a:buClr>
                <a:srgbClr val="000000"/>
              </a:buClr>
              <a:buSzPts val="2500"/>
              <a:buFont typeface="Arial"/>
              <a:buNone/>
            </a:pPr>
            <a:r>
              <a:rPr b="0" i="0" lang="en-US" sz="2500" u="none" cap="none" strike="noStrike">
                <a:solidFill>
                  <a:srgbClr val="FF0000"/>
                </a:solidFill>
                <a:highlight>
                  <a:srgbClr val="FFF2CC"/>
                </a:highlight>
                <a:latin typeface="Times New Roman"/>
                <a:ea typeface="Times New Roman"/>
                <a:cs typeface="Times New Roman"/>
                <a:sym typeface="Times New Roman"/>
              </a:rPr>
              <a:t>Presentation:</a:t>
            </a:r>
            <a:endParaRPr b="0" i="0" sz="1400" u="none" cap="none" strike="noStrike">
              <a:solidFill>
                <a:srgbClr val="000000"/>
              </a:solidFill>
              <a:latin typeface="Arial"/>
              <a:ea typeface="Arial"/>
              <a:cs typeface="Arial"/>
              <a:sym typeface="Arial"/>
            </a:endParaRPr>
          </a:p>
        </p:txBody>
      </p:sp>
      <p:pic>
        <p:nvPicPr>
          <p:cNvPr descr="Image result for difference between visualization and presentation" id="511" name="Google Shape;511;g153c3bd0df0_0_10"/>
          <p:cNvPicPr preferRelativeResize="0"/>
          <p:nvPr/>
        </p:nvPicPr>
        <p:blipFill rotWithShape="1">
          <a:blip r:embed="rId3">
            <a:alphaModFix/>
          </a:blip>
          <a:srcRect b="2803" l="51872" r="3445" t="24514"/>
          <a:stretch/>
        </p:blipFill>
        <p:spPr>
          <a:xfrm>
            <a:off x="4939480" y="3845125"/>
            <a:ext cx="3621801" cy="2180525"/>
          </a:xfrm>
          <a:prstGeom prst="rect">
            <a:avLst/>
          </a:prstGeom>
          <a:noFill/>
          <a:ln>
            <a:noFill/>
          </a:ln>
        </p:spPr>
      </p:pic>
      <p:sp>
        <p:nvSpPr>
          <p:cNvPr id="512" name="Google Shape;512;g153c3bd0df0_0_10"/>
          <p:cNvSpPr txBox="1"/>
          <p:nvPr/>
        </p:nvSpPr>
        <p:spPr>
          <a:xfrm>
            <a:off x="1298925" y="5760150"/>
            <a:ext cx="9341100" cy="531000"/>
          </a:xfrm>
          <a:prstGeom prst="rect">
            <a:avLst/>
          </a:prstGeom>
          <a:noFill/>
          <a:ln>
            <a:noFill/>
          </a:ln>
        </p:spPr>
        <p:txBody>
          <a:bodyPr anchorCtr="0" anchor="t" bIns="91425" lIns="91425" spcFirstLastPara="1" rIns="91425" wrap="square" tIns="91425">
            <a:spAutoFit/>
          </a:bodyPr>
          <a:lstStyle/>
          <a:p>
            <a:pPr indent="0" lvl="0" marL="177800" marR="0" rtl="0" algn="l">
              <a:lnSpc>
                <a:spcPct val="90000"/>
              </a:lnSpc>
              <a:spcBef>
                <a:spcPts val="1000"/>
              </a:spcBef>
              <a:spcAft>
                <a:spcPts val="0"/>
              </a:spcAft>
              <a:buClr>
                <a:srgbClr val="000000"/>
              </a:buClr>
              <a:buSzPts val="2500"/>
              <a:buFont typeface="Arial"/>
              <a:buNone/>
            </a:pPr>
            <a:r>
              <a:rPr b="0" i="0" lang="en-US" sz="2500" u="none" cap="none" strike="noStrike">
                <a:solidFill>
                  <a:schemeClr val="dk1"/>
                </a:solidFill>
                <a:highlight>
                  <a:schemeClr val="lt1"/>
                </a:highlight>
                <a:latin typeface="Times New Roman"/>
                <a:ea typeface="Times New Roman"/>
                <a:cs typeface="Times New Roman"/>
                <a:sym typeface="Times New Roman"/>
              </a:rPr>
              <a:t>Use presentation to create long lasting impression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1000"/>
                                        <p:tgtEl>
                                          <p:spTgt spid="5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1000"/>
                                        <p:tgtEl>
                                          <p:spTgt spid="5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1000"/>
                                        <p:tgtEl>
                                          <p:spTgt spid="5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145aa5eecfc_0_32"/>
          <p:cNvSpPr txBox="1"/>
          <p:nvPr>
            <p:ph type="title"/>
          </p:nvPr>
        </p:nvSpPr>
        <p:spPr>
          <a:xfrm>
            <a:off x="177300" y="208900"/>
            <a:ext cx="11837400" cy="657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ts val="990"/>
              <a:buFont typeface="Arial"/>
              <a:buNone/>
            </a:pPr>
            <a:r>
              <a:rPr b="1" lang="en-US">
                <a:latin typeface="Times New Roman"/>
                <a:ea typeface="Times New Roman"/>
                <a:cs typeface="Times New Roman"/>
                <a:sym typeface="Times New Roman"/>
              </a:rPr>
              <a:t>Data Fundamentals, Collecting data, Preparing Data</a:t>
            </a:r>
            <a:endParaRPr/>
          </a:p>
        </p:txBody>
      </p:sp>
      <p:graphicFrame>
        <p:nvGraphicFramePr>
          <p:cNvPr id="518" name="Google Shape;518;g145aa5eecfc_0_32"/>
          <p:cNvGraphicFramePr/>
          <p:nvPr/>
        </p:nvGraphicFramePr>
        <p:xfrm>
          <a:off x="838200" y="3864134"/>
          <a:ext cx="3000000" cy="3000000"/>
        </p:xfrm>
        <a:graphic>
          <a:graphicData uri="http://schemas.openxmlformats.org/drawingml/2006/table">
            <a:tbl>
              <a:tblPr>
                <a:noFill/>
                <a:tableStyleId>{F5617678-91CF-41B0-B690-F04CE90FFFDD}</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19" name="Google Shape;519;g145aa5eecfc_0_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
        <p:nvSpPr>
          <p:cNvPr id="520" name="Google Shape;520;g145aa5eecfc_0_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21" name="Google Shape;521;g145aa5eecfc_0_32"/>
          <p:cNvSpPr txBox="1"/>
          <p:nvPr/>
        </p:nvSpPr>
        <p:spPr>
          <a:xfrm>
            <a:off x="670025" y="1182425"/>
            <a:ext cx="1246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22" name="Google Shape;522;g145aa5eecfc_0_32"/>
          <p:cNvSpPr txBox="1"/>
          <p:nvPr/>
        </p:nvSpPr>
        <p:spPr>
          <a:xfrm>
            <a:off x="525525" y="1537150"/>
            <a:ext cx="10405200" cy="512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Data Fundamental:</a:t>
            </a:r>
            <a:endParaRPr b="1"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t/>
            </a:r>
            <a:endParaRPr b="1"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Primary Data:</a:t>
            </a:r>
            <a:endParaRPr b="1"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Collected  afresh </a:t>
            </a:r>
            <a:endParaRPr b="0"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Need to validate the process and collected information</a:t>
            </a:r>
            <a:endParaRPr b="0"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Secondary Data:</a:t>
            </a:r>
            <a:endParaRPr b="1"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t/>
            </a:r>
            <a:endParaRPr b="1"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chemeClr val="dk1"/>
              </a:buClr>
              <a:buSzPts val="2900"/>
              <a:buFont typeface="Calibri"/>
              <a:buChar char="●"/>
            </a:pPr>
            <a:r>
              <a:rPr b="0" i="0" lang="en-US" sz="2900" u="none" cap="none" strike="noStrike">
                <a:solidFill>
                  <a:schemeClr val="dk1"/>
                </a:solidFill>
                <a:latin typeface="Calibri"/>
                <a:ea typeface="Calibri"/>
                <a:cs typeface="Calibri"/>
                <a:sym typeface="Calibri"/>
              </a:rPr>
              <a:t>Collected by some one </a:t>
            </a:r>
            <a:endParaRPr b="0" i="0" sz="2900" u="none" cap="none" strike="noStrike">
              <a:solidFill>
                <a:schemeClr val="dk1"/>
              </a:solidFill>
              <a:latin typeface="Calibri"/>
              <a:ea typeface="Calibri"/>
              <a:cs typeface="Calibri"/>
              <a:sym typeface="Calibri"/>
            </a:endParaRPr>
          </a:p>
          <a:p>
            <a:pPr indent="-412750" lvl="0" marL="457200" marR="0" rtl="0" algn="l">
              <a:lnSpc>
                <a:spcPct val="100000"/>
              </a:lnSpc>
              <a:spcBef>
                <a:spcPts val="0"/>
              </a:spcBef>
              <a:spcAft>
                <a:spcPts val="0"/>
              </a:spcAft>
              <a:buClr>
                <a:schemeClr val="dk1"/>
              </a:buClr>
              <a:buSzPts val="2900"/>
              <a:buFont typeface="Calibri"/>
              <a:buChar char="●"/>
            </a:pPr>
            <a:r>
              <a:rPr b="0" i="0" lang="en-US" sz="2900" u="none" cap="none" strike="noStrike">
                <a:solidFill>
                  <a:schemeClr val="dk1"/>
                </a:solidFill>
                <a:latin typeface="Calibri"/>
                <a:ea typeface="Calibri"/>
                <a:cs typeface="Calibri"/>
                <a:sym typeface="Calibri"/>
              </a:rPr>
              <a:t>Validity/ relevance may be checked </a:t>
            </a:r>
            <a:endParaRPr b="0" i="0"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153c3bd0df0_0_34"/>
          <p:cNvSpPr txBox="1"/>
          <p:nvPr>
            <p:ph type="title"/>
          </p:nvPr>
        </p:nvSpPr>
        <p:spPr>
          <a:xfrm>
            <a:off x="177300" y="208900"/>
            <a:ext cx="11837400" cy="657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ts val="990"/>
              <a:buFont typeface="Arial"/>
              <a:buNone/>
            </a:pPr>
            <a:r>
              <a:rPr b="1" lang="en-US">
                <a:latin typeface="Times New Roman"/>
                <a:ea typeface="Times New Roman"/>
                <a:cs typeface="Times New Roman"/>
                <a:sym typeface="Times New Roman"/>
              </a:rPr>
              <a:t>Data Fundamentals, Collecting data, Preparing Data</a:t>
            </a:r>
            <a:endParaRPr/>
          </a:p>
        </p:txBody>
      </p:sp>
      <p:graphicFrame>
        <p:nvGraphicFramePr>
          <p:cNvPr id="528" name="Google Shape;528;g153c3bd0df0_0_34"/>
          <p:cNvGraphicFramePr/>
          <p:nvPr/>
        </p:nvGraphicFramePr>
        <p:xfrm>
          <a:off x="838200" y="3864134"/>
          <a:ext cx="3000000" cy="3000000"/>
        </p:xfrm>
        <a:graphic>
          <a:graphicData uri="http://schemas.openxmlformats.org/drawingml/2006/table">
            <a:tbl>
              <a:tblPr>
                <a:noFill/>
                <a:tableStyleId>{F5617678-91CF-41B0-B690-F04CE90FFFDD}</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29" name="Google Shape;529;g153c3bd0df0_0_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
        <p:nvSpPr>
          <p:cNvPr id="530" name="Google Shape;530;g153c3bd0df0_0_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31" name="Google Shape;531;g153c3bd0df0_0_34"/>
          <p:cNvSpPr txBox="1"/>
          <p:nvPr/>
        </p:nvSpPr>
        <p:spPr>
          <a:xfrm>
            <a:off x="670025" y="1182425"/>
            <a:ext cx="1246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32" name="Google Shape;532;g153c3bd0df0_0_34"/>
          <p:cNvSpPr txBox="1"/>
          <p:nvPr/>
        </p:nvSpPr>
        <p:spPr>
          <a:xfrm>
            <a:off x="590000" y="1149550"/>
            <a:ext cx="10405200" cy="557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Collecting data:</a:t>
            </a:r>
            <a:endParaRPr b="1"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t/>
            </a:r>
            <a:endParaRPr b="1"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Primary Data:</a:t>
            </a:r>
            <a:endParaRPr b="1"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Survey</a:t>
            </a:r>
            <a:endParaRPr b="0"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Descriptive research</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Observation: systematic viewing</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Direct Communication </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Personal Interviews </a:t>
            </a:r>
            <a:endParaRPr b="0"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Secondary Data:</a:t>
            </a:r>
            <a:endParaRPr b="1"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chemeClr val="dk1"/>
              </a:buClr>
              <a:buSzPts val="2900"/>
              <a:buFont typeface="Calibri"/>
              <a:buChar char="●"/>
            </a:pPr>
            <a:r>
              <a:rPr b="0" i="0" lang="en-US" sz="2900" u="none" cap="none" strike="noStrike">
                <a:solidFill>
                  <a:srgbClr val="000000"/>
                </a:solidFill>
                <a:latin typeface="Calibri"/>
                <a:ea typeface="Calibri"/>
                <a:cs typeface="Calibri"/>
                <a:sym typeface="Calibri"/>
              </a:rPr>
              <a:t>Download from reliable source</a:t>
            </a:r>
            <a:endParaRPr b="0" i="0"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g153c3bd0df0_0_25"/>
          <p:cNvSpPr txBox="1"/>
          <p:nvPr>
            <p:ph type="title"/>
          </p:nvPr>
        </p:nvSpPr>
        <p:spPr>
          <a:xfrm>
            <a:off x="177300" y="208900"/>
            <a:ext cx="11837400" cy="657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ts val="990"/>
              <a:buFont typeface="Arial"/>
              <a:buNone/>
            </a:pPr>
            <a:r>
              <a:rPr b="1" lang="en-US">
                <a:latin typeface="Times New Roman"/>
                <a:ea typeface="Times New Roman"/>
                <a:cs typeface="Times New Roman"/>
                <a:sym typeface="Times New Roman"/>
              </a:rPr>
              <a:t>Data Fundamentals, Collecting data, Preparing Data</a:t>
            </a:r>
            <a:endParaRPr/>
          </a:p>
        </p:txBody>
      </p:sp>
      <p:graphicFrame>
        <p:nvGraphicFramePr>
          <p:cNvPr id="538" name="Google Shape;538;g153c3bd0df0_0_25"/>
          <p:cNvGraphicFramePr/>
          <p:nvPr/>
        </p:nvGraphicFramePr>
        <p:xfrm>
          <a:off x="838200" y="3864134"/>
          <a:ext cx="3000000" cy="3000000"/>
        </p:xfrm>
        <a:graphic>
          <a:graphicData uri="http://schemas.openxmlformats.org/drawingml/2006/table">
            <a:tbl>
              <a:tblPr>
                <a:noFill/>
                <a:tableStyleId>{F5617678-91CF-41B0-B690-F04CE90FFFDD}</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39" name="Google Shape;539;g153c3bd0df0_0_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
        <p:nvSpPr>
          <p:cNvPr id="540" name="Google Shape;540;g153c3bd0df0_0_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41" name="Google Shape;541;g153c3bd0df0_0_25"/>
          <p:cNvSpPr txBox="1"/>
          <p:nvPr/>
        </p:nvSpPr>
        <p:spPr>
          <a:xfrm>
            <a:off x="670025" y="1182425"/>
            <a:ext cx="1246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2" name="Google Shape;542;g153c3bd0df0_0_25"/>
          <p:cNvSpPr txBox="1"/>
          <p:nvPr/>
        </p:nvSpPr>
        <p:spPr>
          <a:xfrm>
            <a:off x="590000" y="1149550"/>
            <a:ext cx="10405200" cy="557072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Collecting data:</a:t>
            </a:r>
            <a:endParaRPr b="1"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Primary Data:</a:t>
            </a:r>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 </a:t>
            </a:r>
            <a:r>
              <a:rPr b="1" i="0" lang="en-US" sz="2900" u="none" cap="none" strike="noStrike">
                <a:solidFill>
                  <a:srgbClr val="000000"/>
                </a:solidFill>
                <a:highlight>
                  <a:schemeClr val="accent6"/>
                </a:highlight>
                <a:latin typeface="Calibri"/>
                <a:ea typeface="Calibri"/>
                <a:cs typeface="Calibri"/>
                <a:sym typeface="Calibri"/>
              </a:rPr>
              <a:t>Advantages </a:t>
            </a:r>
            <a:endParaRPr b="1" i="0" sz="2900" u="none" cap="none" strike="noStrike">
              <a:solidFill>
                <a:srgbClr val="000000"/>
              </a:solidFill>
              <a:highlight>
                <a:schemeClr val="accent6"/>
              </a:highlight>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Unbiased data</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Fresh Information </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Relevant information could be captured</a:t>
            </a:r>
            <a:endParaRPr b="0"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highlight>
                  <a:srgbClr val="FF0000"/>
                </a:highlight>
                <a:latin typeface="Calibri"/>
                <a:ea typeface="Calibri"/>
                <a:cs typeface="Calibri"/>
                <a:sym typeface="Calibri"/>
              </a:rPr>
              <a:t>Limitations:</a:t>
            </a:r>
            <a:endParaRPr b="1" i="0" sz="2900" u="none" cap="none" strike="noStrike">
              <a:solidFill>
                <a:srgbClr val="000000"/>
              </a:solidFill>
              <a:highlight>
                <a:srgbClr val="FF0000"/>
              </a:highlight>
              <a:latin typeface="Calibri"/>
              <a:ea typeface="Calibri"/>
              <a:cs typeface="Calibri"/>
              <a:sym typeface="Calibri"/>
            </a:endParaRPr>
          </a:p>
          <a:p>
            <a:pPr indent="-412750" lvl="0" marL="1371600" marR="0" rtl="0" algn="l">
              <a:lnSpc>
                <a:spcPct val="100000"/>
              </a:lnSpc>
              <a:spcBef>
                <a:spcPts val="0"/>
              </a:spcBef>
              <a:spcAft>
                <a:spcPts val="0"/>
              </a:spcAft>
              <a:buClr>
                <a:schemeClr val="dk1"/>
              </a:buClr>
              <a:buSzPts val="2900"/>
              <a:buFont typeface="Calibri"/>
              <a:buChar char="●"/>
            </a:pPr>
            <a:r>
              <a:rPr b="0" i="0" lang="en-US" sz="2900" u="none" cap="none" strike="noStrike">
                <a:solidFill>
                  <a:srgbClr val="000000"/>
                </a:solidFill>
                <a:latin typeface="Calibri"/>
                <a:ea typeface="Calibri"/>
                <a:cs typeface="Calibri"/>
                <a:sym typeface="Calibri"/>
              </a:rPr>
              <a:t>Time consuming</a:t>
            </a:r>
            <a:endParaRPr b="0" i="0" sz="2900" u="none" cap="none" strike="noStrike">
              <a:solidFill>
                <a:srgbClr val="000000"/>
              </a:solidFill>
              <a:latin typeface="Calibri"/>
              <a:ea typeface="Calibri"/>
              <a:cs typeface="Calibri"/>
              <a:sym typeface="Calibri"/>
            </a:endParaRPr>
          </a:p>
          <a:p>
            <a:pPr indent="-412750" lvl="0"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Costly</a:t>
            </a:r>
            <a:endParaRPr b="0" i="0" sz="2900" u="none" cap="none" strike="noStrike">
              <a:solidFill>
                <a:srgbClr val="000000"/>
              </a:solidFill>
              <a:latin typeface="Calibri"/>
              <a:ea typeface="Calibri"/>
              <a:cs typeface="Calibri"/>
              <a:sym typeface="Calibri"/>
            </a:endParaRPr>
          </a:p>
          <a:p>
            <a:pPr indent="-412750" lvl="0"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Limited scope</a:t>
            </a:r>
            <a:endParaRPr b="0"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153c3bd0df0_0_43"/>
          <p:cNvSpPr txBox="1"/>
          <p:nvPr>
            <p:ph type="title"/>
          </p:nvPr>
        </p:nvSpPr>
        <p:spPr>
          <a:xfrm>
            <a:off x="177300" y="208900"/>
            <a:ext cx="11837400" cy="657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ts val="990"/>
              <a:buFont typeface="Arial"/>
              <a:buNone/>
            </a:pPr>
            <a:r>
              <a:rPr b="1" lang="en-US">
                <a:latin typeface="Times New Roman"/>
                <a:ea typeface="Times New Roman"/>
                <a:cs typeface="Times New Roman"/>
                <a:sym typeface="Times New Roman"/>
              </a:rPr>
              <a:t>Data Fundamentals, Collecting data, Preparing Data</a:t>
            </a:r>
            <a:endParaRPr/>
          </a:p>
        </p:txBody>
      </p:sp>
      <p:graphicFrame>
        <p:nvGraphicFramePr>
          <p:cNvPr id="548" name="Google Shape;548;g153c3bd0df0_0_43"/>
          <p:cNvGraphicFramePr/>
          <p:nvPr/>
        </p:nvGraphicFramePr>
        <p:xfrm>
          <a:off x="838200" y="3864134"/>
          <a:ext cx="3000000" cy="3000000"/>
        </p:xfrm>
        <a:graphic>
          <a:graphicData uri="http://schemas.openxmlformats.org/drawingml/2006/table">
            <a:tbl>
              <a:tblPr>
                <a:noFill/>
                <a:tableStyleId>{F5617678-91CF-41B0-B690-F04CE90FFFDD}</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49" name="Google Shape;549;g153c3bd0df0_0_4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
        <p:nvSpPr>
          <p:cNvPr id="550" name="Google Shape;550;g153c3bd0df0_0_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51" name="Google Shape;551;g153c3bd0df0_0_43"/>
          <p:cNvSpPr txBox="1"/>
          <p:nvPr/>
        </p:nvSpPr>
        <p:spPr>
          <a:xfrm>
            <a:off x="670025" y="1182425"/>
            <a:ext cx="1246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2" name="Google Shape;552;g153c3bd0df0_0_43"/>
          <p:cNvSpPr txBox="1"/>
          <p:nvPr/>
        </p:nvSpPr>
        <p:spPr>
          <a:xfrm>
            <a:off x="590000" y="1149550"/>
            <a:ext cx="10405200" cy="4817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Collecting Primary data:</a:t>
            </a:r>
            <a:endParaRPr b="1"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Types of observation:</a:t>
            </a:r>
            <a:endParaRPr b="0" i="0" sz="2900" u="none" cap="none" strike="noStrike">
              <a:solidFill>
                <a:srgbClr val="000000"/>
              </a:solidFill>
              <a:latin typeface="Calibri"/>
              <a:ea typeface="Calibri"/>
              <a:cs typeface="Calibri"/>
              <a:sym typeface="Calibri"/>
            </a:endParaRPr>
          </a:p>
          <a:p>
            <a:pPr indent="-412750" lvl="2" marL="18288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Structured:</a:t>
            </a:r>
            <a:endParaRPr b="0" i="0" sz="2900" u="none" cap="none" strike="noStrike">
              <a:solidFill>
                <a:srgbClr val="000000"/>
              </a:solidFill>
              <a:latin typeface="Calibri"/>
              <a:ea typeface="Calibri"/>
              <a:cs typeface="Calibri"/>
              <a:sym typeface="Calibri"/>
            </a:endParaRPr>
          </a:p>
          <a:p>
            <a:pPr indent="0" lvl="0" marL="1828800" marR="0" rtl="0" algn="l">
              <a:lnSpc>
                <a:spcPct val="100000"/>
              </a:lnSpc>
              <a:spcBef>
                <a:spcPts val="0"/>
              </a:spcBef>
              <a:spcAft>
                <a:spcPts val="0"/>
              </a:spcAft>
              <a:buClr>
                <a:srgbClr val="000000"/>
              </a:buClr>
              <a:buSzPts val="2900"/>
              <a:buFont typeface="Arial"/>
              <a:buNone/>
            </a:pPr>
            <a:r>
              <a:rPr b="0" i="0" lang="en-US" sz="2900" u="none" cap="none" strike="noStrike">
                <a:solidFill>
                  <a:srgbClr val="000000"/>
                </a:solidFill>
                <a:latin typeface="Calibri"/>
                <a:ea typeface="Calibri"/>
                <a:cs typeface="Calibri"/>
                <a:sym typeface="Calibri"/>
              </a:rPr>
              <a:t>Standard conditions </a:t>
            </a:r>
            <a:endParaRPr b="0" i="0" sz="2900" u="none" cap="none" strike="noStrike">
              <a:solidFill>
                <a:srgbClr val="000000"/>
              </a:solidFill>
              <a:latin typeface="Calibri"/>
              <a:ea typeface="Calibri"/>
              <a:cs typeface="Calibri"/>
              <a:sym typeface="Calibri"/>
            </a:endParaRPr>
          </a:p>
          <a:p>
            <a:pPr indent="0" lvl="0" marL="1828800" marR="0" rtl="0" algn="l">
              <a:lnSpc>
                <a:spcPct val="100000"/>
              </a:lnSpc>
              <a:spcBef>
                <a:spcPts val="0"/>
              </a:spcBef>
              <a:spcAft>
                <a:spcPts val="0"/>
              </a:spcAft>
              <a:buClr>
                <a:srgbClr val="000000"/>
              </a:buClr>
              <a:buSzPts val="2900"/>
              <a:buFont typeface="Arial"/>
              <a:buNone/>
            </a:pPr>
            <a:r>
              <a:rPr b="0" i="0" lang="en-US" sz="2900" u="none" cap="none" strike="noStrike">
                <a:solidFill>
                  <a:srgbClr val="000000"/>
                </a:solidFill>
                <a:latin typeface="Calibri"/>
                <a:ea typeface="Calibri"/>
                <a:cs typeface="Calibri"/>
                <a:sym typeface="Calibri"/>
              </a:rPr>
              <a:t>Well prepared</a:t>
            </a:r>
            <a:endParaRPr b="0" i="0" sz="2900" u="none" cap="none" strike="noStrike">
              <a:solidFill>
                <a:srgbClr val="000000"/>
              </a:solidFill>
              <a:latin typeface="Calibri"/>
              <a:ea typeface="Calibri"/>
              <a:cs typeface="Calibri"/>
              <a:sym typeface="Calibri"/>
            </a:endParaRPr>
          </a:p>
          <a:p>
            <a:pPr indent="0" lvl="0" marL="1828800" marR="0" rtl="0" algn="l">
              <a:lnSpc>
                <a:spcPct val="100000"/>
              </a:lnSpc>
              <a:spcBef>
                <a:spcPts val="0"/>
              </a:spcBef>
              <a:spcAft>
                <a:spcPts val="0"/>
              </a:spcAft>
              <a:buClr>
                <a:srgbClr val="000000"/>
              </a:buClr>
              <a:buSzPts val="2900"/>
              <a:buFont typeface="Arial"/>
              <a:buNone/>
            </a:pPr>
            <a:r>
              <a:rPr b="0" i="0" lang="en-US" sz="2900" u="none" cap="none" strike="noStrike">
                <a:solidFill>
                  <a:srgbClr val="000000"/>
                </a:solidFill>
                <a:latin typeface="Calibri"/>
                <a:ea typeface="Calibri"/>
                <a:cs typeface="Calibri"/>
                <a:sym typeface="Calibri"/>
              </a:rPr>
              <a:t>Forms/ formats</a:t>
            </a:r>
            <a:endParaRPr b="0" i="0" sz="2900" u="none" cap="none" strike="noStrike">
              <a:solidFill>
                <a:srgbClr val="000000"/>
              </a:solidFill>
              <a:latin typeface="Calibri"/>
              <a:ea typeface="Calibri"/>
              <a:cs typeface="Calibri"/>
              <a:sym typeface="Calibri"/>
            </a:endParaRPr>
          </a:p>
          <a:p>
            <a:pPr indent="0" lvl="0" marL="1828800" marR="0" rtl="0" algn="l">
              <a:lnSpc>
                <a:spcPct val="100000"/>
              </a:lnSpc>
              <a:spcBef>
                <a:spcPts val="0"/>
              </a:spcBef>
              <a:spcAft>
                <a:spcPts val="0"/>
              </a:spcAft>
              <a:buClr>
                <a:srgbClr val="000000"/>
              </a:buClr>
              <a:buSzPts val="2900"/>
              <a:buFont typeface="Arial"/>
              <a:buNone/>
            </a:pPr>
            <a:r>
              <a:rPr b="0" i="0" lang="en-US" sz="2900" u="none" cap="none" strike="noStrike">
                <a:solidFill>
                  <a:srgbClr val="000000"/>
                </a:solidFill>
                <a:latin typeface="Calibri"/>
                <a:ea typeface="Calibri"/>
                <a:cs typeface="Calibri"/>
                <a:sym typeface="Calibri"/>
              </a:rPr>
              <a:t>Checklist</a:t>
            </a:r>
            <a:endParaRPr b="0" i="0" sz="2900" u="none" cap="none" strike="noStrike">
              <a:solidFill>
                <a:srgbClr val="000000"/>
              </a:solidFill>
              <a:latin typeface="Calibri"/>
              <a:ea typeface="Calibri"/>
              <a:cs typeface="Calibri"/>
              <a:sym typeface="Calibri"/>
            </a:endParaRPr>
          </a:p>
          <a:p>
            <a:pPr indent="-412750" lvl="2" marL="18288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Unstructured:</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Without much preparation </a:t>
            </a:r>
            <a:endParaRPr b="0"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145aa5eecfc_0_40"/>
          <p:cNvSpPr txBox="1"/>
          <p:nvPr>
            <p:ph type="title"/>
          </p:nvPr>
        </p:nvSpPr>
        <p:spPr>
          <a:xfrm>
            <a:off x="838200" y="0"/>
            <a:ext cx="10515600" cy="1008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Introduction data visualization</a:t>
            </a:r>
            <a:endParaRPr/>
          </a:p>
        </p:txBody>
      </p:sp>
      <p:graphicFrame>
        <p:nvGraphicFramePr>
          <p:cNvPr id="558" name="Google Shape;558;g145aa5eecfc_0_40"/>
          <p:cNvGraphicFramePr/>
          <p:nvPr/>
        </p:nvGraphicFramePr>
        <p:xfrm>
          <a:off x="838200" y="3864134"/>
          <a:ext cx="3000000" cy="3000000"/>
        </p:xfrm>
        <a:graphic>
          <a:graphicData uri="http://schemas.openxmlformats.org/drawingml/2006/table">
            <a:tbl>
              <a:tblPr>
                <a:noFill/>
                <a:tableStyleId>{F5617678-91CF-41B0-B690-F04CE90FFFDD}</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559" name="Google Shape;559;g145aa5eecfc_0_40"/>
          <p:cNvGraphicFramePr/>
          <p:nvPr/>
        </p:nvGraphicFramePr>
        <p:xfrm>
          <a:off x="838200" y="1229449"/>
          <a:ext cx="3000000" cy="3000000"/>
        </p:xfrm>
        <a:graphic>
          <a:graphicData uri="http://schemas.openxmlformats.org/drawingml/2006/table">
            <a:tbl>
              <a:tblPr>
                <a:noFill/>
                <a:tableStyleId>{F5617678-91CF-41B0-B690-F04CE90FFFDD}</a:tableStyleId>
              </a:tblPr>
              <a:tblGrid>
                <a:gridCol w="10285200"/>
              </a:tblGrid>
              <a:tr h="47633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p>
                      <a:pPr indent="-285750" lvl="0" marL="28575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Introduction to basic Visualization and it’s need. </a:t>
                      </a:r>
                      <a:endParaRPr sz="1400" u="none" cap="none" strike="noStrike"/>
                    </a:p>
                    <a:p>
                      <a:pPr indent="-381000" lvl="1" marL="91440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The Bar Chart </a:t>
                      </a:r>
                      <a:endParaRPr sz="1400" u="none" cap="none" strike="noStrike"/>
                    </a:p>
                    <a:p>
                      <a:pPr indent="-381000" lvl="1" marL="91440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The Line Chart </a:t>
                      </a:r>
                      <a:endParaRPr sz="1400" u="none" cap="none" strike="noStrike"/>
                    </a:p>
                    <a:p>
                      <a:pPr indent="-381000" lvl="1" marL="91440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The Pie and Donut Charts </a:t>
                      </a:r>
                      <a:endParaRPr sz="1400" u="none" cap="none" strike="noStrike"/>
                    </a:p>
                    <a:p>
                      <a:pPr indent="-381000" lvl="1" marL="91440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The Scatter Plot </a:t>
                      </a:r>
                      <a:endParaRPr sz="1400" u="none" cap="none" strike="noStrike"/>
                    </a:p>
                    <a:p>
                      <a:pPr indent="-381000" lvl="1" marL="914400" marR="0" rtl="0" algn="l">
                        <a:lnSpc>
                          <a:spcPct val="100000"/>
                        </a:lnSpc>
                        <a:spcBef>
                          <a:spcPts val="0"/>
                        </a:spcBef>
                        <a:spcAft>
                          <a:spcPts val="0"/>
                        </a:spcAft>
                        <a:buClr>
                          <a:srgbClr val="833C0B"/>
                        </a:buClr>
                        <a:buSzPts val="2400"/>
                        <a:buFont typeface="Arial"/>
                        <a:buChar char="○"/>
                      </a:pPr>
                      <a:r>
                        <a:rPr b="1" lang="en-US" sz="2400" u="none" cap="none" strike="noStrike">
                          <a:solidFill>
                            <a:srgbClr val="833C0B"/>
                          </a:solidFill>
                          <a:latin typeface="Times New Roman"/>
                          <a:ea typeface="Times New Roman"/>
                          <a:cs typeface="Times New Roman"/>
                          <a:sym typeface="Times New Roman"/>
                        </a:rPr>
                        <a:t>The Packed Bubble Chart </a:t>
                      </a:r>
                      <a:endParaRPr b="1" sz="24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60" name="Google Shape;560;g145aa5eecfc_0_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
        <p:nvSpPr>
          <p:cNvPr id="561" name="Google Shape;561;g145aa5eecfc_0_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6000"/>
              <a:t>Charts</a:t>
            </a:r>
            <a:endParaRPr/>
          </a:p>
        </p:txBody>
      </p:sp>
      <p:sp>
        <p:nvSpPr>
          <p:cNvPr id="567" name="Google Shape;567;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The Bar Chart</a:t>
            </a:r>
            <a:endParaRPr/>
          </a:p>
          <a:p>
            <a:pPr indent="-342900" lvl="0" marL="457200" rtl="0" algn="l">
              <a:lnSpc>
                <a:spcPct val="90000"/>
              </a:lnSpc>
              <a:spcBef>
                <a:spcPts val="1000"/>
              </a:spcBef>
              <a:spcAft>
                <a:spcPts val="0"/>
              </a:spcAft>
              <a:buClr>
                <a:schemeClr val="dk1"/>
              </a:buClr>
              <a:buSzPts val="1800"/>
              <a:buChar char="•"/>
            </a:pPr>
            <a:r>
              <a:rPr lang="en-US"/>
              <a:t>The Line Chart</a:t>
            </a:r>
            <a:endParaRPr/>
          </a:p>
          <a:p>
            <a:pPr indent="-342900" lvl="0" marL="457200" rtl="0" algn="l">
              <a:lnSpc>
                <a:spcPct val="90000"/>
              </a:lnSpc>
              <a:spcBef>
                <a:spcPts val="1000"/>
              </a:spcBef>
              <a:spcAft>
                <a:spcPts val="0"/>
              </a:spcAft>
              <a:buClr>
                <a:schemeClr val="dk1"/>
              </a:buClr>
              <a:buSzPts val="1800"/>
              <a:buChar char="•"/>
            </a:pPr>
            <a:r>
              <a:rPr lang="en-US"/>
              <a:t>The Pie and Donut Charts</a:t>
            </a:r>
            <a:endParaRPr/>
          </a:p>
          <a:p>
            <a:pPr indent="-342900" lvl="0" marL="457200" rtl="0" algn="l">
              <a:lnSpc>
                <a:spcPct val="90000"/>
              </a:lnSpc>
              <a:spcBef>
                <a:spcPts val="1000"/>
              </a:spcBef>
              <a:spcAft>
                <a:spcPts val="0"/>
              </a:spcAft>
              <a:buClr>
                <a:schemeClr val="dk1"/>
              </a:buClr>
              <a:buSzPts val="1800"/>
              <a:buChar char="•"/>
            </a:pPr>
            <a:r>
              <a:rPr lang="en-US"/>
              <a:t>The Scatter Plot</a:t>
            </a:r>
            <a:endParaRPr/>
          </a:p>
          <a:p>
            <a:pPr indent="-342900" lvl="0" marL="457200" rtl="0" algn="l">
              <a:lnSpc>
                <a:spcPct val="90000"/>
              </a:lnSpc>
              <a:spcBef>
                <a:spcPts val="1000"/>
              </a:spcBef>
              <a:spcAft>
                <a:spcPts val="0"/>
              </a:spcAft>
              <a:buClr>
                <a:schemeClr val="dk1"/>
              </a:buClr>
              <a:buSzPts val="1800"/>
              <a:buChar char="•"/>
            </a:pPr>
            <a:r>
              <a:rPr lang="en-US"/>
              <a:t>The Packed Bubble Chart</a:t>
            </a:r>
            <a:endParaRPr/>
          </a:p>
        </p:txBody>
      </p:sp>
      <p:sp>
        <p:nvSpPr>
          <p:cNvPr id="568" name="Google Shape;568;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69" name="Google Shape;56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1"/>
          <p:cNvSpPr txBox="1"/>
          <p:nvPr>
            <p:ph type="title"/>
          </p:nvPr>
        </p:nvSpPr>
        <p:spPr>
          <a:xfrm>
            <a:off x="838200" y="365126"/>
            <a:ext cx="10515600" cy="76131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3333"/>
              <a:buNone/>
            </a:pPr>
            <a:r>
              <a:rPr b="1" lang="en-US" sz="6000"/>
              <a:t>Charts: </a:t>
            </a:r>
            <a:r>
              <a:rPr lang="en-US"/>
              <a:t>The Bar Chart</a:t>
            </a:r>
            <a:br>
              <a:rPr lang="en-US"/>
            </a:br>
            <a:endParaRPr/>
          </a:p>
        </p:txBody>
      </p:sp>
      <p:sp>
        <p:nvSpPr>
          <p:cNvPr id="575" name="Google Shape;575;p31"/>
          <p:cNvSpPr txBox="1"/>
          <p:nvPr>
            <p:ph idx="1" type="body"/>
          </p:nvPr>
        </p:nvSpPr>
        <p:spPr>
          <a:xfrm>
            <a:off x="838200" y="908720"/>
            <a:ext cx="10515600" cy="54006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1000"/>
              </a:spcBef>
              <a:spcAft>
                <a:spcPts val="0"/>
              </a:spcAft>
              <a:buSzPts val="1800"/>
              <a:buChar char="•"/>
            </a:pPr>
            <a:r>
              <a:rPr lang="en-US"/>
              <a:t>The bar chart is one of the most common ways to visualize data.</a:t>
            </a:r>
            <a:endParaRPr/>
          </a:p>
          <a:p>
            <a:pPr indent="-342900" lvl="0" marL="457200" rtl="0" algn="l">
              <a:lnSpc>
                <a:spcPct val="90000"/>
              </a:lnSpc>
              <a:spcBef>
                <a:spcPts val="1000"/>
              </a:spcBef>
              <a:spcAft>
                <a:spcPts val="0"/>
              </a:spcAft>
              <a:buSzPts val="1800"/>
              <a:buChar char="•"/>
            </a:pPr>
            <a:r>
              <a:rPr b="1" lang="en-US"/>
              <a:t>Used to compare numerical values using the length of the bar.</a:t>
            </a:r>
            <a:endParaRPr/>
          </a:p>
          <a:p>
            <a:pPr indent="-342900" lvl="0" marL="457200" rtl="0" algn="l">
              <a:lnSpc>
                <a:spcPct val="90000"/>
              </a:lnSpc>
              <a:spcBef>
                <a:spcPts val="1000"/>
              </a:spcBef>
              <a:spcAft>
                <a:spcPts val="0"/>
              </a:spcAft>
              <a:buSzPts val="1800"/>
              <a:buChar char="•"/>
            </a:pPr>
            <a:r>
              <a:rPr lang="en-US"/>
              <a:t>It is best suited for numerical data that can be divided into distinct categories to compare information and reveal trends at a glance.</a:t>
            </a:r>
            <a:endParaRPr/>
          </a:p>
          <a:p>
            <a:pPr indent="-342900" lvl="0" marL="457200" rtl="0" algn="l">
              <a:lnSpc>
                <a:spcPct val="90000"/>
              </a:lnSpc>
              <a:spcBef>
                <a:spcPts val="1000"/>
              </a:spcBef>
              <a:spcAft>
                <a:spcPts val="0"/>
              </a:spcAft>
              <a:buSzPts val="1800"/>
              <a:buChar char="•"/>
            </a:pPr>
            <a:r>
              <a:rPr lang="en-US"/>
              <a:t>Bars can be oriented on the vertical or horizontal axis, which can be helpful for spotting trends. </a:t>
            </a:r>
            <a:endParaRPr/>
          </a:p>
          <a:p>
            <a:pPr indent="-342900" lvl="0" marL="457200" rtl="0" algn="l">
              <a:lnSpc>
                <a:spcPct val="90000"/>
              </a:lnSpc>
              <a:spcBef>
                <a:spcPts val="1000"/>
              </a:spcBef>
              <a:spcAft>
                <a:spcPts val="0"/>
              </a:spcAft>
              <a:buSzPts val="1800"/>
              <a:buChar char="•"/>
            </a:pPr>
            <a:r>
              <a:rPr lang="en-US"/>
              <a:t>Additional layers of information can be added using clustered bars or by stacking related data.</a:t>
            </a:r>
            <a:endParaRPr/>
          </a:p>
          <a:p>
            <a:pPr indent="-342900" lvl="0" marL="457200" rtl="0" algn="l">
              <a:lnSpc>
                <a:spcPct val="90000"/>
              </a:lnSpc>
              <a:spcBef>
                <a:spcPts val="1000"/>
              </a:spcBef>
              <a:spcAft>
                <a:spcPts val="0"/>
              </a:spcAft>
              <a:buSzPts val="1800"/>
              <a:buChar char="•"/>
            </a:pPr>
            <a:r>
              <a:rPr lang="en-US"/>
              <a:t> Color can be added for more impact or to overlay for immediate insight.</a:t>
            </a:r>
            <a:endParaRPr/>
          </a:p>
          <a:p>
            <a:pPr indent="-342900" lvl="0" marL="457200" rtl="0" algn="l">
              <a:lnSpc>
                <a:spcPct val="90000"/>
              </a:lnSpc>
              <a:spcBef>
                <a:spcPts val="1000"/>
              </a:spcBef>
              <a:spcAft>
                <a:spcPts val="0"/>
              </a:spcAft>
              <a:buSzPts val="1800"/>
              <a:buChar char="•"/>
            </a:pPr>
            <a:r>
              <a:rPr lang="en-US"/>
              <a:t> Trend lines and other annotations can be added to highlight important data points. </a:t>
            </a:r>
            <a:endParaRPr/>
          </a:p>
        </p:txBody>
      </p:sp>
      <p:sp>
        <p:nvSpPr>
          <p:cNvPr id="576" name="Google Shape;57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77" name="Google Shape;57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104"/>
          <p:cNvSpPr txBox="1"/>
          <p:nvPr>
            <p:ph type="title"/>
          </p:nvPr>
        </p:nvSpPr>
        <p:spPr>
          <a:xfrm>
            <a:off x="838200" y="365126"/>
            <a:ext cx="10515600" cy="76131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b="1" lang="en-US" sz="6000"/>
              <a:t>Charts</a:t>
            </a:r>
            <a:endParaRPr/>
          </a:p>
        </p:txBody>
      </p:sp>
      <p:sp>
        <p:nvSpPr>
          <p:cNvPr id="583" name="Google Shape;583;p104"/>
          <p:cNvSpPr txBox="1"/>
          <p:nvPr>
            <p:ph idx="1" type="body"/>
          </p:nvPr>
        </p:nvSpPr>
        <p:spPr>
          <a:xfrm>
            <a:off x="838200" y="1255782"/>
            <a:ext cx="10515600" cy="4909522"/>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Clr>
                <a:schemeClr val="dk1"/>
              </a:buClr>
              <a:buSzPts val="1800"/>
              <a:buNone/>
            </a:pPr>
            <a:r>
              <a:t/>
            </a:r>
            <a:endParaRPr/>
          </a:p>
        </p:txBody>
      </p:sp>
      <p:sp>
        <p:nvSpPr>
          <p:cNvPr id="584" name="Google Shape;584;p10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85" name="Google Shape;585;p10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pic>
        <p:nvPicPr>
          <p:cNvPr id="586" name="Google Shape;586;p104"/>
          <p:cNvPicPr preferRelativeResize="0"/>
          <p:nvPr/>
        </p:nvPicPr>
        <p:blipFill rotWithShape="1">
          <a:blip r:embed="rId3">
            <a:alphaModFix/>
          </a:blip>
          <a:srcRect b="0" l="0" r="0" t="0"/>
          <a:stretch/>
        </p:blipFill>
        <p:spPr>
          <a:xfrm>
            <a:off x="1775520" y="1295400"/>
            <a:ext cx="8064896" cy="472588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105"/>
          <p:cNvSpPr txBox="1"/>
          <p:nvPr>
            <p:ph type="title"/>
          </p:nvPr>
        </p:nvSpPr>
        <p:spPr>
          <a:xfrm>
            <a:off x="838200" y="116632"/>
            <a:ext cx="10515600" cy="64807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lang="en-US"/>
              <a:t>Horizontal Bars</a:t>
            </a:r>
            <a:endParaRPr/>
          </a:p>
        </p:txBody>
      </p:sp>
      <p:sp>
        <p:nvSpPr>
          <p:cNvPr id="592" name="Google Shape;592;p105"/>
          <p:cNvSpPr txBox="1"/>
          <p:nvPr>
            <p:ph idx="1" type="body"/>
          </p:nvPr>
        </p:nvSpPr>
        <p:spPr>
          <a:xfrm>
            <a:off x="838200" y="1255782"/>
            <a:ext cx="10515600" cy="4351338"/>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Clr>
                <a:schemeClr val="dk1"/>
              </a:buClr>
              <a:buSzPts val="1800"/>
              <a:buNone/>
            </a:pPr>
            <a:r>
              <a:t/>
            </a:r>
            <a:endParaRPr/>
          </a:p>
        </p:txBody>
      </p:sp>
      <p:sp>
        <p:nvSpPr>
          <p:cNvPr id="593" name="Google Shape;593;p10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94" name="Google Shape;594;p10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pic>
        <p:nvPicPr>
          <p:cNvPr id="595" name="Google Shape;595;p105"/>
          <p:cNvPicPr preferRelativeResize="0"/>
          <p:nvPr/>
        </p:nvPicPr>
        <p:blipFill rotWithShape="1">
          <a:blip r:embed="rId3">
            <a:alphaModFix/>
          </a:blip>
          <a:srcRect b="0" l="0" r="0" t="0"/>
          <a:stretch/>
        </p:blipFill>
        <p:spPr>
          <a:xfrm>
            <a:off x="1631504" y="908720"/>
            <a:ext cx="7416824" cy="537778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06"/>
          <p:cNvSpPr txBox="1"/>
          <p:nvPr>
            <p:ph type="title"/>
          </p:nvPr>
        </p:nvSpPr>
        <p:spPr>
          <a:xfrm>
            <a:off x="838200" y="116632"/>
            <a:ext cx="10515600" cy="64807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lang="en-US"/>
              <a:t>Comparison using bars</a:t>
            </a:r>
            <a:endParaRPr/>
          </a:p>
        </p:txBody>
      </p:sp>
      <p:sp>
        <p:nvSpPr>
          <p:cNvPr id="601" name="Google Shape;601;p106"/>
          <p:cNvSpPr txBox="1"/>
          <p:nvPr>
            <p:ph idx="1" type="body"/>
          </p:nvPr>
        </p:nvSpPr>
        <p:spPr>
          <a:xfrm>
            <a:off x="838200" y="1255782"/>
            <a:ext cx="10515600" cy="4351338"/>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Clr>
                <a:schemeClr val="dk1"/>
              </a:buClr>
              <a:buSzPts val="1800"/>
              <a:buNone/>
            </a:pPr>
            <a:r>
              <a:t/>
            </a:r>
            <a:endParaRPr/>
          </a:p>
        </p:txBody>
      </p:sp>
      <p:sp>
        <p:nvSpPr>
          <p:cNvPr id="602" name="Google Shape;602;p10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03" name="Google Shape;603;p10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pic>
        <p:nvPicPr>
          <p:cNvPr id="604" name="Google Shape;604;p106"/>
          <p:cNvPicPr preferRelativeResize="0"/>
          <p:nvPr/>
        </p:nvPicPr>
        <p:blipFill rotWithShape="1">
          <a:blip r:embed="rId3">
            <a:alphaModFix/>
          </a:blip>
          <a:srcRect b="0" l="0" r="0" t="0"/>
          <a:stretch/>
        </p:blipFill>
        <p:spPr>
          <a:xfrm>
            <a:off x="1703512" y="1143000"/>
            <a:ext cx="7272808" cy="45720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107"/>
          <p:cNvSpPr txBox="1"/>
          <p:nvPr>
            <p:ph type="title"/>
          </p:nvPr>
        </p:nvSpPr>
        <p:spPr>
          <a:xfrm>
            <a:off x="838200" y="116632"/>
            <a:ext cx="10515600" cy="64807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lang="en-US"/>
              <a:t>Stacked bar chart</a:t>
            </a:r>
            <a:endParaRPr/>
          </a:p>
        </p:txBody>
      </p:sp>
      <p:sp>
        <p:nvSpPr>
          <p:cNvPr id="610" name="Google Shape;610;p107"/>
          <p:cNvSpPr txBox="1"/>
          <p:nvPr>
            <p:ph idx="1" type="body"/>
          </p:nvPr>
        </p:nvSpPr>
        <p:spPr>
          <a:xfrm>
            <a:off x="838200" y="1255782"/>
            <a:ext cx="10515600" cy="4837514"/>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Clr>
                <a:schemeClr val="dk1"/>
              </a:buClr>
              <a:buSzPts val="1800"/>
              <a:buNone/>
            </a:pPr>
            <a:r>
              <a:t/>
            </a:r>
            <a:endParaRPr/>
          </a:p>
        </p:txBody>
      </p:sp>
      <p:sp>
        <p:nvSpPr>
          <p:cNvPr id="611" name="Google Shape;611;p10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12" name="Google Shape;612;p10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pic>
        <p:nvPicPr>
          <p:cNvPr id="613" name="Google Shape;613;p107"/>
          <p:cNvPicPr preferRelativeResize="0"/>
          <p:nvPr/>
        </p:nvPicPr>
        <p:blipFill rotWithShape="1">
          <a:blip r:embed="rId3">
            <a:alphaModFix/>
          </a:blip>
          <a:srcRect b="0" l="0" r="0" t="0"/>
          <a:stretch/>
        </p:blipFill>
        <p:spPr>
          <a:xfrm>
            <a:off x="1271464" y="1362074"/>
            <a:ext cx="7278811" cy="473122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32"/>
          <p:cNvSpPr txBox="1"/>
          <p:nvPr>
            <p:ph type="title"/>
          </p:nvPr>
        </p:nvSpPr>
        <p:spPr>
          <a:xfrm>
            <a:off x="838200" y="365126"/>
            <a:ext cx="10515600" cy="76131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b="1" lang="en-US" sz="6000"/>
              <a:t>Charts</a:t>
            </a:r>
            <a:endParaRPr/>
          </a:p>
        </p:txBody>
      </p:sp>
      <p:sp>
        <p:nvSpPr>
          <p:cNvPr id="619" name="Google Shape;619;p32"/>
          <p:cNvSpPr txBox="1"/>
          <p:nvPr>
            <p:ph idx="1" type="body"/>
          </p:nvPr>
        </p:nvSpPr>
        <p:spPr>
          <a:xfrm>
            <a:off x="838200" y="1255782"/>
            <a:ext cx="10515600" cy="4351338"/>
          </a:xfrm>
          <a:prstGeom prst="rect">
            <a:avLst/>
          </a:prstGeom>
          <a:noFill/>
          <a:ln>
            <a:noFill/>
          </a:ln>
        </p:spPr>
        <p:txBody>
          <a:bodyPr anchorCtr="0" anchor="t" bIns="45700" lIns="91425" spcFirstLastPara="1" rIns="91425" wrap="square" tIns="45700">
            <a:normAutofit lnSpcReduction="10000"/>
          </a:bodyPr>
          <a:lstStyle/>
          <a:p>
            <a:pPr indent="0" lvl="0" marL="114300" rtl="0" algn="l">
              <a:lnSpc>
                <a:spcPct val="90000"/>
              </a:lnSpc>
              <a:spcBef>
                <a:spcPts val="1000"/>
              </a:spcBef>
              <a:spcAft>
                <a:spcPts val="0"/>
              </a:spcAft>
              <a:buClr>
                <a:schemeClr val="dk1"/>
              </a:buClr>
              <a:buSzPts val="1800"/>
              <a:buNone/>
            </a:pPr>
            <a:r>
              <a:rPr b="1" lang="en-US" sz="3600"/>
              <a:t>The Bar Chart</a:t>
            </a:r>
            <a:endParaRPr b="1" sz="3600"/>
          </a:p>
          <a:p>
            <a:pPr indent="-342900" lvl="0" marL="457200" rtl="0" algn="l">
              <a:lnSpc>
                <a:spcPct val="90000"/>
              </a:lnSpc>
              <a:spcBef>
                <a:spcPts val="1000"/>
              </a:spcBef>
              <a:spcAft>
                <a:spcPts val="0"/>
              </a:spcAft>
              <a:buClr>
                <a:schemeClr val="dk1"/>
              </a:buClr>
              <a:buSzPts val="1800"/>
              <a:buChar char="•"/>
            </a:pPr>
            <a:r>
              <a:rPr b="1" lang="en-US">
                <a:solidFill>
                  <a:srgbClr val="00B050"/>
                </a:solidFill>
              </a:rPr>
              <a:t>Advantages:</a:t>
            </a:r>
            <a:endParaRPr/>
          </a:p>
          <a:p>
            <a:pPr indent="-342900" lvl="0" marL="457200" rtl="0" algn="l">
              <a:lnSpc>
                <a:spcPct val="90000"/>
              </a:lnSpc>
              <a:spcBef>
                <a:spcPts val="1000"/>
              </a:spcBef>
              <a:spcAft>
                <a:spcPts val="0"/>
              </a:spcAft>
              <a:buClr>
                <a:schemeClr val="dk1"/>
              </a:buClr>
              <a:buSzPts val="1800"/>
              <a:buChar char="•"/>
            </a:pPr>
            <a:r>
              <a:rPr lang="en-US"/>
              <a:t>show each data category in a frequency distribution.</a:t>
            </a:r>
            <a:endParaRPr/>
          </a:p>
          <a:p>
            <a:pPr indent="-342900" lvl="0" marL="457200" rtl="0" algn="l">
              <a:lnSpc>
                <a:spcPct val="90000"/>
              </a:lnSpc>
              <a:spcBef>
                <a:spcPts val="1000"/>
              </a:spcBef>
              <a:spcAft>
                <a:spcPts val="0"/>
              </a:spcAft>
              <a:buClr>
                <a:schemeClr val="dk1"/>
              </a:buClr>
              <a:buSzPts val="1800"/>
              <a:buChar char="•"/>
            </a:pPr>
            <a:r>
              <a:rPr lang="en-US"/>
              <a:t>display relative numbers or proportions of multiple categories.</a:t>
            </a:r>
            <a:endParaRPr/>
          </a:p>
          <a:p>
            <a:pPr indent="-342900" lvl="0" marL="457200" rtl="0" algn="l">
              <a:lnSpc>
                <a:spcPct val="90000"/>
              </a:lnSpc>
              <a:spcBef>
                <a:spcPts val="1000"/>
              </a:spcBef>
              <a:spcAft>
                <a:spcPts val="0"/>
              </a:spcAft>
              <a:buClr>
                <a:schemeClr val="dk1"/>
              </a:buClr>
              <a:buSzPts val="1800"/>
              <a:buChar char="•"/>
            </a:pPr>
            <a:r>
              <a:rPr lang="en-US"/>
              <a:t>summarize a large data set in visual form.</a:t>
            </a:r>
            <a:endParaRPr/>
          </a:p>
          <a:p>
            <a:pPr indent="-342900" lvl="0" marL="457200" rtl="0" algn="l">
              <a:lnSpc>
                <a:spcPct val="90000"/>
              </a:lnSpc>
              <a:spcBef>
                <a:spcPts val="1000"/>
              </a:spcBef>
              <a:spcAft>
                <a:spcPts val="0"/>
              </a:spcAft>
              <a:buClr>
                <a:schemeClr val="dk1"/>
              </a:buClr>
              <a:buSzPts val="1800"/>
              <a:buChar char="•"/>
            </a:pPr>
            <a:r>
              <a:rPr lang="en-US"/>
              <a:t>clarify trends better than do tables.</a:t>
            </a:r>
            <a:endParaRPr/>
          </a:p>
          <a:p>
            <a:pPr indent="-342900" lvl="0" marL="457200" rtl="0" algn="l">
              <a:lnSpc>
                <a:spcPct val="90000"/>
              </a:lnSpc>
              <a:spcBef>
                <a:spcPts val="1000"/>
              </a:spcBef>
              <a:spcAft>
                <a:spcPts val="0"/>
              </a:spcAft>
              <a:buClr>
                <a:schemeClr val="dk1"/>
              </a:buClr>
              <a:buSzPts val="1800"/>
              <a:buChar char="•"/>
            </a:pPr>
            <a:r>
              <a:rPr lang="en-US"/>
              <a:t>estimate key values at a glance.</a:t>
            </a:r>
            <a:endParaRPr/>
          </a:p>
          <a:p>
            <a:pPr indent="-342900" lvl="0" marL="457200" rtl="0" algn="l">
              <a:lnSpc>
                <a:spcPct val="90000"/>
              </a:lnSpc>
              <a:spcBef>
                <a:spcPts val="1000"/>
              </a:spcBef>
              <a:spcAft>
                <a:spcPts val="0"/>
              </a:spcAft>
              <a:buClr>
                <a:schemeClr val="dk1"/>
              </a:buClr>
              <a:buSzPts val="1800"/>
              <a:buChar char="•"/>
            </a:pPr>
            <a:r>
              <a:rPr lang="en-US"/>
              <a:t>permit a visual check of the accuracy and reasonableness of calculations.</a:t>
            </a:r>
            <a:endParaRPr/>
          </a:p>
        </p:txBody>
      </p:sp>
      <p:sp>
        <p:nvSpPr>
          <p:cNvPr id="620" name="Google Shape;62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21" name="Google Shape;621;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33"/>
          <p:cNvSpPr txBox="1"/>
          <p:nvPr>
            <p:ph type="title"/>
          </p:nvPr>
        </p:nvSpPr>
        <p:spPr>
          <a:xfrm>
            <a:off x="838200" y="365126"/>
            <a:ext cx="10515600" cy="76131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b="1" lang="en-US" sz="6000"/>
              <a:t>Charts</a:t>
            </a:r>
            <a:endParaRPr/>
          </a:p>
        </p:txBody>
      </p:sp>
      <p:sp>
        <p:nvSpPr>
          <p:cNvPr id="627" name="Google Shape;627;p33"/>
          <p:cNvSpPr txBox="1"/>
          <p:nvPr>
            <p:ph idx="1" type="body"/>
          </p:nvPr>
        </p:nvSpPr>
        <p:spPr>
          <a:xfrm>
            <a:off x="838200" y="1255782"/>
            <a:ext cx="10515600" cy="4351338"/>
          </a:xfrm>
          <a:prstGeom prst="rect">
            <a:avLst/>
          </a:prstGeom>
          <a:noFill/>
          <a:ln>
            <a:noFill/>
          </a:ln>
        </p:spPr>
        <p:txBody>
          <a:bodyPr anchorCtr="0" anchor="t" bIns="45700" lIns="91425" spcFirstLastPara="1" rIns="91425" wrap="square" tIns="45700">
            <a:normAutofit lnSpcReduction="10000"/>
          </a:bodyPr>
          <a:lstStyle/>
          <a:p>
            <a:pPr indent="0" lvl="0" marL="114300" rtl="0" algn="l">
              <a:lnSpc>
                <a:spcPct val="90000"/>
              </a:lnSpc>
              <a:spcBef>
                <a:spcPts val="1000"/>
              </a:spcBef>
              <a:spcAft>
                <a:spcPts val="0"/>
              </a:spcAft>
              <a:buClr>
                <a:schemeClr val="dk1"/>
              </a:buClr>
              <a:buSzPts val="1800"/>
              <a:buNone/>
            </a:pPr>
            <a:r>
              <a:rPr b="1" lang="en-US" sz="3600"/>
              <a:t>The Bar Chart</a:t>
            </a:r>
            <a:endParaRPr b="1" sz="3600"/>
          </a:p>
          <a:p>
            <a:pPr indent="-342900" lvl="0" marL="457200" rtl="0" algn="l">
              <a:lnSpc>
                <a:spcPct val="90000"/>
              </a:lnSpc>
              <a:spcBef>
                <a:spcPts val="1000"/>
              </a:spcBef>
              <a:spcAft>
                <a:spcPts val="0"/>
              </a:spcAft>
              <a:buClr>
                <a:schemeClr val="dk1"/>
              </a:buClr>
              <a:buSzPts val="1800"/>
              <a:buChar char="•"/>
            </a:pPr>
            <a:r>
              <a:rPr b="1" lang="en-US">
                <a:solidFill>
                  <a:srgbClr val="FF0000"/>
                </a:solidFill>
              </a:rPr>
              <a:t>Limitations</a:t>
            </a:r>
            <a:endParaRPr/>
          </a:p>
          <a:p>
            <a:pPr indent="-342900" lvl="0" marL="457200" rtl="0" algn="l">
              <a:lnSpc>
                <a:spcPct val="90000"/>
              </a:lnSpc>
              <a:spcBef>
                <a:spcPts val="1000"/>
              </a:spcBef>
              <a:spcAft>
                <a:spcPts val="0"/>
              </a:spcAft>
              <a:buClr>
                <a:schemeClr val="dk1"/>
              </a:buClr>
              <a:buSzPts val="1800"/>
              <a:buChar char="•"/>
            </a:pPr>
            <a:r>
              <a:rPr lang="en-US"/>
              <a:t>Requires additional written or verbal explanation</a:t>
            </a:r>
            <a:endParaRPr sz="2000"/>
          </a:p>
          <a:p>
            <a:pPr indent="-342900" lvl="0" marL="457200" rtl="0" algn="l">
              <a:lnSpc>
                <a:spcPct val="90000"/>
              </a:lnSpc>
              <a:spcBef>
                <a:spcPts val="1000"/>
              </a:spcBef>
              <a:spcAft>
                <a:spcPts val="0"/>
              </a:spcAft>
              <a:buClr>
                <a:schemeClr val="dk1"/>
              </a:buClr>
              <a:buSzPts val="1800"/>
              <a:buChar char="•"/>
            </a:pPr>
            <a:r>
              <a:rPr lang="en-US"/>
              <a:t>By cleverly choosing the scale of the bar graph some scammers can make sure that one of the bars seems higher relative to the other</a:t>
            </a:r>
            <a:endParaRPr/>
          </a:p>
          <a:p>
            <a:pPr indent="-342900" lvl="0" marL="457200" rtl="0" algn="l">
              <a:lnSpc>
                <a:spcPct val="90000"/>
              </a:lnSpc>
              <a:spcBef>
                <a:spcPts val="1000"/>
              </a:spcBef>
              <a:spcAft>
                <a:spcPts val="0"/>
              </a:spcAft>
              <a:buClr>
                <a:schemeClr val="dk1"/>
              </a:buClr>
              <a:buSzPts val="1800"/>
              <a:buChar char="•"/>
            </a:pPr>
            <a:r>
              <a:rPr lang="en-US"/>
              <a:t>Fails to reveal assumptions, causes, and effects</a:t>
            </a:r>
            <a:endParaRPr/>
          </a:p>
          <a:p>
            <a:pPr indent="-342900" lvl="0" marL="457200" rtl="0" algn="l">
              <a:lnSpc>
                <a:spcPct val="90000"/>
              </a:lnSpc>
              <a:spcBef>
                <a:spcPts val="1000"/>
              </a:spcBef>
              <a:spcAft>
                <a:spcPts val="0"/>
              </a:spcAft>
              <a:buClr>
                <a:schemeClr val="dk1"/>
              </a:buClr>
              <a:buSzPts val="1800"/>
              <a:buChar char="•"/>
            </a:pPr>
            <a:r>
              <a:rPr lang="en-US"/>
              <a:t>Not Suitable if there are large number of categories</a:t>
            </a:r>
            <a:endParaRPr/>
          </a:p>
          <a:p>
            <a:pPr indent="0" lvl="0" marL="0" rtl="0" algn="l">
              <a:lnSpc>
                <a:spcPct val="90000"/>
              </a:lnSpc>
              <a:spcBef>
                <a:spcPts val="1000"/>
              </a:spcBef>
              <a:spcAft>
                <a:spcPts val="0"/>
              </a:spcAft>
              <a:buSzPts val="1800"/>
              <a:buNone/>
            </a:pPr>
            <a:br>
              <a:rPr lang="en-US"/>
            </a:br>
            <a:endParaRPr/>
          </a:p>
        </p:txBody>
      </p:sp>
      <p:sp>
        <p:nvSpPr>
          <p:cNvPr id="628" name="Google Shape;628;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29" name="Google Shape;62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35"/>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6000"/>
              <a:t>Charts</a:t>
            </a:r>
            <a:endParaRPr/>
          </a:p>
        </p:txBody>
      </p:sp>
      <p:sp>
        <p:nvSpPr>
          <p:cNvPr id="635" name="Google Shape;635;p35"/>
          <p:cNvSpPr txBox="1"/>
          <p:nvPr>
            <p:ph idx="1" type="body"/>
          </p:nvPr>
        </p:nvSpPr>
        <p:spPr>
          <a:xfrm>
            <a:off x="838200" y="12160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4000"/>
              <a:t>The Line Chart</a:t>
            </a:r>
            <a:endParaRPr b="1" sz="4000"/>
          </a:p>
          <a:p>
            <a:pPr indent="-457200" lvl="0" marL="457200" rtl="0" algn="l">
              <a:lnSpc>
                <a:spcPct val="90000"/>
              </a:lnSpc>
              <a:spcBef>
                <a:spcPts val="1000"/>
              </a:spcBef>
              <a:spcAft>
                <a:spcPts val="0"/>
              </a:spcAft>
              <a:buSzPts val="1800"/>
              <a:buChar char="•"/>
            </a:pPr>
            <a:r>
              <a:rPr lang="en-US"/>
              <a:t>A line chart is a type of chart that displays information as a series of data points connected by straight line segments.</a:t>
            </a:r>
            <a:endParaRPr/>
          </a:p>
          <a:p>
            <a:pPr indent="-457200" lvl="0" marL="457200" rtl="0" algn="l">
              <a:lnSpc>
                <a:spcPct val="90000"/>
              </a:lnSpc>
              <a:spcBef>
                <a:spcPts val="1000"/>
              </a:spcBef>
              <a:spcAft>
                <a:spcPts val="0"/>
              </a:spcAft>
              <a:buSzPts val="1800"/>
              <a:buChar char="•"/>
            </a:pPr>
            <a:r>
              <a:rPr lang="en-US"/>
              <a:t>They are most commonly used when an element of time is present.</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p:txBody>
      </p:sp>
      <p:sp>
        <p:nvSpPr>
          <p:cNvPr id="636" name="Google Shape;63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37" name="Google Shape;637;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108"/>
          <p:cNvSpPr txBox="1"/>
          <p:nvPr>
            <p:ph type="title"/>
          </p:nvPr>
        </p:nvSpPr>
        <p:spPr>
          <a:xfrm>
            <a:off x="838200" y="260649"/>
            <a:ext cx="10515600" cy="72008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45454"/>
              <a:buNone/>
            </a:pPr>
            <a:r>
              <a:rPr b="1" lang="en-US"/>
              <a:t>The Line Chart</a:t>
            </a:r>
            <a:br>
              <a:rPr b="1" lang="en-US"/>
            </a:br>
            <a:endParaRPr/>
          </a:p>
        </p:txBody>
      </p:sp>
      <p:sp>
        <p:nvSpPr>
          <p:cNvPr id="643" name="Google Shape;643;p108"/>
          <p:cNvSpPr txBox="1"/>
          <p:nvPr>
            <p:ph idx="1" type="body"/>
          </p:nvPr>
        </p:nvSpPr>
        <p:spPr>
          <a:xfrm>
            <a:off x="838200" y="1216024"/>
            <a:ext cx="10515600" cy="5093295"/>
          </a:xfrm>
          <a:prstGeom prst="rect">
            <a:avLst/>
          </a:prstGeom>
          <a:noFill/>
          <a:ln>
            <a:noFill/>
          </a:ln>
        </p:spPr>
        <p:txBody>
          <a:bodyPr anchorCtr="0" anchor="t" bIns="45700" lIns="91425" spcFirstLastPara="1" rIns="91425" wrap="square" tIns="45700">
            <a:normAutofit/>
          </a:bodyPr>
          <a:lstStyle/>
          <a:p>
            <a:pPr indent="-457200" lvl="0" marL="457200" rtl="0" algn="l">
              <a:lnSpc>
                <a:spcPct val="90000"/>
              </a:lnSpc>
              <a:spcBef>
                <a:spcPts val="1000"/>
              </a:spcBef>
              <a:spcAft>
                <a:spcPts val="0"/>
              </a:spcAft>
              <a:buSzPts val="1800"/>
              <a:buChar char="•"/>
            </a:pPr>
            <a:r>
              <a:rPr lang="en-US"/>
              <a:t>The best use case for line charts involves displaying trends over a period of time , when your data are ordered, or when interpolation makes sense.</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p:txBody>
      </p:sp>
      <p:sp>
        <p:nvSpPr>
          <p:cNvPr id="644" name="Google Shape;644;p10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45" name="Google Shape;645;p10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pic>
        <p:nvPicPr>
          <p:cNvPr id="646" name="Google Shape;646;p108"/>
          <p:cNvPicPr preferRelativeResize="0"/>
          <p:nvPr/>
        </p:nvPicPr>
        <p:blipFill rotWithShape="1">
          <a:blip r:embed="rId3">
            <a:alphaModFix/>
          </a:blip>
          <a:srcRect b="0" l="0" r="0" t="0"/>
          <a:stretch/>
        </p:blipFill>
        <p:spPr>
          <a:xfrm>
            <a:off x="2279576" y="2492896"/>
            <a:ext cx="6408712" cy="422719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09"/>
          <p:cNvSpPr txBox="1"/>
          <p:nvPr>
            <p:ph type="title"/>
          </p:nvPr>
        </p:nvSpPr>
        <p:spPr>
          <a:xfrm>
            <a:off x="838200" y="260649"/>
            <a:ext cx="10515600" cy="72008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45454"/>
              <a:buNone/>
            </a:pPr>
            <a:r>
              <a:rPr b="1" lang="en-US"/>
              <a:t>The Line Chart</a:t>
            </a:r>
            <a:br>
              <a:rPr b="1" lang="en-US"/>
            </a:br>
            <a:endParaRPr/>
          </a:p>
        </p:txBody>
      </p:sp>
      <p:sp>
        <p:nvSpPr>
          <p:cNvPr id="652" name="Google Shape;652;p109"/>
          <p:cNvSpPr txBox="1"/>
          <p:nvPr>
            <p:ph idx="1" type="body"/>
          </p:nvPr>
        </p:nvSpPr>
        <p:spPr>
          <a:xfrm>
            <a:off x="838200" y="980728"/>
            <a:ext cx="10515600" cy="5328591"/>
          </a:xfrm>
          <a:prstGeom prst="rect">
            <a:avLst/>
          </a:prstGeom>
          <a:noFill/>
          <a:ln>
            <a:noFill/>
          </a:ln>
        </p:spPr>
        <p:txBody>
          <a:bodyPr anchorCtr="0" anchor="t" bIns="45700" lIns="91425" spcFirstLastPara="1" rIns="91425" wrap="square" tIns="45700">
            <a:normAutofit/>
          </a:bodyPr>
          <a:lstStyle/>
          <a:p>
            <a:pPr indent="-457200" lvl="0" marL="457200" rtl="0" algn="l">
              <a:lnSpc>
                <a:spcPct val="90000"/>
              </a:lnSpc>
              <a:spcBef>
                <a:spcPts val="1000"/>
              </a:spcBef>
              <a:spcAft>
                <a:spcPts val="0"/>
              </a:spcAft>
              <a:buSzPts val="1800"/>
              <a:buChar char="•"/>
            </a:pPr>
            <a:r>
              <a:rPr lang="en-US"/>
              <a:t>Dual-axis line charts can be created by bringing two measures to the rows shelf, and then right-clicking on the second measure and selecting Dual-axis from the drop-down menu.</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p:txBody>
      </p:sp>
      <p:sp>
        <p:nvSpPr>
          <p:cNvPr id="653" name="Google Shape;653;p10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54" name="Google Shape;654;p10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pic>
        <p:nvPicPr>
          <p:cNvPr id="655" name="Google Shape;655;p109"/>
          <p:cNvPicPr preferRelativeResize="0"/>
          <p:nvPr/>
        </p:nvPicPr>
        <p:blipFill rotWithShape="1">
          <a:blip r:embed="rId3">
            <a:alphaModFix/>
          </a:blip>
          <a:srcRect b="0" l="0" r="0" t="0"/>
          <a:stretch/>
        </p:blipFill>
        <p:spPr>
          <a:xfrm>
            <a:off x="2063552" y="2420888"/>
            <a:ext cx="6552728" cy="368553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110"/>
          <p:cNvSpPr txBox="1"/>
          <p:nvPr>
            <p:ph type="title"/>
          </p:nvPr>
        </p:nvSpPr>
        <p:spPr>
          <a:xfrm>
            <a:off x="838200" y="260649"/>
            <a:ext cx="10515600" cy="72008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45454"/>
              <a:buNone/>
            </a:pPr>
            <a:r>
              <a:rPr b="1" lang="en-US"/>
              <a:t>The Line Chart</a:t>
            </a:r>
            <a:br>
              <a:rPr b="1" lang="en-US"/>
            </a:br>
            <a:endParaRPr/>
          </a:p>
        </p:txBody>
      </p:sp>
      <p:sp>
        <p:nvSpPr>
          <p:cNvPr id="661" name="Google Shape;661;p110"/>
          <p:cNvSpPr txBox="1"/>
          <p:nvPr>
            <p:ph idx="1" type="body"/>
          </p:nvPr>
        </p:nvSpPr>
        <p:spPr>
          <a:xfrm>
            <a:off x="838200" y="764704"/>
            <a:ext cx="10515600" cy="5544615"/>
          </a:xfrm>
          <a:prstGeom prst="rect">
            <a:avLst/>
          </a:prstGeom>
          <a:noFill/>
          <a:ln>
            <a:noFill/>
          </a:ln>
        </p:spPr>
        <p:txBody>
          <a:bodyPr anchorCtr="0" anchor="t" bIns="45700" lIns="91425" spcFirstLastPara="1" rIns="91425" wrap="square" tIns="45700">
            <a:normAutofit/>
          </a:bodyPr>
          <a:lstStyle/>
          <a:p>
            <a:pPr indent="-457200" lvl="0" marL="457200" rtl="0" algn="just">
              <a:lnSpc>
                <a:spcPct val="90000"/>
              </a:lnSpc>
              <a:spcBef>
                <a:spcPts val="1000"/>
              </a:spcBef>
              <a:spcAft>
                <a:spcPts val="0"/>
              </a:spcAft>
              <a:buSzPts val="1800"/>
              <a:buChar char="•"/>
            </a:pPr>
            <a:r>
              <a:rPr lang="en-US"/>
              <a:t>Additionally, when two or more lines are present, you can transform line charts by adding additional chart types to deepen insight. For example, a line chart can be combined with a bar chart  to provide visual cues for further investigation.</a:t>
            </a:r>
            <a:endParaRPr/>
          </a:p>
          <a:p>
            <a:pPr indent="0" lvl="0" marL="0" rtl="0" algn="just">
              <a:lnSpc>
                <a:spcPct val="90000"/>
              </a:lnSpc>
              <a:spcBef>
                <a:spcPts val="1000"/>
              </a:spcBef>
              <a:spcAft>
                <a:spcPts val="0"/>
              </a:spcAft>
              <a:buSzPts val="1800"/>
              <a:buNone/>
            </a:pPr>
            <a:r>
              <a:t/>
            </a:r>
            <a:endParaRPr/>
          </a:p>
        </p:txBody>
      </p:sp>
      <p:sp>
        <p:nvSpPr>
          <p:cNvPr id="662" name="Google Shape;662;p1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63" name="Google Shape;663;p1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pic>
        <p:nvPicPr>
          <p:cNvPr id="664" name="Google Shape;664;p110"/>
          <p:cNvPicPr preferRelativeResize="0"/>
          <p:nvPr/>
        </p:nvPicPr>
        <p:blipFill rotWithShape="1">
          <a:blip r:embed="rId3">
            <a:alphaModFix/>
          </a:blip>
          <a:srcRect b="0" l="0" r="0" t="0"/>
          <a:stretch/>
        </p:blipFill>
        <p:spPr>
          <a:xfrm>
            <a:off x="2063552" y="2451100"/>
            <a:ext cx="7416824" cy="44069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36"/>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6000"/>
              <a:t>Charts</a:t>
            </a:r>
            <a:endParaRPr/>
          </a:p>
        </p:txBody>
      </p:sp>
      <p:sp>
        <p:nvSpPr>
          <p:cNvPr id="670" name="Google Shape;670;p36"/>
          <p:cNvSpPr txBox="1"/>
          <p:nvPr>
            <p:ph idx="1" type="body"/>
          </p:nvPr>
        </p:nvSpPr>
        <p:spPr>
          <a:xfrm>
            <a:off x="838200" y="1083502"/>
            <a:ext cx="10515600" cy="425712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1000"/>
              </a:spcBef>
              <a:spcAft>
                <a:spcPts val="0"/>
              </a:spcAft>
              <a:buSzPct val="69498"/>
              <a:buNone/>
            </a:pPr>
            <a:r>
              <a:rPr b="1" lang="en-US" sz="3500"/>
              <a:t>The Line Chart</a:t>
            </a:r>
            <a:endParaRPr b="1" sz="3500"/>
          </a:p>
          <a:p>
            <a:pPr indent="0" lvl="0" marL="0" rtl="0" algn="l">
              <a:lnSpc>
                <a:spcPct val="90000"/>
              </a:lnSpc>
              <a:spcBef>
                <a:spcPts val="1000"/>
              </a:spcBef>
              <a:spcAft>
                <a:spcPts val="0"/>
              </a:spcAft>
              <a:buSzPct val="69498"/>
              <a:buNone/>
            </a:pPr>
            <a:r>
              <a:rPr b="1" lang="en-US">
                <a:solidFill>
                  <a:srgbClr val="00B050"/>
                </a:solidFill>
              </a:rPr>
              <a:t>Advantages:</a:t>
            </a:r>
            <a:endParaRPr/>
          </a:p>
          <a:p>
            <a:pPr indent="-342900" lvl="0" marL="457200" rtl="0" algn="l">
              <a:lnSpc>
                <a:spcPct val="120000"/>
              </a:lnSpc>
              <a:spcBef>
                <a:spcPts val="0"/>
              </a:spcBef>
              <a:spcAft>
                <a:spcPts val="0"/>
              </a:spcAft>
              <a:buSzPct val="69498"/>
              <a:buChar char="•"/>
            </a:pPr>
            <a:r>
              <a:rPr lang="en-US"/>
              <a:t>Easy to show the data changes over time over a line graph.</a:t>
            </a:r>
            <a:endParaRPr/>
          </a:p>
          <a:p>
            <a:pPr indent="-342900" lvl="0" marL="457200" rtl="0" algn="l">
              <a:lnSpc>
                <a:spcPct val="120000"/>
              </a:lnSpc>
              <a:spcBef>
                <a:spcPts val="0"/>
              </a:spcBef>
              <a:spcAft>
                <a:spcPts val="0"/>
              </a:spcAft>
              <a:buSzPct val="69498"/>
              <a:buChar char="•"/>
            </a:pPr>
            <a:r>
              <a:rPr lang="en-US"/>
              <a:t>Helps in showing small changes that are difficult to measure in other graphs.</a:t>
            </a:r>
            <a:endParaRPr/>
          </a:p>
          <a:p>
            <a:pPr indent="-342900" lvl="0" marL="457200" rtl="0" algn="l">
              <a:lnSpc>
                <a:spcPct val="120000"/>
              </a:lnSpc>
              <a:spcBef>
                <a:spcPts val="0"/>
              </a:spcBef>
              <a:spcAft>
                <a:spcPts val="0"/>
              </a:spcAft>
              <a:buSzPct val="69498"/>
              <a:buChar char="•"/>
            </a:pPr>
            <a:r>
              <a:rPr lang="en-US"/>
              <a:t>A relationship between 2 or more variables get identified.</a:t>
            </a:r>
            <a:endParaRPr/>
          </a:p>
          <a:p>
            <a:pPr indent="-342900" lvl="0" marL="457200" rtl="0" algn="l">
              <a:lnSpc>
                <a:spcPct val="120000"/>
              </a:lnSpc>
              <a:spcBef>
                <a:spcPts val="0"/>
              </a:spcBef>
              <a:spcAft>
                <a:spcPts val="0"/>
              </a:spcAft>
              <a:buSzPct val="69498"/>
              <a:buChar char="•"/>
            </a:pPr>
            <a:r>
              <a:rPr lang="en-US"/>
              <a:t>It presents a good impression of trends and changes.</a:t>
            </a:r>
            <a:endParaRPr/>
          </a:p>
          <a:p>
            <a:pPr indent="-342900" lvl="0" marL="457200" rtl="0" algn="l">
              <a:lnSpc>
                <a:spcPct val="120000"/>
              </a:lnSpc>
              <a:spcBef>
                <a:spcPts val="0"/>
              </a:spcBef>
              <a:spcAft>
                <a:spcPts val="0"/>
              </a:spcAft>
              <a:buSzPct val="69498"/>
              <a:buChar char="•"/>
            </a:pPr>
            <a:r>
              <a:rPr lang="en-US"/>
              <a:t>Both negative, as well as positive values, are indicated.</a:t>
            </a:r>
            <a:endParaRPr/>
          </a:p>
          <a:p>
            <a:pPr indent="0" lvl="0" marL="0" rtl="0" algn="l">
              <a:lnSpc>
                <a:spcPct val="90000"/>
              </a:lnSpc>
              <a:spcBef>
                <a:spcPts val="1000"/>
              </a:spcBef>
              <a:spcAft>
                <a:spcPts val="0"/>
              </a:spcAft>
              <a:buSzPct val="69498"/>
              <a:buNone/>
            </a:pPr>
            <a:r>
              <a:rPr lang="en-US"/>
              <a:t> </a:t>
            </a:r>
            <a:endParaRPr/>
          </a:p>
          <a:p>
            <a:pPr indent="0" lvl="0" marL="0" rtl="0" algn="l">
              <a:lnSpc>
                <a:spcPct val="90000"/>
              </a:lnSpc>
              <a:spcBef>
                <a:spcPts val="1000"/>
              </a:spcBef>
              <a:spcAft>
                <a:spcPts val="0"/>
              </a:spcAft>
              <a:buSzPct val="69498"/>
              <a:buNone/>
            </a:pPr>
            <a:r>
              <a:t/>
            </a:r>
            <a:endParaRPr/>
          </a:p>
          <a:p>
            <a:pPr indent="0" lvl="0" marL="0" rtl="0" algn="l">
              <a:lnSpc>
                <a:spcPct val="90000"/>
              </a:lnSpc>
              <a:spcBef>
                <a:spcPts val="1000"/>
              </a:spcBef>
              <a:spcAft>
                <a:spcPts val="0"/>
              </a:spcAft>
              <a:buSzPct val="69498"/>
              <a:buNone/>
            </a:pPr>
            <a:r>
              <a:t/>
            </a:r>
            <a:endParaRPr/>
          </a:p>
          <a:p>
            <a:pPr indent="0" lvl="0" marL="0" rtl="0" algn="l">
              <a:lnSpc>
                <a:spcPct val="90000"/>
              </a:lnSpc>
              <a:spcBef>
                <a:spcPts val="1000"/>
              </a:spcBef>
              <a:spcAft>
                <a:spcPts val="0"/>
              </a:spcAft>
              <a:buSzPct val="69498"/>
              <a:buNone/>
            </a:pPr>
            <a:r>
              <a:t/>
            </a:r>
            <a:endParaRPr/>
          </a:p>
        </p:txBody>
      </p:sp>
      <p:sp>
        <p:nvSpPr>
          <p:cNvPr id="671" name="Google Shape;671;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72" name="Google Shape;67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37"/>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6000"/>
              <a:t>Charts</a:t>
            </a:r>
            <a:endParaRPr/>
          </a:p>
        </p:txBody>
      </p:sp>
      <p:sp>
        <p:nvSpPr>
          <p:cNvPr id="678" name="Google Shape;678;p37"/>
          <p:cNvSpPr txBox="1"/>
          <p:nvPr>
            <p:ph idx="1" type="body"/>
          </p:nvPr>
        </p:nvSpPr>
        <p:spPr>
          <a:xfrm>
            <a:off x="838200" y="1083502"/>
            <a:ext cx="10515600" cy="425712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3200"/>
              <a:t>The Line Chart</a:t>
            </a:r>
            <a:endParaRPr b="1" sz="3200"/>
          </a:p>
          <a:p>
            <a:pPr indent="0" lvl="0" marL="0" rtl="0" algn="l">
              <a:lnSpc>
                <a:spcPct val="90000"/>
              </a:lnSpc>
              <a:spcBef>
                <a:spcPts val="1000"/>
              </a:spcBef>
              <a:spcAft>
                <a:spcPts val="0"/>
              </a:spcAft>
              <a:buSzPts val="1800"/>
              <a:buNone/>
            </a:pPr>
            <a:r>
              <a:rPr b="1" lang="en-US">
                <a:solidFill>
                  <a:srgbClr val="FF0000"/>
                </a:solidFill>
              </a:rPr>
              <a:t>Limitations:</a:t>
            </a:r>
            <a:endParaRPr/>
          </a:p>
          <a:p>
            <a:pPr indent="-342900" lvl="0" marL="457200" rtl="0" algn="l">
              <a:lnSpc>
                <a:spcPct val="90000"/>
              </a:lnSpc>
              <a:spcBef>
                <a:spcPts val="1000"/>
              </a:spcBef>
              <a:spcAft>
                <a:spcPts val="0"/>
              </a:spcAft>
              <a:buSzPts val="1800"/>
              <a:buChar char="•"/>
            </a:pPr>
            <a:r>
              <a:rPr lang="en-US"/>
              <a:t>Plotting too many lines over the graph makes it cluttered and confusing to read.</a:t>
            </a:r>
            <a:endParaRPr/>
          </a:p>
          <a:p>
            <a:pPr indent="-342900" lvl="0" marL="457200" rtl="0" algn="l">
              <a:lnSpc>
                <a:spcPct val="90000"/>
              </a:lnSpc>
              <a:spcBef>
                <a:spcPts val="1000"/>
              </a:spcBef>
              <a:spcAft>
                <a:spcPts val="0"/>
              </a:spcAft>
              <a:buSzPts val="1800"/>
              <a:buChar char="•"/>
            </a:pPr>
            <a:r>
              <a:rPr lang="en-US"/>
              <a:t>A wide range of data is challenging to plot over a line graph.</a:t>
            </a:r>
            <a:endParaRPr/>
          </a:p>
          <a:p>
            <a:pPr indent="-342900" lvl="0" marL="457200" rtl="0" algn="l">
              <a:lnSpc>
                <a:spcPct val="90000"/>
              </a:lnSpc>
              <a:spcBef>
                <a:spcPts val="1000"/>
              </a:spcBef>
              <a:spcAft>
                <a:spcPts val="0"/>
              </a:spcAft>
              <a:buSzPts val="1800"/>
              <a:buChar char="•"/>
            </a:pPr>
            <a:r>
              <a:rPr lang="en-US"/>
              <a:t>They are only ideal for representing data made of total figures such as values of total rainfall in a month.</a:t>
            </a:r>
            <a:endParaRPr/>
          </a:p>
          <a:p>
            <a:pPr indent="0" lvl="0" marL="0" rtl="0" algn="l">
              <a:lnSpc>
                <a:spcPct val="120000"/>
              </a:lnSpc>
              <a:spcBef>
                <a:spcPts val="0"/>
              </a:spcBef>
              <a:spcAft>
                <a:spcPts val="0"/>
              </a:spcAft>
              <a:buSzPts val="1800"/>
              <a:buNone/>
            </a:pPr>
            <a:r>
              <a:rPr lang="en-US"/>
              <a:t> </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p:txBody>
      </p:sp>
      <p:sp>
        <p:nvSpPr>
          <p:cNvPr id="679" name="Google Shape;67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680" name="Google Shape;68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descr="line graph example" id="686" name="Google Shape;686;p111"/>
          <p:cNvPicPr preferRelativeResize="0"/>
          <p:nvPr/>
        </p:nvPicPr>
        <p:blipFill rotWithShape="1">
          <a:blip r:embed="rId3">
            <a:alphaModFix/>
          </a:blip>
          <a:srcRect b="0" l="0" r="0" t="0"/>
          <a:stretch/>
        </p:blipFill>
        <p:spPr>
          <a:xfrm>
            <a:off x="6078884" y="493921"/>
            <a:ext cx="5895628" cy="2940878"/>
          </a:xfrm>
          <a:prstGeom prst="rect">
            <a:avLst/>
          </a:prstGeom>
          <a:noFill/>
          <a:ln>
            <a:noFill/>
          </a:ln>
        </p:spPr>
      </p:pic>
      <p:pic>
        <p:nvPicPr>
          <p:cNvPr id="687" name="Google Shape;687;p111"/>
          <p:cNvPicPr preferRelativeResize="0"/>
          <p:nvPr/>
        </p:nvPicPr>
        <p:blipFill rotWithShape="1">
          <a:blip r:embed="rId4">
            <a:alphaModFix/>
          </a:blip>
          <a:srcRect b="0" l="0" r="0" t="0"/>
          <a:stretch/>
        </p:blipFill>
        <p:spPr>
          <a:xfrm>
            <a:off x="569981" y="338966"/>
            <a:ext cx="4757393" cy="3805915"/>
          </a:xfrm>
          <a:prstGeom prst="rect">
            <a:avLst/>
          </a:prstGeom>
          <a:noFill/>
          <a:ln>
            <a:noFill/>
          </a:ln>
        </p:spPr>
      </p:pic>
      <p:pic>
        <p:nvPicPr>
          <p:cNvPr id="688" name="Google Shape;688;p111"/>
          <p:cNvPicPr preferRelativeResize="0"/>
          <p:nvPr/>
        </p:nvPicPr>
        <p:blipFill rotWithShape="1">
          <a:blip r:embed="rId5">
            <a:alphaModFix/>
          </a:blip>
          <a:srcRect b="0" l="0" r="0" t="0"/>
          <a:stretch/>
        </p:blipFill>
        <p:spPr>
          <a:xfrm>
            <a:off x="1098274" y="4144881"/>
            <a:ext cx="4229100" cy="1917700"/>
          </a:xfrm>
          <a:prstGeom prst="rect">
            <a:avLst/>
          </a:prstGeom>
          <a:noFill/>
          <a:ln>
            <a:noFill/>
          </a:ln>
        </p:spPr>
      </p:pic>
      <p:sp>
        <p:nvSpPr>
          <p:cNvPr id="689" name="Google Shape;689;p1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38"/>
          <p:cNvSpPr txBox="1"/>
          <p:nvPr>
            <p:ph type="title"/>
          </p:nvPr>
        </p:nvSpPr>
        <p:spPr>
          <a:xfrm>
            <a:off x="838200" y="116633"/>
            <a:ext cx="10515600" cy="94354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3333"/>
              <a:buNone/>
            </a:pPr>
            <a:r>
              <a:rPr b="1" lang="en-US"/>
              <a:t>The Pie and Donut Charts: </a:t>
            </a:r>
            <a:br>
              <a:rPr b="1" lang="en-US"/>
            </a:br>
            <a:endParaRPr/>
          </a:p>
        </p:txBody>
      </p:sp>
      <p:sp>
        <p:nvSpPr>
          <p:cNvPr id="695" name="Google Shape;695;p38"/>
          <p:cNvSpPr txBox="1"/>
          <p:nvPr>
            <p:ph idx="1" type="body"/>
          </p:nvPr>
        </p:nvSpPr>
        <p:spPr>
          <a:xfrm>
            <a:off x="838200" y="908720"/>
            <a:ext cx="10515600" cy="4502792"/>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A pie chart (or a circle chart) is a circular statistical graphic, which is divided into slices to illustrate numerical proportion.</a:t>
            </a:r>
            <a:endParaRPr/>
          </a:p>
          <a:p>
            <a:pPr indent="-342900" lvl="0" marL="457200" rtl="0" algn="l">
              <a:lnSpc>
                <a:spcPct val="90000"/>
              </a:lnSpc>
              <a:spcBef>
                <a:spcPts val="1000"/>
              </a:spcBef>
              <a:spcAft>
                <a:spcPts val="0"/>
              </a:spcAft>
              <a:buSzPts val="1800"/>
              <a:buChar char="•"/>
            </a:pPr>
            <a:r>
              <a:rPr lang="en-US"/>
              <a:t>Donut charts can help clarify your data story by including a key takeaway in the center white space </a:t>
            </a:r>
            <a:endParaRPr/>
          </a:p>
          <a:p>
            <a:pPr indent="0" lvl="0" marL="0" rtl="0" algn="l">
              <a:lnSpc>
                <a:spcPct val="90000"/>
              </a:lnSpc>
              <a:spcBef>
                <a:spcPts val="1000"/>
              </a:spcBef>
              <a:spcAft>
                <a:spcPts val="0"/>
              </a:spcAft>
              <a:buSzPts val="1800"/>
              <a:buNone/>
            </a:pPr>
            <a:r>
              <a:t/>
            </a:r>
            <a:endParaRPr/>
          </a:p>
        </p:txBody>
      </p:sp>
      <p:sp>
        <p:nvSpPr>
          <p:cNvPr id="696" name="Google Shape;69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697" name="Google Shape;697;p38"/>
          <p:cNvPicPr preferRelativeResize="0"/>
          <p:nvPr/>
        </p:nvPicPr>
        <p:blipFill rotWithShape="1">
          <a:blip r:embed="rId3">
            <a:alphaModFix/>
          </a:blip>
          <a:srcRect b="0" l="0" r="0" t="0"/>
          <a:stretch/>
        </p:blipFill>
        <p:spPr>
          <a:xfrm>
            <a:off x="156790" y="2740714"/>
            <a:ext cx="7030582" cy="3501059"/>
          </a:xfrm>
          <a:prstGeom prst="rect">
            <a:avLst/>
          </a:prstGeom>
          <a:noFill/>
          <a:ln>
            <a:noFill/>
          </a:ln>
        </p:spPr>
      </p:pic>
      <p:pic>
        <p:nvPicPr>
          <p:cNvPr id="698" name="Google Shape;698;p38"/>
          <p:cNvPicPr preferRelativeResize="0"/>
          <p:nvPr/>
        </p:nvPicPr>
        <p:blipFill rotWithShape="1">
          <a:blip r:embed="rId4">
            <a:alphaModFix/>
          </a:blip>
          <a:srcRect b="0" l="0" r="0" t="0"/>
          <a:stretch/>
        </p:blipFill>
        <p:spPr>
          <a:xfrm>
            <a:off x="5685184" y="2478274"/>
            <a:ext cx="5514008" cy="4243201"/>
          </a:xfrm>
          <a:prstGeom prst="rect">
            <a:avLst/>
          </a:prstGeom>
          <a:noFill/>
          <a:ln>
            <a:noFill/>
          </a:ln>
        </p:spPr>
      </p:pic>
      <p:sp>
        <p:nvSpPr>
          <p:cNvPr id="699" name="Google Shape;699;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39"/>
          <p:cNvSpPr txBox="1"/>
          <p:nvPr>
            <p:ph type="title"/>
          </p:nvPr>
        </p:nvSpPr>
        <p:spPr>
          <a:xfrm>
            <a:off x="838200" y="365125"/>
            <a:ext cx="10515600" cy="69504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b="1" lang="en-US" sz="6000"/>
              <a:t>Charts</a:t>
            </a:r>
            <a:endParaRPr/>
          </a:p>
        </p:txBody>
      </p:sp>
      <p:sp>
        <p:nvSpPr>
          <p:cNvPr id="705" name="Google Shape;705;p39"/>
          <p:cNvSpPr txBox="1"/>
          <p:nvPr>
            <p:ph idx="1" type="body"/>
          </p:nvPr>
        </p:nvSpPr>
        <p:spPr>
          <a:xfrm>
            <a:off x="838200" y="1060174"/>
            <a:ext cx="10810461" cy="4745090"/>
          </a:xfrm>
          <a:prstGeom prst="rect">
            <a:avLst/>
          </a:prstGeom>
          <a:noFill/>
          <a:ln>
            <a:noFill/>
          </a:ln>
        </p:spPr>
        <p:txBody>
          <a:bodyPr anchorCtr="0" anchor="t" bIns="45700" lIns="91425" spcFirstLastPara="1" rIns="91425" wrap="square" tIns="45700">
            <a:normAutofit fontScale="92500" lnSpcReduction="10000"/>
          </a:bodyPr>
          <a:lstStyle/>
          <a:p>
            <a:pPr indent="0" lvl="0" marL="114300" rtl="0" algn="l">
              <a:lnSpc>
                <a:spcPct val="90000"/>
              </a:lnSpc>
              <a:spcBef>
                <a:spcPts val="1000"/>
              </a:spcBef>
              <a:spcAft>
                <a:spcPts val="0"/>
              </a:spcAft>
              <a:buClr>
                <a:schemeClr val="dk1"/>
              </a:buClr>
              <a:buSzPct val="69498"/>
              <a:buNone/>
            </a:pPr>
            <a:r>
              <a:rPr b="1" lang="en-US" sz="3000"/>
              <a:t>The Pie and Donut Charts: </a:t>
            </a:r>
            <a:endParaRPr b="1" sz="3000"/>
          </a:p>
          <a:p>
            <a:pPr indent="-342917" lvl="0" marL="457200" rtl="0" algn="l">
              <a:lnSpc>
                <a:spcPct val="90000"/>
              </a:lnSpc>
              <a:spcBef>
                <a:spcPts val="1000"/>
              </a:spcBef>
              <a:spcAft>
                <a:spcPts val="0"/>
              </a:spcAft>
              <a:buClr>
                <a:schemeClr val="dk1"/>
              </a:buClr>
              <a:buSzPct val="55597"/>
              <a:buChar char="•"/>
            </a:pPr>
            <a:r>
              <a:rPr b="1" lang="en-US" sz="3500">
                <a:solidFill>
                  <a:srgbClr val="00B050"/>
                </a:solidFill>
              </a:rPr>
              <a:t>Advantages :</a:t>
            </a:r>
            <a:endParaRPr/>
          </a:p>
          <a:p>
            <a:pPr indent="-342900" lvl="0" marL="457200" rtl="0" algn="l">
              <a:lnSpc>
                <a:spcPct val="90000"/>
              </a:lnSpc>
              <a:spcBef>
                <a:spcPts val="1000"/>
              </a:spcBef>
              <a:spcAft>
                <a:spcPts val="0"/>
              </a:spcAft>
              <a:buSzPct val="69498"/>
              <a:buChar char="•"/>
            </a:pPr>
            <a:r>
              <a:rPr lang="en-US"/>
              <a:t>A simple and easy-to-understand picture.</a:t>
            </a:r>
            <a:endParaRPr/>
          </a:p>
          <a:p>
            <a:pPr indent="-342900" lvl="0" marL="457200" rtl="0" algn="l">
              <a:lnSpc>
                <a:spcPct val="90000"/>
              </a:lnSpc>
              <a:spcBef>
                <a:spcPts val="1000"/>
              </a:spcBef>
              <a:spcAft>
                <a:spcPts val="0"/>
              </a:spcAft>
              <a:buSzPct val="69498"/>
              <a:buChar char="•"/>
            </a:pPr>
            <a:r>
              <a:rPr lang="en-US"/>
              <a:t>It represents data visually as a fractional part of a whole, which can be an effective communication tool for the even uninformed audience.</a:t>
            </a:r>
            <a:endParaRPr/>
          </a:p>
          <a:p>
            <a:pPr indent="-342900" lvl="0" marL="457200" rtl="0" algn="l">
              <a:lnSpc>
                <a:spcPct val="90000"/>
              </a:lnSpc>
              <a:spcBef>
                <a:spcPts val="1000"/>
              </a:spcBef>
              <a:spcAft>
                <a:spcPts val="0"/>
              </a:spcAft>
              <a:buSzPct val="69498"/>
              <a:buChar char="•"/>
            </a:pPr>
            <a:r>
              <a:rPr lang="en-US"/>
              <a:t>It enables the audience to see a data comparison at a glance to make an immediate analysis or to understand information quickly.</a:t>
            </a:r>
            <a:endParaRPr/>
          </a:p>
          <a:p>
            <a:pPr indent="-342900" lvl="0" marL="457200" rtl="0" algn="l">
              <a:lnSpc>
                <a:spcPct val="90000"/>
              </a:lnSpc>
              <a:spcBef>
                <a:spcPts val="1000"/>
              </a:spcBef>
              <a:spcAft>
                <a:spcPts val="0"/>
              </a:spcAft>
              <a:buSzPct val="69498"/>
              <a:buChar char="•"/>
            </a:pPr>
            <a:r>
              <a:rPr lang="en-US"/>
              <a:t>The need for readers to examine or measure underlying numbers themselves can be removed by using this chart.</a:t>
            </a:r>
            <a:endParaRPr/>
          </a:p>
          <a:p>
            <a:pPr indent="-342900" lvl="0" marL="457200" rtl="0" algn="l">
              <a:lnSpc>
                <a:spcPct val="90000"/>
              </a:lnSpc>
              <a:spcBef>
                <a:spcPts val="1000"/>
              </a:spcBef>
              <a:spcAft>
                <a:spcPts val="0"/>
              </a:spcAft>
              <a:buSzPct val="69498"/>
              <a:buChar char="•"/>
            </a:pPr>
            <a:r>
              <a:rPr lang="en-US"/>
              <a:t>To emphasize points you want to make, you can manipulate pieces of data in the pie chart.</a:t>
            </a:r>
            <a:endParaRPr/>
          </a:p>
          <a:p>
            <a:pPr indent="-228600" lvl="0" marL="457200" rtl="0" algn="l">
              <a:lnSpc>
                <a:spcPct val="90000"/>
              </a:lnSpc>
              <a:spcBef>
                <a:spcPts val="1000"/>
              </a:spcBef>
              <a:spcAft>
                <a:spcPts val="0"/>
              </a:spcAft>
              <a:buClr>
                <a:schemeClr val="dk1"/>
              </a:buClr>
              <a:buSzPct val="69498"/>
              <a:buNone/>
            </a:pPr>
            <a:r>
              <a:t/>
            </a:r>
            <a:endParaRPr/>
          </a:p>
          <a:p>
            <a:pPr indent="0" lvl="0" marL="0" rtl="0" algn="l">
              <a:lnSpc>
                <a:spcPct val="90000"/>
              </a:lnSpc>
              <a:spcBef>
                <a:spcPts val="1000"/>
              </a:spcBef>
              <a:spcAft>
                <a:spcPts val="0"/>
              </a:spcAft>
              <a:buSzPct val="69498"/>
              <a:buNone/>
            </a:pPr>
            <a:r>
              <a:t/>
            </a:r>
            <a:endParaRPr/>
          </a:p>
        </p:txBody>
      </p:sp>
      <p:sp>
        <p:nvSpPr>
          <p:cNvPr id="706" name="Google Shape;706;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07" name="Google Shape;707;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40"/>
          <p:cNvSpPr txBox="1"/>
          <p:nvPr>
            <p:ph type="title"/>
          </p:nvPr>
        </p:nvSpPr>
        <p:spPr>
          <a:xfrm>
            <a:off x="838200" y="365125"/>
            <a:ext cx="10515600" cy="69504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b="1" lang="en-US" sz="6000"/>
              <a:t>Charts</a:t>
            </a:r>
            <a:endParaRPr/>
          </a:p>
        </p:txBody>
      </p:sp>
      <p:sp>
        <p:nvSpPr>
          <p:cNvPr id="713" name="Google Shape;713;p40"/>
          <p:cNvSpPr txBox="1"/>
          <p:nvPr>
            <p:ph idx="1" type="body"/>
          </p:nvPr>
        </p:nvSpPr>
        <p:spPr>
          <a:xfrm>
            <a:off x="838200" y="1060174"/>
            <a:ext cx="10810461" cy="4351338"/>
          </a:xfrm>
          <a:prstGeom prst="rect">
            <a:avLst/>
          </a:prstGeom>
          <a:noFill/>
          <a:ln>
            <a:noFill/>
          </a:ln>
        </p:spPr>
        <p:txBody>
          <a:bodyPr anchorCtr="0" anchor="t" bIns="45700" lIns="91425" spcFirstLastPara="1" rIns="91425" wrap="square" tIns="45700">
            <a:normAutofit fontScale="92500" lnSpcReduction="10000"/>
          </a:bodyPr>
          <a:lstStyle/>
          <a:p>
            <a:pPr indent="0" lvl="0" marL="114300" rtl="0" algn="l">
              <a:lnSpc>
                <a:spcPct val="90000"/>
              </a:lnSpc>
              <a:spcBef>
                <a:spcPts val="1000"/>
              </a:spcBef>
              <a:spcAft>
                <a:spcPts val="0"/>
              </a:spcAft>
              <a:buClr>
                <a:schemeClr val="dk1"/>
              </a:buClr>
              <a:buSzPct val="69498"/>
              <a:buNone/>
            </a:pPr>
            <a:r>
              <a:rPr b="1" lang="en-US" sz="3000"/>
              <a:t>The Pie and Donut Charts: </a:t>
            </a:r>
            <a:endParaRPr b="1" sz="3000"/>
          </a:p>
          <a:p>
            <a:pPr indent="-342917" lvl="0" marL="457200" rtl="0" algn="l">
              <a:lnSpc>
                <a:spcPct val="90000"/>
              </a:lnSpc>
              <a:spcBef>
                <a:spcPts val="1000"/>
              </a:spcBef>
              <a:spcAft>
                <a:spcPts val="0"/>
              </a:spcAft>
              <a:buClr>
                <a:schemeClr val="dk1"/>
              </a:buClr>
              <a:buSzPct val="55597"/>
              <a:buChar char="•"/>
            </a:pPr>
            <a:r>
              <a:rPr b="1" lang="en-US" sz="3500">
                <a:solidFill>
                  <a:srgbClr val="FF0000"/>
                </a:solidFill>
              </a:rPr>
              <a:t>Limitations:</a:t>
            </a:r>
            <a:endParaRPr/>
          </a:p>
          <a:p>
            <a:pPr indent="-342900" lvl="0" marL="457200" rtl="0" algn="l">
              <a:lnSpc>
                <a:spcPct val="90000"/>
              </a:lnSpc>
              <a:spcBef>
                <a:spcPts val="1000"/>
              </a:spcBef>
              <a:spcAft>
                <a:spcPts val="0"/>
              </a:spcAft>
              <a:buSzPct val="69498"/>
              <a:buChar char="•"/>
            </a:pPr>
            <a:r>
              <a:rPr lang="en-US"/>
              <a:t>They cannot show more than a few values, because as the number of values shown increases, the size of each segment/slice becomes smaller. This makes them unsuitable for large amounts of data.</a:t>
            </a:r>
            <a:endParaRPr/>
          </a:p>
          <a:p>
            <a:pPr indent="-342900" lvl="0" marL="457200" rtl="0" algn="l">
              <a:lnSpc>
                <a:spcPct val="90000"/>
              </a:lnSpc>
              <a:spcBef>
                <a:spcPts val="1000"/>
              </a:spcBef>
              <a:spcAft>
                <a:spcPts val="0"/>
              </a:spcAft>
              <a:buSzPct val="69498"/>
              <a:buChar char="•"/>
            </a:pPr>
            <a:r>
              <a:rPr lang="en-US"/>
              <a:t>They take up more space than their alternatives, like a 100% Stacked Bar Chart for example. Mainly due to their size and for the usual need for a legend.</a:t>
            </a:r>
            <a:endParaRPr/>
          </a:p>
          <a:p>
            <a:pPr indent="-342900" lvl="0" marL="457200" rtl="0" algn="l">
              <a:lnSpc>
                <a:spcPct val="90000"/>
              </a:lnSpc>
              <a:spcBef>
                <a:spcPts val="1000"/>
              </a:spcBef>
              <a:spcAft>
                <a:spcPts val="0"/>
              </a:spcAft>
              <a:buSzPct val="69498"/>
              <a:buChar char="•"/>
            </a:pPr>
            <a:r>
              <a:rPr lang="en-US"/>
              <a:t>They are not great for making accurate comparisons between groups of Pie Charts. This being that it is harder to distinguish the size of items via area when it is for length.</a:t>
            </a:r>
            <a:endParaRPr/>
          </a:p>
          <a:p>
            <a:pPr indent="0" lvl="0" marL="0" rtl="0" algn="l">
              <a:lnSpc>
                <a:spcPct val="90000"/>
              </a:lnSpc>
              <a:spcBef>
                <a:spcPts val="1000"/>
              </a:spcBef>
              <a:spcAft>
                <a:spcPts val="0"/>
              </a:spcAft>
              <a:buSzPct val="69498"/>
              <a:buNone/>
            </a:pPr>
            <a:r>
              <a:t/>
            </a:r>
            <a:endParaRPr/>
          </a:p>
        </p:txBody>
      </p:sp>
      <p:sp>
        <p:nvSpPr>
          <p:cNvPr id="714" name="Google Shape;714;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15" name="Google Shape;715;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721" name="Google Shape;721;p41"/>
          <p:cNvPicPr preferRelativeResize="0"/>
          <p:nvPr/>
        </p:nvPicPr>
        <p:blipFill rotWithShape="1">
          <a:blip r:embed="rId3">
            <a:alphaModFix/>
          </a:blip>
          <a:srcRect b="0" l="0" r="0" t="0"/>
          <a:stretch/>
        </p:blipFill>
        <p:spPr>
          <a:xfrm>
            <a:off x="695400" y="1556792"/>
            <a:ext cx="4461321" cy="3169886"/>
          </a:xfrm>
          <a:prstGeom prst="rect">
            <a:avLst/>
          </a:prstGeom>
          <a:noFill/>
          <a:ln>
            <a:noFill/>
          </a:ln>
        </p:spPr>
      </p:pic>
      <p:pic>
        <p:nvPicPr>
          <p:cNvPr id="722" name="Google Shape;722;p41"/>
          <p:cNvPicPr preferRelativeResize="0"/>
          <p:nvPr/>
        </p:nvPicPr>
        <p:blipFill rotWithShape="1">
          <a:blip r:embed="rId4">
            <a:alphaModFix/>
          </a:blip>
          <a:srcRect b="0" l="0" r="0" t="0"/>
          <a:stretch/>
        </p:blipFill>
        <p:spPr>
          <a:xfrm>
            <a:off x="5879976" y="1278497"/>
            <a:ext cx="5984123" cy="3726476"/>
          </a:xfrm>
          <a:prstGeom prst="rect">
            <a:avLst/>
          </a:prstGeom>
          <a:noFill/>
          <a:ln>
            <a:noFill/>
          </a:ln>
        </p:spPr>
      </p:pic>
      <p:sp>
        <p:nvSpPr>
          <p:cNvPr id="723" name="Google Shape;723;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Treemap an alterative to pie</a:t>
            </a:r>
            <a:endParaRPr/>
          </a:p>
        </p:txBody>
      </p:sp>
      <p:sp>
        <p:nvSpPr>
          <p:cNvPr id="729" name="Google Shape;729;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730" name="Google Shape;730;p42"/>
          <p:cNvPicPr preferRelativeResize="0"/>
          <p:nvPr/>
        </p:nvPicPr>
        <p:blipFill rotWithShape="1">
          <a:blip r:embed="rId3">
            <a:alphaModFix/>
          </a:blip>
          <a:srcRect b="0" l="0" r="0" t="0"/>
          <a:stretch/>
        </p:blipFill>
        <p:spPr>
          <a:xfrm>
            <a:off x="6677156" y="1526006"/>
            <a:ext cx="5001322" cy="2663042"/>
          </a:xfrm>
          <a:prstGeom prst="rect">
            <a:avLst/>
          </a:prstGeom>
          <a:noFill/>
          <a:ln>
            <a:noFill/>
          </a:ln>
        </p:spPr>
      </p:pic>
      <p:pic>
        <p:nvPicPr>
          <p:cNvPr id="731" name="Google Shape;731;p42"/>
          <p:cNvPicPr preferRelativeResize="0"/>
          <p:nvPr/>
        </p:nvPicPr>
        <p:blipFill rotWithShape="1">
          <a:blip r:embed="rId4">
            <a:alphaModFix/>
          </a:blip>
          <a:srcRect b="0" l="0" r="0" t="0"/>
          <a:stretch/>
        </p:blipFill>
        <p:spPr>
          <a:xfrm>
            <a:off x="129806" y="1526006"/>
            <a:ext cx="6386351" cy="4152873"/>
          </a:xfrm>
          <a:prstGeom prst="rect">
            <a:avLst/>
          </a:prstGeom>
          <a:noFill/>
          <a:ln>
            <a:noFill/>
          </a:ln>
        </p:spPr>
      </p:pic>
      <p:sp>
        <p:nvSpPr>
          <p:cNvPr id="732" name="Google Shape;73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43"/>
          <p:cNvSpPr txBox="1"/>
          <p:nvPr>
            <p:ph type="title"/>
          </p:nvPr>
        </p:nvSpPr>
        <p:spPr>
          <a:xfrm>
            <a:off x="838200" y="365126"/>
            <a:ext cx="10515600" cy="64204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3333"/>
              <a:buNone/>
            </a:pPr>
            <a:r>
              <a:rPr b="1" lang="en-US"/>
              <a:t>The Scatter Plot</a:t>
            </a:r>
            <a:br>
              <a:rPr b="1" lang="en-US"/>
            </a:br>
            <a:endParaRPr/>
          </a:p>
        </p:txBody>
      </p:sp>
      <p:sp>
        <p:nvSpPr>
          <p:cNvPr id="738" name="Google Shape;738;p43"/>
          <p:cNvSpPr txBox="1"/>
          <p:nvPr>
            <p:ph idx="1" type="body"/>
          </p:nvPr>
        </p:nvSpPr>
        <p:spPr>
          <a:xfrm>
            <a:off x="838200" y="548680"/>
            <a:ext cx="10515600" cy="485539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sp>
        <p:nvSpPr>
          <p:cNvPr id="739" name="Google Shape;739;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40" name="Google Shape;740;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pic>
        <p:nvPicPr>
          <p:cNvPr id="741" name="Google Shape;741;p43"/>
          <p:cNvPicPr preferRelativeResize="0"/>
          <p:nvPr/>
        </p:nvPicPr>
        <p:blipFill rotWithShape="1">
          <a:blip r:embed="rId3">
            <a:alphaModFix/>
          </a:blip>
          <a:srcRect b="0" l="0" r="0" t="0"/>
          <a:stretch/>
        </p:blipFill>
        <p:spPr>
          <a:xfrm>
            <a:off x="767408" y="735324"/>
            <a:ext cx="9001000" cy="506994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112"/>
          <p:cNvSpPr txBox="1"/>
          <p:nvPr>
            <p:ph type="title"/>
          </p:nvPr>
        </p:nvSpPr>
        <p:spPr>
          <a:xfrm>
            <a:off x="838200" y="365126"/>
            <a:ext cx="10515600" cy="64204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b="1" lang="en-US" sz="6000"/>
              <a:t>Charts</a:t>
            </a:r>
            <a:endParaRPr/>
          </a:p>
        </p:txBody>
      </p:sp>
      <p:sp>
        <p:nvSpPr>
          <p:cNvPr id="747" name="Google Shape;747;p112"/>
          <p:cNvSpPr txBox="1"/>
          <p:nvPr>
            <p:ph idx="1" type="body"/>
          </p:nvPr>
        </p:nvSpPr>
        <p:spPr>
          <a:xfrm>
            <a:off x="838200" y="1052736"/>
            <a:ext cx="10515600" cy="5472608"/>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Clr>
                <a:schemeClr val="dk1"/>
              </a:buClr>
              <a:buSzPts val="1800"/>
              <a:buNone/>
            </a:pPr>
            <a:r>
              <a:rPr b="1" lang="en-US" sz="3200"/>
              <a:t>The Scatter Plot</a:t>
            </a:r>
            <a:endParaRPr b="1" sz="3200"/>
          </a:p>
          <a:p>
            <a:pPr indent="-457200" lvl="0" marL="457200" rtl="0" algn="just">
              <a:lnSpc>
                <a:spcPct val="90000"/>
              </a:lnSpc>
              <a:spcBef>
                <a:spcPts val="1000"/>
              </a:spcBef>
              <a:spcAft>
                <a:spcPts val="0"/>
              </a:spcAft>
              <a:buSzPts val="1800"/>
              <a:buChar char="•"/>
            </a:pPr>
            <a:r>
              <a:rPr lang="en-US"/>
              <a:t>Scatter plots are an effective way to visualize numerical variables to compare measures and quickly identify patterns, trends, concentrations (clusters), and outliers. </a:t>
            </a:r>
            <a:endParaRPr/>
          </a:p>
          <a:p>
            <a:pPr indent="-457200" lvl="0" marL="457200" rtl="0" algn="just">
              <a:lnSpc>
                <a:spcPct val="90000"/>
              </a:lnSpc>
              <a:spcBef>
                <a:spcPts val="1000"/>
              </a:spcBef>
              <a:spcAft>
                <a:spcPts val="0"/>
              </a:spcAft>
              <a:buSzPts val="1800"/>
              <a:buChar char="•"/>
            </a:pPr>
            <a:r>
              <a:rPr lang="en-US"/>
              <a:t>These charts can give viewers a sense of where to focus discovery efforts further and are best used to investigate relationships between variables. </a:t>
            </a:r>
            <a:endParaRPr/>
          </a:p>
          <a:p>
            <a:pPr indent="-457200" lvl="0" marL="457200" rtl="0" algn="just">
              <a:lnSpc>
                <a:spcPct val="90000"/>
              </a:lnSpc>
              <a:spcBef>
                <a:spcPts val="1000"/>
              </a:spcBef>
              <a:spcAft>
                <a:spcPts val="0"/>
              </a:spcAft>
              <a:buSzPts val="1800"/>
              <a:buChar char="•"/>
            </a:pPr>
            <a:r>
              <a:rPr lang="en-US"/>
              <a:t>Scatter plots are particularly useful when exploring statistical relationships such as linear regression. </a:t>
            </a:r>
            <a:endParaRPr/>
          </a:p>
          <a:p>
            <a:pPr indent="-457200" lvl="0" marL="457200" rtl="0" algn="just">
              <a:lnSpc>
                <a:spcPct val="90000"/>
              </a:lnSpc>
              <a:spcBef>
                <a:spcPts val="1000"/>
              </a:spcBef>
              <a:spcAft>
                <a:spcPts val="0"/>
              </a:spcAft>
              <a:buSzPts val="1800"/>
              <a:buChar char="•"/>
            </a:pPr>
            <a:r>
              <a:rPr lang="en-US"/>
              <a:t>Use a scatter plot to determine whether or not two variables have a relationship or correlation.</a:t>
            </a:r>
            <a:endParaRPr/>
          </a:p>
          <a:p>
            <a:pPr indent="0" lvl="0" marL="0" rtl="0" algn="just">
              <a:lnSpc>
                <a:spcPct val="90000"/>
              </a:lnSpc>
              <a:spcBef>
                <a:spcPts val="1000"/>
              </a:spcBef>
              <a:spcAft>
                <a:spcPts val="0"/>
              </a:spcAft>
              <a:buSzPts val="1800"/>
              <a:buNone/>
            </a:pPr>
            <a:r>
              <a:t/>
            </a:r>
            <a:endParaRPr/>
          </a:p>
        </p:txBody>
      </p:sp>
      <p:sp>
        <p:nvSpPr>
          <p:cNvPr id="748" name="Google Shape;748;p1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49" name="Google Shape;749;p1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44"/>
          <p:cNvSpPr txBox="1"/>
          <p:nvPr>
            <p:ph type="title"/>
          </p:nvPr>
        </p:nvSpPr>
        <p:spPr>
          <a:xfrm>
            <a:off x="838200" y="365126"/>
            <a:ext cx="10515600" cy="64204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b="1" lang="en-US" sz="6000"/>
              <a:t>Charts</a:t>
            </a:r>
            <a:endParaRPr/>
          </a:p>
        </p:txBody>
      </p:sp>
      <p:sp>
        <p:nvSpPr>
          <p:cNvPr id="755" name="Google Shape;755;p44"/>
          <p:cNvSpPr txBox="1"/>
          <p:nvPr>
            <p:ph idx="1" type="body"/>
          </p:nvPr>
        </p:nvSpPr>
        <p:spPr>
          <a:xfrm>
            <a:off x="838200" y="1216025"/>
            <a:ext cx="10515600" cy="4351338"/>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Clr>
                <a:schemeClr val="dk1"/>
              </a:buClr>
              <a:buSzPts val="1800"/>
              <a:buNone/>
            </a:pPr>
            <a:r>
              <a:rPr b="1" lang="en-US" sz="3200"/>
              <a:t>The Scatter Plot</a:t>
            </a:r>
            <a:endParaRPr b="1" sz="3200"/>
          </a:p>
          <a:p>
            <a:pPr indent="0" lvl="0" marL="0" rtl="0" algn="l">
              <a:lnSpc>
                <a:spcPct val="90000"/>
              </a:lnSpc>
              <a:spcBef>
                <a:spcPts val="1000"/>
              </a:spcBef>
              <a:spcAft>
                <a:spcPts val="0"/>
              </a:spcAft>
              <a:buSzPts val="1800"/>
              <a:buNone/>
            </a:pPr>
            <a:r>
              <a:rPr lang="en-US" sz="3600">
                <a:solidFill>
                  <a:srgbClr val="00B050"/>
                </a:solidFill>
              </a:rPr>
              <a:t> Advantages:</a:t>
            </a:r>
            <a:endParaRPr/>
          </a:p>
          <a:p>
            <a:pPr indent="-342900" lvl="0" marL="457200" rtl="0" algn="l">
              <a:lnSpc>
                <a:spcPct val="90000"/>
              </a:lnSpc>
              <a:spcBef>
                <a:spcPts val="1000"/>
              </a:spcBef>
              <a:spcAft>
                <a:spcPts val="0"/>
              </a:spcAft>
              <a:buClr>
                <a:schemeClr val="dk1"/>
              </a:buClr>
              <a:buSzPts val="1800"/>
              <a:buChar char="•"/>
            </a:pPr>
            <a:r>
              <a:rPr lang="en-US"/>
              <a:t>It shows the relationship between two variables.</a:t>
            </a:r>
            <a:endParaRPr/>
          </a:p>
          <a:p>
            <a:pPr indent="-342900" lvl="0" marL="457200" rtl="0" algn="l">
              <a:lnSpc>
                <a:spcPct val="90000"/>
              </a:lnSpc>
              <a:spcBef>
                <a:spcPts val="1000"/>
              </a:spcBef>
              <a:spcAft>
                <a:spcPts val="0"/>
              </a:spcAft>
              <a:buClr>
                <a:schemeClr val="dk1"/>
              </a:buClr>
              <a:buSzPts val="1800"/>
              <a:buChar char="•"/>
            </a:pPr>
            <a:r>
              <a:rPr lang="en-US"/>
              <a:t>It is the best method to show you a non-linear pattern.</a:t>
            </a:r>
            <a:endParaRPr/>
          </a:p>
          <a:p>
            <a:pPr indent="-342900" lvl="0" marL="457200" rtl="0" algn="l">
              <a:lnSpc>
                <a:spcPct val="90000"/>
              </a:lnSpc>
              <a:spcBef>
                <a:spcPts val="1000"/>
              </a:spcBef>
              <a:spcAft>
                <a:spcPts val="0"/>
              </a:spcAft>
              <a:buClr>
                <a:schemeClr val="dk1"/>
              </a:buClr>
              <a:buSzPts val="1800"/>
              <a:buChar char="•"/>
            </a:pPr>
            <a:r>
              <a:rPr lang="en-US"/>
              <a:t>The range of data flow, like the maximum and minimum value, can be determined.</a:t>
            </a:r>
            <a:endParaRPr/>
          </a:p>
          <a:p>
            <a:pPr indent="-342900" lvl="0" marL="457200" rtl="0" algn="l">
              <a:lnSpc>
                <a:spcPct val="90000"/>
              </a:lnSpc>
              <a:spcBef>
                <a:spcPts val="1000"/>
              </a:spcBef>
              <a:spcAft>
                <a:spcPts val="0"/>
              </a:spcAft>
              <a:buClr>
                <a:schemeClr val="dk1"/>
              </a:buClr>
              <a:buSzPts val="1800"/>
              <a:buChar char="•"/>
            </a:pPr>
            <a:r>
              <a:rPr lang="en-US"/>
              <a:t>Patterns are easy to observe.</a:t>
            </a:r>
            <a:endParaRPr/>
          </a:p>
          <a:p>
            <a:pPr indent="-342900" lvl="0" marL="457200" rtl="0" algn="l">
              <a:lnSpc>
                <a:spcPct val="90000"/>
              </a:lnSpc>
              <a:spcBef>
                <a:spcPts val="1000"/>
              </a:spcBef>
              <a:spcAft>
                <a:spcPts val="0"/>
              </a:spcAft>
              <a:buClr>
                <a:schemeClr val="dk1"/>
              </a:buClr>
              <a:buSzPts val="1800"/>
              <a:buChar char="•"/>
            </a:pPr>
            <a:r>
              <a:rPr lang="en-US"/>
              <a:t>Plotting the diagram is simple.</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p:txBody>
      </p:sp>
      <p:sp>
        <p:nvSpPr>
          <p:cNvPr id="756" name="Google Shape;756;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57" name="Google Shape;757;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45"/>
          <p:cNvSpPr txBox="1"/>
          <p:nvPr>
            <p:ph type="title"/>
          </p:nvPr>
        </p:nvSpPr>
        <p:spPr>
          <a:xfrm>
            <a:off x="838200" y="365126"/>
            <a:ext cx="10515600" cy="64204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b="1" lang="en-US" sz="6000"/>
              <a:t>Charts</a:t>
            </a:r>
            <a:endParaRPr/>
          </a:p>
        </p:txBody>
      </p:sp>
      <p:sp>
        <p:nvSpPr>
          <p:cNvPr id="763" name="Google Shape;763;p45"/>
          <p:cNvSpPr txBox="1"/>
          <p:nvPr>
            <p:ph idx="1" type="body"/>
          </p:nvPr>
        </p:nvSpPr>
        <p:spPr>
          <a:xfrm>
            <a:off x="838200" y="1216025"/>
            <a:ext cx="10515600" cy="4351338"/>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Clr>
                <a:schemeClr val="dk1"/>
              </a:buClr>
              <a:buSzPts val="1800"/>
              <a:buNone/>
            </a:pPr>
            <a:r>
              <a:rPr b="1" lang="en-US"/>
              <a:t>The Scatter Plot</a:t>
            </a:r>
            <a:endParaRPr b="1"/>
          </a:p>
          <a:p>
            <a:pPr indent="0" lvl="0" marL="0" rtl="0" algn="l">
              <a:lnSpc>
                <a:spcPct val="90000"/>
              </a:lnSpc>
              <a:spcBef>
                <a:spcPts val="1000"/>
              </a:spcBef>
              <a:spcAft>
                <a:spcPts val="0"/>
              </a:spcAft>
              <a:buSzPts val="1800"/>
              <a:buNone/>
            </a:pPr>
            <a:r>
              <a:rPr lang="en-US" sz="3600">
                <a:solidFill>
                  <a:srgbClr val="FF0000"/>
                </a:solidFill>
              </a:rPr>
              <a:t>Limitations:</a:t>
            </a:r>
            <a:endParaRPr/>
          </a:p>
          <a:p>
            <a:pPr indent="-342900" lvl="0" marL="457200" rtl="0" algn="l">
              <a:lnSpc>
                <a:spcPct val="90000"/>
              </a:lnSpc>
              <a:spcBef>
                <a:spcPts val="1000"/>
              </a:spcBef>
              <a:spcAft>
                <a:spcPts val="0"/>
              </a:spcAft>
              <a:buClr>
                <a:schemeClr val="dk1"/>
              </a:buClr>
              <a:buSzPts val="1800"/>
              <a:buChar char="•"/>
            </a:pPr>
            <a:r>
              <a:rPr lang="en-US"/>
              <a:t>Scatter plot does not show the relationship for more than two variables.</a:t>
            </a:r>
            <a:endParaRPr/>
          </a:p>
          <a:p>
            <a:pPr indent="-342900" lvl="0" marL="457200" rtl="0" algn="l">
              <a:lnSpc>
                <a:spcPct val="90000"/>
              </a:lnSpc>
              <a:spcBef>
                <a:spcPts val="1000"/>
              </a:spcBef>
              <a:spcAft>
                <a:spcPts val="0"/>
              </a:spcAft>
              <a:buClr>
                <a:schemeClr val="dk1"/>
              </a:buClr>
              <a:buSzPts val="1800"/>
              <a:buChar char="•"/>
            </a:pPr>
            <a:r>
              <a:rPr lang="en-US"/>
              <a:t>Scatter plots are unable to give the exact extent of correlation.</a:t>
            </a:r>
            <a:endParaRPr/>
          </a:p>
          <a:p>
            <a:pPr indent="-342900" lvl="0" marL="457200" rtl="0" algn="l">
              <a:lnSpc>
                <a:spcPct val="90000"/>
              </a:lnSpc>
              <a:spcBef>
                <a:spcPts val="1000"/>
              </a:spcBef>
              <a:spcAft>
                <a:spcPts val="0"/>
              </a:spcAft>
              <a:buClr>
                <a:schemeClr val="dk1"/>
              </a:buClr>
              <a:buSzPts val="1800"/>
              <a:buChar char="•"/>
            </a:pPr>
            <a:r>
              <a:rPr lang="en-US"/>
              <a:t>Scatter plot doesn't show the quantitative measure of the relationship between the two variables.</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p:txBody>
      </p:sp>
      <p:sp>
        <p:nvSpPr>
          <p:cNvPr id="764" name="Google Shape;764;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65" name="Google Shape;765;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771" name="Google Shape;771;p46"/>
          <p:cNvPicPr preferRelativeResize="0"/>
          <p:nvPr/>
        </p:nvPicPr>
        <p:blipFill rotWithShape="1">
          <a:blip r:embed="rId3">
            <a:alphaModFix/>
          </a:blip>
          <a:srcRect b="0" l="0" r="0" t="0"/>
          <a:stretch/>
        </p:blipFill>
        <p:spPr>
          <a:xfrm>
            <a:off x="543339" y="670684"/>
            <a:ext cx="5868228" cy="5868228"/>
          </a:xfrm>
          <a:prstGeom prst="rect">
            <a:avLst/>
          </a:prstGeom>
          <a:noFill/>
          <a:ln>
            <a:noFill/>
          </a:ln>
        </p:spPr>
      </p:pic>
      <p:sp>
        <p:nvSpPr>
          <p:cNvPr id="772" name="Google Shape;772;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48"/>
          <p:cNvSpPr txBox="1"/>
          <p:nvPr>
            <p:ph type="title"/>
          </p:nvPr>
        </p:nvSpPr>
        <p:spPr>
          <a:xfrm>
            <a:off x="745435" y="126587"/>
            <a:ext cx="10515600" cy="7878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33333"/>
              <a:buNone/>
            </a:pPr>
            <a:r>
              <a:rPr b="1" lang="en-US"/>
              <a:t>The Packed Bubble Chart</a:t>
            </a:r>
            <a:br>
              <a:rPr b="1" lang="en-US"/>
            </a:br>
            <a:endParaRPr/>
          </a:p>
        </p:txBody>
      </p:sp>
      <p:sp>
        <p:nvSpPr>
          <p:cNvPr id="778" name="Google Shape;778;p48"/>
          <p:cNvSpPr txBox="1"/>
          <p:nvPr>
            <p:ph idx="1" type="body"/>
          </p:nvPr>
        </p:nvSpPr>
        <p:spPr>
          <a:xfrm>
            <a:off x="745435" y="692696"/>
            <a:ext cx="10515600" cy="467906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Packed bubble charts are </a:t>
            </a:r>
            <a:r>
              <a:rPr b="1" lang="en-US"/>
              <a:t>visualizations where the size and optionally the color of the bubbles are used to visualize the data</a:t>
            </a:r>
            <a:r>
              <a:rPr lang="en-US"/>
              <a:t>. </a:t>
            </a:r>
            <a:endParaRPr/>
          </a:p>
        </p:txBody>
      </p:sp>
      <p:sp>
        <p:nvSpPr>
          <p:cNvPr id="779" name="Google Shape;779;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80" name="Google Shape;780;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pic>
        <p:nvPicPr>
          <p:cNvPr id="781" name="Google Shape;781;p48"/>
          <p:cNvPicPr preferRelativeResize="0"/>
          <p:nvPr/>
        </p:nvPicPr>
        <p:blipFill rotWithShape="1">
          <a:blip r:embed="rId3">
            <a:alphaModFix/>
          </a:blip>
          <a:srcRect b="0" l="0" r="0" t="0"/>
          <a:stretch/>
        </p:blipFill>
        <p:spPr>
          <a:xfrm>
            <a:off x="1991544" y="2060848"/>
            <a:ext cx="6480720" cy="4608512"/>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49"/>
          <p:cNvSpPr txBox="1"/>
          <p:nvPr>
            <p:ph type="title"/>
          </p:nvPr>
        </p:nvSpPr>
        <p:spPr>
          <a:xfrm>
            <a:off x="745435" y="126587"/>
            <a:ext cx="10515600" cy="787814"/>
          </a:xfrm>
          <a:prstGeom prst="rect">
            <a:avLst/>
          </a:prstGeom>
          <a:noFill/>
          <a:ln>
            <a:noFill/>
          </a:ln>
        </p:spPr>
        <p:txBody>
          <a:bodyPr anchorCtr="0" anchor="ctr" bIns="45700" lIns="91425" spcFirstLastPara="1" rIns="91425" wrap="square" tIns="45700">
            <a:normAutofit/>
          </a:bodyPr>
          <a:lstStyle/>
          <a:p>
            <a:pPr indent="0" lvl="0" marL="114300" rtl="0" algn="l">
              <a:lnSpc>
                <a:spcPct val="90000"/>
              </a:lnSpc>
              <a:spcBef>
                <a:spcPts val="1000"/>
              </a:spcBef>
              <a:spcAft>
                <a:spcPts val="0"/>
              </a:spcAft>
              <a:buSzPts val="1800"/>
              <a:buNone/>
            </a:pPr>
            <a:r>
              <a:rPr b="1" lang="en-US" sz="3600"/>
              <a:t>The Packed Bubble Chart</a:t>
            </a:r>
            <a:endParaRPr/>
          </a:p>
        </p:txBody>
      </p:sp>
      <p:sp>
        <p:nvSpPr>
          <p:cNvPr id="787" name="Google Shape;787;p49"/>
          <p:cNvSpPr txBox="1"/>
          <p:nvPr>
            <p:ph idx="1" type="body"/>
          </p:nvPr>
        </p:nvSpPr>
        <p:spPr>
          <a:xfrm>
            <a:off x="745435" y="908721"/>
            <a:ext cx="10515600" cy="5240288"/>
          </a:xfrm>
          <a:prstGeom prst="rect">
            <a:avLst/>
          </a:prstGeom>
          <a:noFill/>
          <a:ln>
            <a:noFill/>
          </a:ln>
        </p:spPr>
        <p:txBody>
          <a:bodyPr anchorCtr="0" anchor="t" bIns="45700" lIns="91425" spcFirstLastPara="1" rIns="91425" wrap="square" tIns="45700">
            <a:normAutofit/>
          </a:bodyPr>
          <a:lstStyle/>
          <a:p>
            <a:pPr indent="-457200" lvl="0" marL="685800" rtl="0" algn="just">
              <a:lnSpc>
                <a:spcPct val="90000"/>
              </a:lnSpc>
              <a:spcBef>
                <a:spcPts val="1000"/>
              </a:spcBef>
              <a:spcAft>
                <a:spcPts val="0"/>
              </a:spcAft>
              <a:buSzPts val="1946"/>
              <a:buChar char="•"/>
            </a:pPr>
            <a:r>
              <a:rPr lang="en-US"/>
              <a:t>The bubble chart is a variation of the scatter plot that replaces data points with a cluster of circles (or bubbles), a technique that further emphasizes data that would be rendered on a pie chart, scatter plot, or map. </a:t>
            </a:r>
            <a:endParaRPr/>
          </a:p>
          <a:p>
            <a:pPr indent="-457200" lvl="0" marL="685800" rtl="0" algn="just">
              <a:lnSpc>
                <a:spcPct val="90000"/>
              </a:lnSpc>
              <a:spcBef>
                <a:spcPts val="1000"/>
              </a:spcBef>
              <a:spcAft>
                <a:spcPts val="0"/>
              </a:spcAft>
              <a:buSzPts val="1946"/>
              <a:buChar char="•"/>
            </a:pPr>
            <a:r>
              <a:rPr lang="en-US"/>
              <a:t>This method shows relational values without regard to axes and is used to display three dimensions of data: two through the bubble’s location and another through size.</a:t>
            </a:r>
            <a:endParaRPr/>
          </a:p>
          <a:p>
            <a:pPr indent="-457200" lvl="0" marL="685800" rtl="0" algn="just">
              <a:lnSpc>
                <a:spcPct val="90000"/>
              </a:lnSpc>
              <a:spcBef>
                <a:spcPts val="1000"/>
              </a:spcBef>
              <a:spcAft>
                <a:spcPts val="0"/>
              </a:spcAft>
              <a:buSzPts val="1946"/>
              <a:buChar char="•"/>
            </a:pPr>
            <a:r>
              <a:rPr lang="en-US"/>
              <a:t>These charts allow for the comparison of entities in terms of their relative positions with respect to each numeric axis and size. </a:t>
            </a:r>
            <a:endParaRPr/>
          </a:p>
          <a:p>
            <a:pPr indent="-457200" lvl="0" marL="685800" rtl="0" algn="just">
              <a:lnSpc>
                <a:spcPct val="90000"/>
              </a:lnSpc>
              <a:spcBef>
                <a:spcPts val="1000"/>
              </a:spcBef>
              <a:spcAft>
                <a:spcPts val="0"/>
              </a:spcAft>
              <a:buSzPts val="1946"/>
              <a:buChar char="•"/>
            </a:pPr>
            <a:r>
              <a:rPr lang="en-US"/>
              <a:t>The sizes of the bubbles provide details about the data, and colors can be used as an additional encoding cue to answer many questions about the data at once.</a:t>
            </a:r>
            <a:endParaRPr/>
          </a:p>
        </p:txBody>
      </p:sp>
      <p:sp>
        <p:nvSpPr>
          <p:cNvPr id="788" name="Google Shape;788;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89" name="Google Shape;789;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13"/>
          <p:cNvSpPr txBox="1"/>
          <p:nvPr>
            <p:ph type="title"/>
          </p:nvPr>
        </p:nvSpPr>
        <p:spPr>
          <a:xfrm>
            <a:off x="745435" y="126587"/>
            <a:ext cx="10515600" cy="7878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b="1" lang="en-US" sz="6000"/>
              <a:t>Charts</a:t>
            </a:r>
            <a:endParaRPr/>
          </a:p>
        </p:txBody>
      </p:sp>
      <p:sp>
        <p:nvSpPr>
          <p:cNvPr id="795" name="Google Shape;795;p113"/>
          <p:cNvSpPr txBox="1"/>
          <p:nvPr>
            <p:ph idx="1" type="body"/>
          </p:nvPr>
        </p:nvSpPr>
        <p:spPr>
          <a:xfrm>
            <a:off x="745435" y="1020417"/>
            <a:ext cx="10515600" cy="5128591"/>
          </a:xfrm>
          <a:prstGeom prst="rect">
            <a:avLst/>
          </a:prstGeom>
          <a:noFill/>
          <a:ln>
            <a:noFill/>
          </a:ln>
        </p:spPr>
        <p:txBody>
          <a:bodyPr anchorCtr="0" anchor="t" bIns="45700" lIns="91425" spcFirstLastPara="1" rIns="91425" wrap="square" tIns="45700">
            <a:normAutofit fontScale="92500" lnSpcReduction="20000"/>
          </a:bodyPr>
          <a:lstStyle/>
          <a:p>
            <a:pPr indent="0" lvl="0" marL="114300" rtl="0" algn="l">
              <a:lnSpc>
                <a:spcPct val="90000"/>
              </a:lnSpc>
              <a:spcBef>
                <a:spcPts val="1000"/>
              </a:spcBef>
              <a:spcAft>
                <a:spcPts val="0"/>
              </a:spcAft>
              <a:buClr>
                <a:schemeClr val="dk1"/>
              </a:buClr>
              <a:buSzPct val="69498"/>
              <a:buNone/>
            </a:pPr>
            <a:r>
              <a:rPr b="1" lang="en-US" sz="3000"/>
              <a:t>The Packed Bubble Chart</a:t>
            </a:r>
            <a:endParaRPr b="1" sz="3000"/>
          </a:p>
          <a:p>
            <a:pPr indent="-342900" lvl="0" marL="457200" rtl="0" algn="l">
              <a:lnSpc>
                <a:spcPct val="90000"/>
              </a:lnSpc>
              <a:spcBef>
                <a:spcPts val="1000"/>
              </a:spcBef>
              <a:spcAft>
                <a:spcPts val="0"/>
              </a:spcAft>
              <a:buClr>
                <a:schemeClr val="dk1"/>
              </a:buClr>
              <a:buSzPct val="51208"/>
              <a:buChar char="•"/>
            </a:pPr>
            <a:r>
              <a:rPr b="1" lang="en-US" sz="3800">
                <a:solidFill>
                  <a:srgbClr val="00B050"/>
                </a:solidFill>
              </a:rPr>
              <a:t>Advantages:</a:t>
            </a:r>
            <a:endParaRPr/>
          </a:p>
          <a:p>
            <a:pPr indent="-342900" lvl="0" marL="457200" rtl="0" algn="l">
              <a:lnSpc>
                <a:spcPct val="90000"/>
              </a:lnSpc>
              <a:spcBef>
                <a:spcPts val="1000"/>
              </a:spcBef>
              <a:spcAft>
                <a:spcPts val="0"/>
              </a:spcAft>
              <a:buClr>
                <a:schemeClr val="dk1"/>
              </a:buClr>
              <a:buSzPct val="69498"/>
              <a:buChar char="•"/>
            </a:pPr>
            <a:r>
              <a:rPr lang="en-US"/>
              <a:t>Explaining a complex data set easily.</a:t>
            </a:r>
            <a:endParaRPr/>
          </a:p>
          <a:p>
            <a:pPr indent="-342900" lvl="0" marL="457200" rtl="0" algn="l">
              <a:lnSpc>
                <a:spcPct val="90000"/>
              </a:lnSpc>
              <a:spcBef>
                <a:spcPts val="1000"/>
              </a:spcBef>
              <a:spcAft>
                <a:spcPts val="0"/>
              </a:spcAft>
              <a:buClr>
                <a:schemeClr val="dk1"/>
              </a:buClr>
              <a:buSzPct val="69498"/>
              <a:buChar char="•"/>
            </a:pPr>
            <a:r>
              <a:rPr lang="en-US"/>
              <a:t>Analyzing data sets with multiple inputs more easily.</a:t>
            </a:r>
            <a:endParaRPr/>
          </a:p>
          <a:p>
            <a:pPr indent="-342900" lvl="0" marL="457200" rtl="0" algn="l">
              <a:lnSpc>
                <a:spcPct val="90000"/>
              </a:lnSpc>
              <a:spcBef>
                <a:spcPts val="1000"/>
              </a:spcBef>
              <a:spcAft>
                <a:spcPts val="0"/>
              </a:spcAft>
              <a:buClr>
                <a:schemeClr val="dk1"/>
              </a:buClr>
              <a:buSzPct val="69498"/>
              <a:buChar char="•"/>
            </a:pPr>
            <a:r>
              <a:rPr lang="en-US"/>
              <a:t>Helping to visualize patterns and uncover trends using data analysis.</a:t>
            </a:r>
            <a:endParaRPr/>
          </a:p>
          <a:p>
            <a:pPr indent="-342900" lvl="0" marL="457200" rtl="0" algn="l">
              <a:lnSpc>
                <a:spcPct val="90000"/>
              </a:lnSpc>
              <a:spcBef>
                <a:spcPts val="1000"/>
              </a:spcBef>
              <a:spcAft>
                <a:spcPts val="0"/>
              </a:spcAft>
              <a:buClr>
                <a:schemeClr val="dk1"/>
              </a:buClr>
              <a:buSzPct val="69498"/>
              <a:buChar char="•"/>
            </a:pPr>
            <a:r>
              <a:rPr lang="en-US"/>
              <a:t>Helping to correlate data as part of a data series.</a:t>
            </a:r>
            <a:endParaRPr/>
          </a:p>
          <a:p>
            <a:pPr indent="-342900" lvl="0" marL="457200" rtl="0" algn="l">
              <a:lnSpc>
                <a:spcPct val="90000"/>
              </a:lnSpc>
              <a:spcBef>
                <a:spcPts val="1000"/>
              </a:spcBef>
              <a:spcAft>
                <a:spcPts val="0"/>
              </a:spcAft>
              <a:buClr>
                <a:schemeClr val="dk1"/>
              </a:buClr>
              <a:buSzPct val="69498"/>
              <a:buChar char="•"/>
            </a:pPr>
            <a:r>
              <a:rPr lang="en-US"/>
              <a:t>Being dynamic enough to analyze finance, sales and marketing scenarios beyond time-series or whole-to-whole comparisons using line and bar charts.</a:t>
            </a:r>
            <a:endParaRPr/>
          </a:p>
          <a:p>
            <a:pPr indent="-342900" lvl="0" marL="457200" rtl="0" algn="l">
              <a:lnSpc>
                <a:spcPct val="90000"/>
              </a:lnSpc>
              <a:spcBef>
                <a:spcPts val="1000"/>
              </a:spcBef>
              <a:spcAft>
                <a:spcPts val="0"/>
              </a:spcAft>
              <a:buClr>
                <a:schemeClr val="dk1"/>
              </a:buClr>
              <a:buSzPct val="69498"/>
              <a:buChar char="•"/>
            </a:pPr>
            <a:r>
              <a:rPr lang="en-US"/>
              <a:t>Effectively displaying a relatively large amount of information.</a:t>
            </a:r>
            <a:endParaRPr/>
          </a:p>
          <a:p>
            <a:pPr indent="-342900" lvl="0" marL="457200" rtl="0" algn="l">
              <a:lnSpc>
                <a:spcPct val="90000"/>
              </a:lnSpc>
              <a:spcBef>
                <a:spcPts val="1000"/>
              </a:spcBef>
              <a:spcAft>
                <a:spcPts val="0"/>
              </a:spcAft>
              <a:buClr>
                <a:schemeClr val="dk1"/>
              </a:buClr>
              <a:buSzPct val="69498"/>
              <a:buChar char="•"/>
            </a:pPr>
            <a:r>
              <a:rPr lang="en-US"/>
              <a:t>Depicting the relationship between three or even four variables that can change over time without having to use 3D graphs.</a:t>
            </a:r>
            <a:endParaRPr/>
          </a:p>
          <a:p>
            <a:pPr indent="-228600" lvl="0" marL="457200" rtl="0" algn="l">
              <a:lnSpc>
                <a:spcPct val="90000"/>
              </a:lnSpc>
              <a:spcBef>
                <a:spcPts val="1000"/>
              </a:spcBef>
              <a:spcAft>
                <a:spcPts val="0"/>
              </a:spcAft>
              <a:buClr>
                <a:schemeClr val="dk1"/>
              </a:buClr>
              <a:buSzPct val="69498"/>
              <a:buNone/>
            </a:pPr>
            <a:r>
              <a:t/>
            </a:r>
            <a:endParaRPr/>
          </a:p>
        </p:txBody>
      </p:sp>
      <p:sp>
        <p:nvSpPr>
          <p:cNvPr id="796" name="Google Shape;796;p1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797" name="Google Shape;797;p1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50"/>
          <p:cNvSpPr txBox="1"/>
          <p:nvPr>
            <p:ph type="title"/>
          </p:nvPr>
        </p:nvSpPr>
        <p:spPr>
          <a:xfrm>
            <a:off x="745435" y="126587"/>
            <a:ext cx="10515600" cy="7878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b="1" lang="en-US" sz="6000"/>
              <a:t>Charts</a:t>
            </a:r>
            <a:endParaRPr/>
          </a:p>
        </p:txBody>
      </p:sp>
      <p:sp>
        <p:nvSpPr>
          <p:cNvPr id="803" name="Google Shape;803;p50"/>
          <p:cNvSpPr txBox="1"/>
          <p:nvPr>
            <p:ph idx="1" type="body"/>
          </p:nvPr>
        </p:nvSpPr>
        <p:spPr>
          <a:xfrm>
            <a:off x="745435" y="1020418"/>
            <a:ext cx="10515600" cy="4351338"/>
          </a:xfrm>
          <a:prstGeom prst="rect">
            <a:avLst/>
          </a:prstGeom>
          <a:noFill/>
          <a:ln>
            <a:noFill/>
          </a:ln>
        </p:spPr>
        <p:txBody>
          <a:bodyPr anchorCtr="0" anchor="t" bIns="45700" lIns="91425" spcFirstLastPara="1" rIns="91425" wrap="square" tIns="45700">
            <a:normAutofit/>
          </a:bodyPr>
          <a:lstStyle/>
          <a:p>
            <a:pPr indent="0" lvl="0" marL="114300" rtl="0" algn="l">
              <a:lnSpc>
                <a:spcPct val="90000"/>
              </a:lnSpc>
              <a:spcBef>
                <a:spcPts val="1000"/>
              </a:spcBef>
              <a:spcAft>
                <a:spcPts val="0"/>
              </a:spcAft>
              <a:buClr>
                <a:schemeClr val="dk1"/>
              </a:buClr>
              <a:buSzPts val="1800"/>
              <a:buNone/>
            </a:pPr>
            <a:r>
              <a:rPr b="1" lang="en-US" sz="3200"/>
              <a:t>The Packed Bubble Chart</a:t>
            </a:r>
            <a:endParaRPr b="1" sz="3200"/>
          </a:p>
          <a:p>
            <a:pPr indent="-342900" lvl="0" marL="457200" rtl="0" algn="l">
              <a:lnSpc>
                <a:spcPct val="90000"/>
              </a:lnSpc>
              <a:spcBef>
                <a:spcPts val="1000"/>
              </a:spcBef>
              <a:spcAft>
                <a:spcPts val="0"/>
              </a:spcAft>
              <a:buClr>
                <a:schemeClr val="dk1"/>
              </a:buClr>
              <a:buSzPts val="1800"/>
              <a:buChar char="•"/>
            </a:pPr>
            <a:r>
              <a:rPr lang="en-US" sz="3600">
                <a:solidFill>
                  <a:srgbClr val="FF0000"/>
                </a:solidFill>
              </a:rPr>
              <a:t>Limitations</a:t>
            </a:r>
            <a:endParaRPr/>
          </a:p>
          <a:p>
            <a:pPr indent="-342900" lvl="0" marL="457200" rtl="0" algn="l">
              <a:lnSpc>
                <a:spcPct val="90000"/>
              </a:lnSpc>
              <a:spcBef>
                <a:spcPts val="1000"/>
              </a:spcBef>
              <a:spcAft>
                <a:spcPts val="0"/>
              </a:spcAft>
              <a:buClr>
                <a:schemeClr val="dk1"/>
              </a:buClr>
              <a:buSzPts val="1800"/>
              <a:buChar char="•"/>
            </a:pPr>
            <a:r>
              <a:rPr lang="en-US"/>
              <a:t>A bubble chart can become difficult to understand.</a:t>
            </a:r>
            <a:endParaRPr/>
          </a:p>
          <a:p>
            <a:pPr indent="-342900" lvl="0" marL="457200" rtl="0" algn="l">
              <a:lnSpc>
                <a:spcPct val="90000"/>
              </a:lnSpc>
              <a:spcBef>
                <a:spcPts val="1000"/>
              </a:spcBef>
              <a:spcAft>
                <a:spcPts val="0"/>
              </a:spcAft>
              <a:buClr>
                <a:schemeClr val="dk1"/>
              </a:buClr>
              <a:buSzPts val="1800"/>
              <a:buChar char="•"/>
            </a:pPr>
            <a:r>
              <a:rPr lang="en-US"/>
              <a:t>The overlapping of bubbles can make it difficult to distinguish them.</a:t>
            </a:r>
            <a:endParaRPr/>
          </a:p>
          <a:p>
            <a:pPr indent="-342900" lvl="0" marL="457200" rtl="0" algn="l">
              <a:lnSpc>
                <a:spcPct val="90000"/>
              </a:lnSpc>
              <a:spcBef>
                <a:spcPts val="1000"/>
              </a:spcBef>
              <a:spcAft>
                <a:spcPts val="0"/>
              </a:spcAft>
              <a:buClr>
                <a:schemeClr val="dk1"/>
              </a:buClr>
              <a:buSzPts val="1800"/>
              <a:buChar char="•"/>
            </a:pPr>
            <a:r>
              <a:rPr lang="en-US"/>
              <a:t>Users may find it hard to depict zero or negative values.</a:t>
            </a:r>
            <a:endParaRPr/>
          </a:p>
          <a:p>
            <a:pPr indent="-342900" lvl="0" marL="457200" rtl="0" algn="l">
              <a:lnSpc>
                <a:spcPct val="90000"/>
              </a:lnSpc>
              <a:spcBef>
                <a:spcPts val="1000"/>
              </a:spcBef>
              <a:spcAft>
                <a:spcPts val="0"/>
              </a:spcAft>
              <a:buClr>
                <a:schemeClr val="dk1"/>
              </a:buClr>
              <a:buSzPts val="1800"/>
              <a:buChar char="•"/>
            </a:pPr>
            <a:r>
              <a:rPr lang="en-US"/>
              <a:t>It can be hard to ascertain exact values using circle sizes.</a:t>
            </a:r>
            <a:endParaRPr/>
          </a:p>
          <a:p>
            <a:pPr indent="0" lvl="0" marL="0" rtl="0" algn="l">
              <a:lnSpc>
                <a:spcPct val="90000"/>
              </a:lnSpc>
              <a:spcBef>
                <a:spcPts val="1000"/>
              </a:spcBef>
              <a:spcAft>
                <a:spcPts val="0"/>
              </a:spcAft>
              <a:buSzPts val="1800"/>
              <a:buNone/>
            </a:pPr>
            <a:r>
              <a:t/>
            </a:r>
            <a:endParaRPr/>
          </a:p>
        </p:txBody>
      </p:sp>
      <p:sp>
        <p:nvSpPr>
          <p:cNvPr id="804" name="Google Shape;80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805" name="Google Shape;805;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51"/>
          <p:cNvSpPr txBox="1"/>
          <p:nvPr>
            <p:ph type="title"/>
          </p:nvPr>
        </p:nvSpPr>
        <p:spPr>
          <a:xfrm>
            <a:off x="745435" y="126587"/>
            <a:ext cx="10515600" cy="78781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33333"/>
              <a:buNone/>
            </a:pPr>
            <a:r>
              <a:rPr b="1" lang="en-US" sz="6000"/>
              <a:t>Charts</a:t>
            </a:r>
            <a:endParaRPr/>
          </a:p>
        </p:txBody>
      </p:sp>
      <p:sp>
        <p:nvSpPr>
          <p:cNvPr id="811" name="Google Shape;811;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812" name="Google Shape;812;p51"/>
          <p:cNvPicPr preferRelativeResize="0"/>
          <p:nvPr/>
        </p:nvPicPr>
        <p:blipFill rotWithShape="1">
          <a:blip r:embed="rId3">
            <a:alphaModFix/>
          </a:blip>
          <a:srcRect b="0" l="0" r="0" t="0"/>
          <a:stretch/>
        </p:blipFill>
        <p:spPr>
          <a:xfrm>
            <a:off x="1024228" y="1584324"/>
            <a:ext cx="4568190" cy="4677328"/>
          </a:xfrm>
          <a:prstGeom prst="rect">
            <a:avLst/>
          </a:prstGeom>
          <a:noFill/>
          <a:ln>
            <a:noFill/>
          </a:ln>
        </p:spPr>
      </p:pic>
      <p:sp>
        <p:nvSpPr>
          <p:cNvPr id="813" name="Google Shape;813;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116N54C301 (2023)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2022-08-02T15:22:50Z</dcterms:created>
  <dc:creator>Microsoft Office User</dc:creator>
</cp:coreProperties>
</file>