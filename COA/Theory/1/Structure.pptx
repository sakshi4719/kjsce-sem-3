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6858000" cx="9144000"/>
  <p:notesSz cx="9144000" cy="6858000"/>
  <p:embeddedFontLst>
    <p:embeddedFont>
      <p:font typeface="Century Schoolbook"/>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83" roundtripDataSignature="AMtx7miOMR/T+exA8oB2B21NVeURiVv9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F45099-8BED-4FB0-B7F4-0615D1F7DFE5}">
  <a:tblStyle styleId="{1DF45099-8BED-4FB0-B7F4-0615D1F7DFE5}" styleName="Table_0">
    <a:wholeTbl>
      <a:tcTxStyle b="off" i="off">
        <a:font>
          <a:latin typeface="Century Schoolbook"/>
          <a:ea typeface="Century Schoolbook"/>
          <a:cs typeface="Century Schoolbook"/>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CenturySchoolbook-bold.fntdata"/><Relationship Id="rId82" Type="http://schemas.openxmlformats.org/officeDocument/2006/relationships/font" Target="fonts/CenturySchoolbook-boldItalic.fntdata"/><Relationship Id="rId81" Type="http://schemas.openxmlformats.org/officeDocument/2006/relationships/font" Target="fonts/CenturySchoolbook-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CenturySchoolbook-regular.fnt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6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6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6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6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7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7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7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7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7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7" name="Shape 17"/>
        <p:cNvGrpSpPr/>
        <p:nvPr/>
      </p:nvGrpSpPr>
      <p:grpSpPr>
        <a:xfrm>
          <a:off x="0" y="0"/>
          <a:ext cx="0" cy="0"/>
          <a:chOff x="0" y="0"/>
          <a:chExt cx="0" cy="0"/>
        </a:xfrm>
      </p:grpSpPr>
      <p:sp>
        <p:nvSpPr>
          <p:cNvPr id="18" name="Google Shape;18;p80"/>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0"/>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0" name="Google Shape;20;p80"/>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0"/>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0"/>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3" name="Google Shape;23;p80"/>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4" name="Google Shape;24;p80"/>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5" name="Google Shape;25;p80"/>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26" name="Google Shape;26;p80"/>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27" name="Google Shape;27;p80"/>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28" name="Google Shape;28;p80"/>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29" name="Google Shape;29;p80"/>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0" name="Google Shape;30;p80"/>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1" name="Google Shape;31;p80"/>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2" name="Google Shape;32;p80"/>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3" name="Google Shape;33;p80"/>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4" name="Google Shape;34;p80"/>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5" name="Google Shape;35;p80"/>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6" name="Google Shape;36;p80"/>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7" name="Google Shape;37;p80"/>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8" name="Google Shape;38;p80"/>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8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8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8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4" name="Google Shape;44;p8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 name="Google Shape;53;p8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54" name="Shape 54"/>
        <p:cNvGrpSpPr/>
        <p:nvPr/>
      </p:nvGrpSpPr>
      <p:grpSpPr>
        <a:xfrm>
          <a:off x="0" y="0"/>
          <a:ext cx="0" cy="0"/>
          <a:chOff x="0" y="0"/>
          <a:chExt cx="0" cy="0"/>
        </a:xfrm>
      </p:grpSpPr>
      <p:sp>
        <p:nvSpPr>
          <p:cNvPr id="55" name="Google Shape;55;p84"/>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4"/>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84"/>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4"/>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4"/>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0" name="Google Shape;60;p84"/>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1" name="Google Shape;61;p84"/>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2" name="Google Shape;62;p84"/>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63" name="Google Shape;63;p84"/>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64" name="Google Shape;64;p84"/>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65" name="Google Shape;65;p84"/>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66" name="Google Shape;66;p84"/>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67" name="Google Shape;67;p84"/>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68" name="Google Shape;68;p84"/>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9" name="Google Shape;69;p84"/>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0" name="Google Shape;70;p84"/>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1" name="Google Shape;71;p84"/>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2" name="Google Shape;72;p84"/>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3" name="Google Shape;73;p84"/>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74" name="Google Shape;74;p84"/>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75" name="Google Shape;75;p84"/>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6" name="Shape 76"/>
        <p:cNvGrpSpPr/>
        <p:nvPr/>
      </p:nvGrpSpPr>
      <p:grpSpPr>
        <a:xfrm>
          <a:off x="0" y="0"/>
          <a:ext cx="0" cy="0"/>
          <a:chOff x="0" y="0"/>
          <a:chExt cx="0" cy="0"/>
        </a:xfrm>
      </p:grpSpPr>
      <p:sp>
        <p:nvSpPr>
          <p:cNvPr id="77" name="Google Shape;77;p8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8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8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1" name="Google Shape;81;p85"/>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2" name="Google Shape;82;p85"/>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3" name="Shape 83"/>
        <p:cNvGrpSpPr/>
        <p:nvPr/>
      </p:nvGrpSpPr>
      <p:grpSpPr>
        <a:xfrm>
          <a:off x="0" y="0"/>
          <a:ext cx="0" cy="0"/>
          <a:chOff x="0" y="0"/>
          <a:chExt cx="0" cy="0"/>
        </a:xfrm>
      </p:grpSpPr>
      <p:sp>
        <p:nvSpPr>
          <p:cNvPr id="84" name="Google Shape;84;p86"/>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8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8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8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8" name="Google Shape;88;p86"/>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9" name="Google Shape;89;p86"/>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86"/>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86"/>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2" name="Shape 92"/>
        <p:cNvGrpSpPr/>
        <p:nvPr/>
      </p:nvGrpSpPr>
      <p:grpSpPr>
        <a:xfrm>
          <a:off x="0" y="0"/>
          <a:ext cx="0" cy="0"/>
          <a:chOff x="0" y="0"/>
          <a:chExt cx="0" cy="0"/>
        </a:xfrm>
      </p:grpSpPr>
      <p:cxnSp>
        <p:nvCxnSpPr>
          <p:cNvPr id="93" name="Google Shape;93;p87"/>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4" name="Google Shape;94;p87"/>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87"/>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96" name="Google Shape;96;p87"/>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97" name="Google Shape;97;p87"/>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98" name="Google Shape;98;p87"/>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99" name="Google Shape;99;p87"/>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00" name="Google Shape;100;p87"/>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1" name="Google Shape;101;p87"/>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2" name="Google Shape;102;p87"/>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 name="Google Shape;103;p8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5" name="Google Shape;105;p8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6" name="Shape 106"/>
        <p:cNvGrpSpPr/>
        <p:nvPr/>
      </p:nvGrpSpPr>
      <p:grpSpPr>
        <a:xfrm>
          <a:off x="0" y="0"/>
          <a:ext cx="0" cy="0"/>
          <a:chOff x="0" y="0"/>
          <a:chExt cx="0" cy="0"/>
        </a:xfrm>
      </p:grpSpPr>
      <p:cxnSp>
        <p:nvCxnSpPr>
          <p:cNvPr id="107" name="Google Shape;107;p88"/>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08" name="Google Shape;108;p88"/>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9" name="Google Shape;109;p88"/>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88"/>
          <p:cNvSpPr/>
          <p:nvPr>
            <p:ph idx="2" type="pic"/>
          </p:nvPr>
        </p:nvSpPr>
        <p:spPr>
          <a:xfrm>
            <a:off x="0" y="0"/>
            <a:ext cx="6172200" cy="6858000"/>
          </a:xfrm>
          <a:prstGeom prst="rect">
            <a:avLst/>
          </a:prstGeom>
          <a:solidFill>
            <a:schemeClr val="lt2"/>
          </a:solidFill>
          <a:ln>
            <a:noFill/>
          </a:ln>
        </p:spPr>
      </p:sp>
      <p:sp>
        <p:nvSpPr>
          <p:cNvPr id="111" name="Google Shape;111;p88"/>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2" name="Google Shape;112;p88"/>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3" name="Google Shape;113;p88"/>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14" name="Google Shape;114;p88"/>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5" name="Google Shape;115;p88"/>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16" name="Google Shape;116;p88"/>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17" name="Google Shape;117;p8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8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9" name="Google Shape;119;p8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8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89"/>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3" name="Google Shape;123;p8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8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8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90"/>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9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9" name="Google Shape;129;p9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9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9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cxnSp>
        <p:nvCxnSpPr>
          <p:cNvPr id="6" name="Google Shape;6;p79"/>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7" name="Google Shape;7;p7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7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9" name="Google Shape;9;p7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0" name="Google Shape;10;p7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1" name="Google Shape;11;p79"/>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2" name="Google Shape;12;p79"/>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3" name="Google Shape;13;p79"/>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14" name="Google Shape;14;p7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5" name="Google Shape;15;p7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16" name="Google Shape;16;p7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jpg"/><Relationship Id="rId4" Type="http://schemas.openxmlformats.org/officeDocument/2006/relationships/image" Target="../media/image2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8.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6.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7.jpg"/><Relationship Id="rId4" Type="http://schemas.openxmlformats.org/officeDocument/2006/relationships/image" Target="../media/image3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9.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hyperlink" Target="https://www.lifewire.com/computer-hardware-2625895" TargetMode="External"/><Relationship Id="rId4" Type="http://schemas.openxmlformats.org/officeDocument/2006/relationships/hyperlink" Target="https://www.lifewire.com/motherboards-system-boards-and-mainboards-2618154"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hyperlink" Target="https://computer.howstuffworks.com/motherboard.htm"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sp>
        <p:nvSpPr>
          <p:cNvPr id="136" name="Google Shape;136;p2"/>
          <p:cNvSpPr txBox="1"/>
          <p:nvPr>
            <p:ph type="ctrTitle"/>
          </p:nvPr>
        </p:nvSpPr>
        <p:spPr>
          <a:xfrm>
            <a:off x="1487359" y="762000"/>
            <a:ext cx="6172200" cy="1894362"/>
          </a:xfrm>
          <a:prstGeom prst="rect">
            <a:avLst/>
          </a:prstGeom>
          <a:noFill/>
          <a:ln>
            <a:noFill/>
          </a:ln>
        </p:spPr>
        <p:txBody>
          <a:bodyPr anchorCtr="0" anchor="b" bIns="0" lIns="0" spcFirstLastPara="1" rIns="0" wrap="square" tIns="12050">
            <a:spAutoFit/>
          </a:bodyPr>
          <a:lstStyle/>
          <a:p>
            <a:pPr indent="-3175" lvl="0" marL="12700" marR="5080" rtl="0" algn="ctr">
              <a:lnSpc>
                <a:spcPct val="100000"/>
              </a:lnSpc>
              <a:spcBef>
                <a:spcPts val="0"/>
              </a:spcBef>
              <a:spcAft>
                <a:spcPts val="0"/>
              </a:spcAft>
              <a:buClr>
                <a:schemeClr val="dk2"/>
              </a:buClr>
              <a:buSzPts val="3000"/>
              <a:buFont typeface="Century Schoolbook"/>
              <a:buNone/>
            </a:pPr>
            <a:r>
              <a:rPr lang="en-US"/>
              <a:t>William Stallings  Computer Organization  and Architecture</a:t>
            </a:r>
            <a:endParaRPr/>
          </a:p>
        </p:txBody>
      </p:sp>
      <p:sp>
        <p:nvSpPr>
          <p:cNvPr id="137" name="Google Shape;137;p2"/>
          <p:cNvSpPr txBox="1"/>
          <p:nvPr/>
        </p:nvSpPr>
        <p:spPr>
          <a:xfrm>
            <a:off x="3245357" y="3888104"/>
            <a:ext cx="2656205" cy="1244600"/>
          </a:xfrm>
          <a:prstGeom prst="rect">
            <a:avLst/>
          </a:prstGeom>
          <a:noFill/>
          <a:ln>
            <a:noFill/>
          </a:ln>
        </p:spPr>
        <p:txBody>
          <a:bodyPr anchorCtr="0" anchor="t" bIns="0" lIns="0" spcFirstLastPara="1" rIns="0" wrap="square" tIns="12050">
            <a:spAutoFit/>
          </a:bodyPr>
          <a:lstStyle/>
          <a:p>
            <a:pPr indent="292100" lvl="0" marL="12700" marR="5080" rtl="0" algn="l">
              <a:lnSpc>
                <a:spcPct val="100000"/>
              </a:lnSpc>
              <a:spcBef>
                <a:spcPts val="0"/>
              </a:spcBef>
              <a:spcAft>
                <a:spcPts val="0"/>
              </a:spcAft>
              <a:buNone/>
            </a:pPr>
            <a:r>
              <a:rPr b="1" i="0" lang="en-US" sz="4000" u="none" cap="none" strike="noStrike">
                <a:solidFill>
                  <a:srgbClr val="888888"/>
                </a:solidFill>
                <a:latin typeface="Calibri"/>
                <a:ea typeface="Calibri"/>
                <a:cs typeface="Calibri"/>
                <a:sym typeface="Calibri"/>
              </a:rPr>
              <a:t>Chapter 1  Introduction</a:t>
            </a:r>
            <a:endParaRPr b="0" i="0" sz="4000" u="none" cap="none" strike="noStrike">
              <a:solidFill>
                <a:schemeClr val="dk1"/>
              </a:solidFill>
              <a:latin typeface="Calibri"/>
              <a:ea typeface="Calibri"/>
              <a:cs typeface="Calibri"/>
              <a:sym typeface="Calibri"/>
            </a:endParaRPr>
          </a:p>
        </p:txBody>
      </p:sp>
      <p:sp>
        <p:nvSpPr>
          <p:cNvPr id="138" name="Google Shape;138;p2"/>
          <p:cNvSpPr txBox="1"/>
          <p:nvPr>
            <p:ph idx="12" type="sldNum"/>
          </p:nvPr>
        </p:nvSpPr>
        <p:spPr>
          <a:xfrm>
            <a:off x="1325544" y="4928702"/>
            <a:ext cx="609600" cy="517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txBox="1"/>
          <p:nvPr>
            <p:ph type="title"/>
          </p:nvPr>
        </p:nvSpPr>
        <p:spPr>
          <a:xfrm>
            <a:off x="685800" y="461594"/>
            <a:ext cx="7391400" cy="1107996"/>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dk2"/>
              </a:buClr>
              <a:buSzPct val="100000"/>
              <a:buFont typeface="Times New Roman"/>
              <a:buNone/>
            </a:pPr>
            <a:r>
              <a:rPr lang="en-US" sz="3600">
                <a:latin typeface="Times New Roman"/>
                <a:ea typeface="Times New Roman"/>
                <a:cs typeface="Times New Roman"/>
                <a:sym typeface="Times New Roman"/>
              </a:rPr>
              <a:t>Introduction to Computer System &amp; its sub-modules</a:t>
            </a:r>
            <a:endParaRPr sz="3600">
              <a:latin typeface="Times New Roman"/>
              <a:ea typeface="Times New Roman"/>
              <a:cs typeface="Times New Roman"/>
              <a:sym typeface="Times New Roman"/>
            </a:endParaRPr>
          </a:p>
        </p:txBody>
      </p:sp>
      <p:sp>
        <p:nvSpPr>
          <p:cNvPr id="144" name="Google Shape;144;p3"/>
          <p:cNvSpPr txBox="1"/>
          <p:nvPr>
            <p:ph idx="1" type="body"/>
          </p:nvPr>
        </p:nvSpPr>
        <p:spPr>
          <a:xfrm>
            <a:off x="304800" y="1600200"/>
            <a:ext cx="8229600" cy="4343400"/>
          </a:xfrm>
          <a:prstGeom prst="rect">
            <a:avLst/>
          </a:prstGeom>
          <a:noFill/>
          <a:ln>
            <a:noFill/>
          </a:ln>
        </p:spPr>
        <p:txBody>
          <a:bodyPr anchorCtr="0" anchor="t" bIns="45700" lIns="91425" spcFirstLastPara="1" rIns="91425" wrap="square" tIns="45700">
            <a:normAutofit fontScale="92500"/>
          </a:bodyPr>
          <a:lstStyle/>
          <a:p>
            <a:pPr indent="-457200" lvl="0" marL="457200" rtl="0" algn="just">
              <a:lnSpc>
                <a:spcPct val="150000"/>
              </a:lnSpc>
              <a:spcBef>
                <a:spcPts val="0"/>
              </a:spcBef>
              <a:spcAft>
                <a:spcPts val="0"/>
              </a:spcAft>
              <a:buSzPct val="70000"/>
              <a:buFont typeface="Arial"/>
              <a:buChar char="•"/>
            </a:pPr>
            <a:r>
              <a:rPr lang="en-US" sz="2400">
                <a:latin typeface="Times New Roman"/>
                <a:ea typeface="Times New Roman"/>
                <a:cs typeface="Times New Roman"/>
                <a:sym typeface="Times New Roman"/>
              </a:rPr>
              <a:t>Computer?</a:t>
            </a:r>
            <a:endParaRPr/>
          </a:p>
          <a:p>
            <a:pPr indent="-457200" lvl="0" marL="457200" rtl="0" algn="just">
              <a:lnSpc>
                <a:spcPct val="150000"/>
              </a:lnSpc>
              <a:spcBef>
                <a:spcPts val="600"/>
              </a:spcBef>
              <a:spcAft>
                <a:spcPts val="0"/>
              </a:spcAft>
              <a:buSzPct val="70000"/>
              <a:buFont typeface="Arial"/>
              <a:buChar char="•"/>
            </a:pPr>
            <a:r>
              <a:rPr lang="en-US" sz="2400">
                <a:latin typeface="Times New Roman"/>
                <a:ea typeface="Times New Roman"/>
                <a:cs typeface="Times New Roman"/>
                <a:sym typeface="Times New Roman"/>
              </a:rPr>
              <a:t>Digital electronic device</a:t>
            </a:r>
            <a:endParaRPr/>
          </a:p>
          <a:p>
            <a:pPr indent="-457200" lvl="0" marL="457200" rtl="0" algn="just">
              <a:lnSpc>
                <a:spcPct val="150000"/>
              </a:lnSpc>
              <a:spcBef>
                <a:spcPts val="600"/>
              </a:spcBef>
              <a:spcAft>
                <a:spcPts val="0"/>
              </a:spcAft>
              <a:buSzPct val="70000"/>
              <a:buFont typeface="Arial"/>
              <a:buChar char="•"/>
            </a:pPr>
            <a:r>
              <a:rPr lang="en-US" sz="2400">
                <a:latin typeface="Times New Roman"/>
                <a:ea typeface="Times New Roman"/>
                <a:cs typeface="Times New Roman"/>
                <a:sym typeface="Times New Roman"/>
              </a:rPr>
              <a:t>Binary number system</a:t>
            </a:r>
            <a:endParaRPr/>
          </a:p>
          <a:p>
            <a:pPr indent="-457200" lvl="0" marL="457200" rtl="0" algn="just">
              <a:lnSpc>
                <a:spcPct val="150000"/>
              </a:lnSpc>
              <a:spcBef>
                <a:spcPts val="600"/>
              </a:spcBef>
              <a:spcAft>
                <a:spcPts val="0"/>
              </a:spcAft>
              <a:buSzPct val="70000"/>
              <a:buFont typeface="Arial"/>
              <a:buChar char="•"/>
            </a:pPr>
            <a:r>
              <a:rPr lang="en-US" sz="2400">
                <a:latin typeface="Times New Roman"/>
                <a:ea typeface="Times New Roman"/>
                <a:cs typeface="Times New Roman"/>
                <a:sym typeface="Times New Roman"/>
              </a:rPr>
              <a:t>The smallest unit of information that is represented in computer is known as </a:t>
            </a:r>
            <a:r>
              <a:rPr b="1" lang="en-US" sz="2400">
                <a:latin typeface="Times New Roman"/>
                <a:ea typeface="Times New Roman"/>
                <a:cs typeface="Times New Roman"/>
                <a:sym typeface="Times New Roman"/>
              </a:rPr>
              <a:t>Bit</a:t>
            </a:r>
            <a:r>
              <a:rPr lang="en-US" sz="2400">
                <a:latin typeface="Times New Roman"/>
                <a:ea typeface="Times New Roman"/>
                <a:cs typeface="Times New Roman"/>
                <a:sym typeface="Times New Roman"/>
              </a:rPr>
              <a:t> ( Binary Digit ), which is either 0 or 1. </a:t>
            </a:r>
            <a:endParaRPr sz="2400">
              <a:latin typeface="Times New Roman"/>
              <a:ea typeface="Times New Roman"/>
              <a:cs typeface="Times New Roman"/>
              <a:sym typeface="Times New Roman"/>
            </a:endParaRPr>
          </a:p>
          <a:p>
            <a:pPr indent="-457200" lvl="0" marL="457200" rtl="0" algn="just">
              <a:lnSpc>
                <a:spcPct val="150000"/>
              </a:lnSpc>
              <a:spcBef>
                <a:spcPts val="600"/>
              </a:spcBef>
              <a:spcAft>
                <a:spcPts val="0"/>
              </a:spcAft>
              <a:buSzPct val="70000"/>
              <a:buFont typeface="Arial"/>
              <a:buChar char="•"/>
            </a:pPr>
            <a:r>
              <a:rPr lang="en-US" sz="2400">
                <a:latin typeface="Times New Roman"/>
                <a:ea typeface="Times New Roman"/>
                <a:cs typeface="Times New Roman"/>
                <a:sym typeface="Times New Roman"/>
              </a:rPr>
              <a:t>Four bits together is known as </a:t>
            </a:r>
            <a:r>
              <a:rPr b="1" lang="en-US" sz="2400">
                <a:latin typeface="Times New Roman"/>
                <a:ea typeface="Times New Roman"/>
                <a:cs typeface="Times New Roman"/>
                <a:sym typeface="Times New Roman"/>
              </a:rPr>
              <a:t>Nibble</a:t>
            </a:r>
            <a:r>
              <a:rPr lang="en-US" sz="2400">
                <a:latin typeface="Times New Roman"/>
                <a:ea typeface="Times New Roman"/>
                <a:cs typeface="Times New Roman"/>
                <a:sym typeface="Times New Roman"/>
              </a:rPr>
              <a:t>, and Eight bits together is known as </a:t>
            </a:r>
            <a:r>
              <a:rPr b="1" lang="en-US" sz="2400">
                <a:latin typeface="Times New Roman"/>
                <a:ea typeface="Times New Roman"/>
                <a:cs typeface="Times New Roman"/>
                <a:sym typeface="Times New Roman"/>
              </a:rPr>
              <a:t>Byte</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58521" lvl="0" marL="457200" rtl="0" algn="just">
              <a:spcBef>
                <a:spcPts val="600"/>
              </a:spcBef>
              <a:spcAft>
                <a:spcPts val="0"/>
              </a:spcAft>
              <a:buSzPct val="70000"/>
              <a:buFont typeface="Arial"/>
              <a:buNone/>
            </a:pPr>
            <a:r>
              <a:t/>
            </a:r>
            <a:endParaRPr sz="2400">
              <a:latin typeface="Times New Roman"/>
              <a:ea typeface="Times New Roman"/>
              <a:cs typeface="Times New Roman"/>
              <a:sym typeface="Times New Roman"/>
            </a:endParaRPr>
          </a:p>
        </p:txBody>
      </p:sp>
      <p:sp>
        <p:nvSpPr>
          <p:cNvPr id="145" name="Google Shape;145;p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4"/>
          <p:cNvSpPr txBox="1"/>
          <p:nvPr>
            <p:ph type="title"/>
          </p:nvPr>
        </p:nvSpPr>
        <p:spPr>
          <a:xfrm>
            <a:off x="1371600" y="152400"/>
            <a:ext cx="6359525" cy="696595"/>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Architecture &amp; Organization</a:t>
            </a:r>
            <a:endParaRPr/>
          </a:p>
        </p:txBody>
      </p:sp>
      <p:sp>
        <p:nvSpPr>
          <p:cNvPr id="151" name="Google Shape;151;p4"/>
          <p:cNvSpPr txBox="1"/>
          <p:nvPr/>
        </p:nvSpPr>
        <p:spPr>
          <a:xfrm>
            <a:off x="234943" y="990600"/>
            <a:ext cx="8528057" cy="5847755"/>
          </a:xfrm>
          <a:prstGeom prst="rect">
            <a:avLst/>
          </a:prstGeom>
          <a:noFill/>
          <a:ln>
            <a:noFill/>
          </a:ln>
        </p:spPr>
        <p:txBody>
          <a:bodyPr anchorCtr="0" anchor="t" bIns="0" lIns="0" spcFirstLastPara="1" rIns="0" wrap="square" tIns="12700">
            <a:spAutoFit/>
          </a:bodyPr>
          <a:lstStyle/>
          <a:p>
            <a:pPr indent="-342900" lvl="0" marL="355600" marR="1591945" rtl="0" algn="just">
              <a:lnSpc>
                <a:spcPct val="150000"/>
              </a:lnSpc>
              <a:spcBef>
                <a:spcPts val="0"/>
              </a:spcBef>
              <a:spcAft>
                <a:spcPts val="0"/>
              </a:spcAft>
              <a:buClr>
                <a:srgbClr val="FF0000"/>
              </a:buClr>
              <a:buSzPts val="2400"/>
              <a:buFont typeface="Arial"/>
              <a:buChar char="•"/>
            </a:pPr>
            <a:r>
              <a:rPr b="1" i="0" lang="en-US" sz="2400" u="none" cap="none" strike="noStrike">
                <a:solidFill>
                  <a:srgbClr val="FF0000"/>
                </a:solidFill>
                <a:latin typeface="Times New Roman"/>
                <a:ea typeface="Times New Roman"/>
                <a:cs typeface="Times New Roman"/>
                <a:sym typeface="Times New Roman"/>
              </a:rPr>
              <a:t>Computer Architecture </a:t>
            </a:r>
            <a:r>
              <a:rPr b="0" i="0" lang="en-US" sz="2400" u="none" cap="none" strike="noStrike">
                <a:solidFill>
                  <a:schemeClr val="dk1"/>
                </a:solidFill>
                <a:latin typeface="Times New Roman"/>
                <a:ea typeface="Times New Roman"/>
                <a:cs typeface="Times New Roman"/>
                <a:sym typeface="Times New Roman"/>
              </a:rPr>
              <a:t>is those </a:t>
            </a:r>
            <a:r>
              <a:rPr b="1" i="0" lang="en-US" sz="2400" u="none" cap="none" strike="noStrike">
                <a:solidFill>
                  <a:schemeClr val="dk1"/>
                </a:solidFill>
                <a:latin typeface="Times New Roman"/>
                <a:ea typeface="Times New Roman"/>
                <a:cs typeface="Times New Roman"/>
                <a:sym typeface="Times New Roman"/>
              </a:rPr>
              <a:t>attributes visible to the  programmer/direct impact on logical execution of a pgm</a:t>
            </a:r>
            <a:endParaRPr b="1" i="0" sz="2400" u="none" cap="none" strike="noStrike">
              <a:solidFill>
                <a:schemeClr val="dk1"/>
              </a:solidFill>
              <a:latin typeface="Times New Roman"/>
              <a:ea typeface="Times New Roman"/>
              <a:cs typeface="Times New Roman"/>
              <a:sym typeface="Times New Roman"/>
            </a:endParaRPr>
          </a:p>
          <a:p>
            <a:pPr indent="-287019" lvl="1" marL="756285" marR="81915" rtl="0" algn="just">
              <a:lnSpc>
                <a:spcPct val="150000"/>
              </a:lnSpc>
              <a:spcBef>
                <a:spcPts val="705"/>
              </a:spcBef>
              <a:spcAft>
                <a:spcPts val="0"/>
              </a:spcAft>
              <a:buClr>
                <a:schemeClr val="dk1"/>
              </a:buClr>
              <a:buSzPts val="2400"/>
              <a:buFont typeface="Arial"/>
              <a:buChar char="–"/>
            </a:pPr>
            <a:r>
              <a:rPr b="0" i="1" lang="en-US" sz="2400" u="none" cap="none" strike="noStrike">
                <a:solidFill>
                  <a:schemeClr val="dk1"/>
                </a:solidFill>
                <a:latin typeface="Times New Roman"/>
                <a:ea typeface="Times New Roman"/>
                <a:cs typeface="Times New Roman"/>
                <a:sym typeface="Times New Roman"/>
              </a:rPr>
              <a:t>Instruction set, number of bits used for data representation,  I/O mechanisms, addressing techniques, data types</a:t>
            </a:r>
            <a:endParaRPr b="0" i="1" sz="2400" u="none" cap="none" strike="noStrike">
              <a:solidFill>
                <a:schemeClr val="dk1"/>
              </a:solidFill>
              <a:latin typeface="Times New Roman"/>
              <a:ea typeface="Times New Roman"/>
              <a:cs typeface="Times New Roman"/>
              <a:sym typeface="Times New Roman"/>
            </a:endParaRPr>
          </a:p>
          <a:p>
            <a:pPr indent="0" lvl="1" marL="457200" marR="0" rtl="0" algn="l">
              <a:lnSpc>
                <a:spcPct val="150000"/>
              </a:lnSpc>
              <a:spcBef>
                <a:spcPts val="45"/>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0"/>
              </a:spcBef>
              <a:spcAft>
                <a:spcPts val="0"/>
              </a:spcAft>
              <a:buClr>
                <a:srgbClr val="FF0000"/>
              </a:buClr>
              <a:buSzPts val="2400"/>
              <a:buFont typeface="Arial"/>
              <a:buChar char="•"/>
            </a:pPr>
            <a:r>
              <a:rPr b="1" i="0" lang="en-US" sz="2400" u="none" cap="none" strike="noStrike">
                <a:solidFill>
                  <a:srgbClr val="FF0000"/>
                </a:solidFill>
                <a:latin typeface="Times New Roman"/>
                <a:ea typeface="Times New Roman"/>
                <a:cs typeface="Times New Roman"/>
                <a:sym typeface="Times New Roman"/>
              </a:rPr>
              <a:t>Computer Organization </a:t>
            </a:r>
            <a:r>
              <a:rPr b="0" i="0" lang="en-US" sz="2400" u="none" cap="none" strike="noStrike">
                <a:solidFill>
                  <a:schemeClr val="dk1"/>
                </a:solidFill>
                <a:latin typeface="Times New Roman"/>
                <a:ea typeface="Times New Roman"/>
                <a:cs typeface="Times New Roman"/>
                <a:sym typeface="Times New Roman"/>
              </a:rPr>
              <a:t>refers</a:t>
            </a:r>
            <a:r>
              <a:rPr b="1" i="0" lang="en-US" sz="2400" u="none" cap="none" strike="noStrike">
                <a:solidFill>
                  <a:schemeClr val="dk1"/>
                </a:solidFill>
                <a:latin typeface="Times New Roman"/>
                <a:ea typeface="Times New Roman"/>
                <a:cs typeface="Times New Roman"/>
                <a:sym typeface="Times New Roman"/>
              </a:rPr>
              <a:t> to operational units and their interconnections</a:t>
            </a:r>
            <a:r>
              <a:rPr b="0" i="0" lang="en-US" sz="2400" u="none" cap="none" strike="noStrike">
                <a:solidFill>
                  <a:schemeClr val="dk1"/>
                </a:solidFill>
                <a:latin typeface="Times New Roman"/>
                <a:ea typeface="Times New Roman"/>
                <a:cs typeface="Times New Roman"/>
                <a:sym typeface="Times New Roman"/>
              </a:rPr>
              <a:t> that realize the architectural </a:t>
            </a:r>
            <a:r>
              <a:rPr b="1" i="0" lang="en-US" sz="2400" u="none" cap="none" strike="noStrike">
                <a:solidFill>
                  <a:schemeClr val="dk1"/>
                </a:solidFill>
                <a:latin typeface="Times New Roman"/>
                <a:ea typeface="Times New Roman"/>
                <a:cs typeface="Times New Roman"/>
                <a:sym typeface="Times New Roman"/>
              </a:rPr>
              <a:t>specifications-how features are implemented</a:t>
            </a:r>
            <a:endParaRPr b="1"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50000"/>
              </a:lnSpc>
              <a:spcBef>
                <a:spcPts val="1639"/>
              </a:spcBef>
              <a:spcAft>
                <a:spcPts val="0"/>
              </a:spcAft>
              <a:buClr>
                <a:schemeClr val="dk1"/>
              </a:buClr>
              <a:buSzPts val="2400"/>
              <a:buFont typeface="Arial"/>
              <a:buChar char="–"/>
            </a:pPr>
            <a:r>
              <a:rPr b="0" i="1" lang="en-US" sz="2400" u="none" cap="none" strike="noStrike">
                <a:solidFill>
                  <a:schemeClr val="dk1"/>
                </a:solidFill>
                <a:latin typeface="Times New Roman"/>
                <a:ea typeface="Times New Roman"/>
                <a:cs typeface="Times New Roman"/>
                <a:sym typeface="Times New Roman"/>
              </a:rPr>
              <a:t>Control signals, interfaces, memory technology.</a:t>
            </a:r>
            <a:endParaRPr b="0" i="1" sz="2400" u="none" cap="none" strike="noStrike">
              <a:solidFill>
                <a:schemeClr val="dk1"/>
              </a:solidFill>
              <a:latin typeface="Times New Roman"/>
              <a:ea typeface="Times New Roman"/>
              <a:cs typeface="Times New Roman"/>
              <a:sym typeface="Times New Roman"/>
            </a:endParaRPr>
          </a:p>
        </p:txBody>
      </p:sp>
      <p:sp>
        <p:nvSpPr>
          <p:cNvPr id="152" name="Google Shape;152;p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 name="Shape 156"/>
        <p:cNvGrpSpPr/>
        <p:nvPr/>
      </p:nvGrpSpPr>
      <p:grpSpPr>
        <a:xfrm>
          <a:off x="0" y="0"/>
          <a:ext cx="0" cy="0"/>
          <a:chOff x="0" y="0"/>
          <a:chExt cx="0" cy="0"/>
        </a:xfrm>
      </p:grpSpPr>
      <p:graphicFrame>
        <p:nvGraphicFramePr>
          <p:cNvPr id="157" name="Google Shape;157;p5"/>
          <p:cNvGraphicFramePr/>
          <p:nvPr/>
        </p:nvGraphicFramePr>
        <p:xfrm>
          <a:off x="388937" y="398525"/>
          <a:ext cx="3000000" cy="3000000"/>
        </p:xfrm>
        <a:graphic>
          <a:graphicData uri="http://schemas.openxmlformats.org/drawingml/2006/table">
            <a:tbl>
              <a:tblPr bandRow="1" firstRow="1">
                <a:noFill/>
                <a:tableStyleId>{1DF45099-8BED-4FB0-B7F4-0615D1F7DFE5}</a:tableStyleId>
              </a:tblPr>
              <a:tblGrid>
                <a:gridCol w="4212600"/>
                <a:gridCol w="4212600"/>
              </a:tblGrid>
              <a:tr h="528575">
                <a:tc>
                  <a:txBody>
                    <a:bodyPr/>
                    <a:lstStyle/>
                    <a:p>
                      <a:pPr indent="0" lvl="0" marL="11430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COMPUTER ARCHITECTURE</a:t>
                      </a:r>
                      <a:endParaRPr sz="1400" u="none" cap="none" strike="noStrike">
                        <a:latin typeface="Times New Roman"/>
                        <a:ea typeface="Times New Roman"/>
                        <a:cs typeface="Times New Roman"/>
                        <a:sym typeface="Times New Roman"/>
                      </a:endParaRPr>
                    </a:p>
                  </a:txBody>
                  <a:tcPr marT="95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c>
                  <a:txBody>
                    <a:bodyPr/>
                    <a:lstStyle/>
                    <a:p>
                      <a:pPr indent="0" lvl="0" marL="11493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COMPUTER ORGANIZATION</a:t>
                      </a:r>
                      <a:endParaRPr sz="1400" u="none" cap="none" strike="noStrike">
                        <a:latin typeface="Times New Roman"/>
                        <a:ea typeface="Times New Roman"/>
                        <a:cs typeface="Times New Roman"/>
                        <a:sym typeface="Times New Roman"/>
                      </a:endParaRPr>
                    </a:p>
                  </a:txBody>
                  <a:tcPr marT="95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r>
              <a:tr h="874150">
                <a:tc>
                  <a:txBody>
                    <a:bodyPr/>
                    <a:lstStyle/>
                    <a:p>
                      <a:pPr indent="0" lvl="0" marL="76200" marR="67310" rtl="0" algn="l">
                        <a:lnSpc>
                          <a:spcPct val="100000"/>
                        </a:lnSpc>
                        <a:spcBef>
                          <a:spcPts val="0"/>
                        </a:spcBef>
                        <a:spcAft>
                          <a:spcPts val="0"/>
                        </a:spcAft>
                        <a:buNone/>
                      </a:pPr>
                      <a:r>
                        <a:rPr b="1" lang="en-US" sz="1100" u="none" cap="none" strike="noStrike">
                          <a:latin typeface="Verdana"/>
                          <a:ea typeface="Verdana"/>
                          <a:cs typeface="Verdana"/>
                          <a:sym typeface="Verdana"/>
                        </a:rPr>
                        <a:t>Way hardware components are connected </a:t>
                      </a:r>
                      <a:r>
                        <a:rPr lang="en-US" sz="1100" u="none" cap="none" strike="noStrike">
                          <a:latin typeface="Verdana"/>
                          <a:ea typeface="Verdana"/>
                          <a:cs typeface="Verdana"/>
                          <a:sym typeface="Verdana"/>
                        </a:rPr>
                        <a:t>together  to form a computer system.</a:t>
                      </a:r>
                      <a:endParaRPr sz="1100" u="none" cap="none" strike="noStrike">
                        <a:latin typeface="Verdana"/>
                        <a:ea typeface="Verdana"/>
                        <a:cs typeface="Verdana"/>
                        <a:sym typeface="Verdana"/>
                      </a:endParaRPr>
                    </a:p>
                  </a:txBody>
                  <a:tcPr marT="76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76835" marR="0" rtl="0" algn="l">
                        <a:lnSpc>
                          <a:spcPct val="100000"/>
                        </a:lnSpc>
                        <a:spcBef>
                          <a:spcPts val="0"/>
                        </a:spcBef>
                        <a:spcAft>
                          <a:spcPts val="0"/>
                        </a:spcAft>
                        <a:buNone/>
                      </a:pPr>
                      <a:r>
                        <a:rPr b="1" lang="en-US" sz="1100" u="none" cap="none" strike="noStrike">
                          <a:latin typeface="Verdana"/>
                          <a:ea typeface="Verdana"/>
                          <a:cs typeface="Verdana"/>
                          <a:sym typeface="Verdana"/>
                        </a:rPr>
                        <a:t>Structure and behaviour </a:t>
                      </a:r>
                      <a:r>
                        <a:rPr lang="en-US" sz="1100" u="none" cap="none" strike="noStrike">
                          <a:latin typeface="Verdana"/>
                          <a:ea typeface="Verdana"/>
                          <a:cs typeface="Verdana"/>
                          <a:sym typeface="Verdana"/>
                        </a:rPr>
                        <a:t>of a computer system as</a:t>
                      </a:r>
                      <a:endParaRPr sz="1100" u="none" cap="none" strike="noStrike">
                        <a:latin typeface="Verdana"/>
                        <a:ea typeface="Verdana"/>
                        <a:cs typeface="Verdana"/>
                        <a:sym typeface="Verdana"/>
                      </a:endParaRPr>
                    </a:p>
                    <a:p>
                      <a:pPr indent="0" lvl="0" marL="76835" marR="0" rtl="0" algn="l">
                        <a:lnSpc>
                          <a:spcPct val="100000"/>
                        </a:lnSpc>
                        <a:spcBef>
                          <a:spcPts val="0"/>
                        </a:spcBef>
                        <a:spcAft>
                          <a:spcPts val="0"/>
                        </a:spcAft>
                        <a:buNone/>
                      </a:pPr>
                      <a:r>
                        <a:rPr b="1" lang="en-US" sz="1100" u="none" cap="none" strike="noStrike">
                          <a:latin typeface="Verdana"/>
                          <a:ea typeface="Verdana"/>
                          <a:cs typeface="Verdana"/>
                          <a:sym typeface="Verdana"/>
                        </a:rPr>
                        <a:t>seen by the user</a:t>
                      </a:r>
                      <a:r>
                        <a:rPr lang="en-US" sz="1100" u="none" cap="none" strike="noStrike">
                          <a:latin typeface="Verdana"/>
                          <a:ea typeface="Verdana"/>
                          <a:cs typeface="Verdana"/>
                          <a:sym typeface="Verdana"/>
                        </a:rPr>
                        <a:t>.</a:t>
                      </a:r>
                      <a:endParaRPr sz="1100" u="none" cap="none" strike="noStrike">
                        <a:latin typeface="Verdana"/>
                        <a:ea typeface="Verdana"/>
                        <a:cs typeface="Verdana"/>
                        <a:sym typeface="Verdana"/>
                      </a:endParaRPr>
                    </a:p>
                  </a:txBody>
                  <a:tcPr marT="76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650500">
                <a:tc>
                  <a:txBody>
                    <a:bodyPr/>
                    <a:lstStyle/>
                    <a:p>
                      <a:pPr indent="0" lvl="0" marL="76200" marR="0" rtl="0" algn="l">
                        <a:lnSpc>
                          <a:spcPct val="100000"/>
                        </a:lnSpc>
                        <a:spcBef>
                          <a:spcPts val="0"/>
                        </a:spcBef>
                        <a:spcAft>
                          <a:spcPts val="0"/>
                        </a:spcAft>
                        <a:buNone/>
                      </a:pPr>
                      <a:r>
                        <a:rPr lang="en-US" sz="1100" u="none" cap="none" strike="noStrike">
                          <a:latin typeface="Verdana"/>
                          <a:ea typeface="Verdana"/>
                          <a:cs typeface="Verdana"/>
                          <a:sym typeface="Verdana"/>
                        </a:rPr>
                        <a:t>It acts as the interface between hardware and software.</a:t>
                      </a:r>
                      <a:endParaRPr sz="1100" u="none" cap="none" strike="noStrike">
                        <a:latin typeface="Verdana"/>
                        <a:ea typeface="Verdana"/>
                        <a:cs typeface="Verdana"/>
                        <a:sym typeface="Verdana"/>
                      </a:endParaRPr>
                    </a:p>
                  </a:txBody>
                  <a:tcPr marT="76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76835" marR="67945" rtl="0" algn="l">
                        <a:lnSpc>
                          <a:spcPct val="100000"/>
                        </a:lnSpc>
                        <a:spcBef>
                          <a:spcPts val="0"/>
                        </a:spcBef>
                        <a:spcAft>
                          <a:spcPts val="0"/>
                        </a:spcAft>
                        <a:buNone/>
                      </a:pPr>
                      <a:r>
                        <a:rPr lang="en-US" sz="1100" u="none" cap="none" strike="noStrike">
                          <a:latin typeface="Verdana"/>
                          <a:ea typeface="Verdana"/>
                          <a:cs typeface="Verdana"/>
                          <a:sym typeface="Verdana"/>
                        </a:rPr>
                        <a:t>It deals with the components of a connection in a  system.</a:t>
                      </a:r>
                      <a:endParaRPr sz="1100" u="none" cap="none" strike="noStrike">
                        <a:latin typeface="Verdana"/>
                        <a:ea typeface="Verdana"/>
                        <a:cs typeface="Verdana"/>
                        <a:sym typeface="Verdana"/>
                      </a:endParaRPr>
                    </a:p>
                  </a:txBody>
                  <a:tcPr marT="76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874275">
                <a:tc>
                  <a:txBody>
                    <a:bodyPr/>
                    <a:lstStyle/>
                    <a:p>
                      <a:pPr indent="0" lvl="0" marL="76200" marR="0" rtl="0" algn="l">
                        <a:lnSpc>
                          <a:spcPct val="100000"/>
                        </a:lnSpc>
                        <a:spcBef>
                          <a:spcPts val="0"/>
                        </a:spcBef>
                        <a:spcAft>
                          <a:spcPts val="0"/>
                        </a:spcAft>
                        <a:buNone/>
                      </a:pPr>
                      <a:r>
                        <a:rPr lang="en-US" sz="1100" u="none" cap="none" strike="noStrike">
                          <a:latin typeface="Verdana"/>
                          <a:ea typeface="Verdana"/>
                          <a:cs typeface="Verdana"/>
                          <a:sym typeface="Verdana"/>
                        </a:rPr>
                        <a:t>Helps us to understand the </a:t>
                      </a:r>
                      <a:r>
                        <a:rPr b="1" lang="en-US" sz="1100" u="none" cap="none" strike="noStrike">
                          <a:latin typeface="Verdana"/>
                          <a:ea typeface="Verdana"/>
                          <a:cs typeface="Verdana"/>
                          <a:sym typeface="Verdana"/>
                        </a:rPr>
                        <a:t>functionalities </a:t>
                      </a:r>
                      <a:r>
                        <a:rPr lang="en-US" sz="1100" u="none" cap="none" strike="noStrike">
                          <a:latin typeface="Verdana"/>
                          <a:ea typeface="Verdana"/>
                          <a:cs typeface="Verdana"/>
                          <a:sym typeface="Verdana"/>
                        </a:rPr>
                        <a:t>of a system.</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76835" marR="68580" rtl="0" algn="l">
                        <a:lnSpc>
                          <a:spcPct val="100000"/>
                        </a:lnSpc>
                        <a:spcBef>
                          <a:spcPts val="0"/>
                        </a:spcBef>
                        <a:spcAft>
                          <a:spcPts val="0"/>
                        </a:spcAft>
                        <a:buNone/>
                      </a:pPr>
                      <a:r>
                        <a:rPr lang="en-US" sz="1100" u="none" cap="none" strike="noStrike">
                          <a:latin typeface="Verdana"/>
                          <a:ea typeface="Verdana"/>
                          <a:cs typeface="Verdana"/>
                          <a:sym typeface="Verdana"/>
                        </a:rPr>
                        <a:t>How exactly all the </a:t>
                      </a:r>
                      <a:r>
                        <a:rPr b="1" lang="en-US" sz="1100" u="none" cap="none" strike="noStrike">
                          <a:latin typeface="Verdana"/>
                          <a:ea typeface="Verdana"/>
                          <a:cs typeface="Verdana"/>
                          <a:sym typeface="Verdana"/>
                        </a:rPr>
                        <a:t>units in the system are arranged  and interconnected.</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874150">
                <a:tc>
                  <a:txBody>
                    <a:bodyPr/>
                    <a:lstStyle/>
                    <a:p>
                      <a:pPr indent="0" lvl="0" marL="76200" marR="0" rtl="0" algn="l">
                        <a:lnSpc>
                          <a:spcPct val="100000"/>
                        </a:lnSpc>
                        <a:spcBef>
                          <a:spcPts val="0"/>
                        </a:spcBef>
                        <a:spcAft>
                          <a:spcPts val="0"/>
                        </a:spcAft>
                        <a:buNone/>
                      </a:pPr>
                      <a:r>
                        <a:rPr lang="en-US" sz="1100" u="none" cap="none" strike="noStrike">
                          <a:latin typeface="Verdana"/>
                          <a:ea typeface="Verdana"/>
                          <a:cs typeface="Verdana"/>
                          <a:sym typeface="Verdana"/>
                        </a:rPr>
                        <a:t>A programmer can  </a:t>
                      </a:r>
                      <a:r>
                        <a:rPr b="1" lang="en-US" sz="1100" u="none" cap="none" strike="noStrike">
                          <a:latin typeface="Verdana"/>
                          <a:ea typeface="Verdana"/>
                          <a:cs typeface="Verdana"/>
                          <a:sym typeface="Verdana"/>
                        </a:rPr>
                        <a:t>view architecture </a:t>
                      </a:r>
                      <a:r>
                        <a:rPr lang="en-US" sz="1100" u="none" cap="none" strike="noStrike">
                          <a:latin typeface="Verdana"/>
                          <a:ea typeface="Verdana"/>
                          <a:cs typeface="Verdana"/>
                          <a:sym typeface="Verdana"/>
                        </a:rPr>
                        <a:t>in terms of</a:t>
                      </a:r>
                      <a:endParaRPr sz="1100" u="none" cap="none" strike="noStrike">
                        <a:latin typeface="Verdana"/>
                        <a:ea typeface="Verdana"/>
                        <a:cs typeface="Verdana"/>
                        <a:sym typeface="Verdana"/>
                      </a:endParaRPr>
                    </a:p>
                    <a:p>
                      <a:pPr indent="0" lvl="0" marL="76200" marR="0" rtl="0" algn="l">
                        <a:lnSpc>
                          <a:spcPct val="100000"/>
                        </a:lnSpc>
                        <a:spcBef>
                          <a:spcPts val="0"/>
                        </a:spcBef>
                        <a:spcAft>
                          <a:spcPts val="0"/>
                        </a:spcAft>
                        <a:buNone/>
                      </a:pPr>
                      <a:r>
                        <a:rPr b="1" lang="en-US" sz="1100" u="none" cap="none" strike="noStrike">
                          <a:latin typeface="Verdana"/>
                          <a:ea typeface="Verdana"/>
                          <a:cs typeface="Verdana"/>
                          <a:sym typeface="Verdana"/>
                        </a:rPr>
                        <a:t>instructions, addressing modes and registers</a:t>
                      </a:r>
                      <a:r>
                        <a:rPr lang="en-US" sz="1100" u="none" cap="none" strike="noStrike">
                          <a:latin typeface="Verdana"/>
                          <a:ea typeface="Verdana"/>
                          <a:cs typeface="Verdana"/>
                          <a:sym typeface="Verdana"/>
                        </a:rPr>
                        <a:t>.</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76835" marR="0" rtl="0" algn="l">
                        <a:lnSpc>
                          <a:spcPct val="100000"/>
                        </a:lnSpc>
                        <a:spcBef>
                          <a:spcPts val="0"/>
                        </a:spcBef>
                        <a:spcAft>
                          <a:spcPts val="0"/>
                        </a:spcAft>
                        <a:buNone/>
                      </a:pPr>
                      <a:r>
                        <a:rPr lang="en-US" sz="1100" u="none" cap="none" strike="noStrike">
                          <a:latin typeface="Verdana"/>
                          <a:ea typeface="Verdana"/>
                          <a:cs typeface="Verdana"/>
                          <a:sym typeface="Verdana"/>
                        </a:rPr>
                        <a:t>Whereas	Organization	expresses	the	</a:t>
                      </a:r>
                      <a:r>
                        <a:rPr b="1" lang="en-US" sz="1100" u="none" cap="none" strike="noStrike">
                          <a:latin typeface="Verdana"/>
                          <a:ea typeface="Verdana"/>
                          <a:cs typeface="Verdana"/>
                          <a:sym typeface="Verdana"/>
                        </a:rPr>
                        <a:t>realization	of</a:t>
                      </a:r>
                      <a:endParaRPr sz="1100" u="none" cap="none" strike="noStrike">
                        <a:latin typeface="Verdana"/>
                        <a:ea typeface="Verdana"/>
                        <a:cs typeface="Verdana"/>
                        <a:sym typeface="Verdana"/>
                      </a:endParaRPr>
                    </a:p>
                    <a:p>
                      <a:pPr indent="0" lvl="0" marL="76835" marR="0" rtl="0" algn="l">
                        <a:lnSpc>
                          <a:spcPct val="100000"/>
                        </a:lnSpc>
                        <a:spcBef>
                          <a:spcPts val="0"/>
                        </a:spcBef>
                        <a:spcAft>
                          <a:spcPts val="0"/>
                        </a:spcAft>
                        <a:buNone/>
                      </a:pPr>
                      <a:r>
                        <a:rPr b="1" lang="en-US" sz="1100" u="none" cap="none" strike="noStrike">
                          <a:latin typeface="Verdana"/>
                          <a:ea typeface="Verdana"/>
                          <a:cs typeface="Verdana"/>
                          <a:sym typeface="Verdana"/>
                        </a:rPr>
                        <a:t>architecture.</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650500">
                <a:tc>
                  <a:txBody>
                    <a:bodyPr/>
                    <a:lstStyle/>
                    <a:p>
                      <a:pPr indent="0" lvl="0" marL="76200" marR="68580" rtl="0" algn="l">
                        <a:lnSpc>
                          <a:spcPct val="100000"/>
                        </a:lnSpc>
                        <a:spcBef>
                          <a:spcPts val="0"/>
                        </a:spcBef>
                        <a:spcAft>
                          <a:spcPts val="0"/>
                        </a:spcAft>
                        <a:buNone/>
                      </a:pPr>
                      <a:r>
                        <a:rPr lang="en-US" sz="1100" u="none" cap="none" strike="noStrike">
                          <a:latin typeface="Verdana"/>
                          <a:ea typeface="Verdana"/>
                          <a:cs typeface="Verdana"/>
                          <a:sym typeface="Verdana"/>
                        </a:rPr>
                        <a:t>While </a:t>
                      </a:r>
                      <a:r>
                        <a:rPr b="1" lang="en-US" sz="1100" u="none" cap="none" strike="noStrike">
                          <a:latin typeface="Verdana"/>
                          <a:ea typeface="Verdana"/>
                          <a:cs typeface="Verdana"/>
                          <a:sym typeface="Verdana"/>
                        </a:rPr>
                        <a:t>designing </a:t>
                      </a:r>
                      <a:r>
                        <a:rPr lang="en-US" sz="1100" u="none" cap="none" strike="noStrike">
                          <a:latin typeface="Verdana"/>
                          <a:ea typeface="Verdana"/>
                          <a:cs typeface="Verdana"/>
                          <a:sym typeface="Verdana"/>
                        </a:rPr>
                        <a:t>a computer system </a:t>
                      </a:r>
                      <a:r>
                        <a:rPr b="1" lang="en-US" sz="1100" u="none" cap="none" strike="noStrike">
                          <a:latin typeface="Verdana"/>
                          <a:ea typeface="Verdana"/>
                          <a:cs typeface="Verdana"/>
                          <a:sym typeface="Verdana"/>
                        </a:rPr>
                        <a:t>architecture is  considered first</a:t>
                      </a:r>
                      <a:r>
                        <a:rPr lang="en-US" sz="1100" u="none" cap="none" strike="noStrike">
                          <a:latin typeface="Verdana"/>
                          <a:ea typeface="Verdana"/>
                          <a:cs typeface="Verdana"/>
                          <a:sym typeface="Verdana"/>
                        </a:rPr>
                        <a:t>.</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76835" marR="0" rtl="0" algn="l">
                        <a:lnSpc>
                          <a:spcPct val="100000"/>
                        </a:lnSpc>
                        <a:spcBef>
                          <a:spcPts val="0"/>
                        </a:spcBef>
                        <a:spcAft>
                          <a:spcPts val="0"/>
                        </a:spcAft>
                        <a:buNone/>
                      </a:pPr>
                      <a:r>
                        <a:rPr lang="en-US" sz="1100" u="none" cap="none" strike="noStrike">
                          <a:latin typeface="Verdana"/>
                          <a:ea typeface="Verdana"/>
                          <a:cs typeface="Verdana"/>
                          <a:sym typeface="Verdana"/>
                        </a:rPr>
                        <a:t>An organization is done on the basis of architecture.</a:t>
                      </a:r>
                      <a:endParaRPr sz="1100" u="none" cap="none" strike="noStrike">
                        <a:latin typeface="Verdana"/>
                        <a:ea typeface="Verdana"/>
                        <a:cs typeface="Verdana"/>
                        <a:sym typeface="Verdana"/>
                      </a:endParaRPr>
                    </a:p>
                  </a:txBody>
                  <a:tcPr marT="774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650625">
                <a:tc>
                  <a:txBody>
                    <a:bodyPr/>
                    <a:lstStyle/>
                    <a:p>
                      <a:pPr indent="0" lvl="0" marL="76200" marR="69850" rtl="0" algn="l">
                        <a:lnSpc>
                          <a:spcPct val="100000"/>
                        </a:lnSpc>
                        <a:spcBef>
                          <a:spcPts val="0"/>
                        </a:spcBef>
                        <a:spcAft>
                          <a:spcPts val="0"/>
                        </a:spcAft>
                        <a:buNone/>
                      </a:pPr>
                      <a:r>
                        <a:rPr lang="en-US" sz="1100" u="none" cap="none" strike="noStrike">
                          <a:latin typeface="Verdana"/>
                          <a:ea typeface="Verdana"/>
                          <a:cs typeface="Verdana"/>
                          <a:sym typeface="Verdana"/>
                        </a:rPr>
                        <a:t>Computer	Architecture	deals	with	high-level	design  issues.</a:t>
                      </a:r>
                      <a:endParaRPr sz="1100" u="none" cap="none" strike="noStrike">
                        <a:latin typeface="Verdana"/>
                        <a:ea typeface="Verdana"/>
                        <a:cs typeface="Verdana"/>
                        <a:sym typeface="Verdana"/>
                      </a:endParaRPr>
                    </a:p>
                  </a:txBody>
                  <a:tcPr marT="781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76835" marR="69215" rtl="0" algn="l">
                        <a:lnSpc>
                          <a:spcPct val="100000"/>
                        </a:lnSpc>
                        <a:spcBef>
                          <a:spcPts val="0"/>
                        </a:spcBef>
                        <a:spcAft>
                          <a:spcPts val="0"/>
                        </a:spcAft>
                        <a:buNone/>
                      </a:pPr>
                      <a:r>
                        <a:rPr lang="en-US" sz="1100" u="none" cap="none" strike="noStrike">
                          <a:latin typeface="Verdana"/>
                          <a:ea typeface="Verdana"/>
                          <a:cs typeface="Verdana"/>
                          <a:sym typeface="Verdana"/>
                        </a:rPr>
                        <a:t>Computer	Organization	deals	with	low-level	design  issues.</a:t>
                      </a:r>
                      <a:endParaRPr sz="1100" u="none" cap="none" strike="noStrike">
                        <a:latin typeface="Verdana"/>
                        <a:ea typeface="Verdana"/>
                        <a:cs typeface="Verdana"/>
                        <a:sym typeface="Verdana"/>
                      </a:endParaRPr>
                    </a:p>
                  </a:txBody>
                  <a:tcPr marT="781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874150">
                <a:tc>
                  <a:txBody>
                    <a:bodyPr/>
                    <a:lstStyle/>
                    <a:p>
                      <a:pPr indent="0" lvl="0" marL="76200" marR="69215" rtl="0" algn="l">
                        <a:lnSpc>
                          <a:spcPct val="100000"/>
                        </a:lnSpc>
                        <a:spcBef>
                          <a:spcPts val="0"/>
                        </a:spcBef>
                        <a:spcAft>
                          <a:spcPts val="0"/>
                        </a:spcAft>
                        <a:buNone/>
                      </a:pPr>
                      <a:r>
                        <a:rPr lang="en-US" sz="1100" u="none" cap="none" strike="noStrike">
                          <a:latin typeface="Verdana"/>
                          <a:ea typeface="Verdana"/>
                          <a:cs typeface="Verdana"/>
                          <a:sym typeface="Verdana"/>
                        </a:rPr>
                        <a:t>Architecture involves </a:t>
                      </a:r>
                      <a:r>
                        <a:rPr b="1" lang="en-US" sz="1100" u="none" cap="none" strike="noStrike">
                          <a:latin typeface="Verdana"/>
                          <a:ea typeface="Verdana"/>
                          <a:cs typeface="Verdana"/>
                          <a:sym typeface="Verdana"/>
                        </a:rPr>
                        <a:t>Logic </a:t>
                      </a:r>
                      <a:r>
                        <a:rPr lang="en-US" sz="1100" u="none" cap="none" strike="noStrike">
                          <a:latin typeface="Verdana"/>
                          <a:ea typeface="Verdana"/>
                          <a:cs typeface="Verdana"/>
                          <a:sym typeface="Verdana"/>
                        </a:rPr>
                        <a:t>(Instruction sets, Addressing  modes, Data types, Cache optimization)</a:t>
                      </a:r>
                      <a:endParaRPr sz="1100" u="none" cap="none" strike="noStrike">
                        <a:latin typeface="Verdana"/>
                        <a:ea typeface="Verdana"/>
                        <a:cs typeface="Verdana"/>
                        <a:sym typeface="Verdana"/>
                      </a:endParaRPr>
                    </a:p>
                  </a:txBody>
                  <a:tcPr marT="781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76835" marR="67945" rtl="0" algn="l">
                        <a:lnSpc>
                          <a:spcPct val="100000"/>
                        </a:lnSpc>
                        <a:spcBef>
                          <a:spcPts val="0"/>
                        </a:spcBef>
                        <a:spcAft>
                          <a:spcPts val="0"/>
                        </a:spcAft>
                        <a:buNone/>
                      </a:pPr>
                      <a:r>
                        <a:rPr lang="en-US" sz="1100" u="none" cap="none" strike="noStrike">
                          <a:latin typeface="Verdana"/>
                          <a:ea typeface="Verdana"/>
                          <a:cs typeface="Verdana"/>
                          <a:sym typeface="Verdana"/>
                        </a:rPr>
                        <a:t>Organization involves </a:t>
                      </a:r>
                      <a:r>
                        <a:rPr b="1" lang="en-US" sz="1100" u="none" cap="none" strike="noStrike">
                          <a:latin typeface="Verdana"/>
                          <a:ea typeface="Verdana"/>
                          <a:cs typeface="Verdana"/>
                          <a:sym typeface="Verdana"/>
                        </a:rPr>
                        <a:t>Physical Components </a:t>
                      </a:r>
                      <a:r>
                        <a:rPr lang="en-US" sz="1100" u="none" cap="none" strike="noStrike">
                          <a:latin typeface="Verdana"/>
                          <a:ea typeface="Verdana"/>
                          <a:cs typeface="Verdana"/>
                          <a:sym typeface="Verdana"/>
                        </a:rPr>
                        <a:t>(Circuit  design, Adders, Signals, Peripherals)</a:t>
                      </a:r>
                      <a:endParaRPr sz="1100" u="none" cap="none" strike="noStrike">
                        <a:latin typeface="Verdana"/>
                        <a:ea typeface="Verdana"/>
                        <a:cs typeface="Verdana"/>
                        <a:sym typeface="Verdana"/>
                      </a:endParaRPr>
                    </a:p>
                  </a:txBody>
                  <a:tcPr marT="781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bl>
          </a:graphicData>
        </a:graphic>
      </p:graphicFrame>
      <p:sp>
        <p:nvSpPr>
          <p:cNvPr id="158" name="Google Shape;158;p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6"/>
          <p:cNvSpPr txBox="1"/>
          <p:nvPr>
            <p:ph type="title"/>
          </p:nvPr>
        </p:nvSpPr>
        <p:spPr>
          <a:xfrm>
            <a:off x="1320800" y="150317"/>
            <a:ext cx="6361430" cy="567463"/>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Architecture &amp; Organization</a:t>
            </a:r>
            <a:endParaRPr/>
          </a:p>
        </p:txBody>
      </p:sp>
      <p:sp>
        <p:nvSpPr>
          <p:cNvPr id="164" name="Google Shape;164;p6"/>
          <p:cNvSpPr txBox="1"/>
          <p:nvPr/>
        </p:nvSpPr>
        <p:spPr>
          <a:xfrm>
            <a:off x="685800" y="914400"/>
            <a:ext cx="7733030" cy="5067412"/>
          </a:xfrm>
          <a:prstGeom prst="rect">
            <a:avLst/>
          </a:prstGeom>
          <a:noFill/>
          <a:ln>
            <a:noFill/>
          </a:ln>
        </p:spPr>
        <p:txBody>
          <a:bodyPr anchorCtr="0" anchor="t" bIns="0" lIns="0" spcFirstLastPara="1" rIns="0" wrap="square" tIns="217800">
            <a:spAutoFit/>
          </a:bodyPr>
          <a:lstStyle/>
          <a:p>
            <a:pPr indent="-342900" lvl="0" marL="3556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All </a:t>
            </a:r>
            <a:r>
              <a:rPr b="1" i="0" lang="en-US" sz="2400" u="none" cap="none" strike="noStrike">
                <a:solidFill>
                  <a:schemeClr val="dk1"/>
                </a:solidFill>
                <a:latin typeface="Times New Roman"/>
                <a:ea typeface="Times New Roman"/>
                <a:cs typeface="Times New Roman"/>
                <a:sym typeface="Times New Roman"/>
              </a:rPr>
              <a:t>Intel x86 </a:t>
            </a:r>
            <a:r>
              <a:rPr b="0" i="0" lang="en-US" sz="2400" u="none" cap="none" strike="noStrike">
                <a:solidFill>
                  <a:schemeClr val="dk1"/>
                </a:solidFill>
                <a:latin typeface="Times New Roman"/>
                <a:ea typeface="Times New Roman"/>
                <a:cs typeface="Times New Roman"/>
                <a:sym typeface="Times New Roman"/>
              </a:rPr>
              <a:t>family share the same basic </a:t>
            </a:r>
            <a:r>
              <a:rPr b="1" i="0" lang="en-US" sz="2400" u="none" cap="none" strike="noStrike">
                <a:solidFill>
                  <a:srgbClr val="FF0000"/>
                </a:solidFill>
                <a:latin typeface="Times New Roman"/>
                <a:ea typeface="Times New Roman"/>
                <a:cs typeface="Times New Roman"/>
                <a:sym typeface="Times New Roman"/>
              </a:rPr>
              <a:t>architecture</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62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 </a:t>
            </a:r>
            <a:r>
              <a:rPr b="1" i="0" lang="en-US" sz="2400" u="none" cap="none" strike="noStrike">
                <a:solidFill>
                  <a:schemeClr val="dk1"/>
                </a:solidFill>
                <a:latin typeface="Times New Roman"/>
                <a:ea typeface="Times New Roman"/>
                <a:cs typeface="Times New Roman"/>
                <a:sym typeface="Times New Roman"/>
              </a:rPr>
              <a:t>IBM System/370 </a:t>
            </a:r>
            <a:r>
              <a:rPr b="0" i="0" lang="en-US" sz="2400" u="none" cap="none" strike="noStrike">
                <a:solidFill>
                  <a:schemeClr val="dk1"/>
                </a:solidFill>
                <a:latin typeface="Times New Roman"/>
                <a:ea typeface="Times New Roman"/>
                <a:cs typeface="Times New Roman"/>
                <a:sym typeface="Times New Roman"/>
              </a:rPr>
              <a:t>family share the same basic</a:t>
            </a:r>
            <a:endParaRPr b="0" i="0" sz="2400" u="none" cap="none" strike="noStrike">
              <a:solidFill>
                <a:schemeClr val="dk1"/>
              </a:solidFill>
              <a:latin typeface="Times New Roman"/>
              <a:ea typeface="Times New Roman"/>
              <a:cs typeface="Times New Roman"/>
              <a:sym typeface="Times New Roman"/>
            </a:endParaRPr>
          </a:p>
          <a:p>
            <a:pPr indent="0" lvl="0" marL="355600" marR="0" rtl="0" algn="just">
              <a:lnSpc>
                <a:spcPct val="100000"/>
              </a:lnSpc>
              <a:spcBef>
                <a:spcPts val="969"/>
              </a:spcBef>
              <a:spcAft>
                <a:spcPts val="0"/>
              </a:spcAft>
              <a:buNone/>
            </a:pPr>
            <a:r>
              <a:rPr b="1" i="0" lang="en-US" sz="2400" u="none" cap="none" strike="noStrike">
                <a:solidFill>
                  <a:srgbClr val="FF0000"/>
                </a:solidFill>
                <a:latin typeface="Times New Roman"/>
                <a:ea typeface="Times New Roman"/>
                <a:cs typeface="Times New Roman"/>
                <a:sym typeface="Times New Roman"/>
              </a:rPr>
              <a:t>architecture</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62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This gives </a:t>
            </a:r>
            <a:r>
              <a:rPr b="1" i="0" lang="en-US" sz="2400" u="none" cap="none" strike="noStrike">
                <a:solidFill>
                  <a:schemeClr val="dk1"/>
                </a:solidFill>
                <a:latin typeface="Times New Roman"/>
                <a:ea typeface="Times New Roman"/>
                <a:cs typeface="Times New Roman"/>
                <a:sym typeface="Times New Roman"/>
              </a:rPr>
              <a:t>code compatibility (</a:t>
            </a:r>
            <a:r>
              <a:rPr b="0" i="0" lang="en-US" sz="2400" u="none" cap="none" strike="noStrike">
                <a:solidFill>
                  <a:schemeClr val="dk1"/>
                </a:solidFill>
                <a:latin typeface="Times New Roman"/>
                <a:ea typeface="Times New Roman"/>
                <a:cs typeface="Times New Roman"/>
                <a:sym typeface="Times New Roman"/>
              </a:rPr>
              <a:t>it can </a:t>
            </a:r>
            <a:r>
              <a:rPr b="1" i="0" lang="en-US" sz="2400" u="none" cap="none" strike="noStrike">
                <a:solidFill>
                  <a:schemeClr val="dk1"/>
                </a:solidFill>
                <a:latin typeface="Times New Roman"/>
                <a:ea typeface="Times New Roman"/>
                <a:cs typeface="Times New Roman"/>
                <a:sym typeface="Times New Roman"/>
              </a:rPr>
              <a:t>run the same executable code</a:t>
            </a:r>
            <a:r>
              <a:rPr b="0" i="0" lang="en-US" sz="2400" u="none" cap="none" strike="noStrike">
                <a:solidFill>
                  <a:schemeClr val="dk1"/>
                </a:solidFill>
                <a:latin typeface="Times New Roman"/>
                <a:ea typeface="Times New Roman"/>
                <a:cs typeface="Times New Roman"/>
                <a:sym typeface="Times New Roman"/>
              </a:rPr>
              <a:t>, typically machine code for a general-purpose computer CPU, that another computer system can run)</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625"/>
              </a:spcBef>
              <a:spcAft>
                <a:spcPts val="0"/>
              </a:spcAft>
              <a:buClr>
                <a:srgbClr val="FF0000"/>
              </a:buClr>
              <a:buSzPts val="2400"/>
              <a:buFont typeface="Arial"/>
              <a:buChar char="•"/>
            </a:pPr>
            <a:r>
              <a:rPr b="1" i="0" lang="en-US" sz="2400" u="none" cap="none" strike="noStrike">
                <a:solidFill>
                  <a:srgbClr val="FF0000"/>
                </a:solidFill>
                <a:latin typeface="Times New Roman"/>
                <a:ea typeface="Times New Roman"/>
                <a:cs typeface="Times New Roman"/>
                <a:sym typeface="Times New Roman"/>
              </a:rPr>
              <a:t>Organization </a:t>
            </a:r>
            <a:r>
              <a:rPr b="0" i="0" lang="en-US" sz="2400" u="none" cap="none" strike="noStrike">
                <a:solidFill>
                  <a:schemeClr val="dk1"/>
                </a:solidFill>
                <a:latin typeface="Times New Roman"/>
                <a:ea typeface="Times New Roman"/>
                <a:cs typeface="Times New Roman"/>
                <a:sym typeface="Times New Roman"/>
              </a:rPr>
              <a:t>differs between different versions</a:t>
            </a:r>
            <a:endParaRPr b="0" i="0" sz="2400" u="none" cap="none" strike="noStrike">
              <a:solidFill>
                <a:schemeClr val="dk1"/>
              </a:solidFill>
              <a:latin typeface="Times New Roman"/>
              <a:ea typeface="Times New Roman"/>
              <a:cs typeface="Times New Roman"/>
              <a:sym typeface="Times New Roman"/>
            </a:endParaRPr>
          </a:p>
          <a:p>
            <a:pPr indent="-190500" lvl="0" marL="355600" marR="0" rtl="0" algn="just">
              <a:lnSpc>
                <a:spcPct val="100000"/>
              </a:lnSpc>
              <a:spcBef>
                <a:spcPts val="1625"/>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62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LATEST VERSION OF PROCESSOR IN PC??</a:t>
            </a:r>
            <a:endParaRPr b="0" i="0" sz="2400" u="none" cap="none" strike="noStrike">
              <a:solidFill>
                <a:schemeClr val="dk1"/>
              </a:solidFill>
              <a:latin typeface="Times New Roman"/>
              <a:ea typeface="Times New Roman"/>
              <a:cs typeface="Times New Roman"/>
              <a:sym typeface="Times New Roman"/>
            </a:endParaRPr>
          </a:p>
        </p:txBody>
      </p:sp>
      <p:sp>
        <p:nvSpPr>
          <p:cNvPr id="165" name="Google Shape;165;p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609600" y="461595"/>
            <a:ext cx="7162800" cy="1214806"/>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000"/>
              <a:buFont typeface="Century Schoolbook"/>
              <a:buNone/>
            </a:pPr>
            <a:r>
              <a:rPr b="1" lang="en-US"/>
              <a:t>Basic Organization of Computer </a:t>
            </a:r>
            <a:br>
              <a:rPr lang="en-US"/>
            </a:br>
            <a:endParaRPr/>
          </a:p>
        </p:txBody>
      </p:sp>
      <p:sp>
        <p:nvSpPr>
          <p:cNvPr id="171" name="Google Shape;171;p8"/>
          <p:cNvSpPr txBox="1"/>
          <p:nvPr>
            <p:ph idx="1" type="body"/>
          </p:nvPr>
        </p:nvSpPr>
        <p:spPr>
          <a:xfrm>
            <a:off x="609600" y="1905000"/>
            <a:ext cx="6958965" cy="4080510"/>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pic>
        <p:nvPicPr>
          <p:cNvPr id="172" name="Google Shape;172;p8"/>
          <p:cNvPicPr preferRelativeResize="0"/>
          <p:nvPr/>
        </p:nvPicPr>
        <p:blipFill rotWithShape="1">
          <a:blip r:embed="rId3">
            <a:alphaModFix/>
          </a:blip>
          <a:srcRect b="0" l="0" r="0" t="0"/>
          <a:stretch/>
        </p:blipFill>
        <p:spPr>
          <a:xfrm>
            <a:off x="1295400" y="1828800"/>
            <a:ext cx="6013450" cy="3568700"/>
          </a:xfrm>
          <a:prstGeom prst="rect">
            <a:avLst/>
          </a:prstGeom>
          <a:noFill/>
          <a:ln>
            <a:noFill/>
          </a:ln>
        </p:spPr>
      </p:pic>
      <p:sp>
        <p:nvSpPr>
          <p:cNvPr id="173" name="Google Shape;173;p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type="title"/>
          </p:nvPr>
        </p:nvSpPr>
        <p:spPr>
          <a:xfrm>
            <a:off x="3505200" y="152400"/>
            <a:ext cx="2207259" cy="69723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179" name="Google Shape;179;p9"/>
          <p:cNvSpPr txBox="1"/>
          <p:nvPr>
            <p:ph idx="1" type="body"/>
          </p:nvPr>
        </p:nvSpPr>
        <p:spPr>
          <a:xfrm>
            <a:off x="533400" y="1371600"/>
            <a:ext cx="8077200" cy="4724400"/>
          </a:xfrm>
          <a:prstGeom prst="rect">
            <a:avLst/>
          </a:prstGeom>
          <a:noFill/>
          <a:ln>
            <a:noFill/>
          </a:ln>
        </p:spPr>
        <p:txBody>
          <a:bodyPr anchorCtr="0" anchor="t" bIns="45700" lIns="91425" spcFirstLastPara="1" rIns="91425" wrap="square" tIns="45700">
            <a:normAutofit lnSpcReduction="10000"/>
          </a:bodyPr>
          <a:lstStyle/>
          <a:p>
            <a:pPr indent="-457200" lvl="0" marL="457200" rtl="0" algn="l">
              <a:spcBef>
                <a:spcPts val="0"/>
              </a:spcBef>
              <a:spcAft>
                <a:spcPts val="0"/>
              </a:spcAft>
              <a:buSzPts val="1400"/>
              <a:buFont typeface="Arial"/>
              <a:buChar char="•"/>
            </a:pPr>
            <a:r>
              <a:rPr b="1" lang="en-US" sz="2000">
                <a:latin typeface="Times New Roman"/>
                <a:ea typeface="Times New Roman"/>
                <a:cs typeface="Times New Roman"/>
                <a:sym typeface="Times New Roman"/>
              </a:rPr>
              <a:t>Input Unit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With the help of input unit </a:t>
            </a:r>
            <a:r>
              <a:rPr b="1" lang="en-US" sz="2000">
                <a:latin typeface="Times New Roman"/>
                <a:ea typeface="Times New Roman"/>
                <a:cs typeface="Times New Roman"/>
                <a:sym typeface="Times New Roman"/>
              </a:rPr>
              <a:t>data from outside can be supplied to the computer</a:t>
            </a:r>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 Keyboard, Mouse, Hard disk, Floppy disk, CD-ROM drive etc.</a:t>
            </a:r>
            <a:endParaRPr/>
          </a:p>
          <a:p>
            <a:pPr indent="-368300" lvl="0" marL="457200" rtl="0" algn="just">
              <a:spcBef>
                <a:spcPts val="600"/>
              </a:spcBef>
              <a:spcAft>
                <a:spcPts val="0"/>
              </a:spcAft>
              <a:buSzPts val="1400"/>
              <a:buFont typeface="Arial"/>
              <a:buNone/>
            </a:pPr>
            <a:r>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b="1" lang="en-US" sz="2000">
                <a:latin typeface="Times New Roman"/>
                <a:ea typeface="Times New Roman"/>
                <a:cs typeface="Times New Roman"/>
                <a:sym typeface="Times New Roman"/>
              </a:rPr>
              <a:t>Memory Unit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The memory unit is used to </a:t>
            </a:r>
            <a:r>
              <a:rPr b="1" lang="en-US" sz="2000">
                <a:latin typeface="Times New Roman"/>
                <a:ea typeface="Times New Roman"/>
                <a:cs typeface="Times New Roman"/>
                <a:sym typeface="Times New Roman"/>
              </a:rPr>
              <a:t>store programs and data</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2 types-primary storage memory device and secondary storage memory device.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Primary memory is also known as </a:t>
            </a:r>
            <a:r>
              <a:rPr b="1" lang="en-US" sz="2000">
                <a:latin typeface="Times New Roman"/>
                <a:ea typeface="Times New Roman"/>
                <a:cs typeface="Times New Roman"/>
                <a:sym typeface="Times New Roman"/>
              </a:rPr>
              <a:t>Main memory or Internal memory</a:t>
            </a:r>
            <a:r>
              <a:rPr lang="en-US" sz="2000">
                <a:latin typeface="Times New Roman"/>
                <a:ea typeface="Times New Roman"/>
                <a:cs typeface="Times New Roman"/>
                <a:sym typeface="Times New Roman"/>
              </a:rPr>
              <a:t>-storage of programs and active data – </a:t>
            </a:r>
            <a:r>
              <a:rPr b="1" lang="en-US" sz="2000">
                <a:latin typeface="Times New Roman"/>
                <a:ea typeface="Times New Roman"/>
                <a:cs typeface="Times New Roman"/>
                <a:sym typeface="Times New Roman"/>
              </a:rPr>
              <a:t>semi-conductor memories</a:t>
            </a:r>
            <a:endParaRPr/>
          </a:p>
          <a:p>
            <a:pPr indent="-457200" lvl="1" marL="914400" rtl="0" algn="just">
              <a:spcBef>
                <a:spcPts val="400"/>
              </a:spcBef>
              <a:spcAft>
                <a:spcPts val="0"/>
              </a:spcAft>
              <a:buSzPts val="1600"/>
              <a:buFont typeface="Arial"/>
              <a:buChar char="•"/>
            </a:pPr>
            <a:r>
              <a:rPr lang="en-US" sz="2000">
                <a:latin typeface="Times New Roman"/>
                <a:ea typeface="Times New Roman"/>
                <a:cs typeface="Times New Roman"/>
                <a:sym typeface="Times New Roman"/>
              </a:rPr>
              <a:t>Volatile Memory          : RAM (Random Access Memory).</a:t>
            </a:r>
            <a:endParaRPr/>
          </a:p>
          <a:p>
            <a:pPr indent="-457200" lvl="1" marL="914400" rtl="0" algn="just">
              <a:spcBef>
                <a:spcPts val="400"/>
              </a:spcBef>
              <a:spcAft>
                <a:spcPts val="0"/>
              </a:spcAft>
              <a:buSzPts val="1600"/>
              <a:buFont typeface="Arial"/>
              <a:buChar char="•"/>
            </a:pPr>
            <a:r>
              <a:rPr lang="en-US" sz="2000">
                <a:latin typeface="Times New Roman"/>
                <a:ea typeface="Times New Roman"/>
                <a:cs typeface="Times New Roman"/>
                <a:sym typeface="Times New Roman"/>
              </a:rPr>
              <a:t>Non-Volatile Memory : ROM (Read only Memory),  PROM (Programmable ROM)                               </a:t>
            </a:r>
            <a:endParaRPr sz="2000">
              <a:latin typeface="Times New Roman"/>
              <a:ea typeface="Times New Roman"/>
              <a:cs typeface="Times New Roman"/>
              <a:sym typeface="Times New Roman"/>
            </a:endParaRPr>
          </a:p>
        </p:txBody>
      </p:sp>
      <p:sp>
        <p:nvSpPr>
          <p:cNvPr id="180" name="Google Shape;180;p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3505200" y="228600"/>
            <a:ext cx="2207259" cy="69723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186" name="Google Shape;186;p10"/>
          <p:cNvSpPr txBox="1"/>
          <p:nvPr>
            <p:ph idx="1" type="body"/>
          </p:nvPr>
        </p:nvSpPr>
        <p:spPr>
          <a:xfrm>
            <a:off x="381000" y="1143000"/>
            <a:ext cx="8229600" cy="4724400"/>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SzPts val="1400"/>
              <a:buFont typeface="Arial"/>
              <a:buChar char="•"/>
            </a:pPr>
            <a:r>
              <a:rPr lang="en-US" sz="2000">
                <a:latin typeface="Times New Roman"/>
                <a:ea typeface="Times New Roman"/>
                <a:cs typeface="Times New Roman"/>
                <a:sym typeface="Times New Roman"/>
              </a:rPr>
              <a:t>Secondary memory is also known as External memory or Auxiliary memory-</a:t>
            </a:r>
            <a:r>
              <a:rPr b="1" lang="en-US" sz="2000">
                <a:latin typeface="Times New Roman"/>
                <a:ea typeface="Times New Roman"/>
                <a:cs typeface="Times New Roman"/>
                <a:sym typeface="Times New Roman"/>
              </a:rPr>
              <a:t> non volatile memory</a:t>
            </a:r>
            <a:r>
              <a:rPr lang="en-US" sz="2000">
                <a:latin typeface="Times New Roman"/>
                <a:ea typeface="Times New Roman"/>
                <a:cs typeface="Times New Roman"/>
                <a:sym typeface="Times New Roman"/>
              </a:rPr>
              <a:t> and it is used for </a:t>
            </a:r>
            <a:r>
              <a:rPr b="1" lang="en-US" sz="2000">
                <a:latin typeface="Times New Roman"/>
                <a:ea typeface="Times New Roman"/>
                <a:cs typeface="Times New Roman"/>
                <a:sym typeface="Times New Roman"/>
              </a:rPr>
              <a:t>permanent storage of data and program.</a:t>
            </a:r>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 Examples: Hard Disk, Floppy Disk, Magnetic Tapes, etc</a:t>
            </a:r>
            <a:endParaRPr sz="2000">
              <a:latin typeface="Times New Roman"/>
              <a:ea typeface="Times New Roman"/>
              <a:cs typeface="Times New Roman"/>
              <a:sym typeface="Times New Roman"/>
            </a:endParaRPr>
          </a:p>
          <a:p>
            <a:pPr indent="-368300" lvl="0" marL="457200" rtl="0" algn="l">
              <a:spcBef>
                <a:spcPts val="600"/>
              </a:spcBef>
              <a:spcAft>
                <a:spcPts val="0"/>
              </a:spcAft>
              <a:buSzPts val="1400"/>
              <a:buFont typeface="Arial"/>
              <a:buNone/>
            </a:pPr>
            <a:r>
              <a:t/>
            </a:r>
            <a:endParaRPr sz="2000">
              <a:latin typeface="Times New Roman"/>
              <a:ea typeface="Times New Roman"/>
              <a:cs typeface="Times New Roman"/>
              <a:sym typeface="Times New Roman"/>
            </a:endParaRPr>
          </a:p>
          <a:p>
            <a:pPr indent="-457200" lvl="0" marL="457200" rtl="0" algn="just">
              <a:spcBef>
                <a:spcPts val="600"/>
              </a:spcBef>
              <a:spcAft>
                <a:spcPts val="0"/>
              </a:spcAft>
              <a:buSzPts val="1400"/>
              <a:buFont typeface="Arial"/>
              <a:buChar char="•"/>
            </a:pPr>
            <a:r>
              <a:rPr b="1" lang="en-US" sz="2000">
                <a:latin typeface="Times New Roman"/>
                <a:ea typeface="Times New Roman"/>
                <a:cs typeface="Times New Roman"/>
                <a:sym typeface="Times New Roman"/>
              </a:rPr>
              <a:t>Arithmetic and Logic Unit </a:t>
            </a:r>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responsible for </a:t>
            </a:r>
            <a:r>
              <a:rPr b="1" lang="en-US" sz="2000">
                <a:latin typeface="Times New Roman"/>
                <a:ea typeface="Times New Roman"/>
                <a:cs typeface="Times New Roman"/>
                <a:sym typeface="Times New Roman"/>
              </a:rPr>
              <a:t>performing arithmetic operations </a:t>
            </a:r>
            <a:r>
              <a:rPr lang="en-US" sz="2000">
                <a:latin typeface="Times New Roman"/>
                <a:ea typeface="Times New Roman"/>
                <a:cs typeface="Times New Roman"/>
                <a:sym typeface="Times New Roman"/>
              </a:rPr>
              <a:t>such as add, subtract, division and multiplication, and </a:t>
            </a:r>
            <a:r>
              <a:rPr b="1" lang="en-US" sz="2000">
                <a:latin typeface="Times New Roman"/>
                <a:ea typeface="Times New Roman"/>
                <a:cs typeface="Times New Roman"/>
                <a:sym typeface="Times New Roman"/>
              </a:rPr>
              <a:t>logical operations </a:t>
            </a:r>
            <a:r>
              <a:rPr lang="en-US" sz="2000">
                <a:latin typeface="Times New Roman"/>
                <a:ea typeface="Times New Roman"/>
                <a:cs typeface="Times New Roman"/>
                <a:sym typeface="Times New Roman"/>
              </a:rPr>
              <a:t>(such as ANDing, ORing, Inverting etc) </a:t>
            </a:r>
            <a:endParaRPr/>
          </a:p>
          <a:p>
            <a:pPr indent="-457200" lvl="0" marL="457200" rtl="0" algn="just">
              <a:spcBef>
                <a:spcPts val="600"/>
              </a:spcBef>
              <a:spcAft>
                <a:spcPts val="0"/>
              </a:spcAft>
              <a:buSzPts val="1400"/>
              <a:buFont typeface="Arial"/>
              <a:buChar char="•"/>
            </a:pPr>
            <a:r>
              <a:rPr lang="en-US" sz="2000">
                <a:latin typeface="Times New Roman"/>
                <a:ea typeface="Times New Roman"/>
                <a:cs typeface="Times New Roman"/>
                <a:sym typeface="Times New Roman"/>
              </a:rPr>
              <a:t>To perform these operations operands (object of mathematical operation) from the </a:t>
            </a:r>
            <a:r>
              <a:rPr b="1" lang="en-US" sz="2000">
                <a:latin typeface="Times New Roman"/>
                <a:ea typeface="Times New Roman"/>
                <a:cs typeface="Times New Roman"/>
                <a:sym typeface="Times New Roman"/>
              </a:rPr>
              <a:t>main memory</a:t>
            </a:r>
            <a:r>
              <a:rPr lang="en-US" sz="2000">
                <a:latin typeface="Times New Roman"/>
                <a:ea typeface="Times New Roman"/>
                <a:cs typeface="Times New Roman"/>
                <a:sym typeface="Times New Roman"/>
              </a:rPr>
              <a:t> are brought into high speed storage element called </a:t>
            </a:r>
            <a:r>
              <a:rPr b="1" lang="en-US" sz="2000">
                <a:latin typeface="Times New Roman"/>
                <a:ea typeface="Times New Roman"/>
                <a:cs typeface="Times New Roman"/>
                <a:sym typeface="Times New Roman"/>
              </a:rPr>
              <a:t>registers</a:t>
            </a:r>
            <a:r>
              <a:rPr lang="en-US" sz="2000">
                <a:latin typeface="Times New Roman"/>
                <a:ea typeface="Times New Roman"/>
                <a:cs typeface="Times New Roman"/>
                <a:sym typeface="Times New Roman"/>
              </a:rPr>
              <a:t> of the processor</a:t>
            </a:r>
            <a:endParaRPr sz="2000">
              <a:latin typeface="Times New Roman"/>
              <a:ea typeface="Times New Roman"/>
              <a:cs typeface="Times New Roman"/>
              <a:sym typeface="Times New Roman"/>
            </a:endParaRPr>
          </a:p>
        </p:txBody>
      </p:sp>
      <p:sp>
        <p:nvSpPr>
          <p:cNvPr id="187" name="Google Shape;187;p1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ph type="title"/>
          </p:nvPr>
        </p:nvSpPr>
        <p:spPr>
          <a:xfrm>
            <a:off x="3505200" y="152400"/>
            <a:ext cx="2207259" cy="69723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193" name="Google Shape;193;p11"/>
          <p:cNvSpPr txBox="1"/>
          <p:nvPr>
            <p:ph idx="1" type="body"/>
          </p:nvPr>
        </p:nvSpPr>
        <p:spPr>
          <a:xfrm>
            <a:off x="304800" y="838200"/>
            <a:ext cx="8458200" cy="5909310"/>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spcBef>
                <a:spcPts val="0"/>
              </a:spcBef>
              <a:spcAft>
                <a:spcPts val="0"/>
              </a:spcAft>
              <a:buSzPts val="1680"/>
              <a:buFont typeface="Arial"/>
              <a:buChar char="•"/>
            </a:pPr>
            <a:r>
              <a:rPr b="1" lang="en-US" sz="2400">
                <a:latin typeface="Times New Roman"/>
                <a:ea typeface="Times New Roman"/>
                <a:cs typeface="Times New Roman"/>
                <a:sym typeface="Times New Roman"/>
              </a:rPr>
              <a:t>Output Unit </a:t>
            </a:r>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The output unit </a:t>
            </a:r>
            <a:r>
              <a:rPr b="1" lang="en-US" sz="2400">
                <a:latin typeface="Times New Roman"/>
                <a:ea typeface="Times New Roman"/>
                <a:cs typeface="Times New Roman"/>
                <a:sym typeface="Times New Roman"/>
              </a:rPr>
              <a:t>sends the processed results to the user using output devices</a:t>
            </a:r>
            <a:r>
              <a:rPr lang="en-US" sz="2400">
                <a:latin typeface="Times New Roman"/>
                <a:ea typeface="Times New Roman"/>
                <a:cs typeface="Times New Roman"/>
                <a:sym typeface="Times New Roman"/>
              </a:rPr>
              <a:t> such as video monitor, printer, plotter, etc </a:t>
            </a:r>
            <a:endParaRPr/>
          </a:p>
          <a:p>
            <a:pPr indent="-350520" lvl="0" marL="457200" rtl="0" algn="just">
              <a:spcBef>
                <a:spcPts val="600"/>
              </a:spcBef>
              <a:spcAft>
                <a:spcPts val="0"/>
              </a:spcAft>
              <a:buSzPts val="1680"/>
              <a:buFont typeface="Arial"/>
              <a:buNone/>
            </a:pPr>
            <a:r>
              <a:t/>
            </a:r>
            <a:endParaRPr sz="2400">
              <a:latin typeface="Times New Roman"/>
              <a:ea typeface="Times New Roman"/>
              <a:cs typeface="Times New Roman"/>
              <a:sym typeface="Times New Roman"/>
            </a:endParaRPr>
          </a:p>
          <a:p>
            <a:pPr indent="-350520" lvl="0" marL="457200" rtl="0" algn="just">
              <a:spcBef>
                <a:spcPts val="600"/>
              </a:spcBef>
              <a:spcAft>
                <a:spcPts val="0"/>
              </a:spcAft>
              <a:buSzPts val="1680"/>
              <a:buFont typeface="Arial"/>
              <a:buNone/>
            </a:pPr>
            <a:r>
              <a:t/>
            </a:r>
            <a:endParaRPr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b="1" lang="en-US" sz="2400">
                <a:latin typeface="Times New Roman"/>
                <a:ea typeface="Times New Roman"/>
                <a:cs typeface="Times New Roman"/>
                <a:sym typeface="Times New Roman"/>
              </a:rPr>
              <a:t>Control unit </a:t>
            </a:r>
            <a:endParaRPr b="1"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lang="en-US" sz="2400">
                <a:solidFill>
                  <a:srgbClr val="FF0000"/>
                </a:solidFill>
                <a:latin typeface="Times New Roman"/>
                <a:ea typeface="Times New Roman"/>
                <a:cs typeface="Times New Roman"/>
                <a:sym typeface="Times New Roman"/>
              </a:rPr>
              <a:t>co-ordinates and controls the activities </a:t>
            </a:r>
            <a:r>
              <a:rPr lang="en-US" sz="2400">
                <a:latin typeface="Times New Roman"/>
                <a:ea typeface="Times New Roman"/>
                <a:cs typeface="Times New Roman"/>
                <a:sym typeface="Times New Roman"/>
              </a:rPr>
              <a:t>amongst the functional units.</a:t>
            </a:r>
            <a:endParaRPr/>
          </a:p>
          <a:p>
            <a:pPr indent="-457200" lvl="0" marL="457200" rtl="0" algn="just">
              <a:spcBef>
                <a:spcPts val="600"/>
              </a:spcBef>
              <a:spcAft>
                <a:spcPts val="0"/>
              </a:spcAft>
              <a:buSzPts val="1680"/>
              <a:buFont typeface="Arial"/>
              <a:buChar char="•"/>
            </a:pPr>
            <a:r>
              <a:rPr lang="en-US" sz="2400">
                <a:solidFill>
                  <a:srgbClr val="FF0000"/>
                </a:solidFill>
                <a:latin typeface="Times New Roman"/>
                <a:ea typeface="Times New Roman"/>
                <a:cs typeface="Times New Roman"/>
                <a:sym typeface="Times New Roman"/>
              </a:rPr>
              <a:t>fetch the instructions </a:t>
            </a:r>
            <a:r>
              <a:rPr lang="en-US" sz="2400">
                <a:latin typeface="Times New Roman"/>
                <a:ea typeface="Times New Roman"/>
                <a:cs typeface="Times New Roman"/>
                <a:sym typeface="Times New Roman"/>
              </a:rPr>
              <a:t>stored in the main memory, </a:t>
            </a:r>
            <a:r>
              <a:rPr lang="en-US" sz="2400">
                <a:solidFill>
                  <a:srgbClr val="FF0000"/>
                </a:solidFill>
                <a:latin typeface="Times New Roman"/>
                <a:ea typeface="Times New Roman"/>
                <a:cs typeface="Times New Roman"/>
                <a:sym typeface="Times New Roman"/>
              </a:rPr>
              <a:t>identify the operations and the devices </a:t>
            </a:r>
            <a:r>
              <a:rPr lang="en-US" sz="2400">
                <a:latin typeface="Times New Roman"/>
                <a:ea typeface="Times New Roman"/>
                <a:cs typeface="Times New Roman"/>
                <a:sym typeface="Times New Roman"/>
              </a:rPr>
              <a:t>involved in it, and accordingly </a:t>
            </a:r>
            <a:r>
              <a:rPr lang="en-US" sz="2400">
                <a:solidFill>
                  <a:srgbClr val="FF0000"/>
                </a:solidFill>
                <a:latin typeface="Times New Roman"/>
                <a:ea typeface="Times New Roman"/>
                <a:cs typeface="Times New Roman"/>
                <a:sym typeface="Times New Roman"/>
              </a:rPr>
              <a:t>generate control signals </a:t>
            </a:r>
            <a:r>
              <a:rPr lang="en-US" sz="2400">
                <a:latin typeface="Times New Roman"/>
                <a:ea typeface="Times New Roman"/>
                <a:cs typeface="Times New Roman"/>
                <a:sym typeface="Times New Roman"/>
              </a:rPr>
              <a:t>to execute the desired operations.</a:t>
            </a:r>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Has a </a:t>
            </a:r>
            <a:r>
              <a:rPr lang="en-US" sz="2400">
                <a:solidFill>
                  <a:srgbClr val="FF0000"/>
                </a:solidFill>
                <a:latin typeface="Times New Roman"/>
                <a:ea typeface="Times New Roman"/>
                <a:cs typeface="Times New Roman"/>
                <a:sym typeface="Times New Roman"/>
              </a:rPr>
              <a:t>set of registers and control circuit </a:t>
            </a:r>
            <a:r>
              <a:rPr lang="en-US" sz="2400">
                <a:latin typeface="Times New Roman"/>
                <a:ea typeface="Times New Roman"/>
                <a:cs typeface="Times New Roman"/>
                <a:sym typeface="Times New Roman"/>
              </a:rPr>
              <a:t>to generate control signals. </a:t>
            </a:r>
            <a:endParaRPr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The arithmetic and logic unit in conjunction with control unit is commonly called </a:t>
            </a:r>
            <a:r>
              <a:rPr lang="en-US" sz="2400">
                <a:solidFill>
                  <a:srgbClr val="FF0000"/>
                </a:solidFill>
                <a:latin typeface="Times New Roman"/>
                <a:ea typeface="Times New Roman"/>
                <a:cs typeface="Times New Roman"/>
                <a:sym typeface="Times New Roman"/>
              </a:rPr>
              <a:t>Central Processing Unit (CPU).</a:t>
            </a:r>
            <a:endParaRPr/>
          </a:p>
          <a:p>
            <a:pPr indent="-350520" lvl="0" marL="457200" rtl="0" algn="just">
              <a:spcBef>
                <a:spcPts val="600"/>
              </a:spcBef>
              <a:spcAft>
                <a:spcPts val="0"/>
              </a:spcAft>
              <a:buSzPts val="1680"/>
              <a:buFont typeface="Arial"/>
              <a:buNone/>
            </a:pPr>
            <a:r>
              <a:t/>
            </a:r>
            <a:endParaRPr sz="2400">
              <a:latin typeface="Times New Roman"/>
              <a:ea typeface="Times New Roman"/>
              <a:cs typeface="Times New Roman"/>
              <a:sym typeface="Times New Roman"/>
            </a:endParaRPr>
          </a:p>
        </p:txBody>
      </p:sp>
      <p:sp>
        <p:nvSpPr>
          <p:cNvPr id="194" name="Google Shape;194;p1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2"/>
          <p:cNvSpPr txBox="1"/>
          <p:nvPr>
            <p:ph type="title"/>
          </p:nvPr>
        </p:nvSpPr>
        <p:spPr>
          <a:xfrm>
            <a:off x="3468370" y="461594"/>
            <a:ext cx="3923030" cy="69723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200" name="Google Shape;200;p12"/>
          <p:cNvSpPr txBox="1"/>
          <p:nvPr>
            <p:ph idx="1" type="body"/>
          </p:nvPr>
        </p:nvSpPr>
        <p:spPr>
          <a:xfrm>
            <a:off x="186639" y="1069594"/>
            <a:ext cx="8500161" cy="5170646"/>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SzPts val="1680"/>
              <a:buFont typeface="Arial"/>
              <a:buChar char="•"/>
            </a:pPr>
            <a:r>
              <a:rPr lang="en-US" sz="2400">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input unit accepts the digital information </a:t>
            </a:r>
            <a:r>
              <a:rPr lang="en-US" sz="2400">
                <a:latin typeface="Times New Roman"/>
                <a:ea typeface="Times New Roman"/>
                <a:cs typeface="Times New Roman"/>
                <a:sym typeface="Times New Roman"/>
              </a:rPr>
              <a:t>from user with the help of input devices such as keyboard, mouse, microphone etc. </a:t>
            </a:r>
            <a:endParaRPr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The information received from the </a:t>
            </a:r>
            <a:r>
              <a:rPr lang="en-US" sz="2400">
                <a:solidFill>
                  <a:srgbClr val="FF0000"/>
                </a:solidFill>
                <a:latin typeface="Times New Roman"/>
                <a:ea typeface="Times New Roman"/>
                <a:cs typeface="Times New Roman"/>
                <a:sym typeface="Times New Roman"/>
              </a:rPr>
              <a:t>arithmetic and logic unit </a:t>
            </a:r>
            <a:r>
              <a:rPr lang="en-US" sz="2400">
                <a:latin typeface="Times New Roman"/>
                <a:ea typeface="Times New Roman"/>
                <a:cs typeface="Times New Roman"/>
                <a:sym typeface="Times New Roman"/>
              </a:rPr>
              <a:t>to perform the desired operation. </a:t>
            </a:r>
            <a:endParaRPr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program stored in the memory decides the processing steps and the processed output is sent to the user with the help of output devices or it is stored in the memory </a:t>
            </a:r>
            <a:r>
              <a:rPr lang="en-US" sz="2400">
                <a:latin typeface="Times New Roman"/>
                <a:ea typeface="Times New Roman"/>
                <a:cs typeface="Times New Roman"/>
                <a:sym typeface="Times New Roman"/>
              </a:rPr>
              <a:t>for later reference. </a:t>
            </a:r>
            <a:endParaRPr sz="2400">
              <a:latin typeface="Times New Roman"/>
              <a:ea typeface="Times New Roman"/>
              <a:cs typeface="Times New Roman"/>
              <a:sym typeface="Times New Roman"/>
            </a:endParaRPr>
          </a:p>
          <a:p>
            <a:pPr indent="-457200" lvl="0" marL="457200" rtl="0" algn="just">
              <a:spcBef>
                <a:spcPts val="600"/>
              </a:spcBef>
              <a:spcAft>
                <a:spcPts val="0"/>
              </a:spcAft>
              <a:buSzPts val="1680"/>
              <a:buFont typeface="Arial"/>
              <a:buChar char="•"/>
            </a:pPr>
            <a:r>
              <a:rPr lang="en-US" sz="2400">
                <a:latin typeface="Times New Roman"/>
                <a:ea typeface="Times New Roman"/>
                <a:cs typeface="Times New Roman"/>
                <a:sym typeface="Times New Roman"/>
              </a:rPr>
              <a:t>All the above mentioned activities are </a:t>
            </a:r>
            <a:r>
              <a:rPr lang="en-US" sz="2400">
                <a:solidFill>
                  <a:srgbClr val="FF0000"/>
                </a:solidFill>
                <a:latin typeface="Times New Roman"/>
                <a:ea typeface="Times New Roman"/>
                <a:cs typeface="Times New Roman"/>
                <a:sym typeface="Times New Roman"/>
              </a:rPr>
              <a:t>coordinated and controlled by the control unit. </a:t>
            </a:r>
            <a:endParaRPr sz="2400">
              <a:solidFill>
                <a:srgbClr val="FF0000"/>
              </a:solidFill>
              <a:latin typeface="Times New Roman"/>
              <a:ea typeface="Times New Roman"/>
              <a:cs typeface="Times New Roman"/>
              <a:sym typeface="Times New Roman"/>
            </a:endParaRPr>
          </a:p>
          <a:p>
            <a:pPr indent="-350520" lvl="0" marL="457200" rtl="0" algn="l">
              <a:spcBef>
                <a:spcPts val="600"/>
              </a:spcBef>
              <a:spcAft>
                <a:spcPts val="0"/>
              </a:spcAft>
              <a:buSzPts val="1680"/>
              <a:buFont typeface="Arial"/>
              <a:buNone/>
            </a:pPr>
            <a:r>
              <a:t/>
            </a:r>
            <a:endParaRPr sz="2400">
              <a:latin typeface="Times New Roman"/>
              <a:ea typeface="Times New Roman"/>
              <a:cs typeface="Times New Roman"/>
              <a:sym typeface="Times New Roman"/>
            </a:endParaRPr>
          </a:p>
        </p:txBody>
      </p:sp>
      <p:sp>
        <p:nvSpPr>
          <p:cNvPr id="201" name="Google Shape;201;p1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5" name="Shape 205"/>
        <p:cNvGrpSpPr/>
        <p:nvPr/>
      </p:nvGrpSpPr>
      <p:grpSpPr>
        <a:xfrm>
          <a:off x="0" y="0"/>
          <a:ext cx="0" cy="0"/>
          <a:chOff x="0" y="0"/>
          <a:chExt cx="0" cy="0"/>
        </a:xfrm>
      </p:grpSpPr>
      <p:sp>
        <p:nvSpPr>
          <p:cNvPr id="206" name="Google Shape;206;p13"/>
          <p:cNvSpPr txBox="1"/>
          <p:nvPr>
            <p:ph type="title"/>
          </p:nvPr>
        </p:nvSpPr>
        <p:spPr>
          <a:xfrm>
            <a:off x="2438400" y="304800"/>
            <a:ext cx="476186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Structure &amp; Function</a:t>
            </a:r>
            <a:endParaRPr/>
          </a:p>
        </p:txBody>
      </p:sp>
      <p:sp>
        <p:nvSpPr>
          <p:cNvPr id="207" name="Google Shape;207;p13"/>
          <p:cNvSpPr txBox="1"/>
          <p:nvPr/>
        </p:nvSpPr>
        <p:spPr>
          <a:xfrm>
            <a:off x="762000" y="1371600"/>
            <a:ext cx="7848600" cy="1593385"/>
          </a:xfrm>
          <a:prstGeom prst="rect">
            <a:avLst/>
          </a:prstGeom>
          <a:noFill/>
          <a:ln>
            <a:noFill/>
          </a:ln>
        </p:spPr>
        <p:txBody>
          <a:bodyPr anchorCtr="0" anchor="t" bIns="0" lIns="0" spcFirstLastPara="1" rIns="0" wrap="square" tIns="13325">
            <a:spAutoFit/>
          </a:bodyPr>
          <a:lstStyle/>
          <a:p>
            <a:pPr indent="-343535" lvl="0" marL="355600" marR="0" rtl="0" algn="just">
              <a:lnSpc>
                <a:spcPct val="100000"/>
              </a:lnSpc>
              <a:spcBef>
                <a:spcPts val="0"/>
              </a:spcBef>
              <a:spcAft>
                <a:spcPts val="0"/>
              </a:spcAft>
              <a:buClr>
                <a:srgbClr val="FF0000"/>
              </a:buClr>
              <a:buSzPts val="2400"/>
              <a:buFont typeface="Arial"/>
              <a:buChar char="•"/>
            </a:pPr>
            <a:r>
              <a:rPr b="1" i="0" lang="en-US" sz="2400" u="none" cap="none" strike="noStrike">
                <a:solidFill>
                  <a:srgbClr val="FF0000"/>
                </a:solidFill>
                <a:latin typeface="Times New Roman"/>
                <a:ea typeface="Times New Roman"/>
                <a:cs typeface="Times New Roman"/>
                <a:sym typeface="Times New Roman"/>
              </a:rPr>
              <a:t>Structure </a:t>
            </a:r>
            <a:r>
              <a:rPr b="0" i="0" lang="en-US" sz="2400" u="none" cap="none" strike="noStrike">
                <a:solidFill>
                  <a:schemeClr val="dk1"/>
                </a:solidFill>
                <a:latin typeface="Times New Roman"/>
                <a:ea typeface="Times New Roman"/>
                <a:cs typeface="Times New Roman"/>
                <a:sym typeface="Times New Roman"/>
              </a:rPr>
              <a:t>is the way in which </a:t>
            </a:r>
            <a:r>
              <a:rPr b="1" i="0" lang="en-US" sz="2400" u="none" cap="none" strike="noStrike">
                <a:solidFill>
                  <a:schemeClr val="dk1"/>
                </a:solidFill>
                <a:latin typeface="Times New Roman"/>
                <a:ea typeface="Times New Roman"/>
                <a:cs typeface="Times New Roman"/>
                <a:sym typeface="Times New Roman"/>
              </a:rPr>
              <a:t>components relate </a:t>
            </a:r>
            <a:r>
              <a:rPr b="0" i="0" lang="en-US" sz="2400" u="none" cap="none" strike="noStrike">
                <a:solidFill>
                  <a:schemeClr val="dk1"/>
                </a:solidFill>
                <a:latin typeface="Times New Roman"/>
                <a:ea typeface="Times New Roman"/>
                <a:cs typeface="Times New Roman"/>
                <a:sym typeface="Times New Roman"/>
              </a:rPr>
              <a:t>to each other</a:t>
            </a:r>
            <a:endParaRPr b="0" i="0" sz="2400" u="none" cap="none" strike="noStrike">
              <a:solidFill>
                <a:schemeClr val="dk1"/>
              </a:solidFill>
              <a:latin typeface="Times New Roman"/>
              <a:ea typeface="Times New Roman"/>
              <a:cs typeface="Times New Roman"/>
              <a:sym typeface="Times New Roman"/>
            </a:endParaRPr>
          </a:p>
          <a:p>
            <a:pPr indent="-343535" lvl="0" marL="355600" marR="651510" rtl="0" algn="just">
              <a:spcBef>
                <a:spcPts val="760"/>
              </a:spcBef>
              <a:spcAft>
                <a:spcPts val="0"/>
              </a:spcAft>
              <a:buClr>
                <a:srgbClr val="FF0000"/>
              </a:buClr>
              <a:buSzPts val="2400"/>
              <a:buFont typeface="Arial"/>
              <a:buChar char="•"/>
            </a:pPr>
            <a:r>
              <a:rPr b="1" i="0" lang="en-US" sz="2400" u="none" cap="none" strike="noStrike">
                <a:solidFill>
                  <a:srgbClr val="FF0000"/>
                </a:solidFill>
                <a:latin typeface="Times New Roman"/>
                <a:ea typeface="Times New Roman"/>
                <a:cs typeface="Times New Roman"/>
                <a:sym typeface="Times New Roman"/>
              </a:rPr>
              <a:t>Function </a:t>
            </a:r>
            <a:r>
              <a:rPr b="0" i="0" lang="en-US" sz="2400" u="none" cap="none" strike="noStrike">
                <a:solidFill>
                  <a:schemeClr val="dk1"/>
                </a:solidFill>
                <a:latin typeface="Times New Roman"/>
                <a:ea typeface="Times New Roman"/>
                <a:cs typeface="Times New Roman"/>
                <a:sym typeface="Times New Roman"/>
              </a:rPr>
              <a:t>is the </a:t>
            </a:r>
            <a:r>
              <a:rPr b="1" i="0" lang="en-US" sz="2400" u="none" cap="none" strike="noStrike">
                <a:solidFill>
                  <a:schemeClr val="dk1"/>
                </a:solidFill>
                <a:latin typeface="Times New Roman"/>
                <a:ea typeface="Times New Roman"/>
                <a:cs typeface="Times New Roman"/>
                <a:sym typeface="Times New Roman"/>
              </a:rPr>
              <a:t>operation of individual  components </a:t>
            </a:r>
            <a:r>
              <a:rPr b="0" i="0" lang="en-US" sz="2400" u="none" cap="none" strike="noStrike">
                <a:solidFill>
                  <a:schemeClr val="dk1"/>
                </a:solidFill>
                <a:latin typeface="Times New Roman"/>
                <a:ea typeface="Times New Roman"/>
                <a:cs typeface="Times New Roman"/>
                <a:sym typeface="Times New Roman"/>
              </a:rPr>
              <a:t>as part of the structure</a:t>
            </a:r>
            <a:endParaRPr b="0" i="0" sz="2400" u="none" cap="none" strike="noStrike">
              <a:solidFill>
                <a:schemeClr val="dk1"/>
              </a:solidFill>
              <a:latin typeface="Times New Roman"/>
              <a:ea typeface="Times New Roman"/>
              <a:cs typeface="Times New Roman"/>
              <a:sym typeface="Times New Roman"/>
            </a:endParaRPr>
          </a:p>
        </p:txBody>
      </p:sp>
      <p:sp>
        <p:nvSpPr>
          <p:cNvPr id="208" name="Google Shape;208;p1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2700401" y="228600"/>
            <a:ext cx="3659504"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Functional View</a:t>
            </a:r>
            <a:endParaRPr/>
          </a:p>
        </p:txBody>
      </p:sp>
      <p:pic>
        <p:nvPicPr>
          <p:cNvPr id="214" name="Google Shape;214;p14"/>
          <p:cNvPicPr preferRelativeResize="0"/>
          <p:nvPr/>
        </p:nvPicPr>
        <p:blipFill rotWithShape="1">
          <a:blip r:embed="rId3">
            <a:alphaModFix/>
          </a:blip>
          <a:srcRect b="0" l="0" r="0" t="0"/>
          <a:stretch/>
        </p:blipFill>
        <p:spPr>
          <a:xfrm>
            <a:off x="2895600" y="990600"/>
            <a:ext cx="3190875" cy="5791196"/>
          </a:xfrm>
          <a:prstGeom prst="rect">
            <a:avLst/>
          </a:prstGeom>
          <a:noFill/>
          <a:ln>
            <a:noFill/>
          </a:ln>
        </p:spPr>
      </p:pic>
      <p:sp>
        <p:nvSpPr>
          <p:cNvPr id="215" name="Google Shape;215;p1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9" name="Shape 219"/>
        <p:cNvGrpSpPr/>
        <p:nvPr/>
      </p:nvGrpSpPr>
      <p:grpSpPr>
        <a:xfrm>
          <a:off x="0" y="0"/>
          <a:ext cx="0" cy="0"/>
          <a:chOff x="0" y="0"/>
          <a:chExt cx="0" cy="0"/>
        </a:xfrm>
      </p:grpSpPr>
      <p:sp>
        <p:nvSpPr>
          <p:cNvPr id="220" name="Google Shape;220;p15"/>
          <p:cNvSpPr txBox="1"/>
          <p:nvPr>
            <p:ph type="title"/>
          </p:nvPr>
        </p:nvSpPr>
        <p:spPr>
          <a:xfrm>
            <a:off x="2900045" y="152400"/>
            <a:ext cx="3648710" cy="475130"/>
          </a:xfrm>
          <a:prstGeom prst="rect">
            <a:avLst/>
          </a:prstGeom>
          <a:noFill/>
          <a:ln>
            <a:noFill/>
          </a:ln>
        </p:spPr>
        <p:txBody>
          <a:bodyPr anchorCtr="0" anchor="b" bIns="0" lIns="0" spcFirstLastPara="1" rIns="0" wrap="square" tIns="13325">
            <a:spAutoFit/>
          </a:bodyPr>
          <a:lstStyle/>
          <a:p>
            <a:pPr indent="0" lvl="0" marL="12700" rtl="0" algn="ctr">
              <a:lnSpc>
                <a:spcPct val="100000"/>
              </a:lnSpc>
              <a:spcBef>
                <a:spcPts val="0"/>
              </a:spcBef>
              <a:spcAft>
                <a:spcPts val="0"/>
              </a:spcAft>
              <a:buClr>
                <a:srgbClr val="FF0000"/>
              </a:buClr>
              <a:buSzPts val="3000"/>
              <a:buFont typeface="Times New Roman"/>
              <a:buNone/>
            </a:pPr>
            <a:r>
              <a:rPr b="1" lang="en-US">
                <a:solidFill>
                  <a:srgbClr val="FF0000"/>
                </a:solidFill>
                <a:latin typeface="Times New Roman"/>
                <a:ea typeface="Times New Roman"/>
                <a:cs typeface="Times New Roman"/>
                <a:sym typeface="Times New Roman"/>
              </a:rPr>
              <a:t>Function</a:t>
            </a:r>
            <a:endParaRPr/>
          </a:p>
        </p:txBody>
      </p:sp>
      <p:sp>
        <p:nvSpPr>
          <p:cNvPr id="221" name="Google Shape;221;p15"/>
          <p:cNvSpPr txBox="1"/>
          <p:nvPr/>
        </p:nvSpPr>
        <p:spPr>
          <a:xfrm>
            <a:off x="304800" y="914400"/>
            <a:ext cx="8534400" cy="5183470"/>
          </a:xfrm>
          <a:prstGeom prst="rect">
            <a:avLst/>
          </a:prstGeom>
          <a:noFill/>
          <a:ln>
            <a:noFill/>
          </a:ln>
        </p:spPr>
        <p:txBody>
          <a:bodyPr anchorCtr="0" anchor="t" bIns="0" lIns="0" spcFirstLastPara="1" rIns="0" wrap="square" tIns="12700">
            <a:spAutoFit/>
          </a:bodyPr>
          <a:lstStyle/>
          <a:p>
            <a:pPr indent="-274320" lvl="0" marL="28702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All computer </a:t>
            </a:r>
            <a:r>
              <a:rPr b="1" i="0" lang="en-US" sz="2400" u="none" cap="none" strike="noStrike">
                <a:solidFill>
                  <a:srgbClr val="FF0000"/>
                </a:solidFill>
                <a:latin typeface="Times New Roman"/>
                <a:ea typeface="Times New Roman"/>
                <a:cs typeface="Times New Roman"/>
                <a:sym typeface="Times New Roman"/>
              </a:rPr>
              <a:t>functions </a:t>
            </a:r>
            <a:r>
              <a:rPr b="0" i="0" lang="en-US" sz="2400" u="none" cap="none" strike="noStrike">
                <a:solidFill>
                  <a:schemeClr val="dk1"/>
                </a:solidFill>
                <a:latin typeface="Times New Roman"/>
                <a:ea typeface="Times New Roman"/>
                <a:cs typeface="Times New Roman"/>
                <a:sym typeface="Times New Roman"/>
              </a:rPr>
              <a:t>are:</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accent3"/>
              </a:buClr>
              <a:buSzPts val="2400"/>
              <a:buFont typeface="Arial"/>
              <a:buChar char="•"/>
            </a:pPr>
            <a:r>
              <a:rPr b="0" i="0" lang="en-US" sz="2400" u="none" cap="none" strike="noStrike">
                <a:solidFill>
                  <a:schemeClr val="accent3"/>
                </a:solidFill>
                <a:latin typeface="Times New Roman"/>
                <a:ea typeface="Times New Roman"/>
                <a:cs typeface="Times New Roman"/>
                <a:sym typeface="Times New Roman"/>
              </a:rPr>
              <a:t>Data processing</a:t>
            </a:r>
            <a:r>
              <a:rPr b="0" i="0" lang="en-US" sz="2400" u="none" cap="none" strike="noStrike">
                <a:solidFill>
                  <a:schemeClr val="dk1"/>
                </a:solidFill>
                <a:latin typeface="Times New Roman"/>
                <a:ea typeface="Times New Roman"/>
                <a:cs typeface="Times New Roman"/>
                <a:sym typeface="Times New Roman"/>
              </a:rPr>
              <a:t>-wide variety of data and processing</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accent3"/>
              </a:buClr>
              <a:buSzPts val="2400"/>
              <a:buFont typeface="Arial"/>
              <a:buChar char="•"/>
            </a:pPr>
            <a:r>
              <a:rPr b="0" i="0" lang="en-US" sz="2400" u="none" cap="none" strike="noStrike">
                <a:solidFill>
                  <a:schemeClr val="accent3"/>
                </a:solidFill>
                <a:latin typeface="Times New Roman"/>
                <a:ea typeface="Times New Roman"/>
                <a:cs typeface="Times New Roman"/>
                <a:sym typeface="Times New Roman"/>
              </a:rPr>
              <a:t>Data storage</a:t>
            </a:r>
            <a:r>
              <a:rPr b="0" i="0" lang="en-US" sz="2400" u="none" cap="none" strike="noStrike">
                <a:solidFill>
                  <a:schemeClr val="dk1"/>
                </a:solidFill>
                <a:latin typeface="Times New Roman"/>
                <a:ea typeface="Times New Roman"/>
                <a:cs typeface="Times New Roman"/>
                <a:sym typeface="Times New Roman"/>
              </a:rPr>
              <a:t>-Files of data are stored on the computer for subsequent retrieval and update</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accent3"/>
              </a:buClr>
              <a:buSzPts val="2400"/>
              <a:buFont typeface="Arial"/>
              <a:buChar char="•"/>
            </a:pPr>
            <a:r>
              <a:rPr b="0" i="0" lang="en-US" sz="2400" u="none" cap="none" strike="noStrike">
                <a:solidFill>
                  <a:schemeClr val="accent3"/>
                </a:solidFill>
                <a:latin typeface="Times New Roman"/>
                <a:ea typeface="Times New Roman"/>
                <a:cs typeface="Times New Roman"/>
                <a:sym typeface="Times New Roman"/>
              </a:rPr>
              <a:t>Data movement</a:t>
            </a:r>
            <a:r>
              <a:rPr b="0" i="0" lang="en-US" sz="2400" u="none" cap="none" strike="noStrike">
                <a:solidFill>
                  <a:schemeClr val="dk1"/>
                </a:solidFill>
                <a:latin typeface="Times New Roman"/>
                <a:ea typeface="Times New Roman"/>
                <a:cs typeface="Times New Roman"/>
                <a:sym typeface="Times New Roman"/>
              </a:rPr>
              <a:t>- computer serve as sources or destinations of data-</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When data are received from or delivered to a device that is directly connected to the computer, the process is known as </a:t>
            </a:r>
            <a:r>
              <a:rPr b="1" i="0" lang="en-US" sz="2400" u="none" cap="none" strike="noStrike">
                <a:solidFill>
                  <a:schemeClr val="dk1"/>
                </a:solidFill>
                <a:latin typeface="Times New Roman"/>
                <a:ea typeface="Times New Roman"/>
                <a:cs typeface="Times New Roman"/>
                <a:sym typeface="Times New Roman"/>
              </a:rPr>
              <a:t>input–output (I/O), and the device is referred to as a peripheral. </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When data are moved over longer distances, to or from a remote device, the process is known as </a:t>
            </a:r>
            <a:r>
              <a:rPr b="1" i="0" lang="en-US" sz="2400" u="none" cap="none" strike="noStrike">
                <a:solidFill>
                  <a:schemeClr val="dk1"/>
                </a:solidFill>
                <a:latin typeface="Times New Roman"/>
                <a:ea typeface="Times New Roman"/>
                <a:cs typeface="Times New Roman"/>
                <a:sym typeface="Times New Roman"/>
              </a:rPr>
              <a:t>data communications.</a:t>
            </a:r>
            <a:endParaRPr b="1"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accent3"/>
              </a:buClr>
              <a:buSzPts val="2400"/>
              <a:buFont typeface="Arial"/>
              <a:buChar char="•"/>
            </a:pPr>
            <a:r>
              <a:rPr b="0" i="0" lang="en-US" sz="2400" u="none" cap="none" strike="noStrike">
                <a:solidFill>
                  <a:schemeClr val="accent3"/>
                </a:solidFill>
                <a:latin typeface="Times New Roman"/>
                <a:ea typeface="Times New Roman"/>
                <a:cs typeface="Times New Roman"/>
                <a:sym typeface="Times New Roman"/>
              </a:rPr>
              <a:t>Control</a:t>
            </a:r>
            <a:r>
              <a:rPr b="0" i="0" lang="en-US" sz="2400" u="none" cap="none" strike="noStrike">
                <a:solidFill>
                  <a:schemeClr val="dk1"/>
                </a:solidFill>
                <a:latin typeface="Times New Roman"/>
                <a:ea typeface="Times New Roman"/>
                <a:cs typeface="Times New Roman"/>
                <a:sym typeface="Times New Roman"/>
              </a:rPr>
              <a:t>-control unit </a:t>
            </a:r>
            <a:r>
              <a:rPr b="1" i="0" lang="en-US" sz="2400" u="none" cap="none" strike="noStrike">
                <a:solidFill>
                  <a:schemeClr val="dk1"/>
                </a:solidFill>
                <a:latin typeface="Times New Roman"/>
                <a:ea typeface="Times New Roman"/>
                <a:cs typeface="Times New Roman"/>
                <a:sym typeface="Times New Roman"/>
              </a:rPr>
              <a:t>manages</a:t>
            </a:r>
            <a:r>
              <a:rPr b="0" i="0" lang="en-US" sz="2400" u="none" cap="none" strike="noStrike">
                <a:solidFill>
                  <a:schemeClr val="dk1"/>
                </a:solidFill>
                <a:latin typeface="Times New Roman"/>
                <a:ea typeface="Times New Roman"/>
                <a:cs typeface="Times New Roman"/>
                <a:sym typeface="Times New Roman"/>
              </a:rPr>
              <a:t> the computer’s resources and orchestrates the performance of its functional parts in response to instructions.</a:t>
            </a:r>
            <a:endParaRPr b="0" i="0" sz="2400" u="none" cap="none" strike="noStrike">
              <a:solidFill>
                <a:schemeClr val="accent3"/>
              </a:solidFill>
              <a:latin typeface="Times New Roman"/>
              <a:ea typeface="Times New Roman"/>
              <a:cs typeface="Times New Roman"/>
              <a:sym typeface="Times New Roman"/>
            </a:endParaRPr>
          </a:p>
        </p:txBody>
      </p:sp>
      <p:sp>
        <p:nvSpPr>
          <p:cNvPr id="222" name="Google Shape;222;p1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 name="Shape 226"/>
        <p:cNvGrpSpPr/>
        <p:nvPr/>
      </p:nvGrpSpPr>
      <p:grpSpPr>
        <a:xfrm>
          <a:off x="0" y="0"/>
          <a:ext cx="0" cy="0"/>
          <a:chOff x="0" y="0"/>
          <a:chExt cx="0" cy="0"/>
        </a:xfrm>
      </p:grpSpPr>
      <p:sp>
        <p:nvSpPr>
          <p:cNvPr id="227" name="Google Shape;227;p16"/>
          <p:cNvSpPr txBox="1"/>
          <p:nvPr>
            <p:ph type="title"/>
          </p:nvPr>
        </p:nvSpPr>
        <p:spPr>
          <a:xfrm>
            <a:off x="1045870" y="222029"/>
            <a:ext cx="7051040" cy="936795"/>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b="1" lang="en-US"/>
              <a:t>Possible Computer Operations </a:t>
            </a:r>
            <a:r>
              <a:rPr lang="en-US"/>
              <a:t>Operations (a) Data movement</a:t>
            </a:r>
            <a:endParaRPr/>
          </a:p>
        </p:txBody>
      </p:sp>
      <p:pic>
        <p:nvPicPr>
          <p:cNvPr id="228" name="Google Shape;228;p16"/>
          <p:cNvPicPr preferRelativeResize="0"/>
          <p:nvPr/>
        </p:nvPicPr>
        <p:blipFill rotWithShape="1">
          <a:blip r:embed="rId3">
            <a:alphaModFix/>
          </a:blip>
          <a:srcRect b="0" l="0" r="0" t="0"/>
          <a:stretch/>
        </p:blipFill>
        <p:spPr>
          <a:xfrm>
            <a:off x="1963939" y="1512099"/>
            <a:ext cx="3818194" cy="5024606"/>
          </a:xfrm>
          <a:prstGeom prst="rect">
            <a:avLst/>
          </a:prstGeom>
          <a:noFill/>
          <a:ln>
            <a:noFill/>
          </a:ln>
        </p:spPr>
      </p:pic>
      <p:sp>
        <p:nvSpPr>
          <p:cNvPr id="229" name="Google Shape;229;p16"/>
          <p:cNvSpPr txBox="1"/>
          <p:nvPr/>
        </p:nvSpPr>
        <p:spPr>
          <a:xfrm>
            <a:off x="5943600" y="2438400"/>
            <a:ext cx="2667000"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Transferring</a:t>
            </a:r>
            <a:endParaRPr b="0" i="0" sz="1800" u="none" cap="none" strike="noStrike">
              <a:solidFill>
                <a:schemeClr val="dk1"/>
              </a:solidFill>
              <a:latin typeface="Century Schoolbook"/>
              <a:ea typeface="Century Schoolbook"/>
              <a:cs typeface="Century Schoolbook"/>
              <a:sym typeface="Century Schoolbook"/>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data from one peripheral or communications line to another</a:t>
            </a:r>
            <a:endParaRPr b="0" i="0" sz="1800" u="none" cap="none" strike="noStrike">
              <a:solidFill>
                <a:schemeClr val="dk1"/>
              </a:solidFill>
              <a:latin typeface="Century Schoolbook"/>
              <a:ea typeface="Century Schoolbook"/>
              <a:cs typeface="Century Schoolbook"/>
              <a:sym typeface="Century Schoolbook"/>
            </a:endParaRPr>
          </a:p>
        </p:txBody>
      </p:sp>
      <p:sp>
        <p:nvSpPr>
          <p:cNvPr id="230" name="Google Shape;230;p1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1996820" y="461594"/>
            <a:ext cx="515429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Operations (b) Storage</a:t>
            </a:r>
            <a:endParaRPr/>
          </a:p>
        </p:txBody>
      </p:sp>
      <p:pic>
        <p:nvPicPr>
          <p:cNvPr id="236" name="Google Shape;236;p17"/>
          <p:cNvPicPr preferRelativeResize="0"/>
          <p:nvPr/>
        </p:nvPicPr>
        <p:blipFill rotWithShape="1">
          <a:blip r:embed="rId3">
            <a:alphaModFix/>
          </a:blip>
          <a:srcRect b="0" l="0" r="0" t="0"/>
          <a:stretch/>
        </p:blipFill>
        <p:spPr>
          <a:xfrm>
            <a:off x="2057400" y="1142998"/>
            <a:ext cx="4418076" cy="5714998"/>
          </a:xfrm>
          <a:prstGeom prst="rect">
            <a:avLst/>
          </a:prstGeom>
          <a:noFill/>
          <a:ln>
            <a:noFill/>
          </a:ln>
        </p:spPr>
      </p:pic>
      <p:sp>
        <p:nvSpPr>
          <p:cNvPr id="237" name="Google Shape;237;p17"/>
          <p:cNvSpPr txBox="1"/>
          <p:nvPr/>
        </p:nvSpPr>
        <p:spPr>
          <a:xfrm>
            <a:off x="5715000" y="2362200"/>
            <a:ext cx="30480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data transferred from the external environment</a:t>
            </a:r>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to computer storage (read) and vice versa (write).</a:t>
            </a:r>
            <a:endParaRPr b="0" i="0" sz="1800" u="none" cap="none" strike="noStrike">
              <a:solidFill>
                <a:schemeClr val="dk1"/>
              </a:solidFill>
              <a:latin typeface="Century Schoolbook"/>
              <a:ea typeface="Century Schoolbook"/>
              <a:cs typeface="Century Schoolbook"/>
              <a:sym typeface="Century Schoolbook"/>
            </a:endParaRPr>
          </a:p>
        </p:txBody>
      </p:sp>
      <p:sp>
        <p:nvSpPr>
          <p:cNvPr id="238" name="Google Shape;238;p17"/>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2" name="Shape 242"/>
        <p:cNvGrpSpPr/>
        <p:nvPr/>
      </p:nvGrpSpPr>
      <p:grpSpPr>
        <a:xfrm>
          <a:off x="0" y="0"/>
          <a:ext cx="0" cy="0"/>
          <a:chOff x="0" y="0"/>
          <a:chExt cx="0" cy="0"/>
        </a:xfrm>
      </p:grpSpPr>
      <p:sp>
        <p:nvSpPr>
          <p:cNvPr id="243" name="Google Shape;243;p18"/>
          <p:cNvSpPr txBox="1"/>
          <p:nvPr>
            <p:ph type="title"/>
          </p:nvPr>
        </p:nvSpPr>
        <p:spPr>
          <a:xfrm>
            <a:off x="685800" y="191846"/>
            <a:ext cx="7275728" cy="1244600"/>
          </a:xfrm>
          <a:prstGeom prst="rect">
            <a:avLst/>
          </a:prstGeom>
          <a:noFill/>
          <a:ln>
            <a:noFill/>
          </a:ln>
        </p:spPr>
        <p:txBody>
          <a:bodyPr anchorCtr="0" anchor="b" bIns="0" lIns="0" spcFirstLastPara="1" rIns="0" wrap="square" tIns="12050">
            <a:spAutoFit/>
          </a:bodyPr>
          <a:lstStyle/>
          <a:p>
            <a:pPr indent="-2618740" lvl="0" marL="2630805" marR="5080" rtl="0" algn="l">
              <a:lnSpc>
                <a:spcPct val="100000"/>
              </a:lnSpc>
              <a:spcBef>
                <a:spcPts val="0"/>
              </a:spcBef>
              <a:spcAft>
                <a:spcPts val="0"/>
              </a:spcAft>
              <a:buClr>
                <a:schemeClr val="dk2"/>
              </a:buClr>
              <a:buSzPts val="4000"/>
              <a:buFont typeface="Century Schoolbook"/>
              <a:buNone/>
            </a:pPr>
            <a:r>
              <a:rPr lang="en-US" sz="4000"/>
              <a:t>Operation (c) Processing from/to  storage</a:t>
            </a:r>
            <a:endParaRPr sz="4000"/>
          </a:p>
        </p:txBody>
      </p:sp>
      <p:pic>
        <p:nvPicPr>
          <p:cNvPr id="244" name="Google Shape;244;p18"/>
          <p:cNvPicPr preferRelativeResize="0"/>
          <p:nvPr/>
        </p:nvPicPr>
        <p:blipFill rotWithShape="1">
          <a:blip r:embed="rId3">
            <a:alphaModFix/>
          </a:blip>
          <a:srcRect b="0" l="0" r="0" t="0"/>
          <a:stretch/>
        </p:blipFill>
        <p:spPr>
          <a:xfrm>
            <a:off x="1219200" y="1828800"/>
            <a:ext cx="5417801" cy="5029200"/>
          </a:xfrm>
          <a:prstGeom prst="rect">
            <a:avLst/>
          </a:prstGeom>
          <a:noFill/>
          <a:ln>
            <a:noFill/>
          </a:ln>
        </p:spPr>
      </p:pic>
      <p:sp>
        <p:nvSpPr>
          <p:cNvPr id="245" name="Google Shape;245;p1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838200" y="0"/>
            <a:ext cx="6884924" cy="1858842"/>
          </a:xfrm>
          <a:prstGeom prst="rect">
            <a:avLst/>
          </a:prstGeom>
          <a:noFill/>
          <a:ln>
            <a:noFill/>
          </a:ln>
        </p:spPr>
        <p:txBody>
          <a:bodyPr anchorCtr="0" anchor="b" bIns="0" lIns="0" spcFirstLastPara="1" rIns="0" wrap="square" tIns="12050">
            <a:spAutoFit/>
          </a:bodyPr>
          <a:lstStyle/>
          <a:p>
            <a:pPr indent="1744979" lvl="0" marL="12700" marR="5080" rtl="0" algn="l">
              <a:lnSpc>
                <a:spcPct val="100000"/>
              </a:lnSpc>
              <a:spcBef>
                <a:spcPts val="0"/>
              </a:spcBef>
              <a:spcAft>
                <a:spcPts val="0"/>
              </a:spcAft>
              <a:buClr>
                <a:schemeClr val="dk2"/>
              </a:buClr>
              <a:buSzPts val="4000"/>
              <a:buFont typeface="Century Schoolbook"/>
              <a:buNone/>
            </a:pPr>
            <a:r>
              <a:rPr lang="en-US" sz="4000"/>
              <a:t>Operation (d)  Processing from storage to I/O</a:t>
            </a:r>
            <a:endParaRPr/>
          </a:p>
        </p:txBody>
      </p:sp>
      <p:pic>
        <p:nvPicPr>
          <p:cNvPr id="251" name="Google Shape;251;p19"/>
          <p:cNvPicPr preferRelativeResize="0"/>
          <p:nvPr/>
        </p:nvPicPr>
        <p:blipFill rotWithShape="1">
          <a:blip r:embed="rId3">
            <a:alphaModFix/>
          </a:blip>
          <a:srcRect b="0" l="0" r="0" t="0"/>
          <a:stretch/>
        </p:blipFill>
        <p:spPr>
          <a:xfrm>
            <a:off x="1600200" y="2057400"/>
            <a:ext cx="5486400" cy="4800596"/>
          </a:xfrm>
          <a:prstGeom prst="rect">
            <a:avLst/>
          </a:prstGeom>
          <a:noFill/>
          <a:ln>
            <a:noFill/>
          </a:ln>
        </p:spPr>
      </p:pic>
      <p:sp>
        <p:nvSpPr>
          <p:cNvPr id="252" name="Google Shape;252;p1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0"/>
          <p:cNvSpPr txBox="1"/>
          <p:nvPr>
            <p:ph type="title"/>
          </p:nvPr>
        </p:nvSpPr>
        <p:spPr>
          <a:xfrm>
            <a:off x="457200" y="274638"/>
            <a:ext cx="7467600"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Computer top-level structure</a:t>
            </a:r>
            <a:endParaRPr/>
          </a:p>
        </p:txBody>
      </p:sp>
      <p:pic>
        <p:nvPicPr>
          <p:cNvPr id="258" name="Google Shape;258;p20"/>
          <p:cNvPicPr preferRelativeResize="0"/>
          <p:nvPr>
            <p:ph idx="1" type="body"/>
          </p:nvPr>
        </p:nvPicPr>
        <p:blipFill rotWithShape="1">
          <a:blip r:embed="rId3">
            <a:alphaModFix/>
          </a:blip>
          <a:srcRect b="0" l="0" r="0" t="0"/>
          <a:stretch/>
        </p:blipFill>
        <p:spPr>
          <a:xfrm>
            <a:off x="990600" y="1066800"/>
            <a:ext cx="6400800" cy="5186400"/>
          </a:xfrm>
          <a:prstGeom prst="rect">
            <a:avLst/>
          </a:prstGeom>
          <a:noFill/>
          <a:ln>
            <a:noFill/>
          </a:ln>
        </p:spPr>
      </p:pic>
      <p:sp>
        <p:nvSpPr>
          <p:cNvPr id="259" name="Google Shape;259;p2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grpSp>
        <p:nvGrpSpPr>
          <p:cNvPr id="264" name="Google Shape;264;p21"/>
          <p:cNvGrpSpPr/>
          <p:nvPr/>
        </p:nvGrpSpPr>
        <p:grpSpPr>
          <a:xfrm>
            <a:off x="533400" y="2057400"/>
            <a:ext cx="8077200" cy="4648200"/>
            <a:chOff x="533400" y="2057400"/>
            <a:chExt cx="8077200" cy="4648200"/>
          </a:xfrm>
        </p:grpSpPr>
        <p:pic>
          <p:nvPicPr>
            <p:cNvPr id="265" name="Google Shape;265;p21"/>
            <p:cNvPicPr preferRelativeResize="0"/>
            <p:nvPr/>
          </p:nvPicPr>
          <p:blipFill rotWithShape="1">
            <a:blip r:embed="rId3">
              <a:alphaModFix/>
            </a:blip>
            <a:srcRect b="0" l="0" r="0" t="0"/>
            <a:stretch/>
          </p:blipFill>
          <p:spPr>
            <a:xfrm>
              <a:off x="3886200" y="2057400"/>
              <a:ext cx="4724400" cy="4648200"/>
            </a:xfrm>
            <a:prstGeom prst="rect">
              <a:avLst/>
            </a:prstGeom>
            <a:noFill/>
            <a:ln>
              <a:noFill/>
            </a:ln>
          </p:spPr>
        </p:pic>
        <p:sp>
          <p:nvSpPr>
            <p:cNvPr id="266" name="Google Shape;266;p21"/>
            <p:cNvSpPr/>
            <p:nvPr/>
          </p:nvSpPr>
          <p:spPr>
            <a:xfrm>
              <a:off x="3886200" y="2057400"/>
              <a:ext cx="4724400" cy="4648200"/>
            </a:xfrm>
            <a:custGeom>
              <a:rect b="b" l="l" r="r" t="t"/>
              <a:pathLst>
                <a:path extrusionOk="0" h="4648200" w="4724400">
                  <a:moveTo>
                    <a:pt x="0" y="2324100"/>
                  </a:moveTo>
                  <a:lnTo>
                    <a:pt x="494" y="2276080"/>
                  </a:lnTo>
                  <a:lnTo>
                    <a:pt x="1970" y="2228299"/>
                  </a:lnTo>
                  <a:lnTo>
                    <a:pt x="4418" y="2180763"/>
                  </a:lnTo>
                  <a:lnTo>
                    <a:pt x="7830" y="2133484"/>
                  </a:lnTo>
                  <a:lnTo>
                    <a:pt x="12195" y="2086470"/>
                  </a:lnTo>
                  <a:lnTo>
                    <a:pt x="17503" y="2039730"/>
                  </a:lnTo>
                  <a:lnTo>
                    <a:pt x="23747" y="1993275"/>
                  </a:lnTo>
                  <a:lnTo>
                    <a:pt x="30915" y="1947113"/>
                  </a:lnTo>
                  <a:lnTo>
                    <a:pt x="38999" y="1901253"/>
                  </a:lnTo>
                  <a:lnTo>
                    <a:pt x="47988" y="1855705"/>
                  </a:lnTo>
                  <a:lnTo>
                    <a:pt x="57875" y="1810479"/>
                  </a:lnTo>
                  <a:lnTo>
                    <a:pt x="68648" y="1765584"/>
                  </a:lnTo>
                  <a:lnTo>
                    <a:pt x="80298" y="1721028"/>
                  </a:lnTo>
                  <a:lnTo>
                    <a:pt x="92817" y="1676822"/>
                  </a:lnTo>
                  <a:lnTo>
                    <a:pt x="106194" y="1632974"/>
                  </a:lnTo>
                  <a:lnTo>
                    <a:pt x="120420" y="1589495"/>
                  </a:lnTo>
                  <a:lnTo>
                    <a:pt x="135485" y="1546393"/>
                  </a:lnTo>
                  <a:lnTo>
                    <a:pt x="151381" y="1503678"/>
                  </a:lnTo>
                  <a:lnTo>
                    <a:pt x="168097" y="1461358"/>
                  </a:lnTo>
                  <a:lnTo>
                    <a:pt x="185624" y="1419445"/>
                  </a:lnTo>
                  <a:lnTo>
                    <a:pt x="203952" y="1377946"/>
                  </a:lnTo>
                  <a:lnTo>
                    <a:pt x="223073" y="1336871"/>
                  </a:lnTo>
                  <a:lnTo>
                    <a:pt x="242976" y="1296230"/>
                  </a:lnTo>
                  <a:lnTo>
                    <a:pt x="263652" y="1256031"/>
                  </a:lnTo>
                  <a:lnTo>
                    <a:pt x="285091" y="1216285"/>
                  </a:lnTo>
                  <a:lnTo>
                    <a:pt x="307285" y="1177000"/>
                  </a:lnTo>
                  <a:lnTo>
                    <a:pt x="330223" y="1138186"/>
                  </a:lnTo>
                  <a:lnTo>
                    <a:pt x="353896" y="1099852"/>
                  </a:lnTo>
                  <a:lnTo>
                    <a:pt x="378295" y="1062008"/>
                  </a:lnTo>
                  <a:lnTo>
                    <a:pt x="403409" y="1024663"/>
                  </a:lnTo>
                  <a:lnTo>
                    <a:pt x="429230" y="987825"/>
                  </a:lnTo>
                  <a:lnTo>
                    <a:pt x="455749" y="951506"/>
                  </a:lnTo>
                  <a:lnTo>
                    <a:pt x="482954" y="915713"/>
                  </a:lnTo>
                  <a:lnTo>
                    <a:pt x="510838" y="880457"/>
                  </a:lnTo>
                  <a:lnTo>
                    <a:pt x="539390" y="845746"/>
                  </a:lnTo>
                  <a:lnTo>
                    <a:pt x="568602" y="811590"/>
                  </a:lnTo>
                  <a:lnTo>
                    <a:pt x="598463" y="777999"/>
                  </a:lnTo>
                  <a:lnTo>
                    <a:pt x="628964" y="744981"/>
                  </a:lnTo>
                  <a:lnTo>
                    <a:pt x="660095" y="712546"/>
                  </a:lnTo>
                  <a:lnTo>
                    <a:pt x="691848" y="680704"/>
                  </a:lnTo>
                  <a:lnTo>
                    <a:pt x="724212" y="649463"/>
                  </a:lnTo>
                  <a:lnTo>
                    <a:pt x="757178" y="618833"/>
                  </a:lnTo>
                  <a:lnTo>
                    <a:pt x="790737" y="588824"/>
                  </a:lnTo>
                  <a:lnTo>
                    <a:pt x="824879" y="559444"/>
                  </a:lnTo>
                  <a:lnTo>
                    <a:pt x="859594" y="530703"/>
                  </a:lnTo>
                  <a:lnTo>
                    <a:pt x="894874" y="502611"/>
                  </a:lnTo>
                  <a:lnTo>
                    <a:pt x="930708" y="475176"/>
                  </a:lnTo>
                  <a:lnTo>
                    <a:pt x="967087" y="448409"/>
                  </a:lnTo>
                  <a:lnTo>
                    <a:pt x="1004002" y="422318"/>
                  </a:lnTo>
                  <a:lnTo>
                    <a:pt x="1041443" y="396913"/>
                  </a:lnTo>
                  <a:lnTo>
                    <a:pt x="1079400" y="372203"/>
                  </a:lnTo>
                  <a:lnTo>
                    <a:pt x="1117865" y="348197"/>
                  </a:lnTo>
                  <a:lnTo>
                    <a:pt x="1156827" y="324906"/>
                  </a:lnTo>
                  <a:lnTo>
                    <a:pt x="1196277" y="302337"/>
                  </a:lnTo>
                  <a:lnTo>
                    <a:pt x="1236206" y="280501"/>
                  </a:lnTo>
                  <a:lnTo>
                    <a:pt x="1276604" y="259407"/>
                  </a:lnTo>
                  <a:lnTo>
                    <a:pt x="1317462" y="239064"/>
                  </a:lnTo>
                  <a:lnTo>
                    <a:pt x="1358770" y="219481"/>
                  </a:lnTo>
                  <a:lnTo>
                    <a:pt x="1400518" y="200669"/>
                  </a:lnTo>
                  <a:lnTo>
                    <a:pt x="1442698" y="182635"/>
                  </a:lnTo>
                  <a:lnTo>
                    <a:pt x="1485299" y="165391"/>
                  </a:lnTo>
                  <a:lnTo>
                    <a:pt x="1528312" y="148944"/>
                  </a:lnTo>
                  <a:lnTo>
                    <a:pt x="1571728" y="133304"/>
                  </a:lnTo>
                  <a:lnTo>
                    <a:pt x="1615537" y="118481"/>
                  </a:lnTo>
                  <a:lnTo>
                    <a:pt x="1659730" y="104484"/>
                  </a:lnTo>
                  <a:lnTo>
                    <a:pt x="1704297" y="91323"/>
                  </a:lnTo>
                  <a:lnTo>
                    <a:pt x="1749228" y="79006"/>
                  </a:lnTo>
                  <a:lnTo>
                    <a:pt x="1794515" y="67543"/>
                  </a:lnTo>
                  <a:lnTo>
                    <a:pt x="1840147" y="56943"/>
                  </a:lnTo>
                  <a:lnTo>
                    <a:pt x="1886115" y="47216"/>
                  </a:lnTo>
                  <a:lnTo>
                    <a:pt x="1932411" y="38371"/>
                  </a:lnTo>
                  <a:lnTo>
                    <a:pt x="1979023" y="30417"/>
                  </a:lnTo>
                  <a:lnTo>
                    <a:pt x="2025943" y="23365"/>
                  </a:lnTo>
                  <a:lnTo>
                    <a:pt x="2073161" y="17222"/>
                  </a:lnTo>
                  <a:lnTo>
                    <a:pt x="2120668" y="11998"/>
                  </a:lnTo>
                  <a:lnTo>
                    <a:pt x="2168454" y="7704"/>
                  </a:lnTo>
                  <a:lnTo>
                    <a:pt x="2216509" y="4347"/>
                  </a:lnTo>
                  <a:lnTo>
                    <a:pt x="2264825" y="1938"/>
                  </a:lnTo>
                  <a:lnTo>
                    <a:pt x="2313392" y="486"/>
                  </a:lnTo>
                  <a:lnTo>
                    <a:pt x="2362200" y="0"/>
                  </a:lnTo>
                  <a:lnTo>
                    <a:pt x="2411003" y="486"/>
                  </a:lnTo>
                  <a:lnTo>
                    <a:pt x="2459565" y="1938"/>
                  </a:lnTo>
                  <a:lnTo>
                    <a:pt x="2507876" y="4347"/>
                  </a:lnTo>
                  <a:lnTo>
                    <a:pt x="2555928" y="7704"/>
                  </a:lnTo>
                  <a:lnTo>
                    <a:pt x="2603710" y="11998"/>
                  </a:lnTo>
                  <a:lnTo>
                    <a:pt x="2651214" y="17222"/>
                  </a:lnTo>
                  <a:lnTo>
                    <a:pt x="2698428" y="23365"/>
                  </a:lnTo>
                  <a:lnTo>
                    <a:pt x="2745345" y="30417"/>
                  </a:lnTo>
                  <a:lnTo>
                    <a:pt x="2791955" y="38371"/>
                  </a:lnTo>
                  <a:lnTo>
                    <a:pt x="2838247" y="47216"/>
                  </a:lnTo>
                  <a:lnTo>
                    <a:pt x="2884213" y="56943"/>
                  </a:lnTo>
                  <a:lnTo>
                    <a:pt x="2929843" y="67543"/>
                  </a:lnTo>
                  <a:lnTo>
                    <a:pt x="2975128" y="79006"/>
                  </a:lnTo>
                  <a:lnTo>
                    <a:pt x="3020057" y="91323"/>
                  </a:lnTo>
                  <a:lnTo>
                    <a:pt x="3064622" y="104484"/>
                  </a:lnTo>
                  <a:lnTo>
                    <a:pt x="3108813" y="118481"/>
                  </a:lnTo>
                  <a:lnTo>
                    <a:pt x="3152621" y="133304"/>
                  </a:lnTo>
                  <a:lnTo>
                    <a:pt x="3196035" y="148944"/>
                  </a:lnTo>
                  <a:lnTo>
                    <a:pt x="3239048" y="165391"/>
                  </a:lnTo>
                  <a:lnTo>
                    <a:pt x="3281648" y="182635"/>
                  </a:lnTo>
                  <a:lnTo>
                    <a:pt x="3323826" y="200669"/>
                  </a:lnTo>
                  <a:lnTo>
                    <a:pt x="3365574" y="219481"/>
                  </a:lnTo>
                  <a:lnTo>
                    <a:pt x="3406881" y="239064"/>
                  </a:lnTo>
                  <a:lnTo>
                    <a:pt x="3447739" y="259407"/>
                  </a:lnTo>
                  <a:lnTo>
                    <a:pt x="3488136" y="280501"/>
                  </a:lnTo>
                  <a:lnTo>
                    <a:pt x="3528065" y="302337"/>
                  </a:lnTo>
                  <a:lnTo>
                    <a:pt x="3567515" y="324906"/>
                  </a:lnTo>
                  <a:lnTo>
                    <a:pt x="3606478" y="348197"/>
                  </a:lnTo>
                  <a:lnTo>
                    <a:pt x="3644942" y="372203"/>
                  </a:lnTo>
                  <a:lnTo>
                    <a:pt x="3682900" y="396913"/>
                  </a:lnTo>
                  <a:lnTo>
                    <a:pt x="3720342" y="422318"/>
                  </a:lnTo>
                  <a:lnTo>
                    <a:pt x="3757257" y="448409"/>
                  </a:lnTo>
                  <a:lnTo>
                    <a:pt x="3793637" y="475176"/>
                  </a:lnTo>
                  <a:lnTo>
                    <a:pt x="3829472" y="502611"/>
                  </a:lnTo>
                  <a:lnTo>
                    <a:pt x="3864752" y="530703"/>
                  </a:lnTo>
                  <a:lnTo>
                    <a:pt x="3899468" y="559444"/>
                  </a:lnTo>
                  <a:lnTo>
                    <a:pt x="3933611" y="588824"/>
                  </a:lnTo>
                  <a:lnTo>
                    <a:pt x="3967171" y="618833"/>
                  </a:lnTo>
                  <a:lnTo>
                    <a:pt x="4000138" y="649463"/>
                  </a:lnTo>
                  <a:lnTo>
                    <a:pt x="4032504" y="680704"/>
                  </a:lnTo>
                  <a:lnTo>
                    <a:pt x="4064257" y="712546"/>
                  </a:lnTo>
                  <a:lnTo>
                    <a:pt x="4095390" y="744981"/>
                  </a:lnTo>
                  <a:lnTo>
                    <a:pt x="4125892" y="777999"/>
                  </a:lnTo>
                  <a:lnTo>
                    <a:pt x="4155755" y="811590"/>
                  </a:lnTo>
                  <a:lnTo>
                    <a:pt x="4184967" y="845746"/>
                  </a:lnTo>
                  <a:lnTo>
                    <a:pt x="4213521" y="880457"/>
                  </a:lnTo>
                  <a:lnTo>
                    <a:pt x="4241407" y="915713"/>
                  </a:lnTo>
                  <a:lnTo>
                    <a:pt x="4268614" y="951506"/>
                  </a:lnTo>
                  <a:lnTo>
                    <a:pt x="4295134" y="987825"/>
                  </a:lnTo>
                  <a:lnTo>
                    <a:pt x="4320956" y="1024663"/>
                  </a:lnTo>
                  <a:lnTo>
                    <a:pt x="4346072" y="1062008"/>
                  </a:lnTo>
                  <a:lnTo>
                    <a:pt x="4370473" y="1099852"/>
                  </a:lnTo>
                  <a:lnTo>
                    <a:pt x="4394147" y="1138186"/>
                  </a:lnTo>
                  <a:lnTo>
                    <a:pt x="4417087" y="1177000"/>
                  </a:lnTo>
                  <a:lnTo>
                    <a:pt x="4439282" y="1216285"/>
                  </a:lnTo>
                  <a:lnTo>
                    <a:pt x="4460723" y="1256031"/>
                  </a:lnTo>
                  <a:lnTo>
                    <a:pt x="4481401" y="1296230"/>
                  </a:lnTo>
                  <a:lnTo>
                    <a:pt x="4501305" y="1336871"/>
                  </a:lnTo>
                  <a:lnTo>
                    <a:pt x="4520427" y="1377946"/>
                  </a:lnTo>
                  <a:lnTo>
                    <a:pt x="4538757" y="1419445"/>
                  </a:lnTo>
                  <a:lnTo>
                    <a:pt x="4556286" y="1461358"/>
                  </a:lnTo>
                  <a:lnTo>
                    <a:pt x="4573003" y="1503678"/>
                  </a:lnTo>
                  <a:lnTo>
                    <a:pt x="4588900" y="1546393"/>
                  </a:lnTo>
                  <a:lnTo>
                    <a:pt x="4603967" y="1589495"/>
                  </a:lnTo>
                  <a:lnTo>
                    <a:pt x="4618194" y="1632974"/>
                  </a:lnTo>
                  <a:lnTo>
                    <a:pt x="4631573" y="1676822"/>
                  </a:lnTo>
                  <a:lnTo>
                    <a:pt x="4644092" y="1721028"/>
                  </a:lnTo>
                  <a:lnTo>
                    <a:pt x="4655744" y="1765584"/>
                  </a:lnTo>
                  <a:lnTo>
                    <a:pt x="4666518" y="1810479"/>
                  </a:lnTo>
                  <a:lnTo>
                    <a:pt x="4676405" y="1855705"/>
                  </a:lnTo>
                  <a:lnTo>
                    <a:pt x="4685396" y="1901253"/>
                  </a:lnTo>
                  <a:lnTo>
                    <a:pt x="4693481" y="1947113"/>
                  </a:lnTo>
                  <a:lnTo>
                    <a:pt x="4700650" y="1993275"/>
                  </a:lnTo>
                  <a:lnTo>
                    <a:pt x="4706894" y="2039730"/>
                  </a:lnTo>
                  <a:lnTo>
                    <a:pt x="4712203" y="2086470"/>
                  </a:lnTo>
                  <a:lnTo>
                    <a:pt x="4716568" y="2133484"/>
                  </a:lnTo>
                  <a:lnTo>
                    <a:pt x="4719980" y="2180763"/>
                  </a:lnTo>
                  <a:lnTo>
                    <a:pt x="4722429" y="2228299"/>
                  </a:lnTo>
                  <a:lnTo>
                    <a:pt x="4723905" y="2276080"/>
                  </a:lnTo>
                  <a:lnTo>
                    <a:pt x="4724400" y="2324100"/>
                  </a:lnTo>
                  <a:lnTo>
                    <a:pt x="4723905" y="2372118"/>
                  </a:lnTo>
                  <a:lnTo>
                    <a:pt x="4722429" y="2419899"/>
                  </a:lnTo>
                  <a:lnTo>
                    <a:pt x="4719980" y="2467433"/>
                  </a:lnTo>
                  <a:lnTo>
                    <a:pt x="4716568" y="2514712"/>
                  </a:lnTo>
                  <a:lnTo>
                    <a:pt x="4712203" y="2561725"/>
                  </a:lnTo>
                  <a:lnTo>
                    <a:pt x="4706894" y="2608464"/>
                  </a:lnTo>
                  <a:lnTo>
                    <a:pt x="4700650" y="2654919"/>
                  </a:lnTo>
                  <a:lnTo>
                    <a:pt x="4693481" y="2701080"/>
                  </a:lnTo>
                  <a:lnTo>
                    <a:pt x="4685396" y="2746939"/>
                  </a:lnTo>
                  <a:lnTo>
                    <a:pt x="4676405" y="2792486"/>
                  </a:lnTo>
                  <a:lnTo>
                    <a:pt x="4666518" y="2837712"/>
                  </a:lnTo>
                  <a:lnTo>
                    <a:pt x="4655744" y="2882607"/>
                  </a:lnTo>
                  <a:lnTo>
                    <a:pt x="4644092" y="2927162"/>
                  </a:lnTo>
                  <a:lnTo>
                    <a:pt x="4631573" y="2971368"/>
                  </a:lnTo>
                  <a:lnTo>
                    <a:pt x="4618194" y="3015215"/>
                  </a:lnTo>
                  <a:lnTo>
                    <a:pt x="4603967" y="3058694"/>
                  </a:lnTo>
                  <a:lnTo>
                    <a:pt x="4588900" y="3101796"/>
                  </a:lnTo>
                  <a:lnTo>
                    <a:pt x="4573003" y="3144511"/>
                  </a:lnTo>
                  <a:lnTo>
                    <a:pt x="4556286" y="3186830"/>
                  </a:lnTo>
                  <a:lnTo>
                    <a:pt x="4538757" y="3228744"/>
                  </a:lnTo>
                  <a:lnTo>
                    <a:pt x="4520427" y="3270242"/>
                  </a:lnTo>
                  <a:lnTo>
                    <a:pt x="4501305" y="3311317"/>
                  </a:lnTo>
                  <a:lnTo>
                    <a:pt x="4481401" y="3351958"/>
                  </a:lnTo>
                  <a:lnTo>
                    <a:pt x="4460723" y="3392157"/>
                  </a:lnTo>
                  <a:lnTo>
                    <a:pt x="4439282" y="3431903"/>
                  </a:lnTo>
                  <a:lnTo>
                    <a:pt x="4417087" y="3471188"/>
                  </a:lnTo>
                  <a:lnTo>
                    <a:pt x="4394147" y="3510002"/>
                  </a:lnTo>
                  <a:lnTo>
                    <a:pt x="4370473" y="3548336"/>
                  </a:lnTo>
                  <a:lnTo>
                    <a:pt x="4346072" y="3586180"/>
                  </a:lnTo>
                  <a:lnTo>
                    <a:pt x="4320956" y="3623525"/>
                  </a:lnTo>
                  <a:lnTo>
                    <a:pt x="4295134" y="3660363"/>
                  </a:lnTo>
                  <a:lnTo>
                    <a:pt x="4268614" y="3696682"/>
                  </a:lnTo>
                  <a:lnTo>
                    <a:pt x="4241407" y="3732475"/>
                  </a:lnTo>
                  <a:lnTo>
                    <a:pt x="4213521" y="3767731"/>
                  </a:lnTo>
                  <a:lnTo>
                    <a:pt x="4184967" y="3802442"/>
                  </a:lnTo>
                  <a:lnTo>
                    <a:pt x="4155755" y="3836598"/>
                  </a:lnTo>
                  <a:lnTo>
                    <a:pt x="4125892" y="3870190"/>
                  </a:lnTo>
                  <a:lnTo>
                    <a:pt x="4095390" y="3903208"/>
                  </a:lnTo>
                  <a:lnTo>
                    <a:pt x="4064257" y="3935643"/>
                  </a:lnTo>
                  <a:lnTo>
                    <a:pt x="4032504" y="3967486"/>
                  </a:lnTo>
                  <a:lnTo>
                    <a:pt x="4000138" y="3998727"/>
                  </a:lnTo>
                  <a:lnTo>
                    <a:pt x="3967171" y="4029357"/>
                  </a:lnTo>
                  <a:lnTo>
                    <a:pt x="3933611" y="4059367"/>
                  </a:lnTo>
                  <a:lnTo>
                    <a:pt x="3899468" y="4088747"/>
                  </a:lnTo>
                  <a:lnTo>
                    <a:pt x="3864752" y="4117488"/>
                  </a:lnTo>
                  <a:lnTo>
                    <a:pt x="3829472" y="4145580"/>
                  </a:lnTo>
                  <a:lnTo>
                    <a:pt x="3793637" y="4173015"/>
                  </a:lnTo>
                  <a:lnTo>
                    <a:pt x="3757257" y="4199783"/>
                  </a:lnTo>
                  <a:lnTo>
                    <a:pt x="3720342" y="4225874"/>
                  </a:lnTo>
                  <a:lnTo>
                    <a:pt x="3682900" y="4251279"/>
                  </a:lnTo>
                  <a:lnTo>
                    <a:pt x="3644942" y="4275990"/>
                  </a:lnTo>
                  <a:lnTo>
                    <a:pt x="3606478" y="4299996"/>
                  </a:lnTo>
                  <a:lnTo>
                    <a:pt x="3567515" y="4323288"/>
                  </a:lnTo>
                  <a:lnTo>
                    <a:pt x="3528065" y="4345857"/>
                  </a:lnTo>
                  <a:lnTo>
                    <a:pt x="3488136" y="4367693"/>
                  </a:lnTo>
                  <a:lnTo>
                    <a:pt x="3447739" y="4388787"/>
                  </a:lnTo>
                  <a:lnTo>
                    <a:pt x="3406881" y="4409131"/>
                  </a:lnTo>
                  <a:lnTo>
                    <a:pt x="3365574" y="4428714"/>
                  </a:lnTo>
                  <a:lnTo>
                    <a:pt x="3323826" y="4447526"/>
                  </a:lnTo>
                  <a:lnTo>
                    <a:pt x="3281648" y="4465560"/>
                  </a:lnTo>
                  <a:lnTo>
                    <a:pt x="3239048" y="4482805"/>
                  </a:lnTo>
                  <a:lnTo>
                    <a:pt x="3196035" y="4499252"/>
                  </a:lnTo>
                  <a:lnTo>
                    <a:pt x="3152621" y="4514892"/>
                  </a:lnTo>
                  <a:lnTo>
                    <a:pt x="3108813" y="4529715"/>
                  </a:lnTo>
                  <a:lnTo>
                    <a:pt x="3064622" y="4543712"/>
                  </a:lnTo>
                  <a:lnTo>
                    <a:pt x="3020057" y="4556874"/>
                  </a:lnTo>
                  <a:lnTo>
                    <a:pt x="2975128" y="4569192"/>
                  </a:lnTo>
                  <a:lnTo>
                    <a:pt x="2929843" y="4580655"/>
                  </a:lnTo>
                  <a:lnTo>
                    <a:pt x="2884213" y="4591255"/>
                  </a:lnTo>
                  <a:lnTo>
                    <a:pt x="2838247" y="4600982"/>
                  </a:lnTo>
                  <a:lnTo>
                    <a:pt x="2791955" y="4609827"/>
                  </a:lnTo>
                  <a:lnTo>
                    <a:pt x="2745345" y="4617781"/>
                  </a:lnTo>
                  <a:lnTo>
                    <a:pt x="2698428" y="4624834"/>
                  </a:lnTo>
                  <a:lnTo>
                    <a:pt x="2651214" y="4630977"/>
                  </a:lnTo>
                  <a:lnTo>
                    <a:pt x="2603710" y="4636200"/>
                  </a:lnTo>
                  <a:lnTo>
                    <a:pt x="2555928" y="4640495"/>
                  </a:lnTo>
                  <a:lnTo>
                    <a:pt x="2507876" y="4643852"/>
                  </a:lnTo>
                  <a:lnTo>
                    <a:pt x="2459565" y="4646261"/>
                  </a:lnTo>
                  <a:lnTo>
                    <a:pt x="2411003" y="4647713"/>
                  </a:lnTo>
                  <a:lnTo>
                    <a:pt x="2362200" y="4648200"/>
                  </a:lnTo>
                  <a:lnTo>
                    <a:pt x="2313392" y="4647713"/>
                  </a:lnTo>
                  <a:lnTo>
                    <a:pt x="2264825" y="4646261"/>
                  </a:lnTo>
                  <a:lnTo>
                    <a:pt x="2216509" y="4643852"/>
                  </a:lnTo>
                  <a:lnTo>
                    <a:pt x="2168454" y="4640495"/>
                  </a:lnTo>
                  <a:lnTo>
                    <a:pt x="2120668" y="4636200"/>
                  </a:lnTo>
                  <a:lnTo>
                    <a:pt x="2073161" y="4630977"/>
                  </a:lnTo>
                  <a:lnTo>
                    <a:pt x="2025943" y="4624834"/>
                  </a:lnTo>
                  <a:lnTo>
                    <a:pt x="1979023" y="4617781"/>
                  </a:lnTo>
                  <a:lnTo>
                    <a:pt x="1932411" y="4609827"/>
                  </a:lnTo>
                  <a:lnTo>
                    <a:pt x="1886115" y="4600982"/>
                  </a:lnTo>
                  <a:lnTo>
                    <a:pt x="1840147" y="4591255"/>
                  </a:lnTo>
                  <a:lnTo>
                    <a:pt x="1794515" y="4580655"/>
                  </a:lnTo>
                  <a:lnTo>
                    <a:pt x="1749228" y="4569192"/>
                  </a:lnTo>
                  <a:lnTo>
                    <a:pt x="1704297" y="4556874"/>
                  </a:lnTo>
                  <a:lnTo>
                    <a:pt x="1659730" y="4543712"/>
                  </a:lnTo>
                  <a:lnTo>
                    <a:pt x="1615537" y="4529715"/>
                  </a:lnTo>
                  <a:lnTo>
                    <a:pt x="1571728" y="4514892"/>
                  </a:lnTo>
                  <a:lnTo>
                    <a:pt x="1528312" y="4499252"/>
                  </a:lnTo>
                  <a:lnTo>
                    <a:pt x="1485299" y="4482805"/>
                  </a:lnTo>
                  <a:lnTo>
                    <a:pt x="1442698" y="4465560"/>
                  </a:lnTo>
                  <a:lnTo>
                    <a:pt x="1400518" y="4447526"/>
                  </a:lnTo>
                  <a:lnTo>
                    <a:pt x="1358770" y="4428714"/>
                  </a:lnTo>
                  <a:lnTo>
                    <a:pt x="1317462" y="4409131"/>
                  </a:lnTo>
                  <a:lnTo>
                    <a:pt x="1276604" y="4388787"/>
                  </a:lnTo>
                  <a:lnTo>
                    <a:pt x="1236206" y="4367693"/>
                  </a:lnTo>
                  <a:lnTo>
                    <a:pt x="1196277" y="4345857"/>
                  </a:lnTo>
                  <a:lnTo>
                    <a:pt x="1156827" y="4323288"/>
                  </a:lnTo>
                  <a:lnTo>
                    <a:pt x="1117865" y="4299996"/>
                  </a:lnTo>
                  <a:lnTo>
                    <a:pt x="1079400" y="4275990"/>
                  </a:lnTo>
                  <a:lnTo>
                    <a:pt x="1041443" y="4251279"/>
                  </a:lnTo>
                  <a:lnTo>
                    <a:pt x="1004002" y="4225874"/>
                  </a:lnTo>
                  <a:lnTo>
                    <a:pt x="967087" y="4199783"/>
                  </a:lnTo>
                  <a:lnTo>
                    <a:pt x="930708" y="4173015"/>
                  </a:lnTo>
                  <a:lnTo>
                    <a:pt x="894874" y="4145580"/>
                  </a:lnTo>
                  <a:lnTo>
                    <a:pt x="859594" y="4117488"/>
                  </a:lnTo>
                  <a:lnTo>
                    <a:pt x="824879" y="4088747"/>
                  </a:lnTo>
                  <a:lnTo>
                    <a:pt x="790737" y="4059367"/>
                  </a:lnTo>
                  <a:lnTo>
                    <a:pt x="757178" y="4029357"/>
                  </a:lnTo>
                  <a:lnTo>
                    <a:pt x="724212" y="3998727"/>
                  </a:lnTo>
                  <a:lnTo>
                    <a:pt x="691848" y="3967486"/>
                  </a:lnTo>
                  <a:lnTo>
                    <a:pt x="660095" y="3935643"/>
                  </a:lnTo>
                  <a:lnTo>
                    <a:pt x="628964" y="3903208"/>
                  </a:lnTo>
                  <a:lnTo>
                    <a:pt x="598463" y="3870190"/>
                  </a:lnTo>
                  <a:lnTo>
                    <a:pt x="568602" y="3836598"/>
                  </a:lnTo>
                  <a:lnTo>
                    <a:pt x="539390" y="3802442"/>
                  </a:lnTo>
                  <a:lnTo>
                    <a:pt x="510838" y="3767731"/>
                  </a:lnTo>
                  <a:lnTo>
                    <a:pt x="482954" y="3732475"/>
                  </a:lnTo>
                  <a:lnTo>
                    <a:pt x="455749" y="3696682"/>
                  </a:lnTo>
                  <a:lnTo>
                    <a:pt x="429230" y="3660363"/>
                  </a:lnTo>
                  <a:lnTo>
                    <a:pt x="403409" y="3623525"/>
                  </a:lnTo>
                  <a:lnTo>
                    <a:pt x="378295" y="3586180"/>
                  </a:lnTo>
                  <a:lnTo>
                    <a:pt x="353896" y="3548336"/>
                  </a:lnTo>
                  <a:lnTo>
                    <a:pt x="330223" y="3510002"/>
                  </a:lnTo>
                  <a:lnTo>
                    <a:pt x="307285" y="3471188"/>
                  </a:lnTo>
                  <a:lnTo>
                    <a:pt x="285091" y="3431903"/>
                  </a:lnTo>
                  <a:lnTo>
                    <a:pt x="263652" y="3392157"/>
                  </a:lnTo>
                  <a:lnTo>
                    <a:pt x="242976" y="3351958"/>
                  </a:lnTo>
                  <a:lnTo>
                    <a:pt x="223073" y="3311317"/>
                  </a:lnTo>
                  <a:lnTo>
                    <a:pt x="203952" y="3270242"/>
                  </a:lnTo>
                  <a:lnTo>
                    <a:pt x="185624" y="3228744"/>
                  </a:lnTo>
                  <a:lnTo>
                    <a:pt x="168097" y="3186830"/>
                  </a:lnTo>
                  <a:lnTo>
                    <a:pt x="151381" y="3144511"/>
                  </a:lnTo>
                  <a:lnTo>
                    <a:pt x="135485" y="3101796"/>
                  </a:lnTo>
                  <a:lnTo>
                    <a:pt x="120420" y="3058694"/>
                  </a:lnTo>
                  <a:lnTo>
                    <a:pt x="106194" y="3015215"/>
                  </a:lnTo>
                  <a:lnTo>
                    <a:pt x="92817" y="2971368"/>
                  </a:lnTo>
                  <a:lnTo>
                    <a:pt x="80298" y="2927162"/>
                  </a:lnTo>
                  <a:lnTo>
                    <a:pt x="68648" y="2882607"/>
                  </a:lnTo>
                  <a:lnTo>
                    <a:pt x="57875" y="2837712"/>
                  </a:lnTo>
                  <a:lnTo>
                    <a:pt x="47988" y="2792486"/>
                  </a:lnTo>
                  <a:lnTo>
                    <a:pt x="38999" y="2746939"/>
                  </a:lnTo>
                  <a:lnTo>
                    <a:pt x="30915" y="2701080"/>
                  </a:lnTo>
                  <a:lnTo>
                    <a:pt x="23747" y="2654919"/>
                  </a:lnTo>
                  <a:lnTo>
                    <a:pt x="17503" y="2608464"/>
                  </a:lnTo>
                  <a:lnTo>
                    <a:pt x="12195" y="2561725"/>
                  </a:lnTo>
                  <a:lnTo>
                    <a:pt x="7830" y="2514712"/>
                  </a:lnTo>
                  <a:lnTo>
                    <a:pt x="4418" y="2467433"/>
                  </a:lnTo>
                  <a:lnTo>
                    <a:pt x="1970" y="2419899"/>
                  </a:lnTo>
                  <a:lnTo>
                    <a:pt x="494" y="2372118"/>
                  </a:lnTo>
                  <a:lnTo>
                    <a:pt x="0" y="23241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67" name="Google Shape;267;p21"/>
            <p:cNvSpPr/>
            <p:nvPr/>
          </p:nvSpPr>
          <p:spPr>
            <a:xfrm>
              <a:off x="5410200" y="3581400"/>
              <a:ext cx="1524000" cy="1524000"/>
            </a:xfrm>
            <a:custGeom>
              <a:rect b="b" l="l" r="r" t="t"/>
              <a:pathLst>
                <a:path extrusionOk="0" h="1524000" w="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68" name="Google Shape;268;p21"/>
            <p:cNvSpPr/>
            <p:nvPr/>
          </p:nvSpPr>
          <p:spPr>
            <a:xfrm>
              <a:off x="5410200" y="3581400"/>
              <a:ext cx="1524000" cy="1524000"/>
            </a:xfrm>
            <a:custGeom>
              <a:rect b="b" l="l" r="r" t="t"/>
              <a:pathLst>
                <a:path extrusionOk="0" h="1524000" w="1524000">
                  <a:moveTo>
                    <a:pt x="0" y="762000"/>
                  </a:moveTo>
                  <a:lnTo>
                    <a:pt x="1498" y="713805"/>
                  </a:lnTo>
                  <a:lnTo>
                    <a:pt x="5936" y="666409"/>
                  </a:lnTo>
                  <a:lnTo>
                    <a:pt x="13223" y="619898"/>
                  </a:lnTo>
                  <a:lnTo>
                    <a:pt x="23269" y="574363"/>
                  </a:lnTo>
                  <a:lnTo>
                    <a:pt x="35987" y="529893"/>
                  </a:lnTo>
                  <a:lnTo>
                    <a:pt x="51286" y="486577"/>
                  </a:lnTo>
                  <a:lnTo>
                    <a:pt x="69078" y="444504"/>
                  </a:lnTo>
                  <a:lnTo>
                    <a:pt x="89272" y="403763"/>
                  </a:lnTo>
                  <a:lnTo>
                    <a:pt x="111781" y="364444"/>
                  </a:lnTo>
                  <a:lnTo>
                    <a:pt x="136514" y="326636"/>
                  </a:lnTo>
                  <a:lnTo>
                    <a:pt x="163383" y="290429"/>
                  </a:lnTo>
                  <a:lnTo>
                    <a:pt x="192298" y="255910"/>
                  </a:lnTo>
                  <a:lnTo>
                    <a:pt x="223170" y="223170"/>
                  </a:lnTo>
                  <a:lnTo>
                    <a:pt x="255910" y="192298"/>
                  </a:lnTo>
                  <a:lnTo>
                    <a:pt x="290429" y="163383"/>
                  </a:lnTo>
                  <a:lnTo>
                    <a:pt x="326636" y="136514"/>
                  </a:lnTo>
                  <a:lnTo>
                    <a:pt x="364444" y="111781"/>
                  </a:lnTo>
                  <a:lnTo>
                    <a:pt x="403763" y="89272"/>
                  </a:lnTo>
                  <a:lnTo>
                    <a:pt x="444504" y="69078"/>
                  </a:lnTo>
                  <a:lnTo>
                    <a:pt x="486577" y="51286"/>
                  </a:lnTo>
                  <a:lnTo>
                    <a:pt x="529893" y="35987"/>
                  </a:lnTo>
                  <a:lnTo>
                    <a:pt x="574363" y="23269"/>
                  </a:lnTo>
                  <a:lnTo>
                    <a:pt x="619898" y="13223"/>
                  </a:lnTo>
                  <a:lnTo>
                    <a:pt x="666409" y="5936"/>
                  </a:lnTo>
                  <a:lnTo>
                    <a:pt x="713805" y="1498"/>
                  </a:lnTo>
                  <a:lnTo>
                    <a:pt x="762000" y="0"/>
                  </a:lnTo>
                  <a:lnTo>
                    <a:pt x="810194" y="1498"/>
                  </a:lnTo>
                  <a:lnTo>
                    <a:pt x="857590" y="5936"/>
                  </a:lnTo>
                  <a:lnTo>
                    <a:pt x="904101" y="13223"/>
                  </a:lnTo>
                  <a:lnTo>
                    <a:pt x="949636" y="23269"/>
                  </a:lnTo>
                  <a:lnTo>
                    <a:pt x="994106" y="35987"/>
                  </a:lnTo>
                  <a:lnTo>
                    <a:pt x="1037422" y="51286"/>
                  </a:lnTo>
                  <a:lnTo>
                    <a:pt x="1079495" y="69078"/>
                  </a:lnTo>
                  <a:lnTo>
                    <a:pt x="1120236" y="89272"/>
                  </a:lnTo>
                  <a:lnTo>
                    <a:pt x="1159555" y="111781"/>
                  </a:lnTo>
                  <a:lnTo>
                    <a:pt x="1197363" y="136514"/>
                  </a:lnTo>
                  <a:lnTo>
                    <a:pt x="1233570" y="163383"/>
                  </a:lnTo>
                  <a:lnTo>
                    <a:pt x="1268089" y="192298"/>
                  </a:lnTo>
                  <a:lnTo>
                    <a:pt x="1300829" y="223170"/>
                  </a:lnTo>
                  <a:lnTo>
                    <a:pt x="1331701" y="255910"/>
                  </a:lnTo>
                  <a:lnTo>
                    <a:pt x="1360616" y="290429"/>
                  </a:lnTo>
                  <a:lnTo>
                    <a:pt x="1387485" y="326636"/>
                  </a:lnTo>
                  <a:lnTo>
                    <a:pt x="1412218" y="364444"/>
                  </a:lnTo>
                  <a:lnTo>
                    <a:pt x="1434727" y="403763"/>
                  </a:lnTo>
                  <a:lnTo>
                    <a:pt x="1454921" y="444504"/>
                  </a:lnTo>
                  <a:lnTo>
                    <a:pt x="1472713" y="486577"/>
                  </a:lnTo>
                  <a:lnTo>
                    <a:pt x="1488012" y="529893"/>
                  </a:lnTo>
                  <a:lnTo>
                    <a:pt x="1500730" y="574363"/>
                  </a:lnTo>
                  <a:lnTo>
                    <a:pt x="1510776" y="619898"/>
                  </a:lnTo>
                  <a:lnTo>
                    <a:pt x="1518063" y="666409"/>
                  </a:lnTo>
                  <a:lnTo>
                    <a:pt x="1522501" y="713805"/>
                  </a:lnTo>
                  <a:lnTo>
                    <a:pt x="1524000" y="762000"/>
                  </a:lnTo>
                  <a:lnTo>
                    <a:pt x="1522501" y="810194"/>
                  </a:lnTo>
                  <a:lnTo>
                    <a:pt x="1518063" y="857590"/>
                  </a:lnTo>
                  <a:lnTo>
                    <a:pt x="1510776" y="904101"/>
                  </a:lnTo>
                  <a:lnTo>
                    <a:pt x="1500730" y="949636"/>
                  </a:lnTo>
                  <a:lnTo>
                    <a:pt x="1488012" y="994106"/>
                  </a:lnTo>
                  <a:lnTo>
                    <a:pt x="1472713" y="1037422"/>
                  </a:lnTo>
                  <a:lnTo>
                    <a:pt x="1454921" y="1079495"/>
                  </a:lnTo>
                  <a:lnTo>
                    <a:pt x="1434727" y="1120236"/>
                  </a:lnTo>
                  <a:lnTo>
                    <a:pt x="1412218" y="1159555"/>
                  </a:lnTo>
                  <a:lnTo>
                    <a:pt x="1387485" y="1197363"/>
                  </a:lnTo>
                  <a:lnTo>
                    <a:pt x="1360616" y="1233570"/>
                  </a:lnTo>
                  <a:lnTo>
                    <a:pt x="1331701" y="1268089"/>
                  </a:lnTo>
                  <a:lnTo>
                    <a:pt x="1300829" y="1300829"/>
                  </a:lnTo>
                  <a:lnTo>
                    <a:pt x="1268089" y="1331701"/>
                  </a:lnTo>
                  <a:lnTo>
                    <a:pt x="1233570" y="1360616"/>
                  </a:lnTo>
                  <a:lnTo>
                    <a:pt x="1197363" y="1387485"/>
                  </a:lnTo>
                  <a:lnTo>
                    <a:pt x="1159555" y="1412218"/>
                  </a:lnTo>
                  <a:lnTo>
                    <a:pt x="1120236" y="1434727"/>
                  </a:lnTo>
                  <a:lnTo>
                    <a:pt x="1079495" y="1454921"/>
                  </a:lnTo>
                  <a:lnTo>
                    <a:pt x="1037422" y="1472713"/>
                  </a:lnTo>
                  <a:lnTo>
                    <a:pt x="994106" y="1488012"/>
                  </a:lnTo>
                  <a:lnTo>
                    <a:pt x="949636" y="1500730"/>
                  </a:lnTo>
                  <a:lnTo>
                    <a:pt x="904101" y="1510776"/>
                  </a:lnTo>
                  <a:lnTo>
                    <a:pt x="857590" y="1518063"/>
                  </a:lnTo>
                  <a:lnTo>
                    <a:pt x="810194" y="1522501"/>
                  </a:lnTo>
                  <a:lnTo>
                    <a:pt x="762000" y="1524000"/>
                  </a:lnTo>
                  <a:lnTo>
                    <a:pt x="713805" y="1522501"/>
                  </a:lnTo>
                  <a:lnTo>
                    <a:pt x="666409" y="1518063"/>
                  </a:lnTo>
                  <a:lnTo>
                    <a:pt x="619898" y="1510776"/>
                  </a:lnTo>
                  <a:lnTo>
                    <a:pt x="574363" y="1500730"/>
                  </a:lnTo>
                  <a:lnTo>
                    <a:pt x="529893" y="1488012"/>
                  </a:lnTo>
                  <a:lnTo>
                    <a:pt x="486577" y="1472713"/>
                  </a:lnTo>
                  <a:lnTo>
                    <a:pt x="444504" y="1454921"/>
                  </a:lnTo>
                  <a:lnTo>
                    <a:pt x="403763" y="1434727"/>
                  </a:lnTo>
                  <a:lnTo>
                    <a:pt x="364444" y="1412218"/>
                  </a:lnTo>
                  <a:lnTo>
                    <a:pt x="326636" y="1387485"/>
                  </a:lnTo>
                  <a:lnTo>
                    <a:pt x="290429" y="1360616"/>
                  </a:lnTo>
                  <a:lnTo>
                    <a:pt x="255910" y="1331701"/>
                  </a:lnTo>
                  <a:lnTo>
                    <a:pt x="223170" y="1300829"/>
                  </a:lnTo>
                  <a:lnTo>
                    <a:pt x="192298" y="1268089"/>
                  </a:lnTo>
                  <a:lnTo>
                    <a:pt x="163383" y="1233570"/>
                  </a:lnTo>
                  <a:lnTo>
                    <a:pt x="136514" y="1197363"/>
                  </a:lnTo>
                  <a:lnTo>
                    <a:pt x="111781" y="1159555"/>
                  </a:lnTo>
                  <a:lnTo>
                    <a:pt x="89272" y="1120236"/>
                  </a:lnTo>
                  <a:lnTo>
                    <a:pt x="69078" y="1079495"/>
                  </a:lnTo>
                  <a:lnTo>
                    <a:pt x="51286" y="1037422"/>
                  </a:lnTo>
                  <a:lnTo>
                    <a:pt x="35987" y="994106"/>
                  </a:lnTo>
                  <a:lnTo>
                    <a:pt x="23269" y="949636"/>
                  </a:lnTo>
                  <a:lnTo>
                    <a:pt x="13223" y="904101"/>
                  </a:lnTo>
                  <a:lnTo>
                    <a:pt x="5936" y="857590"/>
                  </a:lnTo>
                  <a:lnTo>
                    <a:pt x="1498" y="810194"/>
                  </a:lnTo>
                  <a:lnTo>
                    <a:pt x="0" y="762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69" name="Google Shape;269;p21"/>
            <p:cNvSpPr/>
            <p:nvPr/>
          </p:nvSpPr>
          <p:spPr>
            <a:xfrm>
              <a:off x="4648200" y="2743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1"/>
                  </a:lnTo>
                  <a:lnTo>
                    <a:pt x="6811" y="782815"/>
                  </a:lnTo>
                  <a:lnTo>
                    <a:pt x="15151" y="829814"/>
                  </a:lnTo>
                  <a:lnTo>
                    <a:pt x="26625" y="875652"/>
                  </a:lnTo>
                  <a:lnTo>
                    <a:pt x="41118" y="920213"/>
                  </a:lnTo>
                  <a:lnTo>
                    <a:pt x="58514" y="963381"/>
                  </a:lnTo>
                  <a:lnTo>
                    <a:pt x="78696" y="1005040"/>
                  </a:lnTo>
                  <a:lnTo>
                    <a:pt x="101548" y="1045074"/>
                  </a:lnTo>
                  <a:lnTo>
                    <a:pt x="126954" y="1083366"/>
                  </a:lnTo>
                  <a:lnTo>
                    <a:pt x="154798" y="1119801"/>
                  </a:lnTo>
                  <a:lnTo>
                    <a:pt x="184964" y="1154263"/>
                  </a:lnTo>
                  <a:lnTo>
                    <a:pt x="217336" y="1186635"/>
                  </a:lnTo>
                  <a:lnTo>
                    <a:pt x="251798" y="1216801"/>
                  </a:lnTo>
                  <a:lnTo>
                    <a:pt x="288233" y="1244645"/>
                  </a:lnTo>
                  <a:lnTo>
                    <a:pt x="326525" y="1270051"/>
                  </a:lnTo>
                  <a:lnTo>
                    <a:pt x="366559" y="1292903"/>
                  </a:lnTo>
                  <a:lnTo>
                    <a:pt x="408218" y="1313085"/>
                  </a:lnTo>
                  <a:lnTo>
                    <a:pt x="451386" y="1330481"/>
                  </a:lnTo>
                  <a:lnTo>
                    <a:pt x="495947" y="1344974"/>
                  </a:lnTo>
                  <a:lnTo>
                    <a:pt x="541785" y="1356448"/>
                  </a:lnTo>
                  <a:lnTo>
                    <a:pt x="588784" y="1364788"/>
                  </a:lnTo>
                  <a:lnTo>
                    <a:pt x="636828" y="1369877"/>
                  </a:lnTo>
                  <a:lnTo>
                    <a:pt x="685800" y="1371600"/>
                  </a:lnTo>
                  <a:lnTo>
                    <a:pt x="734771" y="1369877"/>
                  </a:lnTo>
                  <a:lnTo>
                    <a:pt x="782815" y="1364788"/>
                  </a:lnTo>
                  <a:lnTo>
                    <a:pt x="829814" y="1356448"/>
                  </a:lnTo>
                  <a:lnTo>
                    <a:pt x="875652" y="1344974"/>
                  </a:lnTo>
                  <a:lnTo>
                    <a:pt x="920213" y="1330481"/>
                  </a:lnTo>
                  <a:lnTo>
                    <a:pt x="963381" y="1313085"/>
                  </a:lnTo>
                  <a:lnTo>
                    <a:pt x="1005040" y="1292903"/>
                  </a:lnTo>
                  <a:lnTo>
                    <a:pt x="1045074" y="1270051"/>
                  </a:lnTo>
                  <a:lnTo>
                    <a:pt x="1083366" y="1244645"/>
                  </a:lnTo>
                  <a:lnTo>
                    <a:pt x="1119801" y="1216801"/>
                  </a:lnTo>
                  <a:lnTo>
                    <a:pt x="1154263" y="1186635"/>
                  </a:lnTo>
                  <a:lnTo>
                    <a:pt x="1186635" y="1154263"/>
                  </a:lnTo>
                  <a:lnTo>
                    <a:pt x="1216801" y="1119801"/>
                  </a:lnTo>
                  <a:lnTo>
                    <a:pt x="1244645" y="1083366"/>
                  </a:lnTo>
                  <a:lnTo>
                    <a:pt x="1270051" y="1045074"/>
                  </a:lnTo>
                  <a:lnTo>
                    <a:pt x="1292903" y="1005040"/>
                  </a:lnTo>
                  <a:lnTo>
                    <a:pt x="1313085" y="963381"/>
                  </a:lnTo>
                  <a:lnTo>
                    <a:pt x="1330481" y="920213"/>
                  </a:lnTo>
                  <a:lnTo>
                    <a:pt x="1344974" y="875652"/>
                  </a:lnTo>
                  <a:lnTo>
                    <a:pt x="1356448" y="829814"/>
                  </a:lnTo>
                  <a:lnTo>
                    <a:pt x="1364788" y="782815"/>
                  </a:lnTo>
                  <a:lnTo>
                    <a:pt x="1369877" y="734771"/>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70" name="Google Shape;270;p21"/>
            <p:cNvSpPr/>
            <p:nvPr/>
          </p:nvSpPr>
          <p:spPr>
            <a:xfrm>
              <a:off x="4648200" y="2743200"/>
              <a:ext cx="1371600" cy="1371600"/>
            </a:xfrm>
            <a:custGeom>
              <a:rect b="b" l="l" r="r" t="t"/>
              <a:pathLst>
                <a:path extrusionOk="0" h="1371600" w="1371600">
                  <a:moveTo>
                    <a:pt x="0" y="685800"/>
                  </a:moveTo>
                  <a:lnTo>
                    <a:pt x="1722" y="636828"/>
                  </a:lnTo>
                  <a:lnTo>
                    <a:pt x="6811" y="588784"/>
                  </a:lnTo>
                  <a:lnTo>
                    <a:pt x="15151" y="541785"/>
                  </a:lnTo>
                  <a:lnTo>
                    <a:pt x="26625" y="495947"/>
                  </a:lnTo>
                  <a:lnTo>
                    <a:pt x="41118" y="451386"/>
                  </a:lnTo>
                  <a:lnTo>
                    <a:pt x="58514" y="408218"/>
                  </a:lnTo>
                  <a:lnTo>
                    <a:pt x="78696" y="366559"/>
                  </a:lnTo>
                  <a:lnTo>
                    <a:pt x="101548" y="326525"/>
                  </a:lnTo>
                  <a:lnTo>
                    <a:pt x="126954" y="288233"/>
                  </a:lnTo>
                  <a:lnTo>
                    <a:pt x="154798" y="251798"/>
                  </a:lnTo>
                  <a:lnTo>
                    <a:pt x="184964" y="217336"/>
                  </a:lnTo>
                  <a:lnTo>
                    <a:pt x="217336" y="184964"/>
                  </a:lnTo>
                  <a:lnTo>
                    <a:pt x="251798" y="154798"/>
                  </a:lnTo>
                  <a:lnTo>
                    <a:pt x="288233" y="126954"/>
                  </a:lnTo>
                  <a:lnTo>
                    <a:pt x="326525" y="101548"/>
                  </a:lnTo>
                  <a:lnTo>
                    <a:pt x="366559" y="78696"/>
                  </a:lnTo>
                  <a:lnTo>
                    <a:pt x="408218" y="58514"/>
                  </a:lnTo>
                  <a:lnTo>
                    <a:pt x="451386" y="41118"/>
                  </a:lnTo>
                  <a:lnTo>
                    <a:pt x="495947" y="26625"/>
                  </a:lnTo>
                  <a:lnTo>
                    <a:pt x="541785" y="15151"/>
                  </a:lnTo>
                  <a:lnTo>
                    <a:pt x="588784" y="6811"/>
                  </a:lnTo>
                  <a:lnTo>
                    <a:pt x="636828" y="1722"/>
                  </a:lnTo>
                  <a:lnTo>
                    <a:pt x="685800" y="0"/>
                  </a:lnTo>
                  <a:lnTo>
                    <a:pt x="734771" y="1722"/>
                  </a:lnTo>
                  <a:lnTo>
                    <a:pt x="782815" y="6811"/>
                  </a:lnTo>
                  <a:lnTo>
                    <a:pt x="829814" y="15151"/>
                  </a:lnTo>
                  <a:lnTo>
                    <a:pt x="875652" y="26625"/>
                  </a:lnTo>
                  <a:lnTo>
                    <a:pt x="920213" y="41118"/>
                  </a:lnTo>
                  <a:lnTo>
                    <a:pt x="963381" y="58514"/>
                  </a:lnTo>
                  <a:lnTo>
                    <a:pt x="1005040" y="78696"/>
                  </a:lnTo>
                  <a:lnTo>
                    <a:pt x="1045074" y="101548"/>
                  </a:lnTo>
                  <a:lnTo>
                    <a:pt x="1083366" y="126954"/>
                  </a:lnTo>
                  <a:lnTo>
                    <a:pt x="1119801" y="154798"/>
                  </a:lnTo>
                  <a:lnTo>
                    <a:pt x="1154263" y="184964"/>
                  </a:lnTo>
                  <a:lnTo>
                    <a:pt x="1186635" y="217336"/>
                  </a:lnTo>
                  <a:lnTo>
                    <a:pt x="1216801" y="251798"/>
                  </a:lnTo>
                  <a:lnTo>
                    <a:pt x="1244645" y="288233"/>
                  </a:lnTo>
                  <a:lnTo>
                    <a:pt x="1270051" y="326525"/>
                  </a:lnTo>
                  <a:lnTo>
                    <a:pt x="1292903" y="366559"/>
                  </a:lnTo>
                  <a:lnTo>
                    <a:pt x="1313085" y="408218"/>
                  </a:lnTo>
                  <a:lnTo>
                    <a:pt x="1330481" y="451386"/>
                  </a:lnTo>
                  <a:lnTo>
                    <a:pt x="1344974" y="495947"/>
                  </a:lnTo>
                  <a:lnTo>
                    <a:pt x="1356448" y="541785"/>
                  </a:lnTo>
                  <a:lnTo>
                    <a:pt x="1364788" y="588784"/>
                  </a:lnTo>
                  <a:lnTo>
                    <a:pt x="1369877" y="636828"/>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28" y="1369877"/>
                  </a:lnTo>
                  <a:lnTo>
                    <a:pt x="588784" y="1364788"/>
                  </a:lnTo>
                  <a:lnTo>
                    <a:pt x="541785" y="1356448"/>
                  </a:lnTo>
                  <a:lnTo>
                    <a:pt x="495947" y="1344974"/>
                  </a:lnTo>
                  <a:lnTo>
                    <a:pt x="451386" y="1330481"/>
                  </a:lnTo>
                  <a:lnTo>
                    <a:pt x="408218" y="1313085"/>
                  </a:lnTo>
                  <a:lnTo>
                    <a:pt x="366559" y="1292903"/>
                  </a:lnTo>
                  <a:lnTo>
                    <a:pt x="326525" y="1270051"/>
                  </a:lnTo>
                  <a:lnTo>
                    <a:pt x="288233" y="1244645"/>
                  </a:lnTo>
                  <a:lnTo>
                    <a:pt x="251798" y="1216801"/>
                  </a:lnTo>
                  <a:lnTo>
                    <a:pt x="217336" y="1186635"/>
                  </a:lnTo>
                  <a:lnTo>
                    <a:pt x="184964" y="1154263"/>
                  </a:lnTo>
                  <a:lnTo>
                    <a:pt x="154798" y="1119801"/>
                  </a:lnTo>
                  <a:lnTo>
                    <a:pt x="126954" y="1083366"/>
                  </a:lnTo>
                  <a:lnTo>
                    <a:pt x="101548" y="1045074"/>
                  </a:lnTo>
                  <a:lnTo>
                    <a:pt x="78696" y="1005040"/>
                  </a:lnTo>
                  <a:lnTo>
                    <a:pt x="58514" y="963381"/>
                  </a:lnTo>
                  <a:lnTo>
                    <a:pt x="41118" y="920213"/>
                  </a:lnTo>
                  <a:lnTo>
                    <a:pt x="26625" y="875652"/>
                  </a:lnTo>
                  <a:lnTo>
                    <a:pt x="15151" y="829814"/>
                  </a:lnTo>
                  <a:lnTo>
                    <a:pt x="6811" y="782815"/>
                  </a:lnTo>
                  <a:lnTo>
                    <a:pt x="1722" y="734771"/>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71" name="Google Shape;271;p21"/>
            <p:cNvSpPr/>
            <p:nvPr/>
          </p:nvSpPr>
          <p:spPr>
            <a:xfrm>
              <a:off x="6400800" y="2743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1"/>
                  </a:lnTo>
                  <a:lnTo>
                    <a:pt x="6811" y="782815"/>
                  </a:lnTo>
                  <a:lnTo>
                    <a:pt x="15151" y="829814"/>
                  </a:lnTo>
                  <a:lnTo>
                    <a:pt x="26625" y="875652"/>
                  </a:lnTo>
                  <a:lnTo>
                    <a:pt x="41118" y="920213"/>
                  </a:lnTo>
                  <a:lnTo>
                    <a:pt x="58514" y="963381"/>
                  </a:lnTo>
                  <a:lnTo>
                    <a:pt x="78696" y="1005040"/>
                  </a:lnTo>
                  <a:lnTo>
                    <a:pt x="101548" y="1045074"/>
                  </a:lnTo>
                  <a:lnTo>
                    <a:pt x="126954" y="1083366"/>
                  </a:lnTo>
                  <a:lnTo>
                    <a:pt x="154798" y="1119801"/>
                  </a:lnTo>
                  <a:lnTo>
                    <a:pt x="184964" y="1154263"/>
                  </a:lnTo>
                  <a:lnTo>
                    <a:pt x="217336" y="1186635"/>
                  </a:lnTo>
                  <a:lnTo>
                    <a:pt x="251798" y="1216801"/>
                  </a:lnTo>
                  <a:lnTo>
                    <a:pt x="288233" y="1244645"/>
                  </a:lnTo>
                  <a:lnTo>
                    <a:pt x="326525" y="1270051"/>
                  </a:lnTo>
                  <a:lnTo>
                    <a:pt x="366559" y="1292903"/>
                  </a:lnTo>
                  <a:lnTo>
                    <a:pt x="408218" y="1313085"/>
                  </a:lnTo>
                  <a:lnTo>
                    <a:pt x="451386" y="1330481"/>
                  </a:lnTo>
                  <a:lnTo>
                    <a:pt x="495947" y="1344974"/>
                  </a:lnTo>
                  <a:lnTo>
                    <a:pt x="541785" y="1356448"/>
                  </a:lnTo>
                  <a:lnTo>
                    <a:pt x="588784" y="1364788"/>
                  </a:lnTo>
                  <a:lnTo>
                    <a:pt x="636828" y="1369877"/>
                  </a:lnTo>
                  <a:lnTo>
                    <a:pt x="685800" y="1371600"/>
                  </a:lnTo>
                  <a:lnTo>
                    <a:pt x="734771" y="1369877"/>
                  </a:lnTo>
                  <a:lnTo>
                    <a:pt x="782815" y="1364788"/>
                  </a:lnTo>
                  <a:lnTo>
                    <a:pt x="829814" y="1356448"/>
                  </a:lnTo>
                  <a:lnTo>
                    <a:pt x="875652" y="1344974"/>
                  </a:lnTo>
                  <a:lnTo>
                    <a:pt x="920213" y="1330481"/>
                  </a:lnTo>
                  <a:lnTo>
                    <a:pt x="963381" y="1313085"/>
                  </a:lnTo>
                  <a:lnTo>
                    <a:pt x="1005040" y="1292903"/>
                  </a:lnTo>
                  <a:lnTo>
                    <a:pt x="1045074" y="1270051"/>
                  </a:lnTo>
                  <a:lnTo>
                    <a:pt x="1083366" y="1244645"/>
                  </a:lnTo>
                  <a:lnTo>
                    <a:pt x="1119801" y="1216801"/>
                  </a:lnTo>
                  <a:lnTo>
                    <a:pt x="1154263" y="1186635"/>
                  </a:lnTo>
                  <a:lnTo>
                    <a:pt x="1186635" y="1154263"/>
                  </a:lnTo>
                  <a:lnTo>
                    <a:pt x="1216801" y="1119801"/>
                  </a:lnTo>
                  <a:lnTo>
                    <a:pt x="1244645" y="1083366"/>
                  </a:lnTo>
                  <a:lnTo>
                    <a:pt x="1270051" y="1045074"/>
                  </a:lnTo>
                  <a:lnTo>
                    <a:pt x="1292903" y="1005040"/>
                  </a:lnTo>
                  <a:lnTo>
                    <a:pt x="1313085" y="963381"/>
                  </a:lnTo>
                  <a:lnTo>
                    <a:pt x="1330481" y="920213"/>
                  </a:lnTo>
                  <a:lnTo>
                    <a:pt x="1344974" y="875652"/>
                  </a:lnTo>
                  <a:lnTo>
                    <a:pt x="1356448" y="829814"/>
                  </a:lnTo>
                  <a:lnTo>
                    <a:pt x="1364788" y="782815"/>
                  </a:lnTo>
                  <a:lnTo>
                    <a:pt x="1369877" y="734771"/>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72" name="Google Shape;272;p21"/>
            <p:cNvSpPr/>
            <p:nvPr/>
          </p:nvSpPr>
          <p:spPr>
            <a:xfrm>
              <a:off x="6400800" y="2743200"/>
              <a:ext cx="1371600" cy="1371600"/>
            </a:xfrm>
            <a:custGeom>
              <a:rect b="b" l="l" r="r" t="t"/>
              <a:pathLst>
                <a:path extrusionOk="0" h="1371600" w="1371600">
                  <a:moveTo>
                    <a:pt x="0" y="685800"/>
                  </a:moveTo>
                  <a:lnTo>
                    <a:pt x="1722" y="636828"/>
                  </a:lnTo>
                  <a:lnTo>
                    <a:pt x="6811" y="588784"/>
                  </a:lnTo>
                  <a:lnTo>
                    <a:pt x="15151" y="541785"/>
                  </a:lnTo>
                  <a:lnTo>
                    <a:pt x="26625" y="495947"/>
                  </a:lnTo>
                  <a:lnTo>
                    <a:pt x="41118" y="451386"/>
                  </a:lnTo>
                  <a:lnTo>
                    <a:pt x="58514" y="408218"/>
                  </a:lnTo>
                  <a:lnTo>
                    <a:pt x="78696" y="366559"/>
                  </a:lnTo>
                  <a:lnTo>
                    <a:pt x="101548" y="326525"/>
                  </a:lnTo>
                  <a:lnTo>
                    <a:pt x="126954" y="288233"/>
                  </a:lnTo>
                  <a:lnTo>
                    <a:pt x="154798" y="251798"/>
                  </a:lnTo>
                  <a:lnTo>
                    <a:pt x="184964" y="217336"/>
                  </a:lnTo>
                  <a:lnTo>
                    <a:pt x="217336" y="184964"/>
                  </a:lnTo>
                  <a:lnTo>
                    <a:pt x="251798" y="154798"/>
                  </a:lnTo>
                  <a:lnTo>
                    <a:pt x="288233" y="126954"/>
                  </a:lnTo>
                  <a:lnTo>
                    <a:pt x="326525" y="101548"/>
                  </a:lnTo>
                  <a:lnTo>
                    <a:pt x="366559" y="78696"/>
                  </a:lnTo>
                  <a:lnTo>
                    <a:pt x="408218" y="58514"/>
                  </a:lnTo>
                  <a:lnTo>
                    <a:pt x="451386" y="41118"/>
                  </a:lnTo>
                  <a:lnTo>
                    <a:pt x="495947" y="26625"/>
                  </a:lnTo>
                  <a:lnTo>
                    <a:pt x="541785" y="15151"/>
                  </a:lnTo>
                  <a:lnTo>
                    <a:pt x="588784" y="6811"/>
                  </a:lnTo>
                  <a:lnTo>
                    <a:pt x="636828" y="1722"/>
                  </a:lnTo>
                  <a:lnTo>
                    <a:pt x="685800" y="0"/>
                  </a:lnTo>
                  <a:lnTo>
                    <a:pt x="734771" y="1722"/>
                  </a:lnTo>
                  <a:lnTo>
                    <a:pt x="782815" y="6811"/>
                  </a:lnTo>
                  <a:lnTo>
                    <a:pt x="829814" y="15151"/>
                  </a:lnTo>
                  <a:lnTo>
                    <a:pt x="875652" y="26625"/>
                  </a:lnTo>
                  <a:lnTo>
                    <a:pt x="920213" y="41118"/>
                  </a:lnTo>
                  <a:lnTo>
                    <a:pt x="963381" y="58514"/>
                  </a:lnTo>
                  <a:lnTo>
                    <a:pt x="1005040" y="78696"/>
                  </a:lnTo>
                  <a:lnTo>
                    <a:pt x="1045074" y="101548"/>
                  </a:lnTo>
                  <a:lnTo>
                    <a:pt x="1083366" y="126954"/>
                  </a:lnTo>
                  <a:lnTo>
                    <a:pt x="1119801" y="154798"/>
                  </a:lnTo>
                  <a:lnTo>
                    <a:pt x="1154263" y="184964"/>
                  </a:lnTo>
                  <a:lnTo>
                    <a:pt x="1186635" y="217336"/>
                  </a:lnTo>
                  <a:lnTo>
                    <a:pt x="1216801" y="251798"/>
                  </a:lnTo>
                  <a:lnTo>
                    <a:pt x="1244645" y="288233"/>
                  </a:lnTo>
                  <a:lnTo>
                    <a:pt x="1270051" y="326525"/>
                  </a:lnTo>
                  <a:lnTo>
                    <a:pt x="1292903" y="366559"/>
                  </a:lnTo>
                  <a:lnTo>
                    <a:pt x="1313085" y="408218"/>
                  </a:lnTo>
                  <a:lnTo>
                    <a:pt x="1330481" y="451386"/>
                  </a:lnTo>
                  <a:lnTo>
                    <a:pt x="1344974" y="495947"/>
                  </a:lnTo>
                  <a:lnTo>
                    <a:pt x="1356448" y="541785"/>
                  </a:lnTo>
                  <a:lnTo>
                    <a:pt x="1364788" y="588784"/>
                  </a:lnTo>
                  <a:lnTo>
                    <a:pt x="1369877" y="636828"/>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28" y="1369877"/>
                  </a:lnTo>
                  <a:lnTo>
                    <a:pt x="588784" y="1364788"/>
                  </a:lnTo>
                  <a:lnTo>
                    <a:pt x="541785" y="1356448"/>
                  </a:lnTo>
                  <a:lnTo>
                    <a:pt x="495947" y="1344974"/>
                  </a:lnTo>
                  <a:lnTo>
                    <a:pt x="451386" y="1330481"/>
                  </a:lnTo>
                  <a:lnTo>
                    <a:pt x="408218" y="1313085"/>
                  </a:lnTo>
                  <a:lnTo>
                    <a:pt x="366559" y="1292903"/>
                  </a:lnTo>
                  <a:lnTo>
                    <a:pt x="326525" y="1270051"/>
                  </a:lnTo>
                  <a:lnTo>
                    <a:pt x="288233" y="1244645"/>
                  </a:lnTo>
                  <a:lnTo>
                    <a:pt x="251798" y="1216801"/>
                  </a:lnTo>
                  <a:lnTo>
                    <a:pt x="217336" y="1186635"/>
                  </a:lnTo>
                  <a:lnTo>
                    <a:pt x="184964" y="1154263"/>
                  </a:lnTo>
                  <a:lnTo>
                    <a:pt x="154798" y="1119801"/>
                  </a:lnTo>
                  <a:lnTo>
                    <a:pt x="126954" y="1083366"/>
                  </a:lnTo>
                  <a:lnTo>
                    <a:pt x="101548" y="1045074"/>
                  </a:lnTo>
                  <a:lnTo>
                    <a:pt x="78696" y="1005040"/>
                  </a:lnTo>
                  <a:lnTo>
                    <a:pt x="58514" y="963381"/>
                  </a:lnTo>
                  <a:lnTo>
                    <a:pt x="41118" y="920213"/>
                  </a:lnTo>
                  <a:lnTo>
                    <a:pt x="26625" y="875652"/>
                  </a:lnTo>
                  <a:lnTo>
                    <a:pt x="15151" y="829814"/>
                  </a:lnTo>
                  <a:lnTo>
                    <a:pt x="6811" y="782815"/>
                  </a:lnTo>
                  <a:lnTo>
                    <a:pt x="1722" y="734771"/>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73" name="Google Shape;273;p21"/>
            <p:cNvSpPr/>
            <p:nvPr/>
          </p:nvSpPr>
          <p:spPr>
            <a:xfrm>
              <a:off x="5486400" y="48006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6"/>
                  </a:lnTo>
                  <a:lnTo>
                    <a:pt x="6811" y="782823"/>
                  </a:lnTo>
                  <a:lnTo>
                    <a:pt x="15151" y="829825"/>
                  </a:lnTo>
                  <a:lnTo>
                    <a:pt x="26625" y="875665"/>
                  </a:lnTo>
                  <a:lnTo>
                    <a:pt x="41118" y="920228"/>
                  </a:lnTo>
                  <a:lnTo>
                    <a:pt x="58514" y="963397"/>
                  </a:lnTo>
                  <a:lnTo>
                    <a:pt x="78696" y="1005057"/>
                  </a:lnTo>
                  <a:lnTo>
                    <a:pt x="101548" y="1045091"/>
                  </a:lnTo>
                  <a:lnTo>
                    <a:pt x="126954" y="1083383"/>
                  </a:lnTo>
                  <a:lnTo>
                    <a:pt x="154798" y="1119817"/>
                  </a:lnTo>
                  <a:lnTo>
                    <a:pt x="184964" y="1154278"/>
                  </a:lnTo>
                  <a:lnTo>
                    <a:pt x="217336" y="1186648"/>
                  </a:lnTo>
                  <a:lnTo>
                    <a:pt x="251798" y="1216813"/>
                  </a:lnTo>
                  <a:lnTo>
                    <a:pt x="288233" y="1244656"/>
                  </a:lnTo>
                  <a:lnTo>
                    <a:pt x="326525" y="1270060"/>
                  </a:lnTo>
                  <a:lnTo>
                    <a:pt x="366559" y="1292911"/>
                  </a:lnTo>
                  <a:lnTo>
                    <a:pt x="408218" y="1313091"/>
                  </a:lnTo>
                  <a:lnTo>
                    <a:pt x="451386" y="1330485"/>
                  </a:lnTo>
                  <a:lnTo>
                    <a:pt x="495947" y="1344977"/>
                  </a:lnTo>
                  <a:lnTo>
                    <a:pt x="541785" y="1356450"/>
                  </a:lnTo>
                  <a:lnTo>
                    <a:pt x="588784" y="1364789"/>
                  </a:lnTo>
                  <a:lnTo>
                    <a:pt x="636828" y="1369878"/>
                  </a:lnTo>
                  <a:lnTo>
                    <a:pt x="685800" y="1371600"/>
                  </a:lnTo>
                  <a:lnTo>
                    <a:pt x="734771" y="1369878"/>
                  </a:lnTo>
                  <a:lnTo>
                    <a:pt x="782815" y="1364789"/>
                  </a:lnTo>
                  <a:lnTo>
                    <a:pt x="829814" y="1356450"/>
                  </a:lnTo>
                  <a:lnTo>
                    <a:pt x="875652" y="1344977"/>
                  </a:lnTo>
                  <a:lnTo>
                    <a:pt x="920213" y="1330485"/>
                  </a:lnTo>
                  <a:lnTo>
                    <a:pt x="963381" y="1313091"/>
                  </a:lnTo>
                  <a:lnTo>
                    <a:pt x="1005040" y="1292911"/>
                  </a:lnTo>
                  <a:lnTo>
                    <a:pt x="1045074" y="1270060"/>
                  </a:lnTo>
                  <a:lnTo>
                    <a:pt x="1083366" y="1244656"/>
                  </a:lnTo>
                  <a:lnTo>
                    <a:pt x="1119801" y="1216813"/>
                  </a:lnTo>
                  <a:lnTo>
                    <a:pt x="1154263" y="1186648"/>
                  </a:lnTo>
                  <a:lnTo>
                    <a:pt x="1186635" y="1154278"/>
                  </a:lnTo>
                  <a:lnTo>
                    <a:pt x="1216801" y="1119817"/>
                  </a:lnTo>
                  <a:lnTo>
                    <a:pt x="1244645" y="1083383"/>
                  </a:lnTo>
                  <a:lnTo>
                    <a:pt x="1270051" y="1045091"/>
                  </a:lnTo>
                  <a:lnTo>
                    <a:pt x="1292903" y="1005057"/>
                  </a:lnTo>
                  <a:lnTo>
                    <a:pt x="1313085" y="963397"/>
                  </a:lnTo>
                  <a:lnTo>
                    <a:pt x="1330481" y="920228"/>
                  </a:lnTo>
                  <a:lnTo>
                    <a:pt x="1344974" y="875665"/>
                  </a:lnTo>
                  <a:lnTo>
                    <a:pt x="1356448" y="829825"/>
                  </a:lnTo>
                  <a:lnTo>
                    <a:pt x="1364788" y="782823"/>
                  </a:lnTo>
                  <a:lnTo>
                    <a:pt x="1369877" y="734776"/>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74" name="Google Shape;274;p21"/>
            <p:cNvSpPr/>
            <p:nvPr/>
          </p:nvSpPr>
          <p:spPr>
            <a:xfrm>
              <a:off x="533400" y="3657600"/>
              <a:ext cx="6324600" cy="2514600"/>
            </a:xfrm>
            <a:custGeom>
              <a:rect b="b" l="l" r="r" t="t"/>
              <a:pathLst>
                <a:path extrusionOk="0" h="2514600" w="6324600">
                  <a:moveTo>
                    <a:pt x="4953000" y="1828800"/>
                  </a:moveTo>
                  <a:lnTo>
                    <a:pt x="4954722" y="1779828"/>
                  </a:lnTo>
                  <a:lnTo>
                    <a:pt x="4959811" y="1731784"/>
                  </a:lnTo>
                  <a:lnTo>
                    <a:pt x="4968151" y="1684785"/>
                  </a:lnTo>
                  <a:lnTo>
                    <a:pt x="4979625" y="1638947"/>
                  </a:lnTo>
                  <a:lnTo>
                    <a:pt x="4994118" y="1594386"/>
                  </a:lnTo>
                  <a:lnTo>
                    <a:pt x="5011514" y="1551218"/>
                  </a:lnTo>
                  <a:lnTo>
                    <a:pt x="5031696" y="1509559"/>
                  </a:lnTo>
                  <a:lnTo>
                    <a:pt x="5054548" y="1469525"/>
                  </a:lnTo>
                  <a:lnTo>
                    <a:pt x="5079954" y="1431233"/>
                  </a:lnTo>
                  <a:lnTo>
                    <a:pt x="5107798" y="1394798"/>
                  </a:lnTo>
                  <a:lnTo>
                    <a:pt x="5137964" y="1360336"/>
                  </a:lnTo>
                  <a:lnTo>
                    <a:pt x="5170336" y="1327964"/>
                  </a:lnTo>
                  <a:lnTo>
                    <a:pt x="5204798" y="1297798"/>
                  </a:lnTo>
                  <a:lnTo>
                    <a:pt x="5241233" y="1269954"/>
                  </a:lnTo>
                  <a:lnTo>
                    <a:pt x="5279525" y="1244548"/>
                  </a:lnTo>
                  <a:lnTo>
                    <a:pt x="5319559" y="1221696"/>
                  </a:lnTo>
                  <a:lnTo>
                    <a:pt x="5361218" y="1201514"/>
                  </a:lnTo>
                  <a:lnTo>
                    <a:pt x="5404386" y="1184118"/>
                  </a:lnTo>
                  <a:lnTo>
                    <a:pt x="5448947" y="1169625"/>
                  </a:lnTo>
                  <a:lnTo>
                    <a:pt x="5494785" y="1158151"/>
                  </a:lnTo>
                  <a:lnTo>
                    <a:pt x="5541784" y="1149811"/>
                  </a:lnTo>
                  <a:lnTo>
                    <a:pt x="5589828" y="1144722"/>
                  </a:lnTo>
                  <a:lnTo>
                    <a:pt x="5638800" y="1143000"/>
                  </a:lnTo>
                  <a:lnTo>
                    <a:pt x="5687771" y="1144722"/>
                  </a:lnTo>
                  <a:lnTo>
                    <a:pt x="5735815" y="1149811"/>
                  </a:lnTo>
                  <a:lnTo>
                    <a:pt x="5782814" y="1158151"/>
                  </a:lnTo>
                  <a:lnTo>
                    <a:pt x="5828652" y="1169625"/>
                  </a:lnTo>
                  <a:lnTo>
                    <a:pt x="5873213" y="1184118"/>
                  </a:lnTo>
                  <a:lnTo>
                    <a:pt x="5916381" y="1201514"/>
                  </a:lnTo>
                  <a:lnTo>
                    <a:pt x="5958040" y="1221696"/>
                  </a:lnTo>
                  <a:lnTo>
                    <a:pt x="5998074" y="1244548"/>
                  </a:lnTo>
                  <a:lnTo>
                    <a:pt x="6036366" y="1269954"/>
                  </a:lnTo>
                  <a:lnTo>
                    <a:pt x="6072801" y="1297798"/>
                  </a:lnTo>
                  <a:lnTo>
                    <a:pt x="6107263" y="1327964"/>
                  </a:lnTo>
                  <a:lnTo>
                    <a:pt x="6139635" y="1360336"/>
                  </a:lnTo>
                  <a:lnTo>
                    <a:pt x="6169801" y="1394798"/>
                  </a:lnTo>
                  <a:lnTo>
                    <a:pt x="6197645" y="1431233"/>
                  </a:lnTo>
                  <a:lnTo>
                    <a:pt x="6223051" y="1469525"/>
                  </a:lnTo>
                  <a:lnTo>
                    <a:pt x="6245903" y="1509559"/>
                  </a:lnTo>
                  <a:lnTo>
                    <a:pt x="6266085" y="1551218"/>
                  </a:lnTo>
                  <a:lnTo>
                    <a:pt x="6283481" y="1594386"/>
                  </a:lnTo>
                  <a:lnTo>
                    <a:pt x="6297974" y="1638947"/>
                  </a:lnTo>
                  <a:lnTo>
                    <a:pt x="6309448" y="1684785"/>
                  </a:lnTo>
                  <a:lnTo>
                    <a:pt x="6317788" y="1731784"/>
                  </a:lnTo>
                  <a:lnTo>
                    <a:pt x="6322877" y="1779828"/>
                  </a:lnTo>
                  <a:lnTo>
                    <a:pt x="6324600" y="1828800"/>
                  </a:lnTo>
                  <a:lnTo>
                    <a:pt x="6322877" y="1877776"/>
                  </a:lnTo>
                  <a:lnTo>
                    <a:pt x="6317788" y="1925823"/>
                  </a:lnTo>
                  <a:lnTo>
                    <a:pt x="6309448" y="1972825"/>
                  </a:lnTo>
                  <a:lnTo>
                    <a:pt x="6297974" y="2018665"/>
                  </a:lnTo>
                  <a:lnTo>
                    <a:pt x="6283481" y="2063228"/>
                  </a:lnTo>
                  <a:lnTo>
                    <a:pt x="6266085" y="2106397"/>
                  </a:lnTo>
                  <a:lnTo>
                    <a:pt x="6245903" y="2148057"/>
                  </a:lnTo>
                  <a:lnTo>
                    <a:pt x="6223051" y="2188091"/>
                  </a:lnTo>
                  <a:lnTo>
                    <a:pt x="6197645" y="2226383"/>
                  </a:lnTo>
                  <a:lnTo>
                    <a:pt x="6169801" y="2262817"/>
                  </a:lnTo>
                  <a:lnTo>
                    <a:pt x="6139635" y="2297278"/>
                  </a:lnTo>
                  <a:lnTo>
                    <a:pt x="6107263" y="2329648"/>
                  </a:lnTo>
                  <a:lnTo>
                    <a:pt x="6072801" y="2359813"/>
                  </a:lnTo>
                  <a:lnTo>
                    <a:pt x="6036366" y="2387656"/>
                  </a:lnTo>
                  <a:lnTo>
                    <a:pt x="5998074" y="2413060"/>
                  </a:lnTo>
                  <a:lnTo>
                    <a:pt x="5958040" y="2435911"/>
                  </a:lnTo>
                  <a:lnTo>
                    <a:pt x="5916381" y="2456091"/>
                  </a:lnTo>
                  <a:lnTo>
                    <a:pt x="5873213" y="2473485"/>
                  </a:lnTo>
                  <a:lnTo>
                    <a:pt x="5828652" y="2487977"/>
                  </a:lnTo>
                  <a:lnTo>
                    <a:pt x="5782814" y="2499450"/>
                  </a:lnTo>
                  <a:lnTo>
                    <a:pt x="5735815" y="2507789"/>
                  </a:lnTo>
                  <a:lnTo>
                    <a:pt x="5687771" y="2512878"/>
                  </a:lnTo>
                  <a:lnTo>
                    <a:pt x="5638800" y="2514600"/>
                  </a:lnTo>
                  <a:lnTo>
                    <a:pt x="5589828" y="2512878"/>
                  </a:lnTo>
                  <a:lnTo>
                    <a:pt x="5541784" y="2507789"/>
                  </a:lnTo>
                  <a:lnTo>
                    <a:pt x="5494785" y="2499450"/>
                  </a:lnTo>
                  <a:lnTo>
                    <a:pt x="5448947" y="2487977"/>
                  </a:lnTo>
                  <a:lnTo>
                    <a:pt x="5404386" y="2473485"/>
                  </a:lnTo>
                  <a:lnTo>
                    <a:pt x="5361218" y="2456091"/>
                  </a:lnTo>
                  <a:lnTo>
                    <a:pt x="5319559" y="2435911"/>
                  </a:lnTo>
                  <a:lnTo>
                    <a:pt x="5279525" y="2413060"/>
                  </a:lnTo>
                  <a:lnTo>
                    <a:pt x="5241233" y="2387656"/>
                  </a:lnTo>
                  <a:lnTo>
                    <a:pt x="5204798" y="2359813"/>
                  </a:lnTo>
                  <a:lnTo>
                    <a:pt x="5170336" y="2329648"/>
                  </a:lnTo>
                  <a:lnTo>
                    <a:pt x="5137964" y="2297278"/>
                  </a:lnTo>
                  <a:lnTo>
                    <a:pt x="5107798" y="2262817"/>
                  </a:lnTo>
                  <a:lnTo>
                    <a:pt x="5079954" y="2226383"/>
                  </a:lnTo>
                  <a:lnTo>
                    <a:pt x="5054548" y="2188091"/>
                  </a:lnTo>
                  <a:lnTo>
                    <a:pt x="5031696" y="2148057"/>
                  </a:lnTo>
                  <a:lnTo>
                    <a:pt x="5011514" y="2106397"/>
                  </a:lnTo>
                  <a:lnTo>
                    <a:pt x="4994118" y="2063228"/>
                  </a:lnTo>
                  <a:lnTo>
                    <a:pt x="4979625" y="2018665"/>
                  </a:lnTo>
                  <a:lnTo>
                    <a:pt x="4968151" y="1972825"/>
                  </a:lnTo>
                  <a:lnTo>
                    <a:pt x="4959811" y="1925823"/>
                  </a:lnTo>
                  <a:lnTo>
                    <a:pt x="4954722" y="1877776"/>
                  </a:lnTo>
                  <a:lnTo>
                    <a:pt x="4953000" y="1828800"/>
                  </a:lnTo>
                  <a:close/>
                </a:path>
                <a:path extrusionOk="0" h="2514600" w="6324600">
                  <a:moveTo>
                    <a:pt x="0" y="533400"/>
                  </a:moveTo>
                  <a:lnTo>
                    <a:pt x="2179" y="484842"/>
                  </a:lnTo>
                  <a:lnTo>
                    <a:pt x="8593" y="437507"/>
                  </a:lnTo>
                  <a:lnTo>
                    <a:pt x="19053" y="391583"/>
                  </a:lnTo>
                  <a:lnTo>
                    <a:pt x="33370" y="347258"/>
                  </a:lnTo>
                  <a:lnTo>
                    <a:pt x="51357" y="304721"/>
                  </a:lnTo>
                  <a:lnTo>
                    <a:pt x="72824" y="264159"/>
                  </a:lnTo>
                  <a:lnTo>
                    <a:pt x="97584" y="225762"/>
                  </a:lnTo>
                  <a:lnTo>
                    <a:pt x="125448" y="189716"/>
                  </a:lnTo>
                  <a:lnTo>
                    <a:pt x="156229" y="156210"/>
                  </a:lnTo>
                  <a:lnTo>
                    <a:pt x="189736" y="125432"/>
                  </a:lnTo>
                  <a:lnTo>
                    <a:pt x="225784" y="97570"/>
                  </a:lnTo>
                  <a:lnTo>
                    <a:pt x="264182" y="72813"/>
                  </a:lnTo>
                  <a:lnTo>
                    <a:pt x="304743" y="51348"/>
                  </a:lnTo>
                  <a:lnTo>
                    <a:pt x="347279" y="33364"/>
                  </a:lnTo>
                  <a:lnTo>
                    <a:pt x="391600" y="19050"/>
                  </a:lnTo>
                  <a:lnTo>
                    <a:pt x="437520" y="8592"/>
                  </a:lnTo>
                  <a:lnTo>
                    <a:pt x="484849" y="2179"/>
                  </a:lnTo>
                  <a:lnTo>
                    <a:pt x="533400" y="0"/>
                  </a:lnTo>
                  <a:lnTo>
                    <a:pt x="581957" y="2179"/>
                  </a:lnTo>
                  <a:lnTo>
                    <a:pt x="629292" y="8592"/>
                  </a:lnTo>
                  <a:lnTo>
                    <a:pt x="675216" y="19050"/>
                  </a:lnTo>
                  <a:lnTo>
                    <a:pt x="719541" y="33364"/>
                  </a:lnTo>
                  <a:lnTo>
                    <a:pt x="762078" y="51348"/>
                  </a:lnTo>
                  <a:lnTo>
                    <a:pt x="802639" y="72813"/>
                  </a:lnTo>
                  <a:lnTo>
                    <a:pt x="841037" y="97570"/>
                  </a:lnTo>
                  <a:lnTo>
                    <a:pt x="877083" y="125432"/>
                  </a:lnTo>
                  <a:lnTo>
                    <a:pt x="910589" y="156209"/>
                  </a:lnTo>
                  <a:lnTo>
                    <a:pt x="941367" y="189716"/>
                  </a:lnTo>
                  <a:lnTo>
                    <a:pt x="969229" y="225762"/>
                  </a:lnTo>
                  <a:lnTo>
                    <a:pt x="993986" y="264159"/>
                  </a:lnTo>
                  <a:lnTo>
                    <a:pt x="1015451" y="304721"/>
                  </a:lnTo>
                  <a:lnTo>
                    <a:pt x="1033435" y="347258"/>
                  </a:lnTo>
                  <a:lnTo>
                    <a:pt x="1047749" y="391583"/>
                  </a:lnTo>
                  <a:lnTo>
                    <a:pt x="1058207" y="437507"/>
                  </a:lnTo>
                  <a:lnTo>
                    <a:pt x="1064620" y="484842"/>
                  </a:lnTo>
                  <a:lnTo>
                    <a:pt x="1066800" y="533400"/>
                  </a:lnTo>
                  <a:lnTo>
                    <a:pt x="1064620" y="581957"/>
                  </a:lnTo>
                  <a:lnTo>
                    <a:pt x="1058207" y="629292"/>
                  </a:lnTo>
                  <a:lnTo>
                    <a:pt x="1047750" y="675216"/>
                  </a:lnTo>
                  <a:lnTo>
                    <a:pt x="1033435" y="719541"/>
                  </a:lnTo>
                  <a:lnTo>
                    <a:pt x="1015451" y="762078"/>
                  </a:lnTo>
                  <a:lnTo>
                    <a:pt x="993986" y="802640"/>
                  </a:lnTo>
                  <a:lnTo>
                    <a:pt x="969229" y="841037"/>
                  </a:lnTo>
                  <a:lnTo>
                    <a:pt x="941367" y="877083"/>
                  </a:lnTo>
                  <a:lnTo>
                    <a:pt x="910590" y="910589"/>
                  </a:lnTo>
                  <a:lnTo>
                    <a:pt x="877083" y="941367"/>
                  </a:lnTo>
                  <a:lnTo>
                    <a:pt x="841037" y="969229"/>
                  </a:lnTo>
                  <a:lnTo>
                    <a:pt x="802640" y="993986"/>
                  </a:lnTo>
                  <a:lnTo>
                    <a:pt x="762078" y="1015451"/>
                  </a:lnTo>
                  <a:lnTo>
                    <a:pt x="719541" y="1033435"/>
                  </a:lnTo>
                  <a:lnTo>
                    <a:pt x="675216" y="1047749"/>
                  </a:lnTo>
                  <a:lnTo>
                    <a:pt x="629292" y="1058207"/>
                  </a:lnTo>
                  <a:lnTo>
                    <a:pt x="581957" y="1064620"/>
                  </a:lnTo>
                  <a:lnTo>
                    <a:pt x="533400" y="1066800"/>
                  </a:lnTo>
                  <a:lnTo>
                    <a:pt x="484849" y="1064620"/>
                  </a:lnTo>
                  <a:lnTo>
                    <a:pt x="437520" y="1058207"/>
                  </a:lnTo>
                  <a:lnTo>
                    <a:pt x="391600" y="1047750"/>
                  </a:lnTo>
                  <a:lnTo>
                    <a:pt x="347279" y="1033435"/>
                  </a:lnTo>
                  <a:lnTo>
                    <a:pt x="304743" y="1015451"/>
                  </a:lnTo>
                  <a:lnTo>
                    <a:pt x="264182" y="993986"/>
                  </a:lnTo>
                  <a:lnTo>
                    <a:pt x="225784" y="969229"/>
                  </a:lnTo>
                  <a:lnTo>
                    <a:pt x="189736" y="941367"/>
                  </a:lnTo>
                  <a:lnTo>
                    <a:pt x="156229" y="910590"/>
                  </a:lnTo>
                  <a:lnTo>
                    <a:pt x="125448" y="877083"/>
                  </a:lnTo>
                  <a:lnTo>
                    <a:pt x="97584" y="841037"/>
                  </a:lnTo>
                  <a:lnTo>
                    <a:pt x="72824" y="802640"/>
                  </a:lnTo>
                  <a:lnTo>
                    <a:pt x="51357" y="762078"/>
                  </a:lnTo>
                  <a:lnTo>
                    <a:pt x="33370" y="719541"/>
                  </a:lnTo>
                  <a:lnTo>
                    <a:pt x="19053" y="675216"/>
                  </a:lnTo>
                  <a:lnTo>
                    <a:pt x="8593" y="629292"/>
                  </a:lnTo>
                  <a:lnTo>
                    <a:pt x="2179" y="581957"/>
                  </a:lnTo>
                  <a:lnTo>
                    <a:pt x="0" y="5334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grpSp>
      <p:sp>
        <p:nvSpPr>
          <p:cNvPr id="275" name="Google Shape;275;p21"/>
          <p:cNvSpPr txBox="1"/>
          <p:nvPr>
            <p:ph type="title"/>
          </p:nvPr>
        </p:nvSpPr>
        <p:spPr>
          <a:xfrm>
            <a:off x="533400" y="770930"/>
            <a:ext cx="7163640" cy="1125308"/>
          </a:xfrm>
          <a:prstGeom prst="rect">
            <a:avLst/>
          </a:prstGeom>
          <a:noFill/>
          <a:ln cap="flat" cmpd="sng" w="9525">
            <a:solidFill>
              <a:srgbClr val="000000"/>
            </a:solidFill>
            <a:prstDash val="solid"/>
            <a:round/>
            <a:headEnd len="sm" w="sm" type="none"/>
            <a:tailEnd len="sm" w="sm" type="none"/>
          </a:ln>
        </p:spPr>
        <p:txBody>
          <a:bodyPr anchorCtr="0" anchor="b" bIns="0" lIns="0" spcFirstLastPara="1" rIns="0" wrap="square" tIns="200025">
            <a:spAutoFit/>
          </a:bodyPr>
          <a:lstStyle/>
          <a:p>
            <a:pPr indent="0" lvl="0" marL="0" rtl="0" algn="l">
              <a:spcBef>
                <a:spcPts val="0"/>
              </a:spcBef>
              <a:spcAft>
                <a:spcPts val="0"/>
              </a:spcAft>
              <a:buClr>
                <a:srgbClr val="FF0000"/>
              </a:buClr>
              <a:buSzPts val="3000"/>
              <a:buFont typeface="Calibri"/>
              <a:buNone/>
            </a:pPr>
            <a:r>
              <a:rPr b="1" lang="en-US">
                <a:solidFill>
                  <a:srgbClr val="FF0000"/>
                </a:solidFill>
                <a:latin typeface="Calibri"/>
                <a:ea typeface="Calibri"/>
                <a:cs typeface="Calibri"/>
                <a:sym typeface="Calibri"/>
              </a:rPr>
              <a:t>Structure </a:t>
            </a:r>
            <a:r>
              <a:rPr lang="en-US"/>
              <a:t>- Top Level</a:t>
            </a:r>
            <a:br>
              <a:rPr lang="en-US"/>
            </a:br>
            <a:r>
              <a:rPr b="1" i="1" lang="en-US"/>
              <a:t>simple single-processor computer</a:t>
            </a:r>
            <a:endParaRPr/>
          </a:p>
        </p:txBody>
      </p:sp>
      <p:sp>
        <p:nvSpPr>
          <p:cNvPr id="276" name="Google Shape;276;p21"/>
          <p:cNvSpPr txBox="1"/>
          <p:nvPr/>
        </p:nvSpPr>
        <p:spPr>
          <a:xfrm>
            <a:off x="596595" y="3975608"/>
            <a:ext cx="91566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Computer</a:t>
            </a:r>
            <a:endParaRPr sz="1600">
              <a:solidFill>
                <a:schemeClr val="dk1"/>
              </a:solidFill>
              <a:latin typeface="Arial"/>
              <a:ea typeface="Arial"/>
              <a:cs typeface="Arial"/>
              <a:sym typeface="Arial"/>
            </a:endParaRPr>
          </a:p>
        </p:txBody>
      </p:sp>
      <p:sp>
        <p:nvSpPr>
          <p:cNvPr id="277" name="Google Shape;277;p21"/>
          <p:cNvSpPr txBox="1"/>
          <p:nvPr/>
        </p:nvSpPr>
        <p:spPr>
          <a:xfrm>
            <a:off x="6707885" y="3078225"/>
            <a:ext cx="75819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Main  Memory</a:t>
            </a:r>
            <a:endParaRPr sz="1600">
              <a:solidFill>
                <a:schemeClr val="dk1"/>
              </a:solidFill>
              <a:latin typeface="Arial"/>
              <a:ea typeface="Arial"/>
              <a:cs typeface="Arial"/>
              <a:sym typeface="Arial"/>
            </a:endParaRPr>
          </a:p>
        </p:txBody>
      </p:sp>
      <p:sp>
        <p:nvSpPr>
          <p:cNvPr id="278" name="Google Shape;278;p21"/>
          <p:cNvSpPr txBox="1"/>
          <p:nvPr/>
        </p:nvSpPr>
        <p:spPr>
          <a:xfrm>
            <a:off x="5869685" y="5164658"/>
            <a:ext cx="633095"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Input</a:t>
            </a:r>
            <a:endParaRPr sz="16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Output</a:t>
            </a:r>
            <a:endParaRPr sz="1600">
              <a:solidFill>
                <a:schemeClr val="dk1"/>
              </a:solidFill>
              <a:latin typeface="Arial"/>
              <a:ea typeface="Arial"/>
              <a:cs typeface="Arial"/>
              <a:sym typeface="Arial"/>
            </a:endParaRPr>
          </a:p>
        </p:txBody>
      </p:sp>
      <p:sp>
        <p:nvSpPr>
          <p:cNvPr id="279" name="Google Shape;279;p21"/>
          <p:cNvSpPr txBox="1"/>
          <p:nvPr/>
        </p:nvSpPr>
        <p:spPr>
          <a:xfrm>
            <a:off x="5488685" y="4097782"/>
            <a:ext cx="141351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Systems  Interconnection</a:t>
            </a:r>
            <a:endParaRPr sz="1600">
              <a:solidFill>
                <a:schemeClr val="dk1"/>
              </a:solidFill>
              <a:latin typeface="Arial"/>
              <a:ea typeface="Arial"/>
              <a:cs typeface="Arial"/>
              <a:sym typeface="Arial"/>
            </a:endParaRPr>
          </a:p>
        </p:txBody>
      </p:sp>
      <p:sp>
        <p:nvSpPr>
          <p:cNvPr id="280" name="Google Shape;280;p21"/>
          <p:cNvSpPr/>
          <p:nvPr/>
        </p:nvSpPr>
        <p:spPr>
          <a:xfrm>
            <a:off x="1066800" y="2209800"/>
            <a:ext cx="4343400" cy="4267200"/>
          </a:xfrm>
          <a:custGeom>
            <a:rect b="b" l="l" r="r" t="t"/>
            <a:pathLst>
              <a:path extrusionOk="0" h="4267200" w="4343400">
                <a:moveTo>
                  <a:pt x="0" y="1447800"/>
                </a:moveTo>
                <a:lnTo>
                  <a:pt x="4343400" y="0"/>
                </a:lnTo>
              </a:path>
              <a:path extrusionOk="0" h="4267200" w="4343400">
                <a:moveTo>
                  <a:pt x="0" y="2514600"/>
                </a:moveTo>
                <a:lnTo>
                  <a:pt x="4191000" y="42672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81" name="Google Shape;281;p21"/>
          <p:cNvSpPr txBox="1"/>
          <p:nvPr/>
        </p:nvSpPr>
        <p:spPr>
          <a:xfrm>
            <a:off x="367995" y="2376297"/>
            <a:ext cx="105156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Peripherals</a:t>
            </a:r>
            <a:endParaRPr sz="1600">
              <a:solidFill>
                <a:schemeClr val="dk1"/>
              </a:solidFill>
              <a:latin typeface="Arial"/>
              <a:ea typeface="Arial"/>
              <a:cs typeface="Arial"/>
              <a:sym typeface="Arial"/>
            </a:endParaRPr>
          </a:p>
        </p:txBody>
      </p:sp>
      <p:sp>
        <p:nvSpPr>
          <p:cNvPr id="282" name="Google Shape;282;p21"/>
          <p:cNvSpPr txBox="1"/>
          <p:nvPr/>
        </p:nvSpPr>
        <p:spPr>
          <a:xfrm>
            <a:off x="215595" y="5653836"/>
            <a:ext cx="143573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Communication  lines</a:t>
            </a:r>
            <a:endParaRPr sz="1600">
              <a:solidFill>
                <a:schemeClr val="dk1"/>
              </a:solidFill>
              <a:latin typeface="Arial"/>
              <a:ea typeface="Arial"/>
              <a:cs typeface="Arial"/>
              <a:sym typeface="Arial"/>
            </a:endParaRPr>
          </a:p>
        </p:txBody>
      </p:sp>
      <p:sp>
        <p:nvSpPr>
          <p:cNvPr id="283" name="Google Shape;283;p21"/>
          <p:cNvSpPr txBox="1"/>
          <p:nvPr/>
        </p:nvSpPr>
        <p:spPr>
          <a:xfrm>
            <a:off x="4878704" y="3002025"/>
            <a:ext cx="1030605"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Central  Processing  Unit</a:t>
            </a:r>
            <a:endParaRPr sz="1600">
              <a:solidFill>
                <a:schemeClr val="dk1"/>
              </a:solidFill>
              <a:latin typeface="Arial"/>
              <a:ea typeface="Arial"/>
              <a:cs typeface="Arial"/>
              <a:sym typeface="Arial"/>
            </a:endParaRPr>
          </a:p>
        </p:txBody>
      </p:sp>
      <p:sp>
        <p:nvSpPr>
          <p:cNvPr id="284" name="Google Shape;284;p21"/>
          <p:cNvSpPr/>
          <p:nvPr/>
        </p:nvSpPr>
        <p:spPr>
          <a:xfrm>
            <a:off x="876300" y="2743199"/>
            <a:ext cx="76200" cy="2895600"/>
          </a:xfrm>
          <a:custGeom>
            <a:rect b="b" l="l" r="r" t="t"/>
            <a:pathLst>
              <a:path extrusionOk="0" h="2895600" w="76200">
                <a:moveTo>
                  <a:pt x="76200" y="2057400"/>
                </a:moveTo>
                <a:lnTo>
                  <a:pt x="69850" y="2044700"/>
                </a:lnTo>
                <a:lnTo>
                  <a:pt x="38100" y="1981200"/>
                </a:lnTo>
                <a:lnTo>
                  <a:pt x="0" y="2057400"/>
                </a:lnTo>
                <a:lnTo>
                  <a:pt x="33337" y="2057400"/>
                </a:lnTo>
                <a:lnTo>
                  <a:pt x="33337" y="2819400"/>
                </a:lnTo>
                <a:lnTo>
                  <a:pt x="0" y="2819400"/>
                </a:lnTo>
                <a:lnTo>
                  <a:pt x="38100" y="2895600"/>
                </a:lnTo>
                <a:lnTo>
                  <a:pt x="69850" y="2832100"/>
                </a:lnTo>
                <a:lnTo>
                  <a:pt x="76200" y="2819400"/>
                </a:lnTo>
                <a:lnTo>
                  <a:pt x="42862" y="2819400"/>
                </a:lnTo>
                <a:lnTo>
                  <a:pt x="42862" y="2057400"/>
                </a:lnTo>
                <a:lnTo>
                  <a:pt x="76200" y="2057400"/>
                </a:lnTo>
                <a:close/>
              </a:path>
              <a:path extrusionOk="0" h="2895600" w="76200">
                <a:moveTo>
                  <a:pt x="76200" y="76200"/>
                </a:moveTo>
                <a:lnTo>
                  <a:pt x="69850" y="63500"/>
                </a:lnTo>
                <a:lnTo>
                  <a:pt x="38100" y="0"/>
                </a:lnTo>
                <a:lnTo>
                  <a:pt x="0" y="76200"/>
                </a:lnTo>
                <a:lnTo>
                  <a:pt x="33337" y="76200"/>
                </a:lnTo>
                <a:lnTo>
                  <a:pt x="33337" y="838200"/>
                </a:lnTo>
                <a:lnTo>
                  <a:pt x="0" y="838200"/>
                </a:lnTo>
                <a:lnTo>
                  <a:pt x="38100" y="914400"/>
                </a:lnTo>
                <a:lnTo>
                  <a:pt x="69850" y="850900"/>
                </a:lnTo>
                <a:lnTo>
                  <a:pt x="76200" y="838200"/>
                </a:lnTo>
                <a:lnTo>
                  <a:pt x="42862" y="838200"/>
                </a:lnTo>
                <a:lnTo>
                  <a:pt x="42862" y="76200"/>
                </a:lnTo>
                <a:lnTo>
                  <a:pt x="76200" y="7620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85" name="Google Shape;285;p21"/>
          <p:cNvSpPr txBox="1"/>
          <p:nvPr/>
        </p:nvSpPr>
        <p:spPr>
          <a:xfrm>
            <a:off x="5681217" y="2283713"/>
            <a:ext cx="114363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Computer</a:t>
            </a:r>
            <a:endParaRPr sz="2000">
              <a:solidFill>
                <a:schemeClr val="dk1"/>
              </a:solidFill>
              <a:latin typeface="Arial"/>
              <a:ea typeface="Arial"/>
              <a:cs typeface="Arial"/>
              <a:sym typeface="Arial"/>
            </a:endParaRPr>
          </a:p>
        </p:txBody>
      </p:sp>
      <p:sp>
        <p:nvSpPr>
          <p:cNvPr id="286" name="Google Shape;286;p2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txBox="1"/>
          <p:nvPr>
            <p:ph type="title"/>
          </p:nvPr>
        </p:nvSpPr>
        <p:spPr>
          <a:xfrm>
            <a:off x="533400" y="152400"/>
            <a:ext cx="7467600" cy="381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292" name="Google Shape;292;p22"/>
          <p:cNvSpPr txBox="1"/>
          <p:nvPr>
            <p:ph idx="1" type="body"/>
          </p:nvPr>
        </p:nvSpPr>
        <p:spPr>
          <a:xfrm>
            <a:off x="457200" y="1066800"/>
            <a:ext cx="7467600" cy="4873752"/>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lnSpc>
                <a:spcPct val="110000"/>
              </a:lnSpc>
              <a:spcBef>
                <a:spcPts val="0"/>
              </a:spcBef>
              <a:spcAft>
                <a:spcPts val="0"/>
              </a:spcAft>
              <a:buSzPct val="70000"/>
              <a:buChar char="🞆"/>
            </a:pPr>
            <a:r>
              <a:rPr lang="en-US">
                <a:latin typeface="Times New Roman"/>
                <a:ea typeface="Times New Roman"/>
                <a:cs typeface="Times New Roman"/>
                <a:sym typeface="Times New Roman"/>
              </a:rPr>
              <a:t>Top-down approach-beginning with a top view and decomposing the system into its subparts-effective</a:t>
            </a:r>
            <a:endParaRPr/>
          </a:p>
          <a:p>
            <a:pPr indent="-274320" lvl="0" marL="274320" rtl="0" algn="l">
              <a:lnSpc>
                <a:spcPct val="110000"/>
              </a:lnSpc>
              <a:spcBef>
                <a:spcPts val="600"/>
              </a:spcBef>
              <a:spcAft>
                <a:spcPts val="0"/>
              </a:spcAft>
              <a:buSzPct val="70000"/>
              <a:buChar char="🞆"/>
            </a:pPr>
            <a:r>
              <a:rPr b="1" i="1" lang="en-US"/>
              <a:t>Simple single-processor computer</a:t>
            </a:r>
            <a:endParaRPr>
              <a:latin typeface="Times New Roman"/>
              <a:ea typeface="Times New Roman"/>
              <a:cs typeface="Times New Roman"/>
              <a:sym typeface="Times New Roman"/>
            </a:endParaRPr>
          </a:p>
          <a:p>
            <a:pPr indent="-274320" lvl="0" marL="274320" rtl="0" algn="l">
              <a:lnSpc>
                <a:spcPct val="110000"/>
              </a:lnSpc>
              <a:spcBef>
                <a:spcPts val="600"/>
              </a:spcBef>
              <a:spcAft>
                <a:spcPts val="0"/>
              </a:spcAft>
              <a:buSzPct val="70000"/>
              <a:buChar char="🞆"/>
            </a:pPr>
            <a:r>
              <a:rPr lang="en-US">
                <a:latin typeface="Times New Roman"/>
                <a:ea typeface="Times New Roman"/>
                <a:cs typeface="Times New Roman"/>
                <a:sym typeface="Times New Roman"/>
              </a:rPr>
              <a:t> </a:t>
            </a:r>
            <a:r>
              <a:rPr b="1" lang="en-US" sz="2000"/>
              <a:t>Central processing unit (CPU): </a:t>
            </a:r>
            <a:r>
              <a:rPr lang="en-US" sz="2000">
                <a:solidFill>
                  <a:srgbClr val="FF0000"/>
                </a:solidFill>
              </a:rPr>
              <a:t>Controls the operation of the computer </a:t>
            </a:r>
            <a:r>
              <a:rPr lang="en-US" sz="2000"/>
              <a:t>and performs its </a:t>
            </a:r>
            <a:r>
              <a:rPr lang="en-US" sz="2000">
                <a:solidFill>
                  <a:srgbClr val="FF0000"/>
                </a:solidFill>
              </a:rPr>
              <a:t>data processing </a:t>
            </a:r>
            <a:r>
              <a:rPr lang="en-US" sz="2000"/>
              <a:t>functions-</a:t>
            </a:r>
            <a:r>
              <a:rPr b="1" lang="en-US" sz="2000"/>
              <a:t>processor</a:t>
            </a:r>
            <a:r>
              <a:rPr lang="en-US" sz="2000"/>
              <a:t>.</a:t>
            </a:r>
            <a:endParaRPr/>
          </a:p>
          <a:p>
            <a:pPr indent="-274320" lvl="0" marL="274320" rtl="0" algn="l">
              <a:lnSpc>
                <a:spcPct val="110000"/>
              </a:lnSpc>
              <a:spcBef>
                <a:spcPts val="600"/>
              </a:spcBef>
              <a:spcAft>
                <a:spcPts val="0"/>
              </a:spcAft>
              <a:buSzPct val="70000"/>
              <a:buChar char="🞆"/>
            </a:pPr>
            <a:r>
              <a:rPr b="1" lang="en-US" sz="2000"/>
              <a:t>Main memory: </a:t>
            </a:r>
            <a:r>
              <a:rPr lang="en-US" sz="2000">
                <a:solidFill>
                  <a:srgbClr val="FF0000"/>
                </a:solidFill>
              </a:rPr>
              <a:t>Stores data.</a:t>
            </a:r>
            <a:endParaRPr/>
          </a:p>
          <a:p>
            <a:pPr indent="-274320" lvl="0" marL="274320" rtl="0" algn="just">
              <a:lnSpc>
                <a:spcPct val="110000"/>
              </a:lnSpc>
              <a:spcBef>
                <a:spcPts val="600"/>
              </a:spcBef>
              <a:spcAft>
                <a:spcPts val="0"/>
              </a:spcAft>
              <a:buSzPct val="70000"/>
              <a:buChar char="🞆"/>
            </a:pPr>
            <a:r>
              <a:rPr b="1" lang="en-US" sz="2200">
                <a:latin typeface="Times New Roman"/>
                <a:ea typeface="Times New Roman"/>
                <a:cs typeface="Times New Roman"/>
                <a:sym typeface="Times New Roman"/>
              </a:rPr>
              <a:t>I/O: </a:t>
            </a:r>
            <a:r>
              <a:rPr lang="en-US" sz="2200">
                <a:latin typeface="Times New Roman"/>
                <a:ea typeface="Times New Roman"/>
                <a:cs typeface="Times New Roman"/>
                <a:sym typeface="Times New Roman"/>
              </a:rPr>
              <a:t>Moves data between the computer and its external environment.</a:t>
            </a:r>
            <a:endParaRPr/>
          </a:p>
          <a:p>
            <a:pPr indent="-274320" lvl="0" marL="274320" rtl="0" algn="just">
              <a:lnSpc>
                <a:spcPct val="110000"/>
              </a:lnSpc>
              <a:spcBef>
                <a:spcPts val="600"/>
              </a:spcBef>
              <a:spcAft>
                <a:spcPts val="0"/>
              </a:spcAft>
              <a:buSzPct val="70000"/>
              <a:buChar char="🞆"/>
            </a:pPr>
            <a:r>
              <a:rPr lang="en-US" sz="2200">
                <a:latin typeface="Times New Roman"/>
                <a:ea typeface="Times New Roman"/>
                <a:cs typeface="Times New Roman"/>
                <a:sym typeface="Times New Roman"/>
              </a:rPr>
              <a:t> </a:t>
            </a:r>
            <a:r>
              <a:rPr b="1" lang="en-US" sz="2200">
                <a:latin typeface="Times New Roman"/>
                <a:ea typeface="Times New Roman"/>
                <a:cs typeface="Times New Roman"/>
                <a:sym typeface="Times New Roman"/>
              </a:rPr>
              <a:t>System interconnection: </a:t>
            </a:r>
            <a:r>
              <a:rPr lang="en-US" sz="2200">
                <a:latin typeface="Times New Roman"/>
                <a:ea typeface="Times New Roman"/>
                <a:cs typeface="Times New Roman"/>
                <a:sym typeface="Times New Roman"/>
              </a:rPr>
              <a:t>Some mechanism that provides for communication among CPU, main memory, and I/O.</a:t>
            </a:r>
            <a:endParaRPr/>
          </a:p>
          <a:p>
            <a:pPr indent="-274320" lvl="0" marL="274320" rtl="0" algn="just">
              <a:lnSpc>
                <a:spcPct val="110000"/>
              </a:lnSpc>
              <a:spcBef>
                <a:spcPts val="600"/>
              </a:spcBef>
              <a:spcAft>
                <a:spcPts val="0"/>
              </a:spcAft>
              <a:buSzPct val="70000"/>
              <a:buChar char="🞆"/>
            </a:pPr>
            <a:r>
              <a:rPr lang="en-US" sz="2200">
                <a:latin typeface="Times New Roman"/>
                <a:ea typeface="Times New Roman"/>
                <a:cs typeface="Times New Roman"/>
                <a:sym typeface="Times New Roman"/>
              </a:rPr>
              <a:t> A common example of system interconnection is by means of a </a:t>
            </a:r>
            <a:r>
              <a:rPr b="1" lang="en-US" sz="2200">
                <a:latin typeface="Times New Roman"/>
                <a:ea typeface="Times New Roman"/>
                <a:cs typeface="Times New Roman"/>
                <a:sym typeface="Times New Roman"/>
              </a:rPr>
              <a:t>system bus</a:t>
            </a:r>
            <a:r>
              <a:rPr lang="en-US" sz="2200">
                <a:latin typeface="Times New Roman"/>
                <a:ea typeface="Times New Roman"/>
                <a:cs typeface="Times New Roman"/>
                <a:sym typeface="Times New Roman"/>
              </a:rPr>
              <a:t>, consisting of a </a:t>
            </a:r>
            <a:r>
              <a:rPr lang="en-US" sz="2200">
                <a:solidFill>
                  <a:srgbClr val="FF0000"/>
                </a:solidFill>
                <a:latin typeface="Times New Roman"/>
                <a:ea typeface="Times New Roman"/>
                <a:cs typeface="Times New Roman"/>
                <a:sym typeface="Times New Roman"/>
              </a:rPr>
              <a:t>number of conducting wires to which all the other components attach.</a:t>
            </a:r>
            <a:endParaRPr sz="2200">
              <a:solidFill>
                <a:srgbClr val="FF0000"/>
              </a:solidFill>
              <a:latin typeface="Times New Roman"/>
              <a:ea typeface="Times New Roman"/>
              <a:cs typeface="Times New Roman"/>
              <a:sym typeface="Times New Roman"/>
            </a:endParaRPr>
          </a:p>
          <a:p>
            <a:pPr indent="-192087" lvl="0" marL="274320" rtl="0" algn="l">
              <a:lnSpc>
                <a:spcPct val="110000"/>
              </a:lnSpc>
              <a:spcBef>
                <a:spcPts val="600"/>
              </a:spcBef>
              <a:spcAft>
                <a:spcPts val="0"/>
              </a:spcAft>
              <a:buSzPct val="70000"/>
              <a:buNone/>
            </a:pPr>
            <a:r>
              <a:t/>
            </a:r>
            <a:endParaRPr sz="2000">
              <a:solidFill>
                <a:srgbClr val="FF0000"/>
              </a:solidFill>
              <a:latin typeface="Times New Roman"/>
              <a:ea typeface="Times New Roman"/>
              <a:cs typeface="Times New Roman"/>
              <a:sym typeface="Times New Roman"/>
            </a:endParaRPr>
          </a:p>
        </p:txBody>
      </p:sp>
      <p:sp>
        <p:nvSpPr>
          <p:cNvPr id="293" name="Google Shape;293;p2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7" name="Shape 297"/>
        <p:cNvGrpSpPr/>
        <p:nvPr/>
      </p:nvGrpSpPr>
      <p:grpSpPr>
        <a:xfrm>
          <a:off x="0" y="0"/>
          <a:ext cx="0" cy="0"/>
          <a:chOff x="0" y="0"/>
          <a:chExt cx="0" cy="0"/>
        </a:xfrm>
      </p:grpSpPr>
      <p:grpSp>
        <p:nvGrpSpPr>
          <p:cNvPr id="298" name="Google Shape;298;p23"/>
          <p:cNvGrpSpPr/>
          <p:nvPr/>
        </p:nvGrpSpPr>
        <p:grpSpPr>
          <a:xfrm>
            <a:off x="76200" y="2057400"/>
            <a:ext cx="8534400" cy="4648200"/>
            <a:chOff x="76200" y="2057400"/>
            <a:chExt cx="8534400" cy="4648200"/>
          </a:xfrm>
        </p:grpSpPr>
        <p:pic>
          <p:nvPicPr>
            <p:cNvPr id="299" name="Google Shape;299;p23"/>
            <p:cNvPicPr preferRelativeResize="0"/>
            <p:nvPr/>
          </p:nvPicPr>
          <p:blipFill rotWithShape="1">
            <a:blip r:embed="rId3">
              <a:alphaModFix/>
            </a:blip>
            <a:srcRect b="0" l="0" r="0" t="0"/>
            <a:stretch/>
          </p:blipFill>
          <p:spPr>
            <a:xfrm>
              <a:off x="3886200" y="2057400"/>
              <a:ext cx="4724400" cy="4648200"/>
            </a:xfrm>
            <a:prstGeom prst="rect">
              <a:avLst/>
            </a:prstGeom>
            <a:noFill/>
            <a:ln>
              <a:noFill/>
            </a:ln>
          </p:spPr>
        </p:pic>
        <p:sp>
          <p:nvSpPr>
            <p:cNvPr id="300" name="Google Shape;300;p23"/>
            <p:cNvSpPr/>
            <p:nvPr/>
          </p:nvSpPr>
          <p:spPr>
            <a:xfrm>
              <a:off x="3886200" y="2057400"/>
              <a:ext cx="4724400" cy="4648200"/>
            </a:xfrm>
            <a:custGeom>
              <a:rect b="b" l="l" r="r" t="t"/>
              <a:pathLst>
                <a:path extrusionOk="0" h="4648200" w="4724400">
                  <a:moveTo>
                    <a:pt x="0" y="2324100"/>
                  </a:moveTo>
                  <a:lnTo>
                    <a:pt x="494" y="2276080"/>
                  </a:lnTo>
                  <a:lnTo>
                    <a:pt x="1970" y="2228299"/>
                  </a:lnTo>
                  <a:lnTo>
                    <a:pt x="4418" y="2180763"/>
                  </a:lnTo>
                  <a:lnTo>
                    <a:pt x="7830" y="2133484"/>
                  </a:lnTo>
                  <a:lnTo>
                    <a:pt x="12195" y="2086470"/>
                  </a:lnTo>
                  <a:lnTo>
                    <a:pt x="17503" y="2039730"/>
                  </a:lnTo>
                  <a:lnTo>
                    <a:pt x="23747" y="1993275"/>
                  </a:lnTo>
                  <a:lnTo>
                    <a:pt x="30915" y="1947113"/>
                  </a:lnTo>
                  <a:lnTo>
                    <a:pt x="38999" y="1901253"/>
                  </a:lnTo>
                  <a:lnTo>
                    <a:pt x="47988" y="1855705"/>
                  </a:lnTo>
                  <a:lnTo>
                    <a:pt x="57875" y="1810479"/>
                  </a:lnTo>
                  <a:lnTo>
                    <a:pt x="68648" y="1765584"/>
                  </a:lnTo>
                  <a:lnTo>
                    <a:pt x="80298" y="1721028"/>
                  </a:lnTo>
                  <a:lnTo>
                    <a:pt x="92817" y="1676822"/>
                  </a:lnTo>
                  <a:lnTo>
                    <a:pt x="106194" y="1632974"/>
                  </a:lnTo>
                  <a:lnTo>
                    <a:pt x="120420" y="1589495"/>
                  </a:lnTo>
                  <a:lnTo>
                    <a:pt x="135485" y="1546393"/>
                  </a:lnTo>
                  <a:lnTo>
                    <a:pt x="151381" y="1503678"/>
                  </a:lnTo>
                  <a:lnTo>
                    <a:pt x="168097" y="1461358"/>
                  </a:lnTo>
                  <a:lnTo>
                    <a:pt x="185624" y="1419445"/>
                  </a:lnTo>
                  <a:lnTo>
                    <a:pt x="203952" y="1377946"/>
                  </a:lnTo>
                  <a:lnTo>
                    <a:pt x="223073" y="1336871"/>
                  </a:lnTo>
                  <a:lnTo>
                    <a:pt x="242976" y="1296230"/>
                  </a:lnTo>
                  <a:lnTo>
                    <a:pt x="263652" y="1256031"/>
                  </a:lnTo>
                  <a:lnTo>
                    <a:pt x="285091" y="1216285"/>
                  </a:lnTo>
                  <a:lnTo>
                    <a:pt x="307285" y="1177000"/>
                  </a:lnTo>
                  <a:lnTo>
                    <a:pt x="330223" y="1138186"/>
                  </a:lnTo>
                  <a:lnTo>
                    <a:pt x="353896" y="1099852"/>
                  </a:lnTo>
                  <a:lnTo>
                    <a:pt x="378295" y="1062008"/>
                  </a:lnTo>
                  <a:lnTo>
                    <a:pt x="403409" y="1024663"/>
                  </a:lnTo>
                  <a:lnTo>
                    <a:pt x="429230" y="987825"/>
                  </a:lnTo>
                  <a:lnTo>
                    <a:pt x="455749" y="951506"/>
                  </a:lnTo>
                  <a:lnTo>
                    <a:pt x="482954" y="915713"/>
                  </a:lnTo>
                  <a:lnTo>
                    <a:pt x="510838" y="880457"/>
                  </a:lnTo>
                  <a:lnTo>
                    <a:pt x="539390" y="845746"/>
                  </a:lnTo>
                  <a:lnTo>
                    <a:pt x="568602" y="811590"/>
                  </a:lnTo>
                  <a:lnTo>
                    <a:pt x="598463" y="777999"/>
                  </a:lnTo>
                  <a:lnTo>
                    <a:pt x="628964" y="744981"/>
                  </a:lnTo>
                  <a:lnTo>
                    <a:pt x="660095" y="712546"/>
                  </a:lnTo>
                  <a:lnTo>
                    <a:pt x="691848" y="680704"/>
                  </a:lnTo>
                  <a:lnTo>
                    <a:pt x="724212" y="649463"/>
                  </a:lnTo>
                  <a:lnTo>
                    <a:pt x="757178" y="618833"/>
                  </a:lnTo>
                  <a:lnTo>
                    <a:pt x="790737" y="588824"/>
                  </a:lnTo>
                  <a:lnTo>
                    <a:pt x="824879" y="559444"/>
                  </a:lnTo>
                  <a:lnTo>
                    <a:pt x="859594" y="530703"/>
                  </a:lnTo>
                  <a:lnTo>
                    <a:pt x="894874" y="502611"/>
                  </a:lnTo>
                  <a:lnTo>
                    <a:pt x="930708" y="475176"/>
                  </a:lnTo>
                  <a:lnTo>
                    <a:pt x="967087" y="448409"/>
                  </a:lnTo>
                  <a:lnTo>
                    <a:pt x="1004002" y="422318"/>
                  </a:lnTo>
                  <a:lnTo>
                    <a:pt x="1041443" y="396913"/>
                  </a:lnTo>
                  <a:lnTo>
                    <a:pt x="1079400" y="372203"/>
                  </a:lnTo>
                  <a:lnTo>
                    <a:pt x="1117865" y="348197"/>
                  </a:lnTo>
                  <a:lnTo>
                    <a:pt x="1156827" y="324906"/>
                  </a:lnTo>
                  <a:lnTo>
                    <a:pt x="1196277" y="302337"/>
                  </a:lnTo>
                  <a:lnTo>
                    <a:pt x="1236206" y="280501"/>
                  </a:lnTo>
                  <a:lnTo>
                    <a:pt x="1276604" y="259407"/>
                  </a:lnTo>
                  <a:lnTo>
                    <a:pt x="1317462" y="239064"/>
                  </a:lnTo>
                  <a:lnTo>
                    <a:pt x="1358770" y="219481"/>
                  </a:lnTo>
                  <a:lnTo>
                    <a:pt x="1400518" y="200669"/>
                  </a:lnTo>
                  <a:lnTo>
                    <a:pt x="1442698" y="182635"/>
                  </a:lnTo>
                  <a:lnTo>
                    <a:pt x="1485299" y="165391"/>
                  </a:lnTo>
                  <a:lnTo>
                    <a:pt x="1528312" y="148944"/>
                  </a:lnTo>
                  <a:lnTo>
                    <a:pt x="1571728" y="133304"/>
                  </a:lnTo>
                  <a:lnTo>
                    <a:pt x="1615537" y="118481"/>
                  </a:lnTo>
                  <a:lnTo>
                    <a:pt x="1659730" y="104484"/>
                  </a:lnTo>
                  <a:lnTo>
                    <a:pt x="1704297" y="91323"/>
                  </a:lnTo>
                  <a:lnTo>
                    <a:pt x="1749228" y="79006"/>
                  </a:lnTo>
                  <a:lnTo>
                    <a:pt x="1794515" y="67543"/>
                  </a:lnTo>
                  <a:lnTo>
                    <a:pt x="1840147" y="56943"/>
                  </a:lnTo>
                  <a:lnTo>
                    <a:pt x="1886115" y="47216"/>
                  </a:lnTo>
                  <a:lnTo>
                    <a:pt x="1932411" y="38371"/>
                  </a:lnTo>
                  <a:lnTo>
                    <a:pt x="1979023" y="30417"/>
                  </a:lnTo>
                  <a:lnTo>
                    <a:pt x="2025943" y="23365"/>
                  </a:lnTo>
                  <a:lnTo>
                    <a:pt x="2073161" y="17222"/>
                  </a:lnTo>
                  <a:lnTo>
                    <a:pt x="2120668" y="11998"/>
                  </a:lnTo>
                  <a:lnTo>
                    <a:pt x="2168454" y="7704"/>
                  </a:lnTo>
                  <a:lnTo>
                    <a:pt x="2216509" y="4347"/>
                  </a:lnTo>
                  <a:lnTo>
                    <a:pt x="2264825" y="1938"/>
                  </a:lnTo>
                  <a:lnTo>
                    <a:pt x="2313392" y="486"/>
                  </a:lnTo>
                  <a:lnTo>
                    <a:pt x="2362200" y="0"/>
                  </a:lnTo>
                  <a:lnTo>
                    <a:pt x="2411003" y="486"/>
                  </a:lnTo>
                  <a:lnTo>
                    <a:pt x="2459565" y="1938"/>
                  </a:lnTo>
                  <a:lnTo>
                    <a:pt x="2507876" y="4347"/>
                  </a:lnTo>
                  <a:lnTo>
                    <a:pt x="2555928" y="7704"/>
                  </a:lnTo>
                  <a:lnTo>
                    <a:pt x="2603710" y="11998"/>
                  </a:lnTo>
                  <a:lnTo>
                    <a:pt x="2651214" y="17222"/>
                  </a:lnTo>
                  <a:lnTo>
                    <a:pt x="2698428" y="23365"/>
                  </a:lnTo>
                  <a:lnTo>
                    <a:pt x="2745345" y="30417"/>
                  </a:lnTo>
                  <a:lnTo>
                    <a:pt x="2791955" y="38371"/>
                  </a:lnTo>
                  <a:lnTo>
                    <a:pt x="2838247" y="47216"/>
                  </a:lnTo>
                  <a:lnTo>
                    <a:pt x="2884213" y="56943"/>
                  </a:lnTo>
                  <a:lnTo>
                    <a:pt x="2929843" y="67543"/>
                  </a:lnTo>
                  <a:lnTo>
                    <a:pt x="2975128" y="79006"/>
                  </a:lnTo>
                  <a:lnTo>
                    <a:pt x="3020057" y="91323"/>
                  </a:lnTo>
                  <a:lnTo>
                    <a:pt x="3064622" y="104484"/>
                  </a:lnTo>
                  <a:lnTo>
                    <a:pt x="3108813" y="118481"/>
                  </a:lnTo>
                  <a:lnTo>
                    <a:pt x="3152621" y="133304"/>
                  </a:lnTo>
                  <a:lnTo>
                    <a:pt x="3196035" y="148944"/>
                  </a:lnTo>
                  <a:lnTo>
                    <a:pt x="3239048" y="165391"/>
                  </a:lnTo>
                  <a:lnTo>
                    <a:pt x="3281648" y="182635"/>
                  </a:lnTo>
                  <a:lnTo>
                    <a:pt x="3323826" y="200669"/>
                  </a:lnTo>
                  <a:lnTo>
                    <a:pt x="3365574" y="219481"/>
                  </a:lnTo>
                  <a:lnTo>
                    <a:pt x="3406881" y="239064"/>
                  </a:lnTo>
                  <a:lnTo>
                    <a:pt x="3447739" y="259407"/>
                  </a:lnTo>
                  <a:lnTo>
                    <a:pt x="3488136" y="280501"/>
                  </a:lnTo>
                  <a:lnTo>
                    <a:pt x="3528065" y="302337"/>
                  </a:lnTo>
                  <a:lnTo>
                    <a:pt x="3567515" y="324906"/>
                  </a:lnTo>
                  <a:lnTo>
                    <a:pt x="3606478" y="348197"/>
                  </a:lnTo>
                  <a:lnTo>
                    <a:pt x="3644942" y="372203"/>
                  </a:lnTo>
                  <a:lnTo>
                    <a:pt x="3682900" y="396913"/>
                  </a:lnTo>
                  <a:lnTo>
                    <a:pt x="3720342" y="422318"/>
                  </a:lnTo>
                  <a:lnTo>
                    <a:pt x="3757257" y="448409"/>
                  </a:lnTo>
                  <a:lnTo>
                    <a:pt x="3793637" y="475176"/>
                  </a:lnTo>
                  <a:lnTo>
                    <a:pt x="3829472" y="502611"/>
                  </a:lnTo>
                  <a:lnTo>
                    <a:pt x="3864752" y="530703"/>
                  </a:lnTo>
                  <a:lnTo>
                    <a:pt x="3899468" y="559444"/>
                  </a:lnTo>
                  <a:lnTo>
                    <a:pt x="3933611" y="588824"/>
                  </a:lnTo>
                  <a:lnTo>
                    <a:pt x="3967171" y="618833"/>
                  </a:lnTo>
                  <a:lnTo>
                    <a:pt x="4000138" y="649463"/>
                  </a:lnTo>
                  <a:lnTo>
                    <a:pt x="4032504" y="680704"/>
                  </a:lnTo>
                  <a:lnTo>
                    <a:pt x="4064257" y="712546"/>
                  </a:lnTo>
                  <a:lnTo>
                    <a:pt x="4095390" y="744981"/>
                  </a:lnTo>
                  <a:lnTo>
                    <a:pt x="4125892" y="777999"/>
                  </a:lnTo>
                  <a:lnTo>
                    <a:pt x="4155755" y="811590"/>
                  </a:lnTo>
                  <a:lnTo>
                    <a:pt x="4184967" y="845746"/>
                  </a:lnTo>
                  <a:lnTo>
                    <a:pt x="4213521" y="880457"/>
                  </a:lnTo>
                  <a:lnTo>
                    <a:pt x="4241407" y="915713"/>
                  </a:lnTo>
                  <a:lnTo>
                    <a:pt x="4268614" y="951506"/>
                  </a:lnTo>
                  <a:lnTo>
                    <a:pt x="4295134" y="987825"/>
                  </a:lnTo>
                  <a:lnTo>
                    <a:pt x="4320956" y="1024663"/>
                  </a:lnTo>
                  <a:lnTo>
                    <a:pt x="4346072" y="1062008"/>
                  </a:lnTo>
                  <a:lnTo>
                    <a:pt x="4370473" y="1099852"/>
                  </a:lnTo>
                  <a:lnTo>
                    <a:pt x="4394147" y="1138186"/>
                  </a:lnTo>
                  <a:lnTo>
                    <a:pt x="4417087" y="1177000"/>
                  </a:lnTo>
                  <a:lnTo>
                    <a:pt x="4439282" y="1216285"/>
                  </a:lnTo>
                  <a:lnTo>
                    <a:pt x="4460723" y="1256031"/>
                  </a:lnTo>
                  <a:lnTo>
                    <a:pt x="4481401" y="1296230"/>
                  </a:lnTo>
                  <a:lnTo>
                    <a:pt x="4501305" y="1336871"/>
                  </a:lnTo>
                  <a:lnTo>
                    <a:pt x="4520427" y="1377946"/>
                  </a:lnTo>
                  <a:lnTo>
                    <a:pt x="4538757" y="1419445"/>
                  </a:lnTo>
                  <a:lnTo>
                    <a:pt x="4556286" y="1461358"/>
                  </a:lnTo>
                  <a:lnTo>
                    <a:pt x="4573003" y="1503678"/>
                  </a:lnTo>
                  <a:lnTo>
                    <a:pt x="4588900" y="1546393"/>
                  </a:lnTo>
                  <a:lnTo>
                    <a:pt x="4603967" y="1589495"/>
                  </a:lnTo>
                  <a:lnTo>
                    <a:pt x="4618194" y="1632974"/>
                  </a:lnTo>
                  <a:lnTo>
                    <a:pt x="4631573" y="1676822"/>
                  </a:lnTo>
                  <a:lnTo>
                    <a:pt x="4644092" y="1721028"/>
                  </a:lnTo>
                  <a:lnTo>
                    <a:pt x="4655744" y="1765584"/>
                  </a:lnTo>
                  <a:lnTo>
                    <a:pt x="4666518" y="1810479"/>
                  </a:lnTo>
                  <a:lnTo>
                    <a:pt x="4676405" y="1855705"/>
                  </a:lnTo>
                  <a:lnTo>
                    <a:pt x="4685396" y="1901253"/>
                  </a:lnTo>
                  <a:lnTo>
                    <a:pt x="4693481" y="1947113"/>
                  </a:lnTo>
                  <a:lnTo>
                    <a:pt x="4700650" y="1993275"/>
                  </a:lnTo>
                  <a:lnTo>
                    <a:pt x="4706894" y="2039730"/>
                  </a:lnTo>
                  <a:lnTo>
                    <a:pt x="4712203" y="2086470"/>
                  </a:lnTo>
                  <a:lnTo>
                    <a:pt x="4716568" y="2133484"/>
                  </a:lnTo>
                  <a:lnTo>
                    <a:pt x="4719980" y="2180763"/>
                  </a:lnTo>
                  <a:lnTo>
                    <a:pt x="4722429" y="2228299"/>
                  </a:lnTo>
                  <a:lnTo>
                    <a:pt x="4723905" y="2276080"/>
                  </a:lnTo>
                  <a:lnTo>
                    <a:pt x="4724400" y="2324100"/>
                  </a:lnTo>
                  <a:lnTo>
                    <a:pt x="4723905" y="2372118"/>
                  </a:lnTo>
                  <a:lnTo>
                    <a:pt x="4722429" y="2419899"/>
                  </a:lnTo>
                  <a:lnTo>
                    <a:pt x="4719980" y="2467433"/>
                  </a:lnTo>
                  <a:lnTo>
                    <a:pt x="4716568" y="2514712"/>
                  </a:lnTo>
                  <a:lnTo>
                    <a:pt x="4712203" y="2561725"/>
                  </a:lnTo>
                  <a:lnTo>
                    <a:pt x="4706894" y="2608464"/>
                  </a:lnTo>
                  <a:lnTo>
                    <a:pt x="4700650" y="2654919"/>
                  </a:lnTo>
                  <a:lnTo>
                    <a:pt x="4693481" y="2701080"/>
                  </a:lnTo>
                  <a:lnTo>
                    <a:pt x="4685396" y="2746939"/>
                  </a:lnTo>
                  <a:lnTo>
                    <a:pt x="4676405" y="2792486"/>
                  </a:lnTo>
                  <a:lnTo>
                    <a:pt x="4666518" y="2837712"/>
                  </a:lnTo>
                  <a:lnTo>
                    <a:pt x="4655744" y="2882607"/>
                  </a:lnTo>
                  <a:lnTo>
                    <a:pt x="4644092" y="2927162"/>
                  </a:lnTo>
                  <a:lnTo>
                    <a:pt x="4631573" y="2971368"/>
                  </a:lnTo>
                  <a:lnTo>
                    <a:pt x="4618194" y="3015215"/>
                  </a:lnTo>
                  <a:lnTo>
                    <a:pt x="4603967" y="3058694"/>
                  </a:lnTo>
                  <a:lnTo>
                    <a:pt x="4588900" y="3101796"/>
                  </a:lnTo>
                  <a:lnTo>
                    <a:pt x="4573003" y="3144511"/>
                  </a:lnTo>
                  <a:lnTo>
                    <a:pt x="4556286" y="3186830"/>
                  </a:lnTo>
                  <a:lnTo>
                    <a:pt x="4538757" y="3228744"/>
                  </a:lnTo>
                  <a:lnTo>
                    <a:pt x="4520427" y="3270242"/>
                  </a:lnTo>
                  <a:lnTo>
                    <a:pt x="4501305" y="3311317"/>
                  </a:lnTo>
                  <a:lnTo>
                    <a:pt x="4481401" y="3351958"/>
                  </a:lnTo>
                  <a:lnTo>
                    <a:pt x="4460723" y="3392157"/>
                  </a:lnTo>
                  <a:lnTo>
                    <a:pt x="4439282" y="3431903"/>
                  </a:lnTo>
                  <a:lnTo>
                    <a:pt x="4417087" y="3471188"/>
                  </a:lnTo>
                  <a:lnTo>
                    <a:pt x="4394147" y="3510002"/>
                  </a:lnTo>
                  <a:lnTo>
                    <a:pt x="4370473" y="3548336"/>
                  </a:lnTo>
                  <a:lnTo>
                    <a:pt x="4346072" y="3586180"/>
                  </a:lnTo>
                  <a:lnTo>
                    <a:pt x="4320956" y="3623525"/>
                  </a:lnTo>
                  <a:lnTo>
                    <a:pt x="4295134" y="3660363"/>
                  </a:lnTo>
                  <a:lnTo>
                    <a:pt x="4268614" y="3696682"/>
                  </a:lnTo>
                  <a:lnTo>
                    <a:pt x="4241407" y="3732475"/>
                  </a:lnTo>
                  <a:lnTo>
                    <a:pt x="4213521" y="3767731"/>
                  </a:lnTo>
                  <a:lnTo>
                    <a:pt x="4184967" y="3802442"/>
                  </a:lnTo>
                  <a:lnTo>
                    <a:pt x="4155755" y="3836598"/>
                  </a:lnTo>
                  <a:lnTo>
                    <a:pt x="4125892" y="3870190"/>
                  </a:lnTo>
                  <a:lnTo>
                    <a:pt x="4095390" y="3903208"/>
                  </a:lnTo>
                  <a:lnTo>
                    <a:pt x="4064257" y="3935643"/>
                  </a:lnTo>
                  <a:lnTo>
                    <a:pt x="4032504" y="3967486"/>
                  </a:lnTo>
                  <a:lnTo>
                    <a:pt x="4000138" y="3998727"/>
                  </a:lnTo>
                  <a:lnTo>
                    <a:pt x="3967171" y="4029357"/>
                  </a:lnTo>
                  <a:lnTo>
                    <a:pt x="3933611" y="4059367"/>
                  </a:lnTo>
                  <a:lnTo>
                    <a:pt x="3899468" y="4088747"/>
                  </a:lnTo>
                  <a:lnTo>
                    <a:pt x="3864752" y="4117488"/>
                  </a:lnTo>
                  <a:lnTo>
                    <a:pt x="3829472" y="4145580"/>
                  </a:lnTo>
                  <a:lnTo>
                    <a:pt x="3793637" y="4173015"/>
                  </a:lnTo>
                  <a:lnTo>
                    <a:pt x="3757257" y="4199783"/>
                  </a:lnTo>
                  <a:lnTo>
                    <a:pt x="3720342" y="4225874"/>
                  </a:lnTo>
                  <a:lnTo>
                    <a:pt x="3682900" y="4251279"/>
                  </a:lnTo>
                  <a:lnTo>
                    <a:pt x="3644942" y="4275990"/>
                  </a:lnTo>
                  <a:lnTo>
                    <a:pt x="3606478" y="4299996"/>
                  </a:lnTo>
                  <a:lnTo>
                    <a:pt x="3567515" y="4323288"/>
                  </a:lnTo>
                  <a:lnTo>
                    <a:pt x="3528065" y="4345857"/>
                  </a:lnTo>
                  <a:lnTo>
                    <a:pt x="3488136" y="4367693"/>
                  </a:lnTo>
                  <a:lnTo>
                    <a:pt x="3447739" y="4388787"/>
                  </a:lnTo>
                  <a:lnTo>
                    <a:pt x="3406881" y="4409131"/>
                  </a:lnTo>
                  <a:lnTo>
                    <a:pt x="3365574" y="4428714"/>
                  </a:lnTo>
                  <a:lnTo>
                    <a:pt x="3323826" y="4447526"/>
                  </a:lnTo>
                  <a:lnTo>
                    <a:pt x="3281648" y="4465560"/>
                  </a:lnTo>
                  <a:lnTo>
                    <a:pt x="3239048" y="4482805"/>
                  </a:lnTo>
                  <a:lnTo>
                    <a:pt x="3196035" y="4499252"/>
                  </a:lnTo>
                  <a:lnTo>
                    <a:pt x="3152621" y="4514892"/>
                  </a:lnTo>
                  <a:lnTo>
                    <a:pt x="3108813" y="4529715"/>
                  </a:lnTo>
                  <a:lnTo>
                    <a:pt x="3064622" y="4543712"/>
                  </a:lnTo>
                  <a:lnTo>
                    <a:pt x="3020057" y="4556874"/>
                  </a:lnTo>
                  <a:lnTo>
                    <a:pt x="2975128" y="4569192"/>
                  </a:lnTo>
                  <a:lnTo>
                    <a:pt x="2929843" y="4580655"/>
                  </a:lnTo>
                  <a:lnTo>
                    <a:pt x="2884213" y="4591255"/>
                  </a:lnTo>
                  <a:lnTo>
                    <a:pt x="2838247" y="4600982"/>
                  </a:lnTo>
                  <a:lnTo>
                    <a:pt x="2791955" y="4609827"/>
                  </a:lnTo>
                  <a:lnTo>
                    <a:pt x="2745345" y="4617781"/>
                  </a:lnTo>
                  <a:lnTo>
                    <a:pt x="2698428" y="4624834"/>
                  </a:lnTo>
                  <a:lnTo>
                    <a:pt x="2651214" y="4630977"/>
                  </a:lnTo>
                  <a:lnTo>
                    <a:pt x="2603710" y="4636200"/>
                  </a:lnTo>
                  <a:lnTo>
                    <a:pt x="2555928" y="4640495"/>
                  </a:lnTo>
                  <a:lnTo>
                    <a:pt x="2507876" y="4643852"/>
                  </a:lnTo>
                  <a:lnTo>
                    <a:pt x="2459565" y="4646261"/>
                  </a:lnTo>
                  <a:lnTo>
                    <a:pt x="2411003" y="4647713"/>
                  </a:lnTo>
                  <a:lnTo>
                    <a:pt x="2362200" y="4648200"/>
                  </a:lnTo>
                  <a:lnTo>
                    <a:pt x="2313392" y="4647713"/>
                  </a:lnTo>
                  <a:lnTo>
                    <a:pt x="2264825" y="4646261"/>
                  </a:lnTo>
                  <a:lnTo>
                    <a:pt x="2216509" y="4643852"/>
                  </a:lnTo>
                  <a:lnTo>
                    <a:pt x="2168454" y="4640495"/>
                  </a:lnTo>
                  <a:lnTo>
                    <a:pt x="2120668" y="4636200"/>
                  </a:lnTo>
                  <a:lnTo>
                    <a:pt x="2073161" y="4630977"/>
                  </a:lnTo>
                  <a:lnTo>
                    <a:pt x="2025943" y="4624834"/>
                  </a:lnTo>
                  <a:lnTo>
                    <a:pt x="1979023" y="4617781"/>
                  </a:lnTo>
                  <a:lnTo>
                    <a:pt x="1932411" y="4609827"/>
                  </a:lnTo>
                  <a:lnTo>
                    <a:pt x="1886115" y="4600982"/>
                  </a:lnTo>
                  <a:lnTo>
                    <a:pt x="1840147" y="4591255"/>
                  </a:lnTo>
                  <a:lnTo>
                    <a:pt x="1794515" y="4580655"/>
                  </a:lnTo>
                  <a:lnTo>
                    <a:pt x="1749228" y="4569192"/>
                  </a:lnTo>
                  <a:lnTo>
                    <a:pt x="1704297" y="4556874"/>
                  </a:lnTo>
                  <a:lnTo>
                    <a:pt x="1659730" y="4543712"/>
                  </a:lnTo>
                  <a:lnTo>
                    <a:pt x="1615537" y="4529715"/>
                  </a:lnTo>
                  <a:lnTo>
                    <a:pt x="1571728" y="4514892"/>
                  </a:lnTo>
                  <a:lnTo>
                    <a:pt x="1528312" y="4499252"/>
                  </a:lnTo>
                  <a:lnTo>
                    <a:pt x="1485299" y="4482805"/>
                  </a:lnTo>
                  <a:lnTo>
                    <a:pt x="1442698" y="4465560"/>
                  </a:lnTo>
                  <a:lnTo>
                    <a:pt x="1400518" y="4447526"/>
                  </a:lnTo>
                  <a:lnTo>
                    <a:pt x="1358770" y="4428714"/>
                  </a:lnTo>
                  <a:lnTo>
                    <a:pt x="1317462" y="4409131"/>
                  </a:lnTo>
                  <a:lnTo>
                    <a:pt x="1276604" y="4388787"/>
                  </a:lnTo>
                  <a:lnTo>
                    <a:pt x="1236206" y="4367693"/>
                  </a:lnTo>
                  <a:lnTo>
                    <a:pt x="1196277" y="4345857"/>
                  </a:lnTo>
                  <a:lnTo>
                    <a:pt x="1156827" y="4323288"/>
                  </a:lnTo>
                  <a:lnTo>
                    <a:pt x="1117865" y="4299996"/>
                  </a:lnTo>
                  <a:lnTo>
                    <a:pt x="1079400" y="4275990"/>
                  </a:lnTo>
                  <a:lnTo>
                    <a:pt x="1041443" y="4251279"/>
                  </a:lnTo>
                  <a:lnTo>
                    <a:pt x="1004002" y="4225874"/>
                  </a:lnTo>
                  <a:lnTo>
                    <a:pt x="967087" y="4199783"/>
                  </a:lnTo>
                  <a:lnTo>
                    <a:pt x="930708" y="4173015"/>
                  </a:lnTo>
                  <a:lnTo>
                    <a:pt x="894874" y="4145580"/>
                  </a:lnTo>
                  <a:lnTo>
                    <a:pt x="859594" y="4117488"/>
                  </a:lnTo>
                  <a:lnTo>
                    <a:pt x="824879" y="4088747"/>
                  </a:lnTo>
                  <a:lnTo>
                    <a:pt x="790737" y="4059367"/>
                  </a:lnTo>
                  <a:lnTo>
                    <a:pt x="757178" y="4029357"/>
                  </a:lnTo>
                  <a:lnTo>
                    <a:pt x="724212" y="3998727"/>
                  </a:lnTo>
                  <a:lnTo>
                    <a:pt x="691848" y="3967486"/>
                  </a:lnTo>
                  <a:lnTo>
                    <a:pt x="660095" y="3935643"/>
                  </a:lnTo>
                  <a:lnTo>
                    <a:pt x="628964" y="3903208"/>
                  </a:lnTo>
                  <a:lnTo>
                    <a:pt x="598463" y="3870190"/>
                  </a:lnTo>
                  <a:lnTo>
                    <a:pt x="568602" y="3836598"/>
                  </a:lnTo>
                  <a:lnTo>
                    <a:pt x="539390" y="3802442"/>
                  </a:lnTo>
                  <a:lnTo>
                    <a:pt x="510838" y="3767731"/>
                  </a:lnTo>
                  <a:lnTo>
                    <a:pt x="482954" y="3732475"/>
                  </a:lnTo>
                  <a:lnTo>
                    <a:pt x="455749" y="3696682"/>
                  </a:lnTo>
                  <a:lnTo>
                    <a:pt x="429230" y="3660363"/>
                  </a:lnTo>
                  <a:lnTo>
                    <a:pt x="403409" y="3623525"/>
                  </a:lnTo>
                  <a:lnTo>
                    <a:pt x="378295" y="3586180"/>
                  </a:lnTo>
                  <a:lnTo>
                    <a:pt x="353896" y="3548336"/>
                  </a:lnTo>
                  <a:lnTo>
                    <a:pt x="330223" y="3510002"/>
                  </a:lnTo>
                  <a:lnTo>
                    <a:pt x="307285" y="3471188"/>
                  </a:lnTo>
                  <a:lnTo>
                    <a:pt x="285091" y="3431903"/>
                  </a:lnTo>
                  <a:lnTo>
                    <a:pt x="263652" y="3392157"/>
                  </a:lnTo>
                  <a:lnTo>
                    <a:pt x="242976" y="3351958"/>
                  </a:lnTo>
                  <a:lnTo>
                    <a:pt x="223073" y="3311317"/>
                  </a:lnTo>
                  <a:lnTo>
                    <a:pt x="203952" y="3270242"/>
                  </a:lnTo>
                  <a:lnTo>
                    <a:pt x="185624" y="3228744"/>
                  </a:lnTo>
                  <a:lnTo>
                    <a:pt x="168097" y="3186830"/>
                  </a:lnTo>
                  <a:lnTo>
                    <a:pt x="151381" y="3144511"/>
                  </a:lnTo>
                  <a:lnTo>
                    <a:pt x="135485" y="3101796"/>
                  </a:lnTo>
                  <a:lnTo>
                    <a:pt x="120420" y="3058694"/>
                  </a:lnTo>
                  <a:lnTo>
                    <a:pt x="106194" y="3015215"/>
                  </a:lnTo>
                  <a:lnTo>
                    <a:pt x="92817" y="2971368"/>
                  </a:lnTo>
                  <a:lnTo>
                    <a:pt x="80298" y="2927162"/>
                  </a:lnTo>
                  <a:lnTo>
                    <a:pt x="68648" y="2882607"/>
                  </a:lnTo>
                  <a:lnTo>
                    <a:pt x="57875" y="2837712"/>
                  </a:lnTo>
                  <a:lnTo>
                    <a:pt x="47988" y="2792486"/>
                  </a:lnTo>
                  <a:lnTo>
                    <a:pt x="38999" y="2746939"/>
                  </a:lnTo>
                  <a:lnTo>
                    <a:pt x="30915" y="2701080"/>
                  </a:lnTo>
                  <a:lnTo>
                    <a:pt x="23747" y="2654919"/>
                  </a:lnTo>
                  <a:lnTo>
                    <a:pt x="17503" y="2608464"/>
                  </a:lnTo>
                  <a:lnTo>
                    <a:pt x="12195" y="2561725"/>
                  </a:lnTo>
                  <a:lnTo>
                    <a:pt x="7830" y="2514712"/>
                  </a:lnTo>
                  <a:lnTo>
                    <a:pt x="4418" y="2467433"/>
                  </a:lnTo>
                  <a:lnTo>
                    <a:pt x="1970" y="2419899"/>
                  </a:lnTo>
                  <a:lnTo>
                    <a:pt x="494" y="2372118"/>
                  </a:lnTo>
                  <a:lnTo>
                    <a:pt x="0" y="23241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1" name="Google Shape;301;p23"/>
            <p:cNvSpPr/>
            <p:nvPr/>
          </p:nvSpPr>
          <p:spPr>
            <a:xfrm>
              <a:off x="5410200" y="3581400"/>
              <a:ext cx="1524000" cy="1524000"/>
            </a:xfrm>
            <a:custGeom>
              <a:rect b="b" l="l" r="r" t="t"/>
              <a:pathLst>
                <a:path extrusionOk="0" h="1524000" w="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2" name="Google Shape;302;p23"/>
            <p:cNvSpPr/>
            <p:nvPr/>
          </p:nvSpPr>
          <p:spPr>
            <a:xfrm>
              <a:off x="5410200" y="3581400"/>
              <a:ext cx="1524000" cy="1524000"/>
            </a:xfrm>
            <a:custGeom>
              <a:rect b="b" l="l" r="r" t="t"/>
              <a:pathLst>
                <a:path extrusionOk="0" h="1524000" w="1524000">
                  <a:moveTo>
                    <a:pt x="0" y="762000"/>
                  </a:moveTo>
                  <a:lnTo>
                    <a:pt x="1498" y="713805"/>
                  </a:lnTo>
                  <a:lnTo>
                    <a:pt x="5936" y="666409"/>
                  </a:lnTo>
                  <a:lnTo>
                    <a:pt x="13223" y="619898"/>
                  </a:lnTo>
                  <a:lnTo>
                    <a:pt x="23269" y="574363"/>
                  </a:lnTo>
                  <a:lnTo>
                    <a:pt x="35987" y="529893"/>
                  </a:lnTo>
                  <a:lnTo>
                    <a:pt x="51286" y="486577"/>
                  </a:lnTo>
                  <a:lnTo>
                    <a:pt x="69078" y="444504"/>
                  </a:lnTo>
                  <a:lnTo>
                    <a:pt x="89272" y="403763"/>
                  </a:lnTo>
                  <a:lnTo>
                    <a:pt x="111781" y="364444"/>
                  </a:lnTo>
                  <a:lnTo>
                    <a:pt x="136514" y="326636"/>
                  </a:lnTo>
                  <a:lnTo>
                    <a:pt x="163383" y="290429"/>
                  </a:lnTo>
                  <a:lnTo>
                    <a:pt x="192298" y="255910"/>
                  </a:lnTo>
                  <a:lnTo>
                    <a:pt x="223170" y="223170"/>
                  </a:lnTo>
                  <a:lnTo>
                    <a:pt x="255910" y="192298"/>
                  </a:lnTo>
                  <a:lnTo>
                    <a:pt x="290429" y="163383"/>
                  </a:lnTo>
                  <a:lnTo>
                    <a:pt x="326636" y="136514"/>
                  </a:lnTo>
                  <a:lnTo>
                    <a:pt x="364444" y="111781"/>
                  </a:lnTo>
                  <a:lnTo>
                    <a:pt x="403763" y="89272"/>
                  </a:lnTo>
                  <a:lnTo>
                    <a:pt x="444504" y="69078"/>
                  </a:lnTo>
                  <a:lnTo>
                    <a:pt x="486577" y="51286"/>
                  </a:lnTo>
                  <a:lnTo>
                    <a:pt x="529893" y="35987"/>
                  </a:lnTo>
                  <a:lnTo>
                    <a:pt x="574363" y="23269"/>
                  </a:lnTo>
                  <a:lnTo>
                    <a:pt x="619898" y="13223"/>
                  </a:lnTo>
                  <a:lnTo>
                    <a:pt x="666409" y="5936"/>
                  </a:lnTo>
                  <a:lnTo>
                    <a:pt x="713805" y="1498"/>
                  </a:lnTo>
                  <a:lnTo>
                    <a:pt x="762000" y="0"/>
                  </a:lnTo>
                  <a:lnTo>
                    <a:pt x="810194" y="1498"/>
                  </a:lnTo>
                  <a:lnTo>
                    <a:pt x="857590" y="5936"/>
                  </a:lnTo>
                  <a:lnTo>
                    <a:pt x="904101" y="13223"/>
                  </a:lnTo>
                  <a:lnTo>
                    <a:pt x="949636" y="23269"/>
                  </a:lnTo>
                  <a:lnTo>
                    <a:pt x="994106" y="35987"/>
                  </a:lnTo>
                  <a:lnTo>
                    <a:pt x="1037422" y="51286"/>
                  </a:lnTo>
                  <a:lnTo>
                    <a:pt x="1079495" y="69078"/>
                  </a:lnTo>
                  <a:lnTo>
                    <a:pt x="1120236" y="89272"/>
                  </a:lnTo>
                  <a:lnTo>
                    <a:pt x="1159555" y="111781"/>
                  </a:lnTo>
                  <a:lnTo>
                    <a:pt x="1197363" y="136514"/>
                  </a:lnTo>
                  <a:lnTo>
                    <a:pt x="1233570" y="163383"/>
                  </a:lnTo>
                  <a:lnTo>
                    <a:pt x="1268089" y="192298"/>
                  </a:lnTo>
                  <a:lnTo>
                    <a:pt x="1300829" y="223170"/>
                  </a:lnTo>
                  <a:lnTo>
                    <a:pt x="1331701" y="255910"/>
                  </a:lnTo>
                  <a:lnTo>
                    <a:pt x="1360616" y="290429"/>
                  </a:lnTo>
                  <a:lnTo>
                    <a:pt x="1387485" y="326636"/>
                  </a:lnTo>
                  <a:lnTo>
                    <a:pt x="1412218" y="364444"/>
                  </a:lnTo>
                  <a:lnTo>
                    <a:pt x="1434727" y="403763"/>
                  </a:lnTo>
                  <a:lnTo>
                    <a:pt x="1454921" y="444504"/>
                  </a:lnTo>
                  <a:lnTo>
                    <a:pt x="1472713" y="486577"/>
                  </a:lnTo>
                  <a:lnTo>
                    <a:pt x="1488012" y="529893"/>
                  </a:lnTo>
                  <a:lnTo>
                    <a:pt x="1500730" y="574363"/>
                  </a:lnTo>
                  <a:lnTo>
                    <a:pt x="1510776" y="619898"/>
                  </a:lnTo>
                  <a:lnTo>
                    <a:pt x="1518063" y="666409"/>
                  </a:lnTo>
                  <a:lnTo>
                    <a:pt x="1522501" y="713805"/>
                  </a:lnTo>
                  <a:lnTo>
                    <a:pt x="1524000" y="762000"/>
                  </a:lnTo>
                  <a:lnTo>
                    <a:pt x="1522501" y="810194"/>
                  </a:lnTo>
                  <a:lnTo>
                    <a:pt x="1518063" y="857590"/>
                  </a:lnTo>
                  <a:lnTo>
                    <a:pt x="1510776" y="904101"/>
                  </a:lnTo>
                  <a:lnTo>
                    <a:pt x="1500730" y="949636"/>
                  </a:lnTo>
                  <a:lnTo>
                    <a:pt x="1488012" y="994106"/>
                  </a:lnTo>
                  <a:lnTo>
                    <a:pt x="1472713" y="1037422"/>
                  </a:lnTo>
                  <a:lnTo>
                    <a:pt x="1454921" y="1079495"/>
                  </a:lnTo>
                  <a:lnTo>
                    <a:pt x="1434727" y="1120236"/>
                  </a:lnTo>
                  <a:lnTo>
                    <a:pt x="1412218" y="1159555"/>
                  </a:lnTo>
                  <a:lnTo>
                    <a:pt x="1387485" y="1197363"/>
                  </a:lnTo>
                  <a:lnTo>
                    <a:pt x="1360616" y="1233570"/>
                  </a:lnTo>
                  <a:lnTo>
                    <a:pt x="1331701" y="1268089"/>
                  </a:lnTo>
                  <a:lnTo>
                    <a:pt x="1300829" y="1300829"/>
                  </a:lnTo>
                  <a:lnTo>
                    <a:pt x="1268089" y="1331701"/>
                  </a:lnTo>
                  <a:lnTo>
                    <a:pt x="1233570" y="1360616"/>
                  </a:lnTo>
                  <a:lnTo>
                    <a:pt x="1197363" y="1387485"/>
                  </a:lnTo>
                  <a:lnTo>
                    <a:pt x="1159555" y="1412218"/>
                  </a:lnTo>
                  <a:lnTo>
                    <a:pt x="1120236" y="1434727"/>
                  </a:lnTo>
                  <a:lnTo>
                    <a:pt x="1079495" y="1454921"/>
                  </a:lnTo>
                  <a:lnTo>
                    <a:pt x="1037422" y="1472713"/>
                  </a:lnTo>
                  <a:lnTo>
                    <a:pt x="994106" y="1488012"/>
                  </a:lnTo>
                  <a:lnTo>
                    <a:pt x="949636" y="1500730"/>
                  </a:lnTo>
                  <a:lnTo>
                    <a:pt x="904101" y="1510776"/>
                  </a:lnTo>
                  <a:lnTo>
                    <a:pt x="857590" y="1518063"/>
                  </a:lnTo>
                  <a:lnTo>
                    <a:pt x="810194" y="1522501"/>
                  </a:lnTo>
                  <a:lnTo>
                    <a:pt x="762000" y="1524000"/>
                  </a:lnTo>
                  <a:lnTo>
                    <a:pt x="713805" y="1522501"/>
                  </a:lnTo>
                  <a:lnTo>
                    <a:pt x="666409" y="1518063"/>
                  </a:lnTo>
                  <a:lnTo>
                    <a:pt x="619898" y="1510776"/>
                  </a:lnTo>
                  <a:lnTo>
                    <a:pt x="574363" y="1500730"/>
                  </a:lnTo>
                  <a:lnTo>
                    <a:pt x="529893" y="1488012"/>
                  </a:lnTo>
                  <a:lnTo>
                    <a:pt x="486577" y="1472713"/>
                  </a:lnTo>
                  <a:lnTo>
                    <a:pt x="444504" y="1454921"/>
                  </a:lnTo>
                  <a:lnTo>
                    <a:pt x="403763" y="1434727"/>
                  </a:lnTo>
                  <a:lnTo>
                    <a:pt x="364444" y="1412218"/>
                  </a:lnTo>
                  <a:lnTo>
                    <a:pt x="326636" y="1387485"/>
                  </a:lnTo>
                  <a:lnTo>
                    <a:pt x="290429" y="1360616"/>
                  </a:lnTo>
                  <a:lnTo>
                    <a:pt x="255910" y="1331701"/>
                  </a:lnTo>
                  <a:lnTo>
                    <a:pt x="223170" y="1300829"/>
                  </a:lnTo>
                  <a:lnTo>
                    <a:pt x="192298" y="1268089"/>
                  </a:lnTo>
                  <a:lnTo>
                    <a:pt x="163383" y="1233570"/>
                  </a:lnTo>
                  <a:lnTo>
                    <a:pt x="136514" y="1197363"/>
                  </a:lnTo>
                  <a:lnTo>
                    <a:pt x="111781" y="1159555"/>
                  </a:lnTo>
                  <a:lnTo>
                    <a:pt x="89272" y="1120236"/>
                  </a:lnTo>
                  <a:lnTo>
                    <a:pt x="69078" y="1079495"/>
                  </a:lnTo>
                  <a:lnTo>
                    <a:pt x="51286" y="1037422"/>
                  </a:lnTo>
                  <a:lnTo>
                    <a:pt x="35987" y="994106"/>
                  </a:lnTo>
                  <a:lnTo>
                    <a:pt x="23269" y="949636"/>
                  </a:lnTo>
                  <a:lnTo>
                    <a:pt x="13223" y="904101"/>
                  </a:lnTo>
                  <a:lnTo>
                    <a:pt x="5936" y="857590"/>
                  </a:lnTo>
                  <a:lnTo>
                    <a:pt x="1498" y="810194"/>
                  </a:lnTo>
                  <a:lnTo>
                    <a:pt x="0" y="762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3" name="Google Shape;303;p23"/>
            <p:cNvSpPr/>
            <p:nvPr/>
          </p:nvSpPr>
          <p:spPr>
            <a:xfrm>
              <a:off x="4648200" y="2743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1"/>
                  </a:lnTo>
                  <a:lnTo>
                    <a:pt x="6811" y="782815"/>
                  </a:lnTo>
                  <a:lnTo>
                    <a:pt x="15151" y="829814"/>
                  </a:lnTo>
                  <a:lnTo>
                    <a:pt x="26625" y="875652"/>
                  </a:lnTo>
                  <a:lnTo>
                    <a:pt x="41118" y="920213"/>
                  </a:lnTo>
                  <a:lnTo>
                    <a:pt x="58514" y="963381"/>
                  </a:lnTo>
                  <a:lnTo>
                    <a:pt x="78696" y="1005040"/>
                  </a:lnTo>
                  <a:lnTo>
                    <a:pt x="101548" y="1045074"/>
                  </a:lnTo>
                  <a:lnTo>
                    <a:pt x="126954" y="1083366"/>
                  </a:lnTo>
                  <a:lnTo>
                    <a:pt x="154798" y="1119801"/>
                  </a:lnTo>
                  <a:lnTo>
                    <a:pt x="184964" y="1154263"/>
                  </a:lnTo>
                  <a:lnTo>
                    <a:pt x="217336" y="1186635"/>
                  </a:lnTo>
                  <a:lnTo>
                    <a:pt x="251798" y="1216801"/>
                  </a:lnTo>
                  <a:lnTo>
                    <a:pt x="288233" y="1244645"/>
                  </a:lnTo>
                  <a:lnTo>
                    <a:pt x="326525" y="1270051"/>
                  </a:lnTo>
                  <a:lnTo>
                    <a:pt x="366559" y="1292903"/>
                  </a:lnTo>
                  <a:lnTo>
                    <a:pt x="408218" y="1313085"/>
                  </a:lnTo>
                  <a:lnTo>
                    <a:pt x="451386" y="1330481"/>
                  </a:lnTo>
                  <a:lnTo>
                    <a:pt x="495947" y="1344974"/>
                  </a:lnTo>
                  <a:lnTo>
                    <a:pt x="541785" y="1356448"/>
                  </a:lnTo>
                  <a:lnTo>
                    <a:pt x="588784" y="1364788"/>
                  </a:lnTo>
                  <a:lnTo>
                    <a:pt x="636828" y="1369877"/>
                  </a:lnTo>
                  <a:lnTo>
                    <a:pt x="685800" y="1371600"/>
                  </a:lnTo>
                  <a:lnTo>
                    <a:pt x="734771" y="1369877"/>
                  </a:lnTo>
                  <a:lnTo>
                    <a:pt x="782815" y="1364788"/>
                  </a:lnTo>
                  <a:lnTo>
                    <a:pt x="829814" y="1356448"/>
                  </a:lnTo>
                  <a:lnTo>
                    <a:pt x="875652" y="1344974"/>
                  </a:lnTo>
                  <a:lnTo>
                    <a:pt x="920213" y="1330481"/>
                  </a:lnTo>
                  <a:lnTo>
                    <a:pt x="963381" y="1313085"/>
                  </a:lnTo>
                  <a:lnTo>
                    <a:pt x="1005040" y="1292903"/>
                  </a:lnTo>
                  <a:lnTo>
                    <a:pt x="1045074" y="1270051"/>
                  </a:lnTo>
                  <a:lnTo>
                    <a:pt x="1083366" y="1244645"/>
                  </a:lnTo>
                  <a:lnTo>
                    <a:pt x="1119801" y="1216801"/>
                  </a:lnTo>
                  <a:lnTo>
                    <a:pt x="1154263" y="1186635"/>
                  </a:lnTo>
                  <a:lnTo>
                    <a:pt x="1186635" y="1154263"/>
                  </a:lnTo>
                  <a:lnTo>
                    <a:pt x="1216801" y="1119801"/>
                  </a:lnTo>
                  <a:lnTo>
                    <a:pt x="1244645" y="1083366"/>
                  </a:lnTo>
                  <a:lnTo>
                    <a:pt x="1270051" y="1045074"/>
                  </a:lnTo>
                  <a:lnTo>
                    <a:pt x="1292903" y="1005040"/>
                  </a:lnTo>
                  <a:lnTo>
                    <a:pt x="1313085" y="963381"/>
                  </a:lnTo>
                  <a:lnTo>
                    <a:pt x="1330481" y="920213"/>
                  </a:lnTo>
                  <a:lnTo>
                    <a:pt x="1344974" y="875652"/>
                  </a:lnTo>
                  <a:lnTo>
                    <a:pt x="1356448" y="829814"/>
                  </a:lnTo>
                  <a:lnTo>
                    <a:pt x="1364788" y="782815"/>
                  </a:lnTo>
                  <a:lnTo>
                    <a:pt x="1369877" y="734771"/>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4" name="Google Shape;304;p23"/>
            <p:cNvSpPr/>
            <p:nvPr/>
          </p:nvSpPr>
          <p:spPr>
            <a:xfrm>
              <a:off x="4648200" y="2743200"/>
              <a:ext cx="1371600" cy="1371600"/>
            </a:xfrm>
            <a:custGeom>
              <a:rect b="b" l="l" r="r" t="t"/>
              <a:pathLst>
                <a:path extrusionOk="0" h="1371600" w="1371600">
                  <a:moveTo>
                    <a:pt x="0" y="685800"/>
                  </a:moveTo>
                  <a:lnTo>
                    <a:pt x="1722" y="636828"/>
                  </a:lnTo>
                  <a:lnTo>
                    <a:pt x="6811" y="588784"/>
                  </a:lnTo>
                  <a:lnTo>
                    <a:pt x="15151" y="541785"/>
                  </a:lnTo>
                  <a:lnTo>
                    <a:pt x="26625" y="495947"/>
                  </a:lnTo>
                  <a:lnTo>
                    <a:pt x="41118" y="451386"/>
                  </a:lnTo>
                  <a:lnTo>
                    <a:pt x="58514" y="408218"/>
                  </a:lnTo>
                  <a:lnTo>
                    <a:pt x="78696" y="366559"/>
                  </a:lnTo>
                  <a:lnTo>
                    <a:pt x="101548" y="326525"/>
                  </a:lnTo>
                  <a:lnTo>
                    <a:pt x="126954" y="288233"/>
                  </a:lnTo>
                  <a:lnTo>
                    <a:pt x="154798" y="251798"/>
                  </a:lnTo>
                  <a:lnTo>
                    <a:pt x="184964" y="217336"/>
                  </a:lnTo>
                  <a:lnTo>
                    <a:pt x="217336" y="184964"/>
                  </a:lnTo>
                  <a:lnTo>
                    <a:pt x="251798" y="154798"/>
                  </a:lnTo>
                  <a:lnTo>
                    <a:pt x="288233" y="126954"/>
                  </a:lnTo>
                  <a:lnTo>
                    <a:pt x="326525" y="101548"/>
                  </a:lnTo>
                  <a:lnTo>
                    <a:pt x="366559" y="78696"/>
                  </a:lnTo>
                  <a:lnTo>
                    <a:pt x="408218" y="58514"/>
                  </a:lnTo>
                  <a:lnTo>
                    <a:pt x="451386" y="41118"/>
                  </a:lnTo>
                  <a:lnTo>
                    <a:pt x="495947" y="26625"/>
                  </a:lnTo>
                  <a:lnTo>
                    <a:pt x="541785" y="15151"/>
                  </a:lnTo>
                  <a:lnTo>
                    <a:pt x="588784" y="6811"/>
                  </a:lnTo>
                  <a:lnTo>
                    <a:pt x="636828" y="1722"/>
                  </a:lnTo>
                  <a:lnTo>
                    <a:pt x="685800" y="0"/>
                  </a:lnTo>
                  <a:lnTo>
                    <a:pt x="734771" y="1722"/>
                  </a:lnTo>
                  <a:lnTo>
                    <a:pt x="782815" y="6811"/>
                  </a:lnTo>
                  <a:lnTo>
                    <a:pt x="829814" y="15151"/>
                  </a:lnTo>
                  <a:lnTo>
                    <a:pt x="875652" y="26625"/>
                  </a:lnTo>
                  <a:lnTo>
                    <a:pt x="920213" y="41118"/>
                  </a:lnTo>
                  <a:lnTo>
                    <a:pt x="963381" y="58514"/>
                  </a:lnTo>
                  <a:lnTo>
                    <a:pt x="1005040" y="78696"/>
                  </a:lnTo>
                  <a:lnTo>
                    <a:pt x="1045074" y="101548"/>
                  </a:lnTo>
                  <a:lnTo>
                    <a:pt x="1083366" y="126954"/>
                  </a:lnTo>
                  <a:lnTo>
                    <a:pt x="1119801" y="154798"/>
                  </a:lnTo>
                  <a:lnTo>
                    <a:pt x="1154263" y="184964"/>
                  </a:lnTo>
                  <a:lnTo>
                    <a:pt x="1186635" y="217336"/>
                  </a:lnTo>
                  <a:lnTo>
                    <a:pt x="1216801" y="251798"/>
                  </a:lnTo>
                  <a:lnTo>
                    <a:pt x="1244645" y="288233"/>
                  </a:lnTo>
                  <a:lnTo>
                    <a:pt x="1270051" y="326525"/>
                  </a:lnTo>
                  <a:lnTo>
                    <a:pt x="1292903" y="366559"/>
                  </a:lnTo>
                  <a:lnTo>
                    <a:pt x="1313085" y="408218"/>
                  </a:lnTo>
                  <a:lnTo>
                    <a:pt x="1330481" y="451386"/>
                  </a:lnTo>
                  <a:lnTo>
                    <a:pt x="1344974" y="495947"/>
                  </a:lnTo>
                  <a:lnTo>
                    <a:pt x="1356448" y="541785"/>
                  </a:lnTo>
                  <a:lnTo>
                    <a:pt x="1364788" y="588784"/>
                  </a:lnTo>
                  <a:lnTo>
                    <a:pt x="1369877" y="636828"/>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28" y="1369877"/>
                  </a:lnTo>
                  <a:lnTo>
                    <a:pt x="588784" y="1364788"/>
                  </a:lnTo>
                  <a:lnTo>
                    <a:pt x="541785" y="1356448"/>
                  </a:lnTo>
                  <a:lnTo>
                    <a:pt x="495947" y="1344974"/>
                  </a:lnTo>
                  <a:lnTo>
                    <a:pt x="451386" y="1330481"/>
                  </a:lnTo>
                  <a:lnTo>
                    <a:pt x="408218" y="1313085"/>
                  </a:lnTo>
                  <a:lnTo>
                    <a:pt x="366559" y="1292903"/>
                  </a:lnTo>
                  <a:lnTo>
                    <a:pt x="326525" y="1270051"/>
                  </a:lnTo>
                  <a:lnTo>
                    <a:pt x="288233" y="1244645"/>
                  </a:lnTo>
                  <a:lnTo>
                    <a:pt x="251798" y="1216801"/>
                  </a:lnTo>
                  <a:lnTo>
                    <a:pt x="217336" y="1186635"/>
                  </a:lnTo>
                  <a:lnTo>
                    <a:pt x="184964" y="1154263"/>
                  </a:lnTo>
                  <a:lnTo>
                    <a:pt x="154798" y="1119801"/>
                  </a:lnTo>
                  <a:lnTo>
                    <a:pt x="126954" y="1083366"/>
                  </a:lnTo>
                  <a:lnTo>
                    <a:pt x="101548" y="1045074"/>
                  </a:lnTo>
                  <a:lnTo>
                    <a:pt x="78696" y="1005040"/>
                  </a:lnTo>
                  <a:lnTo>
                    <a:pt x="58514" y="963381"/>
                  </a:lnTo>
                  <a:lnTo>
                    <a:pt x="41118" y="920213"/>
                  </a:lnTo>
                  <a:lnTo>
                    <a:pt x="26625" y="875652"/>
                  </a:lnTo>
                  <a:lnTo>
                    <a:pt x="15151" y="829814"/>
                  </a:lnTo>
                  <a:lnTo>
                    <a:pt x="6811" y="782815"/>
                  </a:lnTo>
                  <a:lnTo>
                    <a:pt x="1722" y="734771"/>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5" name="Google Shape;305;p23"/>
            <p:cNvSpPr/>
            <p:nvPr/>
          </p:nvSpPr>
          <p:spPr>
            <a:xfrm>
              <a:off x="6400800" y="2743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1"/>
                  </a:lnTo>
                  <a:lnTo>
                    <a:pt x="6811" y="782815"/>
                  </a:lnTo>
                  <a:lnTo>
                    <a:pt x="15151" y="829814"/>
                  </a:lnTo>
                  <a:lnTo>
                    <a:pt x="26625" y="875652"/>
                  </a:lnTo>
                  <a:lnTo>
                    <a:pt x="41118" y="920213"/>
                  </a:lnTo>
                  <a:lnTo>
                    <a:pt x="58514" y="963381"/>
                  </a:lnTo>
                  <a:lnTo>
                    <a:pt x="78696" y="1005040"/>
                  </a:lnTo>
                  <a:lnTo>
                    <a:pt x="101548" y="1045074"/>
                  </a:lnTo>
                  <a:lnTo>
                    <a:pt x="126954" y="1083366"/>
                  </a:lnTo>
                  <a:lnTo>
                    <a:pt x="154798" y="1119801"/>
                  </a:lnTo>
                  <a:lnTo>
                    <a:pt x="184964" y="1154263"/>
                  </a:lnTo>
                  <a:lnTo>
                    <a:pt x="217336" y="1186635"/>
                  </a:lnTo>
                  <a:lnTo>
                    <a:pt x="251798" y="1216801"/>
                  </a:lnTo>
                  <a:lnTo>
                    <a:pt x="288233" y="1244645"/>
                  </a:lnTo>
                  <a:lnTo>
                    <a:pt x="326525" y="1270051"/>
                  </a:lnTo>
                  <a:lnTo>
                    <a:pt x="366559" y="1292903"/>
                  </a:lnTo>
                  <a:lnTo>
                    <a:pt x="408218" y="1313085"/>
                  </a:lnTo>
                  <a:lnTo>
                    <a:pt x="451386" y="1330481"/>
                  </a:lnTo>
                  <a:lnTo>
                    <a:pt x="495947" y="1344974"/>
                  </a:lnTo>
                  <a:lnTo>
                    <a:pt x="541785" y="1356448"/>
                  </a:lnTo>
                  <a:lnTo>
                    <a:pt x="588784" y="1364788"/>
                  </a:lnTo>
                  <a:lnTo>
                    <a:pt x="636828" y="1369877"/>
                  </a:lnTo>
                  <a:lnTo>
                    <a:pt x="685800" y="1371600"/>
                  </a:lnTo>
                  <a:lnTo>
                    <a:pt x="734771" y="1369877"/>
                  </a:lnTo>
                  <a:lnTo>
                    <a:pt x="782815" y="1364788"/>
                  </a:lnTo>
                  <a:lnTo>
                    <a:pt x="829814" y="1356448"/>
                  </a:lnTo>
                  <a:lnTo>
                    <a:pt x="875652" y="1344974"/>
                  </a:lnTo>
                  <a:lnTo>
                    <a:pt x="920213" y="1330481"/>
                  </a:lnTo>
                  <a:lnTo>
                    <a:pt x="963381" y="1313085"/>
                  </a:lnTo>
                  <a:lnTo>
                    <a:pt x="1005040" y="1292903"/>
                  </a:lnTo>
                  <a:lnTo>
                    <a:pt x="1045074" y="1270051"/>
                  </a:lnTo>
                  <a:lnTo>
                    <a:pt x="1083366" y="1244645"/>
                  </a:lnTo>
                  <a:lnTo>
                    <a:pt x="1119801" y="1216801"/>
                  </a:lnTo>
                  <a:lnTo>
                    <a:pt x="1154263" y="1186635"/>
                  </a:lnTo>
                  <a:lnTo>
                    <a:pt x="1186635" y="1154263"/>
                  </a:lnTo>
                  <a:lnTo>
                    <a:pt x="1216801" y="1119801"/>
                  </a:lnTo>
                  <a:lnTo>
                    <a:pt x="1244645" y="1083366"/>
                  </a:lnTo>
                  <a:lnTo>
                    <a:pt x="1270051" y="1045074"/>
                  </a:lnTo>
                  <a:lnTo>
                    <a:pt x="1292903" y="1005040"/>
                  </a:lnTo>
                  <a:lnTo>
                    <a:pt x="1313085" y="963381"/>
                  </a:lnTo>
                  <a:lnTo>
                    <a:pt x="1330481" y="920213"/>
                  </a:lnTo>
                  <a:lnTo>
                    <a:pt x="1344974" y="875652"/>
                  </a:lnTo>
                  <a:lnTo>
                    <a:pt x="1356448" y="829814"/>
                  </a:lnTo>
                  <a:lnTo>
                    <a:pt x="1364788" y="782815"/>
                  </a:lnTo>
                  <a:lnTo>
                    <a:pt x="1369877" y="734771"/>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6" name="Google Shape;306;p23"/>
            <p:cNvSpPr/>
            <p:nvPr/>
          </p:nvSpPr>
          <p:spPr>
            <a:xfrm>
              <a:off x="6400800" y="2743200"/>
              <a:ext cx="1371600" cy="1371600"/>
            </a:xfrm>
            <a:custGeom>
              <a:rect b="b" l="l" r="r" t="t"/>
              <a:pathLst>
                <a:path extrusionOk="0" h="1371600" w="1371600">
                  <a:moveTo>
                    <a:pt x="0" y="685800"/>
                  </a:moveTo>
                  <a:lnTo>
                    <a:pt x="1722" y="636828"/>
                  </a:lnTo>
                  <a:lnTo>
                    <a:pt x="6811" y="588784"/>
                  </a:lnTo>
                  <a:lnTo>
                    <a:pt x="15151" y="541785"/>
                  </a:lnTo>
                  <a:lnTo>
                    <a:pt x="26625" y="495947"/>
                  </a:lnTo>
                  <a:lnTo>
                    <a:pt x="41118" y="451386"/>
                  </a:lnTo>
                  <a:lnTo>
                    <a:pt x="58514" y="408218"/>
                  </a:lnTo>
                  <a:lnTo>
                    <a:pt x="78696" y="366559"/>
                  </a:lnTo>
                  <a:lnTo>
                    <a:pt x="101548" y="326525"/>
                  </a:lnTo>
                  <a:lnTo>
                    <a:pt x="126954" y="288233"/>
                  </a:lnTo>
                  <a:lnTo>
                    <a:pt x="154798" y="251798"/>
                  </a:lnTo>
                  <a:lnTo>
                    <a:pt x="184964" y="217336"/>
                  </a:lnTo>
                  <a:lnTo>
                    <a:pt x="217336" y="184964"/>
                  </a:lnTo>
                  <a:lnTo>
                    <a:pt x="251798" y="154798"/>
                  </a:lnTo>
                  <a:lnTo>
                    <a:pt x="288233" y="126954"/>
                  </a:lnTo>
                  <a:lnTo>
                    <a:pt x="326525" y="101548"/>
                  </a:lnTo>
                  <a:lnTo>
                    <a:pt x="366559" y="78696"/>
                  </a:lnTo>
                  <a:lnTo>
                    <a:pt x="408218" y="58514"/>
                  </a:lnTo>
                  <a:lnTo>
                    <a:pt x="451386" y="41118"/>
                  </a:lnTo>
                  <a:lnTo>
                    <a:pt x="495947" y="26625"/>
                  </a:lnTo>
                  <a:lnTo>
                    <a:pt x="541785" y="15151"/>
                  </a:lnTo>
                  <a:lnTo>
                    <a:pt x="588784" y="6811"/>
                  </a:lnTo>
                  <a:lnTo>
                    <a:pt x="636828" y="1722"/>
                  </a:lnTo>
                  <a:lnTo>
                    <a:pt x="685800" y="0"/>
                  </a:lnTo>
                  <a:lnTo>
                    <a:pt x="734771" y="1722"/>
                  </a:lnTo>
                  <a:lnTo>
                    <a:pt x="782815" y="6811"/>
                  </a:lnTo>
                  <a:lnTo>
                    <a:pt x="829814" y="15151"/>
                  </a:lnTo>
                  <a:lnTo>
                    <a:pt x="875652" y="26625"/>
                  </a:lnTo>
                  <a:lnTo>
                    <a:pt x="920213" y="41118"/>
                  </a:lnTo>
                  <a:lnTo>
                    <a:pt x="963381" y="58514"/>
                  </a:lnTo>
                  <a:lnTo>
                    <a:pt x="1005040" y="78696"/>
                  </a:lnTo>
                  <a:lnTo>
                    <a:pt x="1045074" y="101548"/>
                  </a:lnTo>
                  <a:lnTo>
                    <a:pt x="1083366" y="126954"/>
                  </a:lnTo>
                  <a:lnTo>
                    <a:pt x="1119801" y="154798"/>
                  </a:lnTo>
                  <a:lnTo>
                    <a:pt x="1154263" y="184964"/>
                  </a:lnTo>
                  <a:lnTo>
                    <a:pt x="1186635" y="217336"/>
                  </a:lnTo>
                  <a:lnTo>
                    <a:pt x="1216801" y="251798"/>
                  </a:lnTo>
                  <a:lnTo>
                    <a:pt x="1244645" y="288233"/>
                  </a:lnTo>
                  <a:lnTo>
                    <a:pt x="1270051" y="326525"/>
                  </a:lnTo>
                  <a:lnTo>
                    <a:pt x="1292903" y="366559"/>
                  </a:lnTo>
                  <a:lnTo>
                    <a:pt x="1313085" y="408218"/>
                  </a:lnTo>
                  <a:lnTo>
                    <a:pt x="1330481" y="451386"/>
                  </a:lnTo>
                  <a:lnTo>
                    <a:pt x="1344974" y="495947"/>
                  </a:lnTo>
                  <a:lnTo>
                    <a:pt x="1356448" y="541785"/>
                  </a:lnTo>
                  <a:lnTo>
                    <a:pt x="1364788" y="588784"/>
                  </a:lnTo>
                  <a:lnTo>
                    <a:pt x="1369877" y="636828"/>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28" y="1369877"/>
                  </a:lnTo>
                  <a:lnTo>
                    <a:pt x="588784" y="1364788"/>
                  </a:lnTo>
                  <a:lnTo>
                    <a:pt x="541785" y="1356448"/>
                  </a:lnTo>
                  <a:lnTo>
                    <a:pt x="495947" y="1344974"/>
                  </a:lnTo>
                  <a:lnTo>
                    <a:pt x="451386" y="1330481"/>
                  </a:lnTo>
                  <a:lnTo>
                    <a:pt x="408218" y="1313085"/>
                  </a:lnTo>
                  <a:lnTo>
                    <a:pt x="366559" y="1292903"/>
                  </a:lnTo>
                  <a:lnTo>
                    <a:pt x="326525" y="1270051"/>
                  </a:lnTo>
                  <a:lnTo>
                    <a:pt x="288233" y="1244645"/>
                  </a:lnTo>
                  <a:lnTo>
                    <a:pt x="251798" y="1216801"/>
                  </a:lnTo>
                  <a:lnTo>
                    <a:pt x="217336" y="1186635"/>
                  </a:lnTo>
                  <a:lnTo>
                    <a:pt x="184964" y="1154263"/>
                  </a:lnTo>
                  <a:lnTo>
                    <a:pt x="154798" y="1119801"/>
                  </a:lnTo>
                  <a:lnTo>
                    <a:pt x="126954" y="1083366"/>
                  </a:lnTo>
                  <a:lnTo>
                    <a:pt x="101548" y="1045074"/>
                  </a:lnTo>
                  <a:lnTo>
                    <a:pt x="78696" y="1005040"/>
                  </a:lnTo>
                  <a:lnTo>
                    <a:pt x="58514" y="963381"/>
                  </a:lnTo>
                  <a:lnTo>
                    <a:pt x="41118" y="920213"/>
                  </a:lnTo>
                  <a:lnTo>
                    <a:pt x="26625" y="875652"/>
                  </a:lnTo>
                  <a:lnTo>
                    <a:pt x="15151" y="829814"/>
                  </a:lnTo>
                  <a:lnTo>
                    <a:pt x="6811" y="782815"/>
                  </a:lnTo>
                  <a:lnTo>
                    <a:pt x="1722" y="734771"/>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7" name="Google Shape;307;p23"/>
            <p:cNvSpPr/>
            <p:nvPr/>
          </p:nvSpPr>
          <p:spPr>
            <a:xfrm>
              <a:off x="5486400" y="48006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6"/>
                  </a:lnTo>
                  <a:lnTo>
                    <a:pt x="6811" y="782823"/>
                  </a:lnTo>
                  <a:lnTo>
                    <a:pt x="15151" y="829825"/>
                  </a:lnTo>
                  <a:lnTo>
                    <a:pt x="26625" y="875665"/>
                  </a:lnTo>
                  <a:lnTo>
                    <a:pt x="41118" y="920228"/>
                  </a:lnTo>
                  <a:lnTo>
                    <a:pt x="58514" y="963397"/>
                  </a:lnTo>
                  <a:lnTo>
                    <a:pt x="78696" y="1005057"/>
                  </a:lnTo>
                  <a:lnTo>
                    <a:pt x="101548" y="1045091"/>
                  </a:lnTo>
                  <a:lnTo>
                    <a:pt x="126954" y="1083383"/>
                  </a:lnTo>
                  <a:lnTo>
                    <a:pt x="154798" y="1119817"/>
                  </a:lnTo>
                  <a:lnTo>
                    <a:pt x="184964" y="1154278"/>
                  </a:lnTo>
                  <a:lnTo>
                    <a:pt x="217336" y="1186648"/>
                  </a:lnTo>
                  <a:lnTo>
                    <a:pt x="251798" y="1216813"/>
                  </a:lnTo>
                  <a:lnTo>
                    <a:pt x="288233" y="1244656"/>
                  </a:lnTo>
                  <a:lnTo>
                    <a:pt x="326525" y="1270060"/>
                  </a:lnTo>
                  <a:lnTo>
                    <a:pt x="366559" y="1292911"/>
                  </a:lnTo>
                  <a:lnTo>
                    <a:pt x="408218" y="1313091"/>
                  </a:lnTo>
                  <a:lnTo>
                    <a:pt x="451386" y="1330485"/>
                  </a:lnTo>
                  <a:lnTo>
                    <a:pt x="495947" y="1344977"/>
                  </a:lnTo>
                  <a:lnTo>
                    <a:pt x="541785" y="1356450"/>
                  </a:lnTo>
                  <a:lnTo>
                    <a:pt x="588784" y="1364789"/>
                  </a:lnTo>
                  <a:lnTo>
                    <a:pt x="636828" y="1369878"/>
                  </a:lnTo>
                  <a:lnTo>
                    <a:pt x="685800" y="1371600"/>
                  </a:lnTo>
                  <a:lnTo>
                    <a:pt x="734771" y="1369878"/>
                  </a:lnTo>
                  <a:lnTo>
                    <a:pt x="782815" y="1364789"/>
                  </a:lnTo>
                  <a:lnTo>
                    <a:pt x="829814" y="1356450"/>
                  </a:lnTo>
                  <a:lnTo>
                    <a:pt x="875652" y="1344977"/>
                  </a:lnTo>
                  <a:lnTo>
                    <a:pt x="920213" y="1330485"/>
                  </a:lnTo>
                  <a:lnTo>
                    <a:pt x="963381" y="1313091"/>
                  </a:lnTo>
                  <a:lnTo>
                    <a:pt x="1005040" y="1292911"/>
                  </a:lnTo>
                  <a:lnTo>
                    <a:pt x="1045074" y="1270060"/>
                  </a:lnTo>
                  <a:lnTo>
                    <a:pt x="1083366" y="1244656"/>
                  </a:lnTo>
                  <a:lnTo>
                    <a:pt x="1119801" y="1216813"/>
                  </a:lnTo>
                  <a:lnTo>
                    <a:pt x="1154263" y="1186648"/>
                  </a:lnTo>
                  <a:lnTo>
                    <a:pt x="1186635" y="1154278"/>
                  </a:lnTo>
                  <a:lnTo>
                    <a:pt x="1216801" y="1119817"/>
                  </a:lnTo>
                  <a:lnTo>
                    <a:pt x="1244645" y="1083383"/>
                  </a:lnTo>
                  <a:lnTo>
                    <a:pt x="1270051" y="1045091"/>
                  </a:lnTo>
                  <a:lnTo>
                    <a:pt x="1292903" y="1005057"/>
                  </a:lnTo>
                  <a:lnTo>
                    <a:pt x="1313085" y="963397"/>
                  </a:lnTo>
                  <a:lnTo>
                    <a:pt x="1330481" y="920228"/>
                  </a:lnTo>
                  <a:lnTo>
                    <a:pt x="1344974" y="875665"/>
                  </a:lnTo>
                  <a:lnTo>
                    <a:pt x="1356448" y="829825"/>
                  </a:lnTo>
                  <a:lnTo>
                    <a:pt x="1364788" y="782823"/>
                  </a:lnTo>
                  <a:lnTo>
                    <a:pt x="1369877" y="734776"/>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08" name="Google Shape;308;p23"/>
            <p:cNvSpPr/>
            <p:nvPr/>
          </p:nvSpPr>
          <p:spPr>
            <a:xfrm>
              <a:off x="76200" y="2971800"/>
              <a:ext cx="6781800" cy="3200400"/>
            </a:xfrm>
            <a:custGeom>
              <a:rect b="b" l="l" r="r" t="t"/>
              <a:pathLst>
                <a:path extrusionOk="0" h="3200400" w="6781800">
                  <a:moveTo>
                    <a:pt x="5410200" y="2514600"/>
                  </a:moveTo>
                  <a:lnTo>
                    <a:pt x="5411922" y="2465628"/>
                  </a:lnTo>
                  <a:lnTo>
                    <a:pt x="5417011" y="2417584"/>
                  </a:lnTo>
                  <a:lnTo>
                    <a:pt x="5425351" y="2370585"/>
                  </a:lnTo>
                  <a:lnTo>
                    <a:pt x="5436825" y="2324747"/>
                  </a:lnTo>
                  <a:lnTo>
                    <a:pt x="5451318" y="2280186"/>
                  </a:lnTo>
                  <a:lnTo>
                    <a:pt x="5468714" y="2237018"/>
                  </a:lnTo>
                  <a:lnTo>
                    <a:pt x="5488896" y="2195359"/>
                  </a:lnTo>
                  <a:lnTo>
                    <a:pt x="5511748" y="2155325"/>
                  </a:lnTo>
                  <a:lnTo>
                    <a:pt x="5537154" y="2117033"/>
                  </a:lnTo>
                  <a:lnTo>
                    <a:pt x="5564998" y="2080598"/>
                  </a:lnTo>
                  <a:lnTo>
                    <a:pt x="5595164" y="2046136"/>
                  </a:lnTo>
                  <a:lnTo>
                    <a:pt x="5627536" y="2013764"/>
                  </a:lnTo>
                  <a:lnTo>
                    <a:pt x="5661998" y="1983598"/>
                  </a:lnTo>
                  <a:lnTo>
                    <a:pt x="5698433" y="1955754"/>
                  </a:lnTo>
                  <a:lnTo>
                    <a:pt x="5736725" y="1930348"/>
                  </a:lnTo>
                  <a:lnTo>
                    <a:pt x="5776759" y="1907496"/>
                  </a:lnTo>
                  <a:lnTo>
                    <a:pt x="5818418" y="1887314"/>
                  </a:lnTo>
                  <a:lnTo>
                    <a:pt x="5861586" y="1869918"/>
                  </a:lnTo>
                  <a:lnTo>
                    <a:pt x="5906147" y="1855425"/>
                  </a:lnTo>
                  <a:lnTo>
                    <a:pt x="5951985" y="1843951"/>
                  </a:lnTo>
                  <a:lnTo>
                    <a:pt x="5998984" y="1835611"/>
                  </a:lnTo>
                  <a:lnTo>
                    <a:pt x="6047028" y="1830522"/>
                  </a:lnTo>
                  <a:lnTo>
                    <a:pt x="6096000" y="1828800"/>
                  </a:lnTo>
                  <a:lnTo>
                    <a:pt x="6144971" y="1830522"/>
                  </a:lnTo>
                  <a:lnTo>
                    <a:pt x="6193015" y="1835611"/>
                  </a:lnTo>
                  <a:lnTo>
                    <a:pt x="6240014" y="1843951"/>
                  </a:lnTo>
                  <a:lnTo>
                    <a:pt x="6285852" y="1855425"/>
                  </a:lnTo>
                  <a:lnTo>
                    <a:pt x="6330413" y="1869918"/>
                  </a:lnTo>
                  <a:lnTo>
                    <a:pt x="6373581" y="1887314"/>
                  </a:lnTo>
                  <a:lnTo>
                    <a:pt x="6415240" y="1907496"/>
                  </a:lnTo>
                  <a:lnTo>
                    <a:pt x="6455274" y="1930348"/>
                  </a:lnTo>
                  <a:lnTo>
                    <a:pt x="6493566" y="1955754"/>
                  </a:lnTo>
                  <a:lnTo>
                    <a:pt x="6530001" y="1983598"/>
                  </a:lnTo>
                  <a:lnTo>
                    <a:pt x="6564463" y="2013764"/>
                  </a:lnTo>
                  <a:lnTo>
                    <a:pt x="6596835" y="2046136"/>
                  </a:lnTo>
                  <a:lnTo>
                    <a:pt x="6627001" y="2080598"/>
                  </a:lnTo>
                  <a:lnTo>
                    <a:pt x="6654845" y="2117033"/>
                  </a:lnTo>
                  <a:lnTo>
                    <a:pt x="6680251" y="2155325"/>
                  </a:lnTo>
                  <a:lnTo>
                    <a:pt x="6703103" y="2195359"/>
                  </a:lnTo>
                  <a:lnTo>
                    <a:pt x="6723285" y="2237018"/>
                  </a:lnTo>
                  <a:lnTo>
                    <a:pt x="6740681" y="2280186"/>
                  </a:lnTo>
                  <a:lnTo>
                    <a:pt x="6755174" y="2324747"/>
                  </a:lnTo>
                  <a:lnTo>
                    <a:pt x="6766648" y="2370585"/>
                  </a:lnTo>
                  <a:lnTo>
                    <a:pt x="6774988" y="2417584"/>
                  </a:lnTo>
                  <a:lnTo>
                    <a:pt x="6780077" y="2465628"/>
                  </a:lnTo>
                  <a:lnTo>
                    <a:pt x="6781800" y="2514600"/>
                  </a:lnTo>
                  <a:lnTo>
                    <a:pt x="6780077" y="2563576"/>
                  </a:lnTo>
                  <a:lnTo>
                    <a:pt x="6774988" y="2611623"/>
                  </a:lnTo>
                  <a:lnTo>
                    <a:pt x="6766648" y="2658625"/>
                  </a:lnTo>
                  <a:lnTo>
                    <a:pt x="6755174" y="2704465"/>
                  </a:lnTo>
                  <a:lnTo>
                    <a:pt x="6740681" y="2749028"/>
                  </a:lnTo>
                  <a:lnTo>
                    <a:pt x="6723285" y="2792197"/>
                  </a:lnTo>
                  <a:lnTo>
                    <a:pt x="6703103" y="2833857"/>
                  </a:lnTo>
                  <a:lnTo>
                    <a:pt x="6680251" y="2873891"/>
                  </a:lnTo>
                  <a:lnTo>
                    <a:pt x="6654845" y="2912183"/>
                  </a:lnTo>
                  <a:lnTo>
                    <a:pt x="6627001" y="2948617"/>
                  </a:lnTo>
                  <a:lnTo>
                    <a:pt x="6596835" y="2983078"/>
                  </a:lnTo>
                  <a:lnTo>
                    <a:pt x="6564463" y="3015448"/>
                  </a:lnTo>
                  <a:lnTo>
                    <a:pt x="6530001" y="3045613"/>
                  </a:lnTo>
                  <a:lnTo>
                    <a:pt x="6493566" y="3073456"/>
                  </a:lnTo>
                  <a:lnTo>
                    <a:pt x="6455274" y="3098860"/>
                  </a:lnTo>
                  <a:lnTo>
                    <a:pt x="6415240" y="3121711"/>
                  </a:lnTo>
                  <a:lnTo>
                    <a:pt x="6373581" y="3141891"/>
                  </a:lnTo>
                  <a:lnTo>
                    <a:pt x="6330413" y="3159285"/>
                  </a:lnTo>
                  <a:lnTo>
                    <a:pt x="6285852" y="3173777"/>
                  </a:lnTo>
                  <a:lnTo>
                    <a:pt x="6240014" y="3185250"/>
                  </a:lnTo>
                  <a:lnTo>
                    <a:pt x="6193015" y="3193589"/>
                  </a:lnTo>
                  <a:lnTo>
                    <a:pt x="6144971" y="3198678"/>
                  </a:lnTo>
                  <a:lnTo>
                    <a:pt x="6096000" y="3200400"/>
                  </a:lnTo>
                  <a:lnTo>
                    <a:pt x="6047028" y="3198678"/>
                  </a:lnTo>
                  <a:lnTo>
                    <a:pt x="5998984" y="3193589"/>
                  </a:lnTo>
                  <a:lnTo>
                    <a:pt x="5951985" y="3185250"/>
                  </a:lnTo>
                  <a:lnTo>
                    <a:pt x="5906147" y="3173777"/>
                  </a:lnTo>
                  <a:lnTo>
                    <a:pt x="5861586" y="3159285"/>
                  </a:lnTo>
                  <a:lnTo>
                    <a:pt x="5818418" y="3141891"/>
                  </a:lnTo>
                  <a:lnTo>
                    <a:pt x="5776759" y="3121711"/>
                  </a:lnTo>
                  <a:lnTo>
                    <a:pt x="5736725" y="3098860"/>
                  </a:lnTo>
                  <a:lnTo>
                    <a:pt x="5698433" y="3073456"/>
                  </a:lnTo>
                  <a:lnTo>
                    <a:pt x="5661998" y="3045613"/>
                  </a:lnTo>
                  <a:lnTo>
                    <a:pt x="5627536" y="3015448"/>
                  </a:lnTo>
                  <a:lnTo>
                    <a:pt x="5595164" y="2983078"/>
                  </a:lnTo>
                  <a:lnTo>
                    <a:pt x="5564998" y="2948617"/>
                  </a:lnTo>
                  <a:lnTo>
                    <a:pt x="5537154" y="2912183"/>
                  </a:lnTo>
                  <a:lnTo>
                    <a:pt x="5511748" y="2873891"/>
                  </a:lnTo>
                  <a:lnTo>
                    <a:pt x="5488896" y="2833857"/>
                  </a:lnTo>
                  <a:lnTo>
                    <a:pt x="5468714" y="2792197"/>
                  </a:lnTo>
                  <a:lnTo>
                    <a:pt x="5451318" y="2749028"/>
                  </a:lnTo>
                  <a:lnTo>
                    <a:pt x="5436825" y="2704465"/>
                  </a:lnTo>
                  <a:lnTo>
                    <a:pt x="5425351" y="2658625"/>
                  </a:lnTo>
                  <a:lnTo>
                    <a:pt x="5417011" y="2611623"/>
                  </a:lnTo>
                  <a:lnTo>
                    <a:pt x="5411922" y="2563576"/>
                  </a:lnTo>
                  <a:lnTo>
                    <a:pt x="5410200" y="2514600"/>
                  </a:lnTo>
                  <a:close/>
                </a:path>
                <a:path extrusionOk="0" h="3200400" w="6781800">
                  <a:moveTo>
                    <a:pt x="0" y="1028700"/>
                  </a:moveTo>
                  <a:lnTo>
                    <a:pt x="1078" y="980269"/>
                  </a:lnTo>
                  <a:lnTo>
                    <a:pt x="4281" y="932415"/>
                  </a:lnTo>
                  <a:lnTo>
                    <a:pt x="9561" y="885187"/>
                  </a:lnTo>
                  <a:lnTo>
                    <a:pt x="16870" y="838635"/>
                  </a:lnTo>
                  <a:lnTo>
                    <a:pt x="26162" y="792808"/>
                  </a:lnTo>
                  <a:lnTo>
                    <a:pt x="37388" y="747756"/>
                  </a:lnTo>
                  <a:lnTo>
                    <a:pt x="50501" y="703527"/>
                  </a:lnTo>
                  <a:lnTo>
                    <a:pt x="65453" y="660171"/>
                  </a:lnTo>
                  <a:lnTo>
                    <a:pt x="82198" y="617737"/>
                  </a:lnTo>
                  <a:lnTo>
                    <a:pt x="100686" y="576276"/>
                  </a:lnTo>
                  <a:lnTo>
                    <a:pt x="120870" y="535836"/>
                  </a:lnTo>
                  <a:lnTo>
                    <a:pt x="142704" y="496466"/>
                  </a:lnTo>
                  <a:lnTo>
                    <a:pt x="166139" y="458216"/>
                  </a:lnTo>
                  <a:lnTo>
                    <a:pt x="191129" y="421136"/>
                  </a:lnTo>
                  <a:lnTo>
                    <a:pt x="217624" y="385274"/>
                  </a:lnTo>
                  <a:lnTo>
                    <a:pt x="245578" y="350680"/>
                  </a:lnTo>
                  <a:lnTo>
                    <a:pt x="274944" y="317404"/>
                  </a:lnTo>
                  <a:lnTo>
                    <a:pt x="305672" y="285494"/>
                  </a:lnTo>
                  <a:lnTo>
                    <a:pt x="337717" y="255001"/>
                  </a:lnTo>
                  <a:lnTo>
                    <a:pt x="371031" y="225974"/>
                  </a:lnTo>
                  <a:lnTo>
                    <a:pt x="405565" y="198461"/>
                  </a:lnTo>
                  <a:lnTo>
                    <a:pt x="441273" y="172512"/>
                  </a:lnTo>
                  <a:lnTo>
                    <a:pt x="478106" y="148178"/>
                  </a:lnTo>
                  <a:lnTo>
                    <a:pt x="516018" y="125506"/>
                  </a:lnTo>
                  <a:lnTo>
                    <a:pt x="554960" y="104547"/>
                  </a:lnTo>
                  <a:lnTo>
                    <a:pt x="594885" y="85349"/>
                  </a:lnTo>
                  <a:lnTo>
                    <a:pt x="635746" y="67963"/>
                  </a:lnTo>
                  <a:lnTo>
                    <a:pt x="677494" y="52437"/>
                  </a:lnTo>
                  <a:lnTo>
                    <a:pt x="720083" y="38821"/>
                  </a:lnTo>
                  <a:lnTo>
                    <a:pt x="763465" y="27165"/>
                  </a:lnTo>
                  <a:lnTo>
                    <a:pt x="807592" y="17517"/>
                  </a:lnTo>
                  <a:lnTo>
                    <a:pt x="852416" y="9927"/>
                  </a:lnTo>
                  <a:lnTo>
                    <a:pt x="897891" y="4445"/>
                  </a:lnTo>
                  <a:lnTo>
                    <a:pt x="943968" y="1119"/>
                  </a:lnTo>
                  <a:lnTo>
                    <a:pt x="990600" y="0"/>
                  </a:lnTo>
                  <a:lnTo>
                    <a:pt x="1037233" y="1119"/>
                  </a:lnTo>
                  <a:lnTo>
                    <a:pt x="1083312" y="4445"/>
                  </a:lnTo>
                  <a:lnTo>
                    <a:pt x="1128788" y="9927"/>
                  </a:lnTo>
                  <a:lnTo>
                    <a:pt x="1173614" y="17517"/>
                  </a:lnTo>
                  <a:lnTo>
                    <a:pt x="1217742" y="27165"/>
                  </a:lnTo>
                  <a:lnTo>
                    <a:pt x="1261125" y="38821"/>
                  </a:lnTo>
                  <a:lnTo>
                    <a:pt x="1303714" y="52437"/>
                  </a:lnTo>
                  <a:lnTo>
                    <a:pt x="1345464" y="67963"/>
                  </a:lnTo>
                  <a:lnTo>
                    <a:pt x="1386325" y="85349"/>
                  </a:lnTo>
                  <a:lnTo>
                    <a:pt x="1426250" y="104547"/>
                  </a:lnTo>
                  <a:lnTo>
                    <a:pt x="1465193" y="125506"/>
                  </a:lnTo>
                  <a:lnTo>
                    <a:pt x="1503104" y="148178"/>
                  </a:lnTo>
                  <a:lnTo>
                    <a:pt x="1539937" y="172512"/>
                  </a:lnTo>
                  <a:lnTo>
                    <a:pt x="1575645" y="198461"/>
                  </a:lnTo>
                  <a:lnTo>
                    <a:pt x="1610179" y="225974"/>
                  </a:lnTo>
                  <a:lnTo>
                    <a:pt x="1643492" y="255001"/>
                  </a:lnTo>
                  <a:lnTo>
                    <a:pt x="1675536" y="285494"/>
                  </a:lnTo>
                  <a:lnTo>
                    <a:pt x="1706265" y="317404"/>
                  </a:lnTo>
                  <a:lnTo>
                    <a:pt x="1735629" y="350680"/>
                  </a:lnTo>
                  <a:lnTo>
                    <a:pt x="1763583" y="385274"/>
                  </a:lnTo>
                  <a:lnTo>
                    <a:pt x="1790078" y="421136"/>
                  </a:lnTo>
                  <a:lnTo>
                    <a:pt x="1815066" y="458216"/>
                  </a:lnTo>
                  <a:lnTo>
                    <a:pt x="1838501" y="496466"/>
                  </a:lnTo>
                  <a:lnTo>
                    <a:pt x="1860334" y="535836"/>
                  </a:lnTo>
                  <a:lnTo>
                    <a:pt x="1880518" y="576276"/>
                  </a:lnTo>
                  <a:lnTo>
                    <a:pt x="1899005" y="617737"/>
                  </a:lnTo>
                  <a:lnTo>
                    <a:pt x="1915749" y="660171"/>
                  </a:lnTo>
                  <a:lnTo>
                    <a:pt x="1930700" y="703527"/>
                  </a:lnTo>
                  <a:lnTo>
                    <a:pt x="1943813" y="747756"/>
                  </a:lnTo>
                  <a:lnTo>
                    <a:pt x="1955038" y="792808"/>
                  </a:lnTo>
                  <a:lnTo>
                    <a:pt x="1964329" y="838635"/>
                  </a:lnTo>
                  <a:lnTo>
                    <a:pt x="1971639" y="885187"/>
                  </a:lnTo>
                  <a:lnTo>
                    <a:pt x="1976919" y="932415"/>
                  </a:lnTo>
                  <a:lnTo>
                    <a:pt x="1980121" y="980269"/>
                  </a:lnTo>
                  <a:lnTo>
                    <a:pt x="1981200" y="1028700"/>
                  </a:lnTo>
                  <a:lnTo>
                    <a:pt x="1980121" y="1077130"/>
                  </a:lnTo>
                  <a:lnTo>
                    <a:pt x="1976919" y="1124984"/>
                  </a:lnTo>
                  <a:lnTo>
                    <a:pt x="1971639" y="1172212"/>
                  </a:lnTo>
                  <a:lnTo>
                    <a:pt x="1964329" y="1218764"/>
                  </a:lnTo>
                  <a:lnTo>
                    <a:pt x="1955038" y="1264591"/>
                  </a:lnTo>
                  <a:lnTo>
                    <a:pt x="1943813" y="1309643"/>
                  </a:lnTo>
                  <a:lnTo>
                    <a:pt x="1930700" y="1353872"/>
                  </a:lnTo>
                  <a:lnTo>
                    <a:pt x="1915749" y="1397228"/>
                  </a:lnTo>
                  <a:lnTo>
                    <a:pt x="1899005" y="1439662"/>
                  </a:lnTo>
                  <a:lnTo>
                    <a:pt x="1880518" y="1481123"/>
                  </a:lnTo>
                  <a:lnTo>
                    <a:pt x="1860334" y="1521563"/>
                  </a:lnTo>
                  <a:lnTo>
                    <a:pt x="1838501" y="1560933"/>
                  </a:lnTo>
                  <a:lnTo>
                    <a:pt x="1815066" y="1599183"/>
                  </a:lnTo>
                  <a:lnTo>
                    <a:pt x="1790078" y="1636263"/>
                  </a:lnTo>
                  <a:lnTo>
                    <a:pt x="1763583" y="1672125"/>
                  </a:lnTo>
                  <a:lnTo>
                    <a:pt x="1735629" y="1706719"/>
                  </a:lnTo>
                  <a:lnTo>
                    <a:pt x="1706265" y="1739995"/>
                  </a:lnTo>
                  <a:lnTo>
                    <a:pt x="1675536" y="1771905"/>
                  </a:lnTo>
                  <a:lnTo>
                    <a:pt x="1643492" y="1802398"/>
                  </a:lnTo>
                  <a:lnTo>
                    <a:pt x="1610179" y="1831425"/>
                  </a:lnTo>
                  <a:lnTo>
                    <a:pt x="1575645" y="1858938"/>
                  </a:lnTo>
                  <a:lnTo>
                    <a:pt x="1539937" y="1884887"/>
                  </a:lnTo>
                  <a:lnTo>
                    <a:pt x="1503104" y="1909221"/>
                  </a:lnTo>
                  <a:lnTo>
                    <a:pt x="1465193" y="1931893"/>
                  </a:lnTo>
                  <a:lnTo>
                    <a:pt x="1426250" y="1952852"/>
                  </a:lnTo>
                  <a:lnTo>
                    <a:pt x="1386325" y="1972050"/>
                  </a:lnTo>
                  <a:lnTo>
                    <a:pt x="1345464" y="1989436"/>
                  </a:lnTo>
                  <a:lnTo>
                    <a:pt x="1303714" y="2004962"/>
                  </a:lnTo>
                  <a:lnTo>
                    <a:pt x="1261125" y="2018578"/>
                  </a:lnTo>
                  <a:lnTo>
                    <a:pt x="1217742" y="2030234"/>
                  </a:lnTo>
                  <a:lnTo>
                    <a:pt x="1173614" y="2039882"/>
                  </a:lnTo>
                  <a:lnTo>
                    <a:pt x="1128788" y="2047472"/>
                  </a:lnTo>
                  <a:lnTo>
                    <a:pt x="1083312" y="2052954"/>
                  </a:lnTo>
                  <a:lnTo>
                    <a:pt x="1037233" y="2056280"/>
                  </a:lnTo>
                  <a:lnTo>
                    <a:pt x="990600" y="2057400"/>
                  </a:lnTo>
                  <a:lnTo>
                    <a:pt x="943968" y="2056280"/>
                  </a:lnTo>
                  <a:lnTo>
                    <a:pt x="897891" y="2052954"/>
                  </a:lnTo>
                  <a:lnTo>
                    <a:pt x="852416" y="2047472"/>
                  </a:lnTo>
                  <a:lnTo>
                    <a:pt x="807592" y="2039882"/>
                  </a:lnTo>
                  <a:lnTo>
                    <a:pt x="763465" y="2030234"/>
                  </a:lnTo>
                  <a:lnTo>
                    <a:pt x="720083" y="2018578"/>
                  </a:lnTo>
                  <a:lnTo>
                    <a:pt x="677494" y="2004962"/>
                  </a:lnTo>
                  <a:lnTo>
                    <a:pt x="635746" y="1989436"/>
                  </a:lnTo>
                  <a:lnTo>
                    <a:pt x="594885" y="1972050"/>
                  </a:lnTo>
                  <a:lnTo>
                    <a:pt x="554960" y="1952852"/>
                  </a:lnTo>
                  <a:lnTo>
                    <a:pt x="516018" y="1931893"/>
                  </a:lnTo>
                  <a:lnTo>
                    <a:pt x="478106" y="1909221"/>
                  </a:lnTo>
                  <a:lnTo>
                    <a:pt x="441273" y="1884887"/>
                  </a:lnTo>
                  <a:lnTo>
                    <a:pt x="405565" y="1858938"/>
                  </a:lnTo>
                  <a:lnTo>
                    <a:pt x="371031" y="1831425"/>
                  </a:lnTo>
                  <a:lnTo>
                    <a:pt x="337717" y="1802398"/>
                  </a:lnTo>
                  <a:lnTo>
                    <a:pt x="305672" y="1771905"/>
                  </a:lnTo>
                  <a:lnTo>
                    <a:pt x="274944" y="1739995"/>
                  </a:lnTo>
                  <a:lnTo>
                    <a:pt x="245578" y="1706719"/>
                  </a:lnTo>
                  <a:lnTo>
                    <a:pt x="217624" y="1672125"/>
                  </a:lnTo>
                  <a:lnTo>
                    <a:pt x="191129" y="1636263"/>
                  </a:lnTo>
                  <a:lnTo>
                    <a:pt x="166139" y="1599183"/>
                  </a:lnTo>
                  <a:lnTo>
                    <a:pt x="142704" y="1560933"/>
                  </a:lnTo>
                  <a:lnTo>
                    <a:pt x="120870" y="1521563"/>
                  </a:lnTo>
                  <a:lnTo>
                    <a:pt x="100686" y="1481123"/>
                  </a:lnTo>
                  <a:lnTo>
                    <a:pt x="82198" y="1439662"/>
                  </a:lnTo>
                  <a:lnTo>
                    <a:pt x="65453" y="1397228"/>
                  </a:lnTo>
                  <a:lnTo>
                    <a:pt x="50501" y="1353872"/>
                  </a:lnTo>
                  <a:lnTo>
                    <a:pt x="37388" y="1309643"/>
                  </a:lnTo>
                  <a:lnTo>
                    <a:pt x="26162" y="1264591"/>
                  </a:lnTo>
                  <a:lnTo>
                    <a:pt x="16870" y="1218764"/>
                  </a:lnTo>
                  <a:lnTo>
                    <a:pt x="9561" y="1172212"/>
                  </a:lnTo>
                  <a:lnTo>
                    <a:pt x="4281" y="1124984"/>
                  </a:lnTo>
                  <a:lnTo>
                    <a:pt x="1078" y="1077130"/>
                  </a:lnTo>
                  <a:lnTo>
                    <a:pt x="0" y="1028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grpSp>
      <p:sp>
        <p:nvSpPr>
          <p:cNvPr id="309" name="Google Shape;309;p23"/>
          <p:cNvSpPr txBox="1"/>
          <p:nvPr>
            <p:ph type="title"/>
          </p:nvPr>
        </p:nvSpPr>
        <p:spPr>
          <a:xfrm>
            <a:off x="457200" y="274700"/>
            <a:ext cx="8229600" cy="1143000"/>
          </a:xfrm>
          <a:prstGeom prst="rect">
            <a:avLst/>
          </a:prstGeom>
          <a:noFill/>
          <a:ln cap="flat" cmpd="sng" w="9525">
            <a:solidFill>
              <a:srgbClr val="000000"/>
            </a:solidFill>
            <a:prstDash val="solid"/>
            <a:round/>
            <a:headEnd len="sm" w="sm" type="none"/>
            <a:tailEnd len="sm" w="sm" type="none"/>
          </a:ln>
        </p:spPr>
        <p:txBody>
          <a:bodyPr anchorCtr="0" anchor="b" bIns="0" lIns="0" spcFirstLastPara="1" rIns="0" wrap="square" tIns="200025">
            <a:spAutoFit/>
          </a:bodyPr>
          <a:lstStyle/>
          <a:p>
            <a:pPr indent="0" lvl="0" marL="0" rtl="0" algn="ctr">
              <a:lnSpc>
                <a:spcPct val="100000"/>
              </a:lnSpc>
              <a:spcBef>
                <a:spcPts val="0"/>
              </a:spcBef>
              <a:spcAft>
                <a:spcPts val="0"/>
              </a:spcAft>
              <a:buClr>
                <a:schemeClr val="dk2"/>
              </a:buClr>
              <a:buSzPts val="3000"/>
              <a:buFont typeface="Century Schoolbook"/>
              <a:buNone/>
            </a:pPr>
            <a:r>
              <a:rPr lang="en-US"/>
              <a:t>Structure - The CPU</a:t>
            </a:r>
            <a:endParaRPr/>
          </a:p>
        </p:txBody>
      </p:sp>
      <p:sp>
        <p:nvSpPr>
          <p:cNvPr id="310" name="Google Shape;310;p23"/>
          <p:cNvSpPr txBox="1"/>
          <p:nvPr/>
        </p:nvSpPr>
        <p:spPr>
          <a:xfrm>
            <a:off x="680719" y="3045079"/>
            <a:ext cx="91566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Computer</a:t>
            </a:r>
            <a:endParaRPr sz="1600">
              <a:solidFill>
                <a:schemeClr val="dk1"/>
              </a:solidFill>
              <a:latin typeface="Arial"/>
              <a:ea typeface="Arial"/>
              <a:cs typeface="Arial"/>
              <a:sym typeface="Arial"/>
            </a:endParaRPr>
          </a:p>
        </p:txBody>
      </p:sp>
      <p:sp>
        <p:nvSpPr>
          <p:cNvPr id="311" name="Google Shape;311;p23"/>
          <p:cNvSpPr txBox="1"/>
          <p:nvPr/>
        </p:nvSpPr>
        <p:spPr>
          <a:xfrm>
            <a:off x="6631685" y="3002025"/>
            <a:ext cx="928369"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Arithmetic  and</a:t>
            </a:r>
            <a:endParaRPr sz="16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Logic Unit</a:t>
            </a:r>
            <a:endParaRPr sz="1600">
              <a:solidFill>
                <a:schemeClr val="dk1"/>
              </a:solidFill>
              <a:latin typeface="Arial"/>
              <a:ea typeface="Arial"/>
              <a:cs typeface="Arial"/>
              <a:sym typeface="Arial"/>
            </a:endParaRPr>
          </a:p>
        </p:txBody>
      </p:sp>
      <p:sp>
        <p:nvSpPr>
          <p:cNvPr id="312" name="Google Shape;312;p23"/>
          <p:cNvSpPr txBox="1"/>
          <p:nvPr/>
        </p:nvSpPr>
        <p:spPr>
          <a:xfrm>
            <a:off x="5793485" y="5164658"/>
            <a:ext cx="678815"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Control</a:t>
            </a:r>
            <a:endParaRPr sz="16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Unit</a:t>
            </a:r>
            <a:endParaRPr sz="1600">
              <a:solidFill>
                <a:schemeClr val="dk1"/>
              </a:solidFill>
              <a:latin typeface="Arial"/>
              <a:ea typeface="Arial"/>
              <a:cs typeface="Arial"/>
              <a:sym typeface="Arial"/>
            </a:endParaRPr>
          </a:p>
        </p:txBody>
      </p:sp>
      <p:sp>
        <p:nvSpPr>
          <p:cNvPr id="313" name="Google Shape;313;p23"/>
          <p:cNvSpPr txBox="1"/>
          <p:nvPr/>
        </p:nvSpPr>
        <p:spPr>
          <a:xfrm>
            <a:off x="5488685" y="4097782"/>
            <a:ext cx="141351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Internal CPU  Interconnection</a:t>
            </a:r>
            <a:endParaRPr sz="1600">
              <a:solidFill>
                <a:schemeClr val="dk1"/>
              </a:solidFill>
              <a:latin typeface="Arial"/>
              <a:ea typeface="Arial"/>
              <a:cs typeface="Arial"/>
              <a:sym typeface="Arial"/>
            </a:endParaRPr>
          </a:p>
        </p:txBody>
      </p:sp>
      <p:sp>
        <p:nvSpPr>
          <p:cNvPr id="314" name="Google Shape;314;p23"/>
          <p:cNvSpPr/>
          <p:nvPr/>
        </p:nvSpPr>
        <p:spPr>
          <a:xfrm>
            <a:off x="1524000" y="2209800"/>
            <a:ext cx="3886200" cy="4267200"/>
          </a:xfrm>
          <a:custGeom>
            <a:rect b="b" l="l" r="r" t="t"/>
            <a:pathLst>
              <a:path extrusionOk="0" h="4267200" w="3886200">
                <a:moveTo>
                  <a:pt x="0" y="1371600"/>
                </a:moveTo>
                <a:lnTo>
                  <a:pt x="3886200" y="0"/>
                </a:lnTo>
              </a:path>
              <a:path extrusionOk="0" h="4267200" w="3886200">
                <a:moveTo>
                  <a:pt x="0" y="2133600"/>
                </a:moveTo>
                <a:lnTo>
                  <a:pt x="3733800" y="42672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15" name="Google Shape;315;p23"/>
          <p:cNvSpPr txBox="1"/>
          <p:nvPr/>
        </p:nvSpPr>
        <p:spPr>
          <a:xfrm>
            <a:off x="4907407" y="3199002"/>
            <a:ext cx="88265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Registers</a:t>
            </a:r>
            <a:endParaRPr sz="1600">
              <a:solidFill>
                <a:schemeClr val="dk1"/>
              </a:solidFill>
              <a:latin typeface="Arial"/>
              <a:ea typeface="Arial"/>
              <a:cs typeface="Arial"/>
              <a:sym typeface="Arial"/>
            </a:endParaRPr>
          </a:p>
        </p:txBody>
      </p:sp>
      <p:sp>
        <p:nvSpPr>
          <p:cNvPr id="316" name="Google Shape;316;p23"/>
          <p:cNvSpPr/>
          <p:nvPr/>
        </p:nvSpPr>
        <p:spPr>
          <a:xfrm>
            <a:off x="304800" y="3276600"/>
            <a:ext cx="1600200" cy="1066800"/>
          </a:xfrm>
          <a:custGeom>
            <a:rect b="b" l="l" r="r" t="t"/>
            <a:pathLst>
              <a:path extrusionOk="0" h="1066800" w="1600200">
                <a:moveTo>
                  <a:pt x="914400" y="685800"/>
                </a:moveTo>
                <a:lnTo>
                  <a:pt x="917530" y="634096"/>
                </a:lnTo>
                <a:lnTo>
                  <a:pt x="926650" y="584508"/>
                </a:lnTo>
                <a:lnTo>
                  <a:pt x="941349" y="537489"/>
                </a:lnTo>
                <a:lnTo>
                  <a:pt x="961220" y="493493"/>
                </a:lnTo>
                <a:lnTo>
                  <a:pt x="985854" y="452974"/>
                </a:lnTo>
                <a:lnTo>
                  <a:pt x="1014841" y="416385"/>
                </a:lnTo>
                <a:lnTo>
                  <a:pt x="1047773" y="384180"/>
                </a:lnTo>
                <a:lnTo>
                  <a:pt x="1084241" y="356813"/>
                </a:lnTo>
                <a:lnTo>
                  <a:pt x="1123836" y="334738"/>
                </a:lnTo>
                <a:lnTo>
                  <a:pt x="1166151" y="318408"/>
                </a:lnTo>
                <a:lnTo>
                  <a:pt x="1210775" y="308277"/>
                </a:lnTo>
                <a:lnTo>
                  <a:pt x="1257300" y="304800"/>
                </a:lnTo>
                <a:lnTo>
                  <a:pt x="1303824" y="308277"/>
                </a:lnTo>
                <a:lnTo>
                  <a:pt x="1348448" y="318408"/>
                </a:lnTo>
                <a:lnTo>
                  <a:pt x="1390763" y="334738"/>
                </a:lnTo>
                <a:lnTo>
                  <a:pt x="1430358" y="356813"/>
                </a:lnTo>
                <a:lnTo>
                  <a:pt x="1466826" y="384180"/>
                </a:lnTo>
                <a:lnTo>
                  <a:pt x="1499758" y="416385"/>
                </a:lnTo>
                <a:lnTo>
                  <a:pt x="1528745" y="452974"/>
                </a:lnTo>
                <a:lnTo>
                  <a:pt x="1553379" y="493493"/>
                </a:lnTo>
                <a:lnTo>
                  <a:pt x="1573250" y="537489"/>
                </a:lnTo>
                <a:lnTo>
                  <a:pt x="1587949" y="584508"/>
                </a:lnTo>
                <a:lnTo>
                  <a:pt x="1597069" y="634096"/>
                </a:lnTo>
                <a:lnTo>
                  <a:pt x="1600200" y="685800"/>
                </a:lnTo>
                <a:lnTo>
                  <a:pt x="1597069" y="737503"/>
                </a:lnTo>
                <a:lnTo>
                  <a:pt x="1587949" y="787091"/>
                </a:lnTo>
                <a:lnTo>
                  <a:pt x="1573250" y="834110"/>
                </a:lnTo>
                <a:lnTo>
                  <a:pt x="1553379" y="878106"/>
                </a:lnTo>
                <a:lnTo>
                  <a:pt x="1528745" y="918625"/>
                </a:lnTo>
                <a:lnTo>
                  <a:pt x="1499758" y="955214"/>
                </a:lnTo>
                <a:lnTo>
                  <a:pt x="1466826" y="987419"/>
                </a:lnTo>
                <a:lnTo>
                  <a:pt x="1430358" y="1014786"/>
                </a:lnTo>
                <a:lnTo>
                  <a:pt x="1390763" y="1036861"/>
                </a:lnTo>
                <a:lnTo>
                  <a:pt x="1348448" y="1053191"/>
                </a:lnTo>
                <a:lnTo>
                  <a:pt x="1303824" y="1063322"/>
                </a:lnTo>
                <a:lnTo>
                  <a:pt x="1257300" y="1066800"/>
                </a:lnTo>
                <a:lnTo>
                  <a:pt x="1210775" y="1063322"/>
                </a:lnTo>
                <a:lnTo>
                  <a:pt x="1166151" y="1053191"/>
                </a:lnTo>
                <a:lnTo>
                  <a:pt x="1123836" y="1036861"/>
                </a:lnTo>
                <a:lnTo>
                  <a:pt x="1084241" y="1014786"/>
                </a:lnTo>
                <a:lnTo>
                  <a:pt x="1047773" y="987419"/>
                </a:lnTo>
                <a:lnTo>
                  <a:pt x="1014841" y="955214"/>
                </a:lnTo>
                <a:lnTo>
                  <a:pt x="985854" y="918625"/>
                </a:lnTo>
                <a:lnTo>
                  <a:pt x="961220" y="878106"/>
                </a:lnTo>
                <a:lnTo>
                  <a:pt x="941349" y="834110"/>
                </a:lnTo>
                <a:lnTo>
                  <a:pt x="926650" y="787091"/>
                </a:lnTo>
                <a:lnTo>
                  <a:pt x="917530" y="737503"/>
                </a:lnTo>
                <a:lnTo>
                  <a:pt x="914400" y="685800"/>
                </a:lnTo>
                <a:close/>
              </a:path>
              <a:path extrusionOk="0" h="1066800" w="1600200">
                <a:moveTo>
                  <a:pt x="0" y="304800"/>
                </a:moveTo>
                <a:lnTo>
                  <a:pt x="3989" y="255374"/>
                </a:lnTo>
                <a:lnTo>
                  <a:pt x="15538" y="208483"/>
                </a:lnTo>
                <a:lnTo>
                  <a:pt x="34020" y="164753"/>
                </a:lnTo>
                <a:lnTo>
                  <a:pt x="58808" y="124815"/>
                </a:lnTo>
                <a:lnTo>
                  <a:pt x="89273" y="89296"/>
                </a:lnTo>
                <a:lnTo>
                  <a:pt x="124788" y="58826"/>
                </a:lnTo>
                <a:lnTo>
                  <a:pt x="164725" y="34032"/>
                </a:lnTo>
                <a:lnTo>
                  <a:pt x="208458" y="15544"/>
                </a:lnTo>
                <a:lnTo>
                  <a:pt x="255359" y="3990"/>
                </a:lnTo>
                <a:lnTo>
                  <a:pt x="304800" y="0"/>
                </a:lnTo>
                <a:lnTo>
                  <a:pt x="354240" y="3990"/>
                </a:lnTo>
                <a:lnTo>
                  <a:pt x="401141" y="15544"/>
                </a:lnTo>
                <a:lnTo>
                  <a:pt x="444874" y="34032"/>
                </a:lnTo>
                <a:lnTo>
                  <a:pt x="484811" y="58826"/>
                </a:lnTo>
                <a:lnTo>
                  <a:pt x="520326" y="89296"/>
                </a:lnTo>
                <a:lnTo>
                  <a:pt x="550791" y="124815"/>
                </a:lnTo>
                <a:lnTo>
                  <a:pt x="575579" y="164753"/>
                </a:lnTo>
                <a:lnTo>
                  <a:pt x="594061" y="208483"/>
                </a:lnTo>
                <a:lnTo>
                  <a:pt x="605610" y="255374"/>
                </a:lnTo>
                <a:lnTo>
                  <a:pt x="609600" y="304800"/>
                </a:lnTo>
                <a:lnTo>
                  <a:pt x="605610" y="354225"/>
                </a:lnTo>
                <a:lnTo>
                  <a:pt x="594061" y="401116"/>
                </a:lnTo>
                <a:lnTo>
                  <a:pt x="575579" y="444846"/>
                </a:lnTo>
                <a:lnTo>
                  <a:pt x="550791" y="484784"/>
                </a:lnTo>
                <a:lnTo>
                  <a:pt x="520326" y="520303"/>
                </a:lnTo>
                <a:lnTo>
                  <a:pt x="484811" y="550773"/>
                </a:lnTo>
                <a:lnTo>
                  <a:pt x="444874" y="575567"/>
                </a:lnTo>
                <a:lnTo>
                  <a:pt x="401141" y="594055"/>
                </a:lnTo>
                <a:lnTo>
                  <a:pt x="354240" y="605609"/>
                </a:lnTo>
                <a:lnTo>
                  <a:pt x="304800" y="609600"/>
                </a:lnTo>
                <a:lnTo>
                  <a:pt x="255359" y="605609"/>
                </a:lnTo>
                <a:lnTo>
                  <a:pt x="208458" y="594055"/>
                </a:lnTo>
                <a:lnTo>
                  <a:pt x="164725" y="575567"/>
                </a:lnTo>
                <a:lnTo>
                  <a:pt x="124788" y="550773"/>
                </a:lnTo>
                <a:lnTo>
                  <a:pt x="89273" y="520303"/>
                </a:lnTo>
                <a:lnTo>
                  <a:pt x="58808" y="484784"/>
                </a:lnTo>
                <a:lnTo>
                  <a:pt x="34020" y="444846"/>
                </a:lnTo>
                <a:lnTo>
                  <a:pt x="15538" y="401116"/>
                </a:lnTo>
                <a:lnTo>
                  <a:pt x="3989" y="354225"/>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17" name="Google Shape;317;p23"/>
          <p:cNvSpPr txBox="1"/>
          <p:nvPr/>
        </p:nvSpPr>
        <p:spPr>
          <a:xfrm>
            <a:off x="494487" y="3473577"/>
            <a:ext cx="2298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I/O</a:t>
            </a:r>
            <a:endParaRPr sz="1200">
              <a:solidFill>
                <a:schemeClr val="dk1"/>
              </a:solidFill>
              <a:latin typeface="Arial"/>
              <a:ea typeface="Arial"/>
              <a:cs typeface="Arial"/>
              <a:sym typeface="Arial"/>
            </a:endParaRPr>
          </a:p>
        </p:txBody>
      </p:sp>
      <p:sp>
        <p:nvSpPr>
          <p:cNvPr id="318" name="Google Shape;318;p23"/>
          <p:cNvSpPr/>
          <p:nvPr/>
        </p:nvSpPr>
        <p:spPr>
          <a:xfrm>
            <a:off x="381000" y="3581400"/>
            <a:ext cx="914400" cy="1295400"/>
          </a:xfrm>
          <a:custGeom>
            <a:rect b="b" l="l" r="r" t="t"/>
            <a:pathLst>
              <a:path extrusionOk="0" h="1295400" w="914400">
                <a:moveTo>
                  <a:pt x="0" y="952500"/>
                </a:moveTo>
                <a:lnTo>
                  <a:pt x="3130" y="905975"/>
                </a:lnTo>
                <a:lnTo>
                  <a:pt x="12248" y="861351"/>
                </a:lnTo>
                <a:lnTo>
                  <a:pt x="26946" y="819036"/>
                </a:lnTo>
                <a:lnTo>
                  <a:pt x="46815" y="779441"/>
                </a:lnTo>
                <a:lnTo>
                  <a:pt x="71446" y="742973"/>
                </a:lnTo>
                <a:lnTo>
                  <a:pt x="100431" y="710041"/>
                </a:lnTo>
                <a:lnTo>
                  <a:pt x="133362" y="681054"/>
                </a:lnTo>
                <a:lnTo>
                  <a:pt x="169830" y="656420"/>
                </a:lnTo>
                <a:lnTo>
                  <a:pt x="209426" y="636549"/>
                </a:lnTo>
                <a:lnTo>
                  <a:pt x="251742" y="621850"/>
                </a:lnTo>
                <a:lnTo>
                  <a:pt x="296369" y="612730"/>
                </a:lnTo>
                <a:lnTo>
                  <a:pt x="342900" y="609600"/>
                </a:lnTo>
                <a:lnTo>
                  <a:pt x="389430" y="612730"/>
                </a:lnTo>
                <a:lnTo>
                  <a:pt x="434057" y="621850"/>
                </a:lnTo>
                <a:lnTo>
                  <a:pt x="476373" y="636549"/>
                </a:lnTo>
                <a:lnTo>
                  <a:pt x="515969" y="656420"/>
                </a:lnTo>
                <a:lnTo>
                  <a:pt x="552437" y="681054"/>
                </a:lnTo>
                <a:lnTo>
                  <a:pt x="585368" y="710041"/>
                </a:lnTo>
                <a:lnTo>
                  <a:pt x="614353" y="742973"/>
                </a:lnTo>
                <a:lnTo>
                  <a:pt x="638984" y="779441"/>
                </a:lnTo>
                <a:lnTo>
                  <a:pt x="658853" y="819036"/>
                </a:lnTo>
                <a:lnTo>
                  <a:pt x="673551" y="861351"/>
                </a:lnTo>
                <a:lnTo>
                  <a:pt x="682669" y="905975"/>
                </a:lnTo>
                <a:lnTo>
                  <a:pt x="685800" y="952500"/>
                </a:lnTo>
                <a:lnTo>
                  <a:pt x="682669" y="999024"/>
                </a:lnTo>
                <a:lnTo>
                  <a:pt x="673551" y="1043648"/>
                </a:lnTo>
                <a:lnTo>
                  <a:pt x="658853" y="1085963"/>
                </a:lnTo>
                <a:lnTo>
                  <a:pt x="638984" y="1125558"/>
                </a:lnTo>
                <a:lnTo>
                  <a:pt x="614353" y="1162026"/>
                </a:lnTo>
                <a:lnTo>
                  <a:pt x="585368" y="1194958"/>
                </a:lnTo>
                <a:lnTo>
                  <a:pt x="552437" y="1223945"/>
                </a:lnTo>
                <a:lnTo>
                  <a:pt x="515969" y="1248579"/>
                </a:lnTo>
                <a:lnTo>
                  <a:pt x="476373" y="1268450"/>
                </a:lnTo>
                <a:lnTo>
                  <a:pt x="434057" y="1283149"/>
                </a:lnTo>
                <a:lnTo>
                  <a:pt x="389430" y="1292269"/>
                </a:lnTo>
                <a:lnTo>
                  <a:pt x="342900" y="1295400"/>
                </a:lnTo>
                <a:lnTo>
                  <a:pt x="296369" y="1292269"/>
                </a:lnTo>
                <a:lnTo>
                  <a:pt x="251742" y="1283149"/>
                </a:lnTo>
                <a:lnTo>
                  <a:pt x="209426" y="1268450"/>
                </a:lnTo>
                <a:lnTo>
                  <a:pt x="169830" y="1248579"/>
                </a:lnTo>
                <a:lnTo>
                  <a:pt x="133362" y="1223945"/>
                </a:lnTo>
                <a:lnTo>
                  <a:pt x="100431" y="1194958"/>
                </a:lnTo>
                <a:lnTo>
                  <a:pt x="71446" y="1162026"/>
                </a:lnTo>
                <a:lnTo>
                  <a:pt x="46815" y="1125558"/>
                </a:lnTo>
                <a:lnTo>
                  <a:pt x="26946" y="1085963"/>
                </a:lnTo>
                <a:lnTo>
                  <a:pt x="12248" y="1043648"/>
                </a:lnTo>
                <a:lnTo>
                  <a:pt x="3130" y="999024"/>
                </a:lnTo>
                <a:lnTo>
                  <a:pt x="0" y="952500"/>
                </a:lnTo>
                <a:close/>
              </a:path>
              <a:path extrusionOk="0" h="1295400" w="914400">
                <a:moveTo>
                  <a:pt x="228600" y="381000"/>
                </a:moveTo>
                <a:lnTo>
                  <a:pt x="231730" y="329296"/>
                </a:lnTo>
                <a:lnTo>
                  <a:pt x="240848" y="279708"/>
                </a:lnTo>
                <a:lnTo>
                  <a:pt x="255546" y="232689"/>
                </a:lnTo>
                <a:lnTo>
                  <a:pt x="275415" y="188693"/>
                </a:lnTo>
                <a:lnTo>
                  <a:pt x="300046" y="148174"/>
                </a:lnTo>
                <a:lnTo>
                  <a:pt x="329031" y="111585"/>
                </a:lnTo>
                <a:lnTo>
                  <a:pt x="361962" y="79380"/>
                </a:lnTo>
                <a:lnTo>
                  <a:pt x="398430" y="52013"/>
                </a:lnTo>
                <a:lnTo>
                  <a:pt x="438026" y="29938"/>
                </a:lnTo>
                <a:lnTo>
                  <a:pt x="480342" y="13608"/>
                </a:lnTo>
                <a:lnTo>
                  <a:pt x="524969" y="3477"/>
                </a:lnTo>
                <a:lnTo>
                  <a:pt x="571500" y="0"/>
                </a:lnTo>
                <a:lnTo>
                  <a:pt x="618030" y="3477"/>
                </a:lnTo>
                <a:lnTo>
                  <a:pt x="662657" y="13608"/>
                </a:lnTo>
                <a:lnTo>
                  <a:pt x="704973" y="29938"/>
                </a:lnTo>
                <a:lnTo>
                  <a:pt x="744569" y="52013"/>
                </a:lnTo>
                <a:lnTo>
                  <a:pt x="781037" y="79380"/>
                </a:lnTo>
                <a:lnTo>
                  <a:pt x="813968" y="111585"/>
                </a:lnTo>
                <a:lnTo>
                  <a:pt x="842953" y="148174"/>
                </a:lnTo>
                <a:lnTo>
                  <a:pt x="867584" y="188693"/>
                </a:lnTo>
                <a:lnTo>
                  <a:pt x="887453" y="232689"/>
                </a:lnTo>
                <a:lnTo>
                  <a:pt x="902151" y="279708"/>
                </a:lnTo>
                <a:lnTo>
                  <a:pt x="911269" y="329296"/>
                </a:lnTo>
                <a:lnTo>
                  <a:pt x="914400" y="381000"/>
                </a:lnTo>
                <a:lnTo>
                  <a:pt x="911269" y="432703"/>
                </a:lnTo>
                <a:lnTo>
                  <a:pt x="902151" y="482291"/>
                </a:lnTo>
                <a:lnTo>
                  <a:pt x="887453" y="529310"/>
                </a:lnTo>
                <a:lnTo>
                  <a:pt x="867584" y="573306"/>
                </a:lnTo>
                <a:lnTo>
                  <a:pt x="842953" y="613825"/>
                </a:lnTo>
                <a:lnTo>
                  <a:pt x="813968" y="650414"/>
                </a:lnTo>
                <a:lnTo>
                  <a:pt x="781037" y="682619"/>
                </a:lnTo>
                <a:lnTo>
                  <a:pt x="744569" y="709986"/>
                </a:lnTo>
                <a:lnTo>
                  <a:pt x="704973" y="732061"/>
                </a:lnTo>
                <a:lnTo>
                  <a:pt x="662657" y="748391"/>
                </a:lnTo>
                <a:lnTo>
                  <a:pt x="618030" y="758522"/>
                </a:lnTo>
                <a:lnTo>
                  <a:pt x="571500" y="762000"/>
                </a:lnTo>
                <a:lnTo>
                  <a:pt x="524969" y="758522"/>
                </a:lnTo>
                <a:lnTo>
                  <a:pt x="480342" y="748391"/>
                </a:lnTo>
                <a:lnTo>
                  <a:pt x="438026" y="732061"/>
                </a:lnTo>
                <a:lnTo>
                  <a:pt x="398430" y="709986"/>
                </a:lnTo>
                <a:lnTo>
                  <a:pt x="361962" y="682619"/>
                </a:lnTo>
                <a:lnTo>
                  <a:pt x="329031" y="650414"/>
                </a:lnTo>
                <a:lnTo>
                  <a:pt x="300046" y="613825"/>
                </a:lnTo>
                <a:lnTo>
                  <a:pt x="275415" y="573306"/>
                </a:lnTo>
                <a:lnTo>
                  <a:pt x="255546" y="529310"/>
                </a:lnTo>
                <a:lnTo>
                  <a:pt x="240848" y="482291"/>
                </a:lnTo>
                <a:lnTo>
                  <a:pt x="231730" y="432703"/>
                </a:lnTo>
                <a:lnTo>
                  <a:pt x="228600" y="381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19" name="Google Shape;319;p23"/>
          <p:cNvSpPr txBox="1"/>
          <p:nvPr/>
        </p:nvSpPr>
        <p:spPr>
          <a:xfrm>
            <a:off x="458825" y="4403217"/>
            <a:ext cx="57721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Memory</a:t>
            </a:r>
            <a:endParaRPr sz="1200">
              <a:solidFill>
                <a:schemeClr val="dk1"/>
              </a:solidFill>
              <a:latin typeface="Arial"/>
              <a:ea typeface="Arial"/>
              <a:cs typeface="Arial"/>
              <a:sym typeface="Arial"/>
            </a:endParaRPr>
          </a:p>
        </p:txBody>
      </p:sp>
      <p:sp>
        <p:nvSpPr>
          <p:cNvPr id="320" name="Google Shape;320;p23"/>
          <p:cNvSpPr txBox="1"/>
          <p:nvPr/>
        </p:nvSpPr>
        <p:spPr>
          <a:xfrm>
            <a:off x="684377" y="3839717"/>
            <a:ext cx="1068070" cy="391160"/>
          </a:xfrm>
          <a:prstGeom prst="rect">
            <a:avLst/>
          </a:prstGeom>
          <a:noFill/>
          <a:ln>
            <a:noFill/>
          </a:ln>
        </p:spPr>
        <p:txBody>
          <a:bodyPr anchorCtr="0" anchor="t" bIns="0" lIns="0" spcFirstLastPara="1" rIns="0" wrap="square" tIns="12700">
            <a:spAutoFit/>
          </a:bodyPr>
          <a:lstStyle/>
          <a:p>
            <a:pPr indent="-121920" lvl="0" marL="134620" marR="5080" rtl="0" algn="l">
              <a:lnSpc>
                <a:spcPct val="100000"/>
              </a:lnSpc>
              <a:spcBef>
                <a:spcPts val="0"/>
              </a:spcBef>
              <a:spcAft>
                <a:spcPts val="0"/>
              </a:spcAft>
              <a:buNone/>
            </a:pPr>
            <a:r>
              <a:rPr lang="en-US" sz="1200">
                <a:solidFill>
                  <a:schemeClr val="dk1"/>
                </a:solidFill>
                <a:latin typeface="Arial"/>
                <a:ea typeface="Arial"/>
                <a:cs typeface="Arial"/>
                <a:sym typeface="Arial"/>
              </a:rPr>
              <a:t>System	CPU  Bus</a:t>
            </a:r>
            <a:endParaRPr sz="1200">
              <a:solidFill>
                <a:schemeClr val="dk1"/>
              </a:solidFill>
              <a:latin typeface="Arial"/>
              <a:ea typeface="Arial"/>
              <a:cs typeface="Arial"/>
              <a:sym typeface="Arial"/>
            </a:endParaRPr>
          </a:p>
        </p:txBody>
      </p:sp>
      <p:sp>
        <p:nvSpPr>
          <p:cNvPr id="321" name="Google Shape;321;p23"/>
          <p:cNvSpPr txBox="1"/>
          <p:nvPr/>
        </p:nvSpPr>
        <p:spPr>
          <a:xfrm>
            <a:off x="5989065" y="2344038"/>
            <a:ext cx="56324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CPU</a:t>
            </a:r>
            <a:endParaRPr sz="2000">
              <a:solidFill>
                <a:schemeClr val="dk1"/>
              </a:solidFill>
              <a:latin typeface="Arial"/>
              <a:ea typeface="Arial"/>
              <a:cs typeface="Arial"/>
              <a:sym typeface="Arial"/>
            </a:endParaRPr>
          </a:p>
        </p:txBody>
      </p:sp>
      <p:sp>
        <p:nvSpPr>
          <p:cNvPr id="322" name="Google Shape;322;p2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533400" y="304800"/>
            <a:ext cx="7467600" cy="609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328" name="Google Shape;328;p24"/>
          <p:cNvSpPr txBox="1"/>
          <p:nvPr>
            <p:ph idx="1" type="body"/>
          </p:nvPr>
        </p:nvSpPr>
        <p:spPr>
          <a:xfrm>
            <a:off x="457200" y="1066800"/>
            <a:ext cx="8001000" cy="54071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Major structural components of CPU are:</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Control unit: </a:t>
            </a:r>
            <a:r>
              <a:rPr lang="en-US">
                <a:latin typeface="Times New Roman"/>
                <a:ea typeface="Times New Roman"/>
                <a:cs typeface="Times New Roman"/>
                <a:sym typeface="Times New Roman"/>
              </a:rPr>
              <a:t>Controls the operation of the CPU</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Arithmetic and logic unit (ALU): </a:t>
            </a:r>
            <a:r>
              <a:rPr lang="en-US">
                <a:latin typeface="Times New Roman"/>
                <a:ea typeface="Times New Roman"/>
                <a:cs typeface="Times New Roman"/>
                <a:sym typeface="Times New Roman"/>
              </a:rPr>
              <a:t>Performs the computer’s data processing functions.</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Registers: </a:t>
            </a:r>
            <a:r>
              <a:rPr lang="en-US">
                <a:latin typeface="Times New Roman"/>
                <a:ea typeface="Times New Roman"/>
                <a:cs typeface="Times New Roman"/>
                <a:sym typeface="Times New Roman"/>
              </a:rPr>
              <a:t>Provides storage internal to the CPU.</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CPU interconnection: </a:t>
            </a:r>
            <a:r>
              <a:rPr lang="en-US">
                <a:latin typeface="Times New Roman"/>
                <a:ea typeface="Times New Roman"/>
                <a:cs typeface="Times New Roman"/>
                <a:sym typeface="Times New Roman"/>
              </a:rPr>
              <a:t>Some mechanism that provides for communication among the control unit, ALU, and registers.</a:t>
            </a:r>
            <a:endParaRPr/>
          </a:p>
          <a:p>
            <a:pPr indent="0" lvl="0" marL="0" rtl="0" algn="just">
              <a:spcBef>
                <a:spcPts val="600"/>
              </a:spcBef>
              <a:spcAft>
                <a:spcPts val="0"/>
              </a:spcAft>
              <a:buSzPts val="1680"/>
              <a:buNone/>
            </a:pPr>
            <a:r>
              <a:t/>
            </a:r>
            <a:endParaRPr>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Several approaches to the implementation of the control unit</a:t>
            </a:r>
            <a:endParaRPr/>
          </a:p>
          <a:p>
            <a:pPr indent="-274320" lvl="0" marL="274320" rtl="0" algn="just">
              <a:spcBef>
                <a:spcPts val="600"/>
              </a:spcBef>
              <a:spcAft>
                <a:spcPts val="0"/>
              </a:spcAft>
              <a:buSzPts val="1680"/>
              <a:buChar char="🞆"/>
            </a:pPr>
            <a:r>
              <a:rPr i="1" lang="en-US">
                <a:latin typeface="Times New Roman"/>
                <a:ea typeface="Times New Roman"/>
                <a:cs typeface="Times New Roman"/>
                <a:sym typeface="Times New Roman"/>
              </a:rPr>
              <a:t>Microprogrammed </a:t>
            </a:r>
            <a:r>
              <a:rPr lang="en-US">
                <a:latin typeface="Times New Roman"/>
                <a:ea typeface="Times New Roman"/>
                <a:cs typeface="Times New Roman"/>
                <a:sym typeface="Times New Roman"/>
              </a:rPr>
              <a:t>implementation-A microprogrammed control unit operates by </a:t>
            </a:r>
            <a:r>
              <a:rPr lang="en-US">
                <a:solidFill>
                  <a:srgbClr val="FF0000"/>
                </a:solidFill>
                <a:latin typeface="Times New Roman"/>
                <a:ea typeface="Times New Roman"/>
                <a:cs typeface="Times New Roman"/>
                <a:sym typeface="Times New Roman"/>
              </a:rPr>
              <a:t>executing microinstructions </a:t>
            </a:r>
            <a:r>
              <a:rPr lang="en-US">
                <a:latin typeface="Times New Roman"/>
                <a:ea typeface="Times New Roman"/>
                <a:cs typeface="Times New Roman"/>
                <a:sym typeface="Times New Roman"/>
              </a:rPr>
              <a:t>that define the functionality of the control unit.</a:t>
            </a:r>
            <a:endParaRPr/>
          </a:p>
        </p:txBody>
      </p:sp>
      <p:sp>
        <p:nvSpPr>
          <p:cNvPr id="329" name="Google Shape;329;p2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3" name="Shape 333"/>
        <p:cNvGrpSpPr/>
        <p:nvPr/>
      </p:nvGrpSpPr>
      <p:grpSpPr>
        <a:xfrm>
          <a:off x="0" y="0"/>
          <a:ext cx="0" cy="0"/>
          <a:chOff x="0" y="0"/>
          <a:chExt cx="0" cy="0"/>
        </a:xfrm>
      </p:grpSpPr>
      <p:grpSp>
        <p:nvGrpSpPr>
          <p:cNvPr id="334" name="Google Shape;334;p25"/>
          <p:cNvGrpSpPr/>
          <p:nvPr/>
        </p:nvGrpSpPr>
        <p:grpSpPr>
          <a:xfrm>
            <a:off x="76200" y="2057400"/>
            <a:ext cx="8534400" cy="4648200"/>
            <a:chOff x="76200" y="2057400"/>
            <a:chExt cx="8534400" cy="4648200"/>
          </a:xfrm>
        </p:grpSpPr>
        <p:pic>
          <p:nvPicPr>
            <p:cNvPr id="335" name="Google Shape;335;p25"/>
            <p:cNvPicPr preferRelativeResize="0"/>
            <p:nvPr/>
          </p:nvPicPr>
          <p:blipFill rotWithShape="1">
            <a:blip r:embed="rId3">
              <a:alphaModFix/>
            </a:blip>
            <a:srcRect b="0" l="0" r="0" t="0"/>
            <a:stretch/>
          </p:blipFill>
          <p:spPr>
            <a:xfrm>
              <a:off x="3886200" y="2057400"/>
              <a:ext cx="4724400" cy="4648200"/>
            </a:xfrm>
            <a:prstGeom prst="rect">
              <a:avLst/>
            </a:prstGeom>
            <a:noFill/>
            <a:ln>
              <a:noFill/>
            </a:ln>
          </p:spPr>
        </p:pic>
        <p:sp>
          <p:nvSpPr>
            <p:cNvPr id="336" name="Google Shape;336;p25"/>
            <p:cNvSpPr/>
            <p:nvPr/>
          </p:nvSpPr>
          <p:spPr>
            <a:xfrm>
              <a:off x="3886200" y="2057400"/>
              <a:ext cx="4724400" cy="4648200"/>
            </a:xfrm>
            <a:custGeom>
              <a:rect b="b" l="l" r="r" t="t"/>
              <a:pathLst>
                <a:path extrusionOk="0" h="4648200" w="4724400">
                  <a:moveTo>
                    <a:pt x="0" y="2324100"/>
                  </a:moveTo>
                  <a:lnTo>
                    <a:pt x="494" y="2276080"/>
                  </a:lnTo>
                  <a:lnTo>
                    <a:pt x="1970" y="2228299"/>
                  </a:lnTo>
                  <a:lnTo>
                    <a:pt x="4418" y="2180763"/>
                  </a:lnTo>
                  <a:lnTo>
                    <a:pt x="7830" y="2133484"/>
                  </a:lnTo>
                  <a:lnTo>
                    <a:pt x="12195" y="2086470"/>
                  </a:lnTo>
                  <a:lnTo>
                    <a:pt x="17503" y="2039730"/>
                  </a:lnTo>
                  <a:lnTo>
                    <a:pt x="23747" y="1993275"/>
                  </a:lnTo>
                  <a:lnTo>
                    <a:pt x="30915" y="1947113"/>
                  </a:lnTo>
                  <a:lnTo>
                    <a:pt x="38999" y="1901253"/>
                  </a:lnTo>
                  <a:lnTo>
                    <a:pt x="47988" y="1855705"/>
                  </a:lnTo>
                  <a:lnTo>
                    <a:pt x="57875" y="1810479"/>
                  </a:lnTo>
                  <a:lnTo>
                    <a:pt x="68648" y="1765584"/>
                  </a:lnTo>
                  <a:lnTo>
                    <a:pt x="80298" y="1721028"/>
                  </a:lnTo>
                  <a:lnTo>
                    <a:pt x="92817" y="1676822"/>
                  </a:lnTo>
                  <a:lnTo>
                    <a:pt x="106194" y="1632974"/>
                  </a:lnTo>
                  <a:lnTo>
                    <a:pt x="120420" y="1589495"/>
                  </a:lnTo>
                  <a:lnTo>
                    <a:pt x="135485" y="1546393"/>
                  </a:lnTo>
                  <a:lnTo>
                    <a:pt x="151381" y="1503678"/>
                  </a:lnTo>
                  <a:lnTo>
                    <a:pt x="168097" y="1461358"/>
                  </a:lnTo>
                  <a:lnTo>
                    <a:pt x="185624" y="1419445"/>
                  </a:lnTo>
                  <a:lnTo>
                    <a:pt x="203952" y="1377946"/>
                  </a:lnTo>
                  <a:lnTo>
                    <a:pt x="223073" y="1336871"/>
                  </a:lnTo>
                  <a:lnTo>
                    <a:pt x="242976" y="1296230"/>
                  </a:lnTo>
                  <a:lnTo>
                    <a:pt x="263652" y="1256031"/>
                  </a:lnTo>
                  <a:lnTo>
                    <a:pt x="285091" y="1216285"/>
                  </a:lnTo>
                  <a:lnTo>
                    <a:pt x="307285" y="1177000"/>
                  </a:lnTo>
                  <a:lnTo>
                    <a:pt x="330223" y="1138186"/>
                  </a:lnTo>
                  <a:lnTo>
                    <a:pt x="353896" y="1099852"/>
                  </a:lnTo>
                  <a:lnTo>
                    <a:pt x="378295" y="1062008"/>
                  </a:lnTo>
                  <a:lnTo>
                    <a:pt x="403409" y="1024663"/>
                  </a:lnTo>
                  <a:lnTo>
                    <a:pt x="429230" y="987825"/>
                  </a:lnTo>
                  <a:lnTo>
                    <a:pt x="455749" y="951506"/>
                  </a:lnTo>
                  <a:lnTo>
                    <a:pt x="482954" y="915713"/>
                  </a:lnTo>
                  <a:lnTo>
                    <a:pt x="510838" y="880457"/>
                  </a:lnTo>
                  <a:lnTo>
                    <a:pt x="539390" y="845746"/>
                  </a:lnTo>
                  <a:lnTo>
                    <a:pt x="568602" y="811590"/>
                  </a:lnTo>
                  <a:lnTo>
                    <a:pt x="598463" y="777999"/>
                  </a:lnTo>
                  <a:lnTo>
                    <a:pt x="628964" y="744981"/>
                  </a:lnTo>
                  <a:lnTo>
                    <a:pt x="660095" y="712546"/>
                  </a:lnTo>
                  <a:lnTo>
                    <a:pt x="691848" y="680704"/>
                  </a:lnTo>
                  <a:lnTo>
                    <a:pt x="724212" y="649463"/>
                  </a:lnTo>
                  <a:lnTo>
                    <a:pt x="757178" y="618833"/>
                  </a:lnTo>
                  <a:lnTo>
                    <a:pt x="790737" y="588824"/>
                  </a:lnTo>
                  <a:lnTo>
                    <a:pt x="824879" y="559444"/>
                  </a:lnTo>
                  <a:lnTo>
                    <a:pt x="859594" y="530703"/>
                  </a:lnTo>
                  <a:lnTo>
                    <a:pt x="894874" y="502611"/>
                  </a:lnTo>
                  <a:lnTo>
                    <a:pt x="930708" y="475176"/>
                  </a:lnTo>
                  <a:lnTo>
                    <a:pt x="967087" y="448409"/>
                  </a:lnTo>
                  <a:lnTo>
                    <a:pt x="1004002" y="422318"/>
                  </a:lnTo>
                  <a:lnTo>
                    <a:pt x="1041443" y="396913"/>
                  </a:lnTo>
                  <a:lnTo>
                    <a:pt x="1079400" y="372203"/>
                  </a:lnTo>
                  <a:lnTo>
                    <a:pt x="1117865" y="348197"/>
                  </a:lnTo>
                  <a:lnTo>
                    <a:pt x="1156827" y="324906"/>
                  </a:lnTo>
                  <a:lnTo>
                    <a:pt x="1196277" y="302337"/>
                  </a:lnTo>
                  <a:lnTo>
                    <a:pt x="1236206" y="280501"/>
                  </a:lnTo>
                  <a:lnTo>
                    <a:pt x="1276604" y="259407"/>
                  </a:lnTo>
                  <a:lnTo>
                    <a:pt x="1317462" y="239064"/>
                  </a:lnTo>
                  <a:lnTo>
                    <a:pt x="1358770" y="219481"/>
                  </a:lnTo>
                  <a:lnTo>
                    <a:pt x="1400518" y="200669"/>
                  </a:lnTo>
                  <a:lnTo>
                    <a:pt x="1442698" y="182635"/>
                  </a:lnTo>
                  <a:lnTo>
                    <a:pt x="1485299" y="165391"/>
                  </a:lnTo>
                  <a:lnTo>
                    <a:pt x="1528312" y="148944"/>
                  </a:lnTo>
                  <a:lnTo>
                    <a:pt x="1571728" y="133304"/>
                  </a:lnTo>
                  <a:lnTo>
                    <a:pt x="1615537" y="118481"/>
                  </a:lnTo>
                  <a:lnTo>
                    <a:pt x="1659730" y="104484"/>
                  </a:lnTo>
                  <a:lnTo>
                    <a:pt x="1704297" y="91323"/>
                  </a:lnTo>
                  <a:lnTo>
                    <a:pt x="1749228" y="79006"/>
                  </a:lnTo>
                  <a:lnTo>
                    <a:pt x="1794515" y="67543"/>
                  </a:lnTo>
                  <a:lnTo>
                    <a:pt x="1840147" y="56943"/>
                  </a:lnTo>
                  <a:lnTo>
                    <a:pt x="1886115" y="47216"/>
                  </a:lnTo>
                  <a:lnTo>
                    <a:pt x="1932411" y="38371"/>
                  </a:lnTo>
                  <a:lnTo>
                    <a:pt x="1979023" y="30417"/>
                  </a:lnTo>
                  <a:lnTo>
                    <a:pt x="2025943" y="23365"/>
                  </a:lnTo>
                  <a:lnTo>
                    <a:pt x="2073161" y="17222"/>
                  </a:lnTo>
                  <a:lnTo>
                    <a:pt x="2120668" y="11998"/>
                  </a:lnTo>
                  <a:lnTo>
                    <a:pt x="2168454" y="7704"/>
                  </a:lnTo>
                  <a:lnTo>
                    <a:pt x="2216509" y="4347"/>
                  </a:lnTo>
                  <a:lnTo>
                    <a:pt x="2264825" y="1938"/>
                  </a:lnTo>
                  <a:lnTo>
                    <a:pt x="2313392" y="486"/>
                  </a:lnTo>
                  <a:lnTo>
                    <a:pt x="2362200" y="0"/>
                  </a:lnTo>
                  <a:lnTo>
                    <a:pt x="2411003" y="486"/>
                  </a:lnTo>
                  <a:lnTo>
                    <a:pt x="2459565" y="1938"/>
                  </a:lnTo>
                  <a:lnTo>
                    <a:pt x="2507876" y="4347"/>
                  </a:lnTo>
                  <a:lnTo>
                    <a:pt x="2555928" y="7704"/>
                  </a:lnTo>
                  <a:lnTo>
                    <a:pt x="2603710" y="11998"/>
                  </a:lnTo>
                  <a:lnTo>
                    <a:pt x="2651214" y="17222"/>
                  </a:lnTo>
                  <a:lnTo>
                    <a:pt x="2698428" y="23365"/>
                  </a:lnTo>
                  <a:lnTo>
                    <a:pt x="2745345" y="30417"/>
                  </a:lnTo>
                  <a:lnTo>
                    <a:pt x="2791955" y="38371"/>
                  </a:lnTo>
                  <a:lnTo>
                    <a:pt x="2838247" y="47216"/>
                  </a:lnTo>
                  <a:lnTo>
                    <a:pt x="2884213" y="56943"/>
                  </a:lnTo>
                  <a:lnTo>
                    <a:pt x="2929843" y="67543"/>
                  </a:lnTo>
                  <a:lnTo>
                    <a:pt x="2975128" y="79006"/>
                  </a:lnTo>
                  <a:lnTo>
                    <a:pt x="3020057" y="91323"/>
                  </a:lnTo>
                  <a:lnTo>
                    <a:pt x="3064622" y="104484"/>
                  </a:lnTo>
                  <a:lnTo>
                    <a:pt x="3108813" y="118481"/>
                  </a:lnTo>
                  <a:lnTo>
                    <a:pt x="3152621" y="133304"/>
                  </a:lnTo>
                  <a:lnTo>
                    <a:pt x="3196035" y="148944"/>
                  </a:lnTo>
                  <a:lnTo>
                    <a:pt x="3239048" y="165391"/>
                  </a:lnTo>
                  <a:lnTo>
                    <a:pt x="3281648" y="182635"/>
                  </a:lnTo>
                  <a:lnTo>
                    <a:pt x="3323826" y="200669"/>
                  </a:lnTo>
                  <a:lnTo>
                    <a:pt x="3365574" y="219481"/>
                  </a:lnTo>
                  <a:lnTo>
                    <a:pt x="3406881" y="239064"/>
                  </a:lnTo>
                  <a:lnTo>
                    <a:pt x="3447739" y="259407"/>
                  </a:lnTo>
                  <a:lnTo>
                    <a:pt x="3488136" y="280501"/>
                  </a:lnTo>
                  <a:lnTo>
                    <a:pt x="3528065" y="302337"/>
                  </a:lnTo>
                  <a:lnTo>
                    <a:pt x="3567515" y="324906"/>
                  </a:lnTo>
                  <a:lnTo>
                    <a:pt x="3606478" y="348197"/>
                  </a:lnTo>
                  <a:lnTo>
                    <a:pt x="3644942" y="372203"/>
                  </a:lnTo>
                  <a:lnTo>
                    <a:pt x="3682900" y="396913"/>
                  </a:lnTo>
                  <a:lnTo>
                    <a:pt x="3720342" y="422318"/>
                  </a:lnTo>
                  <a:lnTo>
                    <a:pt x="3757257" y="448409"/>
                  </a:lnTo>
                  <a:lnTo>
                    <a:pt x="3793637" y="475176"/>
                  </a:lnTo>
                  <a:lnTo>
                    <a:pt x="3829472" y="502611"/>
                  </a:lnTo>
                  <a:lnTo>
                    <a:pt x="3864752" y="530703"/>
                  </a:lnTo>
                  <a:lnTo>
                    <a:pt x="3899468" y="559444"/>
                  </a:lnTo>
                  <a:lnTo>
                    <a:pt x="3933611" y="588824"/>
                  </a:lnTo>
                  <a:lnTo>
                    <a:pt x="3967171" y="618833"/>
                  </a:lnTo>
                  <a:lnTo>
                    <a:pt x="4000138" y="649463"/>
                  </a:lnTo>
                  <a:lnTo>
                    <a:pt x="4032504" y="680704"/>
                  </a:lnTo>
                  <a:lnTo>
                    <a:pt x="4064257" y="712546"/>
                  </a:lnTo>
                  <a:lnTo>
                    <a:pt x="4095390" y="744981"/>
                  </a:lnTo>
                  <a:lnTo>
                    <a:pt x="4125892" y="777999"/>
                  </a:lnTo>
                  <a:lnTo>
                    <a:pt x="4155755" y="811590"/>
                  </a:lnTo>
                  <a:lnTo>
                    <a:pt x="4184967" y="845746"/>
                  </a:lnTo>
                  <a:lnTo>
                    <a:pt x="4213521" y="880457"/>
                  </a:lnTo>
                  <a:lnTo>
                    <a:pt x="4241407" y="915713"/>
                  </a:lnTo>
                  <a:lnTo>
                    <a:pt x="4268614" y="951506"/>
                  </a:lnTo>
                  <a:lnTo>
                    <a:pt x="4295134" y="987825"/>
                  </a:lnTo>
                  <a:lnTo>
                    <a:pt x="4320956" y="1024663"/>
                  </a:lnTo>
                  <a:lnTo>
                    <a:pt x="4346072" y="1062008"/>
                  </a:lnTo>
                  <a:lnTo>
                    <a:pt x="4370473" y="1099852"/>
                  </a:lnTo>
                  <a:lnTo>
                    <a:pt x="4394147" y="1138186"/>
                  </a:lnTo>
                  <a:lnTo>
                    <a:pt x="4417087" y="1177000"/>
                  </a:lnTo>
                  <a:lnTo>
                    <a:pt x="4439282" y="1216285"/>
                  </a:lnTo>
                  <a:lnTo>
                    <a:pt x="4460723" y="1256031"/>
                  </a:lnTo>
                  <a:lnTo>
                    <a:pt x="4481401" y="1296230"/>
                  </a:lnTo>
                  <a:lnTo>
                    <a:pt x="4501305" y="1336871"/>
                  </a:lnTo>
                  <a:lnTo>
                    <a:pt x="4520427" y="1377946"/>
                  </a:lnTo>
                  <a:lnTo>
                    <a:pt x="4538757" y="1419445"/>
                  </a:lnTo>
                  <a:lnTo>
                    <a:pt x="4556286" y="1461358"/>
                  </a:lnTo>
                  <a:lnTo>
                    <a:pt x="4573003" y="1503678"/>
                  </a:lnTo>
                  <a:lnTo>
                    <a:pt x="4588900" y="1546393"/>
                  </a:lnTo>
                  <a:lnTo>
                    <a:pt x="4603967" y="1589495"/>
                  </a:lnTo>
                  <a:lnTo>
                    <a:pt x="4618194" y="1632974"/>
                  </a:lnTo>
                  <a:lnTo>
                    <a:pt x="4631573" y="1676822"/>
                  </a:lnTo>
                  <a:lnTo>
                    <a:pt x="4644092" y="1721028"/>
                  </a:lnTo>
                  <a:lnTo>
                    <a:pt x="4655744" y="1765584"/>
                  </a:lnTo>
                  <a:lnTo>
                    <a:pt x="4666518" y="1810479"/>
                  </a:lnTo>
                  <a:lnTo>
                    <a:pt x="4676405" y="1855705"/>
                  </a:lnTo>
                  <a:lnTo>
                    <a:pt x="4685396" y="1901253"/>
                  </a:lnTo>
                  <a:lnTo>
                    <a:pt x="4693481" y="1947113"/>
                  </a:lnTo>
                  <a:lnTo>
                    <a:pt x="4700650" y="1993275"/>
                  </a:lnTo>
                  <a:lnTo>
                    <a:pt x="4706894" y="2039730"/>
                  </a:lnTo>
                  <a:lnTo>
                    <a:pt x="4712203" y="2086470"/>
                  </a:lnTo>
                  <a:lnTo>
                    <a:pt x="4716568" y="2133484"/>
                  </a:lnTo>
                  <a:lnTo>
                    <a:pt x="4719980" y="2180763"/>
                  </a:lnTo>
                  <a:lnTo>
                    <a:pt x="4722429" y="2228299"/>
                  </a:lnTo>
                  <a:lnTo>
                    <a:pt x="4723905" y="2276080"/>
                  </a:lnTo>
                  <a:lnTo>
                    <a:pt x="4724400" y="2324100"/>
                  </a:lnTo>
                  <a:lnTo>
                    <a:pt x="4723905" y="2372118"/>
                  </a:lnTo>
                  <a:lnTo>
                    <a:pt x="4722429" y="2419899"/>
                  </a:lnTo>
                  <a:lnTo>
                    <a:pt x="4719980" y="2467433"/>
                  </a:lnTo>
                  <a:lnTo>
                    <a:pt x="4716568" y="2514712"/>
                  </a:lnTo>
                  <a:lnTo>
                    <a:pt x="4712203" y="2561725"/>
                  </a:lnTo>
                  <a:lnTo>
                    <a:pt x="4706894" y="2608464"/>
                  </a:lnTo>
                  <a:lnTo>
                    <a:pt x="4700650" y="2654919"/>
                  </a:lnTo>
                  <a:lnTo>
                    <a:pt x="4693481" y="2701080"/>
                  </a:lnTo>
                  <a:lnTo>
                    <a:pt x="4685396" y="2746939"/>
                  </a:lnTo>
                  <a:lnTo>
                    <a:pt x="4676405" y="2792486"/>
                  </a:lnTo>
                  <a:lnTo>
                    <a:pt x="4666518" y="2837712"/>
                  </a:lnTo>
                  <a:lnTo>
                    <a:pt x="4655744" y="2882607"/>
                  </a:lnTo>
                  <a:lnTo>
                    <a:pt x="4644092" y="2927162"/>
                  </a:lnTo>
                  <a:lnTo>
                    <a:pt x="4631573" y="2971368"/>
                  </a:lnTo>
                  <a:lnTo>
                    <a:pt x="4618194" y="3015215"/>
                  </a:lnTo>
                  <a:lnTo>
                    <a:pt x="4603967" y="3058694"/>
                  </a:lnTo>
                  <a:lnTo>
                    <a:pt x="4588900" y="3101796"/>
                  </a:lnTo>
                  <a:lnTo>
                    <a:pt x="4573003" y="3144511"/>
                  </a:lnTo>
                  <a:lnTo>
                    <a:pt x="4556286" y="3186830"/>
                  </a:lnTo>
                  <a:lnTo>
                    <a:pt x="4538757" y="3228744"/>
                  </a:lnTo>
                  <a:lnTo>
                    <a:pt x="4520427" y="3270242"/>
                  </a:lnTo>
                  <a:lnTo>
                    <a:pt x="4501305" y="3311317"/>
                  </a:lnTo>
                  <a:lnTo>
                    <a:pt x="4481401" y="3351958"/>
                  </a:lnTo>
                  <a:lnTo>
                    <a:pt x="4460723" y="3392157"/>
                  </a:lnTo>
                  <a:lnTo>
                    <a:pt x="4439282" y="3431903"/>
                  </a:lnTo>
                  <a:lnTo>
                    <a:pt x="4417087" y="3471188"/>
                  </a:lnTo>
                  <a:lnTo>
                    <a:pt x="4394147" y="3510002"/>
                  </a:lnTo>
                  <a:lnTo>
                    <a:pt x="4370473" y="3548336"/>
                  </a:lnTo>
                  <a:lnTo>
                    <a:pt x="4346072" y="3586180"/>
                  </a:lnTo>
                  <a:lnTo>
                    <a:pt x="4320956" y="3623525"/>
                  </a:lnTo>
                  <a:lnTo>
                    <a:pt x="4295134" y="3660363"/>
                  </a:lnTo>
                  <a:lnTo>
                    <a:pt x="4268614" y="3696682"/>
                  </a:lnTo>
                  <a:lnTo>
                    <a:pt x="4241407" y="3732475"/>
                  </a:lnTo>
                  <a:lnTo>
                    <a:pt x="4213521" y="3767731"/>
                  </a:lnTo>
                  <a:lnTo>
                    <a:pt x="4184967" y="3802442"/>
                  </a:lnTo>
                  <a:lnTo>
                    <a:pt x="4155755" y="3836598"/>
                  </a:lnTo>
                  <a:lnTo>
                    <a:pt x="4125892" y="3870190"/>
                  </a:lnTo>
                  <a:lnTo>
                    <a:pt x="4095390" y="3903208"/>
                  </a:lnTo>
                  <a:lnTo>
                    <a:pt x="4064257" y="3935643"/>
                  </a:lnTo>
                  <a:lnTo>
                    <a:pt x="4032504" y="3967486"/>
                  </a:lnTo>
                  <a:lnTo>
                    <a:pt x="4000138" y="3998727"/>
                  </a:lnTo>
                  <a:lnTo>
                    <a:pt x="3967171" y="4029357"/>
                  </a:lnTo>
                  <a:lnTo>
                    <a:pt x="3933611" y="4059367"/>
                  </a:lnTo>
                  <a:lnTo>
                    <a:pt x="3899468" y="4088747"/>
                  </a:lnTo>
                  <a:lnTo>
                    <a:pt x="3864752" y="4117488"/>
                  </a:lnTo>
                  <a:lnTo>
                    <a:pt x="3829472" y="4145580"/>
                  </a:lnTo>
                  <a:lnTo>
                    <a:pt x="3793637" y="4173015"/>
                  </a:lnTo>
                  <a:lnTo>
                    <a:pt x="3757257" y="4199783"/>
                  </a:lnTo>
                  <a:lnTo>
                    <a:pt x="3720342" y="4225874"/>
                  </a:lnTo>
                  <a:lnTo>
                    <a:pt x="3682900" y="4251279"/>
                  </a:lnTo>
                  <a:lnTo>
                    <a:pt x="3644942" y="4275990"/>
                  </a:lnTo>
                  <a:lnTo>
                    <a:pt x="3606478" y="4299996"/>
                  </a:lnTo>
                  <a:lnTo>
                    <a:pt x="3567515" y="4323288"/>
                  </a:lnTo>
                  <a:lnTo>
                    <a:pt x="3528065" y="4345857"/>
                  </a:lnTo>
                  <a:lnTo>
                    <a:pt x="3488136" y="4367693"/>
                  </a:lnTo>
                  <a:lnTo>
                    <a:pt x="3447739" y="4388787"/>
                  </a:lnTo>
                  <a:lnTo>
                    <a:pt x="3406881" y="4409131"/>
                  </a:lnTo>
                  <a:lnTo>
                    <a:pt x="3365574" y="4428714"/>
                  </a:lnTo>
                  <a:lnTo>
                    <a:pt x="3323826" y="4447526"/>
                  </a:lnTo>
                  <a:lnTo>
                    <a:pt x="3281648" y="4465560"/>
                  </a:lnTo>
                  <a:lnTo>
                    <a:pt x="3239048" y="4482805"/>
                  </a:lnTo>
                  <a:lnTo>
                    <a:pt x="3196035" y="4499252"/>
                  </a:lnTo>
                  <a:lnTo>
                    <a:pt x="3152621" y="4514892"/>
                  </a:lnTo>
                  <a:lnTo>
                    <a:pt x="3108813" y="4529715"/>
                  </a:lnTo>
                  <a:lnTo>
                    <a:pt x="3064622" y="4543712"/>
                  </a:lnTo>
                  <a:lnTo>
                    <a:pt x="3020057" y="4556874"/>
                  </a:lnTo>
                  <a:lnTo>
                    <a:pt x="2975128" y="4569192"/>
                  </a:lnTo>
                  <a:lnTo>
                    <a:pt x="2929843" y="4580655"/>
                  </a:lnTo>
                  <a:lnTo>
                    <a:pt x="2884213" y="4591255"/>
                  </a:lnTo>
                  <a:lnTo>
                    <a:pt x="2838247" y="4600982"/>
                  </a:lnTo>
                  <a:lnTo>
                    <a:pt x="2791955" y="4609827"/>
                  </a:lnTo>
                  <a:lnTo>
                    <a:pt x="2745345" y="4617781"/>
                  </a:lnTo>
                  <a:lnTo>
                    <a:pt x="2698428" y="4624834"/>
                  </a:lnTo>
                  <a:lnTo>
                    <a:pt x="2651214" y="4630977"/>
                  </a:lnTo>
                  <a:lnTo>
                    <a:pt x="2603710" y="4636200"/>
                  </a:lnTo>
                  <a:lnTo>
                    <a:pt x="2555928" y="4640495"/>
                  </a:lnTo>
                  <a:lnTo>
                    <a:pt x="2507876" y="4643852"/>
                  </a:lnTo>
                  <a:lnTo>
                    <a:pt x="2459565" y="4646261"/>
                  </a:lnTo>
                  <a:lnTo>
                    <a:pt x="2411003" y="4647713"/>
                  </a:lnTo>
                  <a:lnTo>
                    <a:pt x="2362200" y="4648200"/>
                  </a:lnTo>
                  <a:lnTo>
                    <a:pt x="2313392" y="4647713"/>
                  </a:lnTo>
                  <a:lnTo>
                    <a:pt x="2264825" y="4646261"/>
                  </a:lnTo>
                  <a:lnTo>
                    <a:pt x="2216509" y="4643852"/>
                  </a:lnTo>
                  <a:lnTo>
                    <a:pt x="2168454" y="4640495"/>
                  </a:lnTo>
                  <a:lnTo>
                    <a:pt x="2120668" y="4636200"/>
                  </a:lnTo>
                  <a:lnTo>
                    <a:pt x="2073161" y="4630977"/>
                  </a:lnTo>
                  <a:lnTo>
                    <a:pt x="2025943" y="4624834"/>
                  </a:lnTo>
                  <a:lnTo>
                    <a:pt x="1979023" y="4617781"/>
                  </a:lnTo>
                  <a:lnTo>
                    <a:pt x="1932411" y="4609827"/>
                  </a:lnTo>
                  <a:lnTo>
                    <a:pt x="1886115" y="4600982"/>
                  </a:lnTo>
                  <a:lnTo>
                    <a:pt x="1840147" y="4591255"/>
                  </a:lnTo>
                  <a:lnTo>
                    <a:pt x="1794515" y="4580655"/>
                  </a:lnTo>
                  <a:lnTo>
                    <a:pt x="1749228" y="4569192"/>
                  </a:lnTo>
                  <a:lnTo>
                    <a:pt x="1704297" y="4556874"/>
                  </a:lnTo>
                  <a:lnTo>
                    <a:pt x="1659730" y="4543712"/>
                  </a:lnTo>
                  <a:lnTo>
                    <a:pt x="1615537" y="4529715"/>
                  </a:lnTo>
                  <a:lnTo>
                    <a:pt x="1571728" y="4514892"/>
                  </a:lnTo>
                  <a:lnTo>
                    <a:pt x="1528312" y="4499252"/>
                  </a:lnTo>
                  <a:lnTo>
                    <a:pt x="1485299" y="4482805"/>
                  </a:lnTo>
                  <a:lnTo>
                    <a:pt x="1442698" y="4465560"/>
                  </a:lnTo>
                  <a:lnTo>
                    <a:pt x="1400518" y="4447526"/>
                  </a:lnTo>
                  <a:lnTo>
                    <a:pt x="1358770" y="4428714"/>
                  </a:lnTo>
                  <a:lnTo>
                    <a:pt x="1317462" y="4409131"/>
                  </a:lnTo>
                  <a:lnTo>
                    <a:pt x="1276604" y="4388787"/>
                  </a:lnTo>
                  <a:lnTo>
                    <a:pt x="1236206" y="4367693"/>
                  </a:lnTo>
                  <a:lnTo>
                    <a:pt x="1196277" y="4345857"/>
                  </a:lnTo>
                  <a:lnTo>
                    <a:pt x="1156827" y="4323288"/>
                  </a:lnTo>
                  <a:lnTo>
                    <a:pt x="1117865" y="4299996"/>
                  </a:lnTo>
                  <a:lnTo>
                    <a:pt x="1079400" y="4275990"/>
                  </a:lnTo>
                  <a:lnTo>
                    <a:pt x="1041443" y="4251279"/>
                  </a:lnTo>
                  <a:lnTo>
                    <a:pt x="1004002" y="4225874"/>
                  </a:lnTo>
                  <a:lnTo>
                    <a:pt x="967087" y="4199783"/>
                  </a:lnTo>
                  <a:lnTo>
                    <a:pt x="930708" y="4173015"/>
                  </a:lnTo>
                  <a:lnTo>
                    <a:pt x="894874" y="4145580"/>
                  </a:lnTo>
                  <a:lnTo>
                    <a:pt x="859594" y="4117488"/>
                  </a:lnTo>
                  <a:lnTo>
                    <a:pt x="824879" y="4088747"/>
                  </a:lnTo>
                  <a:lnTo>
                    <a:pt x="790737" y="4059367"/>
                  </a:lnTo>
                  <a:lnTo>
                    <a:pt x="757178" y="4029357"/>
                  </a:lnTo>
                  <a:lnTo>
                    <a:pt x="724212" y="3998727"/>
                  </a:lnTo>
                  <a:lnTo>
                    <a:pt x="691848" y="3967486"/>
                  </a:lnTo>
                  <a:lnTo>
                    <a:pt x="660095" y="3935643"/>
                  </a:lnTo>
                  <a:lnTo>
                    <a:pt x="628964" y="3903208"/>
                  </a:lnTo>
                  <a:lnTo>
                    <a:pt x="598463" y="3870190"/>
                  </a:lnTo>
                  <a:lnTo>
                    <a:pt x="568602" y="3836598"/>
                  </a:lnTo>
                  <a:lnTo>
                    <a:pt x="539390" y="3802442"/>
                  </a:lnTo>
                  <a:lnTo>
                    <a:pt x="510838" y="3767731"/>
                  </a:lnTo>
                  <a:lnTo>
                    <a:pt x="482954" y="3732475"/>
                  </a:lnTo>
                  <a:lnTo>
                    <a:pt x="455749" y="3696682"/>
                  </a:lnTo>
                  <a:lnTo>
                    <a:pt x="429230" y="3660363"/>
                  </a:lnTo>
                  <a:lnTo>
                    <a:pt x="403409" y="3623525"/>
                  </a:lnTo>
                  <a:lnTo>
                    <a:pt x="378295" y="3586180"/>
                  </a:lnTo>
                  <a:lnTo>
                    <a:pt x="353896" y="3548336"/>
                  </a:lnTo>
                  <a:lnTo>
                    <a:pt x="330223" y="3510002"/>
                  </a:lnTo>
                  <a:lnTo>
                    <a:pt x="307285" y="3471188"/>
                  </a:lnTo>
                  <a:lnTo>
                    <a:pt x="285091" y="3431903"/>
                  </a:lnTo>
                  <a:lnTo>
                    <a:pt x="263652" y="3392157"/>
                  </a:lnTo>
                  <a:lnTo>
                    <a:pt x="242976" y="3351958"/>
                  </a:lnTo>
                  <a:lnTo>
                    <a:pt x="223073" y="3311317"/>
                  </a:lnTo>
                  <a:lnTo>
                    <a:pt x="203952" y="3270242"/>
                  </a:lnTo>
                  <a:lnTo>
                    <a:pt x="185624" y="3228744"/>
                  </a:lnTo>
                  <a:lnTo>
                    <a:pt x="168097" y="3186830"/>
                  </a:lnTo>
                  <a:lnTo>
                    <a:pt x="151381" y="3144511"/>
                  </a:lnTo>
                  <a:lnTo>
                    <a:pt x="135485" y="3101796"/>
                  </a:lnTo>
                  <a:lnTo>
                    <a:pt x="120420" y="3058694"/>
                  </a:lnTo>
                  <a:lnTo>
                    <a:pt x="106194" y="3015215"/>
                  </a:lnTo>
                  <a:lnTo>
                    <a:pt x="92817" y="2971368"/>
                  </a:lnTo>
                  <a:lnTo>
                    <a:pt x="80298" y="2927162"/>
                  </a:lnTo>
                  <a:lnTo>
                    <a:pt x="68648" y="2882607"/>
                  </a:lnTo>
                  <a:lnTo>
                    <a:pt x="57875" y="2837712"/>
                  </a:lnTo>
                  <a:lnTo>
                    <a:pt x="47988" y="2792486"/>
                  </a:lnTo>
                  <a:lnTo>
                    <a:pt x="38999" y="2746939"/>
                  </a:lnTo>
                  <a:lnTo>
                    <a:pt x="30915" y="2701080"/>
                  </a:lnTo>
                  <a:lnTo>
                    <a:pt x="23747" y="2654919"/>
                  </a:lnTo>
                  <a:lnTo>
                    <a:pt x="17503" y="2608464"/>
                  </a:lnTo>
                  <a:lnTo>
                    <a:pt x="12195" y="2561725"/>
                  </a:lnTo>
                  <a:lnTo>
                    <a:pt x="7830" y="2514712"/>
                  </a:lnTo>
                  <a:lnTo>
                    <a:pt x="4418" y="2467433"/>
                  </a:lnTo>
                  <a:lnTo>
                    <a:pt x="1970" y="2419899"/>
                  </a:lnTo>
                  <a:lnTo>
                    <a:pt x="494" y="2372118"/>
                  </a:lnTo>
                  <a:lnTo>
                    <a:pt x="0" y="23241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37" name="Google Shape;337;p25"/>
            <p:cNvSpPr/>
            <p:nvPr/>
          </p:nvSpPr>
          <p:spPr>
            <a:xfrm>
              <a:off x="5410200" y="3581400"/>
              <a:ext cx="1828800" cy="1828800"/>
            </a:xfrm>
            <a:custGeom>
              <a:rect b="b" l="l" r="r" t="t"/>
              <a:pathLst>
                <a:path extrusionOk="0" h="1828800" w="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38" name="Google Shape;338;p25"/>
            <p:cNvSpPr/>
            <p:nvPr/>
          </p:nvSpPr>
          <p:spPr>
            <a:xfrm>
              <a:off x="5410200" y="3581400"/>
              <a:ext cx="1828800" cy="1828800"/>
            </a:xfrm>
            <a:custGeom>
              <a:rect b="b" l="l" r="r" t="t"/>
              <a:pathLst>
                <a:path extrusionOk="0" h="1828800" w="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39" name="Google Shape;339;p25"/>
            <p:cNvSpPr/>
            <p:nvPr/>
          </p:nvSpPr>
          <p:spPr>
            <a:xfrm>
              <a:off x="4648200" y="2743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1"/>
                  </a:lnTo>
                  <a:lnTo>
                    <a:pt x="6811" y="782815"/>
                  </a:lnTo>
                  <a:lnTo>
                    <a:pt x="15151" y="829814"/>
                  </a:lnTo>
                  <a:lnTo>
                    <a:pt x="26625" y="875652"/>
                  </a:lnTo>
                  <a:lnTo>
                    <a:pt x="41118" y="920213"/>
                  </a:lnTo>
                  <a:lnTo>
                    <a:pt x="58514" y="963381"/>
                  </a:lnTo>
                  <a:lnTo>
                    <a:pt x="78696" y="1005040"/>
                  </a:lnTo>
                  <a:lnTo>
                    <a:pt x="101548" y="1045074"/>
                  </a:lnTo>
                  <a:lnTo>
                    <a:pt x="126954" y="1083366"/>
                  </a:lnTo>
                  <a:lnTo>
                    <a:pt x="154798" y="1119801"/>
                  </a:lnTo>
                  <a:lnTo>
                    <a:pt x="184964" y="1154263"/>
                  </a:lnTo>
                  <a:lnTo>
                    <a:pt x="217336" y="1186635"/>
                  </a:lnTo>
                  <a:lnTo>
                    <a:pt x="251798" y="1216801"/>
                  </a:lnTo>
                  <a:lnTo>
                    <a:pt x="288233" y="1244645"/>
                  </a:lnTo>
                  <a:lnTo>
                    <a:pt x="326525" y="1270051"/>
                  </a:lnTo>
                  <a:lnTo>
                    <a:pt x="366559" y="1292903"/>
                  </a:lnTo>
                  <a:lnTo>
                    <a:pt x="408218" y="1313085"/>
                  </a:lnTo>
                  <a:lnTo>
                    <a:pt x="451386" y="1330481"/>
                  </a:lnTo>
                  <a:lnTo>
                    <a:pt x="495947" y="1344974"/>
                  </a:lnTo>
                  <a:lnTo>
                    <a:pt x="541785" y="1356448"/>
                  </a:lnTo>
                  <a:lnTo>
                    <a:pt x="588784" y="1364788"/>
                  </a:lnTo>
                  <a:lnTo>
                    <a:pt x="636828" y="1369877"/>
                  </a:lnTo>
                  <a:lnTo>
                    <a:pt x="685800" y="1371600"/>
                  </a:lnTo>
                  <a:lnTo>
                    <a:pt x="734771" y="1369877"/>
                  </a:lnTo>
                  <a:lnTo>
                    <a:pt x="782815" y="1364788"/>
                  </a:lnTo>
                  <a:lnTo>
                    <a:pt x="829814" y="1356448"/>
                  </a:lnTo>
                  <a:lnTo>
                    <a:pt x="875652" y="1344974"/>
                  </a:lnTo>
                  <a:lnTo>
                    <a:pt x="920213" y="1330481"/>
                  </a:lnTo>
                  <a:lnTo>
                    <a:pt x="963381" y="1313085"/>
                  </a:lnTo>
                  <a:lnTo>
                    <a:pt x="1005040" y="1292903"/>
                  </a:lnTo>
                  <a:lnTo>
                    <a:pt x="1045074" y="1270051"/>
                  </a:lnTo>
                  <a:lnTo>
                    <a:pt x="1083366" y="1244645"/>
                  </a:lnTo>
                  <a:lnTo>
                    <a:pt x="1119801" y="1216801"/>
                  </a:lnTo>
                  <a:lnTo>
                    <a:pt x="1154263" y="1186635"/>
                  </a:lnTo>
                  <a:lnTo>
                    <a:pt x="1186635" y="1154263"/>
                  </a:lnTo>
                  <a:lnTo>
                    <a:pt x="1216801" y="1119801"/>
                  </a:lnTo>
                  <a:lnTo>
                    <a:pt x="1244645" y="1083366"/>
                  </a:lnTo>
                  <a:lnTo>
                    <a:pt x="1270051" y="1045074"/>
                  </a:lnTo>
                  <a:lnTo>
                    <a:pt x="1292903" y="1005040"/>
                  </a:lnTo>
                  <a:lnTo>
                    <a:pt x="1313085" y="963381"/>
                  </a:lnTo>
                  <a:lnTo>
                    <a:pt x="1330481" y="920213"/>
                  </a:lnTo>
                  <a:lnTo>
                    <a:pt x="1344974" y="875652"/>
                  </a:lnTo>
                  <a:lnTo>
                    <a:pt x="1356448" y="829814"/>
                  </a:lnTo>
                  <a:lnTo>
                    <a:pt x="1364788" y="782815"/>
                  </a:lnTo>
                  <a:lnTo>
                    <a:pt x="1369877" y="734771"/>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40" name="Google Shape;340;p25"/>
            <p:cNvSpPr/>
            <p:nvPr/>
          </p:nvSpPr>
          <p:spPr>
            <a:xfrm>
              <a:off x="4648200" y="2743200"/>
              <a:ext cx="1371600" cy="1371600"/>
            </a:xfrm>
            <a:custGeom>
              <a:rect b="b" l="l" r="r" t="t"/>
              <a:pathLst>
                <a:path extrusionOk="0" h="1371600" w="1371600">
                  <a:moveTo>
                    <a:pt x="0" y="685800"/>
                  </a:moveTo>
                  <a:lnTo>
                    <a:pt x="1722" y="636828"/>
                  </a:lnTo>
                  <a:lnTo>
                    <a:pt x="6811" y="588784"/>
                  </a:lnTo>
                  <a:lnTo>
                    <a:pt x="15151" y="541785"/>
                  </a:lnTo>
                  <a:lnTo>
                    <a:pt x="26625" y="495947"/>
                  </a:lnTo>
                  <a:lnTo>
                    <a:pt x="41118" y="451386"/>
                  </a:lnTo>
                  <a:lnTo>
                    <a:pt x="58514" y="408218"/>
                  </a:lnTo>
                  <a:lnTo>
                    <a:pt x="78696" y="366559"/>
                  </a:lnTo>
                  <a:lnTo>
                    <a:pt x="101548" y="326525"/>
                  </a:lnTo>
                  <a:lnTo>
                    <a:pt x="126954" y="288233"/>
                  </a:lnTo>
                  <a:lnTo>
                    <a:pt x="154798" y="251798"/>
                  </a:lnTo>
                  <a:lnTo>
                    <a:pt x="184964" y="217336"/>
                  </a:lnTo>
                  <a:lnTo>
                    <a:pt x="217336" y="184964"/>
                  </a:lnTo>
                  <a:lnTo>
                    <a:pt x="251798" y="154798"/>
                  </a:lnTo>
                  <a:lnTo>
                    <a:pt x="288233" y="126954"/>
                  </a:lnTo>
                  <a:lnTo>
                    <a:pt x="326525" y="101548"/>
                  </a:lnTo>
                  <a:lnTo>
                    <a:pt x="366559" y="78696"/>
                  </a:lnTo>
                  <a:lnTo>
                    <a:pt x="408218" y="58514"/>
                  </a:lnTo>
                  <a:lnTo>
                    <a:pt x="451386" y="41118"/>
                  </a:lnTo>
                  <a:lnTo>
                    <a:pt x="495947" y="26625"/>
                  </a:lnTo>
                  <a:lnTo>
                    <a:pt x="541785" y="15151"/>
                  </a:lnTo>
                  <a:lnTo>
                    <a:pt x="588784" y="6811"/>
                  </a:lnTo>
                  <a:lnTo>
                    <a:pt x="636828" y="1722"/>
                  </a:lnTo>
                  <a:lnTo>
                    <a:pt x="685800" y="0"/>
                  </a:lnTo>
                  <a:lnTo>
                    <a:pt x="734771" y="1722"/>
                  </a:lnTo>
                  <a:lnTo>
                    <a:pt x="782815" y="6811"/>
                  </a:lnTo>
                  <a:lnTo>
                    <a:pt x="829814" y="15151"/>
                  </a:lnTo>
                  <a:lnTo>
                    <a:pt x="875652" y="26625"/>
                  </a:lnTo>
                  <a:lnTo>
                    <a:pt x="920213" y="41118"/>
                  </a:lnTo>
                  <a:lnTo>
                    <a:pt x="963381" y="58514"/>
                  </a:lnTo>
                  <a:lnTo>
                    <a:pt x="1005040" y="78696"/>
                  </a:lnTo>
                  <a:lnTo>
                    <a:pt x="1045074" y="101548"/>
                  </a:lnTo>
                  <a:lnTo>
                    <a:pt x="1083366" y="126954"/>
                  </a:lnTo>
                  <a:lnTo>
                    <a:pt x="1119801" y="154798"/>
                  </a:lnTo>
                  <a:lnTo>
                    <a:pt x="1154263" y="184964"/>
                  </a:lnTo>
                  <a:lnTo>
                    <a:pt x="1186635" y="217336"/>
                  </a:lnTo>
                  <a:lnTo>
                    <a:pt x="1216801" y="251798"/>
                  </a:lnTo>
                  <a:lnTo>
                    <a:pt x="1244645" y="288233"/>
                  </a:lnTo>
                  <a:lnTo>
                    <a:pt x="1270051" y="326525"/>
                  </a:lnTo>
                  <a:lnTo>
                    <a:pt x="1292903" y="366559"/>
                  </a:lnTo>
                  <a:lnTo>
                    <a:pt x="1313085" y="408218"/>
                  </a:lnTo>
                  <a:lnTo>
                    <a:pt x="1330481" y="451386"/>
                  </a:lnTo>
                  <a:lnTo>
                    <a:pt x="1344974" y="495947"/>
                  </a:lnTo>
                  <a:lnTo>
                    <a:pt x="1356448" y="541785"/>
                  </a:lnTo>
                  <a:lnTo>
                    <a:pt x="1364788" y="588784"/>
                  </a:lnTo>
                  <a:lnTo>
                    <a:pt x="1369877" y="636828"/>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28" y="1369877"/>
                  </a:lnTo>
                  <a:lnTo>
                    <a:pt x="588784" y="1364788"/>
                  </a:lnTo>
                  <a:lnTo>
                    <a:pt x="541785" y="1356448"/>
                  </a:lnTo>
                  <a:lnTo>
                    <a:pt x="495947" y="1344974"/>
                  </a:lnTo>
                  <a:lnTo>
                    <a:pt x="451386" y="1330481"/>
                  </a:lnTo>
                  <a:lnTo>
                    <a:pt x="408218" y="1313085"/>
                  </a:lnTo>
                  <a:lnTo>
                    <a:pt x="366559" y="1292903"/>
                  </a:lnTo>
                  <a:lnTo>
                    <a:pt x="326525" y="1270051"/>
                  </a:lnTo>
                  <a:lnTo>
                    <a:pt x="288233" y="1244645"/>
                  </a:lnTo>
                  <a:lnTo>
                    <a:pt x="251798" y="1216801"/>
                  </a:lnTo>
                  <a:lnTo>
                    <a:pt x="217336" y="1186635"/>
                  </a:lnTo>
                  <a:lnTo>
                    <a:pt x="184964" y="1154263"/>
                  </a:lnTo>
                  <a:lnTo>
                    <a:pt x="154798" y="1119801"/>
                  </a:lnTo>
                  <a:lnTo>
                    <a:pt x="126954" y="1083366"/>
                  </a:lnTo>
                  <a:lnTo>
                    <a:pt x="101548" y="1045074"/>
                  </a:lnTo>
                  <a:lnTo>
                    <a:pt x="78696" y="1005040"/>
                  </a:lnTo>
                  <a:lnTo>
                    <a:pt x="58514" y="963381"/>
                  </a:lnTo>
                  <a:lnTo>
                    <a:pt x="41118" y="920213"/>
                  </a:lnTo>
                  <a:lnTo>
                    <a:pt x="26625" y="875652"/>
                  </a:lnTo>
                  <a:lnTo>
                    <a:pt x="15151" y="829814"/>
                  </a:lnTo>
                  <a:lnTo>
                    <a:pt x="6811" y="782815"/>
                  </a:lnTo>
                  <a:lnTo>
                    <a:pt x="1722" y="734771"/>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41" name="Google Shape;341;p25"/>
            <p:cNvSpPr/>
            <p:nvPr/>
          </p:nvSpPr>
          <p:spPr>
            <a:xfrm>
              <a:off x="5715000" y="5029200"/>
              <a:ext cx="1371600" cy="1371600"/>
            </a:xfrm>
            <a:custGeom>
              <a:rect b="b" l="l" r="r" t="t"/>
              <a:pathLst>
                <a:path extrusionOk="0" h="1371600" w="1371600">
                  <a:moveTo>
                    <a:pt x="685800" y="0"/>
                  </a:moveTo>
                  <a:lnTo>
                    <a:pt x="636828" y="1722"/>
                  </a:lnTo>
                  <a:lnTo>
                    <a:pt x="588784" y="6811"/>
                  </a:lnTo>
                  <a:lnTo>
                    <a:pt x="541785" y="15151"/>
                  </a:lnTo>
                  <a:lnTo>
                    <a:pt x="495947" y="26625"/>
                  </a:lnTo>
                  <a:lnTo>
                    <a:pt x="451386" y="41118"/>
                  </a:lnTo>
                  <a:lnTo>
                    <a:pt x="408218" y="58514"/>
                  </a:lnTo>
                  <a:lnTo>
                    <a:pt x="366559" y="78696"/>
                  </a:lnTo>
                  <a:lnTo>
                    <a:pt x="326525" y="101548"/>
                  </a:lnTo>
                  <a:lnTo>
                    <a:pt x="288233" y="126954"/>
                  </a:lnTo>
                  <a:lnTo>
                    <a:pt x="251798" y="154798"/>
                  </a:lnTo>
                  <a:lnTo>
                    <a:pt x="217336" y="184964"/>
                  </a:lnTo>
                  <a:lnTo>
                    <a:pt x="184964" y="217336"/>
                  </a:lnTo>
                  <a:lnTo>
                    <a:pt x="154798" y="251798"/>
                  </a:lnTo>
                  <a:lnTo>
                    <a:pt x="126954" y="288233"/>
                  </a:lnTo>
                  <a:lnTo>
                    <a:pt x="101548" y="326525"/>
                  </a:lnTo>
                  <a:lnTo>
                    <a:pt x="78696" y="366559"/>
                  </a:lnTo>
                  <a:lnTo>
                    <a:pt x="58514" y="408218"/>
                  </a:lnTo>
                  <a:lnTo>
                    <a:pt x="41118" y="451386"/>
                  </a:lnTo>
                  <a:lnTo>
                    <a:pt x="26625" y="495947"/>
                  </a:lnTo>
                  <a:lnTo>
                    <a:pt x="15151" y="541785"/>
                  </a:lnTo>
                  <a:lnTo>
                    <a:pt x="6811" y="588784"/>
                  </a:lnTo>
                  <a:lnTo>
                    <a:pt x="1722" y="636828"/>
                  </a:lnTo>
                  <a:lnTo>
                    <a:pt x="0" y="685800"/>
                  </a:lnTo>
                  <a:lnTo>
                    <a:pt x="1722" y="734776"/>
                  </a:lnTo>
                  <a:lnTo>
                    <a:pt x="6811" y="782823"/>
                  </a:lnTo>
                  <a:lnTo>
                    <a:pt x="15151" y="829825"/>
                  </a:lnTo>
                  <a:lnTo>
                    <a:pt x="26625" y="875665"/>
                  </a:lnTo>
                  <a:lnTo>
                    <a:pt x="41118" y="920228"/>
                  </a:lnTo>
                  <a:lnTo>
                    <a:pt x="58514" y="963397"/>
                  </a:lnTo>
                  <a:lnTo>
                    <a:pt x="78696" y="1005057"/>
                  </a:lnTo>
                  <a:lnTo>
                    <a:pt x="101548" y="1045091"/>
                  </a:lnTo>
                  <a:lnTo>
                    <a:pt x="126954" y="1083383"/>
                  </a:lnTo>
                  <a:lnTo>
                    <a:pt x="154798" y="1119817"/>
                  </a:lnTo>
                  <a:lnTo>
                    <a:pt x="184964" y="1154278"/>
                  </a:lnTo>
                  <a:lnTo>
                    <a:pt x="217336" y="1186648"/>
                  </a:lnTo>
                  <a:lnTo>
                    <a:pt x="251798" y="1216813"/>
                  </a:lnTo>
                  <a:lnTo>
                    <a:pt x="288233" y="1244656"/>
                  </a:lnTo>
                  <a:lnTo>
                    <a:pt x="326525" y="1270060"/>
                  </a:lnTo>
                  <a:lnTo>
                    <a:pt x="366559" y="1292911"/>
                  </a:lnTo>
                  <a:lnTo>
                    <a:pt x="408218" y="1313091"/>
                  </a:lnTo>
                  <a:lnTo>
                    <a:pt x="451386" y="1330485"/>
                  </a:lnTo>
                  <a:lnTo>
                    <a:pt x="495947" y="1344977"/>
                  </a:lnTo>
                  <a:lnTo>
                    <a:pt x="541785" y="1356450"/>
                  </a:lnTo>
                  <a:lnTo>
                    <a:pt x="588784" y="1364789"/>
                  </a:lnTo>
                  <a:lnTo>
                    <a:pt x="636828" y="1369878"/>
                  </a:lnTo>
                  <a:lnTo>
                    <a:pt x="685800" y="1371600"/>
                  </a:lnTo>
                  <a:lnTo>
                    <a:pt x="734771" y="1369878"/>
                  </a:lnTo>
                  <a:lnTo>
                    <a:pt x="782815" y="1364789"/>
                  </a:lnTo>
                  <a:lnTo>
                    <a:pt x="829814" y="1356450"/>
                  </a:lnTo>
                  <a:lnTo>
                    <a:pt x="875652" y="1344977"/>
                  </a:lnTo>
                  <a:lnTo>
                    <a:pt x="920213" y="1330485"/>
                  </a:lnTo>
                  <a:lnTo>
                    <a:pt x="963381" y="1313091"/>
                  </a:lnTo>
                  <a:lnTo>
                    <a:pt x="1005040" y="1292911"/>
                  </a:lnTo>
                  <a:lnTo>
                    <a:pt x="1045074" y="1270060"/>
                  </a:lnTo>
                  <a:lnTo>
                    <a:pt x="1083366" y="1244656"/>
                  </a:lnTo>
                  <a:lnTo>
                    <a:pt x="1119801" y="1216813"/>
                  </a:lnTo>
                  <a:lnTo>
                    <a:pt x="1154263" y="1186648"/>
                  </a:lnTo>
                  <a:lnTo>
                    <a:pt x="1186635" y="1154278"/>
                  </a:lnTo>
                  <a:lnTo>
                    <a:pt x="1216801" y="1119817"/>
                  </a:lnTo>
                  <a:lnTo>
                    <a:pt x="1244645" y="1083383"/>
                  </a:lnTo>
                  <a:lnTo>
                    <a:pt x="1270051" y="1045091"/>
                  </a:lnTo>
                  <a:lnTo>
                    <a:pt x="1292903" y="1005057"/>
                  </a:lnTo>
                  <a:lnTo>
                    <a:pt x="1313085" y="963397"/>
                  </a:lnTo>
                  <a:lnTo>
                    <a:pt x="1330481" y="920228"/>
                  </a:lnTo>
                  <a:lnTo>
                    <a:pt x="1344974" y="875665"/>
                  </a:lnTo>
                  <a:lnTo>
                    <a:pt x="1356448" y="829825"/>
                  </a:lnTo>
                  <a:lnTo>
                    <a:pt x="1364788" y="782823"/>
                  </a:lnTo>
                  <a:lnTo>
                    <a:pt x="1369877" y="734776"/>
                  </a:lnTo>
                  <a:lnTo>
                    <a:pt x="1371600" y="685800"/>
                  </a:lnTo>
                  <a:lnTo>
                    <a:pt x="1369877" y="636828"/>
                  </a:lnTo>
                  <a:lnTo>
                    <a:pt x="1364788" y="588784"/>
                  </a:lnTo>
                  <a:lnTo>
                    <a:pt x="1356448" y="541785"/>
                  </a:lnTo>
                  <a:lnTo>
                    <a:pt x="1344974" y="495947"/>
                  </a:lnTo>
                  <a:lnTo>
                    <a:pt x="1330481" y="451386"/>
                  </a:lnTo>
                  <a:lnTo>
                    <a:pt x="1313085" y="408218"/>
                  </a:lnTo>
                  <a:lnTo>
                    <a:pt x="1292903" y="366559"/>
                  </a:lnTo>
                  <a:lnTo>
                    <a:pt x="1270051" y="326525"/>
                  </a:lnTo>
                  <a:lnTo>
                    <a:pt x="1244645" y="288233"/>
                  </a:lnTo>
                  <a:lnTo>
                    <a:pt x="1216801" y="251798"/>
                  </a:lnTo>
                  <a:lnTo>
                    <a:pt x="1186635" y="217336"/>
                  </a:lnTo>
                  <a:lnTo>
                    <a:pt x="1154263" y="184964"/>
                  </a:lnTo>
                  <a:lnTo>
                    <a:pt x="1119801" y="154798"/>
                  </a:lnTo>
                  <a:lnTo>
                    <a:pt x="1083366" y="126954"/>
                  </a:lnTo>
                  <a:lnTo>
                    <a:pt x="1045074" y="101548"/>
                  </a:lnTo>
                  <a:lnTo>
                    <a:pt x="1005040" y="78696"/>
                  </a:lnTo>
                  <a:lnTo>
                    <a:pt x="963381" y="58514"/>
                  </a:lnTo>
                  <a:lnTo>
                    <a:pt x="920213" y="41118"/>
                  </a:lnTo>
                  <a:lnTo>
                    <a:pt x="875652" y="26625"/>
                  </a:lnTo>
                  <a:lnTo>
                    <a:pt x="829814" y="15151"/>
                  </a:lnTo>
                  <a:lnTo>
                    <a:pt x="782815" y="6811"/>
                  </a:lnTo>
                  <a:lnTo>
                    <a:pt x="734771" y="1722"/>
                  </a:lnTo>
                  <a:lnTo>
                    <a:pt x="685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42" name="Google Shape;342;p25"/>
            <p:cNvSpPr/>
            <p:nvPr/>
          </p:nvSpPr>
          <p:spPr>
            <a:xfrm>
              <a:off x="76200" y="2971800"/>
              <a:ext cx="7010400" cy="3429000"/>
            </a:xfrm>
            <a:custGeom>
              <a:rect b="b" l="l" r="r" t="t"/>
              <a:pathLst>
                <a:path extrusionOk="0" h="3429000" w="7010400">
                  <a:moveTo>
                    <a:pt x="5638800" y="2743200"/>
                  </a:moveTo>
                  <a:lnTo>
                    <a:pt x="5640522" y="2694228"/>
                  </a:lnTo>
                  <a:lnTo>
                    <a:pt x="5645611" y="2646184"/>
                  </a:lnTo>
                  <a:lnTo>
                    <a:pt x="5653951" y="2599185"/>
                  </a:lnTo>
                  <a:lnTo>
                    <a:pt x="5665425" y="2553347"/>
                  </a:lnTo>
                  <a:lnTo>
                    <a:pt x="5679918" y="2508786"/>
                  </a:lnTo>
                  <a:lnTo>
                    <a:pt x="5697314" y="2465618"/>
                  </a:lnTo>
                  <a:lnTo>
                    <a:pt x="5717496" y="2423959"/>
                  </a:lnTo>
                  <a:lnTo>
                    <a:pt x="5740348" y="2383925"/>
                  </a:lnTo>
                  <a:lnTo>
                    <a:pt x="5765754" y="2345633"/>
                  </a:lnTo>
                  <a:lnTo>
                    <a:pt x="5793598" y="2309198"/>
                  </a:lnTo>
                  <a:lnTo>
                    <a:pt x="5823764" y="2274736"/>
                  </a:lnTo>
                  <a:lnTo>
                    <a:pt x="5856136" y="2242364"/>
                  </a:lnTo>
                  <a:lnTo>
                    <a:pt x="5890598" y="2212198"/>
                  </a:lnTo>
                  <a:lnTo>
                    <a:pt x="5927033" y="2184354"/>
                  </a:lnTo>
                  <a:lnTo>
                    <a:pt x="5965325" y="2158948"/>
                  </a:lnTo>
                  <a:lnTo>
                    <a:pt x="6005359" y="2136096"/>
                  </a:lnTo>
                  <a:lnTo>
                    <a:pt x="6047018" y="2115914"/>
                  </a:lnTo>
                  <a:lnTo>
                    <a:pt x="6090186" y="2098518"/>
                  </a:lnTo>
                  <a:lnTo>
                    <a:pt x="6134747" y="2084025"/>
                  </a:lnTo>
                  <a:lnTo>
                    <a:pt x="6180585" y="2072551"/>
                  </a:lnTo>
                  <a:lnTo>
                    <a:pt x="6227584" y="2064211"/>
                  </a:lnTo>
                  <a:lnTo>
                    <a:pt x="6275628" y="2059122"/>
                  </a:lnTo>
                  <a:lnTo>
                    <a:pt x="6324600" y="2057400"/>
                  </a:lnTo>
                  <a:lnTo>
                    <a:pt x="6373571" y="2059122"/>
                  </a:lnTo>
                  <a:lnTo>
                    <a:pt x="6421615" y="2064211"/>
                  </a:lnTo>
                  <a:lnTo>
                    <a:pt x="6468614" y="2072551"/>
                  </a:lnTo>
                  <a:lnTo>
                    <a:pt x="6514452" y="2084025"/>
                  </a:lnTo>
                  <a:lnTo>
                    <a:pt x="6559013" y="2098518"/>
                  </a:lnTo>
                  <a:lnTo>
                    <a:pt x="6602181" y="2115914"/>
                  </a:lnTo>
                  <a:lnTo>
                    <a:pt x="6643840" y="2136096"/>
                  </a:lnTo>
                  <a:lnTo>
                    <a:pt x="6683874" y="2158948"/>
                  </a:lnTo>
                  <a:lnTo>
                    <a:pt x="6722166" y="2184354"/>
                  </a:lnTo>
                  <a:lnTo>
                    <a:pt x="6758601" y="2212198"/>
                  </a:lnTo>
                  <a:lnTo>
                    <a:pt x="6793063" y="2242364"/>
                  </a:lnTo>
                  <a:lnTo>
                    <a:pt x="6825435" y="2274736"/>
                  </a:lnTo>
                  <a:lnTo>
                    <a:pt x="6855601" y="2309198"/>
                  </a:lnTo>
                  <a:lnTo>
                    <a:pt x="6883445" y="2345633"/>
                  </a:lnTo>
                  <a:lnTo>
                    <a:pt x="6908851" y="2383925"/>
                  </a:lnTo>
                  <a:lnTo>
                    <a:pt x="6931703" y="2423959"/>
                  </a:lnTo>
                  <a:lnTo>
                    <a:pt x="6951885" y="2465618"/>
                  </a:lnTo>
                  <a:lnTo>
                    <a:pt x="6969281" y="2508786"/>
                  </a:lnTo>
                  <a:lnTo>
                    <a:pt x="6983774" y="2553347"/>
                  </a:lnTo>
                  <a:lnTo>
                    <a:pt x="6995248" y="2599185"/>
                  </a:lnTo>
                  <a:lnTo>
                    <a:pt x="7003588" y="2646184"/>
                  </a:lnTo>
                  <a:lnTo>
                    <a:pt x="7008677" y="2694228"/>
                  </a:lnTo>
                  <a:lnTo>
                    <a:pt x="7010400" y="2743200"/>
                  </a:lnTo>
                  <a:lnTo>
                    <a:pt x="7008677" y="2792176"/>
                  </a:lnTo>
                  <a:lnTo>
                    <a:pt x="7003588" y="2840223"/>
                  </a:lnTo>
                  <a:lnTo>
                    <a:pt x="6995248" y="2887225"/>
                  </a:lnTo>
                  <a:lnTo>
                    <a:pt x="6983774" y="2933065"/>
                  </a:lnTo>
                  <a:lnTo>
                    <a:pt x="6969281" y="2977628"/>
                  </a:lnTo>
                  <a:lnTo>
                    <a:pt x="6951885" y="3020797"/>
                  </a:lnTo>
                  <a:lnTo>
                    <a:pt x="6931703" y="3062457"/>
                  </a:lnTo>
                  <a:lnTo>
                    <a:pt x="6908851" y="3102491"/>
                  </a:lnTo>
                  <a:lnTo>
                    <a:pt x="6883445" y="3140783"/>
                  </a:lnTo>
                  <a:lnTo>
                    <a:pt x="6855601" y="3177217"/>
                  </a:lnTo>
                  <a:lnTo>
                    <a:pt x="6825435" y="3211678"/>
                  </a:lnTo>
                  <a:lnTo>
                    <a:pt x="6793063" y="3244048"/>
                  </a:lnTo>
                  <a:lnTo>
                    <a:pt x="6758601" y="3274213"/>
                  </a:lnTo>
                  <a:lnTo>
                    <a:pt x="6722166" y="3302056"/>
                  </a:lnTo>
                  <a:lnTo>
                    <a:pt x="6683874" y="3327460"/>
                  </a:lnTo>
                  <a:lnTo>
                    <a:pt x="6643840" y="3350311"/>
                  </a:lnTo>
                  <a:lnTo>
                    <a:pt x="6602181" y="3370491"/>
                  </a:lnTo>
                  <a:lnTo>
                    <a:pt x="6559013" y="3387885"/>
                  </a:lnTo>
                  <a:lnTo>
                    <a:pt x="6514452" y="3402377"/>
                  </a:lnTo>
                  <a:lnTo>
                    <a:pt x="6468614" y="3413850"/>
                  </a:lnTo>
                  <a:lnTo>
                    <a:pt x="6421615" y="3422189"/>
                  </a:lnTo>
                  <a:lnTo>
                    <a:pt x="6373571" y="3427278"/>
                  </a:lnTo>
                  <a:lnTo>
                    <a:pt x="6324600" y="3429000"/>
                  </a:lnTo>
                  <a:lnTo>
                    <a:pt x="6275628" y="3427278"/>
                  </a:lnTo>
                  <a:lnTo>
                    <a:pt x="6227584" y="3422189"/>
                  </a:lnTo>
                  <a:lnTo>
                    <a:pt x="6180585" y="3413850"/>
                  </a:lnTo>
                  <a:lnTo>
                    <a:pt x="6134747" y="3402377"/>
                  </a:lnTo>
                  <a:lnTo>
                    <a:pt x="6090186" y="3387885"/>
                  </a:lnTo>
                  <a:lnTo>
                    <a:pt x="6047018" y="3370491"/>
                  </a:lnTo>
                  <a:lnTo>
                    <a:pt x="6005359" y="3350311"/>
                  </a:lnTo>
                  <a:lnTo>
                    <a:pt x="5965325" y="3327460"/>
                  </a:lnTo>
                  <a:lnTo>
                    <a:pt x="5927033" y="3302056"/>
                  </a:lnTo>
                  <a:lnTo>
                    <a:pt x="5890598" y="3274213"/>
                  </a:lnTo>
                  <a:lnTo>
                    <a:pt x="5856136" y="3244048"/>
                  </a:lnTo>
                  <a:lnTo>
                    <a:pt x="5823764" y="3211678"/>
                  </a:lnTo>
                  <a:lnTo>
                    <a:pt x="5793598" y="3177217"/>
                  </a:lnTo>
                  <a:lnTo>
                    <a:pt x="5765754" y="3140783"/>
                  </a:lnTo>
                  <a:lnTo>
                    <a:pt x="5740348" y="3102491"/>
                  </a:lnTo>
                  <a:lnTo>
                    <a:pt x="5717496" y="3062457"/>
                  </a:lnTo>
                  <a:lnTo>
                    <a:pt x="5697314" y="3020797"/>
                  </a:lnTo>
                  <a:lnTo>
                    <a:pt x="5679918" y="2977628"/>
                  </a:lnTo>
                  <a:lnTo>
                    <a:pt x="5665425" y="2933065"/>
                  </a:lnTo>
                  <a:lnTo>
                    <a:pt x="5653951" y="2887225"/>
                  </a:lnTo>
                  <a:lnTo>
                    <a:pt x="5645611" y="2840223"/>
                  </a:lnTo>
                  <a:lnTo>
                    <a:pt x="5640522" y="2792176"/>
                  </a:lnTo>
                  <a:lnTo>
                    <a:pt x="5638800" y="2743200"/>
                  </a:lnTo>
                  <a:close/>
                </a:path>
                <a:path extrusionOk="0" h="3429000" w="7010400">
                  <a:moveTo>
                    <a:pt x="0" y="1028700"/>
                  </a:moveTo>
                  <a:lnTo>
                    <a:pt x="1078" y="980269"/>
                  </a:lnTo>
                  <a:lnTo>
                    <a:pt x="4281" y="932415"/>
                  </a:lnTo>
                  <a:lnTo>
                    <a:pt x="9561" y="885187"/>
                  </a:lnTo>
                  <a:lnTo>
                    <a:pt x="16870" y="838635"/>
                  </a:lnTo>
                  <a:lnTo>
                    <a:pt x="26162" y="792808"/>
                  </a:lnTo>
                  <a:lnTo>
                    <a:pt x="37388" y="747756"/>
                  </a:lnTo>
                  <a:lnTo>
                    <a:pt x="50501" y="703527"/>
                  </a:lnTo>
                  <a:lnTo>
                    <a:pt x="65453" y="660171"/>
                  </a:lnTo>
                  <a:lnTo>
                    <a:pt x="82198" y="617737"/>
                  </a:lnTo>
                  <a:lnTo>
                    <a:pt x="100686" y="576276"/>
                  </a:lnTo>
                  <a:lnTo>
                    <a:pt x="120870" y="535836"/>
                  </a:lnTo>
                  <a:lnTo>
                    <a:pt x="142704" y="496466"/>
                  </a:lnTo>
                  <a:lnTo>
                    <a:pt x="166139" y="458216"/>
                  </a:lnTo>
                  <a:lnTo>
                    <a:pt x="191129" y="421136"/>
                  </a:lnTo>
                  <a:lnTo>
                    <a:pt x="217624" y="385274"/>
                  </a:lnTo>
                  <a:lnTo>
                    <a:pt x="245578" y="350680"/>
                  </a:lnTo>
                  <a:lnTo>
                    <a:pt x="274944" y="317404"/>
                  </a:lnTo>
                  <a:lnTo>
                    <a:pt x="305672" y="285494"/>
                  </a:lnTo>
                  <a:lnTo>
                    <a:pt x="337717" y="255001"/>
                  </a:lnTo>
                  <a:lnTo>
                    <a:pt x="371031" y="225974"/>
                  </a:lnTo>
                  <a:lnTo>
                    <a:pt x="405565" y="198461"/>
                  </a:lnTo>
                  <a:lnTo>
                    <a:pt x="441273" y="172512"/>
                  </a:lnTo>
                  <a:lnTo>
                    <a:pt x="478106" y="148178"/>
                  </a:lnTo>
                  <a:lnTo>
                    <a:pt x="516018" y="125506"/>
                  </a:lnTo>
                  <a:lnTo>
                    <a:pt x="554960" y="104547"/>
                  </a:lnTo>
                  <a:lnTo>
                    <a:pt x="594885" y="85349"/>
                  </a:lnTo>
                  <a:lnTo>
                    <a:pt x="635746" y="67963"/>
                  </a:lnTo>
                  <a:lnTo>
                    <a:pt x="677494" y="52437"/>
                  </a:lnTo>
                  <a:lnTo>
                    <a:pt x="720083" y="38821"/>
                  </a:lnTo>
                  <a:lnTo>
                    <a:pt x="763465" y="27165"/>
                  </a:lnTo>
                  <a:lnTo>
                    <a:pt x="807592" y="17517"/>
                  </a:lnTo>
                  <a:lnTo>
                    <a:pt x="852416" y="9927"/>
                  </a:lnTo>
                  <a:lnTo>
                    <a:pt x="897891" y="4445"/>
                  </a:lnTo>
                  <a:lnTo>
                    <a:pt x="943968" y="1119"/>
                  </a:lnTo>
                  <a:lnTo>
                    <a:pt x="990600" y="0"/>
                  </a:lnTo>
                  <a:lnTo>
                    <a:pt x="1037233" y="1119"/>
                  </a:lnTo>
                  <a:lnTo>
                    <a:pt x="1083312" y="4445"/>
                  </a:lnTo>
                  <a:lnTo>
                    <a:pt x="1128788" y="9927"/>
                  </a:lnTo>
                  <a:lnTo>
                    <a:pt x="1173614" y="17517"/>
                  </a:lnTo>
                  <a:lnTo>
                    <a:pt x="1217742" y="27165"/>
                  </a:lnTo>
                  <a:lnTo>
                    <a:pt x="1261125" y="38821"/>
                  </a:lnTo>
                  <a:lnTo>
                    <a:pt x="1303714" y="52437"/>
                  </a:lnTo>
                  <a:lnTo>
                    <a:pt x="1345464" y="67963"/>
                  </a:lnTo>
                  <a:lnTo>
                    <a:pt x="1386325" y="85349"/>
                  </a:lnTo>
                  <a:lnTo>
                    <a:pt x="1426250" y="104547"/>
                  </a:lnTo>
                  <a:lnTo>
                    <a:pt x="1465193" y="125506"/>
                  </a:lnTo>
                  <a:lnTo>
                    <a:pt x="1503104" y="148178"/>
                  </a:lnTo>
                  <a:lnTo>
                    <a:pt x="1539937" y="172512"/>
                  </a:lnTo>
                  <a:lnTo>
                    <a:pt x="1575645" y="198461"/>
                  </a:lnTo>
                  <a:lnTo>
                    <a:pt x="1610179" y="225974"/>
                  </a:lnTo>
                  <a:lnTo>
                    <a:pt x="1643492" y="255001"/>
                  </a:lnTo>
                  <a:lnTo>
                    <a:pt x="1675536" y="285494"/>
                  </a:lnTo>
                  <a:lnTo>
                    <a:pt x="1706265" y="317404"/>
                  </a:lnTo>
                  <a:lnTo>
                    <a:pt x="1735629" y="350680"/>
                  </a:lnTo>
                  <a:lnTo>
                    <a:pt x="1763583" y="385274"/>
                  </a:lnTo>
                  <a:lnTo>
                    <a:pt x="1790078" y="421136"/>
                  </a:lnTo>
                  <a:lnTo>
                    <a:pt x="1815066" y="458216"/>
                  </a:lnTo>
                  <a:lnTo>
                    <a:pt x="1838501" y="496466"/>
                  </a:lnTo>
                  <a:lnTo>
                    <a:pt x="1860334" y="535836"/>
                  </a:lnTo>
                  <a:lnTo>
                    <a:pt x="1880518" y="576276"/>
                  </a:lnTo>
                  <a:lnTo>
                    <a:pt x="1899005" y="617737"/>
                  </a:lnTo>
                  <a:lnTo>
                    <a:pt x="1915749" y="660171"/>
                  </a:lnTo>
                  <a:lnTo>
                    <a:pt x="1930700" y="703527"/>
                  </a:lnTo>
                  <a:lnTo>
                    <a:pt x="1943813" y="747756"/>
                  </a:lnTo>
                  <a:lnTo>
                    <a:pt x="1955038" y="792808"/>
                  </a:lnTo>
                  <a:lnTo>
                    <a:pt x="1964329" y="838635"/>
                  </a:lnTo>
                  <a:lnTo>
                    <a:pt x="1971639" y="885187"/>
                  </a:lnTo>
                  <a:lnTo>
                    <a:pt x="1976919" y="932415"/>
                  </a:lnTo>
                  <a:lnTo>
                    <a:pt x="1980121" y="980269"/>
                  </a:lnTo>
                  <a:lnTo>
                    <a:pt x="1981200" y="1028700"/>
                  </a:lnTo>
                  <a:lnTo>
                    <a:pt x="1980121" y="1077130"/>
                  </a:lnTo>
                  <a:lnTo>
                    <a:pt x="1976919" y="1124984"/>
                  </a:lnTo>
                  <a:lnTo>
                    <a:pt x="1971639" y="1172212"/>
                  </a:lnTo>
                  <a:lnTo>
                    <a:pt x="1964329" y="1218764"/>
                  </a:lnTo>
                  <a:lnTo>
                    <a:pt x="1955038" y="1264591"/>
                  </a:lnTo>
                  <a:lnTo>
                    <a:pt x="1943813" y="1309643"/>
                  </a:lnTo>
                  <a:lnTo>
                    <a:pt x="1930700" y="1353872"/>
                  </a:lnTo>
                  <a:lnTo>
                    <a:pt x="1915749" y="1397228"/>
                  </a:lnTo>
                  <a:lnTo>
                    <a:pt x="1899005" y="1439662"/>
                  </a:lnTo>
                  <a:lnTo>
                    <a:pt x="1880518" y="1481123"/>
                  </a:lnTo>
                  <a:lnTo>
                    <a:pt x="1860334" y="1521563"/>
                  </a:lnTo>
                  <a:lnTo>
                    <a:pt x="1838501" y="1560933"/>
                  </a:lnTo>
                  <a:lnTo>
                    <a:pt x="1815066" y="1599183"/>
                  </a:lnTo>
                  <a:lnTo>
                    <a:pt x="1790078" y="1636263"/>
                  </a:lnTo>
                  <a:lnTo>
                    <a:pt x="1763583" y="1672125"/>
                  </a:lnTo>
                  <a:lnTo>
                    <a:pt x="1735629" y="1706719"/>
                  </a:lnTo>
                  <a:lnTo>
                    <a:pt x="1706265" y="1739995"/>
                  </a:lnTo>
                  <a:lnTo>
                    <a:pt x="1675536" y="1771905"/>
                  </a:lnTo>
                  <a:lnTo>
                    <a:pt x="1643492" y="1802398"/>
                  </a:lnTo>
                  <a:lnTo>
                    <a:pt x="1610179" y="1831425"/>
                  </a:lnTo>
                  <a:lnTo>
                    <a:pt x="1575645" y="1858938"/>
                  </a:lnTo>
                  <a:lnTo>
                    <a:pt x="1539937" y="1884887"/>
                  </a:lnTo>
                  <a:lnTo>
                    <a:pt x="1503104" y="1909221"/>
                  </a:lnTo>
                  <a:lnTo>
                    <a:pt x="1465193" y="1931893"/>
                  </a:lnTo>
                  <a:lnTo>
                    <a:pt x="1426250" y="1952852"/>
                  </a:lnTo>
                  <a:lnTo>
                    <a:pt x="1386325" y="1972050"/>
                  </a:lnTo>
                  <a:lnTo>
                    <a:pt x="1345464" y="1989436"/>
                  </a:lnTo>
                  <a:lnTo>
                    <a:pt x="1303714" y="2004962"/>
                  </a:lnTo>
                  <a:lnTo>
                    <a:pt x="1261125" y="2018578"/>
                  </a:lnTo>
                  <a:lnTo>
                    <a:pt x="1217742" y="2030234"/>
                  </a:lnTo>
                  <a:lnTo>
                    <a:pt x="1173614" y="2039882"/>
                  </a:lnTo>
                  <a:lnTo>
                    <a:pt x="1128788" y="2047472"/>
                  </a:lnTo>
                  <a:lnTo>
                    <a:pt x="1083312" y="2052954"/>
                  </a:lnTo>
                  <a:lnTo>
                    <a:pt x="1037233" y="2056280"/>
                  </a:lnTo>
                  <a:lnTo>
                    <a:pt x="990600" y="2057400"/>
                  </a:lnTo>
                  <a:lnTo>
                    <a:pt x="943968" y="2056280"/>
                  </a:lnTo>
                  <a:lnTo>
                    <a:pt x="897891" y="2052954"/>
                  </a:lnTo>
                  <a:lnTo>
                    <a:pt x="852416" y="2047472"/>
                  </a:lnTo>
                  <a:lnTo>
                    <a:pt x="807592" y="2039882"/>
                  </a:lnTo>
                  <a:lnTo>
                    <a:pt x="763465" y="2030234"/>
                  </a:lnTo>
                  <a:lnTo>
                    <a:pt x="720083" y="2018578"/>
                  </a:lnTo>
                  <a:lnTo>
                    <a:pt x="677494" y="2004962"/>
                  </a:lnTo>
                  <a:lnTo>
                    <a:pt x="635746" y="1989436"/>
                  </a:lnTo>
                  <a:lnTo>
                    <a:pt x="594885" y="1972050"/>
                  </a:lnTo>
                  <a:lnTo>
                    <a:pt x="554960" y="1952852"/>
                  </a:lnTo>
                  <a:lnTo>
                    <a:pt x="516018" y="1931893"/>
                  </a:lnTo>
                  <a:lnTo>
                    <a:pt x="478106" y="1909221"/>
                  </a:lnTo>
                  <a:lnTo>
                    <a:pt x="441273" y="1884887"/>
                  </a:lnTo>
                  <a:lnTo>
                    <a:pt x="405565" y="1858938"/>
                  </a:lnTo>
                  <a:lnTo>
                    <a:pt x="371031" y="1831425"/>
                  </a:lnTo>
                  <a:lnTo>
                    <a:pt x="337717" y="1802398"/>
                  </a:lnTo>
                  <a:lnTo>
                    <a:pt x="305672" y="1771905"/>
                  </a:lnTo>
                  <a:lnTo>
                    <a:pt x="274944" y="1739995"/>
                  </a:lnTo>
                  <a:lnTo>
                    <a:pt x="245578" y="1706719"/>
                  </a:lnTo>
                  <a:lnTo>
                    <a:pt x="217624" y="1672125"/>
                  </a:lnTo>
                  <a:lnTo>
                    <a:pt x="191129" y="1636263"/>
                  </a:lnTo>
                  <a:lnTo>
                    <a:pt x="166139" y="1599183"/>
                  </a:lnTo>
                  <a:lnTo>
                    <a:pt x="142704" y="1560933"/>
                  </a:lnTo>
                  <a:lnTo>
                    <a:pt x="120870" y="1521563"/>
                  </a:lnTo>
                  <a:lnTo>
                    <a:pt x="100686" y="1481123"/>
                  </a:lnTo>
                  <a:lnTo>
                    <a:pt x="82198" y="1439662"/>
                  </a:lnTo>
                  <a:lnTo>
                    <a:pt x="65453" y="1397228"/>
                  </a:lnTo>
                  <a:lnTo>
                    <a:pt x="50501" y="1353872"/>
                  </a:lnTo>
                  <a:lnTo>
                    <a:pt x="37388" y="1309643"/>
                  </a:lnTo>
                  <a:lnTo>
                    <a:pt x="26162" y="1264591"/>
                  </a:lnTo>
                  <a:lnTo>
                    <a:pt x="16870" y="1218764"/>
                  </a:lnTo>
                  <a:lnTo>
                    <a:pt x="9561" y="1172212"/>
                  </a:lnTo>
                  <a:lnTo>
                    <a:pt x="4281" y="1124984"/>
                  </a:lnTo>
                  <a:lnTo>
                    <a:pt x="1078" y="1077130"/>
                  </a:lnTo>
                  <a:lnTo>
                    <a:pt x="0" y="1028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grpSp>
      <p:sp>
        <p:nvSpPr>
          <p:cNvPr id="343" name="Google Shape;343;p25"/>
          <p:cNvSpPr txBox="1"/>
          <p:nvPr>
            <p:ph type="title"/>
          </p:nvPr>
        </p:nvSpPr>
        <p:spPr>
          <a:xfrm>
            <a:off x="457200" y="274700"/>
            <a:ext cx="8229600" cy="1143000"/>
          </a:xfrm>
          <a:prstGeom prst="rect">
            <a:avLst/>
          </a:prstGeom>
          <a:noFill/>
          <a:ln cap="flat" cmpd="sng" w="9525">
            <a:solidFill>
              <a:srgbClr val="000000"/>
            </a:solidFill>
            <a:prstDash val="solid"/>
            <a:round/>
            <a:headEnd len="sm" w="sm" type="none"/>
            <a:tailEnd len="sm" w="sm" type="none"/>
          </a:ln>
        </p:spPr>
        <p:txBody>
          <a:bodyPr anchorCtr="0" anchor="b" bIns="0" lIns="0" spcFirstLastPara="1" rIns="0" wrap="square" tIns="200025">
            <a:spAutoFit/>
          </a:bodyPr>
          <a:lstStyle/>
          <a:p>
            <a:pPr indent="0" lvl="0" marL="0" rtl="0" algn="ctr">
              <a:lnSpc>
                <a:spcPct val="100000"/>
              </a:lnSpc>
              <a:spcBef>
                <a:spcPts val="0"/>
              </a:spcBef>
              <a:spcAft>
                <a:spcPts val="0"/>
              </a:spcAft>
              <a:buClr>
                <a:schemeClr val="dk2"/>
              </a:buClr>
              <a:buSzPts val="3000"/>
              <a:buFont typeface="Century Schoolbook"/>
              <a:buNone/>
            </a:pPr>
            <a:r>
              <a:rPr lang="en-US"/>
              <a:t>Structure - The Control Unit</a:t>
            </a:r>
            <a:endParaRPr/>
          </a:p>
        </p:txBody>
      </p:sp>
      <p:sp>
        <p:nvSpPr>
          <p:cNvPr id="344" name="Google Shape;344;p25"/>
          <p:cNvSpPr txBox="1"/>
          <p:nvPr/>
        </p:nvSpPr>
        <p:spPr>
          <a:xfrm>
            <a:off x="841044" y="3045079"/>
            <a:ext cx="4533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CPU</a:t>
            </a:r>
            <a:endParaRPr sz="1600">
              <a:solidFill>
                <a:schemeClr val="dk1"/>
              </a:solidFill>
              <a:latin typeface="Arial"/>
              <a:ea typeface="Arial"/>
              <a:cs typeface="Arial"/>
              <a:sym typeface="Arial"/>
            </a:endParaRPr>
          </a:p>
        </p:txBody>
      </p:sp>
      <p:sp>
        <p:nvSpPr>
          <p:cNvPr id="345" name="Google Shape;345;p25"/>
          <p:cNvSpPr txBox="1"/>
          <p:nvPr/>
        </p:nvSpPr>
        <p:spPr>
          <a:xfrm>
            <a:off x="6020561" y="5393537"/>
            <a:ext cx="75819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Control  Memory</a:t>
            </a:r>
            <a:endParaRPr sz="1600">
              <a:solidFill>
                <a:schemeClr val="dk1"/>
              </a:solidFill>
              <a:latin typeface="Arial"/>
              <a:ea typeface="Arial"/>
              <a:cs typeface="Arial"/>
              <a:sym typeface="Arial"/>
            </a:endParaRPr>
          </a:p>
        </p:txBody>
      </p:sp>
      <p:sp>
        <p:nvSpPr>
          <p:cNvPr id="346" name="Google Shape;346;p25"/>
          <p:cNvSpPr txBox="1"/>
          <p:nvPr/>
        </p:nvSpPr>
        <p:spPr>
          <a:xfrm>
            <a:off x="5750433" y="4097782"/>
            <a:ext cx="1277620"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Control Unit  Registers and  Decoders</a:t>
            </a:r>
            <a:endParaRPr sz="1600">
              <a:solidFill>
                <a:schemeClr val="dk1"/>
              </a:solidFill>
              <a:latin typeface="Arial"/>
              <a:ea typeface="Arial"/>
              <a:cs typeface="Arial"/>
              <a:sym typeface="Arial"/>
            </a:endParaRPr>
          </a:p>
        </p:txBody>
      </p:sp>
      <p:sp>
        <p:nvSpPr>
          <p:cNvPr id="347" name="Google Shape;347;p25"/>
          <p:cNvSpPr/>
          <p:nvPr/>
        </p:nvSpPr>
        <p:spPr>
          <a:xfrm>
            <a:off x="1524000" y="2209800"/>
            <a:ext cx="3886200" cy="4267200"/>
          </a:xfrm>
          <a:custGeom>
            <a:rect b="b" l="l" r="r" t="t"/>
            <a:pathLst>
              <a:path extrusionOk="0" h="4267200" w="3886200">
                <a:moveTo>
                  <a:pt x="0" y="1371600"/>
                </a:moveTo>
                <a:lnTo>
                  <a:pt x="3886200" y="0"/>
                </a:lnTo>
              </a:path>
              <a:path extrusionOk="0" h="4267200" w="3886200">
                <a:moveTo>
                  <a:pt x="0" y="2133600"/>
                </a:moveTo>
                <a:lnTo>
                  <a:pt x="3733800" y="42672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48" name="Google Shape;348;p25"/>
          <p:cNvSpPr txBox="1"/>
          <p:nvPr/>
        </p:nvSpPr>
        <p:spPr>
          <a:xfrm>
            <a:off x="4907407" y="3199002"/>
            <a:ext cx="109791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Arial"/>
                <a:ea typeface="Arial"/>
                <a:cs typeface="Arial"/>
                <a:sym typeface="Arial"/>
              </a:rPr>
              <a:t>Sequencing  Logic</a:t>
            </a:r>
            <a:endParaRPr sz="1600">
              <a:solidFill>
                <a:schemeClr val="dk1"/>
              </a:solidFill>
              <a:latin typeface="Arial"/>
              <a:ea typeface="Arial"/>
              <a:cs typeface="Arial"/>
              <a:sym typeface="Arial"/>
            </a:endParaRPr>
          </a:p>
        </p:txBody>
      </p:sp>
      <p:sp>
        <p:nvSpPr>
          <p:cNvPr id="349" name="Google Shape;349;p25"/>
          <p:cNvSpPr/>
          <p:nvPr/>
        </p:nvSpPr>
        <p:spPr>
          <a:xfrm>
            <a:off x="1219200" y="3581400"/>
            <a:ext cx="685800" cy="762000"/>
          </a:xfrm>
          <a:custGeom>
            <a:rect b="b" l="l" r="r" t="t"/>
            <a:pathLst>
              <a:path extrusionOk="0" h="762000" w="685800">
                <a:moveTo>
                  <a:pt x="0" y="381000"/>
                </a:moveTo>
                <a:lnTo>
                  <a:pt x="3130" y="329296"/>
                </a:lnTo>
                <a:lnTo>
                  <a:pt x="12250" y="279708"/>
                </a:lnTo>
                <a:lnTo>
                  <a:pt x="26949" y="232689"/>
                </a:lnTo>
                <a:lnTo>
                  <a:pt x="46820" y="188693"/>
                </a:lnTo>
                <a:lnTo>
                  <a:pt x="71454" y="148174"/>
                </a:lnTo>
                <a:lnTo>
                  <a:pt x="100441" y="111585"/>
                </a:lnTo>
                <a:lnTo>
                  <a:pt x="133373" y="79380"/>
                </a:lnTo>
                <a:lnTo>
                  <a:pt x="169841" y="52013"/>
                </a:lnTo>
                <a:lnTo>
                  <a:pt x="209436" y="29938"/>
                </a:lnTo>
                <a:lnTo>
                  <a:pt x="251751" y="13608"/>
                </a:lnTo>
                <a:lnTo>
                  <a:pt x="296375" y="3477"/>
                </a:lnTo>
                <a:lnTo>
                  <a:pt x="342900" y="0"/>
                </a:lnTo>
                <a:lnTo>
                  <a:pt x="389424" y="3477"/>
                </a:lnTo>
                <a:lnTo>
                  <a:pt x="434048" y="13608"/>
                </a:lnTo>
                <a:lnTo>
                  <a:pt x="476363" y="29938"/>
                </a:lnTo>
                <a:lnTo>
                  <a:pt x="515958" y="52013"/>
                </a:lnTo>
                <a:lnTo>
                  <a:pt x="552426" y="79380"/>
                </a:lnTo>
                <a:lnTo>
                  <a:pt x="585358" y="111585"/>
                </a:lnTo>
                <a:lnTo>
                  <a:pt x="614345" y="148174"/>
                </a:lnTo>
                <a:lnTo>
                  <a:pt x="638979" y="188693"/>
                </a:lnTo>
                <a:lnTo>
                  <a:pt x="658850" y="232689"/>
                </a:lnTo>
                <a:lnTo>
                  <a:pt x="673549" y="279708"/>
                </a:lnTo>
                <a:lnTo>
                  <a:pt x="682669" y="329296"/>
                </a:lnTo>
                <a:lnTo>
                  <a:pt x="685800" y="381000"/>
                </a:lnTo>
                <a:lnTo>
                  <a:pt x="682669" y="432703"/>
                </a:lnTo>
                <a:lnTo>
                  <a:pt x="673549" y="482291"/>
                </a:lnTo>
                <a:lnTo>
                  <a:pt x="658850" y="529310"/>
                </a:lnTo>
                <a:lnTo>
                  <a:pt x="638979" y="573306"/>
                </a:lnTo>
                <a:lnTo>
                  <a:pt x="614345" y="613825"/>
                </a:lnTo>
                <a:lnTo>
                  <a:pt x="585358" y="650414"/>
                </a:lnTo>
                <a:lnTo>
                  <a:pt x="552426" y="682619"/>
                </a:lnTo>
                <a:lnTo>
                  <a:pt x="515958" y="709986"/>
                </a:lnTo>
                <a:lnTo>
                  <a:pt x="476363" y="732061"/>
                </a:lnTo>
                <a:lnTo>
                  <a:pt x="434048" y="748391"/>
                </a:lnTo>
                <a:lnTo>
                  <a:pt x="389424" y="758522"/>
                </a:lnTo>
                <a:lnTo>
                  <a:pt x="342900" y="762000"/>
                </a:lnTo>
                <a:lnTo>
                  <a:pt x="296375" y="758522"/>
                </a:lnTo>
                <a:lnTo>
                  <a:pt x="251751" y="748391"/>
                </a:lnTo>
                <a:lnTo>
                  <a:pt x="209436" y="732061"/>
                </a:lnTo>
                <a:lnTo>
                  <a:pt x="169841" y="709986"/>
                </a:lnTo>
                <a:lnTo>
                  <a:pt x="133373" y="682619"/>
                </a:lnTo>
                <a:lnTo>
                  <a:pt x="100441" y="650414"/>
                </a:lnTo>
                <a:lnTo>
                  <a:pt x="71454" y="613825"/>
                </a:lnTo>
                <a:lnTo>
                  <a:pt x="46820" y="573306"/>
                </a:lnTo>
                <a:lnTo>
                  <a:pt x="26949" y="529310"/>
                </a:lnTo>
                <a:lnTo>
                  <a:pt x="12250" y="482291"/>
                </a:lnTo>
                <a:lnTo>
                  <a:pt x="3130" y="432703"/>
                </a:lnTo>
                <a:lnTo>
                  <a:pt x="0" y="381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50" name="Google Shape;350;p25"/>
          <p:cNvSpPr txBox="1"/>
          <p:nvPr/>
        </p:nvSpPr>
        <p:spPr>
          <a:xfrm>
            <a:off x="1322577" y="3748785"/>
            <a:ext cx="517525" cy="391160"/>
          </a:xfrm>
          <a:prstGeom prst="rect">
            <a:avLst/>
          </a:prstGeom>
          <a:noFill/>
          <a:ln>
            <a:noFill/>
          </a:ln>
        </p:spPr>
        <p:txBody>
          <a:bodyPr anchorCtr="0" anchor="t" bIns="0" lIns="0" spcFirstLastPara="1" rIns="0" wrap="square" tIns="12700">
            <a:spAutoFit/>
          </a:bodyPr>
          <a:lstStyle/>
          <a:p>
            <a:pPr indent="-109855" lvl="0" marL="121920" marR="5080" rtl="0" algn="l">
              <a:lnSpc>
                <a:spcPct val="100000"/>
              </a:lnSpc>
              <a:spcBef>
                <a:spcPts val="0"/>
              </a:spcBef>
              <a:spcAft>
                <a:spcPts val="0"/>
              </a:spcAft>
              <a:buNone/>
            </a:pPr>
            <a:r>
              <a:rPr lang="en-US" sz="1200">
                <a:solidFill>
                  <a:schemeClr val="dk1"/>
                </a:solidFill>
                <a:latin typeface="Arial"/>
                <a:ea typeface="Arial"/>
                <a:cs typeface="Arial"/>
                <a:sym typeface="Arial"/>
              </a:rPr>
              <a:t>Control  Unit</a:t>
            </a:r>
            <a:endParaRPr sz="1200">
              <a:solidFill>
                <a:schemeClr val="dk1"/>
              </a:solidFill>
              <a:latin typeface="Arial"/>
              <a:ea typeface="Arial"/>
              <a:cs typeface="Arial"/>
              <a:sym typeface="Arial"/>
            </a:endParaRPr>
          </a:p>
        </p:txBody>
      </p:sp>
      <p:sp>
        <p:nvSpPr>
          <p:cNvPr id="351" name="Google Shape;351;p25"/>
          <p:cNvSpPr/>
          <p:nvPr/>
        </p:nvSpPr>
        <p:spPr>
          <a:xfrm>
            <a:off x="304800" y="3276600"/>
            <a:ext cx="609600" cy="609600"/>
          </a:xfrm>
          <a:custGeom>
            <a:rect b="b" l="l" r="r" t="t"/>
            <a:pathLst>
              <a:path extrusionOk="0" h="609600" w="609600">
                <a:moveTo>
                  <a:pt x="0" y="304800"/>
                </a:moveTo>
                <a:lnTo>
                  <a:pt x="3989" y="255374"/>
                </a:lnTo>
                <a:lnTo>
                  <a:pt x="15538" y="208483"/>
                </a:lnTo>
                <a:lnTo>
                  <a:pt x="34020" y="164753"/>
                </a:lnTo>
                <a:lnTo>
                  <a:pt x="58808" y="124815"/>
                </a:lnTo>
                <a:lnTo>
                  <a:pt x="89273" y="89296"/>
                </a:lnTo>
                <a:lnTo>
                  <a:pt x="124788" y="58826"/>
                </a:lnTo>
                <a:lnTo>
                  <a:pt x="164725" y="34032"/>
                </a:lnTo>
                <a:lnTo>
                  <a:pt x="208458" y="15544"/>
                </a:lnTo>
                <a:lnTo>
                  <a:pt x="255359" y="3990"/>
                </a:lnTo>
                <a:lnTo>
                  <a:pt x="304800" y="0"/>
                </a:lnTo>
                <a:lnTo>
                  <a:pt x="354240" y="3990"/>
                </a:lnTo>
                <a:lnTo>
                  <a:pt x="401141" y="15544"/>
                </a:lnTo>
                <a:lnTo>
                  <a:pt x="444874" y="34032"/>
                </a:lnTo>
                <a:lnTo>
                  <a:pt x="484811" y="58826"/>
                </a:lnTo>
                <a:lnTo>
                  <a:pt x="520326" y="89296"/>
                </a:lnTo>
                <a:lnTo>
                  <a:pt x="550791" y="124815"/>
                </a:lnTo>
                <a:lnTo>
                  <a:pt x="575579" y="164753"/>
                </a:lnTo>
                <a:lnTo>
                  <a:pt x="594061" y="208483"/>
                </a:lnTo>
                <a:lnTo>
                  <a:pt x="605610" y="255374"/>
                </a:lnTo>
                <a:lnTo>
                  <a:pt x="609600" y="304800"/>
                </a:lnTo>
                <a:lnTo>
                  <a:pt x="605610" y="354225"/>
                </a:lnTo>
                <a:lnTo>
                  <a:pt x="594061" y="401116"/>
                </a:lnTo>
                <a:lnTo>
                  <a:pt x="575579" y="444846"/>
                </a:lnTo>
                <a:lnTo>
                  <a:pt x="550791" y="484784"/>
                </a:lnTo>
                <a:lnTo>
                  <a:pt x="520326" y="520303"/>
                </a:lnTo>
                <a:lnTo>
                  <a:pt x="484811" y="550773"/>
                </a:lnTo>
                <a:lnTo>
                  <a:pt x="444874" y="575567"/>
                </a:lnTo>
                <a:lnTo>
                  <a:pt x="401141" y="594055"/>
                </a:lnTo>
                <a:lnTo>
                  <a:pt x="354240" y="605609"/>
                </a:lnTo>
                <a:lnTo>
                  <a:pt x="304800" y="609600"/>
                </a:lnTo>
                <a:lnTo>
                  <a:pt x="255359" y="605609"/>
                </a:lnTo>
                <a:lnTo>
                  <a:pt x="208458" y="594055"/>
                </a:lnTo>
                <a:lnTo>
                  <a:pt x="164725" y="575567"/>
                </a:lnTo>
                <a:lnTo>
                  <a:pt x="124788" y="550773"/>
                </a:lnTo>
                <a:lnTo>
                  <a:pt x="89273" y="520303"/>
                </a:lnTo>
                <a:lnTo>
                  <a:pt x="58808" y="484784"/>
                </a:lnTo>
                <a:lnTo>
                  <a:pt x="34020" y="444846"/>
                </a:lnTo>
                <a:lnTo>
                  <a:pt x="15538" y="401116"/>
                </a:lnTo>
                <a:lnTo>
                  <a:pt x="3989" y="354225"/>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52" name="Google Shape;352;p25"/>
          <p:cNvSpPr txBox="1"/>
          <p:nvPr/>
        </p:nvSpPr>
        <p:spPr>
          <a:xfrm>
            <a:off x="448767" y="3473577"/>
            <a:ext cx="32258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ALU</a:t>
            </a:r>
            <a:endParaRPr sz="1200">
              <a:solidFill>
                <a:schemeClr val="dk1"/>
              </a:solidFill>
              <a:latin typeface="Arial"/>
              <a:ea typeface="Arial"/>
              <a:cs typeface="Arial"/>
              <a:sym typeface="Arial"/>
            </a:endParaRPr>
          </a:p>
        </p:txBody>
      </p:sp>
      <p:sp>
        <p:nvSpPr>
          <p:cNvPr id="353" name="Google Shape;353;p25"/>
          <p:cNvSpPr/>
          <p:nvPr/>
        </p:nvSpPr>
        <p:spPr>
          <a:xfrm>
            <a:off x="381000" y="3581400"/>
            <a:ext cx="914400" cy="1295400"/>
          </a:xfrm>
          <a:custGeom>
            <a:rect b="b" l="l" r="r" t="t"/>
            <a:pathLst>
              <a:path extrusionOk="0" h="1295400" w="914400">
                <a:moveTo>
                  <a:pt x="0" y="952500"/>
                </a:moveTo>
                <a:lnTo>
                  <a:pt x="3130" y="905975"/>
                </a:lnTo>
                <a:lnTo>
                  <a:pt x="12248" y="861351"/>
                </a:lnTo>
                <a:lnTo>
                  <a:pt x="26946" y="819036"/>
                </a:lnTo>
                <a:lnTo>
                  <a:pt x="46815" y="779441"/>
                </a:lnTo>
                <a:lnTo>
                  <a:pt x="71446" y="742973"/>
                </a:lnTo>
                <a:lnTo>
                  <a:pt x="100431" y="710041"/>
                </a:lnTo>
                <a:lnTo>
                  <a:pt x="133362" y="681054"/>
                </a:lnTo>
                <a:lnTo>
                  <a:pt x="169830" y="656420"/>
                </a:lnTo>
                <a:lnTo>
                  <a:pt x="209426" y="636549"/>
                </a:lnTo>
                <a:lnTo>
                  <a:pt x="251742" y="621850"/>
                </a:lnTo>
                <a:lnTo>
                  <a:pt x="296369" y="612730"/>
                </a:lnTo>
                <a:lnTo>
                  <a:pt x="342900" y="609600"/>
                </a:lnTo>
                <a:lnTo>
                  <a:pt x="389430" y="612730"/>
                </a:lnTo>
                <a:lnTo>
                  <a:pt x="434057" y="621850"/>
                </a:lnTo>
                <a:lnTo>
                  <a:pt x="476373" y="636549"/>
                </a:lnTo>
                <a:lnTo>
                  <a:pt x="515969" y="656420"/>
                </a:lnTo>
                <a:lnTo>
                  <a:pt x="552437" y="681054"/>
                </a:lnTo>
                <a:lnTo>
                  <a:pt x="585368" y="710041"/>
                </a:lnTo>
                <a:lnTo>
                  <a:pt x="614353" y="742973"/>
                </a:lnTo>
                <a:lnTo>
                  <a:pt x="638984" y="779441"/>
                </a:lnTo>
                <a:lnTo>
                  <a:pt x="658853" y="819036"/>
                </a:lnTo>
                <a:lnTo>
                  <a:pt x="673551" y="861351"/>
                </a:lnTo>
                <a:lnTo>
                  <a:pt x="682669" y="905975"/>
                </a:lnTo>
                <a:lnTo>
                  <a:pt x="685800" y="952500"/>
                </a:lnTo>
                <a:lnTo>
                  <a:pt x="682669" y="999024"/>
                </a:lnTo>
                <a:lnTo>
                  <a:pt x="673551" y="1043648"/>
                </a:lnTo>
                <a:lnTo>
                  <a:pt x="658853" y="1085963"/>
                </a:lnTo>
                <a:lnTo>
                  <a:pt x="638984" y="1125558"/>
                </a:lnTo>
                <a:lnTo>
                  <a:pt x="614353" y="1162026"/>
                </a:lnTo>
                <a:lnTo>
                  <a:pt x="585368" y="1194958"/>
                </a:lnTo>
                <a:lnTo>
                  <a:pt x="552437" y="1223945"/>
                </a:lnTo>
                <a:lnTo>
                  <a:pt x="515969" y="1248579"/>
                </a:lnTo>
                <a:lnTo>
                  <a:pt x="476373" y="1268450"/>
                </a:lnTo>
                <a:lnTo>
                  <a:pt x="434057" y="1283149"/>
                </a:lnTo>
                <a:lnTo>
                  <a:pt x="389430" y="1292269"/>
                </a:lnTo>
                <a:lnTo>
                  <a:pt x="342900" y="1295400"/>
                </a:lnTo>
                <a:lnTo>
                  <a:pt x="296369" y="1292269"/>
                </a:lnTo>
                <a:lnTo>
                  <a:pt x="251742" y="1283149"/>
                </a:lnTo>
                <a:lnTo>
                  <a:pt x="209426" y="1268450"/>
                </a:lnTo>
                <a:lnTo>
                  <a:pt x="169830" y="1248579"/>
                </a:lnTo>
                <a:lnTo>
                  <a:pt x="133362" y="1223945"/>
                </a:lnTo>
                <a:lnTo>
                  <a:pt x="100431" y="1194958"/>
                </a:lnTo>
                <a:lnTo>
                  <a:pt x="71446" y="1162026"/>
                </a:lnTo>
                <a:lnTo>
                  <a:pt x="46815" y="1125558"/>
                </a:lnTo>
                <a:lnTo>
                  <a:pt x="26946" y="1085963"/>
                </a:lnTo>
                <a:lnTo>
                  <a:pt x="12248" y="1043648"/>
                </a:lnTo>
                <a:lnTo>
                  <a:pt x="3130" y="999024"/>
                </a:lnTo>
                <a:lnTo>
                  <a:pt x="0" y="952500"/>
                </a:lnTo>
                <a:close/>
              </a:path>
              <a:path extrusionOk="0" h="1295400" w="914400">
                <a:moveTo>
                  <a:pt x="228600" y="381000"/>
                </a:moveTo>
                <a:lnTo>
                  <a:pt x="231730" y="329296"/>
                </a:lnTo>
                <a:lnTo>
                  <a:pt x="240848" y="279708"/>
                </a:lnTo>
                <a:lnTo>
                  <a:pt x="255546" y="232689"/>
                </a:lnTo>
                <a:lnTo>
                  <a:pt x="275415" y="188693"/>
                </a:lnTo>
                <a:lnTo>
                  <a:pt x="300046" y="148174"/>
                </a:lnTo>
                <a:lnTo>
                  <a:pt x="329031" y="111585"/>
                </a:lnTo>
                <a:lnTo>
                  <a:pt x="361962" y="79380"/>
                </a:lnTo>
                <a:lnTo>
                  <a:pt x="398430" y="52013"/>
                </a:lnTo>
                <a:lnTo>
                  <a:pt x="438026" y="29938"/>
                </a:lnTo>
                <a:lnTo>
                  <a:pt x="480342" y="13608"/>
                </a:lnTo>
                <a:lnTo>
                  <a:pt x="524969" y="3477"/>
                </a:lnTo>
                <a:lnTo>
                  <a:pt x="571500" y="0"/>
                </a:lnTo>
                <a:lnTo>
                  <a:pt x="618030" y="3477"/>
                </a:lnTo>
                <a:lnTo>
                  <a:pt x="662657" y="13608"/>
                </a:lnTo>
                <a:lnTo>
                  <a:pt x="704973" y="29938"/>
                </a:lnTo>
                <a:lnTo>
                  <a:pt x="744569" y="52013"/>
                </a:lnTo>
                <a:lnTo>
                  <a:pt x="781037" y="79380"/>
                </a:lnTo>
                <a:lnTo>
                  <a:pt x="813968" y="111585"/>
                </a:lnTo>
                <a:lnTo>
                  <a:pt x="842953" y="148174"/>
                </a:lnTo>
                <a:lnTo>
                  <a:pt x="867584" y="188693"/>
                </a:lnTo>
                <a:lnTo>
                  <a:pt x="887453" y="232689"/>
                </a:lnTo>
                <a:lnTo>
                  <a:pt x="902151" y="279708"/>
                </a:lnTo>
                <a:lnTo>
                  <a:pt x="911269" y="329296"/>
                </a:lnTo>
                <a:lnTo>
                  <a:pt x="914400" y="381000"/>
                </a:lnTo>
                <a:lnTo>
                  <a:pt x="911269" y="432703"/>
                </a:lnTo>
                <a:lnTo>
                  <a:pt x="902151" y="482291"/>
                </a:lnTo>
                <a:lnTo>
                  <a:pt x="887453" y="529310"/>
                </a:lnTo>
                <a:lnTo>
                  <a:pt x="867584" y="573306"/>
                </a:lnTo>
                <a:lnTo>
                  <a:pt x="842953" y="613825"/>
                </a:lnTo>
                <a:lnTo>
                  <a:pt x="813968" y="650414"/>
                </a:lnTo>
                <a:lnTo>
                  <a:pt x="781037" y="682619"/>
                </a:lnTo>
                <a:lnTo>
                  <a:pt x="744569" y="709986"/>
                </a:lnTo>
                <a:lnTo>
                  <a:pt x="704973" y="732061"/>
                </a:lnTo>
                <a:lnTo>
                  <a:pt x="662657" y="748391"/>
                </a:lnTo>
                <a:lnTo>
                  <a:pt x="618030" y="758522"/>
                </a:lnTo>
                <a:lnTo>
                  <a:pt x="571500" y="762000"/>
                </a:lnTo>
                <a:lnTo>
                  <a:pt x="524969" y="758522"/>
                </a:lnTo>
                <a:lnTo>
                  <a:pt x="480342" y="748391"/>
                </a:lnTo>
                <a:lnTo>
                  <a:pt x="438026" y="732061"/>
                </a:lnTo>
                <a:lnTo>
                  <a:pt x="398430" y="709986"/>
                </a:lnTo>
                <a:lnTo>
                  <a:pt x="361962" y="682619"/>
                </a:lnTo>
                <a:lnTo>
                  <a:pt x="329031" y="650414"/>
                </a:lnTo>
                <a:lnTo>
                  <a:pt x="300046" y="613825"/>
                </a:lnTo>
                <a:lnTo>
                  <a:pt x="275415" y="573306"/>
                </a:lnTo>
                <a:lnTo>
                  <a:pt x="255546" y="529310"/>
                </a:lnTo>
                <a:lnTo>
                  <a:pt x="240848" y="482291"/>
                </a:lnTo>
                <a:lnTo>
                  <a:pt x="231730" y="432703"/>
                </a:lnTo>
                <a:lnTo>
                  <a:pt x="228600" y="381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354" name="Google Shape;354;p25"/>
          <p:cNvSpPr txBox="1"/>
          <p:nvPr/>
        </p:nvSpPr>
        <p:spPr>
          <a:xfrm>
            <a:off x="416153" y="4403217"/>
            <a:ext cx="66929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Registers</a:t>
            </a:r>
            <a:endParaRPr sz="1200">
              <a:solidFill>
                <a:schemeClr val="dk1"/>
              </a:solidFill>
              <a:latin typeface="Arial"/>
              <a:ea typeface="Arial"/>
              <a:cs typeface="Arial"/>
              <a:sym typeface="Arial"/>
            </a:endParaRPr>
          </a:p>
        </p:txBody>
      </p:sp>
      <p:sp>
        <p:nvSpPr>
          <p:cNvPr id="355" name="Google Shape;355;p25"/>
          <p:cNvSpPr txBox="1"/>
          <p:nvPr/>
        </p:nvSpPr>
        <p:spPr>
          <a:xfrm>
            <a:off x="685901" y="3839336"/>
            <a:ext cx="535940" cy="391160"/>
          </a:xfrm>
          <a:prstGeom prst="rect">
            <a:avLst/>
          </a:prstGeom>
          <a:noFill/>
          <a:ln>
            <a:noFill/>
          </a:ln>
        </p:spPr>
        <p:txBody>
          <a:bodyPr anchorCtr="0" anchor="t" bIns="0" lIns="0" spcFirstLastPara="1" rIns="0" wrap="square" tIns="12700">
            <a:spAutoFit/>
          </a:bodyPr>
          <a:lstStyle/>
          <a:p>
            <a:pPr indent="-123825" lvl="0" marL="135890" marR="5080" rtl="0" algn="l">
              <a:lnSpc>
                <a:spcPct val="100000"/>
              </a:lnSpc>
              <a:spcBef>
                <a:spcPts val="0"/>
              </a:spcBef>
              <a:spcAft>
                <a:spcPts val="0"/>
              </a:spcAft>
              <a:buNone/>
            </a:pPr>
            <a:r>
              <a:rPr lang="en-US" sz="1200">
                <a:solidFill>
                  <a:schemeClr val="dk1"/>
                </a:solidFill>
                <a:latin typeface="Arial"/>
                <a:ea typeface="Arial"/>
                <a:cs typeface="Arial"/>
                <a:sym typeface="Arial"/>
              </a:rPr>
              <a:t>Internal  Bus</a:t>
            </a:r>
            <a:endParaRPr sz="1200">
              <a:solidFill>
                <a:schemeClr val="dk1"/>
              </a:solidFill>
              <a:latin typeface="Arial"/>
              <a:ea typeface="Arial"/>
              <a:cs typeface="Arial"/>
              <a:sym typeface="Arial"/>
            </a:endParaRPr>
          </a:p>
        </p:txBody>
      </p:sp>
      <p:sp>
        <p:nvSpPr>
          <p:cNvPr id="356" name="Google Shape;356;p25"/>
          <p:cNvSpPr txBox="1"/>
          <p:nvPr/>
        </p:nvSpPr>
        <p:spPr>
          <a:xfrm>
            <a:off x="5490464" y="2312288"/>
            <a:ext cx="136715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Control Unit</a:t>
            </a:r>
            <a:endParaRPr sz="2000">
              <a:solidFill>
                <a:schemeClr val="dk1"/>
              </a:solidFill>
              <a:latin typeface="Arial"/>
              <a:ea typeface="Arial"/>
              <a:cs typeface="Arial"/>
              <a:sym typeface="Arial"/>
            </a:endParaRPr>
          </a:p>
        </p:txBody>
      </p:sp>
      <p:sp>
        <p:nvSpPr>
          <p:cNvPr id="357" name="Google Shape;357;p2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6"/>
          <p:cNvSpPr txBox="1"/>
          <p:nvPr>
            <p:ph type="title"/>
          </p:nvPr>
        </p:nvSpPr>
        <p:spPr>
          <a:xfrm>
            <a:off x="609600" y="381000"/>
            <a:ext cx="7467600" cy="457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b="1" i="1" lang="en-US"/>
              <a:t>multicore computer structure</a:t>
            </a:r>
            <a:endParaRPr/>
          </a:p>
        </p:txBody>
      </p:sp>
      <p:sp>
        <p:nvSpPr>
          <p:cNvPr id="363" name="Google Shape;363;p26"/>
          <p:cNvSpPr txBox="1"/>
          <p:nvPr>
            <p:ph idx="1" type="body"/>
          </p:nvPr>
        </p:nvSpPr>
        <p:spPr>
          <a:xfrm>
            <a:off x="162050" y="914400"/>
            <a:ext cx="8448600" cy="48738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When these processors all reside on a single chip, the term </a:t>
            </a:r>
            <a:r>
              <a:rPr i="1" lang="en-US">
                <a:latin typeface="Times New Roman"/>
                <a:ea typeface="Times New Roman"/>
                <a:cs typeface="Times New Roman"/>
                <a:sym typeface="Times New Roman"/>
              </a:rPr>
              <a:t>multicore computer </a:t>
            </a:r>
            <a:r>
              <a:rPr lang="en-US">
                <a:latin typeface="Times New Roman"/>
                <a:ea typeface="Times New Roman"/>
                <a:cs typeface="Times New Roman"/>
                <a:sym typeface="Times New Roman"/>
              </a:rPr>
              <a:t>is used, and each processing unit (consisting of a control unit, ALU, registers, and perhaps cache) is called a </a:t>
            </a:r>
            <a:r>
              <a:rPr i="1" lang="en-US">
                <a:latin typeface="Times New Roman"/>
                <a:ea typeface="Times New Roman"/>
                <a:cs typeface="Times New Roman"/>
                <a:sym typeface="Times New Roman"/>
              </a:rPr>
              <a:t>core</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Central processing unit (CPU): </a:t>
            </a:r>
            <a:r>
              <a:rPr lang="en-US">
                <a:latin typeface="Times New Roman"/>
                <a:ea typeface="Times New Roman"/>
                <a:cs typeface="Times New Roman"/>
                <a:sym typeface="Times New Roman"/>
              </a:rPr>
              <a:t>That portion of a computer that </a:t>
            </a:r>
            <a:r>
              <a:rPr lang="en-US">
                <a:solidFill>
                  <a:srgbClr val="FF0000"/>
                </a:solidFill>
                <a:latin typeface="Times New Roman"/>
                <a:ea typeface="Times New Roman"/>
                <a:cs typeface="Times New Roman"/>
                <a:sym typeface="Times New Roman"/>
              </a:rPr>
              <a:t>fetches and executes instructions</a:t>
            </a:r>
            <a:r>
              <a:rPr lang="en-US">
                <a:latin typeface="Times New Roman"/>
                <a:ea typeface="Times New Roman"/>
                <a:cs typeface="Times New Roman"/>
                <a:sym typeface="Times New Roman"/>
              </a:rPr>
              <a:t>. It consists of an ALU, a control unit, and registers</a:t>
            </a:r>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Core: </a:t>
            </a:r>
            <a:r>
              <a:rPr lang="en-US">
                <a:solidFill>
                  <a:srgbClr val="FF0000"/>
                </a:solidFill>
                <a:latin typeface="Times New Roman"/>
                <a:ea typeface="Times New Roman"/>
                <a:cs typeface="Times New Roman"/>
                <a:sym typeface="Times New Roman"/>
              </a:rPr>
              <a:t>An individual processing unit on a processor chip</a:t>
            </a:r>
            <a:r>
              <a:rPr lang="en-US">
                <a:latin typeface="Times New Roman"/>
                <a:ea typeface="Times New Roman"/>
                <a:cs typeface="Times New Roman"/>
                <a:sym typeface="Times New Roman"/>
              </a:rPr>
              <a:t>. A core may be </a:t>
            </a:r>
            <a:r>
              <a:rPr lang="en-US">
                <a:solidFill>
                  <a:srgbClr val="FF0000"/>
                </a:solidFill>
                <a:latin typeface="Times New Roman"/>
                <a:ea typeface="Times New Roman"/>
                <a:cs typeface="Times New Roman"/>
                <a:sym typeface="Times New Roman"/>
              </a:rPr>
              <a:t>equivalent in functionality to a CPU </a:t>
            </a:r>
            <a:r>
              <a:rPr lang="en-US">
                <a:latin typeface="Times New Roman"/>
                <a:ea typeface="Times New Roman"/>
                <a:cs typeface="Times New Roman"/>
                <a:sym typeface="Times New Roman"/>
              </a:rPr>
              <a:t>on a single- CPU system</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Processor-</a:t>
            </a:r>
            <a:r>
              <a:rPr lang="en-US">
                <a:latin typeface="Times New Roman"/>
                <a:ea typeface="Times New Roman"/>
                <a:cs typeface="Times New Roman"/>
                <a:sym typeface="Times New Roman"/>
              </a:rPr>
              <a:t>The Processor</a:t>
            </a:r>
            <a:r>
              <a:rPr lang="en-US">
                <a:latin typeface="Times New Roman"/>
                <a:ea typeface="Times New Roman"/>
                <a:cs typeface="Times New Roman"/>
                <a:sym typeface="Times New Roman"/>
              </a:rPr>
              <a:t> is the computer component that </a:t>
            </a:r>
            <a:r>
              <a:rPr lang="en-US">
                <a:solidFill>
                  <a:srgbClr val="FF0000"/>
                </a:solidFill>
                <a:latin typeface="Times New Roman"/>
                <a:ea typeface="Times New Roman"/>
                <a:cs typeface="Times New Roman"/>
                <a:sym typeface="Times New Roman"/>
              </a:rPr>
              <a:t>interprets and executes instructions</a:t>
            </a:r>
            <a:r>
              <a:rPr lang="en-US">
                <a:latin typeface="Times New Roman"/>
                <a:ea typeface="Times New Roman"/>
                <a:cs typeface="Times New Roman"/>
                <a:sym typeface="Times New Roman"/>
              </a:rPr>
              <a:t>. If a processor contains multiple cores, it is referred to as a </a:t>
            </a:r>
            <a:r>
              <a:rPr b="1" lang="en-US">
                <a:latin typeface="Times New Roman"/>
                <a:ea typeface="Times New Roman"/>
                <a:cs typeface="Times New Roman"/>
                <a:sym typeface="Times New Roman"/>
              </a:rPr>
              <a:t>multicore processor</a:t>
            </a:r>
            <a:r>
              <a:rPr lang="en-US">
                <a:latin typeface="Times New Roman"/>
                <a:ea typeface="Times New Roman"/>
                <a:cs typeface="Times New Roman"/>
                <a:sym typeface="Times New Roman"/>
              </a:rPr>
              <a:t>.</a:t>
            </a:r>
            <a:endParaRPr/>
          </a:p>
        </p:txBody>
      </p:sp>
      <p:sp>
        <p:nvSpPr>
          <p:cNvPr id="364" name="Google Shape;364;p2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8" name="Shape 368"/>
        <p:cNvGrpSpPr/>
        <p:nvPr/>
      </p:nvGrpSpPr>
      <p:grpSpPr>
        <a:xfrm>
          <a:off x="0" y="0"/>
          <a:ext cx="0" cy="0"/>
          <a:chOff x="0" y="0"/>
          <a:chExt cx="0" cy="0"/>
        </a:xfrm>
      </p:grpSpPr>
      <p:sp>
        <p:nvSpPr>
          <p:cNvPr id="369" name="Google Shape;369;p27"/>
          <p:cNvSpPr txBox="1"/>
          <p:nvPr>
            <p:ph type="ctrTitle"/>
          </p:nvPr>
        </p:nvSpPr>
        <p:spPr>
          <a:xfrm>
            <a:off x="1447800" y="1828800"/>
            <a:ext cx="6172200" cy="1894362"/>
          </a:xfrm>
          <a:prstGeom prst="rect">
            <a:avLst/>
          </a:prstGeom>
          <a:noFill/>
          <a:ln>
            <a:noFill/>
          </a:ln>
        </p:spPr>
        <p:txBody>
          <a:bodyPr anchorCtr="0" anchor="b" bIns="0" lIns="0" spcFirstLastPara="1" rIns="0" wrap="square" tIns="12050">
            <a:spAutoFit/>
          </a:bodyPr>
          <a:lstStyle/>
          <a:p>
            <a:pPr indent="-1270" lvl="0" marL="25400" marR="17780" rtl="0" algn="ctr">
              <a:lnSpc>
                <a:spcPct val="100000"/>
              </a:lnSpc>
              <a:spcBef>
                <a:spcPts val="0"/>
              </a:spcBef>
              <a:spcAft>
                <a:spcPts val="0"/>
              </a:spcAft>
              <a:buClr>
                <a:schemeClr val="dk2"/>
              </a:buClr>
              <a:buSzPts val="3000"/>
              <a:buFont typeface="Century Schoolbook"/>
              <a:buNone/>
            </a:pPr>
            <a:r>
              <a:rPr lang="en-US"/>
              <a:t>William Stallings  Computer Organization  and Architecture</a:t>
            </a:r>
            <a:endParaRPr/>
          </a:p>
          <a:p>
            <a:pPr indent="0" lvl="0" marL="0" rtl="0" algn="ctr">
              <a:lnSpc>
                <a:spcPct val="100000"/>
              </a:lnSpc>
              <a:spcBef>
                <a:spcPts val="5"/>
              </a:spcBef>
              <a:spcAft>
                <a:spcPts val="0"/>
              </a:spcAft>
              <a:buClr>
                <a:schemeClr val="dk2"/>
              </a:buClr>
              <a:buSzPts val="3000"/>
              <a:buFont typeface="Century Schoolbook"/>
              <a:buNone/>
            </a:pPr>
            <a:r>
              <a:rPr lang="en-US"/>
              <a:t>8</a:t>
            </a:r>
            <a:r>
              <a:rPr baseline="30000" lang="en-US" sz="3975"/>
              <a:t>th </a:t>
            </a:r>
            <a:r>
              <a:rPr lang="en-US" sz="4000"/>
              <a:t>Edition</a:t>
            </a:r>
            <a:endParaRPr sz="4000"/>
          </a:p>
        </p:txBody>
      </p:sp>
      <p:sp>
        <p:nvSpPr>
          <p:cNvPr id="370" name="Google Shape;370;p27"/>
          <p:cNvSpPr txBox="1"/>
          <p:nvPr>
            <p:ph idx="1" type="subTitle"/>
          </p:nvPr>
        </p:nvSpPr>
        <p:spPr>
          <a:xfrm>
            <a:off x="1752600" y="4038600"/>
            <a:ext cx="6172200" cy="1371600"/>
          </a:xfrm>
          <a:prstGeom prst="rect">
            <a:avLst/>
          </a:prstGeom>
          <a:noFill/>
          <a:ln>
            <a:noFill/>
          </a:ln>
        </p:spPr>
        <p:txBody>
          <a:bodyPr anchorCtr="0" anchor="t" bIns="0" lIns="0" spcFirstLastPara="1" rIns="0" wrap="square" tIns="12700">
            <a:spAutoFit/>
          </a:bodyPr>
          <a:lstStyle/>
          <a:p>
            <a:pPr indent="1202055" lvl="0" marL="12700" marR="5080" rtl="0" algn="l">
              <a:lnSpc>
                <a:spcPct val="100000"/>
              </a:lnSpc>
              <a:spcBef>
                <a:spcPts val="0"/>
              </a:spcBef>
              <a:spcAft>
                <a:spcPts val="0"/>
              </a:spcAft>
              <a:buSzPts val="1260"/>
              <a:buNone/>
            </a:pPr>
            <a:r>
              <a:rPr lang="en-US"/>
              <a:t>Chapter 2  Computer Evolution and</a:t>
            </a:r>
            <a:endParaRPr/>
          </a:p>
          <a:p>
            <a:pPr indent="0" lvl="0" marL="958850" rtl="0" algn="l">
              <a:lnSpc>
                <a:spcPct val="100000"/>
              </a:lnSpc>
              <a:spcBef>
                <a:spcPts val="5"/>
              </a:spcBef>
              <a:spcAft>
                <a:spcPts val="0"/>
              </a:spcAft>
              <a:buSzPts val="1260"/>
              <a:buNone/>
            </a:pPr>
            <a:r>
              <a:rPr lang="en-US"/>
              <a:t>Performance</a:t>
            </a:r>
            <a:endParaRPr/>
          </a:p>
        </p:txBody>
      </p:sp>
      <p:sp>
        <p:nvSpPr>
          <p:cNvPr id="371" name="Google Shape;371;p27"/>
          <p:cNvSpPr txBox="1"/>
          <p:nvPr>
            <p:ph idx="12" type="sldNum"/>
          </p:nvPr>
        </p:nvSpPr>
        <p:spPr>
          <a:xfrm>
            <a:off x="1325544" y="4928702"/>
            <a:ext cx="609600" cy="517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5" name="Shape 375"/>
        <p:cNvGrpSpPr/>
        <p:nvPr/>
      </p:nvGrpSpPr>
      <p:grpSpPr>
        <a:xfrm>
          <a:off x="0" y="0"/>
          <a:ext cx="0" cy="0"/>
          <a:chOff x="0" y="0"/>
          <a:chExt cx="0" cy="0"/>
        </a:xfrm>
      </p:grpSpPr>
      <p:sp>
        <p:nvSpPr>
          <p:cNvPr id="376" name="Google Shape;376;p28"/>
          <p:cNvSpPr txBox="1"/>
          <p:nvPr>
            <p:ph type="title"/>
          </p:nvPr>
        </p:nvSpPr>
        <p:spPr>
          <a:xfrm>
            <a:off x="1676400" y="228600"/>
            <a:ext cx="5334000" cy="4751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Von Neumann architecture</a:t>
            </a:r>
            <a:endParaRPr/>
          </a:p>
        </p:txBody>
      </p:sp>
      <p:sp>
        <p:nvSpPr>
          <p:cNvPr id="377" name="Google Shape;377;p28"/>
          <p:cNvSpPr txBox="1"/>
          <p:nvPr/>
        </p:nvSpPr>
        <p:spPr>
          <a:xfrm>
            <a:off x="533400" y="817885"/>
            <a:ext cx="8382000" cy="6040115"/>
          </a:xfrm>
          <a:prstGeom prst="rect">
            <a:avLst/>
          </a:prstGeom>
          <a:noFill/>
          <a:ln>
            <a:noFill/>
          </a:ln>
        </p:spPr>
        <p:txBody>
          <a:bodyPr anchorCtr="0" anchor="t" bIns="0" lIns="0" spcFirstLastPara="1" rIns="0" wrap="square" tIns="12700">
            <a:spAutoFit/>
          </a:bodyPr>
          <a:lstStyle/>
          <a:p>
            <a:pPr indent="-274320" lvl="0" marL="287020" marR="0" rtl="0" algn="l">
              <a:spcBef>
                <a:spcPts val="0"/>
              </a:spcBef>
              <a:spcAft>
                <a:spcPts val="0"/>
              </a:spcAft>
              <a:buClr>
                <a:schemeClr val="dk1"/>
              </a:buClr>
              <a:buSzPts val="2000"/>
              <a:buFont typeface="Arial"/>
              <a:buChar char="•"/>
            </a:pPr>
            <a:r>
              <a:rPr b="1" lang="en-US" sz="2000">
                <a:solidFill>
                  <a:schemeClr val="dk1"/>
                </a:solidFill>
                <a:latin typeface="Century Schoolbook"/>
                <a:ea typeface="Century Schoolbook"/>
                <a:cs typeface="Century Schoolbook"/>
                <a:sym typeface="Century Schoolbook"/>
              </a:rPr>
              <a:t>Fixed Program Computers –</a:t>
            </a:r>
            <a:r>
              <a:rPr lang="en-US" sz="2000">
                <a:solidFill>
                  <a:schemeClr val="dk1"/>
                </a:solidFill>
                <a:latin typeface="Century Schoolbook"/>
                <a:ea typeface="Century Schoolbook"/>
                <a:cs typeface="Century Schoolbook"/>
                <a:sym typeface="Century Schoolbook"/>
              </a:rPr>
              <a:t> Their function is very specific and they </a:t>
            </a:r>
            <a:r>
              <a:rPr lang="en-US" sz="2000">
                <a:solidFill>
                  <a:srgbClr val="FF0000"/>
                </a:solidFill>
                <a:latin typeface="Century Schoolbook"/>
                <a:ea typeface="Century Schoolbook"/>
                <a:cs typeface="Century Schoolbook"/>
                <a:sym typeface="Century Schoolbook"/>
              </a:rPr>
              <a:t>couldn’t be reprogrammed</a:t>
            </a:r>
            <a:r>
              <a:rPr lang="en-US" sz="2000">
                <a:solidFill>
                  <a:schemeClr val="dk1"/>
                </a:solidFill>
                <a:latin typeface="Century Schoolbook"/>
                <a:ea typeface="Century Schoolbook"/>
                <a:cs typeface="Century Schoolbook"/>
                <a:sym typeface="Century Schoolbook"/>
              </a:rPr>
              <a:t>, e.g. Calculators. </a:t>
            </a:r>
            <a:endParaRPr b="1" sz="2000">
              <a:solidFill>
                <a:srgbClr val="006FC0"/>
              </a:solidFill>
              <a:latin typeface="Times New Roman"/>
              <a:ea typeface="Times New Roman"/>
              <a:cs typeface="Times New Roman"/>
              <a:sym typeface="Times New Roman"/>
            </a:endParaRPr>
          </a:p>
          <a:p>
            <a:pPr indent="-274320" lvl="0" marL="287020" marR="0" rtl="0" algn="l">
              <a:lnSpc>
                <a:spcPct val="100000"/>
              </a:lnSpc>
              <a:spcBef>
                <a:spcPts val="100"/>
              </a:spcBef>
              <a:spcAft>
                <a:spcPts val="0"/>
              </a:spcAft>
              <a:buClr>
                <a:srgbClr val="006FC0"/>
              </a:buClr>
              <a:buSzPts val="2000"/>
              <a:buFont typeface="Arial"/>
              <a:buChar char="•"/>
            </a:pPr>
            <a:r>
              <a:rPr b="1" lang="en-US" sz="2000">
                <a:solidFill>
                  <a:srgbClr val="006FC0"/>
                </a:solidFill>
                <a:latin typeface="Times New Roman"/>
                <a:ea typeface="Times New Roman"/>
                <a:cs typeface="Times New Roman"/>
                <a:sym typeface="Times New Roman"/>
              </a:rPr>
              <a:t>Computers based on Stored Program concept-</a:t>
            </a:r>
            <a:r>
              <a:rPr lang="en-US" sz="2000">
                <a:solidFill>
                  <a:schemeClr val="dk1"/>
                </a:solidFill>
                <a:latin typeface="Times New Roman"/>
                <a:ea typeface="Times New Roman"/>
                <a:cs typeface="Times New Roman"/>
                <a:sym typeface="Times New Roman"/>
              </a:rPr>
              <a:t>programs and data are stored in a separate storage unit called memories and are treated the same-</a:t>
            </a:r>
            <a:r>
              <a:rPr lang="en-US" sz="2000">
                <a:solidFill>
                  <a:srgbClr val="FF0000"/>
                </a:solidFill>
                <a:latin typeface="Times New Roman"/>
                <a:ea typeface="Times New Roman"/>
                <a:cs typeface="Times New Roman"/>
                <a:sym typeface="Times New Roman"/>
              </a:rPr>
              <a:t>easier to reprogram.</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Schoolbook"/>
                <a:ea typeface="Century Schoolbook"/>
                <a:cs typeface="Century Schoolbook"/>
                <a:sym typeface="Century Schoolbook"/>
              </a:rPr>
              <a:t>Uses a </a:t>
            </a:r>
            <a:r>
              <a:rPr lang="en-US" sz="2000">
                <a:solidFill>
                  <a:srgbClr val="FF0000"/>
                </a:solidFill>
                <a:latin typeface="Century Schoolbook"/>
                <a:ea typeface="Century Schoolbook"/>
                <a:cs typeface="Century Schoolbook"/>
                <a:sym typeface="Century Schoolbook"/>
              </a:rPr>
              <a:t>single processor</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Schoolbook"/>
                <a:ea typeface="Century Schoolbook"/>
                <a:cs typeface="Century Schoolbook"/>
                <a:sym typeface="Century Schoolbook"/>
              </a:rPr>
              <a:t>Uses one </a:t>
            </a:r>
            <a:r>
              <a:rPr lang="en-US" sz="2000">
                <a:solidFill>
                  <a:srgbClr val="FF0000"/>
                </a:solidFill>
                <a:latin typeface="Century Schoolbook"/>
                <a:ea typeface="Century Schoolbook"/>
                <a:cs typeface="Century Schoolbook"/>
                <a:sym typeface="Century Schoolbook"/>
              </a:rPr>
              <a:t>memory for both instructions and data</a:t>
            </a:r>
            <a:r>
              <a:rPr lang="en-US" sz="2000">
                <a:solidFill>
                  <a:schemeClr val="dk1"/>
                </a:solidFill>
                <a:latin typeface="Century Schoolbook"/>
                <a:ea typeface="Century Schoolbook"/>
                <a:cs typeface="Century Schoolbook"/>
                <a:sym typeface="Century Schoolbook"/>
              </a:rPr>
              <a:t>.</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entury Schoolbook"/>
                <a:ea typeface="Century Schoolbook"/>
                <a:cs typeface="Century Schoolbook"/>
                <a:sym typeface="Century Schoolbook"/>
              </a:rPr>
              <a:t>Executes programs following the </a:t>
            </a:r>
            <a:r>
              <a:rPr lang="en-US" sz="2000">
                <a:solidFill>
                  <a:srgbClr val="FF0000"/>
                </a:solidFill>
                <a:latin typeface="Century Schoolbook"/>
                <a:ea typeface="Century Schoolbook"/>
                <a:cs typeface="Century Schoolbook"/>
                <a:sym typeface="Century Schoolbook"/>
              </a:rPr>
              <a:t>fetch-decode-execute cycle</a:t>
            </a:r>
            <a:endParaRPr/>
          </a:p>
          <a:p>
            <a:pPr indent="-147320" lvl="0" marL="287020" marR="0" rtl="0" algn="l">
              <a:lnSpc>
                <a:spcPct val="100000"/>
              </a:lnSpc>
              <a:spcBef>
                <a:spcPts val="1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Princeton Institute for Advanced Studies</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Design of new stored program computer, referred to as the </a:t>
            </a:r>
            <a:r>
              <a:rPr lang="en-US" sz="2000">
                <a:solidFill>
                  <a:srgbClr val="FF0000"/>
                </a:solidFill>
                <a:latin typeface="Times New Roman"/>
                <a:ea typeface="Times New Roman"/>
                <a:cs typeface="Times New Roman"/>
                <a:sym typeface="Times New Roman"/>
              </a:rPr>
              <a:t>IAS computer </a:t>
            </a:r>
            <a:r>
              <a:rPr lang="en-US" sz="2000">
                <a:solidFill>
                  <a:schemeClr val="dk1"/>
                </a:solidFill>
                <a:latin typeface="Times New Roman"/>
                <a:ea typeface="Times New Roman"/>
                <a:cs typeface="Times New Roman"/>
                <a:sym typeface="Times New Roman"/>
              </a:rPr>
              <a:t>(Institute for Advanced Study)</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Completed 1952</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It consists of</a:t>
            </a:r>
            <a:endParaRPr sz="2000">
              <a:solidFill>
                <a:schemeClr val="dk1"/>
              </a:solidFill>
              <a:latin typeface="Times New Roman"/>
              <a:ea typeface="Times New Roman"/>
              <a:cs typeface="Times New Roman"/>
              <a:sym typeface="Times New Roman"/>
            </a:endParaRPr>
          </a:p>
          <a:p>
            <a:pPr indent="-274319" lvl="1" marL="744220" marR="0" rtl="0" algn="l">
              <a:spcBef>
                <a:spcPts val="0"/>
              </a:spcBef>
              <a:spcAft>
                <a:spcPts val="0"/>
              </a:spcAft>
              <a:buClr>
                <a:srgbClr val="FF0000"/>
              </a:buClr>
              <a:buSzPts val="2000"/>
              <a:buFont typeface="Arial"/>
              <a:buChar char="•"/>
            </a:pPr>
            <a:r>
              <a:rPr b="1" i="0" lang="en-US" sz="2000" u="none" cap="none" strike="noStrike">
                <a:solidFill>
                  <a:srgbClr val="FF0000"/>
                </a:solidFill>
                <a:latin typeface="Times New Roman"/>
                <a:ea typeface="Times New Roman"/>
                <a:cs typeface="Times New Roman"/>
                <a:sym typeface="Times New Roman"/>
              </a:rPr>
              <a:t>Main memory </a:t>
            </a:r>
            <a:r>
              <a:rPr b="0" i="0" lang="en-US" sz="2000" u="none" cap="none" strike="noStrike">
                <a:solidFill>
                  <a:schemeClr val="dk1"/>
                </a:solidFill>
                <a:latin typeface="Times New Roman"/>
                <a:ea typeface="Times New Roman"/>
                <a:cs typeface="Times New Roman"/>
                <a:sym typeface="Times New Roman"/>
              </a:rPr>
              <a:t>storing programs and data</a:t>
            </a:r>
            <a:endParaRPr b="0" i="0" sz="2000" u="none" cap="none" strike="noStrike">
              <a:solidFill>
                <a:schemeClr val="dk1"/>
              </a:solidFill>
              <a:latin typeface="Times New Roman"/>
              <a:ea typeface="Times New Roman"/>
              <a:cs typeface="Times New Roman"/>
              <a:sym typeface="Times New Roman"/>
            </a:endParaRPr>
          </a:p>
          <a:p>
            <a:pPr indent="-274319" lvl="1" marL="744220" marR="0" rtl="0" algn="l">
              <a:spcBef>
                <a:spcPts val="0"/>
              </a:spcBef>
              <a:spcAft>
                <a:spcPts val="0"/>
              </a:spcAft>
              <a:buClr>
                <a:srgbClr val="FF0000"/>
              </a:buClr>
              <a:buSzPts val="2000"/>
              <a:buFont typeface="Arial"/>
              <a:buChar char="•"/>
            </a:pPr>
            <a:r>
              <a:rPr b="1" i="0" lang="en-US" sz="2000" u="none" cap="none" strike="noStrike">
                <a:solidFill>
                  <a:srgbClr val="FF0000"/>
                </a:solidFill>
                <a:latin typeface="Times New Roman"/>
                <a:ea typeface="Times New Roman"/>
                <a:cs typeface="Times New Roman"/>
                <a:sym typeface="Times New Roman"/>
              </a:rPr>
              <a:t>ALU </a:t>
            </a:r>
            <a:r>
              <a:rPr b="0" i="0" lang="en-US" sz="2000" u="none" cap="none" strike="noStrike">
                <a:solidFill>
                  <a:schemeClr val="dk1"/>
                </a:solidFill>
                <a:latin typeface="Times New Roman"/>
                <a:ea typeface="Times New Roman"/>
                <a:cs typeface="Times New Roman"/>
                <a:sym typeface="Times New Roman"/>
              </a:rPr>
              <a:t>operating on binary data</a:t>
            </a:r>
            <a:endParaRPr b="0" i="0" sz="2000" u="none" cap="none" strike="noStrike">
              <a:solidFill>
                <a:schemeClr val="dk1"/>
              </a:solidFill>
              <a:latin typeface="Times New Roman"/>
              <a:ea typeface="Times New Roman"/>
              <a:cs typeface="Times New Roman"/>
              <a:sym typeface="Times New Roman"/>
            </a:endParaRPr>
          </a:p>
          <a:p>
            <a:pPr indent="-274319" lvl="1" marL="744220" marR="372110" rtl="0" algn="l">
              <a:lnSpc>
                <a:spcPct val="144000"/>
              </a:lnSpc>
              <a:spcBef>
                <a:spcPts val="700"/>
              </a:spcBef>
              <a:spcAft>
                <a:spcPts val="0"/>
              </a:spcAft>
              <a:buClr>
                <a:srgbClr val="FF0000"/>
              </a:buClr>
              <a:buSzPts val="2000"/>
              <a:buFont typeface="Arial"/>
              <a:buChar char="•"/>
            </a:pPr>
            <a:r>
              <a:rPr b="1" i="0" lang="en-US" sz="2000" u="none" cap="none" strike="noStrike">
                <a:solidFill>
                  <a:srgbClr val="FF0000"/>
                </a:solidFill>
                <a:latin typeface="Times New Roman"/>
                <a:ea typeface="Times New Roman"/>
                <a:cs typeface="Times New Roman"/>
                <a:sym typeface="Times New Roman"/>
              </a:rPr>
              <a:t>Control unit </a:t>
            </a:r>
            <a:r>
              <a:rPr b="0" i="0" lang="en-US" sz="2000" u="none" cap="none" strike="noStrike">
                <a:solidFill>
                  <a:schemeClr val="dk1"/>
                </a:solidFill>
                <a:latin typeface="Times New Roman"/>
                <a:ea typeface="Times New Roman"/>
                <a:cs typeface="Times New Roman"/>
                <a:sym typeface="Times New Roman"/>
              </a:rPr>
              <a:t>interpreting instructions from memory  and executing</a:t>
            </a:r>
            <a:endParaRPr b="0" i="0" sz="2000" u="none" cap="none" strike="noStrike">
              <a:solidFill>
                <a:schemeClr val="dk1"/>
              </a:solidFill>
              <a:latin typeface="Times New Roman"/>
              <a:ea typeface="Times New Roman"/>
              <a:cs typeface="Times New Roman"/>
              <a:sym typeface="Times New Roman"/>
            </a:endParaRPr>
          </a:p>
          <a:p>
            <a:pPr indent="-274319" lvl="1" marL="744220" marR="0" rtl="0" algn="l">
              <a:spcBef>
                <a:spcPts val="25"/>
              </a:spcBef>
              <a:spcAft>
                <a:spcPts val="0"/>
              </a:spcAft>
              <a:buClr>
                <a:srgbClr val="FF0000"/>
              </a:buClr>
              <a:buSzPts val="2000"/>
              <a:buFont typeface="Arial"/>
              <a:buChar char="•"/>
            </a:pPr>
            <a:r>
              <a:rPr b="1" i="0" lang="en-US" sz="2000" u="none" cap="none" strike="noStrike">
                <a:solidFill>
                  <a:srgbClr val="FF0000"/>
                </a:solidFill>
                <a:latin typeface="Times New Roman"/>
                <a:ea typeface="Times New Roman"/>
                <a:cs typeface="Times New Roman"/>
                <a:sym typeface="Times New Roman"/>
              </a:rPr>
              <a:t>Input and output </a:t>
            </a:r>
            <a:r>
              <a:rPr b="0" i="0" lang="en-US" sz="2000" u="none" cap="none" strike="noStrike">
                <a:solidFill>
                  <a:schemeClr val="dk1"/>
                </a:solidFill>
                <a:latin typeface="Times New Roman"/>
                <a:ea typeface="Times New Roman"/>
                <a:cs typeface="Times New Roman"/>
                <a:sym typeface="Times New Roman"/>
              </a:rPr>
              <a:t>equipment operated by control unit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Century Schoolbook"/>
              <a:buNone/>
            </a:pPr>
            <a:r>
              <a:t/>
            </a:r>
            <a:endParaRPr sz="2000">
              <a:solidFill>
                <a:schemeClr val="dk1"/>
              </a:solidFill>
              <a:latin typeface="Times New Roman"/>
              <a:ea typeface="Times New Roman"/>
              <a:cs typeface="Times New Roman"/>
              <a:sym typeface="Times New Roman"/>
            </a:endParaRPr>
          </a:p>
        </p:txBody>
      </p:sp>
      <p:sp>
        <p:nvSpPr>
          <p:cNvPr id="378" name="Google Shape;378;p2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2" name="Shape 382"/>
        <p:cNvGrpSpPr/>
        <p:nvPr/>
      </p:nvGrpSpPr>
      <p:grpSpPr>
        <a:xfrm>
          <a:off x="0" y="0"/>
          <a:ext cx="0" cy="0"/>
          <a:chOff x="0" y="0"/>
          <a:chExt cx="0" cy="0"/>
        </a:xfrm>
      </p:grpSpPr>
      <p:sp>
        <p:nvSpPr>
          <p:cNvPr id="383" name="Google Shape;383;p29"/>
          <p:cNvSpPr txBox="1"/>
          <p:nvPr>
            <p:ph type="title"/>
          </p:nvPr>
        </p:nvSpPr>
        <p:spPr>
          <a:xfrm>
            <a:off x="858418" y="496646"/>
            <a:ext cx="7429500" cy="635000"/>
          </a:xfrm>
          <a:prstGeom prst="rect">
            <a:avLst/>
          </a:prstGeom>
          <a:noFill/>
          <a:ln>
            <a:noFill/>
          </a:ln>
        </p:spPr>
        <p:txBody>
          <a:bodyPr anchorCtr="0" anchor="b" bIns="0" lIns="0" spcFirstLastPara="1" rIns="0" wrap="square" tIns="12050">
            <a:spAutoFit/>
          </a:bodyPr>
          <a:lstStyle/>
          <a:p>
            <a:pPr indent="0" lvl="0" marL="12700" rtl="0" algn="l">
              <a:lnSpc>
                <a:spcPct val="100000"/>
              </a:lnSpc>
              <a:spcBef>
                <a:spcPts val="0"/>
              </a:spcBef>
              <a:spcAft>
                <a:spcPts val="0"/>
              </a:spcAft>
              <a:buClr>
                <a:schemeClr val="dk2"/>
              </a:buClr>
              <a:buSzPts val="4000"/>
              <a:buFont typeface="Century Schoolbook"/>
              <a:buNone/>
            </a:pPr>
            <a:r>
              <a:rPr lang="en-US" sz="4000"/>
              <a:t>Structure of Von Neumann machine</a:t>
            </a:r>
            <a:endParaRPr sz="4000"/>
          </a:p>
        </p:txBody>
      </p:sp>
      <p:pic>
        <p:nvPicPr>
          <p:cNvPr id="384" name="Google Shape;384;p29"/>
          <p:cNvPicPr preferRelativeResize="0"/>
          <p:nvPr/>
        </p:nvPicPr>
        <p:blipFill rotWithShape="1">
          <a:blip r:embed="rId3">
            <a:alphaModFix/>
          </a:blip>
          <a:srcRect b="0" l="0" r="0" t="0"/>
          <a:stretch/>
        </p:blipFill>
        <p:spPr>
          <a:xfrm>
            <a:off x="918541" y="1236721"/>
            <a:ext cx="7230717" cy="5529621"/>
          </a:xfrm>
          <a:prstGeom prst="rect">
            <a:avLst/>
          </a:prstGeom>
          <a:noFill/>
          <a:ln>
            <a:noFill/>
          </a:ln>
        </p:spPr>
      </p:pic>
      <p:sp>
        <p:nvSpPr>
          <p:cNvPr id="385" name="Google Shape;385;p2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txBox="1"/>
          <p:nvPr>
            <p:ph type="title"/>
          </p:nvPr>
        </p:nvSpPr>
        <p:spPr>
          <a:xfrm>
            <a:off x="457200" y="274638"/>
            <a:ext cx="7467600" cy="4873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391" name="Google Shape;391;p30"/>
          <p:cNvSpPr txBox="1"/>
          <p:nvPr>
            <p:ph idx="1" type="body"/>
          </p:nvPr>
        </p:nvSpPr>
        <p:spPr>
          <a:xfrm>
            <a:off x="457200" y="914400"/>
            <a:ext cx="7467600" cy="55595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solidFill>
                  <a:srgbClr val="FF0000"/>
                </a:solidFill>
                <a:latin typeface="Times New Roman"/>
                <a:ea typeface="Times New Roman"/>
                <a:cs typeface="Times New Roman"/>
                <a:sym typeface="Times New Roman"/>
              </a:rPr>
              <a:t>CA</a:t>
            </a:r>
            <a:r>
              <a:rPr lang="en-US">
                <a:latin typeface="Times New Roman"/>
                <a:ea typeface="Times New Roman"/>
                <a:cs typeface="Times New Roman"/>
                <a:sym typeface="Times New Roman"/>
              </a:rPr>
              <a:t>-Central arithmetical part perform the elementary operations of </a:t>
            </a:r>
            <a:r>
              <a:rPr b="1" lang="en-US">
                <a:latin typeface="Times New Roman"/>
                <a:ea typeface="Times New Roman"/>
                <a:cs typeface="Times New Roman"/>
                <a:sym typeface="Times New Roman"/>
              </a:rPr>
              <a:t>arithmetic</a:t>
            </a:r>
            <a:r>
              <a:rPr lang="en-US">
                <a:latin typeface="Times New Roman"/>
                <a:ea typeface="Times New Roman"/>
                <a:cs typeface="Times New Roman"/>
                <a:sym typeface="Times New Roman"/>
              </a:rPr>
              <a:t> (Addition, Subtraction, Comparisons. It performs </a:t>
            </a:r>
            <a:r>
              <a:rPr b="1" lang="en-US">
                <a:latin typeface="Times New Roman"/>
                <a:ea typeface="Times New Roman"/>
                <a:cs typeface="Times New Roman"/>
                <a:sym typeface="Times New Roman"/>
              </a:rPr>
              <a:t>Logical</a:t>
            </a:r>
            <a:r>
              <a:rPr lang="en-US">
                <a:latin typeface="Times New Roman"/>
                <a:ea typeface="Times New Roman"/>
                <a:cs typeface="Times New Roman"/>
                <a:sym typeface="Times New Roman"/>
              </a:rPr>
              <a:t> Operations, Bit Shifting Operations, and Arithmetic operations. )</a:t>
            </a:r>
            <a:endParaRPr/>
          </a:p>
          <a:p>
            <a:pPr indent="-274320" lvl="0" marL="274320" rtl="0" algn="just">
              <a:spcBef>
                <a:spcPts val="600"/>
              </a:spcBef>
              <a:spcAft>
                <a:spcPts val="0"/>
              </a:spcAft>
              <a:buSzPts val="1680"/>
              <a:buChar char="🞆"/>
            </a:pPr>
            <a:r>
              <a:rPr lang="en-US">
                <a:solidFill>
                  <a:srgbClr val="FF0000"/>
                </a:solidFill>
                <a:latin typeface="Times New Roman"/>
                <a:ea typeface="Times New Roman"/>
                <a:cs typeface="Times New Roman"/>
                <a:sym typeface="Times New Roman"/>
              </a:rPr>
              <a:t>CC-</a:t>
            </a:r>
            <a:r>
              <a:rPr lang="en-US">
                <a:latin typeface="Times New Roman"/>
                <a:ea typeface="Times New Roman"/>
                <a:cs typeface="Times New Roman"/>
                <a:sym typeface="Times New Roman"/>
              </a:rPr>
              <a:t> Central control-proper </a:t>
            </a:r>
            <a:r>
              <a:rPr b="1" lang="en-US">
                <a:latin typeface="Times New Roman"/>
                <a:ea typeface="Times New Roman"/>
                <a:cs typeface="Times New Roman"/>
                <a:sym typeface="Times New Roman"/>
              </a:rPr>
              <a:t>sequencing of its operations/logical control of the device</a:t>
            </a:r>
            <a:endParaRPr/>
          </a:p>
          <a:p>
            <a:pPr indent="-274320" lvl="0" marL="274320" rtl="0" algn="just">
              <a:spcBef>
                <a:spcPts val="600"/>
              </a:spcBef>
              <a:spcAft>
                <a:spcPts val="0"/>
              </a:spcAft>
              <a:buSzPts val="1680"/>
              <a:buChar char="🞆"/>
            </a:pPr>
            <a:r>
              <a:rPr lang="en-US">
                <a:solidFill>
                  <a:srgbClr val="FF0000"/>
                </a:solidFill>
                <a:latin typeface="Times New Roman"/>
                <a:ea typeface="Times New Roman"/>
                <a:cs typeface="Times New Roman"/>
                <a:sym typeface="Times New Roman"/>
              </a:rPr>
              <a:t>M</a:t>
            </a:r>
            <a:r>
              <a:rPr lang="en-US">
                <a:latin typeface="Times New Roman"/>
                <a:ea typeface="Times New Roman"/>
                <a:cs typeface="Times New Roman"/>
                <a:sym typeface="Times New Roman"/>
              </a:rPr>
              <a:t>-Main memory-</a:t>
            </a:r>
            <a:r>
              <a:rPr b="1" lang="en-US">
                <a:latin typeface="Times New Roman"/>
                <a:ea typeface="Times New Roman"/>
                <a:cs typeface="Times New Roman"/>
                <a:sym typeface="Times New Roman"/>
              </a:rPr>
              <a:t>collection of storage cells </a:t>
            </a:r>
            <a:r>
              <a:rPr lang="en-US">
                <a:latin typeface="Times New Roman"/>
                <a:ea typeface="Times New Roman"/>
                <a:cs typeface="Times New Roman"/>
                <a:sym typeface="Times New Roman"/>
              </a:rPr>
              <a:t>together with associated circuits needed to transfer information in and out of the storage. The memory </a:t>
            </a:r>
            <a:r>
              <a:rPr b="1" lang="en-US">
                <a:latin typeface="Times New Roman"/>
                <a:ea typeface="Times New Roman"/>
                <a:cs typeface="Times New Roman"/>
                <a:sym typeface="Times New Roman"/>
              </a:rPr>
              <a:t>stores binary information </a:t>
            </a:r>
            <a:r>
              <a:rPr lang="en-US">
                <a:latin typeface="Times New Roman"/>
                <a:ea typeface="Times New Roman"/>
                <a:cs typeface="Times New Roman"/>
                <a:sym typeface="Times New Roman"/>
              </a:rPr>
              <a:t>in groups of bits called words.</a:t>
            </a:r>
            <a:endParaRPr/>
          </a:p>
          <a:p>
            <a:pPr indent="-274320" lvl="0" marL="274320" rtl="0" algn="just">
              <a:spcBef>
                <a:spcPts val="600"/>
              </a:spcBef>
              <a:spcAft>
                <a:spcPts val="0"/>
              </a:spcAft>
              <a:buSzPts val="1680"/>
              <a:buChar char="🞆"/>
            </a:pPr>
            <a:r>
              <a:rPr lang="en-US">
                <a:solidFill>
                  <a:srgbClr val="FF0000"/>
                </a:solidFill>
                <a:latin typeface="Times New Roman"/>
                <a:ea typeface="Times New Roman"/>
                <a:cs typeface="Times New Roman"/>
                <a:sym typeface="Times New Roman"/>
              </a:rPr>
              <a:t>I,O</a:t>
            </a:r>
            <a:r>
              <a:rPr lang="en-US">
                <a:latin typeface="Times New Roman"/>
                <a:ea typeface="Times New Roman"/>
                <a:cs typeface="Times New Roman"/>
                <a:sym typeface="Times New Roman"/>
              </a:rPr>
              <a:t>-capable of </a:t>
            </a:r>
            <a:r>
              <a:rPr b="1" lang="en-US">
                <a:latin typeface="Times New Roman"/>
                <a:ea typeface="Times New Roman"/>
                <a:cs typeface="Times New Roman"/>
                <a:sym typeface="Times New Roman"/>
              </a:rPr>
              <a:t>delivering data </a:t>
            </a:r>
            <a:r>
              <a:rPr lang="en-US">
                <a:latin typeface="Times New Roman"/>
                <a:ea typeface="Times New Roman"/>
                <a:cs typeface="Times New Roman"/>
                <a:sym typeface="Times New Roman"/>
              </a:rPr>
              <a:t>(output) to and </a:t>
            </a:r>
            <a:r>
              <a:rPr b="1" lang="en-US">
                <a:latin typeface="Times New Roman"/>
                <a:ea typeface="Times New Roman"/>
                <a:cs typeface="Times New Roman"/>
                <a:sym typeface="Times New Roman"/>
              </a:rPr>
              <a:t>receiving data</a:t>
            </a:r>
            <a:r>
              <a:rPr lang="en-US">
                <a:latin typeface="Times New Roman"/>
                <a:ea typeface="Times New Roman"/>
                <a:cs typeface="Times New Roman"/>
                <a:sym typeface="Times New Roman"/>
              </a:rPr>
              <a:t> from a computer (input)</a:t>
            </a:r>
            <a:endParaRPr>
              <a:latin typeface="Times New Roman"/>
              <a:ea typeface="Times New Roman"/>
              <a:cs typeface="Times New Roman"/>
              <a:sym typeface="Times New Roman"/>
            </a:endParaRPr>
          </a:p>
          <a:p>
            <a:pPr indent="-167640" lvl="0" marL="274320" rtl="0" algn="just">
              <a:spcBef>
                <a:spcPts val="600"/>
              </a:spcBef>
              <a:spcAft>
                <a:spcPts val="0"/>
              </a:spcAft>
              <a:buSzPts val="1680"/>
              <a:buNone/>
            </a:pPr>
            <a:r>
              <a:t/>
            </a:r>
            <a:endParaRPr>
              <a:latin typeface="Times New Roman"/>
              <a:ea typeface="Times New Roman"/>
              <a:cs typeface="Times New Roman"/>
              <a:sym typeface="Times New Roman"/>
            </a:endParaRPr>
          </a:p>
        </p:txBody>
      </p:sp>
      <p:sp>
        <p:nvSpPr>
          <p:cNvPr id="392" name="Google Shape;392;p3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6" name="Shape 396"/>
        <p:cNvGrpSpPr/>
        <p:nvPr/>
      </p:nvGrpSpPr>
      <p:grpSpPr>
        <a:xfrm>
          <a:off x="0" y="0"/>
          <a:ext cx="0" cy="0"/>
          <a:chOff x="0" y="0"/>
          <a:chExt cx="0" cy="0"/>
        </a:xfrm>
      </p:grpSpPr>
      <p:sp>
        <p:nvSpPr>
          <p:cNvPr id="397" name="Google Shape;397;p31"/>
          <p:cNvSpPr txBox="1"/>
          <p:nvPr>
            <p:ph type="title"/>
          </p:nvPr>
        </p:nvSpPr>
        <p:spPr>
          <a:xfrm>
            <a:off x="1887727" y="86995"/>
            <a:ext cx="5391785" cy="696595"/>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000"/>
              <a:buFont typeface="Century Schoolbook"/>
              <a:buNone/>
            </a:pPr>
            <a:r>
              <a:rPr lang="en-US"/>
              <a:t>Structure of IAS – detail</a:t>
            </a:r>
            <a:endParaRPr/>
          </a:p>
        </p:txBody>
      </p:sp>
      <p:pic>
        <p:nvPicPr>
          <p:cNvPr id="398" name="Google Shape;398;p31"/>
          <p:cNvPicPr preferRelativeResize="0"/>
          <p:nvPr/>
        </p:nvPicPr>
        <p:blipFill rotWithShape="1">
          <a:blip r:embed="rId3">
            <a:alphaModFix/>
          </a:blip>
          <a:srcRect b="0" l="0" r="0" t="0"/>
          <a:stretch/>
        </p:blipFill>
        <p:spPr>
          <a:xfrm>
            <a:off x="755530" y="926238"/>
            <a:ext cx="8155373" cy="5482135"/>
          </a:xfrm>
          <a:prstGeom prst="rect">
            <a:avLst/>
          </a:prstGeom>
          <a:noFill/>
          <a:ln>
            <a:noFill/>
          </a:ln>
        </p:spPr>
      </p:pic>
      <p:sp>
        <p:nvSpPr>
          <p:cNvPr id="399" name="Google Shape;399;p3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2"/>
          <p:cNvSpPr txBox="1"/>
          <p:nvPr>
            <p:ph type="title"/>
          </p:nvPr>
        </p:nvSpPr>
        <p:spPr>
          <a:xfrm>
            <a:off x="457200" y="274638"/>
            <a:ext cx="7467600" cy="3349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405" name="Google Shape;405;p32"/>
          <p:cNvSpPr txBox="1"/>
          <p:nvPr>
            <p:ph idx="1" type="body"/>
          </p:nvPr>
        </p:nvSpPr>
        <p:spPr>
          <a:xfrm>
            <a:off x="457200" y="838200"/>
            <a:ext cx="7848600" cy="5635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400"/>
              <a:buChar char="🞆"/>
            </a:pPr>
            <a:r>
              <a:rPr lang="en-US" sz="2000">
                <a:latin typeface="Times New Roman"/>
                <a:ea typeface="Times New Roman"/>
                <a:cs typeface="Times New Roman"/>
                <a:sym typeface="Times New Roman"/>
              </a:rPr>
              <a:t>Both the control unit and the ALU contain storage locations, called </a:t>
            </a:r>
            <a:r>
              <a:rPr i="1" lang="en-US" sz="2000">
                <a:latin typeface="Times New Roman"/>
                <a:ea typeface="Times New Roman"/>
                <a:cs typeface="Times New Roman"/>
                <a:sym typeface="Times New Roman"/>
              </a:rPr>
              <a:t>registers</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Memory buffer register (MBR): </a:t>
            </a:r>
            <a:r>
              <a:rPr lang="en-US" sz="2000">
                <a:latin typeface="Times New Roman"/>
                <a:ea typeface="Times New Roman"/>
                <a:cs typeface="Times New Roman"/>
                <a:sym typeface="Times New Roman"/>
              </a:rPr>
              <a:t>Contains a </a:t>
            </a:r>
            <a:r>
              <a:rPr lang="en-US" sz="2000">
                <a:solidFill>
                  <a:srgbClr val="FF0000"/>
                </a:solidFill>
                <a:latin typeface="Times New Roman"/>
                <a:ea typeface="Times New Roman"/>
                <a:cs typeface="Times New Roman"/>
                <a:sym typeface="Times New Roman"/>
              </a:rPr>
              <a:t>word to be stored in memory or sent to the I/O unit</a:t>
            </a:r>
            <a:r>
              <a:rPr lang="en-US" sz="2000">
                <a:latin typeface="Times New Roman"/>
                <a:ea typeface="Times New Roman"/>
                <a:cs typeface="Times New Roman"/>
                <a:sym typeface="Times New Roman"/>
              </a:rPr>
              <a:t>, or is used to </a:t>
            </a:r>
            <a:r>
              <a:rPr lang="en-US" sz="2000">
                <a:solidFill>
                  <a:srgbClr val="FF0000"/>
                </a:solidFill>
                <a:latin typeface="Times New Roman"/>
                <a:ea typeface="Times New Roman"/>
                <a:cs typeface="Times New Roman"/>
                <a:sym typeface="Times New Roman"/>
              </a:rPr>
              <a:t>receive a word from memory or from theI/O unit.</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Memory address register (MAR): </a:t>
            </a:r>
            <a:r>
              <a:rPr lang="en-US" sz="2000">
                <a:latin typeface="Times New Roman"/>
                <a:ea typeface="Times New Roman"/>
                <a:cs typeface="Times New Roman"/>
                <a:sym typeface="Times New Roman"/>
              </a:rPr>
              <a:t>Specifies </a:t>
            </a:r>
            <a:r>
              <a:rPr lang="en-US" sz="2000">
                <a:solidFill>
                  <a:srgbClr val="FF0000"/>
                </a:solidFill>
                <a:latin typeface="Times New Roman"/>
                <a:ea typeface="Times New Roman"/>
                <a:cs typeface="Times New Roman"/>
                <a:sym typeface="Times New Roman"/>
              </a:rPr>
              <a:t>the address in memory of the word to be written from or read into the MBR</a:t>
            </a:r>
            <a:r>
              <a:rPr lang="en-US" sz="2000">
                <a:latin typeface="Times New Roman"/>
                <a:ea typeface="Times New Roman"/>
                <a:cs typeface="Times New Roman"/>
                <a:sym typeface="Times New Roman"/>
              </a:rPr>
              <a:t>.</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Instruction register (IR): </a:t>
            </a:r>
            <a:r>
              <a:rPr lang="en-US" sz="2000">
                <a:latin typeface="Times New Roman"/>
                <a:ea typeface="Times New Roman"/>
                <a:cs typeface="Times New Roman"/>
                <a:sym typeface="Times New Roman"/>
              </a:rPr>
              <a:t>Contains the 8-bit opcode (identifies which basic computer operation in the instruction set is to be performed.) </a:t>
            </a:r>
            <a:r>
              <a:rPr lang="en-US" sz="2000">
                <a:solidFill>
                  <a:srgbClr val="FF0000"/>
                </a:solidFill>
                <a:latin typeface="Times New Roman"/>
                <a:ea typeface="Times New Roman"/>
                <a:cs typeface="Times New Roman"/>
                <a:sym typeface="Times New Roman"/>
              </a:rPr>
              <a:t>instruction being executed.</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Instruction buffer register (IBR): </a:t>
            </a:r>
            <a:r>
              <a:rPr lang="en-US" sz="2000">
                <a:latin typeface="Times New Roman"/>
                <a:ea typeface="Times New Roman"/>
                <a:cs typeface="Times New Roman"/>
                <a:sym typeface="Times New Roman"/>
              </a:rPr>
              <a:t>Employed to </a:t>
            </a:r>
            <a:r>
              <a:rPr lang="en-US" sz="2000">
                <a:solidFill>
                  <a:srgbClr val="FF0000"/>
                </a:solidFill>
                <a:latin typeface="Times New Roman"/>
                <a:ea typeface="Times New Roman"/>
                <a:cs typeface="Times New Roman"/>
                <a:sym typeface="Times New Roman"/>
              </a:rPr>
              <a:t>hold temporarily </a:t>
            </a:r>
            <a:r>
              <a:rPr lang="en-US" sz="2000">
                <a:latin typeface="Times New Roman"/>
                <a:ea typeface="Times New Roman"/>
                <a:cs typeface="Times New Roman"/>
                <a:sym typeface="Times New Roman"/>
              </a:rPr>
              <a:t>the right hand instruction from a word in memory.</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Program counter (PC): </a:t>
            </a:r>
            <a:r>
              <a:rPr lang="en-US" sz="2000">
                <a:latin typeface="Times New Roman"/>
                <a:ea typeface="Times New Roman"/>
                <a:cs typeface="Times New Roman"/>
                <a:sym typeface="Times New Roman"/>
              </a:rPr>
              <a:t>Contains the </a:t>
            </a:r>
            <a:r>
              <a:rPr lang="en-US" sz="2000">
                <a:solidFill>
                  <a:srgbClr val="FF0000"/>
                </a:solidFill>
                <a:latin typeface="Times New Roman"/>
                <a:ea typeface="Times New Roman"/>
                <a:cs typeface="Times New Roman"/>
                <a:sym typeface="Times New Roman"/>
              </a:rPr>
              <a:t>address of the next instruction-pair to be fetched from memory.</a:t>
            </a:r>
            <a:endParaRPr/>
          </a:p>
          <a:p>
            <a:pPr indent="-274320" lvl="0" marL="274320" rtl="0" algn="just">
              <a:spcBef>
                <a:spcPts val="600"/>
              </a:spcBef>
              <a:spcAft>
                <a:spcPts val="0"/>
              </a:spcAft>
              <a:buSzPts val="1400"/>
              <a:buChar char="🞆"/>
            </a:pPr>
            <a:r>
              <a:rPr b="1" lang="en-US" sz="2000">
                <a:latin typeface="Times New Roman"/>
                <a:ea typeface="Times New Roman"/>
                <a:cs typeface="Times New Roman"/>
                <a:sym typeface="Times New Roman"/>
              </a:rPr>
              <a:t>Accumulator (AC) and multiplier quotient (MQ): </a:t>
            </a:r>
            <a:r>
              <a:rPr lang="en-US" sz="2000">
                <a:latin typeface="Times New Roman"/>
                <a:ea typeface="Times New Roman"/>
                <a:cs typeface="Times New Roman"/>
                <a:sym typeface="Times New Roman"/>
              </a:rPr>
              <a:t>Employed to </a:t>
            </a:r>
            <a:r>
              <a:rPr lang="en-US" sz="2000">
                <a:solidFill>
                  <a:srgbClr val="FF0000"/>
                </a:solidFill>
                <a:latin typeface="Times New Roman"/>
                <a:ea typeface="Times New Roman"/>
                <a:cs typeface="Times New Roman"/>
                <a:sym typeface="Times New Roman"/>
              </a:rPr>
              <a:t>hold temporarily operands and results of ALU operations</a:t>
            </a:r>
            <a:endParaRPr sz="2000">
              <a:solidFill>
                <a:srgbClr val="FF0000"/>
              </a:solidFill>
              <a:latin typeface="Times New Roman"/>
              <a:ea typeface="Times New Roman"/>
              <a:cs typeface="Times New Roman"/>
              <a:sym typeface="Times New Roman"/>
            </a:endParaRPr>
          </a:p>
        </p:txBody>
      </p:sp>
      <p:sp>
        <p:nvSpPr>
          <p:cNvPr id="406" name="Google Shape;406;p3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0" name="Shape 410"/>
        <p:cNvGrpSpPr/>
        <p:nvPr/>
      </p:nvGrpSpPr>
      <p:grpSpPr>
        <a:xfrm>
          <a:off x="0" y="0"/>
          <a:ext cx="0" cy="0"/>
          <a:chOff x="0" y="0"/>
          <a:chExt cx="0" cy="0"/>
        </a:xfrm>
      </p:grpSpPr>
      <p:sp>
        <p:nvSpPr>
          <p:cNvPr id="411" name="Google Shape;411;p33"/>
          <p:cNvSpPr txBox="1"/>
          <p:nvPr>
            <p:ph type="title"/>
          </p:nvPr>
        </p:nvSpPr>
        <p:spPr>
          <a:xfrm>
            <a:off x="1608836" y="86995"/>
            <a:ext cx="5799455" cy="696595"/>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000"/>
              <a:buFont typeface="Century Schoolbook"/>
              <a:buNone/>
            </a:pPr>
            <a:r>
              <a:rPr lang="en-US"/>
              <a:t>Generations of Computer</a:t>
            </a:r>
            <a:endParaRPr/>
          </a:p>
        </p:txBody>
      </p:sp>
      <p:sp>
        <p:nvSpPr>
          <p:cNvPr id="412" name="Google Shape;412;p33"/>
          <p:cNvSpPr txBox="1"/>
          <p:nvPr/>
        </p:nvSpPr>
        <p:spPr>
          <a:xfrm>
            <a:off x="72339" y="761135"/>
            <a:ext cx="8158480" cy="5574665"/>
          </a:xfrm>
          <a:prstGeom prst="rect">
            <a:avLst/>
          </a:prstGeom>
          <a:noFill/>
          <a:ln>
            <a:noFill/>
          </a:ln>
        </p:spPr>
        <p:txBody>
          <a:bodyPr anchorCtr="0" anchor="t" bIns="0" lIns="0" spcFirstLastPara="1" rIns="0" wrap="square" tIns="55225">
            <a:spAutoFit/>
          </a:bodyPr>
          <a:lstStyle/>
          <a:p>
            <a:pPr indent="-342900" lvl="0" marL="355600" marR="0" rtl="0" algn="l">
              <a:lnSpc>
                <a:spcPct val="100000"/>
              </a:lnSpc>
              <a:spcBef>
                <a:spcPts val="0"/>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Vacuum tube </a:t>
            </a:r>
            <a:r>
              <a:rPr lang="en-US" sz="2800">
                <a:solidFill>
                  <a:schemeClr val="dk1"/>
                </a:solidFill>
                <a:latin typeface="Calibri"/>
                <a:ea typeface="Calibri"/>
                <a:cs typeface="Calibri"/>
                <a:sym typeface="Calibri"/>
              </a:rPr>
              <a:t>- 1946-1957</a:t>
            </a:r>
            <a:endParaRPr sz="2800">
              <a:solidFill>
                <a:schemeClr val="dk1"/>
              </a:solidFill>
              <a:latin typeface="Calibri"/>
              <a:ea typeface="Calibri"/>
              <a:cs typeface="Calibri"/>
              <a:sym typeface="Calibri"/>
            </a:endParaRPr>
          </a:p>
          <a:p>
            <a:pPr indent="-342900" lvl="0" marL="355600" marR="0" rtl="0" algn="l">
              <a:lnSpc>
                <a:spcPct val="100000"/>
              </a:lnSpc>
              <a:spcBef>
                <a:spcPts val="335"/>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Transistor </a:t>
            </a:r>
            <a:r>
              <a:rPr lang="en-US" sz="2800">
                <a:solidFill>
                  <a:schemeClr val="dk1"/>
                </a:solidFill>
                <a:latin typeface="Calibri"/>
                <a:ea typeface="Calibri"/>
                <a:cs typeface="Calibri"/>
                <a:sym typeface="Calibri"/>
              </a:rPr>
              <a:t>- 1958-1964</a:t>
            </a:r>
            <a:endParaRPr sz="2800">
              <a:solidFill>
                <a:schemeClr val="dk1"/>
              </a:solidFill>
              <a:latin typeface="Calibri"/>
              <a:ea typeface="Calibri"/>
              <a:cs typeface="Calibri"/>
              <a:sym typeface="Calibri"/>
            </a:endParaRPr>
          </a:p>
          <a:p>
            <a:pPr indent="-342900" lvl="0" marL="355600" marR="0" rtl="0" algn="l">
              <a:lnSpc>
                <a:spcPct val="100000"/>
              </a:lnSpc>
              <a:spcBef>
                <a:spcPts val="335"/>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Small scale integration </a:t>
            </a:r>
            <a:r>
              <a:rPr lang="en-US" sz="2800">
                <a:solidFill>
                  <a:schemeClr val="dk1"/>
                </a:solidFill>
                <a:latin typeface="Calibri"/>
                <a:ea typeface="Calibri"/>
                <a:cs typeface="Calibri"/>
                <a:sym typeface="Calibri"/>
              </a:rPr>
              <a:t>- 1965</a:t>
            </a:r>
            <a:endParaRPr sz="2800">
              <a:solidFill>
                <a:schemeClr val="dk1"/>
              </a:solidFill>
              <a:latin typeface="Calibri"/>
              <a:ea typeface="Calibri"/>
              <a:cs typeface="Calibri"/>
              <a:sym typeface="Calibri"/>
            </a:endParaRPr>
          </a:p>
          <a:p>
            <a:pPr indent="-287019" lvl="1" marL="756285" marR="0" rtl="0" algn="l">
              <a:lnSpc>
                <a:spcPct val="100000"/>
              </a:lnSpc>
              <a:spcBef>
                <a:spcPts val="34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Up to 100 devices on a chip</a:t>
            </a:r>
            <a:endParaRPr b="0" i="0" sz="2800" u="none" cap="none" strike="noStrike">
              <a:solidFill>
                <a:schemeClr val="dk1"/>
              </a:solidFill>
              <a:latin typeface="Calibri"/>
              <a:ea typeface="Calibri"/>
              <a:cs typeface="Calibri"/>
              <a:sym typeface="Calibri"/>
            </a:endParaRPr>
          </a:p>
          <a:p>
            <a:pPr indent="-342900" lvl="0" marL="355600" marR="0" rtl="0" algn="l">
              <a:lnSpc>
                <a:spcPct val="100000"/>
              </a:lnSpc>
              <a:spcBef>
                <a:spcPts val="335"/>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Medium scale integration </a:t>
            </a:r>
            <a:r>
              <a:rPr lang="en-US" sz="2800">
                <a:solidFill>
                  <a:schemeClr val="dk1"/>
                </a:solidFill>
                <a:latin typeface="Calibri"/>
                <a:ea typeface="Calibri"/>
                <a:cs typeface="Calibri"/>
                <a:sym typeface="Calibri"/>
              </a:rPr>
              <a:t>- to 1971</a:t>
            </a:r>
            <a:endParaRPr sz="2800">
              <a:solidFill>
                <a:schemeClr val="dk1"/>
              </a:solidFill>
              <a:latin typeface="Calibri"/>
              <a:ea typeface="Calibri"/>
              <a:cs typeface="Calibri"/>
              <a:sym typeface="Calibri"/>
            </a:endParaRPr>
          </a:p>
          <a:p>
            <a:pPr indent="-287019" lvl="1" marL="756285" marR="0" rtl="0" algn="l">
              <a:lnSpc>
                <a:spcPct val="100000"/>
              </a:lnSpc>
              <a:spcBef>
                <a:spcPts val="34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100-3,000 devices on a chip</a:t>
            </a:r>
            <a:endParaRPr b="0" i="0" sz="2800" u="none" cap="none" strike="noStrike">
              <a:solidFill>
                <a:schemeClr val="dk1"/>
              </a:solidFill>
              <a:latin typeface="Calibri"/>
              <a:ea typeface="Calibri"/>
              <a:cs typeface="Calibri"/>
              <a:sym typeface="Calibri"/>
            </a:endParaRPr>
          </a:p>
          <a:p>
            <a:pPr indent="-342900" lvl="0" marL="355600" marR="0" rtl="0" algn="l">
              <a:lnSpc>
                <a:spcPct val="100000"/>
              </a:lnSpc>
              <a:spcBef>
                <a:spcPts val="335"/>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Large scale integration </a:t>
            </a:r>
            <a:r>
              <a:rPr lang="en-US" sz="2800">
                <a:solidFill>
                  <a:schemeClr val="dk1"/>
                </a:solidFill>
                <a:latin typeface="Calibri"/>
                <a:ea typeface="Calibri"/>
                <a:cs typeface="Calibri"/>
                <a:sym typeface="Calibri"/>
              </a:rPr>
              <a:t>- 1971-1977</a:t>
            </a:r>
            <a:endParaRPr sz="2800">
              <a:solidFill>
                <a:schemeClr val="dk1"/>
              </a:solidFill>
              <a:latin typeface="Calibri"/>
              <a:ea typeface="Calibri"/>
              <a:cs typeface="Calibri"/>
              <a:sym typeface="Calibri"/>
            </a:endParaRPr>
          </a:p>
          <a:p>
            <a:pPr indent="-287019" lvl="1" marL="756285" marR="0" rtl="0" algn="l">
              <a:lnSpc>
                <a:spcPct val="100000"/>
              </a:lnSpc>
              <a:spcBef>
                <a:spcPts val="335"/>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3,000 - 100,000 devices on a chip</a:t>
            </a:r>
            <a:endParaRPr b="0" i="0" sz="2800" u="none" cap="none" strike="noStrike">
              <a:solidFill>
                <a:schemeClr val="dk1"/>
              </a:solidFill>
              <a:latin typeface="Calibri"/>
              <a:ea typeface="Calibri"/>
              <a:cs typeface="Calibri"/>
              <a:sym typeface="Calibri"/>
            </a:endParaRPr>
          </a:p>
          <a:p>
            <a:pPr indent="-342900" lvl="0" marL="355600" marR="0" rtl="0" algn="l">
              <a:lnSpc>
                <a:spcPct val="100000"/>
              </a:lnSpc>
              <a:spcBef>
                <a:spcPts val="340"/>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Very large scale integration </a:t>
            </a:r>
            <a:r>
              <a:rPr lang="en-US" sz="2800">
                <a:solidFill>
                  <a:schemeClr val="dk1"/>
                </a:solidFill>
                <a:latin typeface="Calibri"/>
                <a:ea typeface="Calibri"/>
                <a:cs typeface="Calibri"/>
                <a:sym typeface="Calibri"/>
              </a:rPr>
              <a:t>- 1978 -1991</a:t>
            </a:r>
            <a:endParaRPr sz="2800">
              <a:solidFill>
                <a:schemeClr val="dk1"/>
              </a:solidFill>
              <a:latin typeface="Calibri"/>
              <a:ea typeface="Calibri"/>
              <a:cs typeface="Calibri"/>
              <a:sym typeface="Calibri"/>
            </a:endParaRPr>
          </a:p>
          <a:p>
            <a:pPr indent="0" lvl="0" marL="469900" marR="0" rtl="0" algn="l">
              <a:lnSpc>
                <a:spcPct val="100000"/>
              </a:lnSpc>
              <a:spcBef>
                <a:spcPts val="335"/>
              </a:spcBef>
              <a:spcAft>
                <a:spcPts val="0"/>
              </a:spcAft>
              <a:buNone/>
            </a:pPr>
            <a:r>
              <a:rPr lang="en-US" sz="2800">
                <a:solidFill>
                  <a:schemeClr val="dk1"/>
                </a:solidFill>
                <a:latin typeface="Arial"/>
                <a:ea typeface="Arial"/>
                <a:cs typeface="Arial"/>
                <a:sym typeface="Arial"/>
              </a:rPr>
              <a:t>– </a:t>
            </a:r>
            <a:r>
              <a:rPr lang="en-US" sz="2800">
                <a:solidFill>
                  <a:schemeClr val="dk1"/>
                </a:solidFill>
                <a:latin typeface="Calibri"/>
                <a:ea typeface="Calibri"/>
                <a:cs typeface="Calibri"/>
                <a:sym typeface="Calibri"/>
              </a:rPr>
              <a:t>100,000 - 100,000,000 devices on a chip</a:t>
            </a:r>
            <a:endParaRPr sz="2800">
              <a:solidFill>
                <a:schemeClr val="dk1"/>
              </a:solidFill>
              <a:latin typeface="Calibri"/>
              <a:ea typeface="Calibri"/>
              <a:cs typeface="Calibri"/>
              <a:sym typeface="Calibri"/>
            </a:endParaRPr>
          </a:p>
          <a:p>
            <a:pPr indent="-342900" lvl="0" marL="355600" marR="5080" rtl="0" algn="l">
              <a:lnSpc>
                <a:spcPct val="108214"/>
              </a:lnSpc>
              <a:spcBef>
                <a:spcPts val="715"/>
              </a:spcBef>
              <a:spcAft>
                <a:spcPts val="0"/>
              </a:spcAft>
              <a:buClr>
                <a:srgbClr val="FF0000"/>
              </a:buClr>
              <a:buSzPts val="2800"/>
              <a:buFont typeface="Arial"/>
              <a:buChar char="•"/>
            </a:pPr>
            <a:r>
              <a:rPr lang="en-US" sz="2800">
                <a:solidFill>
                  <a:srgbClr val="FF0000"/>
                </a:solidFill>
                <a:latin typeface="Calibri"/>
                <a:ea typeface="Calibri"/>
                <a:cs typeface="Calibri"/>
                <a:sym typeface="Calibri"/>
              </a:rPr>
              <a:t>Ultra large scale integration </a:t>
            </a:r>
            <a:r>
              <a:rPr lang="en-US" sz="2800">
                <a:solidFill>
                  <a:schemeClr val="dk1"/>
                </a:solidFill>
                <a:latin typeface="Calibri"/>
                <a:ea typeface="Calibri"/>
                <a:cs typeface="Calibri"/>
                <a:sym typeface="Calibri"/>
              </a:rPr>
              <a:t>– 1991 -Over 100,000,000  devices on a chip</a:t>
            </a:r>
            <a:endParaRPr sz="2800">
              <a:solidFill>
                <a:schemeClr val="dk1"/>
              </a:solidFill>
              <a:latin typeface="Calibri"/>
              <a:ea typeface="Calibri"/>
              <a:cs typeface="Calibri"/>
              <a:sym typeface="Calibri"/>
            </a:endParaRPr>
          </a:p>
        </p:txBody>
      </p:sp>
      <p:pic>
        <p:nvPicPr>
          <p:cNvPr id="413" name="Google Shape;413;p33"/>
          <p:cNvPicPr preferRelativeResize="0"/>
          <p:nvPr/>
        </p:nvPicPr>
        <p:blipFill rotWithShape="1">
          <a:blip r:embed="rId3">
            <a:alphaModFix/>
          </a:blip>
          <a:srcRect b="0" l="0" r="0" t="0"/>
          <a:stretch/>
        </p:blipFill>
        <p:spPr>
          <a:xfrm>
            <a:off x="5724525" y="428498"/>
            <a:ext cx="3419475" cy="2154301"/>
          </a:xfrm>
          <a:prstGeom prst="rect">
            <a:avLst/>
          </a:prstGeom>
          <a:noFill/>
          <a:ln>
            <a:noFill/>
          </a:ln>
        </p:spPr>
      </p:pic>
      <p:pic>
        <p:nvPicPr>
          <p:cNvPr id="414" name="Google Shape;414;p33"/>
          <p:cNvPicPr preferRelativeResize="0"/>
          <p:nvPr/>
        </p:nvPicPr>
        <p:blipFill rotWithShape="1">
          <a:blip r:embed="rId4">
            <a:alphaModFix/>
          </a:blip>
          <a:srcRect b="0" l="0" r="0" t="0"/>
          <a:stretch/>
        </p:blipFill>
        <p:spPr>
          <a:xfrm>
            <a:off x="6003925" y="3068573"/>
            <a:ext cx="3140075" cy="1574800"/>
          </a:xfrm>
          <a:prstGeom prst="rect">
            <a:avLst/>
          </a:prstGeom>
          <a:noFill/>
          <a:ln>
            <a:noFill/>
          </a:ln>
        </p:spPr>
      </p:pic>
      <p:sp>
        <p:nvSpPr>
          <p:cNvPr id="415" name="Google Shape;415;p3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9" name="Shape 419"/>
        <p:cNvGrpSpPr/>
        <p:nvPr/>
      </p:nvGrpSpPr>
      <p:grpSpPr>
        <a:xfrm>
          <a:off x="0" y="0"/>
          <a:ext cx="0" cy="0"/>
          <a:chOff x="0" y="0"/>
          <a:chExt cx="0" cy="0"/>
        </a:xfrm>
      </p:grpSpPr>
      <p:pic>
        <p:nvPicPr>
          <p:cNvPr id="420" name="Google Shape;420;p35"/>
          <p:cNvPicPr preferRelativeResize="0"/>
          <p:nvPr/>
        </p:nvPicPr>
        <p:blipFill rotWithShape="1">
          <a:blip r:embed="rId3">
            <a:alphaModFix/>
          </a:blip>
          <a:srcRect b="0" l="0" r="0" t="0"/>
          <a:stretch/>
        </p:blipFill>
        <p:spPr>
          <a:xfrm>
            <a:off x="0" y="692086"/>
            <a:ext cx="9144000" cy="5402326"/>
          </a:xfrm>
          <a:prstGeom prst="rect">
            <a:avLst/>
          </a:prstGeom>
          <a:noFill/>
          <a:ln>
            <a:noFill/>
          </a:ln>
        </p:spPr>
      </p:pic>
      <p:sp>
        <p:nvSpPr>
          <p:cNvPr id="421" name="Google Shape;421;p3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5" name="Shape 425"/>
        <p:cNvGrpSpPr/>
        <p:nvPr/>
      </p:nvGrpSpPr>
      <p:grpSpPr>
        <a:xfrm>
          <a:off x="0" y="0"/>
          <a:ext cx="0" cy="0"/>
          <a:chOff x="0" y="0"/>
          <a:chExt cx="0" cy="0"/>
        </a:xfrm>
      </p:grpSpPr>
      <p:pic>
        <p:nvPicPr>
          <p:cNvPr id="426" name="Google Shape;426;p36"/>
          <p:cNvPicPr preferRelativeResize="0"/>
          <p:nvPr/>
        </p:nvPicPr>
        <p:blipFill rotWithShape="1">
          <a:blip r:embed="rId3">
            <a:alphaModFix/>
          </a:blip>
          <a:srcRect b="0" l="0" r="0" t="0"/>
          <a:stretch/>
        </p:blipFill>
        <p:spPr>
          <a:xfrm>
            <a:off x="489753" y="788939"/>
            <a:ext cx="7995396" cy="5087184"/>
          </a:xfrm>
          <a:prstGeom prst="rect">
            <a:avLst/>
          </a:prstGeom>
          <a:noFill/>
          <a:ln>
            <a:noFill/>
          </a:ln>
        </p:spPr>
      </p:pic>
      <p:sp>
        <p:nvSpPr>
          <p:cNvPr id="427" name="Google Shape;427;p3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1" name="Shape 431"/>
        <p:cNvGrpSpPr/>
        <p:nvPr/>
      </p:nvGrpSpPr>
      <p:grpSpPr>
        <a:xfrm>
          <a:off x="0" y="0"/>
          <a:ext cx="0" cy="0"/>
          <a:chOff x="0" y="0"/>
          <a:chExt cx="0" cy="0"/>
        </a:xfrm>
      </p:grpSpPr>
      <p:sp>
        <p:nvSpPr>
          <p:cNvPr id="432" name="Google Shape;432;p37"/>
          <p:cNvSpPr txBox="1"/>
          <p:nvPr>
            <p:ph type="title"/>
          </p:nvPr>
        </p:nvSpPr>
        <p:spPr>
          <a:xfrm>
            <a:off x="2590800" y="304800"/>
            <a:ext cx="3961636" cy="4751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What is a Bus?</a:t>
            </a:r>
            <a:endParaRPr/>
          </a:p>
        </p:txBody>
      </p:sp>
      <p:sp>
        <p:nvSpPr>
          <p:cNvPr id="433" name="Google Shape;433;p37"/>
          <p:cNvSpPr txBox="1"/>
          <p:nvPr/>
        </p:nvSpPr>
        <p:spPr>
          <a:xfrm>
            <a:off x="258266" y="990790"/>
            <a:ext cx="5704205" cy="5555367"/>
          </a:xfrm>
          <a:prstGeom prst="rect">
            <a:avLst/>
          </a:prstGeom>
          <a:noFill/>
          <a:ln>
            <a:noFill/>
          </a:ln>
        </p:spPr>
        <p:txBody>
          <a:bodyPr anchorCtr="0" anchor="t" bIns="0" lIns="0" spcFirstLastPara="1" rIns="0" wrap="square" tIns="12700">
            <a:spAutoFit/>
          </a:bodyPr>
          <a:lstStyle/>
          <a:p>
            <a:pPr indent="-342900" lvl="0" marL="355600" marR="128904" rtl="0" algn="l">
              <a:lnSpc>
                <a:spcPct val="1301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 </a:t>
            </a:r>
            <a:r>
              <a:rPr b="1" lang="en-US" sz="2000">
                <a:solidFill>
                  <a:schemeClr val="dk1"/>
                </a:solidFill>
                <a:latin typeface="Times New Roman"/>
                <a:ea typeface="Times New Roman"/>
                <a:cs typeface="Times New Roman"/>
                <a:sym typeface="Times New Roman"/>
              </a:rPr>
              <a:t>communication pathway </a:t>
            </a:r>
            <a:r>
              <a:rPr lang="en-US" sz="2000">
                <a:solidFill>
                  <a:schemeClr val="dk1"/>
                </a:solidFill>
                <a:latin typeface="Times New Roman"/>
                <a:ea typeface="Times New Roman"/>
                <a:cs typeface="Times New Roman"/>
                <a:sym typeface="Times New Roman"/>
              </a:rPr>
              <a:t>connecting two or  more devices</a:t>
            </a:r>
            <a:endParaRPr sz="2000">
              <a:solidFill>
                <a:schemeClr val="dk1"/>
              </a:solidFill>
              <a:latin typeface="Times New Roman"/>
              <a:ea typeface="Times New Roman"/>
              <a:cs typeface="Times New Roman"/>
              <a:sym typeface="Times New Roman"/>
            </a:endParaRPr>
          </a:p>
          <a:p>
            <a:pPr indent="-342900" lvl="0" marL="355600" marR="341630" rtl="0" algn="l">
              <a:lnSpc>
                <a:spcPct val="130000"/>
              </a:lnSpc>
              <a:spcBef>
                <a:spcPts val="525"/>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Data connection </a:t>
            </a:r>
            <a:r>
              <a:rPr lang="en-US" sz="2000">
                <a:solidFill>
                  <a:schemeClr val="dk1"/>
                </a:solidFill>
                <a:latin typeface="Times New Roman"/>
                <a:ea typeface="Times New Roman"/>
                <a:cs typeface="Times New Roman"/>
                <a:sym typeface="Times New Roman"/>
              </a:rPr>
              <a:t>between 2 or more devices  connected to the computer</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32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Usually </a:t>
            </a:r>
            <a:r>
              <a:rPr b="1" lang="en-US" sz="2000">
                <a:solidFill>
                  <a:schemeClr val="dk1"/>
                </a:solidFill>
                <a:latin typeface="Times New Roman"/>
                <a:ea typeface="Times New Roman"/>
                <a:cs typeface="Times New Roman"/>
                <a:sym typeface="Times New Roman"/>
              </a:rPr>
              <a:t>broadcast </a:t>
            </a:r>
            <a:r>
              <a:rPr lang="en-US" sz="2000">
                <a:solidFill>
                  <a:schemeClr val="dk1"/>
                </a:solidFill>
                <a:latin typeface="Times New Roman"/>
                <a:ea typeface="Times New Roman"/>
                <a:cs typeface="Times New Roman"/>
                <a:sym typeface="Times New Roman"/>
              </a:rPr>
              <a:t>,Often grouped</a:t>
            </a:r>
            <a:endParaRPr sz="2000">
              <a:solidFill>
                <a:schemeClr val="dk1"/>
              </a:solidFill>
              <a:latin typeface="Times New Roman"/>
              <a:ea typeface="Times New Roman"/>
              <a:cs typeface="Times New Roman"/>
              <a:sym typeface="Times New Roman"/>
            </a:endParaRPr>
          </a:p>
          <a:p>
            <a:pPr indent="-287019" lvl="1" marL="756285" marR="5080" rtl="0" algn="l">
              <a:lnSpc>
                <a:spcPct val="130000"/>
              </a:lnSpc>
              <a:spcBef>
                <a:spcPts val="509"/>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For Ex: A bus </a:t>
            </a:r>
            <a:r>
              <a:rPr b="0" i="0" lang="en-US" sz="2000" u="none" cap="none" strike="noStrike">
                <a:solidFill>
                  <a:srgbClr val="FF0000"/>
                </a:solidFill>
                <a:latin typeface="Times New Roman"/>
                <a:ea typeface="Times New Roman"/>
                <a:cs typeface="Times New Roman"/>
                <a:sym typeface="Times New Roman"/>
              </a:rPr>
              <a:t>enables a computer processor to  communicate with the memory </a:t>
            </a:r>
            <a:r>
              <a:rPr b="0" i="0" lang="en-US" sz="2000" u="none" cap="none" strike="noStrike">
                <a:solidFill>
                  <a:schemeClr val="dk1"/>
                </a:solidFill>
                <a:latin typeface="Times New Roman"/>
                <a:ea typeface="Times New Roman"/>
                <a:cs typeface="Times New Roman"/>
                <a:sym typeface="Times New Roman"/>
              </a:rPr>
              <a:t>or video card to  communicate with the memory</a:t>
            </a:r>
            <a:endParaRPr b="0" i="0" sz="2000" u="none" cap="none" strike="noStrike">
              <a:solidFill>
                <a:schemeClr val="dk1"/>
              </a:solidFill>
              <a:latin typeface="Times New Roman"/>
              <a:ea typeface="Times New Roman"/>
              <a:cs typeface="Times New Roman"/>
              <a:sym typeface="Times New Roman"/>
            </a:endParaRPr>
          </a:p>
          <a:p>
            <a:pPr indent="-287019" lvl="1" marL="756285" marR="504825" rtl="0" algn="l">
              <a:lnSpc>
                <a:spcPct val="130000"/>
              </a:lnSpc>
              <a:spcBef>
                <a:spcPts val="4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several </a:t>
            </a:r>
            <a:r>
              <a:rPr b="0" i="0" lang="en-US" sz="2000" u="none" cap="none" strike="noStrike">
                <a:solidFill>
                  <a:srgbClr val="FF0000"/>
                </a:solidFill>
                <a:latin typeface="Times New Roman"/>
                <a:ea typeface="Times New Roman"/>
                <a:cs typeface="Times New Roman"/>
                <a:sym typeface="Times New Roman"/>
              </a:rPr>
              <a:t>lines </a:t>
            </a:r>
            <a:r>
              <a:rPr b="0" i="0" lang="en-US" sz="2000" u="none" cap="none" strike="noStrike">
                <a:solidFill>
                  <a:schemeClr val="dk1"/>
                </a:solidFill>
                <a:latin typeface="Times New Roman"/>
                <a:ea typeface="Times New Roman"/>
                <a:cs typeface="Times New Roman"/>
                <a:sym typeface="Times New Roman"/>
              </a:rPr>
              <a:t>of a bus can be used to </a:t>
            </a:r>
            <a:r>
              <a:rPr b="0" i="0" lang="en-US" sz="2000" u="none" cap="none" strike="noStrike">
                <a:solidFill>
                  <a:srgbClr val="FF0000"/>
                </a:solidFill>
                <a:latin typeface="Times New Roman"/>
                <a:ea typeface="Times New Roman"/>
                <a:cs typeface="Times New Roman"/>
                <a:sym typeface="Times New Roman"/>
              </a:rPr>
              <a:t>transmit binary digits simultaneously </a:t>
            </a:r>
            <a:r>
              <a:rPr b="0" i="0" lang="en-US" sz="2000" u="none" cap="none" strike="noStrike">
                <a:solidFill>
                  <a:schemeClr val="dk1"/>
                </a:solidFill>
                <a:latin typeface="Times New Roman"/>
                <a:ea typeface="Times New Roman"/>
                <a:cs typeface="Times New Roman"/>
                <a:sym typeface="Times New Roman"/>
              </a:rPr>
              <a:t>e.g. 32 bit data bus is 32 separate single bit  channels</a:t>
            </a:r>
            <a:endParaRPr/>
          </a:p>
          <a:p>
            <a:pPr indent="-342900" lvl="0" marL="355600" marR="0" rtl="0" algn="l">
              <a:lnSpc>
                <a:spcPct val="100000"/>
              </a:lnSpc>
              <a:spcBef>
                <a:spcPts val="129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Power lines may not be shown</a:t>
            </a:r>
            <a:endParaRPr sz="2000">
              <a:solidFill>
                <a:schemeClr val="dk1"/>
              </a:solidFill>
              <a:latin typeface="Times New Roman"/>
              <a:ea typeface="Times New Roman"/>
              <a:cs typeface="Times New Roman"/>
              <a:sym typeface="Times New Roman"/>
            </a:endParaRPr>
          </a:p>
        </p:txBody>
      </p:sp>
      <p:pic>
        <p:nvPicPr>
          <p:cNvPr id="434" name="Google Shape;434;p37"/>
          <p:cNvPicPr preferRelativeResize="0"/>
          <p:nvPr/>
        </p:nvPicPr>
        <p:blipFill rotWithShape="1">
          <a:blip r:embed="rId3">
            <a:alphaModFix/>
          </a:blip>
          <a:srcRect b="0" l="0" r="0" t="0"/>
          <a:stretch/>
        </p:blipFill>
        <p:spPr>
          <a:xfrm>
            <a:off x="5962472" y="990600"/>
            <a:ext cx="3030474" cy="4476229"/>
          </a:xfrm>
          <a:prstGeom prst="rect">
            <a:avLst/>
          </a:prstGeom>
          <a:noFill/>
          <a:ln>
            <a:noFill/>
          </a:ln>
        </p:spPr>
      </p:pic>
      <p:sp>
        <p:nvSpPr>
          <p:cNvPr id="435" name="Google Shape;435;p37"/>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8"/>
          <p:cNvSpPr txBox="1"/>
          <p:nvPr>
            <p:ph type="title"/>
          </p:nvPr>
        </p:nvSpPr>
        <p:spPr>
          <a:xfrm>
            <a:off x="457200" y="274638"/>
            <a:ext cx="7467600" cy="4111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441" name="Google Shape;441;p38"/>
          <p:cNvSpPr txBox="1"/>
          <p:nvPr>
            <p:ph idx="1" type="body"/>
          </p:nvPr>
        </p:nvSpPr>
        <p:spPr>
          <a:xfrm>
            <a:off x="381000" y="762000"/>
            <a:ext cx="8077200" cy="57119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it is a </a:t>
            </a:r>
            <a:r>
              <a:rPr b="1" lang="en-US">
                <a:latin typeface="Times New Roman"/>
                <a:ea typeface="Times New Roman"/>
                <a:cs typeface="Times New Roman"/>
                <a:sym typeface="Times New Roman"/>
              </a:rPr>
              <a:t>shared transmission medium-</a:t>
            </a:r>
            <a:r>
              <a:rPr lang="en-US">
                <a:latin typeface="Times New Roman"/>
                <a:ea typeface="Times New Roman"/>
                <a:cs typeface="Times New Roman"/>
                <a:sym typeface="Times New Roman"/>
              </a:rPr>
              <a:t>Multiple devices connect to the bus, and a signal transmitted by any one device is </a:t>
            </a:r>
            <a:r>
              <a:rPr lang="en-US">
                <a:solidFill>
                  <a:schemeClr val="accent3"/>
                </a:solidFill>
                <a:latin typeface="Times New Roman"/>
                <a:ea typeface="Times New Roman"/>
                <a:cs typeface="Times New Roman"/>
                <a:sym typeface="Times New Roman"/>
              </a:rPr>
              <a:t>available for reception by all other devices attached to the bus. </a:t>
            </a:r>
            <a:endParaRPr>
              <a:solidFill>
                <a:schemeClr val="accent3"/>
              </a:solidFill>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If two devices transmit during the same time period, their signals will overlap and become </a:t>
            </a:r>
            <a:r>
              <a:rPr lang="en-US">
                <a:solidFill>
                  <a:srgbClr val="FF0000"/>
                </a:solidFill>
                <a:latin typeface="Times New Roman"/>
                <a:ea typeface="Times New Roman"/>
                <a:cs typeface="Times New Roman"/>
                <a:sym typeface="Times New Roman"/>
              </a:rPr>
              <a:t>garbled-Only one device at a time can successfully transmit.</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Bus consists of </a:t>
            </a:r>
            <a:r>
              <a:rPr lang="en-US">
                <a:solidFill>
                  <a:schemeClr val="accent3"/>
                </a:solidFill>
                <a:latin typeface="Times New Roman"/>
                <a:ea typeface="Times New Roman"/>
                <a:cs typeface="Times New Roman"/>
                <a:sym typeface="Times New Roman"/>
              </a:rPr>
              <a:t>multiple communication pathways/ lines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A bus that connects major computer components (processor, memory, I/O) is called a </a:t>
            </a:r>
            <a:r>
              <a:rPr b="1" i="1" lang="en-US">
                <a:latin typeface="Times New Roman"/>
                <a:ea typeface="Times New Roman"/>
                <a:cs typeface="Times New Roman"/>
                <a:sym typeface="Times New Roman"/>
              </a:rPr>
              <a:t>system bus</a:t>
            </a:r>
            <a:endParaRPr b="1">
              <a:solidFill>
                <a:srgbClr val="FF0000"/>
              </a:solidFill>
              <a:latin typeface="Times New Roman"/>
              <a:ea typeface="Times New Roman"/>
              <a:cs typeface="Times New Roman"/>
              <a:sym typeface="Times New Roman"/>
            </a:endParaRPr>
          </a:p>
          <a:p>
            <a:pPr indent="-167640" lvl="0" marL="274320" rtl="0" algn="just">
              <a:spcBef>
                <a:spcPts val="600"/>
              </a:spcBef>
              <a:spcAft>
                <a:spcPts val="0"/>
              </a:spcAft>
              <a:buSzPts val="1680"/>
              <a:buNone/>
            </a:pPr>
            <a:r>
              <a:t/>
            </a:r>
            <a:endParaRPr>
              <a:latin typeface="Times New Roman"/>
              <a:ea typeface="Times New Roman"/>
              <a:cs typeface="Times New Roman"/>
              <a:sym typeface="Times New Roman"/>
            </a:endParaRPr>
          </a:p>
        </p:txBody>
      </p:sp>
      <p:sp>
        <p:nvSpPr>
          <p:cNvPr id="442" name="Google Shape;442;p3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6" name="Shape 446"/>
        <p:cNvGrpSpPr/>
        <p:nvPr/>
      </p:nvGrpSpPr>
      <p:grpSpPr>
        <a:xfrm>
          <a:off x="0" y="0"/>
          <a:ext cx="0" cy="0"/>
          <a:chOff x="0" y="0"/>
          <a:chExt cx="0" cy="0"/>
        </a:xfrm>
      </p:grpSpPr>
      <p:sp>
        <p:nvSpPr>
          <p:cNvPr id="447" name="Google Shape;447;p39"/>
          <p:cNvSpPr txBox="1"/>
          <p:nvPr>
            <p:ph type="title"/>
          </p:nvPr>
        </p:nvSpPr>
        <p:spPr>
          <a:xfrm>
            <a:off x="3900932" y="324357"/>
            <a:ext cx="1341120" cy="696595"/>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000"/>
              <a:buFont typeface="Century Schoolbook"/>
              <a:buNone/>
            </a:pPr>
            <a:r>
              <a:rPr lang="en-US"/>
              <a:t>Buses</a:t>
            </a:r>
            <a:endParaRPr/>
          </a:p>
        </p:txBody>
      </p:sp>
      <p:sp>
        <p:nvSpPr>
          <p:cNvPr id="448" name="Google Shape;448;p39"/>
          <p:cNvSpPr txBox="1"/>
          <p:nvPr/>
        </p:nvSpPr>
        <p:spPr>
          <a:xfrm>
            <a:off x="78739" y="958469"/>
            <a:ext cx="7757159" cy="3154045"/>
          </a:xfrm>
          <a:prstGeom prst="rect">
            <a:avLst/>
          </a:prstGeom>
          <a:noFill/>
          <a:ln>
            <a:noFill/>
          </a:ln>
        </p:spPr>
        <p:txBody>
          <a:bodyPr anchorCtr="0" anchor="t" bIns="0" lIns="0" spcFirstLastPara="1" rIns="0" wrap="square" tIns="12050">
            <a:spAutoFit/>
          </a:bodyPr>
          <a:lstStyle/>
          <a:p>
            <a:pPr indent="-342900" lvl="0" marL="355600" marR="792480" rtl="0" algn="l">
              <a:lnSpc>
                <a:spcPct val="140100"/>
              </a:lnSpc>
              <a:spcBef>
                <a:spcPts val="0"/>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There are a number of possible interconnection  systems</a:t>
            </a:r>
            <a:endParaRPr sz="27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945"/>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Single and multiple BUS structures are most common</a:t>
            </a:r>
            <a:endParaRPr sz="27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950"/>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e.g. Control/Address/Data bus (PC)</a:t>
            </a:r>
            <a:endParaRPr sz="27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939"/>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e.g. Unibus (DEC-PDP)</a:t>
            </a:r>
            <a:endParaRPr sz="2700">
              <a:solidFill>
                <a:schemeClr val="dk1"/>
              </a:solidFill>
              <a:latin typeface="Times New Roman"/>
              <a:ea typeface="Times New Roman"/>
              <a:cs typeface="Times New Roman"/>
              <a:sym typeface="Times New Roman"/>
            </a:endParaRPr>
          </a:p>
        </p:txBody>
      </p:sp>
      <p:sp>
        <p:nvSpPr>
          <p:cNvPr id="449" name="Google Shape;449;p39"/>
          <p:cNvSpPr txBox="1"/>
          <p:nvPr/>
        </p:nvSpPr>
        <p:spPr>
          <a:xfrm>
            <a:off x="78739" y="4263644"/>
            <a:ext cx="506222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Calibri"/>
                <a:ea typeface="Calibri"/>
                <a:cs typeface="Calibri"/>
                <a:sym typeface="Calibri"/>
              </a:rPr>
              <a:t>(Digital Equipment Corporation-Programmed Data Processor)</a:t>
            </a:r>
            <a:endParaRPr sz="1600">
              <a:solidFill>
                <a:schemeClr val="dk1"/>
              </a:solidFill>
              <a:latin typeface="Calibri"/>
              <a:ea typeface="Calibri"/>
              <a:cs typeface="Calibri"/>
              <a:sym typeface="Calibri"/>
            </a:endParaRPr>
          </a:p>
        </p:txBody>
      </p:sp>
      <p:pic>
        <p:nvPicPr>
          <p:cNvPr id="450" name="Google Shape;450;p39"/>
          <p:cNvPicPr preferRelativeResize="0"/>
          <p:nvPr/>
        </p:nvPicPr>
        <p:blipFill rotWithShape="1">
          <a:blip r:embed="rId3">
            <a:alphaModFix/>
          </a:blip>
          <a:srcRect b="0" l="0" r="0" t="0"/>
          <a:stretch/>
        </p:blipFill>
        <p:spPr>
          <a:xfrm>
            <a:off x="6100826" y="3027425"/>
            <a:ext cx="3043173" cy="3830571"/>
          </a:xfrm>
          <a:prstGeom prst="rect">
            <a:avLst/>
          </a:prstGeom>
          <a:noFill/>
          <a:ln>
            <a:noFill/>
          </a:ln>
        </p:spPr>
      </p:pic>
      <p:sp>
        <p:nvSpPr>
          <p:cNvPr id="451" name="Google Shape;451;p3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5" name="Shape 455"/>
        <p:cNvGrpSpPr/>
        <p:nvPr/>
      </p:nvGrpSpPr>
      <p:grpSpPr>
        <a:xfrm>
          <a:off x="0" y="0"/>
          <a:ext cx="0" cy="0"/>
          <a:chOff x="0" y="0"/>
          <a:chExt cx="0" cy="0"/>
        </a:xfrm>
      </p:grpSpPr>
      <p:sp>
        <p:nvSpPr>
          <p:cNvPr id="456" name="Google Shape;456;p40"/>
          <p:cNvSpPr txBox="1"/>
          <p:nvPr>
            <p:ph type="title"/>
          </p:nvPr>
        </p:nvSpPr>
        <p:spPr>
          <a:xfrm>
            <a:off x="713853" y="457200"/>
            <a:ext cx="7574280"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alibri"/>
              <a:buNone/>
            </a:pPr>
            <a:r>
              <a:rPr b="1" lang="en-US">
                <a:latin typeface="Calibri"/>
                <a:ea typeface="Calibri"/>
                <a:cs typeface="Calibri"/>
                <a:sym typeface="Calibri"/>
              </a:rPr>
              <a:t>Functions of Buses in Computers</a:t>
            </a:r>
            <a:endParaRPr/>
          </a:p>
        </p:txBody>
      </p:sp>
      <p:sp>
        <p:nvSpPr>
          <p:cNvPr id="457" name="Google Shape;457;p40"/>
          <p:cNvSpPr txBox="1"/>
          <p:nvPr/>
        </p:nvSpPr>
        <p:spPr>
          <a:xfrm>
            <a:off x="578916" y="1227785"/>
            <a:ext cx="7844155" cy="11208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FF0000"/>
                </a:solidFill>
                <a:latin typeface="Calibri"/>
                <a:ea typeface="Calibri"/>
                <a:cs typeface="Calibri"/>
                <a:sym typeface="Calibri"/>
              </a:rPr>
              <a:t>Data sharing </a:t>
            </a:r>
            <a:r>
              <a:rPr b="1" lang="en-US" sz="2400">
                <a:solidFill>
                  <a:schemeClr val="dk1"/>
                </a:solidFill>
                <a:latin typeface="Calibri"/>
                <a:ea typeface="Calibri"/>
                <a:cs typeface="Calibri"/>
                <a:sym typeface="Calibri"/>
              </a:rPr>
              <a:t>- </a:t>
            </a:r>
            <a:r>
              <a:rPr lang="en-US" sz="2400">
                <a:solidFill>
                  <a:schemeClr val="dk1"/>
                </a:solidFill>
                <a:latin typeface="Times New Roman"/>
                <a:ea typeface="Times New Roman"/>
                <a:cs typeface="Times New Roman"/>
                <a:sym typeface="Times New Roman"/>
              </a:rPr>
              <a:t>Serial/Parallel transmission, 8-bit, 16-bit, 32-bit or even 64-bit buses.</a:t>
            </a:r>
            <a:endParaRPr sz="2400">
              <a:solidFill>
                <a:schemeClr val="dk1"/>
              </a:solidFill>
              <a:latin typeface="Times New Roman"/>
              <a:ea typeface="Times New Roman"/>
              <a:cs typeface="Times New Roman"/>
              <a:sym typeface="Times New Roman"/>
            </a:endParaRPr>
          </a:p>
          <a:p>
            <a:pPr indent="0" lvl="0" marL="1841500" marR="0" rtl="0" algn="l">
              <a:lnSpc>
                <a:spcPct val="10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58" name="Google Shape;458;p40"/>
          <p:cNvSpPr txBox="1"/>
          <p:nvPr/>
        </p:nvSpPr>
        <p:spPr>
          <a:xfrm>
            <a:off x="578916" y="2032761"/>
            <a:ext cx="15836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FF0000"/>
                </a:solidFill>
                <a:latin typeface="Calibri"/>
                <a:ea typeface="Calibri"/>
                <a:cs typeface="Calibri"/>
                <a:sym typeface="Calibri"/>
              </a:rPr>
              <a:t>Addressing </a:t>
            </a:r>
            <a:r>
              <a:rPr lang="en-US" sz="2400">
                <a:solidFill>
                  <a:schemeClr val="dk1"/>
                </a:solidFill>
                <a:latin typeface="Calibri"/>
                <a:ea typeface="Calibri"/>
                <a:cs typeface="Calibri"/>
                <a:sym typeface="Calibri"/>
              </a:rPr>
              <a:t>-</a:t>
            </a:r>
            <a:endParaRPr/>
          </a:p>
        </p:txBody>
      </p:sp>
      <p:sp>
        <p:nvSpPr>
          <p:cNvPr id="459" name="Google Shape;459;p40"/>
          <p:cNvSpPr txBox="1"/>
          <p:nvPr/>
        </p:nvSpPr>
        <p:spPr>
          <a:xfrm>
            <a:off x="2408047" y="2050636"/>
            <a:ext cx="5848350" cy="236728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A bus has address lines which allows </a:t>
            </a:r>
            <a:r>
              <a:rPr b="1" lang="en-US" sz="2400">
                <a:solidFill>
                  <a:schemeClr val="dk1"/>
                </a:solidFill>
                <a:latin typeface="Times New Roman"/>
                <a:ea typeface="Times New Roman"/>
                <a:cs typeface="Times New Roman"/>
                <a:sym typeface="Times New Roman"/>
              </a:rPr>
              <a:t>data to be  sent to or from specific memory locations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448309" rtl="0" algn="l">
              <a:lnSpc>
                <a:spcPct val="100000"/>
              </a:lnSpc>
              <a:spcBef>
                <a:spcPts val="580"/>
              </a:spcBef>
              <a:spcAft>
                <a:spcPts val="0"/>
              </a:spcAft>
              <a:buNone/>
            </a:pPr>
            <a:r>
              <a:rPr lang="en-US" sz="2400">
                <a:solidFill>
                  <a:schemeClr val="dk1"/>
                </a:solidFill>
                <a:latin typeface="Times New Roman"/>
                <a:ea typeface="Times New Roman"/>
                <a:cs typeface="Times New Roman"/>
                <a:sym typeface="Times New Roman"/>
              </a:rPr>
              <a:t>A bus </a:t>
            </a:r>
            <a:r>
              <a:rPr b="1" lang="en-US" sz="2400">
                <a:solidFill>
                  <a:schemeClr val="dk1"/>
                </a:solidFill>
                <a:latin typeface="Times New Roman"/>
                <a:ea typeface="Times New Roman"/>
                <a:cs typeface="Times New Roman"/>
                <a:sym typeface="Times New Roman"/>
              </a:rPr>
              <a:t>supplies power </a:t>
            </a:r>
            <a:r>
              <a:rPr lang="en-US" sz="2400">
                <a:solidFill>
                  <a:schemeClr val="dk1"/>
                </a:solidFill>
                <a:latin typeface="Times New Roman"/>
                <a:ea typeface="Times New Roman"/>
                <a:cs typeface="Times New Roman"/>
                <a:sym typeface="Times New Roman"/>
              </a:rPr>
              <a:t>to various peripherals  connected	to it.</a:t>
            </a:r>
            <a:endParaRPr sz="2400">
              <a:solidFill>
                <a:schemeClr val="dk1"/>
              </a:solidFill>
              <a:latin typeface="Times New Roman"/>
              <a:ea typeface="Times New Roman"/>
              <a:cs typeface="Times New Roman"/>
              <a:sym typeface="Times New Roman"/>
            </a:endParaRPr>
          </a:p>
          <a:p>
            <a:pPr indent="0" lvl="0" marL="12700" marR="724535" rtl="0" algn="l">
              <a:lnSpc>
                <a:spcPct val="100000"/>
              </a:lnSpc>
              <a:spcBef>
                <a:spcPts val="575"/>
              </a:spcBef>
              <a:spcAft>
                <a:spcPts val="0"/>
              </a:spcAft>
              <a:buNone/>
            </a:pPr>
            <a:r>
              <a:rPr lang="en-US" sz="2400">
                <a:solidFill>
                  <a:schemeClr val="dk1"/>
                </a:solidFill>
                <a:latin typeface="Times New Roman"/>
                <a:ea typeface="Times New Roman"/>
                <a:cs typeface="Times New Roman"/>
                <a:sym typeface="Times New Roman"/>
              </a:rPr>
              <a:t>System clock</a:t>
            </a:r>
            <a:r>
              <a:rPr b="1" lang="en-US" sz="2400">
                <a:solidFill>
                  <a:schemeClr val="dk1"/>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synchronize the peripherals  attached to it with the rest of the system.</a:t>
            </a:r>
            <a:endParaRPr sz="2400">
              <a:solidFill>
                <a:schemeClr val="dk1"/>
              </a:solidFill>
              <a:latin typeface="Times New Roman"/>
              <a:ea typeface="Times New Roman"/>
              <a:cs typeface="Times New Roman"/>
              <a:sym typeface="Times New Roman"/>
            </a:endParaRPr>
          </a:p>
        </p:txBody>
      </p:sp>
      <p:sp>
        <p:nvSpPr>
          <p:cNvPr id="460" name="Google Shape;460;p40"/>
          <p:cNvSpPr txBox="1"/>
          <p:nvPr/>
        </p:nvSpPr>
        <p:spPr>
          <a:xfrm>
            <a:off x="578916" y="2837815"/>
            <a:ext cx="99441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FF0000"/>
                </a:solidFill>
                <a:latin typeface="Calibri"/>
                <a:ea typeface="Calibri"/>
                <a:cs typeface="Calibri"/>
                <a:sym typeface="Calibri"/>
              </a:rPr>
              <a:t>Power </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461" name="Google Shape;461;p40"/>
          <p:cNvSpPr txBox="1"/>
          <p:nvPr/>
        </p:nvSpPr>
        <p:spPr>
          <a:xfrm>
            <a:off x="578916" y="3642486"/>
            <a:ext cx="1042669"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FF0000"/>
                </a:solidFill>
                <a:latin typeface="Calibri"/>
                <a:ea typeface="Calibri"/>
                <a:cs typeface="Calibri"/>
                <a:sym typeface="Calibri"/>
              </a:rPr>
              <a:t>Timing </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462" name="Google Shape;462;p40"/>
          <p:cNvSpPr txBox="1"/>
          <p:nvPr/>
        </p:nvSpPr>
        <p:spPr>
          <a:xfrm>
            <a:off x="578916" y="4376933"/>
            <a:ext cx="7851140" cy="1059180"/>
          </a:xfrm>
          <a:prstGeom prst="rect">
            <a:avLst/>
          </a:prstGeom>
          <a:noFill/>
          <a:ln>
            <a:noFill/>
          </a:ln>
        </p:spPr>
        <p:txBody>
          <a:bodyPr anchorCtr="0" anchor="t" bIns="0" lIns="0" spcFirstLastPara="1" rIns="0" wrap="square" tIns="20955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Eg</a:t>
            </a:r>
            <a:r>
              <a:rPr lang="en-US" sz="2000">
                <a:solidFill>
                  <a:schemeClr val="dk1"/>
                </a:solidFill>
                <a:latin typeface="Calibri"/>
                <a:ea typeface="Calibri"/>
                <a:cs typeface="Calibri"/>
                <a:sym typeface="Calibri"/>
              </a:rPr>
              <a:t>: The expansion bus facilitates easy connection of more or additional</a:t>
            </a:r>
            <a:endParaRPr sz="2000">
              <a:solidFill>
                <a:schemeClr val="dk1"/>
              </a:solidFill>
              <a:latin typeface="Calibri"/>
              <a:ea typeface="Calibri"/>
              <a:cs typeface="Calibri"/>
              <a:sym typeface="Calibri"/>
            </a:endParaRPr>
          </a:p>
          <a:p>
            <a:pPr indent="0" lvl="0" marL="355600" marR="0" rtl="0" algn="l">
              <a:lnSpc>
                <a:spcPct val="100000"/>
              </a:lnSpc>
              <a:spcBef>
                <a:spcPts val="1300"/>
              </a:spcBef>
              <a:spcAft>
                <a:spcPts val="0"/>
              </a:spcAft>
              <a:buNone/>
            </a:pPr>
            <a:r>
              <a:rPr lang="en-US" sz="2000">
                <a:solidFill>
                  <a:schemeClr val="dk1"/>
                </a:solidFill>
                <a:latin typeface="Calibri"/>
                <a:ea typeface="Calibri"/>
                <a:cs typeface="Calibri"/>
                <a:sym typeface="Calibri"/>
              </a:rPr>
              <a:t>components and devices on a computer such as a TV card or sound card.</a:t>
            </a:r>
            <a:endParaRPr sz="2000">
              <a:solidFill>
                <a:schemeClr val="dk1"/>
              </a:solidFill>
              <a:latin typeface="Calibri"/>
              <a:ea typeface="Calibri"/>
              <a:cs typeface="Calibri"/>
              <a:sym typeface="Calibri"/>
            </a:endParaRPr>
          </a:p>
        </p:txBody>
      </p:sp>
      <p:sp>
        <p:nvSpPr>
          <p:cNvPr id="463" name="Google Shape;463;p4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7" name="Shape 467"/>
        <p:cNvGrpSpPr/>
        <p:nvPr/>
      </p:nvGrpSpPr>
      <p:grpSpPr>
        <a:xfrm>
          <a:off x="0" y="0"/>
          <a:ext cx="0" cy="0"/>
          <a:chOff x="0" y="0"/>
          <a:chExt cx="0" cy="0"/>
        </a:xfrm>
      </p:grpSpPr>
      <p:pic>
        <p:nvPicPr>
          <p:cNvPr id="468" name="Google Shape;468;p41"/>
          <p:cNvPicPr preferRelativeResize="0"/>
          <p:nvPr/>
        </p:nvPicPr>
        <p:blipFill rotWithShape="1">
          <a:blip r:embed="rId3">
            <a:alphaModFix/>
          </a:blip>
          <a:srcRect b="0" l="0" r="0" t="0"/>
          <a:stretch/>
        </p:blipFill>
        <p:spPr>
          <a:xfrm>
            <a:off x="0" y="430276"/>
            <a:ext cx="8855029" cy="5519674"/>
          </a:xfrm>
          <a:prstGeom prst="rect">
            <a:avLst/>
          </a:prstGeom>
          <a:noFill/>
          <a:ln>
            <a:noFill/>
          </a:ln>
        </p:spPr>
      </p:pic>
      <p:sp>
        <p:nvSpPr>
          <p:cNvPr id="469" name="Google Shape;469;p4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2"/>
          <p:cNvSpPr txBox="1"/>
          <p:nvPr>
            <p:ph type="title"/>
          </p:nvPr>
        </p:nvSpPr>
        <p:spPr>
          <a:xfrm>
            <a:off x="457200" y="381000"/>
            <a:ext cx="7467600" cy="73183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000"/>
              <a:buFont typeface="Century Schoolbook"/>
              <a:buNone/>
            </a:pPr>
            <a:r>
              <a:rPr b="1" lang="en-US"/>
              <a:t>Bus Structure</a:t>
            </a:r>
            <a:endParaRPr/>
          </a:p>
        </p:txBody>
      </p:sp>
      <p:sp>
        <p:nvSpPr>
          <p:cNvPr id="475" name="Google Shape;475;p42"/>
          <p:cNvSpPr txBox="1"/>
          <p:nvPr>
            <p:ph idx="1" type="body"/>
          </p:nvPr>
        </p:nvSpPr>
        <p:spPr>
          <a:xfrm>
            <a:off x="457200" y="1143000"/>
            <a:ext cx="7467600" cy="53309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A system bus consists, typically, of from about 50 to hundreds of separate lines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lines can be classified into three functional groups: </a:t>
            </a:r>
            <a:r>
              <a:rPr b="1" lang="en-US">
                <a:latin typeface="Times New Roman"/>
                <a:ea typeface="Times New Roman"/>
                <a:cs typeface="Times New Roman"/>
                <a:sym typeface="Times New Roman"/>
              </a:rPr>
              <a:t>data, address, and control lines.</a:t>
            </a:r>
            <a:endParaRPr b="1">
              <a:latin typeface="Times New Roman"/>
              <a:ea typeface="Times New Roman"/>
              <a:cs typeface="Times New Roman"/>
              <a:sym typeface="Times New Roman"/>
            </a:endParaRPr>
          </a:p>
        </p:txBody>
      </p:sp>
      <p:sp>
        <p:nvSpPr>
          <p:cNvPr id="476" name="Google Shape;476;p4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0" name="Shape 480"/>
        <p:cNvGrpSpPr/>
        <p:nvPr/>
      </p:nvGrpSpPr>
      <p:grpSpPr>
        <a:xfrm>
          <a:off x="0" y="0"/>
          <a:ext cx="0" cy="0"/>
          <a:chOff x="0" y="0"/>
          <a:chExt cx="0" cy="0"/>
        </a:xfrm>
      </p:grpSpPr>
      <p:sp>
        <p:nvSpPr>
          <p:cNvPr id="481" name="Google Shape;481;p43"/>
          <p:cNvSpPr txBox="1"/>
          <p:nvPr>
            <p:ph type="title"/>
          </p:nvPr>
        </p:nvSpPr>
        <p:spPr>
          <a:xfrm>
            <a:off x="762000" y="304800"/>
            <a:ext cx="2686685" cy="4751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alibri"/>
              <a:buNone/>
            </a:pPr>
            <a:r>
              <a:rPr b="1" lang="en-US">
                <a:latin typeface="Calibri"/>
                <a:ea typeface="Calibri"/>
                <a:cs typeface="Calibri"/>
                <a:sym typeface="Calibri"/>
              </a:rPr>
              <a:t>Data Bus</a:t>
            </a:r>
            <a:endParaRPr/>
          </a:p>
        </p:txBody>
      </p:sp>
      <p:sp>
        <p:nvSpPr>
          <p:cNvPr id="482" name="Google Shape;482;p43"/>
          <p:cNvSpPr txBox="1"/>
          <p:nvPr/>
        </p:nvSpPr>
        <p:spPr>
          <a:xfrm>
            <a:off x="228600" y="895970"/>
            <a:ext cx="8305800" cy="3218830"/>
          </a:xfrm>
          <a:prstGeom prst="rect">
            <a:avLst/>
          </a:prstGeom>
          <a:noFill/>
          <a:ln>
            <a:noFill/>
          </a:ln>
        </p:spPr>
        <p:txBody>
          <a:bodyPr anchorCtr="0" anchor="t" bIns="0" lIns="0" spcFirstLastPara="1" rIns="0" wrap="square" tIns="101600">
            <a:spAutoFit/>
          </a:bodyPr>
          <a:lstStyle/>
          <a:p>
            <a:pPr indent="-342900" lvl="0" marL="355600" marR="0" rtl="0" algn="l">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Data lines=Data bus</a:t>
            </a:r>
            <a:endParaRPr/>
          </a:p>
          <a:p>
            <a:pPr indent="-457200" lvl="0" marL="4572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data bus may consist of 32, 64, 128, or even more separate lines</a:t>
            </a:r>
            <a:endParaRPr/>
          </a:p>
          <a:p>
            <a:pPr indent="-457200" lvl="0" marL="4572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number of lines being referred to as the </a:t>
            </a:r>
            <a:r>
              <a:rPr i="1" lang="en-US" sz="2000">
                <a:solidFill>
                  <a:schemeClr val="accent3"/>
                </a:solidFill>
                <a:latin typeface="Times New Roman"/>
                <a:ea typeface="Times New Roman"/>
                <a:cs typeface="Times New Roman"/>
                <a:sym typeface="Times New Roman"/>
              </a:rPr>
              <a:t>width</a:t>
            </a:r>
            <a:r>
              <a:rPr i="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of the data bus.</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8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Carries </a:t>
            </a:r>
            <a:r>
              <a:rPr b="1" lang="en-US" sz="2000">
                <a:solidFill>
                  <a:schemeClr val="dk1"/>
                </a:solidFill>
                <a:latin typeface="Times New Roman"/>
                <a:ea typeface="Times New Roman"/>
                <a:cs typeface="Times New Roman"/>
                <a:sym typeface="Times New Roman"/>
              </a:rPr>
              <a:t>data</a:t>
            </a:r>
            <a:endParaRPr sz="2000">
              <a:solidFill>
                <a:schemeClr val="dk1"/>
              </a:solidFill>
              <a:latin typeface="Times New Roman"/>
              <a:ea typeface="Times New Roman"/>
              <a:cs typeface="Times New Roman"/>
              <a:sym typeface="Times New Roman"/>
            </a:endParaRPr>
          </a:p>
          <a:p>
            <a:pPr indent="-287019" lvl="0" marL="756285" marR="5080" rtl="0" algn="l">
              <a:lnSpc>
                <a:spcPct val="100000"/>
              </a:lnSpc>
              <a:spcBef>
                <a:spcPts val="605"/>
              </a:spcBef>
              <a:spcAft>
                <a:spcPts val="0"/>
              </a:spcAft>
              <a:buNone/>
            </a:pPr>
            <a:r>
              <a:rPr lang="en-US" sz="2000">
                <a:solidFill>
                  <a:schemeClr val="dk1"/>
                </a:solidFill>
                <a:latin typeface="Times New Roman"/>
                <a:ea typeface="Times New Roman"/>
                <a:cs typeface="Times New Roman"/>
                <a:sym typeface="Times New Roman"/>
              </a:rPr>
              <a:t>– Remember that there is no difference between “data” and  “instruction” at this level</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65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Width </a:t>
            </a:r>
            <a:r>
              <a:rPr lang="en-US" sz="2000">
                <a:solidFill>
                  <a:schemeClr val="dk1"/>
                </a:solidFill>
                <a:latin typeface="Times New Roman"/>
                <a:ea typeface="Times New Roman"/>
                <a:cs typeface="Times New Roman"/>
                <a:sym typeface="Times New Roman"/>
              </a:rPr>
              <a:t>is a key determinant of</a:t>
            </a:r>
            <a:r>
              <a:rPr lang="en-US" sz="2000">
                <a:solidFill>
                  <a:srgbClr val="FF0000"/>
                </a:solidFill>
                <a:latin typeface="Times New Roman"/>
                <a:ea typeface="Times New Roman"/>
                <a:cs typeface="Times New Roman"/>
                <a:sym typeface="Times New Roman"/>
              </a:rPr>
              <a:t> </a:t>
            </a:r>
            <a:r>
              <a:rPr b="1" lang="en-US" sz="2000" u="sng">
                <a:solidFill>
                  <a:srgbClr val="FF0000"/>
                </a:solidFill>
                <a:latin typeface="Times New Roman"/>
                <a:ea typeface="Times New Roman"/>
                <a:cs typeface="Times New Roman"/>
                <a:sym typeface="Times New Roman"/>
              </a:rPr>
              <a:t>performance-no: of lines determine amount of bits transferred</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600"/>
              </a:spcBef>
              <a:spcAft>
                <a:spcPts val="0"/>
              </a:spcAft>
              <a:buNone/>
            </a:pPr>
            <a:r>
              <a:rPr lang="en-US" sz="2000">
                <a:solidFill>
                  <a:schemeClr val="dk1"/>
                </a:solidFill>
                <a:latin typeface="Times New Roman"/>
                <a:ea typeface="Times New Roman"/>
                <a:cs typeface="Times New Roman"/>
                <a:sym typeface="Times New Roman"/>
              </a:rPr>
              <a:t>– 8, 16, 32, 64 bit</a:t>
            </a:r>
            <a:endParaRPr sz="2000">
              <a:solidFill>
                <a:schemeClr val="dk1"/>
              </a:solidFill>
              <a:latin typeface="Times New Roman"/>
              <a:ea typeface="Times New Roman"/>
              <a:cs typeface="Times New Roman"/>
              <a:sym typeface="Times New Roman"/>
            </a:endParaRPr>
          </a:p>
        </p:txBody>
      </p:sp>
      <p:pic>
        <p:nvPicPr>
          <p:cNvPr id="483" name="Google Shape;483;p43"/>
          <p:cNvPicPr preferRelativeResize="0"/>
          <p:nvPr/>
        </p:nvPicPr>
        <p:blipFill rotWithShape="1">
          <a:blip r:embed="rId3">
            <a:alphaModFix/>
          </a:blip>
          <a:srcRect b="0" l="0" r="0" t="0"/>
          <a:stretch/>
        </p:blipFill>
        <p:spPr>
          <a:xfrm>
            <a:off x="2743200" y="4114800"/>
            <a:ext cx="3878198" cy="2678978"/>
          </a:xfrm>
          <a:prstGeom prst="rect">
            <a:avLst/>
          </a:prstGeom>
          <a:noFill/>
          <a:ln>
            <a:noFill/>
          </a:ln>
        </p:spPr>
      </p:pic>
      <p:sp>
        <p:nvSpPr>
          <p:cNvPr id="484" name="Google Shape;484;p4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8" name="Shape 488"/>
        <p:cNvGrpSpPr/>
        <p:nvPr/>
      </p:nvGrpSpPr>
      <p:grpSpPr>
        <a:xfrm>
          <a:off x="0" y="0"/>
          <a:ext cx="0" cy="0"/>
          <a:chOff x="0" y="0"/>
          <a:chExt cx="0" cy="0"/>
        </a:xfrm>
      </p:grpSpPr>
      <p:sp>
        <p:nvSpPr>
          <p:cNvPr id="489" name="Google Shape;489;p44"/>
          <p:cNvSpPr txBox="1"/>
          <p:nvPr>
            <p:ph type="title"/>
          </p:nvPr>
        </p:nvSpPr>
        <p:spPr>
          <a:xfrm>
            <a:off x="838200" y="457200"/>
            <a:ext cx="283527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alibri"/>
              <a:buNone/>
            </a:pPr>
            <a:r>
              <a:rPr b="1" lang="en-US">
                <a:latin typeface="Calibri"/>
                <a:ea typeface="Calibri"/>
                <a:cs typeface="Calibri"/>
                <a:sym typeface="Calibri"/>
              </a:rPr>
              <a:t>Address bus</a:t>
            </a:r>
            <a:endParaRPr/>
          </a:p>
        </p:txBody>
      </p:sp>
      <p:sp>
        <p:nvSpPr>
          <p:cNvPr id="490" name="Google Shape;490;p44"/>
          <p:cNvSpPr txBox="1"/>
          <p:nvPr/>
        </p:nvSpPr>
        <p:spPr>
          <a:xfrm>
            <a:off x="78739" y="1354277"/>
            <a:ext cx="7905115" cy="3975447"/>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Identify the </a:t>
            </a:r>
            <a:r>
              <a:rPr lang="en-US" sz="2000">
                <a:solidFill>
                  <a:schemeClr val="accent3"/>
                </a:solidFill>
                <a:latin typeface="Times New Roman"/>
                <a:ea typeface="Times New Roman"/>
                <a:cs typeface="Times New Roman"/>
                <a:sym typeface="Times New Roman"/>
              </a:rPr>
              <a:t>source or destination of data</a:t>
            </a:r>
            <a:r>
              <a:rPr lang="en-US" sz="2000">
                <a:solidFill>
                  <a:schemeClr val="dk1"/>
                </a:solidFill>
                <a:latin typeface="Times New Roman"/>
                <a:ea typeface="Times New Roman"/>
                <a:cs typeface="Times New Roman"/>
                <a:sym typeface="Times New Roman"/>
              </a:rPr>
              <a:t>-Eg 1000H,1200H</a:t>
            </a:r>
            <a:endParaRPr sz="2000">
              <a:solidFill>
                <a:schemeClr val="dk1"/>
              </a:solidFill>
              <a:latin typeface="Times New Roman"/>
              <a:ea typeface="Times New Roman"/>
              <a:cs typeface="Times New Roman"/>
              <a:sym typeface="Times New Roman"/>
            </a:endParaRPr>
          </a:p>
          <a:p>
            <a:pPr indent="-342900" lvl="0" marL="355600" marR="554355" rtl="0" algn="just">
              <a:lnSpc>
                <a:spcPct val="150100"/>
              </a:lnSpc>
              <a:spcBef>
                <a:spcPts val="57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e.g. CPU needs to read an instruction (data) from a given  location in memory</a:t>
            </a:r>
            <a:endParaRPr/>
          </a:p>
          <a:p>
            <a:pPr indent="-342900" lvl="0" marL="355600" marR="0" rtl="0" algn="just">
              <a:lnSpc>
                <a:spcPct val="100000"/>
              </a:lnSpc>
              <a:spcBef>
                <a:spcPts val="2014"/>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Bus width determines</a:t>
            </a:r>
            <a:r>
              <a:rPr lang="en-US" sz="2000">
                <a:solidFill>
                  <a:srgbClr val="FF0000"/>
                </a:solidFill>
                <a:latin typeface="Times New Roman"/>
                <a:ea typeface="Times New Roman"/>
                <a:cs typeface="Times New Roman"/>
                <a:sym typeface="Times New Roman"/>
              </a:rPr>
              <a:t> </a:t>
            </a:r>
            <a:r>
              <a:rPr b="1" lang="en-US" sz="2000" u="sng">
                <a:solidFill>
                  <a:srgbClr val="FF0000"/>
                </a:solidFill>
                <a:latin typeface="Times New Roman"/>
                <a:ea typeface="Times New Roman"/>
                <a:cs typeface="Times New Roman"/>
                <a:sym typeface="Times New Roman"/>
              </a:rPr>
              <a:t>maximum memory capacity </a:t>
            </a:r>
            <a:r>
              <a:rPr lang="en-US" sz="2000">
                <a:solidFill>
                  <a:schemeClr val="dk1"/>
                </a:solidFill>
                <a:latin typeface="Times New Roman"/>
                <a:ea typeface="Times New Roman"/>
                <a:cs typeface="Times New Roman"/>
                <a:sym typeface="Times New Roman"/>
              </a:rPr>
              <a:t>of system</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2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2 ^nos of address lines=Memory Capacity</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664"/>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e.g. 8080 has 16 bit address bus giving 64k address space</a:t>
            </a:r>
            <a:endParaRPr/>
          </a:p>
          <a:p>
            <a:pPr indent="0" lvl="0" marL="469900" marR="0" rtl="0" algn="just">
              <a:lnSpc>
                <a:spcPct val="100000"/>
              </a:lnSpc>
              <a:spcBef>
                <a:spcPts val="1515"/>
              </a:spcBef>
              <a:spcAft>
                <a:spcPts val="0"/>
              </a:spcAft>
              <a:buNone/>
            </a:pPr>
            <a:r>
              <a:rPr lang="en-US" sz="2000">
                <a:solidFill>
                  <a:schemeClr val="dk1"/>
                </a:solidFill>
                <a:latin typeface="Times New Roman"/>
                <a:ea typeface="Times New Roman"/>
                <a:cs typeface="Times New Roman"/>
                <a:sym typeface="Times New Roman"/>
              </a:rPr>
              <a:t>–	32 bit?64bit ? 2 ^</a:t>
            </a:r>
            <a:endParaRPr/>
          </a:p>
          <a:p>
            <a:pPr indent="-339090" lvl="1" marL="808355" marR="0" rtl="0" algn="just">
              <a:lnSpc>
                <a:spcPct val="100000"/>
              </a:lnSpc>
              <a:spcBef>
                <a:spcPts val="151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(16.777216 million terabyte)</a:t>
            </a:r>
            <a:endParaRPr b="0" i="0" sz="2000" u="none" cap="none" strike="noStrike">
              <a:solidFill>
                <a:schemeClr val="dk1"/>
              </a:solidFill>
              <a:latin typeface="Times New Roman"/>
              <a:ea typeface="Times New Roman"/>
              <a:cs typeface="Times New Roman"/>
              <a:sym typeface="Times New Roman"/>
            </a:endParaRPr>
          </a:p>
        </p:txBody>
      </p:sp>
      <p:pic>
        <p:nvPicPr>
          <p:cNvPr id="491" name="Google Shape;491;p44"/>
          <p:cNvPicPr preferRelativeResize="0"/>
          <p:nvPr/>
        </p:nvPicPr>
        <p:blipFill rotWithShape="1">
          <a:blip r:embed="rId3">
            <a:alphaModFix/>
          </a:blip>
          <a:srcRect b="0" l="0" r="0" t="0"/>
          <a:stretch/>
        </p:blipFill>
        <p:spPr>
          <a:xfrm>
            <a:off x="6781800" y="3640694"/>
            <a:ext cx="2209800" cy="2309749"/>
          </a:xfrm>
          <a:prstGeom prst="rect">
            <a:avLst/>
          </a:prstGeom>
          <a:noFill/>
          <a:ln>
            <a:noFill/>
          </a:ln>
        </p:spPr>
      </p:pic>
      <p:sp>
        <p:nvSpPr>
          <p:cNvPr id="492" name="Google Shape;492;p4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6" name="Shape 496"/>
        <p:cNvGrpSpPr/>
        <p:nvPr/>
      </p:nvGrpSpPr>
      <p:grpSpPr>
        <a:xfrm>
          <a:off x="0" y="0"/>
          <a:ext cx="0" cy="0"/>
          <a:chOff x="0" y="0"/>
          <a:chExt cx="0" cy="0"/>
        </a:xfrm>
      </p:grpSpPr>
      <p:pic>
        <p:nvPicPr>
          <p:cNvPr id="497" name="Google Shape;497;p45"/>
          <p:cNvPicPr preferRelativeResize="0"/>
          <p:nvPr/>
        </p:nvPicPr>
        <p:blipFill rotWithShape="1">
          <a:blip r:embed="rId3">
            <a:alphaModFix/>
          </a:blip>
          <a:srcRect b="0" l="0" r="0" t="0"/>
          <a:stretch/>
        </p:blipFill>
        <p:spPr>
          <a:xfrm>
            <a:off x="23812" y="3660679"/>
            <a:ext cx="8185150" cy="3197318"/>
          </a:xfrm>
          <a:prstGeom prst="rect">
            <a:avLst/>
          </a:prstGeom>
          <a:noFill/>
          <a:ln>
            <a:noFill/>
          </a:ln>
        </p:spPr>
      </p:pic>
      <p:pic>
        <p:nvPicPr>
          <p:cNvPr id="498" name="Google Shape;498;p45"/>
          <p:cNvPicPr preferRelativeResize="0"/>
          <p:nvPr/>
        </p:nvPicPr>
        <p:blipFill rotWithShape="1">
          <a:blip r:embed="rId4">
            <a:alphaModFix/>
          </a:blip>
          <a:srcRect b="0" l="0" r="0" t="0"/>
          <a:stretch/>
        </p:blipFill>
        <p:spPr>
          <a:xfrm>
            <a:off x="0" y="0"/>
            <a:ext cx="5173726" cy="3456051"/>
          </a:xfrm>
          <a:prstGeom prst="rect">
            <a:avLst/>
          </a:prstGeom>
          <a:noFill/>
          <a:ln>
            <a:noFill/>
          </a:ln>
        </p:spPr>
      </p:pic>
      <p:sp>
        <p:nvSpPr>
          <p:cNvPr id="499" name="Google Shape;499;p4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3" name="Shape 503"/>
        <p:cNvGrpSpPr/>
        <p:nvPr/>
      </p:nvGrpSpPr>
      <p:grpSpPr>
        <a:xfrm>
          <a:off x="0" y="0"/>
          <a:ext cx="0" cy="0"/>
          <a:chOff x="0" y="0"/>
          <a:chExt cx="0" cy="0"/>
        </a:xfrm>
      </p:grpSpPr>
      <p:sp>
        <p:nvSpPr>
          <p:cNvPr id="504" name="Google Shape;504;p46"/>
          <p:cNvSpPr txBox="1"/>
          <p:nvPr>
            <p:ph type="title"/>
          </p:nvPr>
        </p:nvSpPr>
        <p:spPr>
          <a:xfrm>
            <a:off x="685800" y="304800"/>
            <a:ext cx="264985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Control Bus</a:t>
            </a:r>
            <a:endParaRPr/>
          </a:p>
        </p:txBody>
      </p:sp>
      <p:sp>
        <p:nvSpPr>
          <p:cNvPr id="505" name="Google Shape;505;p46"/>
          <p:cNvSpPr txBox="1"/>
          <p:nvPr/>
        </p:nvSpPr>
        <p:spPr>
          <a:xfrm>
            <a:off x="381000" y="1066800"/>
            <a:ext cx="7958455" cy="5643212"/>
          </a:xfrm>
          <a:prstGeom prst="rect">
            <a:avLst/>
          </a:prstGeom>
          <a:noFill/>
          <a:ln>
            <a:noFill/>
          </a:ln>
        </p:spPr>
        <p:txBody>
          <a:bodyPr anchorCtr="0" anchor="t" bIns="0" lIns="0" spcFirstLastPara="1" rIns="0" wrap="square" tIns="13325">
            <a:spAutoFit/>
          </a:bodyPr>
          <a:lstStyle/>
          <a:p>
            <a:pPr indent="-342900" lvl="0" marL="3556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Controls activities of all units of a computer- control the </a:t>
            </a:r>
            <a:r>
              <a:rPr b="1" lang="en-US" sz="2000">
                <a:solidFill>
                  <a:schemeClr val="dk1"/>
                </a:solidFill>
                <a:latin typeface="Times New Roman"/>
                <a:ea typeface="Times New Roman"/>
                <a:cs typeface="Times New Roman"/>
                <a:sym typeface="Times New Roman"/>
              </a:rPr>
              <a:t>access to and the use of the data and address lines</a:t>
            </a:r>
            <a:endParaRPr/>
          </a:p>
          <a:p>
            <a:pPr indent="-215900" lvl="0" marL="355600" marR="0" rtl="0" algn="just">
              <a:spcBef>
                <a:spcPts val="105"/>
              </a:spcBef>
              <a:spcAft>
                <a:spcPts val="0"/>
              </a:spcAft>
              <a:buClr>
                <a:schemeClr val="dk1"/>
              </a:buClr>
              <a:buSzPts val="2000"/>
              <a:buFont typeface="Arial"/>
              <a:buNone/>
            </a:pPr>
            <a:r>
              <a:t/>
            </a:r>
            <a:endParaRPr b="1" sz="20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Control signals transmit both </a:t>
            </a:r>
            <a:r>
              <a:rPr b="1" lang="en-US" sz="2000">
                <a:solidFill>
                  <a:schemeClr val="dk1"/>
                </a:solidFill>
                <a:latin typeface="Times New Roman"/>
                <a:ea typeface="Times New Roman"/>
                <a:cs typeface="Times New Roman"/>
                <a:sym typeface="Times New Roman"/>
              </a:rPr>
              <a:t>comman</a:t>
            </a:r>
            <a:r>
              <a:rPr lang="en-US" sz="2000">
                <a:solidFill>
                  <a:schemeClr val="dk1"/>
                </a:solidFill>
                <a:latin typeface="Times New Roman"/>
                <a:ea typeface="Times New Roman"/>
                <a:cs typeface="Times New Roman"/>
                <a:sym typeface="Times New Roman"/>
              </a:rPr>
              <a:t>d (specify operations to be performed) and </a:t>
            </a:r>
            <a:r>
              <a:rPr b="1" lang="en-US" sz="2000">
                <a:solidFill>
                  <a:schemeClr val="dk1"/>
                </a:solidFill>
                <a:latin typeface="Times New Roman"/>
                <a:ea typeface="Times New Roman"/>
                <a:cs typeface="Times New Roman"/>
                <a:sym typeface="Times New Roman"/>
              </a:rPr>
              <a:t>timing information </a:t>
            </a:r>
            <a:r>
              <a:rPr lang="en-US" sz="2000">
                <a:solidFill>
                  <a:schemeClr val="dk1"/>
                </a:solidFill>
                <a:latin typeface="Times New Roman"/>
                <a:ea typeface="Times New Roman"/>
                <a:cs typeface="Times New Roman"/>
                <a:sym typeface="Times New Roman"/>
              </a:rPr>
              <a:t>(validity of data and address information) among system modules. </a:t>
            </a:r>
            <a:endParaRPr sz="2000">
              <a:solidFill>
                <a:schemeClr val="dk1"/>
              </a:solidFill>
              <a:latin typeface="Times New Roman"/>
              <a:ea typeface="Times New Roman"/>
              <a:cs typeface="Times New Roman"/>
              <a:sym typeface="Times New Roman"/>
            </a:endParaRPr>
          </a:p>
          <a:p>
            <a:pPr indent="-215900" lvl="0" marL="342900" marR="0" rtl="0" algn="just">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342900" lvl="0" marL="3556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Main Function is to carry </a:t>
            </a:r>
            <a:r>
              <a:rPr b="1" lang="en-US" sz="2000">
                <a:solidFill>
                  <a:srgbClr val="FF0000"/>
                </a:solidFill>
                <a:latin typeface="Times New Roman"/>
                <a:ea typeface="Times New Roman"/>
                <a:cs typeface="Times New Roman"/>
                <a:sym typeface="Times New Roman"/>
              </a:rPr>
              <a:t>control signals </a:t>
            </a:r>
            <a:r>
              <a:rPr lang="en-US" sz="2000">
                <a:solidFill>
                  <a:srgbClr val="FF0000"/>
                </a:solidFill>
                <a:latin typeface="Times New Roman"/>
                <a:ea typeface="Times New Roman"/>
                <a:cs typeface="Times New Roman"/>
                <a:sym typeface="Times New Roman"/>
              </a:rPr>
              <a:t>generated by control unit</a:t>
            </a:r>
            <a:endParaRPr/>
          </a:p>
          <a:p>
            <a:pPr indent="-287019" lvl="1" marL="756285" marR="5080" rtl="0" algn="just">
              <a:spcBef>
                <a:spcPts val="54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Ex: One line of control bus is used to indicate whether the CPU is reading/writing to the  main memory</a:t>
            </a:r>
            <a:endParaRPr b="0" i="0" sz="2000" u="none" cap="none" strike="noStrike">
              <a:solidFill>
                <a:schemeClr val="dk1"/>
              </a:solidFill>
              <a:latin typeface="Times New Roman"/>
              <a:ea typeface="Times New Roman"/>
              <a:cs typeface="Times New Roman"/>
              <a:sym typeface="Times New Roman"/>
            </a:endParaRPr>
          </a:p>
          <a:p>
            <a:pPr indent="0" lvl="1" marL="457200" marR="0" rtl="0" algn="just">
              <a:spcBef>
                <a:spcPts val="35"/>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Control and timing information</a:t>
            </a:r>
            <a:endParaRPr sz="2000">
              <a:solidFill>
                <a:schemeClr val="dk1"/>
              </a:solidFill>
              <a:latin typeface="Times New Roman"/>
              <a:ea typeface="Times New Roman"/>
              <a:cs typeface="Times New Roman"/>
              <a:sym typeface="Times New Roman"/>
            </a:endParaRPr>
          </a:p>
          <a:p>
            <a:pPr indent="0" lvl="0" marL="0" marR="0" rtl="0" algn="just">
              <a:spcBef>
                <a:spcPts val="5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287019" lvl="1" marL="756285"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Memory read/write signal</a:t>
            </a:r>
            <a:endParaRPr b="0" i="0" sz="2000" u="none" cap="none" strike="noStrike">
              <a:solidFill>
                <a:schemeClr val="dk1"/>
              </a:solidFill>
              <a:latin typeface="Times New Roman"/>
              <a:ea typeface="Times New Roman"/>
              <a:cs typeface="Times New Roman"/>
              <a:sym typeface="Times New Roman"/>
            </a:endParaRPr>
          </a:p>
          <a:p>
            <a:pPr indent="0" lvl="1" marL="457200" marR="0" rtl="0" algn="just">
              <a:spcBef>
                <a:spcPts val="30"/>
              </a:spcBef>
              <a:spcAft>
                <a:spcPts val="0"/>
              </a:spcAft>
              <a:buClr>
                <a:schemeClr val="dk1"/>
              </a:buClr>
              <a:buSzPts val="2000"/>
              <a:buFont typeface="Century Schoolbook"/>
              <a:buNone/>
            </a:pPr>
            <a:r>
              <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Interrupt request</a:t>
            </a:r>
            <a:endParaRPr b="0" i="0" sz="2000" u="none" cap="none" strike="noStrike">
              <a:solidFill>
                <a:schemeClr val="dk1"/>
              </a:solidFill>
              <a:latin typeface="Times New Roman"/>
              <a:ea typeface="Times New Roman"/>
              <a:cs typeface="Times New Roman"/>
              <a:sym typeface="Times New Roman"/>
            </a:endParaRPr>
          </a:p>
          <a:p>
            <a:pPr indent="0" lvl="1" marL="457200" marR="0" rtl="0" algn="just">
              <a:spcBef>
                <a:spcPts val="30"/>
              </a:spcBef>
              <a:spcAft>
                <a:spcPts val="0"/>
              </a:spcAft>
              <a:buClr>
                <a:schemeClr val="dk1"/>
              </a:buClr>
              <a:buSzPts val="2000"/>
              <a:buFont typeface="Century Schoolbook"/>
              <a:buNone/>
            </a:pPr>
            <a:r>
              <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Clock signals</a:t>
            </a:r>
            <a:endParaRPr b="0" i="0" sz="2000" u="none" cap="none" strike="noStrike">
              <a:solidFill>
                <a:schemeClr val="dk1"/>
              </a:solidFill>
              <a:latin typeface="Times New Roman"/>
              <a:ea typeface="Times New Roman"/>
              <a:cs typeface="Times New Roman"/>
              <a:sym typeface="Times New Roman"/>
            </a:endParaRPr>
          </a:p>
        </p:txBody>
      </p:sp>
      <p:sp>
        <p:nvSpPr>
          <p:cNvPr id="506" name="Google Shape;506;p4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Examples of control lines</a:t>
            </a:r>
            <a:endParaRPr/>
          </a:p>
        </p:txBody>
      </p:sp>
      <p:pic>
        <p:nvPicPr>
          <p:cNvPr id="512" name="Google Shape;512;p47"/>
          <p:cNvPicPr preferRelativeResize="0"/>
          <p:nvPr>
            <p:ph idx="1" type="body"/>
          </p:nvPr>
        </p:nvPicPr>
        <p:blipFill rotWithShape="1">
          <a:blip r:embed="rId3">
            <a:alphaModFix/>
          </a:blip>
          <a:srcRect b="0" l="0" r="0" t="0"/>
          <a:stretch/>
        </p:blipFill>
        <p:spPr>
          <a:xfrm>
            <a:off x="596719" y="1600200"/>
            <a:ext cx="7036200" cy="4043400"/>
          </a:xfrm>
          <a:prstGeom prst="rect">
            <a:avLst/>
          </a:prstGeom>
          <a:noFill/>
          <a:ln>
            <a:noFill/>
          </a:ln>
        </p:spPr>
      </p:pic>
      <p:sp>
        <p:nvSpPr>
          <p:cNvPr id="513" name="Google Shape;513;p47"/>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7" name="Shape 517"/>
        <p:cNvGrpSpPr/>
        <p:nvPr/>
      </p:nvGrpSpPr>
      <p:grpSpPr>
        <a:xfrm>
          <a:off x="0" y="0"/>
          <a:ext cx="0" cy="0"/>
          <a:chOff x="0" y="0"/>
          <a:chExt cx="0" cy="0"/>
        </a:xfrm>
      </p:grpSpPr>
      <p:sp>
        <p:nvSpPr>
          <p:cNvPr id="518" name="Google Shape;518;p48"/>
          <p:cNvSpPr txBox="1"/>
          <p:nvPr>
            <p:ph type="title"/>
          </p:nvPr>
        </p:nvSpPr>
        <p:spPr>
          <a:xfrm>
            <a:off x="1323213" y="461594"/>
            <a:ext cx="649541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Bus Interconnection Scheme</a:t>
            </a:r>
            <a:endParaRPr/>
          </a:p>
        </p:txBody>
      </p:sp>
      <p:pic>
        <p:nvPicPr>
          <p:cNvPr id="519" name="Google Shape;519;p48"/>
          <p:cNvPicPr preferRelativeResize="0"/>
          <p:nvPr/>
        </p:nvPicPr>
        <p:blipFill rotWithShape="1">
          <a:blip r:embed="rId3">
            <a:alphaModFix/>
          </a:blip>
          <a:srcRect b="0" l="0" r="0" t="0"/>
          <a:stretch/>
        </p:blipFill>
        <p:spPr>
          <a:xfrm>
            <a:off x="468508" y="2632304"/>
            <a:ext cx="7938539" cy="2052754"/>
          </a:xfrm>
          <a:prstGeom prst="rect">
            <a:avLst/>
          </a:prstGeom>
          <a:noFill/>
          <a:ln>
            <a:noFill/>
          </a:ln>
        </p:spPr>
      </p:pic>
      <p:sp>
        <p:nvSpPr>
          <p:cNvPr id="520" name="Google Shape;520;p48"/>
          <p:cNvSpPr txBox="1"/>
          <p:nvPr/>
        </p:nvSpPr>
        <p:spPr>
          <a:xfrm>
            <a:off x="8043164" y="3610736"/>
            <a:ext cx="6457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System</a:t>
            </a:r>
            <a:endParaRPr sz="1600">
              <a:solidFill>
                <a:schemeClr val="dk1"/>
              </a:solidFill>
              <a:latin typeface="Times New Roman"/>
              <a:ea typeface="Times New Roman"/>
              <a:cs typeface="Times New Roman"/>
              <a:sym typeface="Times New Roman"/>
            </a:endParaRPr>
          </a:p>
        </p:txBody>
      </p:sp>
      <p:sp>
        <p:nvSpPr>
          <p:cNvPr id="521" name="Google Shape;521;p4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9"/>
          <p:cNvSpPr txBox="1"/>
          <p:nvPr>
            <p:ph type="title"/>
          </p:nvPr>
        </p:nvSpPr>
        <p:spPr>
          <a:xfrm>
            <a:off x="457200" y="274638"/>
            <a:ext cx="7467600" cy="4111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527" name="Google Shape;527;p49"/>
          <p:cNvSpPr txBox="1"/>
          <p:nvPr>
            <p:ph idx="1" type="body"/>
          </p:nvPr>
        </p:nvSpPr>
        <p:spPr>
          <a:xfrm>
            <a:off x="457200" y="1066800"/>
            <a:ext cx="79248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If one module wishes to </a:t>
            </a:r>
            <a:r>
              <a:rPr i="1" lang="en-US">
                <a:latin typeface="Times New Roman"/>
                <a:ea typeface="Times New Roman"/>
                <a:cs typeface="Times New Roman"/>
                <a:sym typeface="Times New Roman"/>
              </a:rPr>
              <a:t>send data </a:t>
            </a:r>
            <a:r>
              <a:rPr lang="en-US">
                <a:latin typeface="Times New Roman"/>
                <a:ea typeface="Times New Roman"/>
                <a:cs typeface="Times New Roman"/>
                <a:sym typeface="Times New Roman"/>
              </a:rPr>
              <a:t>to another,</a:t>
            </a:r>
            <a:endParaRPr/>
          </a:p>
          <a:p>
            <a:pPr indent="0" lvl="0" marL="0" rtl="0" algn="just">
              <a:spcBef>
                <a:spcPts val="600"/>
              </a:spcBef>
              <a:spcAft>
                <a:spcPts val="0"/>
              </a:spcAft>
              <a:buSzPts val="1680"/>
              <a:buNone/>
            </a:pPr>
            <a:r>
              <a:rPr lang="en-US">
                <a:latin typeface="Times New Roman"/>
                <a:ea typeface="Times New Roman"/>
                <a:cs typeface="Times New Roman"/>
                <a:sym typeface="Times New Roman"/>
              </a:rPr>
              <a:t>(1) obtain the use of the bus, and </a:t>
            </a:r>
            <a:endParaRPr>
              <a:latin typeface="Times New Roman"/>
              <a:ea typeface="Times New Roman"/>
              <a:cs typeface="Times New Roman"/>
              <a:sym typeface="Times New Roman"/>
            </a:endParaRPr>
          </a:p>
          <a:p>
            <a:pPr indent="0" lvl="0" marL="0" rtl="0" algn="just">
              <a:spcBef>
                <a:spcPts val="600"/>
              </a:spcBef>
              <a:spcAft>
                <a:spcPts val="0"/>
              </a:spcAft>
              <a:buSzPts val="1680"/>
              <a:buNone/>
            </a:pPr>
            <a:r>
              <a:rPr lang="en-US">
                <a:latin typeface="Times New Roman"/>
                <a:ea typeface="Times New Roman"/>
                <a:cs typeface="Times New Roman"/>
                <a:sym typeface="Times New Roman"/>
              </a:rPr>
              <a:t>(2) transfer data via the bus.</a:t>
            </a:r>
            <a:endParaRPr/>
          </a:p>
          <a:p>
            <a:pPr indent="0" lvl="0" marL="0" rtl="0" algn="just">
              <a:spcBef>
                <a:spcPts val="600"/>
              </a:spcBef>
              <a:spcAft>
                <a:spcPts val="0"/>
              </a:spcAft>
              <a:buSzPts val="1680"/>
              <a:buNone/>
            </a:pPr>
            <a:r>
              <a:rPr lang="en-US">
                <a:latin typeface="Times New Roman"/>
                <a:ea typeface="Times New Roman"/>
                <a:cs typeface="Times New Roman"/>
                <a:sym typeface="Times New Roman"/>
              </a:rPr>
              <a:t> </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If one module wishes to </a:t>
            </a:r>
            <a:r>
              <a:rPr i="1" lang="en-US">
                <a:latin typeface="Times New Roman"/>
                <a:ea typeface="Times New Roman"/>
                <a:cs typeface="Times New Roman"/>
                <a:sym typeface="Times New Roman"/>
              </a:rPr>
              <a:t>request data </a:t>
            </a:r>
            <a:r>
              <a:rPr lang="en-US">
                <a:latin typeface="Times New Roman"/>
                <a:ea typeface="Times New Roman"/>
                <a:cs typeface="Times New Roman"/>
                <a:sym typeface="Times New Roman"/>
              </a:rPr>
              <a:t>from another module, it must</a:t>
            </a:r>
            <a:endParaRPr/>
          </a:p>
          <a:p>
            <a:pPr indent="0" lvl="0" marL="0" rtl="0" algn="just">
              <a:spcBef>
                <a:spcPts val="600"/>
              </a:spcBef>
              <a:spcAft>
                <a:spcPts val="0"/>
              </a:spcAft>
              <a:buSzPts val="1680"/>
              <a:buNone/>
            </a:pPr>
            <a:r>
              <a:rPr lang="en-US">
                <a:latin typeface="Times New Roman"/>
                <a:ea typeface="Times New Roman"/>
                <a:cs typeface="Times New Roman"/>
                <a:sym typeface="Times New Roman"/>
              </a:rPr>
              <a:t> (1) obtain the use of the bus, and </a:t>
            </a:r>
            <a:endParaRPr>
              <a:latin typeface="Times New Roman"/>
              <a:ea typeface="Times New Roman"/>
              <a:cs typeface="Times New Roman"/>
              <a:sym typeface="Times New Roman"/>
            </a:endParaRPr>
          </a:p>
          <a:p>
            <a:pPr indent="0" lvl="0" marL="0" rtl="0" algn="just">
              <a:spcBef>
                <a:spcPts val="600"/>
              </a:spcBef>
              <a:spcAft>
                <a:spcPts val="0"/>
              </a:spcAft>
              <a:buSzPts val="1680"/>
              <a:buNone/>
            </a:pPr>
            <a:r>
              <a:rPr lang="en-US">
                <a:latin typeface="Times New Roman"/>
                <a:ea typeface="Times New Roman"/>
                <a:cs typeface="Times New Roman"/>
                <a:sym typeface="Times New Roman"/>
              </a:rPr>
              <a:t>(2) transfer a request to the other module over the appropriate control and address lines. It must then wait for that second module to send the data.</a:t>
            </a:r>
            <a:endParaRPr/>
          </a:p>
        </p:txBody>
      </p:sp>
      <p:sp>
        <p:nvSpPr>
          <p:cNvPr id="528" name="Google Shape;528;p4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2" name="Shape 532"/>
        <p:cNvGrpSpPr/>
        <p:nvPr/>
      </p:nvGrpSpPr>
      <p:grpSpPr>
        <a:xfrm>
          <a:off x="0" y="0"/>
          <a:ext cx="0" cy="0"/>
          <a:chOff x="0" y="0"/>
          <a:chExt cx="0" cy="0"/>
        </a:xfrm>
      </p:grpSpPr>
      <p:sp>
        <p:nvSpPr>
          <p:cNvPr id="533" name="Google Shape;533;p50"/>
          <p:cNvSpPr txBox="1"/>
          <p:nvPr>
            <p:ph type="title"/>
          </p:nvPr>
        </p:nvSpPr>
        <p:spPr>
          <a:xfrm>
            <a:off x="1748153" y="381000"/>
            <a:ext cx="5264785" cy="4751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Single Bus Problems</a:t>
            </a:r>
            <a:endParaRPr/>
          </a:p>
        </p:txBody>
      </p:sp>
      <p:sp>
        <p:nvSpPr>
          <p:cNvPr id="534" name="Google Shape;534;p50"/>
          <p:cNvSpPr txBox="1"/>
          <p:nvPr/>
        </p:nvSpPr>
        <p:spPr>
          <a:xfrm>
            <a:off x="78739" y="1066800"/>
            <a:ext cx="8603615" cy="4218591"/>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Lots of devices (greater the bus length) on one bus leads to:</a:t>
            </a:r>
            <a:endParaRPr sz="2400">
              <a:solidFill>
                <a:schemeClr val="dk1"/>
              </a:solidFill>
              <a:latin typeface="Times New Roman"/>
              <a:ea typeface="Times New Roman"/>
              <a:cs typeface="Times New Roman"/>
              <a:sym typeface="Times New Roman"/>
            </a:endParaRPr>
          </a:p>
          <a:p>
            <a:pPr indent="-287019" lvl="1" marL="756285" marR="0" rtl="0" algn="l">
              <a:lnSpc>
                <a:spcPct val="100000"/>
              </a:lnSpc>
              <a:spcBef>
                <a:spcPts val="196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Propagation delays</a:t>
            </a:r>
            <a:endParaRPr b="0" i="0" sz="2400" u="none" cap="none" strike="noStrike">
              <a:solidFill>
                <a:schemeClr val="dk1"/>
              </a:solidFill>
              <a:latin typeface="Times New Roman"/>
              <a:ea typeface="Times New Roman"/>
              <a:cs typeface="Times New Roman"/>
              <a:sym typeface="Times New Roman"/>
            </a:endParaRPr>
          </a:p>
          <a:p>
            <a:pPr indent="-228600" lvl="2" marL="1155700" marR="5080" rtl="0" algn="l">
              <a:lnSpc>
                <a:spcPct val="140000"/>
              </a:lnSpc>
              <a:spcBef>
                <a:spcPts val="61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Long data paths mean that </a:t>
            </a:r>
            <a:r>
              <a:rPr b="1" i="0" lang="en-US" sz="2400" u="none" cap="none" strike="noStrike">
                <a:solidFill>
                  <a:schemeClr val="dk1"/>
                </a:solidFill>
                <a:latin typeface="Times New Roman"/>
                <a:ea typeface="Times New Roman"/>
                <a:cs typeface="Times New Roman"/>
                <a:sym typeface="Times New Roman"/>
              </a:rPr>
              <a:t>co-ordination of bus use can adversely  affect performance</a:t>
            </a:r>
            <a:endParaRPr b="1" i="0" sz="2400" u="none" cap="none" strike="noStrike">
              <a:solidFill>
                <a:schemeClr val="dk1"/>
              </a:solidFill>
              <a:latin typeface="Times New Roman"/>
              <a:ea typeface="Times New Roman"/>
              <a:cs typeface="Times New Roman"/>
              <a:sym typeface="Times New Roman"/>
            </a:endParaRPr>
          </a:p>
          <a:p>
            <a:pPr indent="-229235" lvl="2" marL="1155700" marR="0" rtl="0" algn="l">
              <a:lnSpc>
                <a:spcPct val="100000"/>
              </a:lnSpc>
              <a:spcBef>
                <a:spcPts val="159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If aggregate data transfer approaches bus capacity</a:t>
            </a:r>
            <a:endParaRPr b="0" i="0" sz="2400" u="none" cap="none" strike="noStrike">
              <a:solidFill>
                <a:schemeClr val="dk1"/>
              </a:solidFill>
              <a:latin typeface="Times New Roman"/>
              <a:ea typeface="Times New Roman"/>
              <a:cs typeface="Times New Roman"/>
              <a:sym typeface="Times New Roman"/>
            </a:endParaRPr>
          </a:p>
          <a:p>
            <a:pPr indent="-229235" lvl="3" marL="1612900" marR="0" rtl="0" algn="l">
              <a:spcBef>
                <a:spcPts val="159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Remedy-by increasing the data rate that the bus can carry and by using wider buses</a:t>
            </a:r>
            <a:endParaRPr b="0" i="0" sz="2400" u="none" cap="none" strike="noStrike">
              <a:solidFill>
                <a:schemeClr val="dk1"/>
              </a:solidFill>
              <a:latin typeface="Times New Roman"/>
              <a:ea typeface="Times New Roman"/>
              <a:cs typeface="Times New Roman"/>
              <a:sym typeface="Times New Roman"/>
            </a:endParaRPr>
          </a:p>
          <a:p>
            <a:pPr indent="-342900" lvl="0" marL="355600" marR="194945" rtl="0" algn="l">
              <a:lnSpc>
                <a:spcPct val="140100"/>
              </a:lnSpc>
              <a:spcBef>
                <a:spcPts val="54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Most systems use multiple buses to overcome these  problems</a:t>
            </a:r>
            <a:endParaRPr sz="2400">
              <a:solidFill>
                <a:schemeClr val="dk1"/>
              </a:solidFill>
              <a:latin typeface="Times New Roman"/>
              <a:ea typeface="Times New Roman"/>
              <a:cs typeface="Times New Roman"/>
              <a:sym typeface="Times New Roman"/>
            </a:endParaRPr>
          </a:p>
        </p:txBody>
      </p:sp>
      <p:sp>
        <p:nvSpPr>
          <p:cNvPr id="535" name="Google Shape;535;p5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pic>
        <p:nvPicPr>
          <p:cNvPr id="541" name="Google Shape;541;p51"/>
          <p:cNvPicPr preferRelativeResize="0"/>
          <p:nvPr>
            <p:ph idx="1" type="body"/>
          </p:nvPr>
        </p:nvPicPr>
        <p:blipFill rotWithShape="1">
          <a:blip r:embed="rId3">
            <a:alphaModFix/>
          </a:blip>
          <a:srcRect b="0" l="4651" r="5712" t="0"/>
          <a:stretch/>
        </p:blipFill>
        <p:spPr>
          <a:xfrm>
            <a:off x="838200" y="1524000"/>
            <a:ext cx="7391400" cy="4800600"/>
          </a:xfrm>
          <a:prstGeom prst="rect">
            <a:avLst/>
          </a:prstGeom>
          <a:noFill/>
          <a:ln>
            <a:noFill/>
          </a:ln>
        </p:spPr>
      </p:pic>
      <p:sp>
        <p:nvSpPr>
          <p:cNvPr id="542" name="Google Shape;542;p5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6" name="Shape 546"/>
        <p:cNvGrpSpPr/>
        <p:nvPr/>
      </p:nvGrpSpPr>
      <p:grpSpPr>
        <a:xfrm>
          <a:off x="0" y="0"/>
          <a:ext cx="0" cy="0"/>
          <a:chOff x="0" y="0"/>
          <a:chExt cx="0" cy="0"/>
        </a:xfrm>
      </p:grpSpPr>
      <p:sp>
        <p:nvSpPr>
          <p:cNvPr id="547" name="Google Shape;547;p52"/>
          <p:cNvSpPr txBox="1"/>
          <p:nvPr>
            <p:ph type="title"/>
          </p:nvPr>
        </p:nvSpPr>
        <p:spPr>
          <a:xfrm>
            <a:off x="3276600" y="3313"/>
            <a:ext cx="2261870"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Bus Types</a:t>
            </a:r>
            <a:endParaRPr/>
          </a:p>
        </p:txBody>
      </p:sp>
      <p:sp>
        <p:nvSpPr>
          <p:cNvPr id="548" name="Google Shape;548;p52"/>
          <p:cNvSpPr txBox="1"/>
          <p:nvPr/>
        </p:nvSpPr>
        <p:spPr>
          <a:xfrm>
            <a:off x="381000" y="990600"/>
            <a:ext cx="8305800" cy="5204630"/>
          </a:xfrm>
          <a:prstGeom prst="rect">
            <a:avLst/>
          </a:prstGeom>
          <a:noFill/>
          <a:ln>
            <a:noFill/>
          </a:ln>
        </p:spPr>
        <p:txBody>
          <a:bodyPr anchorCtr="0" anchor="t" bIns="0" lIns="0" spcFirstLastPara="1" rIns="0" wrap="square" tIns="226675">
            <a:spAutoFit/>
          </a:bodyPr>
          <a:lstStyle/>
          <a:p>
            <a:pPr indent="-342900" lvl="0" marL="355600" marR="0" rtl="0" algn="just">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Dedicated</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500"/>
              </a:spcBef>
              <a:spcAft>
                <a:spcPts val="0"/>
              </a:spcAft>
              <a:buClr>
                <a:schemeClr val="accent3"/>
              </a:buClr>
              <a:buSzPts val="2000"/>
              <a:buFont typeface="Arial"/>
              <a:buChar char="–"/>
            </a:pPr>
            <a:r>
              <a:rPr b="0" i="0" lang="en-US" sz="2000" u="none" cap="none" strike="noStrike">
                <a:solidFill>
                  <a:schemeClr val="accent3"/>
                </a:solidFill>
                <a:latin typeface="Times New Roman"/>
                <a:ea typeface="Times New Roman"/>
                <a:cs typeface="Times New Roman"/>
                <a:sym typeface="Times New Roman"/>
              </a:rPr>
              <a:t>permanently assigned either to one function </a:t>
            </a:r>
            <a:r>
              <a:rPr b="0" i="0" lang="en-US" sz="2000" u="none" cap="none" strike="noStrike">
                <a:solidFill>
                  <a:schemeClr val="dk1"/>
                </a:solidFill>
                <a:latin typeface="Times New Roman"/>
                <a:ea typeface="Times New Roman"/>
                <a:cs typeface="Times New Roman"/>
                <a:sym typeface="Times New Roman"/>
              </a:rPr>
              <a:t>or to a physical </a:t>
            </a:r>
            <a:r>
              <a:rPr b="0" i="0" lang="en-US" sz="2000" u="none" cap="none" strike="noStrike">
                <a:solidFill>
                  <a:schemeClr val="accent3"/>
                </a:solidFill>
                <a:latin typeface="Times New Roman"/>
                <a:ea typeface="Times New Roman"/>
                <a:cs typeface="Times New Roman"/>
                <a:sym typeface="Times New Roman"/>
              </a:rPr>
              <a:t>subset of computer components</a:t>
            </a:r>
            <a:endParaRPr/>
          </a:p>
          <a:p>
            <a:pPr indent="-287019" lvl="1" marL="756285" marR="0" rtl="0" algn="just">
              <a:lnSpc>
                <a:spcPct val="100000"/>
              </a:lnSpc>
              <a:spcBef>
                <a:spcPts val="15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Eg:  of functional dedication-Separate data &amp; address lines</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565"/>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Multiplexed</a:t>
            </a:r>
            <a:endParaRPr/>
          </a:p>
          <a:p>
            <a:pPr indent="0" lvl="1" marL="12700" marR="0" rtl="0" algn="just">
              <a:spcBef>
                <a:spcPts val="1565"/>
              </a:spcBef>
              <a:spcAft>
                <a:spcPts val="0"/>
              </a:spcAft>
              <a:buNone/>
            </a:pPr>
            <a:r>
              <a:rPr b="1"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accent3"/>
                </a:solidFill>
                <a:latin typeface="Times New Roman"/>
                <a:ea typeface="Times New Roman"/>
                <a:cs typeface="Times New Roman"/>
                <a:sym typeface="Times New Roman"/>
              </a:rPr>
              <a:t>Assigned too many functions </a:t>
            </a:r>
            <a:r>
              <a:rPr b="0" i="0" lang="en-US" sz="2000" u="none" cap="none" strike="noStrike">
                <a:solidFill>
                  <a:schemeClr val="dk1"/>
                </a:solidFill>
                <a:latin typeface="Times New Roman"/>
                <a:ea typeface="Times New Roman"/>
                <a:cs typeface="Times New Roman"/>
                <a:sym typeface="Times New Roman"/>
              </a:rPr>
              <a:t>based on some parameters</a:t>
            </a:r>
            <a:r>
              <a:rPr b="1" i="0" lang="en-US" sz="2000" u="none" cap="none" strike="noStrike">
                <a:solidFill>
                  <a:schemeClr val="dk1"/>
                </a:solidFill>
                <a:latin typeface="Times New Roman"/>
                <a:ea typeface="Times New Roman"/>
                <a:cs typeface="Times New Roman"/>
                <a:sym typeface="Times New Roman"/>
              </a:rPr>
              <a:t>-Shared lines</a:t>
            </a:r>
            <a:endParaRPr/>
          </a:p>
          <a:p>
            <a:pPr indent="0" lvl="0" marL="0" marR="0" rtl="0" algn="just">
              <a:spcBef>
                <a:spcPts val="0"/>
              </a:spcBef>
              <a:spcAft>
                <a:spcPts val="0"/>
              </a:spcAft>
              <a:buNone/>
            </a:pP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Eg:- Address and data information may be transmitted over the same set of lines using an </a:t>
            </a:r>
            <a:r>
              <a:rPr lang="en-US" sz="2000">
                <a:solidFill>
                  <a:srgbClr val="FF0000"/>
                </a:solidFill>
                <a:latin typeface="Times New Roman"/>
                <a:ea typeface="Times New Roman"/>
                <a:cs typeface="Times New Roman"/>
                <a:sym typeface="Times New Roman"/>
              </a:rPr>
              <a:t>Address Valid control line. </a:t>
            </a:r>
            <a:endParaRPr sz="2000">
              <a:solidFill>
                <a:srgbClr val="FF0000"/>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		At the beginning of the data transfer the </a:t>
            </a:r>
            <a:r>
              <a:rPr b="1" lang="en-US" sz="2000">
                <a:solidFill>
                  <a:schemeClr val="dk1"/>
                </a:solidFill>
                <a:latin typeface="Times New Roman"/>
                <a:ea typeface="Times New Roman"/>
                <a:cs typeface="Times New Roman"/>
                <a:sym typeface="Times New Roman"/>
              </a:rPr>
              <a:t>address is placed </a:t>
            </a:r>
            <a:r>
              <a:rPr lang="en-US" sz="2000">
                <a:solidFill>
                  <a:schemeClr val="dk1"/>
                </a:solidFill>
                <a:latin typeface="Times New Roman"/>
                <a:ea typeface="Times New Roman"/>
                <a:cs typeface="Times New Roman"/>
                <a:sym typeface="Times New Roman"/>
              </a:rPr>
              <a:t>  on the bus and the address valid line is activated. </a:t>
            </a:r>
            <a:endParaRPr/>
          </a:p>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		The address is then removed from the same  bus line &amp; is used for </a:t>
            </a:r>
            <a:r>
              <a:rPr b="1" lang="en-US" sz="2000">
                <a:solidFill>
                  <a:schemeClr val="dk1"/>
                </a:solidFill>
                <a:latin typeface="Times New Roman"/>
                <a:ea typeface="Times New Roman"/>
                <a:cs typeface="Times New Roman"/>
                <a:sym typeface="Times New Roman"/>
              </a:rPr>
              <a:t>data transfer</a:t>
            </a:r>
            <a:r>
              <a:rPr lang="en-US" sz="2000">
                <a:solidFill>
                  <a:schemeClr val="dk1"/>
                </a:solidFill>
                <a:latin typeface="Times New Roman"/>
                <a:ea typeface="Times New Roman"/>
                <a:cs typeface="Times New Roman"/>
                <a:sym typeface="Times New Roman"/>
              </a:rPr>
              <a:t>.  </a:t>
            </a:r>
            <a:endParaRPr b="1"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440"/>
              </a:spcBef>
              <a:spcAft>
                <a:spcPts val="0"/>
              </a:spcAft>
              <a:buClr>
                <a:srgbClr val="FF0000"/>
              </a:buClr>
              <a:buSzPts val="2000"/>
              <a:buFont typeface="Arial"/>
              <a:buChar char="–"/>
            </a:pPr>
            <a:r>
              <a:rPr b="0" i="0" lang="en-US" sz="2000" u="none" cap="none" strike="noStrike">
                <a:solidFill>
                  <a:srgbClr val="FF0000"/>
                </a:solidFill>
                <a:latin typeface="Times New Roman"/>
                <a:ea typeface="Times New Roman"/>
                <a:cs typeface="Times New Roman"/>
                <a:sym typeface="Times New Roman"/>
              </a:rPr>
              <a:t>Address valid or data valid control line</a:t>
            </a:r>
            <a:endParaRPr b="0" i="0" sz="2000" u="none" cap="none" strike="noStrike">
              <a:solidFill>
                <a:srgbClr val="FF0000"/>
              </a:solidFill>
              <a:latin typeface="Times New Roman"/>
              <a:ea typeface="Times New Roman"/>
              <a:cs typeface="Times New Roman"/>
              <a:sym typeface="Times New Roman"/>
            </a:endParaRPr>
          </a:p>
        </p:txBody>
      </p:sp>
      <p:sp>
        <p:nvSpPr>
          <p:cNvPr id="549" name="Google Shape;549;p5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3"/>
          <p:cNvSpPr txBox="1"/>
          <p:nvPr>
            <p:ph type="title"/>
          </p:nvPr>
        </p:nvSpPr>
        <p:spPr>
          <a:xfrm>
            <a:off x="457200" y="274638"/>
            <a:ext cx="7467600" cy="2587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555" name="Google Shape;555;p53"/>
          <p:cNvSpPr txBox="1"/>
          <p:nvPr>
            <p:ph idx="1" type="body"/>
          </p:nvPr>
        </p:nvSpPr>
        <p:spPr>
          <a:xfrm>
            <a:off x="381000" y="685800"/>
            <a:ext cx="7543800" cy="5788152"/>
          </a:xfrm>
          <a:prstGeom prst="rect">
            <a:avLst/>
          </a:prstGeom>
          <a:noFill/>
          <a:ln>
            <a:noFill/>
          </a:ln>
        </p:spPr>
        <p:txBody>
          <a:bodyPr anchorCtr="0" anchor="t" bIns="45700" lIns="91425" spcFirstLastPara="1" rIns="91425" wrap="square" tIns="45700">
            <a:normAutofit/>
          </a:bodyPr>
          <a:lstStyle/>
          <a:p>
            <a:pPr indent="-287019" lvl="1" marL="756285" rtl="0" algn="just">
              <a:lnSpc>
                <a:spcPct val="100000"/>
              </a:lnSpc>
              <a:spcBef>
                <a:spcPts val="0"/>
              </a:spcBef>
              <a:spcAft>
                <a:spcPts val="0"/>
              </a:spcAft>
              <a:buSzPts val="1600"/>
              <a:buFont typeface="Arial"/>
              <a:buChar char="–"/>
            </a:pPr>
            <a:r>
              <a:rPr lang="en-US" sz="2000">
                <a:latin typeface="Times New Roman"/>
                <a:ea typeface="Times New Roman"/>
                <a:cs typeface="Times New Roman"/>
                <a:sym typeface="Times New Roman"/>
              </a:rPr>
              <a:t>same lines for multiple purposes is known as </a:t>
            </a:r>
            <a:r>
              <a:rPr i="1" lang="en-US" sz="2000">
                <a:solidFill>
                  <a:srgbClr val="FF0000"/>
                </a:solidFill>
                <a:latin typeface="Times New Roman"/>
                <a:ea typeface="Times New Roman"/>
                <a:cs typeface="Times New Roman"/>
                <a:sym typeface="Times New Roman"/>
              </a:rPr>
              <a:t>time multiplexing</a:t>
            </a:r>
            <a:r>
              <a:rPr i="1"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287019" lvl="1" marL="756285" rtl="0" algn="just">
              <a:lnSpc>
                <a:spcPct val="100000"/>
              </a:lnSpc>
              <a:spcBef>
                <a:spcPts val="1440"/>
              </a:spcBef>
              <a:spcAft>
                <a:spcPts val="0"/>
              </a:spcAft>
              <a:buSzPts val="1600"/>
              <a:buFont typeface="Arial"/>
              <a:buChar char="–"/>
            </a:pPr>
            <a:r>
              <a:rPr lang="en-US" sz="2000">
                <a:latin typeface="Times New Roman"/>
                <a:ea typeface="Times New Roman"/>
                <a:cs typeface="Times New Roman"/>
                <a:sym typeface="Times New Roman"/>
              </a:rPr>
              <a:t>Advantage - fewer lines (space and cost are saved)</a:t>
            </a:r>
            <a:endParaRPr sz="2000">
              <a:latin typeface="Times New Roman"/>
              <a:ea typeface="Times New Roman"/>
              <a:cs typeface="Times New Roman"/>
              <a:sym typeface="Times New Roman"/>
            </a:endParaRPr>
          </a:p>
          <a:p>
            <a:pPr indent="-287019" lvl="1" marL="756285" rtl="0" algn="just">
              <a:lnSpc>
                <a:spcPct val="100000"/>
              </a:lnSpc>
              <a:spcBef>
                <a:spcPts val="1440"/>
              </a:spcBef>
              <a:spcAft>
                <a:spcPts val="0"/>
              </a:spcAft>
              <a:buSzPts val="1600"/>
              <a:buFont typeface="Arial"/>
              <a:buChar char="–"/>
            </a:pPr>
            <a:r>
              <a:rPr lang="en-US" sz="2000">
                <a:latin typeface="Times New Roman"/>
                <a:ea typeface="Times New Roman"/>
                <a:cs typeface="Times New Roman"/>
                <a:sym typeface="Times New Roman"/>
              </a:rPr>
              <a:t>Disadvantages</a:t>
            </a:r>
            <a:endParaRPr sz="2000">
              <a:latin typeface="Times New Roman"/>
              <a:ea typeface="Times New Roman"/>
              <a:cs typeface="Times New Roman"/>
              <a:sym typeface="Times New Roman"/>
            </a:endParaRPr>
          </a:p>
          <a:p>
            <a:pPr indent="-228600" lvl="2" marL="1155700" rtl="0" algn="just">
              <a:lnSpc>
                <a:spcPct val="100000"/>
              </a:lnSpc>
              <a:spcBef>
                <a:spcPts val="1280"/>
              </a:spcBef>
              <a:spcAft>
                <a:spcPts val="0"/>
              </a:spcAft>
              <a:buSzPts val="1200"/>
              <a:buFont typeface="Arial"/>
              <a:buChar char="•"/>
            </a:pPr>
            <a:r>
              <a:rPr lang="en-US" sz="2000">
                <a:latin typeface="Times New Roman"/>
                <a:ea typeface="Times New Roman"/>
                <a:cs typeface="Times New Roman"/>
                <a:sym typeface="Times New Roman"/>
              </a:rPr>
              <a:t>More complex control</a:t>
            </a:r>
            <a:endParaRPr sz="2000">
              <a:latin typeface="Times New Roman"/>
              <a:ea typeface="Times New Roman"/>
              <a:cs typeface="Times New Roman"/>
              <a:sym typeface="Times New Roman"/>
            </a:endParaRPr>
          </a:p>
          <a:p>
            <a:pPr indent="-228600" lvl="2" marL="1155700" rtl="0" algn="just">
              <a:lnSpc>
                <a:spcPct val="100000"/>
              </a:lnSpc>
              <a:spcBef>
                <a:spcPts val="1200"/>
              </a:spcBef>
              <a:spcAft>
                <a:spcPts val="0"/>
              </a:spcAft>
              <a:buSzPts val="1200"/>
              <a:buFont typeface="Arial"/>
              <a:buChar char="•"/>
            </a:pPr>
            <a:r>
              <a:rPr lang="en-US" sz="2000">
                <a:latin typeface="Times New Roman"/>
                <a:ea typeface="Times New Roman"/>
                <a:cs typeface="Times New Roman"/>
                <a:sym typeface="Times New Roman"/>
              </a:rPr>
              <a:t>Reduction in performance</a:t>
            </a:r>
            <a:endParaRPr/>
          </a:p>
          <a:p>
            <a:pPr indent="-152400" lvl="2" marL="1155700" rtl="0" algn="just">
              <a:lnSpc>
                <a:spcPct val="100000"/>
              </a:lnSpc>
              <a:spcBef>
                <a:spcPts val="1200"/>
              </a:spcBef>
              <a:spcAft>
                <a:spcPts val="0"/>
              </a:spcAft>
              <a:buSzPts val="1200"/>
              <a:buFont typeface="Arial"/>
              <a:buNone/>
            </a:pPr>
            <a:r>
              <a:t/>
            </a:r>
            <a:endParaRPr sz="2000">
              <a:latin typeface="Times New Roman"/>
              <a:ea typeface="Times New Roman"/>
              <a:cs typeface="Times New Roman"/>
              <a:sym typeface="Times New Roman"/>
            </a:endParaRPr>
          </a:p>
          <a:p>
            <a:pPr indent="-274320" lvl="0" marL="274320" rtl="0" algn="just">
              <a:spcBef>
                <a:spcPts val="600"/>
              </a:spcBef>
              <a:spcAft>
                <a:spcPts val="0"/>
              </a:spcAft>
              <a:buSzPts val="1400"/>
              <a:buChar char="🞆"/>
            </a:pPr>
            <a:r>
              <a:rPr i="1" lang="en-US" sz="2000">
                <a:latin typeface="Times New Roman"/>
                <a:ea typeface="Times New Roman"/>
                <a:cs typeface="Times New Roman"/>
                <a:sym typeface="Times New Roman"/>
              </a:rPr>
              <a:t>Physical dedication </a:t>
            </a:r>
            <a:r>
              <a:rPr lang="en-US" sz="2000">
                <a:latin typeface="Times New Roman"/>
                <a:ea typeface="Times New Roman"/>
                <a:cs typeface="Times New Roman"/>
                <a:sym typeface="Times New Roman"/>
              </a:rPr>
              <a:t>refers to the use of multiple buses, each of which connects only a subset of modules. </a:t>
            </a:r>
            <a:endParaRPr sz="2000">
              <a:latin typeface="Times New Roman"/>
              <a:ea typeface="Times New Roman"/>
              <a:cs typeface="Times New Roman"/>
              <a:sym typeface="Times New Roman"/>
            </a:endParaRPr>
          </a:p>
          <a:p>
            <a:pPr indent="-274320" lvl="1" marL="640080" rtl="0" algn="just">
              <a:spcBef>
                <a:spcPts val="400"/>
              </a:spcBef>
              <a:spcAft>
                <a:spcPts val="0"/>
              </a:spcAft>
              <a:buSzPts val="1600"/>
              <a:buChar char="⚫"/>
            </a:pPr>
            <a:r>
              <a:rPr lang="en-US" sz="2000">
                <a:latin typeface="Times New Roman"/>
                <a:ea typeface="Times New Roman"/>
                <a:cs typeface="Times New Roman"/>
                <a:sym typeface="Times New Roman"/>
              </a:rPr>
              <a:t>A typical example is the </a:t>
            </a:r>
            <a:r>
              <a:rPr lang="en-US" sz="2000">
                <a:solidFill>
                  <a:srgbClr val="FF0000"/>
                </a:solidFill>
                <a:latin typeface="Times New Roman"/>
                <a:ea typeface="Times New Roman"/>
                <a:cs typeface="Times New Roman"/>
                <a:sym typeface="Times New Roman"/>
              </a:rPr>
              <a:t>use of an I/O bus to interconnect all I/O modules</a:t>
            </a:r>
            <a:endParaRPr/>
          </a:p>
          <a:p>
            <a:pPr indent="-274320" lvl="1" marL="640080" rtl="0" algn="l">
              <a:spcBef>
                <a:spcPts val="400"/>
              </a:spcBef>
              <a:spcAft>
                <a:spcPts val="0"/>
              </a:spcAft>
              <a:buSzPts val="1600"/>
              <a:buChar char="⚫"/>
            </a:pPr>
            <a:r>
              <a:rPr lang="en-US" sz="2000">
                <a:solidFill>
                  <a:srgbClr val="FF0000"/>
                </a:solidFill>
                <a:latin typeface="Times New Roman"/>
                <a:ea typeface="Times New Roman"/>
                <a:cs typeface="Times New Roman"/>
                <a:sym typeface="Times New Roman"/>
              </a:rPr>
              <a:t>High throughput, </a:t>
            </a:r>
            <a:r>
              <a:rPr lang="en-US" sz="2000">
                <a:latin typeface="Times New Roman"/>
                <a:ea typeface="Times New Roman"/>
                <a:cs typeface="Times New Roman"/>
                <a:sym typeface="Times New Roman"/>
              </a:rPr>
              <a:t>because there is </a:t>
            </a:r>
            <a:r>
              <a:rPr lang="en-US" sz="2000">
                <a:solidFill>
                  <a:srgbClr val="FF0000"/>
                </a:solidFill>
                <a:latin typeface="Times New Roman"/>
                <a:ea typeface="Times New Roman"/>
                <a:cs typeface="Times New Roman"/>
                <a:sym typeface="Times New Roman"/>
              </a:rPr>
              <a:t>less bus contention </a:t>
            </a:r>
            <a:r>
              <a:rPr lang="en-US" sz="2000">
                <a:latin typeface="Times New Roman"/>
                <a:ea typeface="Times New Roman"/>
                <a:cs typeface="Times New Roman"/>
                <a:sym typeface="Times New Roman"/>
              </a:rPr>
              <a:t>(when two outputs drive the same signal at the same time).</a:t>
            </a:r>
            <a:endParaRPr/>
          </a:p>
          <a:p>
            <a:pPr indent="-274320" lvl="1" marL="640080" rtl="0" algn="l">
              <a:spcBef>
                <a:spcPts val="400"/>
              </a:spcBef>
              <a:spcAft>
                <a:spcPts val="0"/>
              </a:spcAft>
              <a:buSzPts val="1600"/>
              <a:buChar char="⚫"/>
            </a:pPr>
            <a:r>
              <a:rPr lang="en-US" sz="2000">
                <a:latin typeface="Times New Roman"/>
                <a:ea typeface="Times New Roman"/>
                <a:cs typeface="Times New Roman"/>
                <a:sym typeface="Times New Roman"/>
              </a:rPr>
              <a:t>A disadvantage is the </a:t>
            </a:r>
            <a:r>
              <a:rPr lang="en-US" sz="2000">
                <a:solidFill>
                  <a:srgbClr val="FF0000"/>
                </a:solidFill>
                <a:latin typeface="Times New Roman"/>
                <a:ea typeface="Times New Roman"/>
                <a:cs typeface="Times New Roman"/>
                <a:sym typeface="Times New Roman"/>
              </a:rPr>
              <a:t>increased size and cost of the system</a:t>
            </a:r>
            <a:r>
              <a:rPr lang="en-US" sz="2000">
                <a:latin typeface="Times New Roman"/>
                <a:ea typeface="Times New Roman"/>
                <a:cs typeface="Times New Roman"/>
                <a:sym typeface="Times New Roman"/>
              </a:rPr>
              <a:t>.</a:t>
            </a:r>
            <a:endParaRPr/>
          </a:p>
        </p:txBody>
      </p:sp>
      <p:sp>
        <p:nvSpPr>
          <p:cNvPr id="556" name="Google Shape;556;p5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0" name="Shape 560"/>
        <p:cNvGrpSpPr/>
        <p:nvPr/>
      </p:nvGrpSpPr>
      <p:grpSpPr>
        <a:xfrm>
          <a:off x="0" y="0"/>
          <a:ext cx="0" cy="0"/>
          <a:chOff x="0" y="0"/>
          <a:chExt cx="0" cy="0"/>
        </a:xfrm>
      </p:grpSpPr>
      <p:sp>
        <p:nvSpPr>
          <p:cNvPr id="561" name="Google Shape;561;p54"/>
          <p:cNvSpPr txBox="1"/>
          <p:nvPr>
            <p:ph type="title"/>
          </p:nvPr>
        </p:nvSpPr>
        <p:spPr>
          <a:xfrm>
            <a:off x="2895600" y="152400"/>
            <a:ext cx="3451200" cy="69720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Bus Arbitration</a:t>
            </a:r>
            <a:endParaRPr/>
          </a:p>
        </p:txBody>
      </p:sp>
      <p:sp>
        <p:nvSpPr>
          <p:cNvPr id="562" name="Google Shape;562;p54"/>
          <p:cNvSpPr txBox="1"/>
          <p:nvPr/>
        </p:nvSpPr>
        <p:spPr>
          <a:xfrm>
            <a:off x="457200" y="1219200"/>
            <a:ext cx="8229600" cy="4038900"/>
          </a:xfrm>
          <a:prstGeom prst="rect">
            <a:avLst/>
          </a:prstGeom>
          <a:noFill/>
          <a:ln>
            <a:noFill/>
          </a:ln>
        </p:spPr>
        <p:txBody>
          <a:bodyPr anchorCtr="0" anchor="t" bIns="0" lIns="0" spcFirstLastPara="1" rIns="0" wrap="square" tIns="12050">
            <a:spAutoFit/>
          </a:bodyPr>
          <a:lstStyle/>
          <a:p>
            <a:pPr indent="-343535" lvl="0" marL="3556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Only one module may control bus at one time-e.. CPU and DMA controller</a:t>
            </a:r>
            <a:endParaRPr sz="2000">
              <a:solidFill>
                <a:schemeClr val="dk1"/>
              </a:solidFill>
              <a:latin typeface="Times New Roman"/>
              <a:ea typeface="Times New Roman"/>
              <a:cs typeface="Times New Roman"/>
              <a:sym typeface="Times New Roman"/>
            </a:endParaRPr>
          </a:p>
          <a:p>
            <a:pPr indent="-216534" lvl="0" marL="355600" marR="0" rtl="0" algn="just">
              <a:lnSpc>
                <a:spcPct val="150000"/>
              </a:lnSpc>
              <a:spcBef>
                <a:spcPts val="95"/>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343535" lvl="0" marL="355600" marR="0" rtl="0" algn="just">
              <a:lnSpc>
                <a:spcPct val="150000"/>
              </a:lnSpc>
              <a:spcBef>
                <a:spcPts val="9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More than one module controlling the bus-data corruption and system instability</a:t>
            </a:r>
            <a:endParaRPr sz="2000">
              <a:solidFill>
                <a:schemeClr val="dk1"/>
              </a:solidFill>
              <a:latin typeface="Times New Roman"/>
              <a:ea typeface="Times New Roman"/>
              <a:cs typeface="Times New Roman"/>
              <a:sym typeface="Times New Roman"/>
            </a:endParaRPr>
          </a:p>
          <a:p>
            <a:pPr indent="-343535" lvl="0" marL="3556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Bus arbitration </a:t>
            </a:r>
            <a:r>
              <a:rPr lang="en-US" sz="2000">
                <a:solidFill>
                  <a:schemeClr val="dk1"/>
                </a:solidFill>
                <a:latin typeface="Times New Roman"/>
                <a:ea typeface="Times New Roman"/>
                <a:cs typeface="Times New Roman"/>
                <a:sym typeface="Times New Roman"/>
              </a:rPr>
              <a:t>is the process of resolving conflicts that arise when multiple devices attempt to access the bus at the same time</a:t>
            </a:r>
            <a:endParaRPr/>
          </a:p>
          <a:p>
            <a:pPr indent="-343535" lvl="0" marL="3556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Ensure that only one device has access to the bus at any given time.</a:t>
            </a:r>
            <a:endParaRPr sz="2000">
              <a:solidFill>
                <a:schemeClr val="dk1"/>
              </a:solidFill>
              <a:latin typeface="Times New Roman"/>
              <a:ea typeface="Times New Roman"/>
              <a:cs typeface="Times New Roman"/>
              <a:sym typeface="Times New Roman"/>
            </a:endParaRPr>
          </a:p>
          <a:p>
            <a:pPr indent="-343535" lvl="0" marL="3556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Arbitration may be </a:t>
            </a:r>
            <a:r>
              <a:rPr b="1" lang="en-US" sz="2000">
                <a:solidFill>
                  <a:schemeClr val="dk1"/>
                </a:solidFill>
                <a:latin typeface="Times New Roman"/>
                <a:ea typeface="Times New Roman"/>
                <a:cs typeface="Times New Roman"/>
                <a:sym typeface="Times New Roman"/>
              </a:rPr>
              <a:t>centralised or distributed</a:t>
            </a:r>
            <a:endParaRPr b="1" sz="2000">
              <a:solidFill>
                <a:schemeClr val="dk1"/>
              </a:solidFill>
              <a:latin typeface="Times New Roman"/>
              <a:ea typeface="Times New Roman"/>
              <a:cs typeface="Times New Roman"/>
              <a:sym typeface="Times New Roman"/>
            </a:endParaRPr>
          </a:p>
          <a:p>
            <a:pPr indent="-216534" lvl="0" marL="355600" marR="0" rtl="0" algn="just">
              <a:spcBef>
                <a:spcPts val="0"/>
              </a:spcBef>
              <a:spcAft>
                <a:spcPts val="0"/>
              </a:spcAft>
              <a:buClr>
                <a:schemeClr val="dk1"/>
              </a:buClr>
              <a:buSzPts val="2000"/>
              <a:buFont typeface="Arial"/>
              <a:buNone/>
            </a:pPr>
            <a:r>
              <a:t/>
            </a:r>
            <a:endParaRPr b="1" sz="2000">
              <a:solidFill>
                <a:schemeClr val="dk1"/>
              </a:solidFill>
              <a:latin typeface="Times New Roman"/>
              <a:ea typeface="Times New Roman"/>
              <a:cs typeface="Times New Roman"/>
              <a:sym typeface="Times New Roman"/>
            </a:endParaRPr>
          </a:p>
        </p:txBody>
      </p:sp>
      <p:sp>
        <p:nvSpPr>
          <p:cNvPr id="563" name="Google Shape;563;p5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7" name="Shape 567"/>
        <p:cNvGrpSpPr/>
        <p:nvPr/>
      </p:nvGrpSpPr>
      <p:grpSpPr>
        <a:xfrm>
          <a:off x="0" y="0"/>
          <a:ext cx="0" cy="0"/>
          <a:chOff x="0" y="0"/>
          <a:chExt cx="0" cy="0"/>
        </a:xfrm>
      </p:grpSpPr>
      <p:sp>
        <p:nvSpPr>
          <p:cNvPr id="568" name="Google Shape;568;p55"/>
          <p:cNvSpPr txBox="1"/>
          <p:nvPr>
            <p:ph type="title"/>
          </p:nvPr>
        </p:nvSpPr>
        <p:spPr>
          <a:xfrm>
            <a:off x="630419" y="457200"/>
            <a:ext cx="7682230" cy="504625"/>
          </a:xfrm>
          <a:prstGeom prst="rect">
            <a:avLst/>
          </a:prstGeom>
          <a:noFill/>
          <a:ln>
            <a:noFill/>
          </a:ln>
        </p:spPr>
        <p:txBody>
          <a:bodyPr anchorCtr="0" anchor="b" bIns="0" lIns="0" spcFirstLastPara="1" rIns="0" wrap="square" tIns="12050">
            <a:spAutoFit/>
          </a:bodyPr>
          <a:lstStyle/>
          <a:p>
            <a:pPr indent="0" lvl="0" marL="12700" rtl="0" algn="ctr">
              <a:lnSpc>
                <a:spcPct val="100000"/>
              </a:lnSpc>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Centralised or Distributed Arbitration</a:t>
            </a:r>
            <a:endParaRPr sz="3200">
              <a:latin typeface="Times New Roman"/>
              <a:ea typeface="Times New Roman"/>
              <a:cs typeface="Times New Roman"/>
              <a:sym typeface="Times New Roman"/>
            </a:endParaRPr>
          </a:p>
        </p:txBody>
      </p:sp>
      <p:sp>
        <p:nvSpPr>
          <p:cNvPr id="569" name="Google Shape;569;p55"/>
          <p:cNvSpPr txBox="1"/>
          <p:nvPr/>
        </p:nvSpPr>
        <p:spPr>
          <a:xfrm>
            <a:off x="457200" y="1066800"/>
            <a:ext cx="7941158" cy="5406608"/>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Centralised</a:t>
            </a:r>
            <a:endParaRPr sz="2700">
              <a:solidFill>
                <a:schemeClr val="dk1"/>
              </a:solidFill>
              <a:latin typeface="Times New Roman"/>
              <a:ea typeface="Times New Roman"/>
              <a:cs typeface="Times New Roman"/>
              <a:sym typeface="Times New Roman"/>
            </a:endParaRPr>
          </a:p>
          <a:p>
            <a:pPr indent="-287019"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Single hardware device controlling bus access-responsible for allocating time on the bus</a:t>
            </a:r>
            <a:endParaRPr b="0" i="0" sz="2400" u="none" cap="none" strike="noStrike">
              <a:solidFill>
                <a:schemeClr val="dk1"/>
              </a:solidFill>
              <a:latin typeface="Times New Roman"/>
              <a:ea typeface="Times New Roman"/>
              <a:cs typeface="Times New Roman"/>
              <a:sym typeface="Times New Roman"/>
            </a:endParaRPr>
          </a:p>
          <a:p>
            <a:pPr indent="-229234" lvl="2" marL="1155065" marR="0" rtl="0" algn="l">
              <a:lnSpc>
                <a:spcPct val="100000"/>
              </a:lnSpc>
              <a:spcBef>
                <a:spcPts val="1525"/>
              </a:spcBef>
              <a:spcAft>
                <a:spcPts val="0"/>
              </a:spcAft>
              <a:buClr>
                <a:srgbClr val="FF0000"/>
              </a:buClr>
              <a:buSzPts val="2000"/>
              <a:buFont typeface="Arial"/>
              <a:buChar char="•"/>
            </a:pPr>
            <a:r>
              <a:rPr b="0" i="0" lang="en-US" sz="2000" u="none" cap="none" strike="noStrike">
                <a:solidFill>
                  <a:srgbClr val="FF0000"/>
                </a:solidFill>
                <a:latin typeface="Times New Roman"/>
                <a:ea typeface="Times New Roman"/>
                <a:cs typeface="Times New Roman"/>
                <a:sym typeface="Times New Roman"/>
              </a:rPr>
              <a:t>Bus Controller</a:t>
            </a:r>
            <a:endParaRPr b="0" i="0" sz="2000" u="none" cap="none" strike="noStrike">
              <a:solidFill>
                <a:srgbClr val="FF0000"/>
              </a:solidFill>
              <a:latin typeface="Times New Roman"/>
              <a:ea typeface="Times New Roman"/>
              <a:cs typeface="Times New Roman"/>
              <a:sym typeface="Times New Roman"/>
            </a:endParaRPr>
          </a:p>
          <a:p>
            <a:pPr indent="-229234" lvl="2" marL="1155065" marR="0" rtl="0" algn="l">
              <a:lnSpc>
                <a:spcPct val="100000"/>
              </a:lnSpc>
              <a:spcBef>
                <a:spcPts val="1440"/>
              </a:spcBef>
              <a:spcAft>
                <a:spcPts val="0"/>
              </a:spcAft>
              <a:buClr>
                <a:srgbClr val="FF0000"/>
              </a:buClr>
              <a:buSzPts val="2000"/>
              <a:buFont typeface="Arial"/>
              <a:buChar char="•"/>
            </a:pPr>
            <a:r>
              <a:rPr b="0" i="0" lang="en-US" sz="2000" u="none" cap="none" strike="noStrike">
                <a:solidFill>
                  <a:srgbClr val="FF0000"/>
                </a:solidFill>
                <a:latin typeface="Times New Roman"/>
                <a:ea typeface="Times New Roman"/>
                <a:cs typeface="Times New Roman"/>
                <a:sym typeface="Times New Roman"/>
              </a:rPr>
              <a:t>Arbiter</a:t>
            </a:r>
            <a:endParaRPr b="0" i="0" sz="2000" u="none" cap="none" strike="noStrike">
              <a:solidFill>
                <a:srgbClr val="FF0000"/>
              </a:solidFill>
              <a:latin typeface="Times New Roman"/>
              <a:ea typeface="Times New Roman"/>
              <a:cs typeface="Times New Roman"/>
              <a:sym typeface="Times New Roman"/>
            </a:endParaRPr>
          </a:p>
          <a:p>
            <a:pPr indent="-287019" lvl="1" marL="756285" marR="0" rtl="0" algn="l">
              <a:lnSpc>
                <a:spcPct val="100000"/>
              </a:lnSpc>
              <a:spcBef>
                <a:spcPts val="164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May be part of CPU or separate</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1885"/>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Distributed</a:t>
            </a:r>
            <a:endParaRPr sz="2700">
              <a:solidFill>
                <a:schemeClr val="dk1"/>
              </a:solidFill>
              <a:latin typeface="Times New Roman"/>
              <a:ea typeface="Times New Roman"/>
              <a:cs typeface="Times New Roman"/>
              <a:sym typeface="Times New Roman"/>
            </a:endParaRPr>
          </a:p>
          <a:p>
            <a:pPr indent="-287019"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Each module may claim the bus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No central controller</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172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Control logic on all modules</a:t>
            </a:r>
            <a:endParaRPr/>
          </a:p>
        </p:txBody>
      </p:sp>
      <p:sp>
        <p:nvSpPr>
          <p:cNvPr id="570" name="Google Shape;570;p5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t/>
            </a:r>
            <a:endParaRPr/>
          </a:p>
        </p:txBody>
      </p:sp>
      <p:sp>
        <p:nvSpPr>
          <p:cNvPr id="576" name="Google Shape;576;p5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purpose is to designate one device, either the processor or an I/O module, as master-initiate a data transfer (e.g., read or write) with some other device, which acts as slave for this particular exchange.</a:t>
            </a:r>
            <a:endParaRPr>
              <a:latin typeface="Times New Roman"/>
              <a:ea typeface="Times New Roman"/>
              <a:cs typeface="Times New Roman"/>
              <a:sym typeface="Times New Roman"/>
            </a:endParaRPr>
          </a:p>
        </p:txBody>
      </p:sp>
      <p:sp>
        <p:nvSpPr>
          <p:cNvPr id="577" name="Google Shape;577;p5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1" name="Shape 581"/>
        <p:cNvGrpSpPr/>
        <p:nvPr/>
      </p:nvGrpSpPr>
      <p:grpSpPr>
        <a:xfrm>
          <a:off x="0" y="0"/>
          <a:ext cx="0" cy="0"/>
          <a:chOff x="0" y="0"/>
          <a:chExt cx="0" cy="0"/>
        </a:xfrm>
      </p:grpSpPr>
      <p:sp>
        <p:nvSpPr>
          <p:cNvPr id="582" name="Google Shape;582;p57"/>
          <p:cNvSpPr txBox="1"/>
          <p:nvPr>
            <p:ph type="title"/>
          </p:nvPr>
        </p:nvSpPr>
        <p:spPr>
          <a:xfrm>
            <a:off x="1752600" y="615553"/>
            <a:ext cx="4900549" cy="505267"/>
          </a:xfrm>
          <a:prstGeom prst="rect">
            <a:avLst/>
          </a:prstGeom>
          <a:noFill/>
          <a:ln>
            <a:noFill/>
          </a:ln>
        </p:spPr>
        <p:txBody>
          <a:bodyPr anchorCtr="0" anchor="b" bIns="0" lIns="0" spcFirstLastPara="1" rIns="0" wrap="square" tIns="12700">
            <a:spAutoFit/>
          </a:bodyPr>
          <a:lstStyle/>
          <a:p>
            <a:pPr indent="0" lvl="0" marL="12700" rtl="0" algn="ctr">
              <a:lnSpc>
                <a:spcPct val="100000"/>
              </a:lnSpc>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Introduction to PCI Bus</a:t>
            </a:r>
            <a:endParaRPr/>
          </a:p>
        </p:txBody>
      </p:sp>
      <p:sp>
        <p:nvSpPr>
          <p:cNvPr id="583" name="Google Shape;583;p57"/>
          <p:cNvSpPr txBox="1"/>
          <p:nvPr/>
        </p:nvSpPr>
        <p:spPr>
          <a:xfrm>
            <a:off x="329590" y="918007"/>
            <a:ext cx="8227695" cy="5193729"/>
          </a:xfrm>
          <a:prstGeom prst="rect">
            <a:avLst/>
          </a:prstGeom>
          <a:noFill/>
          <a:ln>
            <a:noFill/>
          </a:ln>
        </p:spPr>
        <p:txBody>
          <a:bodyPr anchorCtr="0" anchor="t" bIns="0" lIns="0" spcFirstLastPara="1" rIns="0" wrap="square" tIns="88900">
            <a:spAutoFit/>
          </a:bodyPr>
          <a:lstStyle/>
          <a:p>
            <a:pPr indent="-342900" lvl="0" marL="355600" marR="0" rtl="0" algn="just">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Bus</a:t>
            </a:r>
            <a:endParaRPr/>
          </a:p>
          <a:p>
            <a:pPr indent="-457834" lvl="1" marL="927100" marR="0" rtl="0" algn="just">
              <a:lnSpc>
                <a:spcPct val="100000"/>
              </a:lnSpc>
              <a:spcBef>
                <a:spcPts val="509"/>
              </a:spcBef>
              <a:spcAft>
                <a:spcPts val="0"/>
              </a:spcAft>
              <a:buClr>
                <a:schemeClr val="dk1"/>
              </a:buClr>
              <a:buSzPts val="2000"/>
              <a:buFont typeface="Times New Roman"/>
              <a:buAutoNum type="alphaLcParenR"/>
            </a:pPr>
            <a:r>
              <a:rPr b="0" i="0" lang="en-US" sz="2000" u="none" cap="none" strike="noStrike">
                <a:solidFill>
                  <a:schemeClr val="dk1"/>
                </a:solidFill>
                <a:latin typeface="Times New Roman"/>
                <a:ea typeface="Times New Roman"/>
                <a:cs typeface="Times New Roman"/>
                <a:sym typeface="Times New Roman"/>
              </a:rPr>
              <a:t>highways that take information and power from one place to another.</a:t>
            </a:r>
            <a:endParaRPr b="0" i="0" sz="2000" u="none" cap="none" strike="noStrike">
              <a:solidFill>
                <a:schemeClr val="dk1"/>
              </a:solidFill>
              <a:latin typeface="Times New Roman"/>
              <a:ea typeface="Times New Roman"/>
              <a:cs typeface="Times New Roman"/>
              <a:sym typeface="Times New Roman"/>
            </a:endParaRPr>
          </a:p>
          <a:p>
            <a:pPr indent="-457834" lvl="1" marL="927100" marR="0" rtl="0" algn="just">
              <a:lnSpc>
                <a:spcPct val="100000"/>
              </a:lnSpc>
              <a:spcBef>
                <a:spcPts val="480"/>
              </a:spcBef>
              <a:spcAft>
                <a:spcPts val="0"/>
              </a:spcAft>
              <a:buClr>
                <a:schemeClr val="dk1"/>
              </a:buClr>
              <a:buSzPts val="2000"/>
              <a:buFont typeface="Times New Roman"/>
              <a:buAutoNum type="alphaLcParenR"/>
            </a:pPr>
            <a:r>
              <a:rPr b="0" i="0" lang="en-US" sz="2000" u="none" cap="none" strike="noStrike">
                <a:solidFill>
                  <a:schemeClr val="dk1"/>
                </a:solidFill>
                <a:latin typeface="Times New Roman"/>
                <a:ea typeface="Times New Roman"/>
                <a:cs typeface="Times New Roman"/>
                <a:sym typeface="Times New Roman"/>
              </a:rPr>
              <a:t>channel or path between the components in a computer</a:t>
            </a:r>
            <a:endParaRPr b="0" i="0" sz="2000" u="none" cap="none" strike="noStrike">
              <a:solidFill>
                <a:schemeClr val="dk1"/>
              </a:solidFill>
              <a:latin typeface="Times New Roman"/>
              <a:ea typeface="Times New Roman"/>
              <a:cs typeface="Times New Roman"/>
              <a:sym typeface="Times New Roman"/>
            </a:endParaRPr>
          </a:p>
          <a:p>
            <a:pPr indent="-457834" lvl="1" marL="927100" marR="0" rtl="0" algn="just">
              <a:lnSpc>
                <a:spcPct val="100000"/>
              </a:lnSpc>
              <a:spcBef>
                <a:spcPts val="480"/>
              </a:spcBef>
              <a:spcAft>
                <a:spcPts val="0"/>
              </a:spcAft>
              <a:buClr>
                <a:schemeClr val="dk1"/>
              </a:buClr>
              <a:buSzPts val="2000"/>
              <a:buFont typeface="Times New Roman"/>
              <a:buAutoNum type="alphaLcParenR"/>
            </a:pPr>
            <a:r>
              <a:rPr b="0" i="0" lang="en-US" sz="2000" u="none" cap="none" strike="noStrike">
                <a:solidFill>
                  <a:schemeClr val="dk1"/>
                </a:solidFill>
                <a:latin typeface="Times New Roman"/>
                <a:ea typeface="Times New Roman"/>
                <a:cs typeface="Times New Roman"/>
                <a:sym typeface="Times New Roman"/>
              </a:rPr>
              <a:t>lets you connect components to the computer's processor</a:t>
            </a:r>
            <a:endParaRPr b="0" i="0" sz="2000" u="none" cap="none" strike="noStrike">
              <a:solidFill>
                <a:schemeClr val="dk1"/>
              </a:solidFill>
              <a:latin typeface="Times New Roman"/>
              <a:ea typeface="Times New Roman"/>
              <a:cs typeface="Times New Roman"/>
              <a:sym typeface="Times New Roman"/>
            </a:endParaRPr>
          </a:p>
          <a:p>
            <a:pPr indent="-457834" lvl="1" marL="927100" marR="0" rtl="0" algn="just">
              <a:lnSpc>
                <a:spcPct val="100000"/>
              </a:lnSpc>
              <a:spcBef>
                <a:spcPts val="480"/>
              </a:spcBef>
              <a:spcAft>
                <a:spcPts val="0"/>
              </a:spcAft>
              <a:buClr>
                <a:schemeClr val="dk1"/>
              </a:buClr>
              <a:buSzPts val="2000"/>
              <a:buFont typeface="Times New Roman"/>
              <a:buAutoNum type="alphaLcParenR"/>
            </a:pPr>
            <a:r>
              <a:rPr b="0" i="0" lang="en-US" sz="2000" u="none" cap="none" strike="noStrike">
                <a:solidFill>
                  <a:schemeClr val="dk1"/>
                </a:solidFill>
                <a:latin typeface="Times New Roman"/>
                <a:ea typeface="Times New Roman"/>
                <a:cs typeface="Times New Roman"/>
                <a:sym typeface="Times New Roman"/>
              </a:rPr>
              <a:t>hard disks, memory, sound systems, video systems , graphics card etc…</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5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PCI Bus</a:t>
            </a:r>
            <a:endParaRPr/>
          </a:p>
          <a:p>
            <a:pPr indent="-342900" lvl="0" marL="355600" marR="0" rtl="0" algn="just">
              <a:lnSpc>
                <a:spcPct val="100000"/>
              </a:lnSpc>
              <a:spcBef>
                <a:spcPts val="58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Nowadays	USB-</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7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Used as the standard in most computers' high-speed buses</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7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Firewire ?</a:t>
            </a:r>
            <a:endParaRPr/>
          </a:p>
          <a:p>
            <a:pPr indent="-342900" lvl="0" marL="355600" marR="0" rtl="0" algn="just">
              <a:lnSpc>
                <a:spcPct val="100000"/>
              </a:lnSpc>
              <a:spcBef>
                <a:spcPts val="58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ISA Bus- Industry Standard Architecture</a:t>
            </a:r>
            <a:endParaRPr sz="2000">
              <a:solidFill>
                <a:schemeClr val="dk1"/>
              </a:solidFill>
              <a:latin typeface="Times New Roman"/>
              <a:ea typeface="Times New Roman"/>
              <a:cs typeface="Times New Roman"/>
              <a:sym typeface="Times New Roman"/>
            </a:endParaRPr>
          </a:p>
          <a:p>
            <a:pPr indent="-342900" lvl="0" marL="355600" marR="1105535" rtl="0" algn="just">
              <a:lnSpc>
                <a:spcPct val="100000"/>
              </a:lnSpc>
              <a:spcBef>
                <a:spcPts val="57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IT PROVIDES DIRECT ACCESS TO SYSTEM MEMORY FOR  CONNECTED DEVICES</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8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Intel created the PnP standard and incorporated it into the</a:t>
            </a:r>
            <a:endParaRPr/>
          </a:p>
          <a:p>
            <a:pPr indent="0" lvl="0" marL="3556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design for PCI.</a:t>
            </a:r>
            <a:endParaRPr sz="2000">
              <a:solidFill>
                <a:schemeClr val="dk1"/>
              </a:solidFill>
              <a:latin typeface="Times New Roman"/>
              <a:ea typeface="Times New Roman"/>
              <a:cs typeface="Times New Roman"/>
              <a:sym typeface="Times New Roman"/>
            </a:endParaRPr>
          </a:p>
        </p:txBody>
      </p:sp>
      <p:sp>
        <p:nvSpPr>
          <p:cNvPr id="584" name="Google Shape;584;p57"/>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8"/>
          <p:cNvSpPr txBox="1"/>
          <p:nvPr>
            <p:ph type="title"/>
          </p:nvPr>
        </p:nvSpPr>
        <p:spPr>
          <a:xfrm>
            <a:off x="457200" y="274638"/>
            <a:ext cx="7467600" cy="6399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dk2"/>
              </a:buClr>
              <a:buSzPct val="100000"/>
              <a:buFont typeface="Century Schoolbook"/>
              <a:buNone/>
            </a:pPr>
            <a:r>
              <a:rPr lang="en-US"/>
              <a:t>PCI-peripheral component interconnect (PCI)</a:t>
            </a:r>
            <a:endParaRPr/>
          </a:p>
        </p:txBody>
      </p:sp>
      <p:sp>
        <p:nvSpPr>
          <p:cNvPr id="590" name="Google Shape;590;p58"/>
          <p:cNvSpPr txBox="1"/>
          <p:nvPr>
            <p:ph idx="1" type="body"/>
          </p:nvPr>
        </p:nvSpPr>
        <p:spPr>
          <a:xfrm>
            <a:off x="304800" y="914400"/>
            <a:ext cx="8305800" cy="555960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1680"/>
              <a:buChar char="🞆"/>
            </a:pPr>
            <a:r>
              <a:rPr b="1" lang="en-US">
                <a:latin typeface="Times New Roman"/>
                <a:ea typeface="Times New Roman"/>
                <a:cs typeface="Times New Roman"/>
                <a:sym typeface="Times New Roman"/>
              </a:rPr>
              <a:t>high-bandwidth,processor-independent, low cost </a:t>
            </a:r>
            <a:r>
              <a:rPr lang="en-US">
                <a:latin typeface="Times New Roman"/>
                <a:ea typeface="Times New Roman"/>
                <a:cs typeface="Times New Roman"/>
                <a:sym typeface="Times New Roman"/>
              </a:rPr>
              <a:t>bus that can function as a peripheral bus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PCI delivers better system performance for </a:t>
            </a:r>
            <a:r>
              <a:rPr b="1" lang="en-US">
                <a:latin typeface="Times New Roman"/>
                <a:ea typeface="Times New Roman"/>
                <a:cs typeface="Times New Roman"/>
                <a:sym typeface="Times New Roman"/>
              </a:rPr>
              <a:t>high-speed I/O </a:t>
            </a:r>
            <a:r>
              <a:rPr lang="en-US">
                <a:latin typeface="Times New Roman"/>
                <a:ea typeface="Times New Roman"/>
                <a:cs typeface="Times New Roman"/>
                <a:sym typeface="Times New Roman"/>
              </a:rPr>
              <a:t>subsystems (</a:t>
            </a:r>
            <a:r>
              <a:rPr i="1" lang="en-US">
                <a:latin typeface="Times New Roman"/>
                <a:ea typeface="Times New Roman"/>
                <a:cs typeface="Times New Roman"/>
                <a:sym typeface="Times New Roman"/>
              </a:rPr>
              <a:t>e.g., graphic display adapters, network interface controllers, disk controllers)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Current standard allows the use of up to </a:t>
            </a:r>
            <a:r>
              <a:rPr b="1" lang="en-US">
                <a:latin typeface="Times New Roman"/>
                <a:ea typeface="Times New Roman"/>
                <a:cs typeface="Times New Roman"/>
                <a:sym typeface="Times New Roman"/>
              </a:rPr>
              <a:t>64 data lines at 66 MHz, for a raw transfer rate of 528 MByte/s, or 4.224 Gbps</a:t>
            </a:r>
            <a:endParaRPr b="1">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Requires very few chips to implement and supports other buses attached to the PCI bus.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PCI is designed to support a variety of microprocessor-based configurations, including both single- and multiple-processor systems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It makes use of </a:t>
            </a:r>
            <a:r>
              <a:rPr b="1" lang="en-US">
                <a:latin typeface="Times New Roman"/>
                <a:ea typeface="Times New Roman"/>
                <a:cs typeface="Times New Roman"/>
                <a:sym typeface="Times New Roman"/>
              </a:rPr>
              <a:t>synchronous timing and a centralized arbitration scheme.</a:t>
            </a:r>
            <a:endParaRPr b="1">
              <a:latin typeface="Times New Roman"/>
              <a:ea typeface="Times New Roman"/>
              <a:cs typeface="Times New Roman"/>
              <a:sym typeface="Times New Roman"/>
            </a:endParaRPr>
          </a:p>
          <a:p>
            <a:pPr indent="-167640" lvl="0" marL="274320" rtl="0" algn="just">
              <a:spcBef>
                <a:spcPts val="600"/>
              </a:spcBef>
              <a:spcAft>
                <a:spcPts val="0"/>
              </a:spcAft>
              <a:buSzPts val="1680"/>
              <a:buNone/>
            </a:pPr>
            <a:r>
              <a:t/>
            </a:r>
            <a:endParaRPr i="1">
              <a:latin typeface="Times New Roman"/>
              <a:ea typeface="Times New Roman"/>
              <a:cs typeface="Times New Roman"/>
              <a:sym typeface="Times New Roman"/>
            </a:endParaRPr>
          </a:p>
          <a:p>
            <a:pPr indent="-167640" lvl="0" marL="274320" rtl="0" algn="just">
              <a:spcBef>
                <a:spcPts val="600"/>
              </a:spcBef>
              <a:spcAft>
                <a:spcPts val="0"/>
              </a:spcAft>
              <a:buSzPts val="1680"/>
              <a:buNone/>
            </a:pPr>
            <a:r>
              <a:t/>
            </a:r>
            <a:endParaRPr>
              <a:latin typeface="Times New Roman"/>
              <a:ea typeface="Times New Roman"/>
              <a:cs typeface="Times New Roman"/>
              <a:sym typeface="Times New Roman"/>
            </a:endParaRPr>
          </a:p>
        </p:txBody>
      </p:sp>
      <p:sp>
        <p:nvSpPr>
          <p:cNvPr id="591" name="Google Shape;591;p5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9"/>
          <p:cNvSpPr txBox="1"/>
          <p:nvPr>
            <p:ph type="title"/>
          </p:nvPr>
        </p:nvSpPr>
        <p:spPr>
          <a:xfrm>
            <a:off x="457200" y="274638"/>
            <a:ext cx="7467600" cy="3349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a:t>FEATURES</a:t>
            </a:r>
            <a:endParaRPr/>
          </a:p>
        </p:txBody>
      </p:sp>
      <p:sp>
        <p:nvSpPr>
          <p:cNvPr id="597" name="Google Shape;597;p59"/>
          <p:cNvSpPr txBox="1"/>
          <p:nvPr>
            <p:ph idx="1" type="body"/>
          </p:nvPr>
        </p:nvSpPr>
        <p:spPr>
          <a:xfrm>
            <a:off x="457200" y="838200"/>
            <a:ext cx="8153400" cy="5635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Plug &amp; Play capability</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Hot-plug ability</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Hot swappable</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High speed</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Backward compatibility-Older versions of independent bus can be connected to PCI slot</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Independent bus-Device operates independently without CPU intervention</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High operational frequency-upto 133 MHz</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Supports 3 independent address spaces-memory, (memory mapped i/o functions) i/o (used within the processor) &amp; configuration (for PCI plug &amp; play capability)</a:t>
            </a:r>
            <a:endParaRPr/>
          </a:p>
          <a:p>
            <a:pPr indent="-167640" lvl="0" marL="274320" rtl="0" algn="l">
              <a:spcBef>
                <a:spcPts val="600"/>
              </a:spcBef>
              <a:spcAft>
                <a:spcPts val="0"/>
              </a:spcAft>
              <a:buSzPts val="1680"/>
              <a:buNone/>
            </a:pPr>
            <a:r>
              <a:t/>
            </a:r>
            <a:endParaRPr>
              <a:latin typeface="Times New Roman"/>
              <a:ea typeface="Times New Roman"/>
              <a:cs typeface="Times New Roman"/>
              <a:sym typeface="Times New Roman"/>
            </a:endParaRPr>
          </a:p>
          <a:p>
            <a:pPr indent="-167640" lvl="0" marL="274320" rtl="0" algn="l">
              <a:spcBef>
                <a:spcPts val="600"/>
              </a:spcBef>
              <a:spcAft>
                <a:spcPts val="0"/>
              </a:spcAft>
              <a:buSzPts val="1680"/>
              <a:buNone/>
            </a:pPr>
            <a:r>
              <a:t/>
            </a:r>
            <a:endParaRPr>
              <a:latin typeface="Times New Roman"/>
              <a:ea typeface="Times New Roman"/>
              <a:cs typeface="Times New Roman"/>
              <a:sym typeface="Times New Roman"/>
            </a:endParaRPr>
          </a:p>
          <a:p>
            <a:pPr indent="-167640" lvl="0" marL="274320" rtl="0" algn="l">
              <a:spcBef>
                <a:spcPts val="600"/>
              </a:spcBef>
              <a:spcAft>
                <a:spcPts val="0"/>
              </a:spcAft>
              <a:buSzPts val="1680"/>
              <a:buNone/>
            </a:pPr>
            <a:r>
              <a:t/>
            </a:r>
            <a:endParaRPr>
              <a:latin typeface="Times New Roman"/>
              <a:ea typeface="Times New Roman"/>
              <a:cs typeface="Times New Roman"/>
              <a:sym typeface="Times New Roman"/>
            </a:endParaRPr>
          </a:p>
        </p:txBody>
      </p:sp>
      <p:sp>
        <p:nvSpPr>
          <p:cNvPr id="598" name="Google Shape;598;p5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2" name="Shape 602"/>
        <p:cNvGrpSpPr/>
        <p:nvPr/>
      </p:nvGrpSpPr>
      <p:grpSpPr>
        <a:xfrm>
          <a:off x="0" y="0"/>
          <a:ext cx="0" cy="0"/>
          <a:chOff x="0" y="0"/>
          <a:chExt cx="0" cy="0"/>
        </a:xfrm>
      </p:grpSpPr>
      <p:sp>
        <p:nvSpPr>
          <p:cNvPr id="603" name="Google Shape;603;p60"/>
          <p:cNvSpPr txBox="1"/>
          <p:nvPr>
            <p:ph type="title"/>
          </p:nvPr>
        </p:nvSpPr>
        <p:spPr>
          <a:xfrm>
            <a:off x="152400" y="294833"/>
            <a:ext cx="9095740" cy="1120178"/>
          </a:xfrm>
          <a:prstGeom prst="rect">
            <a:avLst/>
          </a:prstGeom>
          <a:noFill/>
          <a:ln>
            <a:noFill/>
          </a:ln>
        </p:spPr>
        <p:txBody>
          <a:bodyPr anchorCtr="0" anchor="b" bIns="0" lIns="0" spcFirstLastPara="1" rIns="0" wrap="square" tIns="12050">
            <a:spAutoFit/>
          </a:bodyPr>
          <a:lstStyle/>
          <a:p>
            <a:pPr indent="0" lvl="0" marL="12700" rtl="0" algn="ctr">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PCI Bus-Peripheral Component Interconnect</a:t>
            </a:r>
            <a:endParaRPr sz="3600">
              <a:latin typeface="Times New Roman"/>
              <a:ea typeface="Times New Roman"/>
              <a:cs typeface="Times New Roman"/>
              <a:sym typeface="Times New Roman"/>
            </a:endParaRPr>
          </a:p>
        </p:txBody>
      </p:sp>
      <p:sp>
        <p:nvSpPr>
          <p:cNvPr id="604" name="Google Shape;604;p60"/>
          <p:cNvSpPr txBox="1"/>
          <p:nvPr/>
        </p:nvSpPr>
        <p:spPr>
          <a:xfrm>
            <a:off x="78739" y="1447546"/>
            <a:ext cx="8373109" cy="442595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Intel released to public domain-</a:t>
            </a:r>
            <a:r>
              <a:rPr lang="en-US" sz="2400">
                <a:solidFill>
                  <a:schemeClr val="dk1"/>
                </a:solidFill>
                <a:latin typeface="Calibri"/>
                <a:ea typeface="Calibri"/>
                <a:cs typeface="Calibri"/>
                <a:sym typeface="Calibri"/>
              </a:rPr>
              <a:t>32 bit and 64 bit versions</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Clr>
                <a:schemeClr val="dk1"/>
              </a:buClr>
              <a:buSzPts val="3200"/>
              <a:buFont typeface="Century Schoolbook"/>
              <a:buNone/>
            </a:pPr>
            <a:r>
              <a:t/>
            </a:r>
            <a:endParaRPr sz="3200">
              <a:solidFill>
                <a:schemeClr val="dk1"/>
              </a:solidFill>
              <a:latin typeface="Calibri"/>
              <a:ea typeface="Calibri"/>
              <a:cs typeface="Calibri"/>
              <a:sym typeface="Calibri"/>
            </a:endParaRPr>
          </a:p>
          <a:p>
            <a:pPr indent="-396240" lvl="0" marL="408940" marR="0" rtl="0" algn="l">
              <a:lnSpc>
                <a:spcPct val="100000"/>
              </a:lnSpc>
              <a:spcBef>
                <a:spcPts val="0"/>
              </a:spcBef>
              <a:spcAft>
                <a:spcPts val="0"/>
              </a:spcAft>
              <a:buClr>
                <a:schemeClr val="dk1"/>
              </a:buClr>
              <a:buSzPts val="1900"/>
              <a:buFont typeface="Arial"/>
              <a:buChar char="•"/>
            </a:pPr>
            <a:r>
              <a:rPr lang="en-US" sz="3000">
                <a:solidFill>
                  <a:schemeClr val="dk1"/>
                </a:solidFill>
                <a:latin typeface="Calibri"/>
                <a:ea typeface="Calibri"/>
                <a:cs typeface="Calibri"/>
                <a:sym typeface="Calibri"/>
              </a:rPr>
              <a:t>PCI bus connects the </a:t>
            </a:r>
            <a:r>
              <a:rPr lang="en-US" sz="3000">
                <a:solidFill>
                  <a:srgbClr val="FF0000"/>
                </a:solidFill>
                <a:latin typeface="Calibri"/>
                <a:ea typeface="Calibri"/>
                <a:cs typeface="Calibri"/>
                <a:sym typeface="Calibri"/>
              </a:rPr>
              <a:t>CPU and expansion boards</a:t>
            </a:r>
            <a:endParaRPr sz="30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Clr>
                <a:schemeClr val="dk1"/>
              </a:buClr>
              <a:buSzPts val="2900"/>
              <a:buFont typeface="Century Schoolbook"/>
              <a:buNone/>
            </a:pPr>
            <a:r>
              <a:t/>
            </a:r>
            <a:endParaRPr sz="2900">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Examples of PCI devices</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2500"/>
              <a:buFont typeface="Arial"/>
              <a:buNone/>
            </a:pPr>
            <a:r>
              <a:t/>
            </a:r>
            <a:endParaRPr b="0" i="0" sz="2500" u="none" cap="none" strike="noStrike">
              <a:solidFill>
                <a:schemeClr val="dk1"/>
              </a:solidFill>
              <a:latin typeface="Calibri"/>
              <a:ea typeface="Calibri"/>
              <a:cs typeface="Calibri"/>
              <a:sym typeface="Calibri"/>
            </a:endParaRPr>
          </a:p>
          <a:p>
            <a:pPr indent="-229235" lvl="2" marL="115570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Modem</a:t>
            </a:r>
            <a:endParaRPr b="0" i="0" sz="2200" u="none" cap="none" strike="noStrike">
              <a:solidFill>
                <a:schemeClr val="dk1"/>
              </a:solidFill>
              <a:latin typeface="Calibri"/>
              <a:ea typeface="Calibri"/>
              <a:cs typeface="Calibri"/>
              <a:sym typeface="Calibri"/>
            </a:endParaRPr>
          </a:p>
          <a:p>
            <a:pPr indent="0" lvl="2" marL="914400" marR="0" rtl="0" algn="l">
              <a:lnSpc>
                <a:spcPct val="100000"/>
              </a:lnSpc>
              <a:spcBef>
                <a:spcPts val="40"/>
              </a:spcBef>
              <a:spcAft>
                <a:spcPts val="0"/>
              </a:spcAft>
              <a:buClr>
                <a:schemeClr val="dk1"/>
              </a:buClr>
              <a:buSzPts val="2350"/>
              <a:buFont typeface="Arial"/>
              <a:buNone/>
            </a:pPr>
            <a:r>
              <a:t/>
            </a:r>
            <a:endParaRPr b="0" i="0" sz="2350" u="none" cap="none" strike="noStrike">
              <a:solidFill>
                <a:schemeClr val="dk1"/>
              </a:solidFill>
              <a:latin typeface="Calibri"/>
              <a:ea typeface="Calibri"/>
              <a:cs typeface="Calibri"/>
              <a:sym typeface="Calibri"/>
            </a:endParaRPr>
          </a:p>
          <a:p>
            <a:pPr indent="-229235" lvl="2" marL="115570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Network Card</a:t>
            </a:r>
            <a:endParaRPr b="0" i="0" sz="2200" u="none" cap="none" strike="noStrike">
              <a:solidFill>
                <a:schemeClr val="dk1"/>
              </a:solidFill>
              <a:latin typeface="Calibri"/>
              <a:ea typeface="Calibri"/>
              <a:cs typeface="Calibri"/>
              <a:sym typeface="Calibri"/>
            </a:endParaRPr>
          </a:p>
          <a:p>
            <a:pPr indent="0" lvl="2" marL="914400" marR="0" rtl="0" algn="l">
              <a:lnSpc>
                <a:spcPct val="100000"/>
              </a:lnSpc>
              <a:spcBef>
                <a:spcPts val="35"/>
              </a:spcBef>
              <a:spcAft>
                <a:spcPts val="0"/>
              </a:spcAft>
              <a:buClr>
                <a:schemeClr val="dk1"/>
              </a:buClr>
              <a:buSzPts val="2350"/>
              <a:buFont typeface="Arial"/>
              <a:buNone/>
            </a:pPr>
            <a:r>
              <a:t/>
            </a:r>
            <a:endParaRPr b="0" i="0" sz="2350" u="none" cap="none" strike="noStrike">
              <a:solidFill>
                <a:schemeClr val="dk1"/>
              </a:solidFill>
              <a:latin typeface="Calibri"/>
              <a:ea typeface="Calibri"/>
              <a:cs typeface="Calibri"/>
              <a:sym typeface="Calibri"/>
            </a:endParaRPr>
          </a:p>
          <a:p>
            <a:pPr indent="-229235" lvl="2" marL="1155700" marR="0" rtl="0" algn="l">
              <a:lnSpc>
                <a:spcPct val="100000"/>
              </a:lnSpc>
              <a:spcBef>
                <a:spcPts val="5"/>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Sound Card,Video Card,etc</a:t>
            </a:r>
            <a:endParaRPr b="0" i="0" sz="2200" u="none" cap="none" strike="noStrike">
              <a:solidFill>
                <a:schemeClr val="dk1"/>
              </a:solidFill>
              <a:latin typeface="Calibri"/>
              <a:ea typeface="Calibri"/>
              <a:cs typeface="Calibri"/>
              <a:sym typeface="Calibri"/>
            </a:endParaRPr>
          </a:p>
        </p:txBody>
      </p:sp>
      <p:pic>
        <p:nvPicPr>
          <p:cNvPr id="605" name="Google Shape;605;p60"/>
          <p:cNvPicPr preferRelativeResize="0"/>
          <p:nvPr/>
        </p:nvPicPr>
        <p:blipFill rotWithShape="1">
          <a:blip r:embed="rId3">
            <a:alphaModFix/>
          </a:blip>
          <a:srcRect b="0" l="0" r="0" t="0"/>
          <a:stretch/>
        </p:blipFill>
        <p:spPr>
          <a:xfrm>
            <a:off x="4572000" y="3213036"/>
            <a:ext cx="4571999" cy="3456051"/>
          </a:xfrm>
          <a:prstGeom prst="rect">
            <a:avLst/>
          </a:prstGeom>
          <a:noFill/>
          <a:ln>
            <a:noFill/>
          </a:ln>
        </p:spPr>
      </p:pic>
      <p:sp>
        <p:nvSpPr>
          <p:cNvPr id="606" name="Google Shape;606;p6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1"/>
          <p:cNvSpPr txBox="1"/>
          <p:nvPr>
            <p:ph type="title"/>
          </p:nvPr>
        </p:nvSpPr>
        <p:spPr>
          <a:xfrm>
            <a:off x="457200" y="274638"/>
            <a:ext cx="7467600" cy="4873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612" name="Google Shape;612;p61"/>
          <p:cNvSpPr txBox="1"/>
          <p:nvPr>
            <p:ph idx="1" type="body"/>
          </p:nvPr>
        </p:nvSpPr>
        <p:spPr>
          <a:xfrm>
            <a:off x="457200" y="914400"/>
            <a:ext cx="7467600" cy="55595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PCI may be configured as a 32- or 64-bit bus</a:t>
            </a:r>
            <a:endParaRPr/>
          </a:p>
        </p:txBody>
      </p:sp>
      <p:pic>
        <p:nvPicPr>
          <p:cNvPr id="613" name="Google Shape;613;p61"/>
          <p:cNvPicPr preferRelativeResize="0"/>
          <p:nvPr/>
        </p:nvPicPr>
        <p:blipFill rotWithShape="1">
          <a:blip r:embed="rId3">
            <a:alphaModFix/>
          </a:blip>
          <a:srcRect b="0" l="0" r="0" t="0"/>
          <a:stretch/>
        </p:blipFill>
        <p:spPr>
          <a:xfrm>
            <a:off x="1600200" y="1828800"/>
            <a:ext cx="5057774" cy="2914650"/>
          </a:xfrm>
          <a:prstGeom prst="rect">
            <a:avLst/>
          </a:prstGeom>
          <a:noFill/>
          <a:ln>
            <a:noFill/>
          </a:ln>
        </p:spPr>
      </p:pic>
      <p:sp>
        <p:nvSpPr>
          <p:cNvPr id="614" name="Google Shape;614;p61"/>
          <p:cNvSpPr txBox="1"/>
          <p:nvPr/>
        </p:nvSpPr>
        <p:spPr>
          <a:xfrm>
            <a:off x="762000" y="5029200"/>
            <a:ext cx="7391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Table 3.3 Mandatory PCI Signal Lines &amp; Optional Signal lines-Refer</a:t>
            </a:r>
            <a:endParaRPr sz="1800">
              <a:solidFill>
                <a:schemeClr val="dk1"/>
              </a:solidFill>
              <a:latin typeface="Century Schoolbook"/>
              <a:ea typeface="Century Schoolbook"/>
              <a:cs typeface="Century Schoolbook"/>
              <a:sym typeface="Century Schoolbook"/>
            </a:endParaRPr>
          </a:p>
        </p:txBody>
      </p:sp>
      <p:sp>
        <p:nvSpPr>
          <p:cNvPr id="615" name="Google Shape;615;p6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9" name="Shape 619"/>
        <p:cNvGrpSpPr/>
        <p:nvPr/>
      </p:nvGrpSpPr>
      <p:grpSpPr>
        <a:xfrm>
          <a:off x="0" y="0"/>
          <a:ext cx="0" cy="0"/>
          <a:chOff x="0" y="0"/>
          <a:chExt cx="0" cy="0"/>
        </a:xfrm>
      </p:grpSpPr>
      <p:sp>
        <p:nvSpPr>
          <p:cNvPr id="620" name="Google Shape;620;p62"/>
          <p:cNvSpPr txBox="1"/>
          <p:nvPr>
            <p:ph type="title"/>
          </p:nvPr>
        </p:nvSpPr>
        <p:spPr>
          <a:xfrm>
            <a:off x="1905000" y="152400"/>
            <a:ext cx="539305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PCI Bus Lines (required)</a:t>
            </a:r>
            <a:endParaRPr/>
          </a:p>
        </p:txBody>
      </p:sp>
      <p:sp>
        <p:nvSpPr>
          <p:cNvPr id="621" name="Google Shape;621;p62"/>
          <p:cNvSpPr txBox="1"/>
          <p:nvPr>
            <p:ph idx="1" type="body"/>
          </p:nvPr>
        </p:nvSpPr>
        <p:spPr>
          <a:xfrm>
            <a:off x="457200" y="990600"/>
            <a:ext cx="8458200" cy="4759765"/>
          </a:xfrm>
          <a:prstGeom prst="rect">
            <a:avLst/>
          </a:prstGeom>
          <a:noFill/>
          <a:ln>
            <a:noFill/>
          </a:ln>
        </p:spPr>
        <p:txBody>
          <a:bodyPr anchorCtr="0" anchor="t" bIns="0" lIns="0" spcFirstLastPara="1" rIns="0" wrap="square" tIns="12700">
            <a:spAutoFit/>
          </a:bodyPr>
          <a:lstStyle/>
          <a:p>
            <a:pPr indent="-343535" lvl="0" marL="355600" rtl="0" algn="l">
              <a:lnSpc>
                <a:spcPct val="100000"/>
              </a:lnSpc>
              <a:spcBef>
                <a:spcPts val="0"/>
              </a:spcBef>
              <a:spcAft>
                <a:spcPts val="0"/>
              </a:spcAft>
              <a:buSzPts val="1680"/>
              <a:buFont typeface="Arial"/>
              <a:buChar char="•"/>
            </a:pPr>
            <a:r>
              <a:rPr b="1" lang="en-US">
                <a:latin typeface="Times New Roman"/>
                <a:ea typeface="Times New Roman"/>
                <a:cs typeface="Times New Roman"/>
                <a:sym typeface="Times New Roman"/>
              </a:rPr>
              <a:t>Systems lines</a:t>
            </a:r>
            <a:endParaRPr/>
          </a:p>
          <a:p>
            <a:pPr indent="-287019" lvl="1" marL="756285" rtl="0" algn="l">
              <a:lnSpc>
                <a:spcPct val="129791"/>
              </a:lnSpc>
              <a:spcBef>
                <a:spcPts val="15"/>
              </a:spcBef>
              <a:spcAft>
                <a:spcPts val="0"/>
              </a:spcAft>
              <a:buSzPts val="1920"/>
              <a:buFont typeface="Arial"/>
              <a:buChar char="–"/>
            </a:pPr>
            <a:r>
              <a:rPr lang="en-US" sz="2400">
                <a:latin typeface="Times New Roman"/>
                <a:ea typeface="Times New Roman"/>
                <a:cs typeface="Times New Roman"/>
                <a:sym typeface="Times New Roman"/>
              </a:rPr>
              <a:t>Including </a:t>
            </a:r>
            <a:r>
              <a:rPr lang="en-US" sz="2400">
                <a:solidFill>
                  <a:srgbClr val="FF0000"/>
                </a:solidFill>
                <a:latin typeface="Times New Roman"/>
                <a:ea typeface="Times New Roman"/>
                <a:cs typeface="Times New Roman"/>
                <a:sym typeface="Times New Roman"/>
              </a:rPr>
              <a:t>clock and reset</a:t>
            </a:r>
            <a:endParaRPr sz="2400">
              <a:solidFill>
                <a:srgbClr val="FF0000"/>
              </a:solidFill>
              <a:latin typeface="Times New Roman"/>
              <a:ea typeface="Times New Roman"/>
              <a:cs typeface="Times New Roman"/>
              <a:sym typeface="Times New Roman"/>
            </a:endParaRPr>
          </a:p>
          <a:p>
            <a:pPr indent="-343535" lvl="0" marL="355600" rtl="0" algn="l">
              <a:lnSpc>
                <a:spcPct val="149791"/>
              </a:lnSpc>
              <a:spcBef>
                <a:spcPts val="600"/>
              </a:spcBef>
              <a:spcAft>
                <a:spcPts val="0"/>
              </a:spcAft>
              <a:buSzPts val="1680"/>
              <a:buFont typeface="Arial"/>
              <a:buChar char="•"/>
            </a:pPr>
            <a:r>
              <a:rPr b="1" lang="en-US">
                <a:latin typeface="Times New Roman"/>
                <a:ea typeface="Times New Roman"/>
                <a:cs typeface="Times New Roman"/>
                <a:sym typeface="Times New Roman"/>
              </a:rPr>
              <a:t>Address &amp; Data</a:t>
            </a:r>
            <a:endParaRPr/>
          </a:p>
          <a:p>
            <a:pPr indent="-287019" lvl="1" marL="756285" rtl="0" algn="l">
              <a:lnSpc>
                <a:spcPct val="100000"/>
              </a:lnSpc>
              <a:spcBef>
                <a:spcPts val="15"/>
              </a:spcBef>
              <a:spcAft>
                <a:spcPts val="0"/>
              </a:spcAft>
              <a:buSzPts val="1920"/>
              <a:buFont typeface="Arial"/>
              <a:buChar char="–"/>
            </a:pPr>
            <a:r>
              <a:rPr lang="en-US" sz="2400">
                <a:latin typeface="Times New Roman"/>
                <a:ea typeface="Times New Roman"/>
                <a:cs typeface="Times New Roman"/>
                <a:sym typeface="Times New Roman"/>
              </a:rPr>
              <a:t>32 time mux lines for </a:t>
            </a:r>
            <a:r>
              <a:rPr lang="en-US" sz="2400">
                <a:solidFill>
                  <a:srgbClr val="FF0000"/>
                </a:solidFill>
                <a:latin typeface="Times New Roman"/>
                <a:ea typeface="Times New Roman"/>
                <a:cs typeface="Times New Roman"/>
                <a:sym typeface="Times New Roman"/>
              </a:rPr>
              <a:t>address/data</a:t>
            </a:r>
            <a:endParaRPr sz="2400">
              <a:solidFill>
                <a:srgbClr val="FF0000"/>
              </a:solidFill>
              <a:latin typeface="Times New Roman"/>
              <a:ea typeface="Times New Roman"/>
              <a:cs typeface="Times New Roman"/>
              <a:sym typeface="Times New Roman"/>
            </a:endParaRPr>
          </a:p>
          <a:p>
            <a:pPr indent="-287019" lvl="1" marL="756285" rtl="0" algn="l">
              <a:lnSpc>
                <a:spcPct val="129791"/>
              </a:lnSpc>
              <a:spcBef>
                <a:spcPts val="480"/>
              </a:spcBef>
              <a:spcAft>
                <a:spcPts val="0"/>
              </a:spcAft>
              <a:buSzPts val="1920"/>
              <a:buFont typeface="Arial"/>
              <a:buChar char="–"/>
            </a:pPr>
            <a:r>
              <a:rPr lang="en-US" sz="2400">
                <a:latin typeface="Times New Roman"/>
                <a:ea typeface="Times New Roman"/>
                <a:cs typeface="Times New Roman"/>
                <a:sym typeface="Times New Roman"/>
              </a:rPr>
              <a:t>Interrupt &amp; validate lines (carry the addresses and data)</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b="1" lang="en-US">
                <a:latin typeface="Times New Roman"/>
                <a:ea typeface="Times New Roman"/>
                <a:cs typeface="Times New Roman"/>
                <a:sym typeface="Times New Roman"/>
              </a:rPr>
              <a:t>Interface Control </a:t>
            </a:r>
            <a:r>
              <a:rPr lang="en-US">
                <a:latin typeface="Times New Roman"/>
                <a:ea typeface="Times New Roman"/>
                <a:cs typeface="Times New Roman"/>
                <a:sym typeface="Times New Roman"/>
              </a:rPr>
              <a:t>(Control the </a:t>
            </a:r>
            <a:r>
              <a:rPr lang="en-US">
                <a:solidFill>
                  <a:srgbClr val="FF0000"/>
                </a:solidFill>
                <a:latin typeface="Times New Roman"/>
                <a:ea typeface="Times New Roman"/>
                <a:cs typeface="Times New Roman"/>
                <a:sym typeface="Times New Roman"/>
              </a:rPr>
              <a:t>timing of transactions and provide coordination</a:t>
            </a:r>
            <a:r>
              <a:rPr lang="en-US">
                <a:latin typeface="Times New Roman"/>
                <a:ea typeface="Times New Roman"/>
                <a:cs typeface="Times New Roman"/>
                <a:sym typeface="Times New Roman"/>
              </a:rPr>
              <a:t> among initiators and targets.)</a:t>
            </a:r>
            <a:endParaRPr>
              <a:latin typeface="Times New Roman"/>
              <a:ea typeface="Times New Roman"/>
              <a:cs typeface="Times New Roman"/>
              <a:sym typeface="Times New Roman"/>
            </a:endParaRPr>
          </a:p>
          <a:p>
            <a:pPr indent="-343535" lvl="0" marL="355600" rtl="0" algn="l">
              <a:lnSpc>
                <a:spcPct val="100000"/>
              </a:lnSpc>
              <a:spcBef>
                <a:spcPts val="600"/>
              </a:spcBef>
              <a:spcAft>
                <a:spcPts val="0"/>
              </a:spcAft>
              <a:buSzPts val="1680"/>
              <a:buFont typeface="Arial"/>
              <a:buChar char="•"/>
            </a:pPr>
            <a:r>
              <a:rPr b="1" lang="en-US">
                <a:latin typeface="Times New Roman"/>
                <a:ea typeface="Times New Roman"/>
                <a:cs typeface="Times New Roman"/>
                <a:sym typeface="Times New Roman"/>
              </a:rPr>
              <a:t>Arbitration</a:t>
            </a:r>
            <a:endParaRPr/>
          </a:p>
          <a:p>
            <a:pPr indent="-287019" lvl="1" marL="756285" rtl="0" algn="l">
              <a:lnSpc>
                <a:spcPct val="100000"/>
              </a:lnSpc>
              <a:spcBef>
                <a:spcPts val="15"/>
              </a:spcBef>
              <a:spcAft>
                <a:spcPts val="0"/>
              </a:spcAft>
              <a:buSzPts val="1920"/>
              <a:buFont typeface="Arial"/>
              <a:buChar char="–"/>
            </a:pPr>
            <a:r>
              <a:rPr lang="en-US" sz="2400">
                <a:latin typeface="Times New Roman"/>
                <a:ea typeface="Times New Roman"/>
                <a:cs typeface="Times New Roman"/>
                <a:sym typeface="Times New Roman"/>
              </a:rPr>
              <a:t>Not shared</a:t>
            </a:r>
            <a:endParaRPr sz="2400">
              <a:latin typeface="Times New Roman"/>
              <a:ea typeface="Times New Roman"/>
              <a:cs typeface="Times New Roman"/>
              <a:sym typeface="Times New Roman"/>
            </a:endParaRPr>
          </a:p>
          <a:p>
            <a:pPr indent="-287020" lvl="1" marL="756285" rtl="0" algn="l">
              <a:lnSpc>
                <a:spcPct val="100000"/>
              </a:lnSpc>
              <a:spcBef>
                <a:spcPts val="15"/>
              </a:spcBef>
              <a:spcAft>
                <a:spcPts val="0"/>
              </a:spcAft>
              <a:buSzPts val="1680"/>
              <a:buFont typeface="Arial"/>
              <a:buChar char="–"/>
            </a:pPr>
            <a:r>
              <a:rPr lang="en-US"/>
              <a:t>PCI master has its own pair of arbitration lines that connect it directly to the PCI bus arbiter.</a:t>
            </a:r>
            <a:endParaRPr/>
          </a:p>
          <a:p>
            <a:pPr indent="-342900" lvl="1" marL="812165" rtl="0" algn="l">
              <a:lnSpc>
                <a:spcPct val="100000"/>
              </a:lnSpc>
              <a:spcBef>
                <a:spcPts val="15"/>
              </a:spcBef>
              <a:spcAft>
                <a:spcPts val="0"/>
              </a:spcAft>
              <a:buSzPts val="1680"/>
              <a:buFont typeface="Arial"/>
              <a:buChar char="•"/>
            </a:pPr>
            <a:r>
              <a:rPr b="1" lang="en-US">
                <a:latin typeface="Times New Roman"/>
                <a:ea typeface="Times New Roman"/>
                <a:cs typeface="Times New Roman"/>
                <a:sym typeface="Times New Roman"/>
              </a:rPr>
              <a:t>Error lines</a:t>
            </a:r>
            <a:endParaRPr/>
          </a:p>
        </p:txBody>
      </p:sp>
      <p:sp>
        <p:nvSpPr>
          <p:cNvPr id="622" name="Google Shape;622;p62"/>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PCI Bus Lines (Optional)</a:t>
            </a:r>
            <a:endParaRPr/>
          </a:p>
        </p:txBody>
      </p:sp>
      <p:pic>
        <p:nvPicPr>
          <p:cNvPr id="628" name="Google Shape;628;p63"/>
          <p:cNvPicPr preferRelativeResize="0"/>
          <p:nvPr>
            <p:ph idx="1" type="body"/>
          </p:nvPr>
        </p:nvPicPr>
        <p:blipFill rotWithShape="1">
          <a:blip r:embed="rId3">
            <a:alphaModFix/>
          </a:blip>
          <a:srcRect b="0" l="0" r="0" t="0"/>
          <a:stretch/>
        </p:blipFill>
        <p:spPr>
          <a:xfrm>
            <a:off x="1752600" y="1905000"/>
            <a:ext cx="4953000" cy="3152775"/>
          </a:xfrm>
          <a:prstGeom prst="rect">
            <a:avLst/>
          </a:prstGeom>
          <a:noFill/>
          <a:ln>
            <a:noFill/>
          </a:ln>
        </p:spPr>
      </p:pic>
      <p:sp>
        <p:nvSpPr>
          <p:cNvPr id="629" name="Google Shape;629;p63"/>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3" name="Shape 633"/>
        <p:cNvGrpSpPr/>
        <p:nvPr/>
      </p:nvGrpSpPr>
      <p:grpSpPr>
        <a:xfrm>
          <a:off x="0" y="0"/>
          <a:ext cx="0" cy="0"/>
          <a:chOff x="0" y="0"/>
          <a:chExt cx="0" cy="0"/>
        </a:xfrm>
      </p:grpSpPr>
      <p:sp>
        <p:nvSpPr>
          <p:cNvPr id="634" name="Google Shape;634;p64"/>
          <p:cNvSpPr txBox="1"/>
          <p:nvPr>
            <p:ph type="title"/>
          </p:nvPr>
        </p:nvSpPr>
        <p:spPr>
          <a:xfrm>
            <a:off x="1981200" y="228600"/>
            <a:ext cx="5407025"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PCI Bus Lines (Optional)</a:t>
            </a:r>
            <a:endParaRPr/>
          </a:p>
        </p:txBody>
      </p:sp>
      <p:sp>
        <p:nvSpPr>
          <p:cNvPr id="635" name="Google Shape;635;p64"/>
          <p:cNvSpPr txBox="1"/>
          <p:nvPr/>
        </p:nvSpPr>
        <p:spPr>
          <a:xfrm>
            <a:off x="737191" y="912628"/>
            <a:ext cx="7846888" cy="5840701"/>
          </a:xfrm>
          <a:prstGeom prst="rect">
            <a:avLst/>
          </a:prstGeom>
          <a:noFill/>
          <a:ln>
            <a:noFill/>
          </a:ln>
        </p:spPr>
        <p:txBody>
          <a:bodyPr anchorCtr="0" anchor="t" bIns="0" lIns="0" spcFirstLastPara="1" rIns="0" wrap="square" tIns="13325">
            <a:spAutoFit/>
          </a:bodyPr>
          <a:lstStyle/>
          <a:p>
            <a:pPr indent="-342900" lvl="0" marL="354965" marR="0" rtl="0" algn="just">
              <a:lnSpc>
                <a:spcPct val="100000"/>
              </a:lnSpc>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Interrupt lines</a:t>
            </a:r>
            <a:endParaRPr b="1" sz="2400">
              <a:solidFill>
                <a:schemeClr val="dk1"/>
              </a:solidFill>
              <a:latin typeface="Times New Roman"/>
              <a:ea typeface="Times New Roman"/>
              <a:cs typeface="Times New Roman"/>
              <a:sym typeface="Times New Roman"/>
            </a:endParaRPr>
          </a:p>
          <a:p>
            <a:pPr indent="-287019" lvl="1" marL="524510" marR="0" rtl="0" algn="just">
              <a:lnSpc>
                <a:spcPct val="100000"/>
              </a:lnSpc>
              <a:spcBef>
                <a:spcPts val="225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Not shared</a:t>
            </a:r>
            <a:endParaRPr b="0" i="0" sz="2400" u="none" cap="none" strike="noStrike">
              <a:solidFill>
                <a:schemeClr val="dk1"/>
              </a:solidFill>
              <a:latin typeface="Times New Roman"/>
              <a:ea typeface="Times New Roman"/>
              <a:cs typeface="Times New Roman"/>
              <a:sym typeface="Times New Roman"/>
            </a:endParaRPr>
          </a:p>
          <a:p>
            <a:pPr indent="-287019" lvl="1" marL="524510" marR="0" rtl="0" algn="just">
              <a:lnSpc>
                <a:spcPct val="100000"/>
              </a:lnSpc>
              <a:spcBef>
                <a:spcPts val="225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generate </a:t>
            </a:r>
            <a:r>
              <a:rPr b="0" i="0" lang="en-US" sz="2400" u="none" cap="none" strike="noStrike">
                <a:solidFill>
                  <a:srgbClr val="FF0000"/>
                </a:solidFill>
                <a:latin typeface="Times New Roman"/>
                <a:ea typeface="Times New Roman"/>
                <a:cs typeface="Times New Roman"/>
                <a:sym typeface="Times New Roman"/>
              </a:rPr>
              <a:t>requests for service</a:t>
            </a:r>
            <a:endParaRPr b="0" i="0" sz="2400" u="none" cap="none" strike="noStrike">
              <a:solidFill>
                <a:srgbClr val="FF0000"/>
              </a:solidFill>
              <a:latin typeface="Times New Roman"/>
              <a:ea typeface="Times New Roman"/>
              <a:cs typeface="Times New Roman"/>
              <a:sym typeface="Times New Roman"/>
            </a:endParaRPr>
          </a:p>
          <a:p>
            <a:pPr indent="0" lvl="1" marL="457200" marR="0" rtl="0" algn="just">
              <a:lnSpc>
                <a:spcPct val="100000"/>
              </a:lnSpc>
              <a:spcBef>
                <a:spcPts val="40"/>
              </a:spcBef>
              <a:spcAft>
                <a:spcPts val="0"/>
              </a:spcAft>
              <a:buClr>
                <a:schemeClr val="dk1"/>
              </a:buClr>
              <a:buSzPts val="2400"/>
              <a:buFont typeface="Verdana"/>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Cache support</a:t>
            </a: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support a memory on PCI </a:t>
            </a:r>
            <a:r>
              <a:rPr lang="en-US" sz="2400">
                <a:solidFill>
                  <a:schemeClr val="dk1"/>
                </a:solidFill>
                <a:latin typeface="Times New Roman"/>
                <a:ea typeface="Times New Roman"/>
                <a:cs typeface="Times New Roman"/>
                <a:sym typeface="Times New Roman"/>
              </a:rPr>
              <a:t>that can be cached in the processor or another device</a:t>
            </a:r>
            <a:endParaRPr sz="2400">
              <a:solidFill>
                <a:schemeClr val="dk1"/>
              </a:solidFill>
              <a:latin typeface="Times New Roman"/>
              <a:ea typeface="Times New Roman"/>
              <a:cs typeface="Times New Roman"/>
              <a:sym typeface="Times New Roman"/>
            </a:endParaRPr>
          </a:p>
          <a:p>
            <a:pPr indent="-342900" lvl="0" marL="354965" marR="0" rtl="0" algn="just">
              <a:lnSpc>
                <a:spcPct val="100000"/>
              </a:lnSpc>
              <a:spcBef>
                <a:spcPts val="3075"/>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64-bit Bus Extension</a:t>
            </a:r>
            <a:endParaRPr b="1" sz="24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Additional 32 lines time multiplexed for addresses and data and that are </a:t>
            </a:r>
            <a:r>
              <a:rPr lang="en-US" sz="2400">
                <a:solidFill>
                  <a:srgbClr val="FF0000"/>
                </a:solidFill>
                <a:latin typeface="Times New Roman"/>
                <a:ea typeface="Times New Roman"/>
                <a:cs typeface="Times New Roman"/>
                <a:sym typeface="Times New Roman"/>
              </a:rPr>
              <a:t>combined with the mandatory address/data lines to form a 64-bit address/data bus</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used to interpret and validate the signal lines that carry the addresses and data</a:t>
            </a:r>
            <a:endParaRPr sz="2400">
              <a:solidFill>
                <a:schemeClr val="dk1"/>
              </a:solidFill>
              <a:latin typeface="Times New Roman"/>
              <a:ea typeface="Times New Roman"/>
              <a:cs typeface="Times New Roman"/>
              <a:sym typeface="Times New Roman"/>
            </a:endParaRPr>
          </a:p>
          <a:p>
            <a:pPr indent="-287019" lvl="1" marL="524510" marR="0" rtl="0" algn="just">
              <a:lnSpc>
                <a:spcPct val="100000"/>
              </a:lnSpc>
              <a:spcBef>
                <a:spcPts val="30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2 lines to enable devices to agree to use 64-bit transfer</a:t>
            </a:r>
            <a:endParaRPr b="0" i="0" sz="2400" u="none" cap="none" strike="noStrike">
              <a:solidFill>
                <a:schemeClr val="dk1"/>
              </a:solidFill>
              <a:latin typeface="Times New Roman"/>
              <a:ea typeface="Times New Roman"/>
              <a:cs typeface="Times New Roman"/>
              <a:sym typeface="Times New Roman"/>
            </a:endParaRPr>
          </a:p>
        </p:txBody>
      </p:sp>
      <p:sp>
        <p:nvSpPr>
          <p:cNvPr id="636" name="Google Shape;636;p6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5"/>
          <p:cNvSpPr txBox="1"/>
          <p:nvPr>
            <p:ph type="title"/>
          </p:nvPr>
        </p:nvSpPr>
        <p:spPr>
          <a:xfrm>
            <a:off x="457200" y="274638"/>
            <a:ext cx="7467600" cy="3351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642" name="Google Shape;642;p65"/>
          <p:cNvSpPr txBox="1"/>
          <p:nvPr>
            <p:ph idx="1" type="body"/>
          </p:nvPr>
        </p:nvSpPr>
        <p:spPr>
          <a:xfrm>
            <a:off x="457200" y="685800"/>
            <a:ext cx="8001000" cy="57882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t>PCIe (PCI Express®) is the more recently introduced standard for connecting devices to computers. </a:t>
            </a:r>
            <a:endParaRPr/>
          </a:p>
          <a:p>
            <a:pPr indent="-274320" lvl="0" marL="274320" rtl="0" algn="just">
              <a:spcBef>
                <a:spcPts val="600"/>
              </a:spcBef>
              <a:spcAft>
                <a:spcPts val="0"/>
              </a:spcAft>
              <a:buSzPts val="1680"/>
              <a:buChar char="🞆"/>
            </a:pPr>
            <a:r>
              <a:rPr lang="en-US"/>
              <a:t>It's </a:t>
            </a:r>
            <a:r>
              <a:rPr lang="en-US">
                <a:solidFill>
                  <a:srgbClr val="FF0000"/>
                </a:solidFill>
              </a:rPr>
              <a:t>software-compatible</a:t>
            </a:r>
            <a:r>
              <a:rPr lang="en-US"/>
              <a:t> with PCI but has higher potential </a:t>
            </a:r>
            <a:r>
              <a:rPr lang="en-US">
                <a:solidFill>
                  <a:srgbClr val="FF0000"/>
                </a:solidFill>
              </a:rPr>
              <a:t>bandwidth</a:t>
            </a:r>
            <a:r>
              <a:rPr lang="en-US"/>
              <a:t> and </a:t>
            </a:r>
            <a:r>
              <a:rPr lang="en-US">
                <a:solidFill>
                  <a:srgbClr val="FF0000"/>
                </a:solidFill>
              </a:rPr>
              <a:t>greater flexibility </a:t>
            </a:r>
            <a:r>
              <a:rPr lang="en-US"/>
              <a:t>than PCI</a:t>
            </a:r>
            <a:endParaRPr/>
          </a:p>
        </p:txBody>
      </p:sp>
      <p:sp>
        <p:nvSpPr>
          <p:cNvPr id="643" name="Google Shape;643;p6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7" name="Shape 647"/>
        <p:cNvGrpSpPr/>
        <p:nvPr/>
      </p:nvGrpSpPr>
      <p:grpSpPr>
        <a:xfrm>
          <a:off x="0" y="0"/>
          <a:ext cx="0" cy="0"/>
          <a:chOff x="0" y="0"/>
          <a:chExt cx="0" cy="0"/>
        </a:xfrm>
      </p:grpSpPr>
      <p:sp>
        <p:nvSpPr>
          <p:cNvPr id="648" name="Google Shape;648;p66"/>
          <p:cNvSpPr txBox="1"/>
          <p:nvPr/>
        </p:nvSpPr>
        <p:spPr>
          <a:xfrm>
            <a:off x="402742" y="422909"/>
            <a:ext cx="8188325" cy="5885180"/>
          </a:xfrm>
          <a:prstGeom prst="rect">
            <a:avLst/>
          </a:prstGeom>
          <a:noFill/>
          <a:ln>
            <a:noFill/>
          </a:ln>
        </p:spPr>
        <p:txBody>
          <a:bodyPr anchorCtr="0" anchor="t" bIns="0" lIns="0" spcFirstLastPara="1" rIns="0" wrap="square" tIns="12700">
            <a:spAutoFit/>
          </a:bodyPr>
          <a:lstStyle/>
          <a:p>
            <a:pPr indent="-342900" lvl="0" marL="355600" marR="252095"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Let's say that you have just added a new PCI-based sound card to your Windows  XP computer. Here's an example of how it would work</a:t>
            </a: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342900" lvl="0" marL="355600" marR="0" rtl="0" algn="l">
              <a:lnSpc>
                <a:spcPct val="100000"/>
              </a:lnSpc>
              <a:spcBef>
                <a:spcPts val="335"/>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You open up your computer's case and plug the sound card into an empty PCI slot on the motherboard</a:t>
            </a:r>
            <a:endParaRPr sz="1200">
              <a:solidFill>
                <a:schemeClr val="dk1"/>
              </a:solidFill>
              <a:latin typeface="Calibri"/>
              <a:ea typeface="Calibri"/>
              <a:cs typeface="Calibri"/>
              <a:sym typeface="Calibri"/>
            </a:endParaRPr>
          </a:p>
          <a:p>
            <a:pPr indent="-342900" lvl="0" marL="355600" marR="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You close the computer's case and power up the computer.</a:t>
            </a:r>
            <a:endParaRPr sz="1200">
              <a:solidFill>
                <a:schemeClr val="dk1"/>
              </a:solidFill>
              <a:latin typeface="Calibri"/>
              <a:ea typeface="Calibri"/>
              <a:cs typeface="Calibri"/>
              <a:sym typeface="Calibri"/>
            </a:endParaRPr>
          </a:p>
          <a:p>
            <a:pPr indent="-342900" lvl="0" marL="355600" marR="0" rtl="0" algn="l">
              <a:lnSpc>
                <a:spcPct val="100000"/>
              </a:lnSpc>
              <a:spcBef>
                <a:spcPts val="285"/>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system BIOS initiates the PnP BIOS.</a:t>
            </a:r>
            <a:endParaRPr sz="1200">
              <a:solidFill>
                <a:schemeClr val="dk1"/>
              </a:solidFill>
              <a:latin typeface="Calibri"/>
              <a:ea typeface="Calibri"/>
              <a:cs typeface="Calibri"/>
              <a:sym typeface="Calibri"/>
            </a:endParaRPr>
          </a:p>
          <a:p>
            <a:pPr indent="-342900" lvl="0" marL="355600" marR="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PnP BIOS scans the PCI bus for hardware. It does this by sending out a signal to any device connected to the bus, asking</a:t>
            </a:r>
            <a:endParaRPr sz="120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1200">
                <a:solidFill>
                  <a:schemeClr val="dk1"/>
                </a:solidFill>
                <a:latin typeface="Calibri"/>
                <a:ea typeface="Calibri"/>
                <a:cs typeface="Calibri"/>
                <a:sym typeface="Calibri"/>
              </a:rPr>
              <a:t>the device who it is.</a:t>
            </a:r>
            <a:endParaRPr sz="1200">
              <a:solidFill>
                <a:schemeClr val="dk1"/>
              </a:solidFill>
              <a:latin typeface="Calibri"/>
              <a:ea typeface="Calibri"/>
              <a:cs typeface="Calibri"/>
              <a:sym typeface="Calibri"/>
            </a:endParaRPr>
          </a:p>
          <a:p>
            <a:pPr indent="-342900" lvl="0" marL="355600" marR="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sound card responds by identifying itself. The device ID is sent back across the bus to the BIOS.</a:t>
            </a:r>
            <a:endParaRPr sz="1200">
              <a:solidFill>
                <a:schemeClr val="dk1"/>
              </a:solidFill>
              <a:latin typeface="Calibri"/>
              <a:ea typeface="Calibri"/>
              <a:cs typeface="Calibri"/>
              <a:sym typeface="Calibri"/>
            </a:endParaRPr>
          </a:p>
          <a:p>
            <a:pPr indent="-342900" lvl="0" marL="355600" marR="96520" rtl="0" algn="l">
              <a:lnSpc>
                <a:spcPct val="100000"/>
              </a:lnSpc>
              <a:spcBef>
                <a:spcPts val="285"/>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PnP BIOS checks the ESCD to see if the configuration data for the sound card is already present. Since the sound card was  just installed, there is no existing ESCD record for it.</a:t>
            </a:r>
            <a:endParaRPr sz="1200">
              <a:solidFill>
                <a:schemeClr val="dk1"/>
              </a:solidFill>
              <a:latin typeface="Calibri"/>
              <a:ea typeface="Calibri"/>
              <a:cs typeface="Calibri"/>
              <a:sym typeface="Calibri"/>
            </a:endParaRPr>
          </a:p>
          <a:p>
            <a:pPr indent="-342900" lvl="0" marL="355600" marR="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PnP BIOS assigns IRQ, DMA, memory address and I/O settings to the sound card and saves the data in the ESCD.</a:t>
            </a:r>
            <a:endParaRPr sz="1200">
              <a:solidFill>
                <a:schemeClr val="dk1"/>
              </a:solidFill>
              <a:latin typeface="Calibri"/>
              <a:ea typeface="Calibri"/>
              <a:cs typeface="Calibri"/>
              <a:sym typeface="Calibri"/>
            </a:endParaRPr>
          </a:p>
          <a:p>
            <a:pPr indent="-342900" lvl="0" marL="355600" marR="170815"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Windows XP boots up. It checks the ESCD and the PCI bus. The operating system detects that the sound card is a new device  and displays a small window telling you that Windows has found new hardware and is determining what it is.</a:t>
            </a:r>
            <a:endParaRPr sz="1200">
              <a:solidFill>
                <a:schemeClr val="dk1"/>
              </a:solidFill>
              <a:latin typeface="Calibri"/>
              <a:ea typeface="Calibri"/>
              <a:cs typeface="Calibri"/>
              <a:sym typeface="Calibri"/>
            </a:endParaRPr>
          </a:p>
          <a:p>
            <a:pPr indent="-342900" lvl="0" marL="355600" marR="508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In many cases, Windows XP will identify the device, find and load the necessary drivers, and you'll be ready to go. If not, the  "Found New Hardware Wizard" will open up. This will direct you to install drivers off of the disc that came with the sound card.</a:t>
            </a:r>
            <a:endParaRPr sz="1200">
              <a:solidFill>
                <a:schemeClr val="dk1"/>
              </a:solidFill>
              <a:latin typeface="Calibri"/>
              <a:ea typeface="Calibri"/>
              <a:cs typeface="Calibri"/>
              <a:sym typeface="Calibri"/>
            </a:endParaRPr>
          </a:p>
          <a:p>
            <a:pPr indent="-342900" lvl="0" marL="355600" marR="414655" rtl="0" algn="l">
              <a:lnSpc>
                <a:spcPct val="100000"/>
              </a:lnSpc>
              <a:spcBef>
                <a:spcPts val="285"/>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Once the driver is installed, the device should be ready for use. Some devices may require that you restart the computer  before you can use them. In our example, the sound card is immediately ready for use.</a:t>
            </a:r>
            <a:endParaRPr sz="1200">
              <a:solidFill>
                <a:schemeClr val="dk1"/>
              </a:solidFill>
              <a:latin typeface="Calibri"/>
              <a:ea typeface="Calibri"/>
              <a:cs typeface="Calibri"/>
              <a:sym typeface="Calibri"/>
            </a:endParaRPr>
          </a:p>
          <a:p>
            <a:pPr indent="-342900" lvl="0" marL="355600" marR="537845"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You want to capture some audio from an external tape deck that you have plugged into the sound card. You set up the  recording software that came with the sound card and begin to record.</a:t>
            </a:r>
            <a:endParaRPr sz="1200">
              <a:solidFill>
                <a:schemeClr val="dk1"/>
              </a:solidFill>
              <a:latin typeface="Calibri"/>
              <a:ea typeface="Calibri"/>
              <a:cs typeface="Calibri"/>
              <a:sym typeface="Calibri"/>
            </a:endParaRPr>
          </a:p>
          <a:p>
            <a:pPr indent="-342900" lvl="0" marL="355600" marR="219709"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audio comes into the sound card via an external audio connector. The sound card converts the analog signal to a digital  signal.</a:t>
            </a:r>
            <a:endParaRPr sz="1200">
              <a:solidFill>
                <a:schemeClr val="dk1"/>
              </a:solidFill>
              <a:latin typeface="Calibri"/>
              <a:ea typeface="Calibri"/>
              <a:cs typeface="Calibri"/>
              <a:sym typeface="Calibri"/>
            </a:endParaRPr>
          </a:p>
          <a:p>
            <a:pPr indent="-342900" lvl="0" marL="355600" marR="80645"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digital audio data from the sound card is carried across the PCI bus to the bus controller. The controller determines which  device on the PCI device has priority to send data to the CPU. It also checks to see if data is going directly to the CPU or to  system memory.</a:t>
            </a:r>
            <a:endParaRPr sz="1200">
              <a:solidFill>
                <a:schemeClr val="dk1"/>
              </a:solidFill>
              <a:latin typeface="Calibri"/>
              <a:ea typeface="Calibri"/>
              <a:cs typeface="Calibri"/>
              <a:sym typeface="Calibri"/>
            </a:endParaRPr>
          </a:p>
          <a:p>
            <a:pPr indent="-342900" lvl="0" marL="355600" marR="0" rtl="0" algn="l">
              <a:lnSpc>
                <a:spcPct val="100000"/>
              </a:lnSpc>
              <a:spcBef>
                <a:spcPts val="29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Since the sound card is in record mode, the bus controller assigns a high priority to the data coming from it and sends the</a:t>
            </a:r>
            <a:endParaRPr sz="120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1200">
                <a:solidFill>
                  <a:schemeClr val="dk1"/>
                </a:solidFill>
                <a:latin typeface="Calibri"/>
                <a:ea typeface="Calibri"/>
                <a:cs typeface="Calibri"/>
                <a:sym typeface="Calibri"/>
              </a:rPr>
              <a:t>sound card's data over the bus bridge to the system bus.</a:t>
            </a:r>
            <a:endParaRPr sz="1200">
              <a:solidFill>
                <a:schemeClr val="dk1"/>
              </a:solidFill>
              <a:latin typeface="Calibri"/>
              <a:ea typeface="Calibri"/>
              <a:cs typeface="Calibri"/>
              <a:sym typeface="Calibri"/>
            </a:endParaRPr>
          </a:p>
          <a:p>
            <a:pPr indent="-342900" lvl="0" marL="355600" marR="112395" rtl="0" algn="l">
              <a:lnSpc>
                <a:spcPct val="100000"/>
              </a:lnSpc>
              <a:spcBef>
                <a:spcPts val="285"/>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The system bus saves the data in system memory. Once the recording is complete, you can decide whether the data from the  sound card is saved to a hard drive or retained in memory for additional processing.</a:t>
            </a:r>
            <a:endParaRPr sz="1200">
              <a:solidFill>
                <a:schemeClr val="dk1"/>
              </a:solidFill>
              <a:latin typeface="Calibri"/>
              <a:ea typeface="Calibri"/>
              <a:cs typeface="Calibri"/>
              <a:sym typeface="Calibri"/>
            </a:endParaRPr>
          </a:p>
        </p:txBody>
      </p:sp>
      <p:sp>
        <p:nvSpPr>
          <p:cNvPr id="649" name="Google Shape;649;p6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3" name="Shape 653"/>
        <p:cNvGrpSpPr/>
        <p:nvPr/>
      </p:nvGrpSpPr>
      <p:grpSpPr>
        <a:xfrm>
          <a:off x="0" y="0"/>
          <a:ext cx="0" cy="0"/>
          <a:chOff x="0" y="0"/>
          <a:chExt cx="0" cy="0"/>
        </a:xfrm>
      </p:grpSpPr>
      <p:sp>
        <p:nvSpPr>
          <p:cNvPr id="654" name="Google Shape;654;p67"/>
          <p:cNvSpPr txBox="1"/>
          <p:nvPr>
            <p:ph type="title"/>
          </p:nvPr>
        </p:nvSpPr>
        <p:spPr>
          <a:xfrm>
            <a:off x="1830704" y="461594"/>
            <a:ext cx="5477510" cy="6972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Introduction to SCSI Bus</a:t>
            </a:r>
            <a:endParaRPr/>
          </a:p>
        </p:txBody>
      </p:sp>
      <p:sp>
        <p:nvSpPr>
          <p:cNvPr id="655" name="Google Shape;655;p67"/>
          <p:cNvSpPr txBox="1"/>
          <p:nvPr/>
        </p:nvSpPr>
        <p:spPr>
          <a:xfrm>
            <a:off x="258266" y="1208913"/>
            <a:ext cx="8428533" cy="4785360"/>
          </a:xfrm>
          <a:prstGeom prst="rect">
            <a:avLst/>
          </a:prstGeom>
          <a:noFill/>
          <a:ln>
            <a:noFill/>
          </a:ln>
        </p:spPr>
        <p:txBody>
          <a:bodyPr anchorCtr="0" anchor="t" bIns="0" lIns="0" spcFirstLastPara="1" rIns="0" wrap="square" tIns="85725">
            <a:spAutoFit/>
          </a:bodyPr>
          <a:lstStyle/>
          <a:p>
            <a:pPr indent="-342900"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Pronounced "scuzzy"</a:t>
            </a:r>
            <a:endParaRPr sz="2400">
              <a:solidFill>
                <a:schemeClr val="dk1"/>
              </a:solidFill>
              <a:latin typeface="Times New Roman"/>
              <a:ea typeface="Times New Roman"/>
              <a:cs typeface="Times New Roman"/>
              <a:sym typeface="Times New Roman"/>
            </a:endParaRPr>
          </a:p>
          <a:p>
            <a:pPr indent="-342900" lvl="0" marL="355600" marR="5080" rtl="0" algn="just">
              <a:lnSpc>
                <a:spcPct val="100000"/>
              </a:lnSpc>
              <a:spcBef>
                <a:spcPts val="575"/>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Fast bus </a:t>
            </a:r>
            <a:r>
              <a:rPr lang="en-US" sz="2400">
                <a:solidFill>
                  <a:schemeClr val="dk1"/>
                </a:solidFill>
                <a:latin typeface="Times New Roman"/>
                <a:ea typeface="Times New Roman"/>
                <a:cs typeface="Times New Roman"/>
                <a:sym typeface="Times New Roman"/>
              </a:rPr>
              <a:t>that can connect lots of devices to a</a:t>
            </a:r>
            <a:r>
              <a:rPr lang="en-US" sz="2400">
                <a:solidFill>
                  <a:srgbClr val="FF0000"/>
                </a:solidFill>
                <a:latin typeface="Times New Roman"/>
                <a:ea typeface="Times New Roman"/>
                <a:cs typeface="Times New Roman"/>
                <a:sym typeface="Times New Roman"/>
              </a:rPr>
              <a:t> </a:t>
            </a:r>
            <a:r>
              <a:rPr b="1" lang="en-US" sz="2400" u="sng">
                <a:solidFill>
                  <a:srgbClr val="FF0000"/>
                </a:solidFill>
                <a:latin typeface="Times New Roman"/>
                <a:ea typeface="Times New Roman"/>
                <a:cs typeface="Times New Roman"/>
                <a:sym typeface="Times New Roman"/>
              </a:rPr>
              <a:t>COMPUTER </a:t>
            </a:r>
            <a:r>
              <a:rPr lang="en-US" sz="2400">
                <a:solidFill>
                  <a:schemeClr val="dk1"/>
                </a:solidFill>
                <a:latin typeface="Times New Roman"/>
                <a:ea typeface="Times New Roman"/>
                <a:cs typeface="Times New Roman"/>
                <a:sym typeface="Times New Roman"/>
              </a:rPr>
              <a:t>at the  same time, including hard drives, scanners, CD-ROM/RW  drives, printers and tape drives unlike USB connected for small  devices.</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8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Helps to put </a:t>
            </a:r>
            <a:r>
              <a:rPr b="1" lang="en-US" sz="2400">
                <a:solidFill>
                  <a:schemeClr val="dk1"/>
                </a:solidFill>
                <a:latin typeface="Times New Roman"/>
                <a:ea typeface="Times New Roman"/>
                <a:cs typeface="Times New Roman"/>
                <a:sym typeface="Times New Roman"/>
              </a:rPr>
              <a:t>multiple items on one bus.</a:t>
            </a:r>
            <a:endParaRPr b="1"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Also works with most computer systems.</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58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Prob---</a:t>
            </a:r>
            <a:endParaRPr sz="24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50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Limited BIOS support as it has to be configured for each computer</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484"/>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No common SCSI software interface</a:t>
            </a:r>
            <a:endParaRPr b="0" i="0" sz="2000" u="none" cap="none" strike="noStrike">
              <a:solidFill>
                <a:schemeClr val="dk1"/>
              </a:solidFill>
              <a:latin typeface="Times New Roman"/>
              <a:ea typeface="Times New Roman"/>
              <a:cs typeface="Times New Roman"/>
              <a:sym typeface="Times New Roman"/>
            </a:endParaRPr>
          </a:p>
          <a:p>
            <a:pPr indent="-127000" lvl="1" marL="469900" marR="181610" rtl="0" algn="just">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All different types of SCSI have different speeds,bus widths,connectors  Which can be confusing !</a:t>
            </a:r>
            <a:endParaRPr/>
          </a:p>
        </p:txBody>
      </p:sp>
      <p:sp>
        <p:nvSpPr>
          <p:cNvPr id="656" name="Google Shape;656;p67"/>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68"/>
          <p:cNvSpPr txBox="1"/>
          <p:nvPr>
            <p:ph type="title"/>
          </p:nvPr>
        </p:nvSpPr>
        <p:spPr>
          <a:xfrm>
            <a:off x="457200" y="274638"/>
            <a:ext cx="7467600" cy="4873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662" name="Google Shape;662;p68"/>
          <p:cNvSpPr txBox="1"/>
          <p:nvPr>
            <p:ph idx="1" type="body"/>
          </p:nvPr>
        </p:nvSpPr>
        <p:spPr>
          <a:xfrm>
            <a:off x="457200" y="914400"/>
            <a:ext cx="7848600" cy="55595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Standard interface for connecting peripheral devices to PC(16 peripheral devices via a single bus and a host adapter)</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Deliver faster data transfer, increase performance etc</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It is less commonly used in desktop PCs</a:t>
            </a:r>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Either embedded on motherboard or a host adapter is inserted into the expansion slot on motherboard</a:t>
            </a:r>
            <a:endParaRPr/>
          </a:p>
          <a:p>
            <a:pPr indent="-167640" lvl="0" marL="274320" rtl="0" algn="just">
              <a:spcBef>
                <a:spcPts val="600"/>
              </a:spcBef>
              <a:spcAft>
                <a:spcPts val="0"/>
              </a:spcAft>
              <a:buSzPts val="1680"/>
              <a:buNone/>
            </a:pPr>
            <a:r>
              <a:t/>
            </a:r>
            <a:endParaRPr>
              <a:latin typeface="Times New Roman"/>
              <a:ea typeface="Times New Roman"/>
              <a:cs typeface="Times New Roman"/>
              <a:sym typeface="Times New Roman"/>
            </a:endParaRPr>
          </a:p>
          <a:p>
            <a:pPr indent="-167640" lvl="0" marL="274320" rtl="0" algn="just">
              <a:spcBef>
                <a:spcPts val="600"/>
              </a:spcBef>
              <a:spcAft>
                <a:spcPts val="0"/>
              </a:spcAft>
              <a:buSzPts val="1680"/>
              <a:buNone/>
            </a:pPr>
            <a:r>
              <a:t/>
            </a:r>
            <a:endParaRPr>
              <a:latin typeface="Times New Roman"/>
              <a:ea typeface="Times New Roman"/>
              <a:cs typeface="Times New Roman"/>
              <a:sym typeface="Times New Roman"/>
            </a:endParaRPr>
          </a:p>
        </p:txBody>
      </p:sp>
      <p:sp>
        <p:nvSpPr>
          <p:cNvPr id="663" name="Google Shape;663;p6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7" name="Shape 667"/>
        <p:cNvGrpSpPr/>
        <p:nvPr/>
      </p:nvGrpSpPr>
      <p:grpSpPr>
        <a:xfrm>
          <a:off x="0" y="0"/>
          <a:ext cx="0" cy="0"/>
          <a:chOff x="0" y="0"/>
          <a:chExt cx="0" cy="0"/>
        </a:xfrm>
      </p:grpSpPr>
      <p:pic>
        <p:nvPicPr>
          <p:cNvPr id="668" name="Google Shape;668;p69"/>
          <p:cNvPicPr preferRelativeResize="0"/>
          <p:nvPr/>
        </p:nvPicPr>
        <p:blipFill rotWithShape="1">
          <a:blip r:embed="rId3">
            <a:alphaModFix/>
          </a:blip>
          <a:srcRect b="0" l="0" r="0" t="0"/>
          <a:stretch/>
        </p:blipFill>
        <p:spPr>
          <a:xfrm>
            <a:off x="0" y="765175"/>
            <a:ext cx="3810000" cy="2847975"/>
          </a:xfrm>
          <a:prstGeom prst="rect">
            <a:avLst/>
          </a:prstGeom>
          <a:noFill/>
          <a:ln>
            <a:noFill/>
          </a:ln>
        </p:spPr>
      </p:pic>
      <p:sp>
        <p:nvSpPr>
          <p:cNvPr id="669" name="Google Shape;669;p69"/>
          <p:cNvSpPr txBox="1"/>
          <p:nvPr/>
        </p:nvSpPr>
        <p:spPr>
          <a:xfrm>
            <a:off x="162864" y="3895090"/>
            <a:ext cx="4088129"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chemeClr val="dk1"/>
                </a:solidFill>
                <a:latin typeface="Times New Roman"/>
                <a:ea typeface="Times New Roman"/>
                <a:cs typeface="Times New Roman"/>
                <a:sym typeface="Times New Roman"/>
              </a:rPr>
              <a:t>Internal SCSI devices connect to a ribbon  cable.</a:t>
            </a:r>
            <a:endParaRPr sz="1800">
              <a:solidFill>
                <a:schemeClr val="dk1"/>
              </a:solidFill>
              <a:latin typeface="Times New Roman"/>
              <a:ea typeface="Times New Roman"/>
              <a:cs typeface="Times New Roman"/>
              <a:sym typeface="Times New Roman"/>
            </a:endParaRPr>
          </a:p>
        </p:txBody>
      </p:sp>
      <p:pic>
        <p:nvPicPr>
          <p:cNvPr id="670" name="Google Shape;670;p69"/>
          <p:cNvPicPr preferRelativeResize="0"/>
          <p:nvPr/>
        </p:nvPicPr>
        <p:blipFill rotWithShape="1">
          <a:blip r:embed="rId4">
            <a:alphaModFix/>
          </a:blip>
          <a:srcRect b="0" l="0" r="0" t="0"/>
          <a:stretch/>
        </p:blipFill>
        <p:spPr>
          <a:xfrm>
            <a:off x="4006850" y="758698"/>
            <a:ext cx="5137149" cy="2703576"/>
          </a:xfrm>
          <a:prstGeom prst="rect">
            <a:avLst/>
          </a:prstGeom>
          <a:noFill/>
          <a:ln>
            <a:noFill/>
          </a:ln>
        </p:spPr>
      </p:pic>
      <p:sp>
        <p:nvSpPr>
          <p:cNvPr id="671" name="Google Shape;671;p69"/>
          <p:cNvSpPr txBox="1"/>
          <p:nvPr/>
        </p:nvSpPr>
        <p:spPr>
          <a:xfrm>
            <a:off x="4435602" y="3744214"/>
            <a:ext cx="430911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External SCSI devices connect using thick, round  cables</a:t>
            </a:r>
            <a:endParaRPr sz="1600">
              <a:solidFill>
                <a:schemeClr val="dk1"/>
              </a:solidFill>
              <a:latin typeface="Times New Roman"/>
              <a:ea typeface="Times New Roman"/>
              <a:cs typeface="Times New Roman"/>
              <a:sym typeface="Times New Roman"/>
            </a:endParaRPr>
          </a:p>
        </p:txBody>
      </p:sp>
      <p:sp>
        <p:nvSpPr>
          <p:cNvPr id="672" name="Google Shape;672;p69"/>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6" name="Shape 676"/>
        <p:cNvGrpSpPr/>
        <p:nvPr/>
      </p:nvGrpSpPr>
      <p:grpSpPr>
        <a:xfrm>
          <a:off x="0" y="0"/>
          <a:ext cx="0" cy="0"/>
          <a:chOff x="0" y="0"/>
          <a:chExt cx="0" cy="0"/>
        </a:xfrm>
      </p:grpSpPr>
      <p:sp>
        <p:nvSpPr>
          <p:cNvPr id="677" name="Google Shape;677;p70"/>
          <p:cNvSpPr txBox="1"/>
          <p:nvPr>
            <p:ph type="title"/>
          </p:nvPr>
        </p:nvSpPr>
        <p:spPr>
          <a:xfrm>
            <a:off x="1066800" y="304800"/>
            <a:ext cx="7099934" cy="382156"/>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2400"/>
              <a:buFont typeface="Times New Roman"/>
              <a:buNone/>
            </a:pPr>
            <a:r>
              <a:rPr lang="en-US" sz="2400">
                <a:latin typeface="Times New Roman"/>
                <a:ea typeface="Times New Roman"/>
                <a:cs typeface="Times New Roman"/>
                <a:sym typeface="Times New Roman"/>
              </a:rPr>
              <a:t>SCSI-Small Computer System Interface</a:t>
            </a:r>
            <a:endParaRPr sz="2400">
              <a:latin typeface="Times New Roman"/>
              <a:ea typeface="Times New Roman"/>
              <a:cs typeface="Times New Roman"/>
              <a:sym typeface="Times New Roman"/>
            </a:endParaRPr>
          </a:p>
        </p:txBody>
      </p:sp>
      <p:sp>
        <p:nvSpPr>
          <p:cNvPr id="678" name="Google Shape;678;p70"/>
          <p:cNvSpPr txBox="1"/>
          <p:nvPr/>
        </p:nvSpPr>
        <p:spPr>
          <a:xfrm>
            <a:off x="221691" y="793749"/>
            <a:ext cx="8312709" cy="3525965"/>
          </a:xfrm>
          <a:prstGeom prst="rect">
            <a:avLst/>
          </a:prstGeom>
          <a:noFill/>
          <a:ln>
            <a:noFill/>
          </a:ln>
        </p:spPr>
        <p:txBody>
          <a:bodyPr anchorCtr="0" anchor="t" bIns="0" lIns="0" spcFirstLastPara="1" rIns="0" wrap="square" tIns="12050">
            <a:spAutoFit/>
          </a:bodyPr>
          <a:lstStyle/>
          <a:p>
            <a:pPr indent="-342900" lvl="0" marL="355600" marR="301625" rtl="0" algn="just">
              <a:lnSpc>
                <a:spcPct val="1501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Set of standard electronic interfaces that allow personal computers  </a:t>
            </a:r>
            <a:r>
              <a:rPr b="1" lang="en-US" sz="2000">
                <a:solidFill>
                  <a:srgbClr val="FF0000"/>
                </a:solidFill>
                <a:latin typeface="Times New Roman"/>
                <a:ea typeface="Times New Roman"/>
                <a:cs typeface="Times New Roman"/>
                <a:sym typeface="Times New Roman"/>
              </a:rPr>
              <a:t>PC’s to communicate with peripheral hardware </a:t>
            </a:r>
            <a:r>
              <a:rPr lang="en-US" sz="2000">
                <a:solidFill>
                  <a:schemeClr val="dk1"/>
                </a:solidFill>
                <a:latin typeface="Times New Roman"/>
                <a:ea typeface="Times New Roman"/>
                <a:cs typeface="Times New Roman"/>
                <a:sym typeface="Times New Roman"/>
              </a:rPr>
              <a:t>such as disk drives,tapes,CDs,Printers,scanners,etc</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014"/>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Faster.</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02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SCSI standards are generally backward compatible</a:t>
            </a:r>
            <a:endParaRPr sz="2000">
              <a:solidFill>
                <a:schemeClr val="dk1"/>
              </a:solidFill>
              <a:latin typeface="Times New Roman"/>
              <a:ea typeface="Times New Roman"/>
              <a:cs typeface="Times New Roman"/>
              <a:sym typeface="Times New Roman"/>
            </a:endParaRPr>
          </a:p>
          <a:p>
            <a:pPr indent="-287019" lvl="0" marL="756285" marR="5080" rtl="0" algn="l">
              <a:lnSpc>
                <a:spcPct val="150000"/>
              </a:lnSpc>
              <a:spcBef>
                <a:spcPts val="580"/>
              </a:spcBef>
              <a:spcAft>
                <a:spcPts val="0"/>
              </a:spcAft>
              <a:buNone/>
            </a:pPr>
            <a:r>
              <a:rPr lang="en-US" sz="2000">
                <a:solidFill>
                  <a:schemeClr val="dk1"/>
                </a:solidFill>
                <a:latin typeface="Times New Roman"/>
                <a:ea typeface="Times New Roman"/>
                <a:cs typeface="Times New Roman"/>
                <a:sym typeface="Times New Roman"/>
              </a:rPr>
              <a:t>–	A parallel interface standard used by Apple Macintosh computers, PCs and Unix  systems for attaching peripheral devices to a computer.</a:t>
            </a:r>
            <a:endParaRPr sz="2000">
              <a:solidFill>
                <a:schemeClr val="dk1"/>
              </a:solidFill>
              <a:latin typeface="Times New Roman"/>
              <a:ea typeface="Times New Roman"/>
              <a:cs typeface="Times New Roman"/>
              <a:sym typeface="Times New Roman"/>
            </a:endParaRPr>
          </a:p>
        </p:txBody>
      </p:sp>
      <p:pic>
        <p:nvPicPr>
          <p:cNvPr id="679" name="Google Shape;679;p70"/>
          <p:cNvPicPr preferRelativeResize="0"/>
          <p:nvPr/>
        </p:nvPicPr>
        <p:blipFill rotWithShape="1">
          <a:blip r:embed="rId3">
            <a:alphaModFix/>
          </a:blip>
          <a:srcRect b="0" l="0" r="0" t="0"/>
          <a:stretch/>
        </p:blipFill>
        <p:spPr>
          <a:xfrm>
            <a:off x="4714875" y="5072062"/>
            <a:ext cx="4429125" cy="1785935"/>
          </a:xfrm>
          <a:prstGeom prst="rect">
            <a:avLst/>
          </a:prstGeom>
          <a:noFill/>
          <a:ln>
            <a:noFill/>
          </a:ln>
        </p:spPr>
      </p:pic>
      <p:sp>
        <p:nvSpPr>
          <p:cNvPr id="680" name="Google Shape;680;p70"/>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1"/>
          <p:cNvSpPr txBox="1"/>
          <p:nvPr>
            <p:ph type="title"/>
          </p:nvPr>
        </p:nvSpPr>
        <p:spPr>
          <a:xfrm>
            <a:off x="457200" y="274638"/>
            <a:ext cx="7467600" cy="4111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686" name="Google Shape;686;p71"/>
          <p:cNvSpPr txBox="1"/>
          <p:nvPr>
            <p:ph idx="1" type="body"/>
          </p:nvPr>
        </p:nvSpPr>
        <p:spPr>
          <a:xfrm>
            <a:off x="457200" y="914400"/>
            <a:ext cx="8077200" cy="57119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t>SCSI interfaces used internally in computers to connect different types of </a:t>
            </a:r>
            <a:r>
              <a:rPr lang="en-US" u="sng">
                <a:solidFill>
                  <a:schemeClr val="hlink"/>
                </a:solidFill>
                <a:hlinkClick r:id="rId3"/>
              </a:rPr>
              <a:t>hardware</a:t>
            </a:r>
            <a:r>
              <a:rPr lang="en-US"/>
              <a:t> devices directly to a </a:t>
            </a:r>
            <a:r>
              <a:rPr lang="en-US" u="sng">
                <a:solidFill>
                  <a:schemeClr val="hlink"/>
                </a:solidFill>
                <a:hlinkClick r:id="rId4"/>
              </a:rPr>
              <a:t>motherboard</a:t>
            </a:r>
            <a:r>
              <a:rPr lang="en-US"/>
              <a:t> or storage controller card. </a:t>
            </a:r>
            <a:endParaRPr/>
          </a:p>
          <a:p>
            <a:pPr indent="-274320" lvl="0" marL="274320" rtl="0" algn="just">
              <a:spcBef>
                <a:spcPts val="600"/>
              </a:spcBef>
              <a:spcAft>
                <a:spcPts val="0"/>
              </a:spcAft>
              <a:buSzPts val="1680"/>
              <a:buChar char="🞆"/>
            </a:pPr>
            <a:r>
              <a:rPr lang="en-US"/>
              <a:t>When used internally, devices are attached through a ribbon cable.</a:t>
            </a:r>
            <a:endParaRPr/>
          </a:p>
          <a:p>
            <a:pPr indent="-274320" lvl="0" marL="274320" rtl="0" algn="just">
              <a:spcBef>
                <a:spcPts val="600"/>
              </a:spcBef>
              <a:spcAft>
                <a:spcPts val="0"/>
              </a:spcAft>
              <a:buSzPts val="1680"/>
              <a:buChar char="🞆"/>
            </a:pPr>
            <a:r>
              <a:rPr lang="en-US"/>
              <a:t>External connections are also common and typically connect via an external port on a storage controller card using a cable.</a:t>
            </a:r>
            <a:endParaRPr/>
          </a:p>
          <a:p>
            <a:pPr indent="-274320" lvl="0" marL="274320" rtl="0" algn="just">
              <a:spcBef>
                <a:spcPts val="600"/>
              </a:spcBef>
              <a:spcAft>
                <a:spcPts val="0"/>
              </a:spcAft>
              <a:buSzPts val="1680"/>
              <a:buChar char="🞆"/>
            </a:pPr>
            <a:r>
              <a:rPr lang="en-US"/>
              <a:t>Within the controller is a memory chip that holds the SCSI BIOS, which is a piece of integrated software that's used to control the connected devices.</a:t>
            </a:r>
            <a:endParaRPr/>
          </a:p>
          <a:p>
            <a:pPr indent="-167640" lvl="0" marL="274320" rtl="0" algn="just">
              <a:spcBef>
                <a:spcPts val="600"/>
              </a:spcBef>
              <a:spcAft>
                <a:spcPts val="0"/>
              </a:spcAft>
              <a:buSzPts val="1680"/>
              <a:buNone/>
            </a:pPr>
            <a:r>
              <a:t/>
            </a:r>
            <a:endParaRPr/>
          </a:p>
        </p:txBody>
      </p:sp>
      <p:sp>
        <p:nvSpPr>
          <p:cNvPr id="687" name="Google Shape;687;p71"/>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4"/>
          <p:cNvSpPr txBox="1"/>
          <p:nvPr>
            <p:ph type="title"/>
          </p:nvPr>
        </p:nvSpPr>
        <p:spPr>
          <a:xfrm>
            <a:off x="457200" y="274638"/>
            <a:ext cx="7467600" cy="4111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693" name="Google Shape;693;p74"/>
          <p:cNvSpPr txBox="1"/>
          <p:nvPr>
            <p:ph idx="1" type="body"/>
          </p:nvPr>
        </p:nvSpPr>
        <p:spPr>
          <a:xfrm>
            <a:off x="457200" y="838200"/>
            <a:ext cx="7467600" cy="1219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There are several SCSI technologies that support different cable lengths, speeds, and a number of devices that can be attached to one cable</a:t>
            </a:r>
            <a:endParaRPr/>
          </a:p>
        </p:txBody>
      </p:sp>
      <p:pic>
        <p:nvPicPr>
          <p:cNvPr id="694" name="Google Shape;694;p74"/>
          <p:cNvPicPr preferRelativeResize="0"/>
          <p:nvPr/>
        </p:nvPicPr>
        <p:blipFill rotWithShape="1">
          <a:blip r:embed="rId3">
            <a:alphaModFix/>
          </a:blip>
          <a:srcRect b="22917" l="21668" r="33236" t="35416"/>
          <a:stretch/>
        </p:blipFill>
        <p:spPr>
          <a:xfrm>
            <a:off x="1143000" y="2286000"/>
            <a:ext cx="6934200" cy="3581400"/>
          </a:xfrm>
          <a:prstGeom prst="rect">
            <a:avLst/>
          </a:prstGeom>
          <a:noFill/>
          <a:ln>
            <a:noFill/>
          </a:ln>
        </p:spPr>
      </p:pic>
      <p:sp>
        <p:nvSpPr>
          <p:cNvPr id="695" name="Google Shape;695;p74"/>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5"/>
          <p:cNvSpPr txBox="1"/>
          <p:nvPr>
            <p:ph type="title"/>
          </p:nvPr>
        </p:nvSpPr>
        <p:spPr>
          <a:xfrm>
            <a:off x="457200" y="274638"/>
            <a:ext cx="7467600" cy="2587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t/>
            </a:r>
            <a:endParaRPr/>
          </a:p>
        </p:txBody>
      </p:sp>
      <p:sp>
        <p:nvSpPr>
          <p:cNvPr id="701" name="Google Shape;701;p75"/>
          <p:cNvSpPr txBox="1"/>
          <p:nvPr>
            <p:ph idx="1" type="body"/>
          </p:nvPr>
        </p:nvSpPr>
        <p:spPr>
          <a:xfrm>
            <a:off x="457200" y="762000"/>
            <a:ext cx="7924800" cy="57119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400"/>
              <a:buChar char="🞆"/>
            </a:pPr>
            <a:r>
              <a:rPr lang="en-US" sz="2000"/>
              <a:t>A SCSI controller coordinates between all of the other devices on the SCSI bus and the computer. Also called a </a:t>
            </a:r>
            <a:r>
              <a:rPr b="1" lang="en-US" sz="2000"/>
              <a:t>host adapter</a:t>
            </a:r>
            <a:r>
              <a:rPr lang="en-US" sz="2000"/>
              <a:t>, the controller can be a card that you plug into an available slot or it can be built into the </a:t>
            </a:r>
            <a:r>
              <a:rPr lang="en-US" sz="2000" u="sng">
                <a:solidFill>
                  <a:schemeClr val="hlink"/>
                </a:solidFill>
                <a:hlinkClick r:id="rId3"/>
              </a:rPr>
              <a:t>motherboard</a:t>
            </a:r>
            <a:r>
              <a:rPr lang="en-US" sz="2000"/>
              <a:t>.</a:t>
            </a:r>
            <a:endParaRPr/>
          </a:p>
          <a:p>
            <a:pPr indent="-274320" lvl="0" marL="274320" rtl="0" algn="just">
              <a:spcBef>
                <a:spcPts val="600"/>
              </a:spcBef>
              <a:spcAft>
                <a:spcPts val="0"/>
              </a:spcAft>
              <a:buSzPts val="1400"/>
              <a:buChar char="🞆"/>
            </a:pPr>
            <a:r>
              <a:rPr lang="en-US" sz="2000"/>
              <a:t>Each SCSI device must have a unique </a:t>
            </a:r>
            <a:r>
              <a:rPr b="1" lang="en-US" sz="2000"/>
              <a:t>identifier</a:t>
            </a:r>
            <a:r>
              <a:rPr lang="en-US" sz="2000"/>
              <a:t> (ID) in order for it to work properly</a:t>
            </a:r>
            <a:endParaRPr/>
          </a:p>
          <a:p>
            <a:pPr indent="-274320" lvl="0" marL="274320" rtl="0" algn="just">
              <a:spcBef>
                <a:spcPts val="600"/>
              </a:spcBef>
              <a:spcAft>
                <a:spcPts val="0"/>
              </a:spcAft>
              <a:buSzPts val="1400"/>
              <a:buChar char="🞆"/>
            </a:pPr>
            <a:r>
              <a:rPr lang="en-US" sz="2000"/>
              <a:t>Internal devices connect to a SCSI controller with a ribbon cable.</a:t>
            </a:r>
            <a:endParaRPr/>
          </a:p>
          <a:p>
            <a:pPr indent="-274320" lvl="0" marL="274320" rtl="0" algn="just">
              <a:spcBef>
                <a:spcPts val="600"/>
              </a:spcBef>
              <a:spcAft>
                <a:spcPts val="0"/>
              </a:spcAft>
              <a:buSzPts val="1400"/>
              <a:buChar char="🞆"/>
            </a:pPr>
            <a:r>
              <a:rPr lang="en-US" sz="2000"/>
              <a:t>If the SCSI bus were left open, electrical signals sent down the bus could reflect back and interfere with communication between devices and the SCSI controller.</a:t>
            </a:r>
            <a:endParaRPr/>
          </a:p>
          <a:p>
            <a:pPr indent="-274320" lvl="0" marL="274320" rtl="0" algn="just">
              <a:spcBef>
                <a:spcPts val="600"/>
              </a:spcBef>
              <a:spcAft>
                <a:spcPts val="0"/>
              </a:spcAft>
              <a:buSzPts val="1400"/>
              <a:buChar char="🞆"/>
            </a:pPr>
            <a:r>
              <a:rPr lang="en-US" sz="2000"/>
              <a:t> The solution is to </a:t>
            </a:r>
            <a:r>
              <a:rPr b="1" lang="en-US" sz="2000"/>
              <a:t>terminate</a:t>
            </a:r>
            <a:r>
              <a:rPr lang="en-US" sz="2000"/>
              <a:t> the bus, closing each end with a </a:t>
            </a:r>
            <a:r>
              <a:rPr b="1" lang="en-US" sz="2000"/>
              <a:t>resistor circuit</a:t>
            </a:r>
            <a:r>
              <a:rPr lang="en-US" sz="2000"/>
              <a:t>. If the bus supports both internal and external devices, then the last device on each series must be terminated.</a:t>
            </a:r>
            <a:endParaRPr sz="2000"/>
          </a:p>
        </p:txBody>
      </p:sp>
      <p:sp>
        <p:nvSpPr>
          <p:cNvPr id="702" name="Google Shape;702;p75"/>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SCSI advantages</a:t>
            </a:r>
            <a:endParaRPr/>
          </a:p>
        </p:txBody>
      </p:sp>
      <p:pic>
        <p:nvPicPr>
          <p:cNvPr id="708" name="Google Shape;708;p76"/>
          <p:cNvPicPr preferRelativeResize="0"/>
          <p:nvPr>
            <p:ph idx="1" type="body"/>
          </p:nvPr>
        </p:nvPicPr>
        <p:blipFill rotWithShape="1">
          <a:blip r:embed="rId3">
            <a:alphaModFix/>
          </a:blip>
          <a:srcRect b="22738" l="0" r="40816" t="33703"/>
          <a:stretch/>
        </p:blipFill>
        <p:spPr>
          <a:xfrm>
            <a:off x="304800" y="1600200"/>
            <a:ext cx="7924800" cy="4572000"/>
          </a:xfrm>
          <a:prstGeom prst="rect">
            <a:avLst/>
          </a:prstGeom>
          <a:noFill/>
          <a:ln>
            <a:noFill/>
          </a:ln>
        </p:spPr>
      </p:pic>
      <p:sp>
        <p:nvSpPr>
          <p:cNvPr id="709" name="Google Shape;709;p76"/>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SCSI disadvantages</a:t>
            </a:r>
            <a:endParaRPr/>
          </a:p>
        </p:txBody>
      </p:sp>
      <p:sp>
        <p:nvSpPr>
          <p:cNvPr id="715" name="Google Shape;715;p7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Refer</a:t>
            </a:r>
            <a:endParaRPr/>
          </a:p>
          <a:p>
            <a:pPr indent="-274320" lvl="0" marL="274320" rtl="0" algn="l">
              <a:spcBef>
                <a:spcPts val="600"/>
              </a:spcBef>
              <a:spcAft>
                <a:spcPts val="0"/>
              </a:spcAft>
              <a:buSzPts val="1680"/>
              <a:buChar char="🞆"/>
            </a:pPr>
            <a:r>
              <a:rPr lang="en-US"/>
              <a:t>Why it is not common nowadays?</a:t>
            </a:r>
            <a:endParaRPr/>
          </a:p>
        </p:txBody>
      </p:sp>
      <p:sp>
        <p:nvSpPr>
          <p:cNvPr id="716" name="Google Shape;716;p78"/>
          <p:cNvSpPr txBox="1"/>
          <p:nvPr>
            <p:ph idx="12" type="sldNum"/>
          </p:nvPr>
        </p:nvSpPr>
        <p:spPr>
          <a:xfrm>
            <a:off x="8129016" y="5734050"/>
            <a:ext cx="609600" cy="521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2023-07-10T11:36:40Z</dcterms:created>
  <dc:creator>Adrian J Pullin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2022-08-29T00:00:00Z</vt:filetime>
  </property>
  <property fmtid="{D5CDD505-2E9C-101B-9397-08002B2CF9AE}" pid="3" name="Creator">
    <vt:lpwstr>Microsoft® PowerPoint® 2010</vt:lpwstr>
  </property>
  <property fmtid="{D5CDD505-2E9C-101B-9397-08002B2CF9AE}" pid="4" name="LastSaved">
    <vt:filetime>2023-07-10T00:00:00Z</vt:filetime>
  </property>
</Properties>
</file>