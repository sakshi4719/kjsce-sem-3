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9144000"/>
  <p:notesSz cx="6858000" cy="9144000"/>
  <p:embeddedFontLst>
    <p:embeddedFont>
      <p:font typeface="Arimo"/>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6" roundtripDataSignature="AMtx7mg9Zng//fULU4EyWoKFlm+YqJsI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Arimo-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Arimo-italic.fntdata"/><Relationship Id="rId63" Type="http://schemas.openxmlformats.org/officeDocument/2006/relationships/font" Target="fonts/Arimo-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Arimo-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4"/>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4"/>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6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6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6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6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6"/>
          <p:cNvSpPr txBox="1"/>
          <p:nvPr>
            <p:ph type="title"/>
          </p:nvPr>
        </p:nvSpPr>
        <p:spPr>
          <a:xfrm>
            <a:off x="623888" y="1709741"/>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6"/>
          <p:cNvSpPr txBox="1"/>
          <p:nvPr>
            <p:ph idx="1" type="body"/>
          </p:nvPr>
        </p:nvSpPr>
        <p:spPr>
          <a:xfrm>
            <a:off x="623888" y="4589466"/>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6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6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6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8"/>
          <p:cNvSpPr txBox="1"/>
          <p:nvPr>
            <p:ph type="title"/>
          </p:nvPr>
        </p:nvSpPr>
        <p:spPr>
          <a:xfrm>
            <a:off x="629841"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6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68"/>
          <p:cNvSpPr txBox="1"/>
          <p:nvPr>
            <p:ph idx="3" type="body"/>
          </p:nvPr>
        </p:nvSpPr>
        <p:spPr>
          <a:xfrm>
            <a:off x="4629151"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68"/>
          <p:cNvSpPr txBox="1"/>
          <p:nvPr>
            <p:ph idx="4" type="body"/>
          </p:nvPr>
        </p:nvSpPr>
        <p:spPr>
          <a:xfrm>
            <a:off x="4629151"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6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7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7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1"/>
          <p:cNvSpPr txBox="1"/>
          <p:nvPr>
            <p:ph idx="1" type="body"/>
          </p:nvPr>
        </p:nvSpPr>
        <p:spPr>
          <a:xfrm>
            <a:off x="3887391" y="987428"/>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7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7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7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72"/>
          <p:cNvSpPr/>
          <p:nvPr>
            <p:ph idx="2" type="pic"/>
          </p:nvPr>
        </p:nvSpPr>
        <p:spPr>
          <a:xfrm>
            <a:off x="3887391" y="987428"/>
            <a:ext cx="4629150" cy="4873625"/>
          </a:xfrm>
          <a:prstGeom prst="rect">
            <a:avLst/>
          </a:prstGeom>
          <a:noFill/>
          <a:ln>
            <a:noFill/>
          </a:ln>
        </p:spPr>
      </p:sp>
      <p:sp>
        <p:nvSpPr>
          <p:cNvPr id="68" name="Google Shape;68;p7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7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7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7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7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74"/>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4"/>
          <p:cNvSpPr txBox="1"/>
          <p:nvPr>
            <p:ph idx="1" type="body"/>
          </p:nvPr>
        </p:nvSpPr>
        <p:spPr>
          <a:xfrm rot="5400000">
            <a:off x="623095"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7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4.jp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 name="Google Shape;8;p6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drawing&#10;&#10;Description automatically generated" id="11" name="Google Shape;11;p63"/>
          <p:cNvPicPr preferRelativeResize="0"/>
          <p:nvPr/>
        </p:nvPicPr>
        <p:blipFill rotWithShape="1">
          <a:blip r:embed="rId1">
            <a:alphaModFix/>
          </a:blip>
          <a:srcRect b="0" l="0" r="0" t="0"/>
          <a:stretch/>
        </p:blipFill>
        <p:spPr>
          <a:xfrm>
            <a:off x="135246" y="93609"/>
            <a:ext cx="2837329" cy="863652"/>
          </a:xfrm>
          <a:prstGeom prst="rect">
            <a:avLst/>
          </a:prstGeom>
          <a:noFill/>
          <a:ln>
            <a:noFill/>
          </a:ln>
        </p:spPr>
      </p:pic>
      <p:pic>
        <p:nvPicPr>
          <p:cNvPr descr="A close up of a sign&#10;&#10;Description automatically generated" id="12" name="Google Shape;12;p63"/>
          <p:cNvPicPr preferRelativeResize="0"/>
          <p:nvPr/>
        </p:nvPicPr>
        <p:blipFill rotWithShape="1">
          <a:blip r:embed="rId2">
            <a:alphaModFix/>
          </a:blip>
          <a:srcRect b="0" l="0" r="0" t="0"/>
          <a:stretch/>
        </p:blipFill>
        <p:spPr>
          <a:xfrm>
            <a:off x="8068102" y="93609"/>
            <a:ext cx="985130" cy="721920"/>
          </a:xfrm>
          <a:prstGeom prst="rect">
            <a:avLst/>
          </a:prstGeom>
          <a:noFill/>
          <a:ln>
            <a:noFill/>
          </a:ln>
        </p:spPr>
      </p:pic>
      <p:pic>
        <p:nvPicPr>
          <p:cNvPr id="13" name="Google Shape;13;p63"/>
          <p:cNvPicPr preferRelativeResize="0"/>
          <p:nvPr/>
        </p:nvPicPr>
        <p:blipFill rotWithShape="1">
          <a:blip r:embed="rId3">
            <a:alphaModFix/>
          </a:blip>
          <a:srcRect b="0" l="0" r="0" t="0"/>
          <a:stretch/>
        </p:blipFill>
        <p:spPr>
          <a:xfrm rot="5400000">
            <a:off x="4204042" y="1938904"/>
            <a:ext cx="702416" cy="9177499"/>
          </a:xfrm>
          <a:prstGeom prst="rect">
            <a:avLst/>
          </a:prstGeom>
          <a:noFill/>
          <a:ln>
            <a:noFill/>
          </a:ln>
        </p:spPr>
      </p:pic>
      <p:pic>
        <p:nvPicPr>
          <p:cNvPr id="14" name="Google Shape;14;p63"/>
          <p:cNvPicPr preferRelativeResize="0"/>
          <p:nvPr/>
        </p:nvPicPr>
        <p:blipFill rotWithShape="1">
          <a:blip r:embed="rId4">
            <a:alphaModFix/>
          </a:blip>
          <a:srcRect b="0" l="0" r="0" t="0"/>
          <a:stretch/>
        </p:blipFill>
        <p:spPr>
          <a:xfrm rot="5400000">
            <a:off x="5540362" y="2572804"/>
            <a:ext cx="207493" cy="699978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981200" y="1447800"/>
            <a:ext cx="6629400" cy="18943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Calibri"/>
              <a:buNone/>
            </a:pPr>
            <a:r>
              <a:rPr b="1" lang="en-US" sz="3600"/>
              <a:t>Module1</a:t>
            </a:r>
            <a:br>
              <a:rPr b="1" lang="en-US" sz="3600"/>
            </a:br>
            <a:r>
              <a:rPr b="1" lang="en-US" sz="3600"/>
              <a:t>1.1</a:t>
            </a:r>
            <a:endParaRPr b="1" sz="3600">
              <a:solidFill>
                <a:schemeClr val="dk1"/>
              </a:solidFill>
            </a:endParaRPr>
          </a:p>
        </p:txBody>
      </p:sp>
      <p:sp>
        <p:nvSpPr>
          <p:cNvPr id="89" name="Google Shape;89;p1"/>
          <p:cNvSpPr txBox="1"/>
          <p:nvPr>
            <p:ph idx="1" type="subTitle"/>
          </p:nvPr>
        </p:nvSpPr>
        <p:spPr>
          <a:xfrm>
            <a:off x="533400" y="4419600"/>
            <a:ext cx="8610600" cy="1752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t/>
            </a:r>
            <a:endParaRPr b="1" sz="1600">
              <a:solidFill>
                <a:srgbClr val="C00000"/>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BASICS OF A COMPUTER</a:t>
            </a:r>
            <a:endParaRPr b="1" u="sng"/>
          </a:p>
        </p:txBody>
      </p:sp>
      <p:sp>
        <p:nvSpPr>
          <p:cNvPr id="95" name="Google Shape;95;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Hardware or Basic functional units of a computer is made of electronics Circuit, and it works with electrical Signal.</a:t>
            </a:r>
            <a:endParaRPr/>
          </a:p>
          <a:p>
            <a:pPr indent="-171450" lvl="0" marL="171450" rtl="0" algn="l">
              <a:lnSpc>
                <a:spcPct val="90000"/>
              </a:lnSpc>
              <a:spcBef>
                <a:spcPts val="750"/>
              </a:spcBef>
              <a:spcAft>
                <a:spcPts val="0"/>
              </a:spcAft>
              <a:buClr>
                <a:schemeClr val="dk1"/>
              </a:buClr>
              <a:buSzPts val="2100"/>
              <a:buChar char="•"/>
            </a:pPr>
            <a:r>
              <a:rPr lang="en-US"/>
              <a:t>Input and Output to a computer is in the form of </a:t>
            </a:r>
            <a:r>
              <a:rPr b="1" lang="en-US" u="sng"/>
              <a:t>Electrical signals</a:t>
            </a:r>
            <a:r>
              <a:rPr lang="en-US"/>
              <a:t>.</a:t>
            </a:r>
            <a:endParaRPr/>
          </a:p>
          <a:p>
            <a:pPr indent="-171450" lvl="0" marL="171450" rtl="0" algn="l">
              <a:lnSpc>
                <a:spcPct val="90000"/>
              </a:lnSpc>
              <a:spcBef>
                <a:spcPts val="750"/>
              </a:spcBef>
              <a:spcAft>
                <a:spcPts val="0"/>
              </a:spcAft>
              <a:buClr>
                <a:schemeClr val="dk1"/>
              </a:buClr>
              <a:buSzPts val="2100"/>
              <a:buChar char="•"/>
            </a:pPr>
            <a:r>
              <a:rPr lang="en-US"/>
              <a:t>Electrical Signal is of two types.</a:t>
            </a:r>
            <a:endParaRPr/>
          </a:p>
          <a:p>
            <a:pPr indent="-171450" lvl="0" marL="171450" rtl="0" algn="l">
              <a:lnSpc>
                <a:spcPct val="90000"/>
              </a:lnSpc>
              <a:spcBef>
                <a:spcPts val="750"/>
              </a:spcBef>
              <a:spcAft>
                <a:spcPts val="0"/>
              </a:spcAft>
              <a:buClr>
                <a:schemeClr val="dk1"/>
              </a:buClr>
              <a:buSzPts val="2100"/>
              <a:buChar char="•"/>
            </a:pPr>
            <a:r>
              <a:rPr lang="en-US"/>
              <a:t>1. Analog-Continuous in Nature</a:t>
            </a:r>
            <a:endParaRPr/>
          </a:p>
          <a:p>
            <a:pPr indent="-171450" lvl="0" marL="171450" rtl="0" algn="l">
              <a:lnSpc>
                <a:spcPct val="90000"/>
              </a:lnSpc>
              <a:spcBef>
                <a:spcPts val="750"/>
              </a:spcBef>
              <a:spcAft>
                <a:spcPts val="0"/>
              </a:spcAft>
              <a:buClr>
                <a:schemeClr val="dk1"/>
              </a:buClr>
              <a:buSzPts val="2100"/>
              <a:buChar char="•"/>
            </a:pPr>
            <a:r>
              <a:rPr lang="en-US"/>
              <a:t>2. Digital-Discrete in Nature</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Present day computers are Digital Devices.</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Two types Of Electrical Signal</a:t>
            </a:r>
            <a:endParaRPr b="1" u="sng"/>
          </a:p>
        </p:txBody>
      </p:sp>
      <p:pic>
        <p:nvPicPr>
          <p:cNvPr id="101" name="Google Shape;101;p9"/>
          <p:cNvPicPr preferRelativeResize="0"/>
          <p:nvPr>
            <p:ph idx="1" type="body"/>
          </p:nvPr>
        </p:nvPicPr>
        <p:blipFill rotWithShape="1">
          <a:blip r:embed="rId3">
            <a:alphaModFix/>
          </a:blip>
          <a:srcRect b="0" l="0" r="0" t="0"/>
          <a:stretch/>
        </p:blipFill>
        <p:spPr>
          <a:xfrm>
            <a:off x="1095703" y="1828800"/>
            <a:ext cx="6952594" cy="43481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3300"/>
              <a:buFont typeface="Calibri"/>
              <a:buNone/>
            </a:pPr>
            <a:r>
              <a:rPr b="1" lang="en-US" u="sng">
                <a:solidFill>
                  <a:srgbClr val="FF0000"/>
                </a:solidFill>
              </a:rPr>
              <a:t>COMPUTER-A Digital Device </a:t>
            </a:r>
            <a:endParaRPr b="1" u="sng">
              <a:solidFill>
                <a:srgbClr val="FF0000"/>
              </a:solidFill>
            </a:endParaRPr>
          </a:p>
        </p:txBody>
      </p:sp>
      <p:sp>
        <p:nvSpPr>
          <p:cNvPr id="107" name="Google Shape;107;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Computer is a digital Device ,Which works on two discrete levels of signals. HIGH &amp; LOW.</a:t>
            </a:r>
            <a:endParaRPr/>
          </a:p>
          <a:p>
            <a:pPr indent="-171450" lvl="0" marL="171450" rtl="0" algn="l">
              <a:lnSpc>
                <a:spcPct val="90000"/>
              </a:lnSpc>
              <a:spcBef>
                <a:spcPts val="750"/>
              </a:spcBef>
              <a:spcAft>
                <a:spcPts val="0"/>
              </a:spcAft>
              <a:buClr>
                <a:schemeClr val="dk1"/>
              </a:buClr>
              <a:buSzPts val="2100"/>
              <a:buChar char="•"/>
            </a:pPr>
            <a:r>
              <a:rPr lang="en-US"/>
              <a:t>HIGH corresponds to 5 or 12 V</a:t>
            </a:r>
            <a:endParaRPr/>
          </a:p>
          <a:p>
            <a:pPr indent="-171450" lvl="0" marL="171450" rtl="0" algn="l">
              <a:lnSpc>
                <a:spcPct val="90000"/>
              </a:lnSpc>
              <a:spcBef>
                <a:spcPts val="750"/>
              </a:spcBef>
              <a:spcAft>
                <a:spcPts val="0"/>
              </a:spcAft>
              <a:buClr>
                <a:schemeClr val="dk1"/>
              </a:buClr>
              <a:buSzPts val="2100"/>
              <a:buChar char="•"/>
            </a:pPr>
            <a:r>
              <a:rPr lang="en-US"/>
              <a:t>Low Level Corresponds to 0 V.</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This volts have to be represented in symbolic representation to solve many numerical problems.</a:t>
            </a:r>
            <a:endParaRPr/>
          </a:p>
          <a:p>
            <a:pPr indent="-171450" lvl="0" marL="171450" rtl="0" algn="l">
              <a:lnSpc>
                <a:spcPct val="90000"/>
              </a:lnSpc>
              <a:spcBef>
                <a:spcPts val="750"/>
              </a:spcBef>
              <a:spcAft>
                <a:spcPts val="0"/>
              </a:spcAft>
              <a:buClr>
                <a:schemeClr val="dk1"/>
              </a:buClr>
              <a:buSzPts val="2100"/>
              <a:buChar char="•"/>
            </a:pPr>
            <a:r>
              <a:rPr lang="en-US"/>
              <a:t>‘</a:t>
            </a:r>
            <a:r>
              <a:rPr b="1" lang="en-US"/>
              <a:t>0</a:t>
            </a:r>
            <a:r>
              <a:rPr lang="en-US"/>
              <a:t>’ represents LOW</a:t>
            </a:r>
            <a:endParaRPr/>
          </a:p>
          <a:p>
            <a:pPr indent="-171450" lvl="0" marL="171450" rtl="0" algn="l">
              <a:lnSpc>
                <a:spcPct val="90000"/>
              </a:lnSpc>
              <a:spcBef>
                <a:spcPts val="750"/>
              </a:spcBef>
              <a:spcAft>
                <a:spcPts val="0"/>
              </a:spcAft>
              <a:buClr>
                <a:schemeClr val="dk1"/>
              </a:buClr>
              <a:buSzPts val="2100"/>
              <a:buChar char="•"/>
            </a:pPr>
            <a:r>
              <a:rPr lang="en-US"/>
              <a:t>‘</a:t>
            </a:r>
            <a:r>
              <a:rPr b="1" lang="en-US"/>
              <a:t>1</a:t>
            </a:r>
            <a:r>
              <a:rPr lang="en-US"/>
              <a:t>’ represents HIGH</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3300"/>
              <a:buFont typeface="Calibri"/>
              <a:buNone/>
            </a:pPr>
            <a:r>
              <a:rPr b="1" lang="en-US" u="sng">
                <a:solidFill>
                  <a:srgbClr val="FF0000"/>
                </a:solidFill>
              </a:rPr>
              <a:t>COMPUTER-A Digital Device </a:t>
            </a:r>
            <a:endParaRPr/>
          </a:p>
        </p:txBody>
      </p:sp>
      <p:sp>
        <p:nvSpPr>
          <p:cNvPr id="113" name="Google Shape;113;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So all functions of the Computer are captured using 0’s &amp; 1’s.</a:t>
            </a:r>
            <a:endParaRPr/>
          </a:p>
          <a:p>
            <a:pPr indent="-171450" lvl="0" marL="171450" rtl="0" algn="l">
              <a:lnSpc>
                <a:spcPct val="90000"/>
              </a:lnSpc>
              <a:spcBef>
                <a:spcPts val="750"/>
              </a:spcBef>
              <a:spcAft>
                <a:spcPts val="0"/>
              </a:spcAft>
              <a:buClr>
                <a:schemeClr val="dk1"/>
              </a:buClr>
              <a:buSzPts val="2100"/>
              <a:buChar char="•"/>
            </a:pPr>
            <a:r>
              <a:rPr lang="en-US"/>
              <a:t>The MATHEMATICAL System with 0 &amp; 1 is called </a:t>
            </a:r>
            <a:r>
              <a:rPr b="1" lang="en-US"/>
              <a:t>Binary number System.</a:t>
            </a:r>
            <a:endParaRPr/>
          </a:p>
          <a:p>
            <a:pPr indent="-171450" lvl="0" marL="171450" rtl="0" algn="l">
              <a:lnSpc>
                <a:spcPct val="90000"/>
              </a:lnSpc>
              <a:spcBef>
                <a:spcPts val="750"/>
              </a:spcBef>
              <a:spcAft>
                <a:spcPts val="0"/>
              </a:spcAft>
              <a:buClr>
                <a:schemeClr val="dk1"/>
              </a:buClr>
              <a:buSzPts val="2100"/>
              <a:buChar char="•"/>
            </a:pPr>
            <a:r>
              <a:rPr lang="en-US"/>
              <a:t>The algebra based on the two valued binary system is called </a:t>
            </a:r>
            <a:r>
              <a:rPr b="1" lang="en-US"/>
              <a:t>BOOLEAN </a:t>
            </a:r>
            <a:r>
              <a:rPr lang="en-US"/>
              <a:t>Algebra.</a:t>
            </a:r>
            <a:endParaRPr/>
          </a:p>
          <a:p>
            <a:pPr indent="-171450" lvl="0" marL="171450" rtl="0" algn="l">
              <a:lnSpc>
                <a:spcPct val="90000"/>
              </a:lnSpc>
              <a:spcBef>
                <a:spcPts val="750"/>
              </a:spcBef>
              <a:spcAft>
                <a:spcPts val="0"/>
              </a:spcAft>
              <a:buClr>
                <a:schemeClr val="dk1"/>
              </a:buClr>
              <a:buSzPts val="2100"/>
              <a:buChar char="•"/>
            </a:pPr>
            <a:r>
              <a:rPr lang="en-US"/>
              <a:t>So all the information in the computer is represented using strings of zeros &amp; Ones.</a:t>
            </a:r>
            <a:endParaRPr/>
          </a:p>
          <a:p>
            <a:pPr indent="-171450" lvl="0" marL="171450" rtl="0" algn="l">
              <a:lnSpc>
                <a:spcPct val="90000"/>
              </a:lnSpc>
              <a:spcBef>
                <a:spcPts val="750"/>
              </a:spcBef>
              <a:spcAft>
                <a:spcPts val="0"/>
              </a:spcAft>
              <a:buClr>
                <a:schemeClr val="dk1"/>
              </a:buClr>
              <a:buSzPts val="2100"/>
              <a:buChar char="•"/>
            </a:pPr>
            <a:r>
              <a:rPr lang="en-US"/>
              <a:t>The smallest unit of Information , that is represented in a computer is known as bit(Either 0 or 1).</a:t>
            </a:r>
            <a:endParaRPr/>
          </a:p>
          <a:p>
            <a:pPr indent="-171450" lvl="0" marL="171450" rtl="0" algn="l">
              <a:lnSpc>
                <a:spcPct val="90000"/>
              </a:lnSpc>
              <a:spcBef>
                <a:spcPts val="750"/>
              </a:spcBef>
              <a:spcAft>
                <a:spcPts val="0"/>
              </a:spcAft>
              <a:buClr>
                <a:schemeClr val="dk1"/>
              </a:buClr>
              <a:buSzPts val="2100"/>
              <a:buChar char="•"/>
            </a:pPr>
            <a:r>
              <a:rPr lang="en-US"/>
              <a:t>Four bits called Nibble.</a:t>
            </a:r>
            <a:endParaRPr/>
          </a:p>
          <a:p>
            <a:pPr indent="-171450" lvl="0" marL="171450" rtl="0" algn="l">
              <a:lnSpc>
                <a:spcPct val="90000"/>
              </a:lnSpc>
              <a:spcBef>
                <a:spcPts val="750"/>
              </a:spcBef>
              <a:spcAft>
                <a:spcPts val="0"/>
              </a:spcAft>
              <a:buClr>
                <a:schemeClr val="dk1"/>
              </a:buClr>
              <a:buSzPts val="2100"/>
              <a:buChar char="•"/>
            </a:pPr>
            <a:r>
              <a:rPr lang="en-US"/>
              <a:t>Eight bits called Byte.</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2"/>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Calibri"/>
              <a:buNone/>
            </a:pPr>
            <a:r>
              <a:rPr b="1" lang="en-US"/>
              <a:t>INTRODUCTION OF COMPUTER AND ITS SUB MODULES</a:t>
            </a:r>
            <a:endParaRPr b="1"/>
          </a:p>
        </p:txBody>
      </p:sp>
      <p:sp>
        <p:nvSpPr>
          <p:cNvPr id="119" name="Google Shape;119;p1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Three Basic Units Of a Computer</a:t>
            </a:r>
            <a:endParaRPr/>
          </a:p>
        </p:txBody>
      </p:sp>
      <p:sp>
        <p:nvSpPr>
          <p:cNvPr id="125" name="Google Shape;125;p1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7800" lvl="0" marL="171450" rtl="0" algn="l">
              <a:lnSpc>
                <a:spcPct val="90000"/>
              </a:lnSpc>
              <a:spcBef>
                <a:spcPts val="0"/>
              </a:spcBef>
              <a:spcAft>
                <a:spcPts val="0"/>
              </a:spcAft>
              <a:buClr>
                <a:schemeClr val="dk1"/>
              </a:buClr>
              <a:buSzPts val="2800"/>
              <a:buChar char="•"/>
            </a:pPr>
            <a:r>
              <a:rPr lang="en-US" sz="2800"/>
              <a:t>The Basic model of a computer –Described by </a:t>
            </a:r>
            <a:r>
              <a:rPr lang="en-US" sz="2800">
                <a:solidFill>
                  <a:srgbClr val="C00000"/>
                </a:solidFill>
              </a:rPr>
              <a:t>THREE basic Units.</a:t>
            </a:r>
            <a:endParaRPr/>
          </a:p>
          <a:p>
            <a:pPr indent="0" lvl="0" marL="171450" rtl="0" algn="l">
              <a:lnSpc>
                <a:spcPct val="90000"/>
              </a:lnSpc>
              <a:spcBef>
                <a:spcPts val="750"/>
              </a:spcBef>
              <a:spcAft>
                <a:spcPts val="0"/>
              </a:spcAft>
              <a:buClr>
                <a:schemeClr val="dk1"/>
              </a:buClr>
              <a:buSzPts val="2800"/>
              <a:buNone/>
            </a:pPr>
            <a:r>
              <a:t/>
            </a:r>
            <a:endParaRPr sz="2800">
              <a:solidFill>
                <a:srgbClr val="C00000"/>
              </a:solidFill>
            </a:endParaRPr>
          </a:p>
          <a:p>
            <a:pPr indent="-177800" lvl="0" marL="171450" rtl="0" algn="l">
              <a:lnSpc>
                <a:spcPct val="90000"/>
              </a:lnSpc>
              <a:spcBef>
                <a:spcPts val="750"/>
              </a:spcBef>
              <a:spcAft>
                <a:spcPts val="0"/>
              </a:spcAft>
              <a:buClr>
                <a:schemeClr val="dk1"/>
              </a:buClr>
              <a:buSzPts val="2800"/>
              <a:buChar char="•"/>
            </a:pPr>
            <a:r>
              <a:rPr lang="en-US" sz="2800"/>
              <a:t>1.Central processing</a:t>
            </a:r>
            <a:endParaRPr/>
          </a:p>
          <a:p>
            <a:pPr indent="-177800" lvl="0" marL="171450" rtl="0" algn="l">
              <a:lnSpc>
                <a:spcPct val="90000"/>
              </a:lnSpc>
              <a:spcBef>
                <a:spcPts val="750"/>
              </a:spcBef>
              <a:spcAft>
                <a:spcPts val="0"/>
              </a:spcAft>
              <a:buClr>
                <a:schemeClr val="dk1"/>
              </a:buClr>
              <a:buSzPts val="2800"/>
              <a:buChar char="•"/>
            </a:pPr>
            <a:r>
              <a:rPr lang="en-US" sz="2800"/>
              <a:t>2.Memory Unit</a:t>
            </a:r>
            <a:endParaRPr/>
          </a:p>
          <a:p>
            <a:pPr indent="-177800" lvl="0" marL="171450" rtl="0" algn="l">
              <a:lnSpc>
                <a:spcPct val="90000"/>
              </a:lnSpc>
              <a:spcBef>
                <a:spcPts val="750"/>
              </a:spcBef>
              <a:spcAft>
                <a:spcPts val="0"/>
              </a:spcAft>
              <a:buClr>
                <a:schemeClr val="dk1"/>
              </a:buClr>
              <a:buSzPts val="2800"/>
              <a:buChar char="•"/>
            </a:pPr>
            <a:r>
              <a:rPr lang="en-US" sz="2800"/>
              <a:t>3.I/O Unit</a:t>
            </a:r>
            <a:endParaRPr/>
          </a:p>
          <a:p>
            <a:pPr indent="0" lvl="0" marL="171450" rtl="0" algn="l">
              <a:lnSpc>
                <a:spcPct val="90000"/>
              </a:lnSpc>
              <a:spcBef>
                <a:spcPts val="750"/>
              </a:spcBef>
              <a:spcAft>
                <a:spcPts val="0"/>
              </a:spcAft>
              <a:buClr>
                <a:schemeClr val="dk1"/>
              </a:buClr>
              <a:buSzPts val="2800"/>
              <a:buNone/>
            </a:pPr>
            <a:r>
              <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31" name="Google Shape;131;p14"/>
          <p:cNvPicPr preferRelativeResize="0"/>
          <p:nvPr>
            <p:ph idx="1" type="body"/>
          </p:nvPr>
        </p:nvPicPr>
        <p:blipFill rotWithShape="1">
          <a:blip r:embed="rId3">
            <a:alphaModFix/>
          </a:blip>
          <a:srcRect b="0" l="0" r="0" t="0"/>
          <a:stretch/>
        </p:blipFill>
        <p:spPr>
          <a:xfrm>
            <a:off x="228600" y="533400"/>
            <a:ext cx="8286750" cy="5867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CPU</a:t>
            </a:r>
            <a:endParaRPr/>
          </a:p>
        </p:txBody>
      </p:sp>
      <p:sp>
        <p:nvSpPr>
          <p:cNvPr id="137" name="Google Shape;137;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03200" lvl="0" marL="171450" rtl="0" algn="l">
              <a:lnSpc>
                <a:spcPct val="90000"/>
              </a:lnSpc>
              <a:spcBef>
                <a:spcPts val="0"/>
              </a:spcBef>
              <a:spcAft>
                <a:spcPts val="0"/>
              </a:spcAft>
              <a:buClr>
                <a:schemeClr val="dk1"/>
              </a:buClr>
              <a:buSzPts val="3200"/>
              <a:buChar char="•"/>
            </a:pPr>
            <a:r>
              <a:rPr lang="en-US" sz="3200"/>
              <a:t>Consists of Two Blocks:-</a:t>
            </a:r>
            <a:endParaRPr/>
          </a:p>
          <a:p>
            <a:pPr indent="0" lvl="0" marL="171450" rtl="0" algn="l">
              <a:lnSpc>
                <a:spcPct val="90000"/>
              </a:lnSpc>
              <a:spcBef>
                <a:spcPts val="750"/>
              </a:spcBef>
              <a:spcAft>
                <a:spcPts val="0"/>
              </a:spcAft>
              <a:buClr>
                <a:schemeClr val="dk1"/>
              </a:buClr>
              <a:buSzPts val="3200"/>
              <a:buNone/>
            </a:pPr>
            <a:r>
              <a:t/>
            </a:r>
            <a:endParaRPr sz="3200"/>
          </a:p>
          <a:p>
            <a:pPr indent="-203200" lvl="0" marL="171450" rtl="0" algn="l">
              <a:lnSpc>
                <a:spcPct val="90000"/>
              </a:lnSpc>
              <a:spcBef>
                <a:spcPts val="750"/>
              </a:spcBef>
              <a:spcAft>
                <a:spcPts val="0"/>
              </a:spcAft>
              <a:buClr>
                <a:schemeClr val="dk1"/>
              </a:buClr>
              <a:buSzPts val="3200"/>
              <a:buChar char="•"/>
            </a:pPr>
            <a:r>
              <a:rPr lang="en-US" sz="3200"/>
              <a:t>1.ALU(Arithmetic Logic Unit)</a:t>
            </a:r>
            <a:endParaRPr/>
          </a:p>
          <a:p>
            <a:pPr indent="-203200" lvl="0" marL="171450" rtl="0" algn="l">
              <a:lnSpc>
                <a:spcPct val="90000"/>
              </a:lnSpc>
              <a:spcBef>
                <a:spcPts val="750"/>
              </a:spcBef>
              <a:spcAft>
                <a:spcPts val="0"/>
              </a:spcAft>
              <a:buClr>
                <a:schemeClr val="dk1"/>
              </a:buClr>
              <a:buSzPts val="3200"/>
              <a:buChar char="•"/>
            </a:pPr>
            <a:r>
              <a:rPr lang="en-US" sz="3200"/>
              <a:t>2.CU (Control Unit)</a:t>
            </a:r>
            <a:endParaRPr/>
          </a:p>
          <a:p>
            <a:pPr indent="0" lvl="0" marL="171450" rtl="0" algn="l">
              <a:lnSpc>
                <a:spcPct val="90000"/>
              </a:lnSpc>
              <a:spcBef>
                <a:spcPts val="750"/>
              </a:spcBef>
              <a:spcAft>
                <a:spcPts val="0"/>
              </a:spcAft>
              <a:buClr>
                <a:schemeClr val="dk1"/>
              </a:buClr>
              <a:buSzPts val="3200"/>
              <a:buNone/>
            </a:pPr>
            <a:r>
              <a:t/>
            </a:r>
            <a:endParaRPr sz="3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u="sng"/>
              <a:t>INPUT/OUTPUT UNIT ( I/O)</a:t>
            </a:r>
            <a:endParaRPr b="1" u="sng"/>
          </a:p>
        </p:txBody>
      </p:sp>
      <p:sp>
        <p:nvSpPr>
          <p:cNvPr id="143" name="Google Shape;143;p1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03200" lvl="0" marL="171450" rtl="0" algn="l">
              <a:lnSpc>
                <a:spcPct val="90000"/>
              </a:lnSpc>
              <a:spcBef>
                <a:spcPts val="0"/>
              </a:spcBef>
              <a:spcAft>
                <a:spcPts val="0"/>
              </a:spcAft>
              <a:buClr>
                <a:schemeClr val="dk1"/>
              </a:buClr>
              <a:buSzPts val="3200"/>
              <a:buChar char="•"/>
            </a:pPr>
            <a:r>
              <a:rPr lang="en-US" sz="3200"/>
              <a:t>It comprises the Input Block and Output Block.</a:t>
            </a:r>
            <a:endParaRPr/>
          </a:p>
          <a:p>
            <a:pPr indent="-203200" lvl="0" marL="171450" rtl="0" algn="l">
              <a:lnSpc>
                <a:spcPct val="90000"/>
              </a:lnSpc>
              <a:spcBef>
                <a:spcPts val="750"/>
              </a:spcBef>
              <a:spcAft>
                <a:spcPts val="0"/>
              </a:spcAft>
              <a:buClr>
                <a:schemeClr val="dk1"/>
              </a:buClr>
              <a:buSzPts val="3200"/>
              <a:buChar char="•"/>
            </a:pPr>
            <a:r>
              <a:rPr lang="en-US" sz="3200"/>
              <a:t>I/P Unit-used to read data into the Computer.</a:t>
            </a:r>
            <a:endParaRPr/>
          </a:p>
          <a:p>
            <a:pPr indent="-203200" lvl="0" marL="171450" rtl="0" algn="l">
              <a:lnSpc>
                <a:spcPct val="90000"/>
              </a:lnSpc>
              <a:spcBef>
                <a:spcPts val="750"/>
              </a:spcBef>
              <a:spcAft>
                <a:spcPts val="0"/>
              </a:spcAft>
              <a:buClr>
                <a:schemeClr val="dk1"/>
              </a:buClr>
              <a:buSzPts val="3200"/>
              <a:buChar char="•"/>
            </a:pPr>
            <a:r>
              <a:rPr lang="en-US" sz="3200"/>
              <a:t>Eg:-keyboard, Mouse..</a:t>
            </a:r>
            <a:endParaRPr/>
          </a:p>
          <a:p>
            <a:pPr indent="-203200" lvl="0" marL="171450" rtl="0" algn="l">
              <a:lnSpc>
                <a:spcPct val="90000"/>
              </a:lnSpc>
              <a:spcBef>
                <a:spcPts val="750"/>
              </a:spcBef>
              <a:spcAft>
                <a:spcPts val="0"/>
              </a:spcAft>
              <a:buClr>
                <a:schemeClr val="dk1"/>
              </a:buClr>
              <a:buSzPts val="3200"/>
              <a:buChar char="•"/>
            </a:pPr>
            <a:r>
              <a:rPr lang="en-US" sz="3200"/>
              <a:t>O/P Unit-Used to Display results to the User.</a:t>
            </a:r>
            <a:endParaRPr/>
          </a:p>
          <a:p>
            <a:pPr indent="-203200" lvl="0" marL="171450" rtl="0" algn="l">
              <a:lnSpc>
                <a:spcPct val="90000"/>
              </a:lnSpc>
              <a:spcBef>
                <a:spcPts val="750"/>
              </a:spcBef>
              <a:spcAft>
                <a:spcPts val="0"/>
              </a:spcAft>
              <a:buClr>
                <a:schemeClr val="dk1"/>
              </a:buClr>
              <a:buSzPts val="3200"/>
              <a:buChar char="•"/>
            </a:pPr>
            <a:r>
              <a:rPr lang="en-US" sz="3200"/>
              <a:t>Eg:-Printer,Plotter,Monitor…</a:t>
            </a:r>
            <a:endParaRPr sz="3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a:t>
            </a:r>
            <a:r>
              <a:rPr b="1" lang="en-US" u="sng"/>
              <a:t>MEMORY UNIT</a:t>
            </a:r>
            <a:endParaRPr b="1" u="sng"/>
          </a:p>
        </p:txBody>
      </p:sp>
      <p:sp>
        <p:nvSpPr>
          <p:cNvPr id="149" name="Google Shape;149;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187960" lvl="0" marL="171450" rtl="0" algn="l">
              <a:lnSpc>
                <a:spcPct val="90000"/>
              </a:lnSpc>
              <a:spcBef>
                <a:spcPts val="0"/>
              </a:spcBef>
              <a:spcAft>
                <a:spcPts val="0"/>
              </a:spcAft>
              <a:buClr>
                <a:schemeClr val="dk1"/>
              </a:buClr>
              <a:buSzPct val="100000"/>
              <a:buChar char="•"/>
            </a:pPr>
            <a:r>
              <a:rPr lang="en-US" sz="3200"/>
              <a:t>Used to store the Data and programme.</a:t>
            </a:r>
            <a:endParaRPr/>
          </a:p>
          <a:p>
            <a:pPr indent="-187960" lvl="0" marL="171450" rtl="0" algn="l">
              <a:lnSpc>
                <a:spcPct val="90000"/>
              </a:lnSpc>
              <a:spcBef>
                <a:spcPts val="750"/>
              </a:spcBef>
              <a:spcAft>
                <a:spcPts val="0"/>
              </a:spcAft>
              <a:buClr>
                <a:schemeClr val="dk1"/>
              </a:buClr>
              <a:buSzPct val="100000"/>
              <a:buChar char="•"/>
            </a:pPr>
            <a:r>
              <a:rPr lang="en-US" sz="3200"/>
              <a:t>This memory is called Primary memory.-</a:t>
            </a:r>
            <a:endParaRPr/>
          </a:p>
          <a:p>
            <a:pPr indent="-187960" lvl="0" marL="171450" rtl="0" algn="l">
              <a:lnSpc>
                <a:spcPct val="90000"/>
              </a:lnSpc>
              <a:spcBef>
                <a:spcPts val="750"/>
              </a:spcBef>
              <a:spcAft>
                <a:spcPts val="0"/>
              </a:spcAft>
              <a:buClr>
                <a:schemeClr val="dk1"/>
              </a:buClr>
              <a:buSzPct val="100000"/>
              <a:buChar char="•"/>
            </a:pPr>
            <a:r>
              <a:rPr lang="en-US" sz="3200"/>
              <a:t>It’s the main memory with which computer works.</a:t>
            </a:r>
            <a:endParaRPr/>
          </a:p>
          <a:p>
            <a:pPr indent="-187960" lvl="0" marL="171450" rtl="0" algn="l">
              <a:lnSpc>
                <a:spcPct val="90000"/>
              </a:lnSpc>
              <a:spcBef>
                <a:spcPts val="750"/>
              </a:spcBef>
              <a:spcAft>
                <a:spcPts val="0"/>
              </a:spcAft>
              <a:buClr>
                <a:schemeClr val="dk1"/>
              </a:buClr>
              <a:buSzPct val="100000"/>
              <a:buChar char="•"/>
            </a:pPr>
            <a:r>
              <a:rPr lang="en-US" sz="3200"/>
              <a:t> It includes 2 types-</a:t>
            </a:r>
            <a:endParaRPr/>
          </a:p>
          <a:p>
            <a:pPr indent="-187960" lvl="0" marL="171450" rtl="0" algn="l">
              <a:lnSpc>
                <a:spcPct val="90000"/>
              </a:lnSpc>
              <a:spcBef>
                <a:spcPts val="750"/>
              </a:spcBef>
              <a:spcAft>
                <a:spcPts val="0"/>
              </a:spcAft>
              <a:buClr>
                <a:schemeClr val="dk1"/>
              </a:buClr>
              <a:buSzPct val="100000"/>
              <a:buChar char="•"/>
            </a:pPr>
            <a:r>
              <a:rPr lang="en-US" sz="3200"/>
              <a:t>----Volatile &amp; Non-Volatile.(RAM &amp; ROM)</a:t>
            </a:r>
            <a:endParaRPr/>
          </a:p>
          <a:p>
            <a:pPr indent="-187960" lvl="0" marL="171450" rtl="0" algn="l">
              <a:lnSpc>
                <a:spcPct val="90000"/>
              </a:lnSpc>
              <a:spcBef>
                <a:spcPts val="750"/>
              </a:spcBef>
              <a:spcAft>
                <a:spcPts val="0"/>
              </a:spcAft>
              <a:buClr>
                <a:schemeClr val="dk1"/>
              </a:buClr>
              <a:buSzPct val="100000"/>
              <a:buChar char="•"/>
            </a:pPr>
            <a:r>
              <a:rPr lang="en-US" sz="3200"/>
              <a:t>Secondary memory-The memory which is non-volatile and used for permanent storage of data and programme.</a:t>
            </a:r>
            <a:endParaRPr/>
          </a:p>
          <a:p>
            <a:pPr indent="-187960" lvl="0" marL="171450" rtl="0" algn="l">
              <a:lnSpc>
                <a:spcPct val="90000"/>
              </a:lnSpc>
              <a:spcBef>
                <a:spcPts val="750"/>
              </a:spcBef>
              <a:spcAft>
                <a:spcPts val="0"/>
              </a:spcAft>
              <a:buClr>
                <a:schemeClr val="dk1"/>
              </a:buClr>
              <a:buSzPct val="100000"/>
              <a:buChar char="•"/>
            </a:pPr>
            <a:r>
              <a:rPr lang="en-US" sz="3200"/>
              <a:t>Eg-pendrive, CD-Rom..</a:t>
            </a:r>
            <a:endParaRPr/>
          </a:p>
          <a:p>
            <a:pPr indent="0" lvl="0" marL="171450" rtl="0" algn="l">
              <a:lnSpc>
                <a:spcPct val="90000"/>
              </a:lnSpc>
              <a:spcBef>
                <a:spcPts val="750"/>
              </a:spcBef>
              <a:spcAft>
                <a:spcPts val="0"/>
              </a:spcAft>
              <a:buClr>
                <a:schemeClr val="dk1"/>
              </a:buClr>
              <a:buSzPct val="100000"/>
              <a:buNone/>
            </a:pPr>
            <a:r>
              <a:t/>
            </a:r>
            <a:endParaRPr sz="3200"/>
          </a:p>
          <a:p>
            <a:pPr indent="0" lvl="0" marL="171450" rtl="0" algn="l">
              <a:lnSpc>
                <a:spcPct val="90000"/>
              </a:lnSpc>
              <a:spcBef>
                <a:spcPts val="750"/>
              </a:spcBef>
              <a:spcAft>
                <a:spcPts val="0"/>
              </a:spcAft>
              <a:buClr>
                <a:schemeClr val="dk1"/>
              </a:buClr>
              <a:buSzPct val="100000"/>
              <a:buNone/>
            </a:pPr>
            <a:r>
              <a:t/>
            </a:r>
            <a:endParaRPr sz="3200"/>
          </a:p>
          <a:p>
            <a:pPr indent="0" lvl="0" marL="171450" rtl="0" algn="l">
              <a:lnSpc>
                <a:spcPct val="90000"/>
              </a:lnSpc>
              <a:spcBef>
                <a:spcPts val="750"/>
              </a:spcBef>
              <a:spcAft>
                <a:spcPts val="0"/>
              </a:spcAft>
              <a:buClr>
                <a:schemeClr val="dk1"/>
              </a:buClr>
              <a:buSzPct val="100000"/>
              <a:buNone/>
            </a:pPr>
            <a:r>
              <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COMPUTER ORGANIZATION &amp; ARCHITECTURE</a:t>
            </a:r>
            <a:endParaRPr b="1" u="sng"/>
          </a:p>
        </p:txBody>
      </p:sp>
      <p:sp>
        <p:nvSpPr>
          <p:cNvPr id="155" name="Google Shape;155;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In this course, We </a:t>
            </a:r>
            <a:r>
              <a:rPr b="1" lang="en-US">
                <a:solidFill>
                  <a:srgbClr val="FF0000"/>
                </a:solidFill>
              </a:rPr>
              <a:t>mainly deal with this Innovation in Computer Design.</a:t>
            </a:r>
            <a:endParaRPr/>
          </a:p>
          <a:p>
            <a:pPr indent="-171450" lvl="0" marL="171450" rtl="0" algn="l">
              <a:lnSpc>
                <a:spcPct val="90000"/>
              </a:lnSpc>
              <a:spcBef>
                <a:spcPts val="750"/>
              </a:spcBef>
              <a:spcAft>
                <a:spcPts val="0"/>
              </a:spcAft>
              <a:buClr>
                <a:schemeClr val="dk1"/>
              </a:buClr>
              <a:buSzPts val="2100"/>
              <a:buChar char="•"/>
            </a:pPr>
            <a:r>
              <a:rPr lang="en-US"/>
              <a:t>This  includes many aspects like-</a:t>
            </a:r>
            <a:endParaRPr/>
          </a:p>
          <a:p>
            <a:pPr indent="-171450" lvl="0" marL="171450" rtl="0" algn="l">
              <a:lnSpc>
                <a:spcPct val="90000"/>
              </a:lnSpc>
              <a:spcBef>
                <a:spcPts val="750"/>
              </a:spcBef>
              <a:spcAft>
                <a:spcPts val="0"/>
              </a:spcAft>
              <a:buClr>
                <a:schemeClr val="dk1"/>
              </a:buClr>
              <a:buSzPts val="2100"/>
              <a:buChar char="•"/>
            </a:pPr>
            <a:r>
              <a:rPr lang="en-US"/>
              <a:t>1.Instruction set Design</a:t>
            </a:r>
            <a:endParaRPr/>
          </a:p>
          <a:p>
            <a:pPr indent="-171450" lvl="0" marL="171450" rtl="0" algn="l">
              <a:lnSpc>
                <a:spcPct val="90000"/>
              </a:lnSpc>
              <a:spcBef>
                <a:spcPts val="750"/>
              </a:spcBef>
              <a:spcAft>
                <a:spcPts val="0"/>
              </a:spcAft>
              <a:buClr>
                <a:schemeClr val="dk1"/>
              </a:buClr>
              <a:buSzPts val="2100"/>
              <a:buChar char="•"/>
            </a:pPr>
            <a:r>
              <a:rPr lang="en-US"/>
              <a:t>2.Functional Organization</a:t>
            </a:r>
            <a:endParaRPr/>
          </a:p>
          <a:p>
            <a:pPr indent="-171450" lvl="0" marL="171450" rtl="0" algn="l">
              <a:lnSpc>
                <a:spcPct val="90000"/>
              </a:lnSpc>
              <a:spcBef>
                <a:spcPts val="750"/>
              </a:spcBef>
              <a:spcAft>
                <a:spcPts val="0"/>
              </a:spcAft>
              <a:buClr>
                <a:schemeClr val="dk1"/>
              </a:buClr>
              <a:buSzPts val="2100"/>
              <a:buChar char="•"/>
            </a:pPr>
            <a:r>
              <a:rPr lang="en-US"/>
              <a:t>3.Logic Design &amp;Implementation</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When we go into the depth of computer design ,the  terms </a:t>
            </a:r>
            <a:r>
              <a:rPr b="1" lang="en-US">
                <a:solidFill>
                  <a:srgbClr val="FF0000"/>
                </a:solidFill>
              </a:rPr>
              <a:t>Computer Organization &amp; Computer Architecture </a:t>
            </a:r>
            <a:r>
              <a:rPr lang="en-US"/>
              <a:t>are important.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ARCHITECTURE &amp; ORGANIZATION</a:t>
            </a:r>
            <a:endParaRPr b="1" u="sng"/>
          </a:p>
        </p:txBody>
      </p:sp>
      <p:pic>
        <p:nvPicPr>
          <p:cNvPr id="161" name="Google Shape;161;p19"/>
          <p:cNvPicPr preferRelativeResize="0"/>
          <p:nvPr>
            <p:ph idx="1" type="body"/>
          </p:nvPr>
        </p:nvPicPr>
        <p:blipFill rotWithShape="1">
          <a:blip r:embed="rId3">
            <a:alphaModFix/>
          </a:blip>
          <a:srcRect b="0" l="0" r="0" t="0"/>
          <a:stretch/>
        </p:blipFill>
        <p:spPr>
          <a:xfrm>
            <a:off x="228600" y="1524000"/>
            <a:ext cx="8686800" cy="51815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u="sng"/>
              <a:t>ARCHITECTURE &amp; ORGANIZATION</a:t>
            </a:r>
            <a:endParaRPr/>
          </a:p>
        </p:txBody>
      </p:sp>
      <p:sp>
        <p:nvSpPr>
          <p:cNvPr id="167" name="Google Shape;167;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t>Computer Architecture</a:t>
            </a:r>
            <a:r>
              <a:rPr lang="en-US"/>
              <a:t>-Those attributes that have a direct impact on logical execution of a program.</a:t>
            </a:r>
            <a:endParaRPr/>
          </a:p>
          <a:p>
            <a:pPr indent="-171450" lvl="0" marL="171450" rtl="0" algn="l">
              <a:lnSpc>
                <a:spcPct val="90000"/>
              </a:lnSpc>
              <a:spcBef>
                <a:spcPts val="750"/>
              </a:spcBef>
              <a:spcAft>
                <a:spcPts val="0"/>
              </a:spcAft>
              <a:buClr>
                <a:schemeClr val="dk1"/>
              </a:buClr>
              <a:buSzPts val="2100"/>
              <a:buChar char="•"/>
            </a:pPr>
            <a:r>
              <a:rPr lang="en-US"/>
              <a:t>It can also be called </a:t>
            </a:r>
            <a:r>
              <a:rPr b="1" lang="en-US"/>
              <a:t>Instruction Set Architecture.</a:t>
            </a:r>
            <a:endParaRPr/>
          </a:p>
          <a:p>
            <a:pPr indent="-38100" lvl="0" marL="171450" rtl="0" algn="l">
              <a:lnSpc>
                <a:spcPct val="90000"/>
              </a:lnSpc>
              <a:spcBef>
                <a:spcPts val="750"/>
              </a:spcBef>
              <a:spcAft>
                <a:spcPts val="0"/>
              </a:spcAft>
              <a:buClr>
                <a:schemeClr val="dk1"/>
              </a:buClr>
              <a:buSzPts val="2100"/>
              <a:buNone/>
            </a:pPr>
            <a:r>
              <a:t/>
            </a:r>
            <a:endParaRPr b="1"/>
          </a:p>
          <a:p>
            <a:pPr indent="-171450" lvl="0" marL="171450" rtl="0" algn="l">
              <a:lnSpc>
                <a:spcPct val="90000"/>
              </a:lnSpc>
              <a:spcBef>
                <a:spcPts val="750"/>
              </a:spcBef>
              <a:spcAft>
                <a:spcPts val="0"/>
              </a:spcAft>
              <a:buClr>
                <a:schemeClr val="dk1"/>
              </a:buClr>
              <a:buSzPts val="2100"/>
              <a:buChar char="•"/>
            </a:pPr>
            <a:r>
              <a:rPr b="1" lang="en-US"/>
              <a:t>Computer organization-</a:t>
            </a:r>
            <a:r>
              <a:rPr lang="en-US"/>
              <a:t>Refers to the operational units and their interconnections that realize the architectural specifications.</a:t>
            </a:r>
            <a:br>
              <a:rPr b="1" lang="en-US"/>
            </a:b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73" name="Google Shape;173;p21"/>
          <p:cNvPicPr preferRelativeResize="0"/>
          <p:nvPr>
            <p:ph idx="1" type="body"/>
          </p:nvPr>
        </p:nvPicPr>
        <p:blipFill rotWithShape="1">
          <a:blip r:embed="rId3">
            <a:alphaModFix/>
          </a:blip>
          <a:srcRect b="0" l="0" r="0" t="0"/>
          <a:stretch/>
        </p:blipFill>
        <p:spPr>
          <a:xfrm>
            <a:off x="0" y="0"/>
            <a:ext cx="9012382" cy="4351338"/>
          </a:xfrm>
          <a:prstGeom prst="rect">
            <a:avLst/>
          </a:prstGeom>
          <a:noFill/>
          <a:ln>
            <a:noFill/>
          </a:ln>
        </p:spPr>
      </p:pic>
      <p:pic>
        <p:nvPicPr>
          <p:cNvPr id="174" name="Google Shape;174;p21"/>
          <p:cNvPicPr preferRelativeResize="0"/>
          <p:nvPr/>
        </p:nvPicPr>
        <p:blipFill rotWithShape="1">
          <a:blip r:embed="rId4">
            <a:alphaModFix/>
          </a:blip>
          <a:srcRect b="0" l="0" r="0" t="0"/>
          <a:stretch/>
        </p:blipFill>
        <p:spPr>
          <a:xfrm>
            <a:off x="0" y="4771159"/>
            <a:ext cx="9067800" cy="2114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80" name="Google Shape;180;p22"/>
          <p:cNvPicPr preferRelativeResize="0"/>
          <p:nvPr>
            <p:ph idx="1" type="body"/>
          </p:nvPr>
        </p:nvPicPr>
        <p:blipFill rotWithShape="1">
          <a:blip r:embed="rId3">
            <a:alphaModFix/>
          </a:blip>
          <a:srcRect b="0" l="0" r="0" t="0"/>
          <a:stretch/>
        </p:blipFill>
        <p:spPr>
          <a:xfrm>
            <a:off x="0" y="76200"/>
            <a:ext cx="9144000" cy="6781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86" name="Google Shape;186;p23"/>
          <p:cNvPicPr preferRelativeResize="0"/>
          <p:nvPr>
            <p:ph idx="1" type="body"/>
          </p:nvPr>
        </p:nvPicPr>
        <p:blipFill rotWithShape="1">
          <a:blip r:embed="rId3">
            <a:alphaModFix/>
          </a:blip>
          <a:srcRect b="0" l="0" r="0" t="0"/>
          <a:stretch/>
        </p:blipFill>
        <p:spPr>
          <a:xfrm>
            <a:off x="0" y="0"/>
            <a:ext cx="9143999" cy="61769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92" name="Google Shape;192;p24"/>
          <p:cNvPicPr preferRelativeResize="0"/>
          <p:nvPr>
            <p:ph idx="1" type="body"/>
          </p:nvPr>
        </p:nvPicPr>
        <p:blipFill rotWithShape="1">
          <a:blip r:embed="rId3">
            <a:alphaModFix/>
          </a:blip>
          <a:srcRect b="0" l="0" r="0" t="0"/>
          <a:stretch/>
        </p:blipFill>
        <p:spPr>
          <a:xfrm>
            <a:off x="628650" y="533400"/>
            <a:ext cx="7753350" cy="56435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198" name="Google Shape;198;p25"/>
          <p:cNvPicPr preferRelativeResize="0"/>
          <p:nvPr>
            <p:ph idx="1" type="body"/>
          </p:nvPr>
        </p:nvPicPr>
        <p:blipFill rotWithShape="1">
          <a:blip r:embed="rId3">
            <a:alphaModFix/>
          </a:blip>
          <a:srcRect b="0" l="0" r="0" t="0"/>
          <a:stretch/>
        </p:blipFill>
        <p:spPr>
          <a:xfrm>
            <a:off x="304800" y="365128"/>
            <a:ext cx="8686800" cy="581183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04" name="Google Shape;204;p26"/>
          <p:cNvPicPr preferRelativeResize="0"/>
          <p:nvPr>
            <p:ph idx="1" type="body"/>
          </p:nvPr>
        </p:nvPicPr>
        <p:blipFill rotWithShape="1">
          <a:blip r:embed="rId3">
            <a:alphaModFix/>
          </a:blip>
          <a:srcRect b="0" l="0" r="0" t="0"/>
          <a:stretch/>
        </p:blipFill>
        <p:spPr>
          <a:xfrm>
            <a:off x="0" y="365128"/>
            <a:ext cx="8762999" cy="581183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10" name="Google Shape;210;p27"/>
          <p:cNvPicPr preferRelativeResize="0"/>
          <p:nvPr>
            <p:ph idx="1" type="body"/>
          </p:nvPr>
        </p:nvPicPr>
        <p:blipFill rotWithShape="1">
          <a:blip r:embed="rId3">
            <a:alphaModFix/>
          </a:blip>
          <a:srcRect b="0" l="0" r="0" t="0"/>
          <a:stretch/>
        </p:blipFill>
        <p:spPr>
          <a:xfrm>
            <a:off x="152400" y="365128"/>
            <a:ext cx="8610600" cy="581183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16" name="Google Shape;216;p28"/>
          <p:cNvPicPr preferRelativeResize="0"/>
          <p:nvPr>
            <p:ph idx="1" type="body"/>
          </p:nvPr>
        </p:nvPicPr>
        <p:blipFill rotWithShape="1">
          <a:blip r:embed="rId3">
            <a:alphaModFix/>
          </a:blip>
          <a:srcRect b="0" l="0" r="0" t="0"/>
          <a:stretch/>
        </p:blipFill>
        <p:spPr>
          <a:xfrm>
            <a:off x="228600" y="152400"/>
            <a:ext cx="8610600" cy="602456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22" name="Google Shape;222;p29"/>
          <p:cNvPicPr preferRelativeResize="0"/>
          <p:nvPr>
            <p:ph idx="1" type="body"/>
          </p:nvPr>
        </p:nvPicPr>
        <p:blipFill rotWithShape="1">
          <a:blip r:embed="rId3">
            <a:alphaModFix/>
          </a:blip>
          <a:srcRect b="0" l="0" r="0" t="0"/>
          <a:stretch/>
        </p:blipFill>
        <p:spPr>
          <a:xfrm>
            <a:off x="152400" y="0"/>
            <a:ext cx="89916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28" name="Google Shape;228;p30"/>
          <p:cNvPicPr preferRelativeResize="0"/>
          <p:nvPr>
            <p:ph idx="1" type="body"/>
          </p:nvPr>
        </p:nvPicPr>
        <p:blipFill rotWithShape="1">
          <a:blip r:embed="rId3">
            <a:alphaModFix/>
          </a:blip>
          <a:srcRect b="0" l="0" r="0" t="0"/>
          <a:stretch/>
        </p:blipFill>
        <p:spPr>
          <a:xfrm>
            <a:off x="1" y="13855"/>
            <a:ext cx="9123218" cy="669174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34" name="Google Shape;234;p31"/>
          <p:cNvPicPr preferRelativeResize="0"/>
          <p:nvPr>
            <p:ph idx="1" type="body"/>
          </p:nvPr>
        </p:nvPicPr>
        <p:blipFill rotWithShape="1">
          <a:blip r:embed="rId3">
            <a:alphaModFix/>
          </a:blip>
          <a:srcRect b="0" l="0" r="0" t="0"/>
          <a:stretch/>
        </p:blipFill>
        <p:spPr>
          <a:xfrm>
            <a:off x="0" y="0"/>
            <a:ext cx="89916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40" name="Google Shape;240;p32"/>
          <p:cNvPicPr preferRelativeResize="0"/>
          <p:nvPr>
            <p:ph idx="1" type="body"/>
          </p:nvPr>
        </p:nvPicPr>
        <p:blipFill rotWithShape="1">
          <a:blip r:embed="rId3">
            <a:alphaModFix/>
          </a:blip>
          <a:srcRect b="0" l="0" r="0" t="0"/>
          <a:stretch/>
        </p:blipFill>
        <p:spPr>
          <a:xfrm>
            <a:off x="457200" y="228600"/>
            <a:ext cx="8381999" cy="6324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46" name="Google Shape;246;p33"/>
          <p:cNvPicPr preferRelativeResize="0"/>
          <p:nvPr>
            <p:ph idx="1" type="body"/>
          </p:nvPr>
        </p:nvPicPr>
        <p:blipFill rotWithShape="1">
          <a:blip r:embed="rId3">
            <a:alphaModFix/>
          </a:blip>
          <a:srcRect b="0" l="0" r="0" t="0"/>
          <a:stretch/>
        </p:blipFill>
        <p:spPr>
          <a:xfrm>
            <a:off x="304800" y="200891"/>
            <a:ext cx="8458199" cy="6248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52" name="Google Shape;252;p34"/>
          <p:cNvPicPr preferRelativeResize="0"/>
          <p:nvPr>
            <p:ph idx="1" type="body"/>
          </p:nvPr>
        </p:nvPicPr>
        <p:blipFill rotWithShape="1">
          <a:blip r:embed="rId3">
            <a:alphaModFix/>
          </a:blip>
          <a:srcRect b="0" l="0" r="0" t="0"/>
          <a:stretch/>
        </p:blipFill>
        <p:spPr>
          <a:xfrm>
            <a:off x="152400" y="228600"/>
            <a:ext cx="8763000" cy="6400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58" name="Google Shape;258;p35"/>
          <p:cNvPicPr preferRelativeResize="0"/>
          <p:nvPr>
            <p:ph idx="1" type="body"/>
          </p:nvPr>
        </p:nvPicPr>
        <p:blipFill rotWithShape="1">
          <a:blip r:embed="rId3">
            <a:alphaModFix/>
          </a:blip>
          <a:srcRect b="0" l="0" r="0" t="0"/>
          <a:stretch/>
        </p:blipFill>
        <p:spPr>
          <a:xfrm>
            <a:off x="152400" y="76200"/>
            <a:ext cx="8915400" cy="6705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64" name="Google Shape;264;p36"/>
          <p:cNvPicPr preferRelativeResize="0"/>
          <p:nvPr>
            <p:ph idx="1" type="body"/>
          </p:nvPr>
        </p:nvPicPr>
        <p:blipFill rotWithShape="1">
          <a:blip r:embed="rId3">
            <a:alphaModFix/>
          </a:blip>
          <a:srcRect b="0" l="0" r="0" t="0"/>
          <a:stretch/>
        </p:blipFill>
        <p:spPr>
          <a:xfrm>
            <a:off x="304800" y="365128"/>
            <a:ext cx="8534400" cy="58118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70" name="Google Shape;270;p37"/>
          <p:cNvPicPr preferRelativeResize="0"/>
          <p:nvPr>
            <p:ph idx="1" type="body"/>
          </p:nvPr>
        </p:nvPicPr>
        <p:blipFill rotWithShape="1">
          <a:blip r:embed="rId3">
            <a:alphaModFix/>
          </a:blip>
          <a:srcRect b="0" l="0" r="0" t="0"/>
          <a:stretch/>
        </p:blipFill>
        <p:spPr>
          <a:xfrm>
            <a:off x="228601" y="0"/>
            <a:ext cx="8686800" cy="655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76" name="Google Shape;276;p38"/>
          <p:cNvPicPr preferRelativeResize="0"/>
          <p:nvPr>
            <p:ph idx="1" type="body"/>
          </p:nvPr>
        </p:nvPicPr>
        <p:blipFill rotWithShape="1">
          <a:blip r:embed="rId3">
            <a:alphaModFix/>
          </a:blip>
          <a:srcRect b="0" l="0" r="0" t="0"/>
          <a:stretch/>
        </p:blipFill>
        <p:spPr>
          <a:xfrm>
            <a:off x="381000" y="152400"/>
            <a:ext cx="8610600" cy="6477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82" name="Google Shape;282;p39"/>
          <p:cNvPicPr preferRelativeResize="0"/>
          <p:nvPr>
            <p:ph idx="1" type="body"/>
          </p:nvPr>
        </p:nvPicPr>
        <p:blipFill rotWithShape="1">
          <a:blip r:embed="rId3">
            <a:alphaModFix/>
          </a:blip>
          <a:srcRect b="0" l="0" r="0" t="0"/>
          <a:stretch/>
        </p:blipFill>
        <p:spPr>
          <a:xfrm>
            <a:off x="152401" y="76200"/>
            <a:ext cx="8991600" cy="6553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288" name="Google Shape;288;p40"/>
          <p:cNvPicPr preferRelativeResize="0"/>
          <p:nvPr>
            <p:ph idx="1" type="body"/>
          </p:nvPr>
        </p:nvPicPr>
        <p:blipFill rotWithShape="1">
          <a:blip r:embed="rId3">
            <a:alphaModFix/>
          </a:blip>
          <a:srcRect b="0" l="0" r="0" t="0"/>
          <a:stretch/>
        </p:blipFill>
        <p:spPr>
          <a:xfrm>
            <a:off x="228600" y="76200"/>
            <a:ext cx="8915399" cy="61007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PCI BUS</a:t>
            </a:r>
            <a:endParaRPr b="1"/>
          </a:p>
        </p:txBody>
      </p:sp>
      <p:sp>
        <p:nvSpPr>
          <p:cNvPr id="294" name="Google Shape;294;p4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peripheral component interconnect (PCI) is a popular high-bandwidth, processor-independent bus that can function as a </a:t>
            </a:r>
            <a:r>
              <a:rPr b="1" lang="en-US"/>
              <a:t>mezzanine</a:t>
            </a:r>
            <a:r>
              <a:rPr lang="en-US"/>
              <a:t> or peripheral bus.</a:t>
            </a:r>
            <a:endParaRPr/>
          </a:p>
          <a:p>
            <a:pPr indent="-171450" lvl="0" marL="171450" rtl="0" algn="l">
              <a:lnSpc>
                <a:spcPct val="90000"/>
              </a:lnSpc>
              <a:spcBef>
                <a:spcPts val="750"/>
              </a:spcBef>
              <a:spcAft>
                <a:spcPts val="0"/>
              </a:spcAft>
              <a:buClr>
                <a:schemeClr val="dk1"/>
              </a:buClr>
              <a:buSzPts val="2100"/>
              <a:buChar char="•"/>
            </a:pPr>
            <a:r>
              <a:rPr b="1" lang="en-US"/>
              <a:t>PCI:</a:t>
            </a:r>
            <a:r>
              <a:rPr lang="en-US"/>
              <a:t>-</a:t>
            </a:r>
            <a:endParaRPr/>
          </a:p>
          <a:p>
            <a:pPr indent="-171450" lvl="0" marL="171450" rtl="0" algn="l">
              <a:lnSpc>
                <a:spcPct val="90000"/>
              </a:lnSpc>
              <a:spcBef>
                <a:spcPts val="750"/>
              </a:spcBef>
              <a:spcAft>
                <a:spcPts val="0"/>
              </a:spcAft>
              <a:buClr>
                <a:schemeClr val="dk1"/>
              </a:buClr>
              <a:buSzPts val="2100"/>
              <a:buChar char="•"/>
            </a:pPr>
            <a:r>
              <a:rPr lang="en-US"/>
              <a:t>It provides interconnection between computer and its peripherals.</a:t>
            </a:r>
            <a:endParaRPr/>
          </a:p>
          <a:p>
            <a:pPr indent="-171450" lvl="0" marL="171450" rtl="0" algn="l">
              <a:lnSpc>
                <a:spcPct val="90000"/>
              </a:lnSpc>
              <a:spcBef>
                <a:spcPts val="750"/>
              </a:spcBef>
              <a:spcAft>
                <a:spcPts val="0"/>
              </a:spcAft>
              <a:buClr>
                <a:schemeClr val="dk1"/>
              </a:buClr>
              <a:buSzPts val="2100"/>
              <a:buChar char="•"/>
            </a:pPr>
            <a:r>
              <a:rPr lang="en-US"/>
              <a:t>1.Delivers better system performance for high-speed I/O subsystems.</a:t>
            </a:r>
            <a:endParaRPr/>
          </a:p>
          <a:p>
            <a:pPr indent="-171450" lvl="0" marL="171450" rtl="0" algn="l">
              <a:lnSpc>
                <a:spcPct val="90000"/>
              </a:lnSpc>
              <a:spcBef>
                <a:spcPts val="750"/>
              </a:spcBef>
              <a:spcAft>
                <a:spcPts val="0"/>
              </a:spcAft>
              <a:buClr>
                <a:schemeClr val="dk1"/>
              </a:buClr>
              <a:buSzPts val="2100"/>
              <a:buChar char="•"/>
            </a:pPr>
            <a:r>
              <a:rPr lang="en-US"/>
              <a:t>2.Current standard allows the use of up to 64 data lines at 66 MHz, for a  transfer rate of 528 M Byte/s.</a:t>
            </a:r>
            <a:endParaRPr/>
          </a:p>
          <a:p>
            <a:pPr indent="-171450" lvl="0" marL="171450" rtl="0" algn="l">
              <a:lnSpc>
                <a:spcPct val="90000"/>
              </a:lnSpc>
              <a:spcBef>
                <a:spcPts val="750"/>
              </a:spcBef>
              <a:spcAft>
                <a:spcPts val="0"/>
              </a:spcAft>
              <a:buClr>
                <a:schemeClr val="dk1"/>
              </a:buClr>
              <a:buSzPts val="2100"/>
              <a:buChar char="•"/>
            </a:pPr>
            <a:r>
              <a:rPr lang="en-US"/>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PCI BUS</a:t>
            </a:r>
            <a:endParaRPr/>
          </a:p>
        </p:txBody>
      </p:sp>
      <p:sp>
        <p:nvSpPr>
          <p:cNvPr id="300" name="Google Shape;300;p4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3.Requires very few chips to implement and supports other buses attached to the PCI bus.</a:t>
            </a:r>
            <a:endParaRPr/>
          </a:p>
          <a:p>
            <a:pPr indent="-171450" lvl="0" marL="171450" rtl="0" algn="l">
              <a:lnSpc>
                <a:spcPct val="90000"/>
              </a:lnSpc>
              <a:spcBef>
                <a:spcPts val="750"/>
              </a:spcBef>
              <a:spcAft>
                <a:spcPts val="0"/>
              </a:spcAft>
              <a:buClr>
                <a:schemeClr val="dk1"/>
              </a:buClr>
              <a:buSzPts val="2100"/>
              <a:buChar char="•"/>
            </a:pPr>
            <a:r>
              <a:rPr lang="en-US"/>
              <a:t>4. Support a variety of microprocessor-based configurations, including both single- and multiple-processor systems.</a:t>
            </a:r>
            <a:endParaRPr/>
          </a:p>
          <a:p>
            <a:pPr indent="-171450" lvl="0" marL="171450" rtl="0" algn="l">
              <a:lnSpc>
                <a:spcPct val="90000"/>
              </a:lnSpc>
              <a:spcBef>
                <a:spcPts val="750"/>
              </a:spcBef>
              <a:spcAft>
                <a:spcPts val="0"/>
              </a:spcAft>
              <a:buClr>
                <a:schemeClr val="dk1"/>
              </a:buClr>
              <a:buSzPts val="2100"/>
              <a:buChar char="•"/>
            </a:pPr>
            <a:r>
              <a:rPr lang="en-US"/>
              <a:t>5 Makes use of synchronous timing and a centralized arbitration scheme.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06" name="Google Shape;306;p43"/>
          <p:cNvPicPr preferRelativeResize="0"/>
          <p:nvPr>
            <p:ph idx="1" type="body"/>
          </p:nvPr>
        </p:nvPicPr>
        <p:blipFill rotWithShape="1">
          <a:blip r:embed="rId3">
            <a:alphaModFix/>
          </a:blip>
          <a:srcRect b="0" l="0" r="0" t="0"/>
          <a:stretch/>
        </p:blipFill>
        <p:spPr>
          <a:xfrm>
            <a:off x="0" y="76200"/>
            <a:ext cx="9220200" cy="69342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PCI BUS</a:t>
            </a:r>
            <a:endParaRPr b="1"/>
          </a:p>
        </p:txBody>
      </p:sp>
      <p:sp>
        <p:nvSpPr>
          <p:cNvPr id="312" name="Google Shape;312;p4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bridge to the PCI bus provides tight coupling with the processor and the ability to deliver data at high speeds.</a:t>
            </a:r>
            <a:endParaRPr/>
          </a:p>
          <a:p>
            <a:pPr indent="-171450" lvl="0" marL="171450" rtl="0" algn="l">
              <a:lnSpc>
                <a:spcPct val="90000"/>
              </a:lnSpc>
              <a:spcBef>
                <a:spcPts val="750"/>
              </a:spcBef>
              <a:spcAft>
                <a:spcPts val="0"/>
              </a:spcAft>
              <a:buClr>
                <a:schemeClr val="dk1"/>
              </a:buClr>
              <a:buSzPts val="2100"/>
              <a:buChar char="•"/>
            </a:pPr>
            <a:r>
              <a:rPr lang="en-US"/>
              <a:t>PCI bridge supports communication between Host, Main memory and other peripherals(I/O devices).</a:t>
            </a:r>
            <a:endParaRPr/>
          </a:p>
          <a:p>
            <a:pPr indent="-171450" lvl="0" marL="171450" rtl="0" algn="l">
              <a:lnSpc>
                <a:spcPct val="90000"/>
              </a:lnSpc>
              <a:spcBef>
                <a:spcPts val="750"/>
              </a:spcBef>
              <a:spcAft>
                <a:spcPts val="0"/>
              </a:spcAft>
              <a:buClr>
                <a:schemeClr val="dk1"/>
              </a:buClr>
              <a:buSzPts val="2100"/>
              <a:buChar char="•"/>
            </a:pPr>
            <a:r>
              <a:rPr lang="en-US"/>
              <a:t>The use of bridges keeps the PCI independent of the processor speed yet provides the ability to receive and deliver data rapidly.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BUS STRUCTURE</a:t>
            </a:r>
            <a:endParaRPr b="1"/>
          </a:p>
        </p:txBody>
      </p:sp>
      <p:sp>
        <p:nvSpPr>
          <p:cNvPr id="318" name="Google Shape;318;p4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PCI may be configured as a 32- or 64-bit bus.</a:t>
            </a:r>
            <a:endParaRPr/>
          </a:p>
          <a:p>
            <a:pPr indent="-171450" lvl="0" marL="171450" rtl="0" algn="l">
              <a:lnSpc>
                <a:spcPct val="90000"/>
              </a:lnSpc>
              <a:spcBef>
                <a:spcPts val="750"/>
              </a:spcBef>
              <a:spcAft>
                <a:spcPts val="0"/>
              </a:spcAft>
              <a:buClr>
                <a:schemeClr val="dk1"/>
              </a:buClr>
              <a:buSzPts val="2100"/>
              <a:buChar char="•"/>
            </a:pPr>
            <a:r>
              <a:rPr lang="en-US"/>
              <a:t>The 49 mandatory signal lines for PCI:-</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b="1" lang="en-US"/>
              <a:t>System pins: </a:t>
            </a:r>
            <a:r>
              <a:rPr lang="en-US"/>
              <a:t>Include the clock and reset pins.</a:t>
            </a:r>
            <a:endParaRPr/>
          </a:p>
          <a:p>
            <a:pPr indent="-171450" lvl="0" marL="171450" rtl="0" algn="l">
              <a:lnSpc>
                <a:spcPct val="90000"/>
              </a:lnSpc>
              <a:spcBef>
                <a:spcPts val="750"/>
              </a:spcBef>
              <a:spcAft>
                <a:spcPts val="0"/>
              </a:spcAft>
              <a:buClr>
                <a:schemeClr val="dk1"/>
              </a:buClr>
              <a:buSzPts val="2100"/>
              <a:buChar char="•"/>
            </a:pPr>
            <a:r>
              <a:rPr lang="en-US"/>
              <a:t> </a:t>
            </a:r>
            <a:r>
              <a:rPr b="1" lang="en-US"/>
              <a:t>Address and data pins: </a:t>
            </a:r>
            <a:r>
              <a:rPr lang="en-US"/>
              <a:t>Include 32 lines that are time multiplexed for addresses and data. The other lines in this group are used to interpret and validate the signal lines that carry the addresses and data.</a:t>
            </a:r>
            <a:endParaRPr/>
          </a:p>
          <a:p>
            <a:pPr indent="-171450" lvl="0" marL="171450" rtl="0" algn="l">
              <a:lnSpc>
                <a:spcPct val="90000"/>
              </a:lnSpc>
              <a:spcBef>
                <a:spcPts val="750"/>
              </a:spcBef>
              <a:spcAft>
                <a:spcPts val="0"/>
              </a:spcAft>
              <a:buClr>
                <a:schemeClr val="dk1"/>
              </a:buClr>
              <a:buSzPts val="2100"/>
              <a:buChar char="•"/>
            </a:pPr>
            <a:r>
              <a:rPr b="1" lang="en-US"/>
              <a:t>Interface control pins: </a:t>
            </a:r>
            <a:r>
              <a:rPr lang="en-US"/>
              <a:t>Control the timing of transactions and provide coordination among initiators and targets.</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BUS STRUCTURE</a:t>
            </a:r>
            <a:endParaRPr b="1"/>
          </a:p>
        </p:txBody>
      </p:sp>
      <p:sp>
        <p:nvSpPr>
          <p:cNvPr id="324" name="Google Shape;324;p4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b="1" lang="en-US"/>
              <a:t>Arbitration pins: </a:t>
            </a:r>
            <a:r>
              <a:rPr lang="en-US"/>
              <a:t>Unlike the other PCI signal lines, these are not shared lines. Rather, each PCI master has its own pair of arbitration lines that connect it directly to the PCI bus arbiter.</a:t>
            </a:r>
            <a:endParaRPr/>
          </a:p>
          <a:p>
            <a:pPr indent="-171450" lvl="0" marL="171450" rtl="0" algn="l">
              <a:lnSpc>
                <a:spcPct val="90000"/>
              </a:lnSpc>
              <a:spcBef>
                <a:spcPts val="750"/>
              </a:spcBef>
              <a:spcAft>
                <a:spcPts val="0"/>
              </a:spcAft>
              <a:buClr>
                <a:schemeClr val="dk1"/>
              </a:buClr>
              <a:buSzPts val="2100"/>
              <a:buChar char="•"/>
            </a:pPr>
            <a:r>
              <a:rPr lang="en-US"/>
              <a:t> </a:t>
            </a:r>
            <a:r>
              <a:rPr b="1" lang="en-US"/>
              <a:t>Error reporting pins: </a:t>
            </a:r>
            <a:r>
              <a:rPr lang="en-US"/>
              <a:t>Used to report parity and other errors.</a:t>
            </a:r>
            <a:endParaRPr/>
          </a:p>
          <a:p>
            <a:pPr indent="-171450" lvl="0" marL="171450" rtl="0" algn="l">
              <a:lnSpc>
                <a:spcPct val="90000"/>
              </a:lnSpc>
              <a:spcBef>
                <a:spcPts val="750"/>
              </a:spcBef>
              <a:spcAft>
                <a:spcPts val="0"/>
              </a:spcAft>
              <a:buClr>
                <a:schemeClr val="dk1"/>
              </a:buClr>
              <a:buSzPts val="2100"/>
              <a:buChar char="•"/>
            </a:pPr>
            <a:r>
              <a:rPr lang="en-US"/>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BUS STRUCTURE</a:t>
            </a:r>
            <a:endParaRPr b="1"/>
          </a:p>
        </p:txBody>
      </p:sp>
      <p:sp>
        <p:nvSpPr>
          <p:cNvPr id="330" name="Google Shape;330;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In addition, the PCI specification defines 51 optional signal lines divided into the following functional groups:</a:t>
            </a:r>
            <a:endParaRPr/>
          </a:p>
          <a:p>
            <a:pPr indent="-171450" lvl="0" marL="171450" rtl="0" algn="l">
              <a:lnSpc>
                <a:spcPct val="90000"/>
              </a:lnSpc>
              <a:spcBef>
                <a:spcPts val="750"/>
              </a:spcBef>
              <a:spcAft>
                <a:spcPts val="0"/>
              </a:spcAft>
              <a:buClr>
                <a:schemeClr val="dk1"/>
              </a:buClr>
              <a:buSzPts val="2100"/>
              <a:buChar char="•"/>
            </a:pPr>
            <a:r>
              <a:rPr lang="en-US"/>
              <a:t> </a:t>
            </a:r>
            <a:r>
              <a:rPr b="1" lang="en-US"/>
              <a:t>Interrupt pins: </a:t>
            </a:r>
            <a:r>
              <a:rPr lang="en-US"/>
              <a:t>These are provided for PCI devices that must generate requests for service. As with the arbitration pins, these are not shared lines. Rather, each PCI device has its own interrupt line or lines to an interrupt controller.</a:t>
            </a:r>
            <a:endParaRPr/>
          </a:p>
          <a:p>
            <a:pPr indent="-171450" lvl="0" marL="171450" rtl="0" algn="l">
              <a:lnSpc>
                <a:spcPct val="90000"/>
              </a:lnSpc>
              <a:spcBef>
                <a:spcPts val="750"/>
              </a:spcBef>
              <a:spcAft>
                <a:spcPts val="0"/>
              </a:spcAft>
              <a:buClr>
                <a:schemeClr val="dk1"/>
              </a:buClr>
              <a:buSzPts val="2100"/>
              <a:buChar char="•"/>
            </a:pPr>
            <a:r>
              <a:rPr b="1" lang="en-US"/>
              <a:t>Cache support pins: </a:t>
            </a:r>
            <a:r>
              <a:rPr lang="en-US"/>
              <a:t>These pins are needed to support a memory on PCI that can be cached in the processor or another device. These pins support snoopy cache protocols (see Chapter 18 for a discussion of such protocols).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BUS STRUCTURE</a:t>
            </a:r>
            <a:endParaRPr b="1"/>
          </a:p>
        </p:txBody>
      </p:sp>
      <p:sp>
        <p:nvSpPr>
          <p:cNvPr id="336" name="Google Shape;336;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 </a:t>
            </a:r>
            <a:r>
              <a:rPr b="1" lang="en-US"/>
              <a:t>64-bit bus extension pins: </a:t>
            </a:r>
            <a:r>
              <a:rPr lang="en-US"/>
              <a:t>Include 32 lines that are time multiplexed for addresses and data and that are combined with the mandatory address/data lines to form a 64-bit address/data bus. Other lines in this group are used to interpret and validate the signal lines that carry the addresses and data. Finally, there are two lines that enable two PCI devices to agree to the use of the 64-bit capability.</a:t>
            </a:r>
            <a:endParaRPr/>
          </a:p>
          <a:p>
            <a:pPr indent="-171450" lvl="0" marL="171450" rtl="0" algn="l">
              <a:lnSpc>
                <a:spcPct val="90000"/>
              </a:lnSpc>
              <a:spcBef>
                <a:spcPts val="750"/>
              </a:spcBef>
              <a:spcAft>
                <a:spcPts val="0"/>
              </a:spcAft>
              <a:buClr>
                <a:schemeClr val="dk1"/>
              </a:buClr>
              <a:buSzPts val="2100"/>
              <a:buChar char="•"/>
            </a:pPr>
            <a:r>
              <a:rPr b="1" lang="en-US"/>
              <a:t>JTAG/boundary scan pins: </a:t>
            </a:r>
            <a:r>
              <a:rPr lang="en-US"/>
              <a:t>These signal lines support testing procedures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PCI Interface Signals</a:t>
            </a:r>
            <a:endParaRPr b="1"/>
          </a:p>
        </p:txBody>
      </p:sp>
      <p:pic>
        <p:nvPicPr>
          <p:cNvPr id="342" name="Google Shape;342;p49"/>
          <p:cNvPicPr preferRelativeResize="0"/>
          <p:nvPr>
            <p:ph idx="1" type="body"/>
          </p:nvPr>
        </p:nvPicPr>
        <p:blipFill rotWithShape="1">
          <a:blip r:embed="rId3">
            <a:alphaModFix/>
          </a:blip>
          <a:srcRect b="0" l="0" r="0" t="0"/>
          <a:stretch/>
        </p:blipFill>
        <p:spPr>
          <a:xfrm>
            <a:off x="533400" y="1371600"/>
            <a:ext cx="8229600" cy="5029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PCI Commands</a:t>
            </a:r>
            <a:endParaRPr b="1"/>
          </a:p>
        </p:txBody>
      </p:sp>
      <p:sp>
        <p:nvSpPr>
          <p:cNvPr id="348" name="Google Shape;348;p5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Bus activity occurs in the form of transactions between an initiator, or master, and a target. When a bus master acquires control of the bus, it determines the type of transaction that will occur next.</a:t>
            </a:r>
            <a:endParaRPr/>
          </a:p>
          <a:p>
            <a:pPr indent="-171450" lvl="0" marL="171450" rtl="0" algn="l">
              <a:lnSpc>
                <a:spcPct val="90000"/>
              </a:lnSpc>
              <a:spcBef>
                <a:spcPts val="750"/>
              </a:spcBef>
              <a:spcAft>
                <a:spcPts val="0"/>
              </a:spcAft>
              <a:buClr>
                <a:schemeClr val="dk1"/>
              </a:buClr>
              <a:buSzPts val="2100"/>
              <a:buChar char="•"/>
            </a:pPr>
            <a:r>
              <a:rPr lang="en-US"/>
              <a:t>The commands are as follows:-</a:t>
            </a:r>
            <a:endParaRPr/>
          </a:p>
          <a:p>
            <a:pPr indent="-171450" lvl="0" marL="171450" rtl="0" algn="l">
              <a:lnSpc>
                <a:spcPct val="90000"/>
              </a:lnSpc>
              <a:spcBef>
                <a:spcPts val="750"/>
              </a:spcBef>
              <a:spcAft>
                <a:spcPts val="0"/>
              </a:spcAft>
              <a:buClr>
                <a:schemeClr val="dk1"/>
              </a:buClr>
              <a:buSzPts val="2100"/>
              <a:buChar char="•"/>
            </a:pPr>
            <a:r>
              <a:rPr lang="en-US"/>
              <a:t>Interrupt Acknowledge</a:t>
            </a:r>
            <a:endParaRPr/>
          </a:p>
          <a:p>
            <a:pPr indent="-171450" lvl="0" marL="171450" rtl="0" algn="l">
              <a:lnSpc>
                <a:spcPct val="90000"/>
              </a:lnSpc>
              <a:spcBef>
                <a:spcPts val="750"/>
              </a:spcBef>
              <a:spcAft>
                <a:spcPts val="0"/>
              </a:spcAft>
              <a:buClr>
                <a:schemeClr val="dk1"/>
              </a:buClr>
              <a:buSzPts val="2100"/>
              <a:buChar char="•"/>
            </a:pPr>
            <a:r>
              <a:rPr lang="en-US"/>
              <a:t>Special Cycle</a:t>
            </a:r>
            <a:endParaRPr/>
          </a:p>
          <a:p>
            <a:pPr indent="-171450" lvl="0" marL="171450" rtl="0" algn="l">
              <a:lnSpc>
                <a:spcPct val="90000"/>
              </a:lnSpc>
              <a:spcBef>
                <a:spcPts val="750"/>
              </a:spcBef>
              <a:spcAft>
                <a:spcPts val="0"/>
              </a:spcAft>
              <a:buClr>
                <a:schemeClr val="dk1"/>
              </a:buClr>
              <a:buSzPts val="2100"/>
              <a:buChar char="•"/>
            </a:pPr>
            <a:r>
              <a:rPr lang="en-US"/>
              <a:t>I/O Read</a:t>
            </a:r>
            <a:endParaRPr/>
          </a:p>
          <a:p>
            <a:pPr indent="-171450" lvl="0" marL="171450" rtl="0" algn="l">
              <a:lnSpc>
                <a:spcPct val="90000"/>
              </a:lnSpc>
              <a:spcBef>
                <a:spcPts val="750"/>
              </a:spcBef>
              <a:spcAft>
                <a:spcPts val="0"/>
              </a:spcAft>
              <a:buClr>
                <a:schemeClr val="dk1"/>
              </a:buClr>
              <a:buSzPts val="2100"/>
              <a:buChar char="•"/>
            </a:pPr>
            <a:r>
              <a:rPr lang="en-US"/>
              <a:t>I/O Write</a:t>
            </a:r>
            <a:endParaRPr/>
          </a:p>
          <a:p>
            <a:pPr indent="-171450" lvl="0" marL="171450" rtl="0" algn="l">
              <a:lnSpc>
                <a:spcPct val="90000"/>
              </a:lnSpc>
              <a:spcBef>
                <a:spcPts val="750"/>
              </a:spcBef>
              <a:spcAft>
                <a:spcPts val="0"/>
              </a:spcAft>
              <a:buClr>
                <a:schemeClr val="dk1"/>
              </a:buClr>
              <a:buSzPts val="2100"/>
              <a:buChar char="•"/>
            </a:pPr>
            <a:r>
              <a:rPr lang="en-US"/>
              <a:t>Memory Read</a:t>
            </a:r>
            <a:endParaRPr/>
          </a:p>
          <a:p>
            <a:pPr indent="-171450" lvl="0" marL="171450" rtl="0" algn="l">
              <a:lnSpc>
                <a:spcPct val="90000"/>
              </a:lnSpc>
              <a:spcBef>
                <a:spcPts val="750"/>
              </a:spcBef>
              <a:spcAft>
                <a:spcPts val="0"/>
              </a:spcAft>
              <a:buClr>
                <a:schemeClr val="dk1"/>
              </a:buClr>
              <a:buSzPts val="2100"/>
              <a:buChar char="•"/>
            </a:pPr>
            <a:r>
              <a:rPr lang="en-US"/>
              <a:t>Memory Read Line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PCI Commands</a:t>
            </a:r>
            <a:endParaRPr b="1"/>
          </a:p>
        </p:txBody>
      </p:sp>
      <p:sp>
        <p:nvSpPr>
          <p:cNvPr id="354" name="Google Shape;354;p5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Memory Read Multiple</a:t>
            </a:r>
            <a:endParaRPr/>
          </a:p>
          <a:p>
            <a:pPr indent="-171450" lvl="0" marL="171450" rtl="0" algn="l">
              <a:lnSpc>
                <a:spcPct val="90000"/>
              </a:lnSpc>
              <a:spcBef>
                <a:spcPts val="750"/>
              </a:spcBef>
              <a:spcAft>
                <a:spcPts val="0"/>
              </a:spcAft>
              <a:buClr>
                <a:schemeClr val="dk1"/>
              </a:buClr>
              <a:buSzPts val="2100"/>
              <a:buChar char="•"/>
            </a:pPr>
            <a:r>
              <a:rPr lang="en-US"/>
              <a:t> Memory Write</a:t>
            </a:r>
            <a:endParaRPr/>
          </a:p>
          <a:p>
            <a:pPr indent="-171450" lvl="0" marL="171450" rtl="0" algn="l">
              <a:lnSpc>
                <a:spcPct val="90000"/>
              </a:lnSpc>
              <a:spcBef>
                <a:spcPts val="750"/>
              </a:spcBef>
              <a:spcAft>
                <a:spcPts val="0"/>
              </a:spcAft>
              <a:buClr>
                <a:schemeClr val="dk1"/>
              </a:buClr>
              <a:buSzPts val="2100"/>
              <a:buChar char="•"/>
            </a:pPr>
            <a:r>
              <a:rPr lang="en-US"/>
              <a:t> Memory Write and Invalidate</a:t>
            </a:r>
            <a:endParaRPr/>
          </a:p>
          <a:p>
            <a:pPr indent="-171450" lvl="0" marL="171450" rtl="0" algn="l">
              <a:lnSpc>
                <a:spcPct val="90000"/>
              </a:lnSpc>
              <a:spcBef>
                <a:spcPts val="750"/>
              </a:spcBef>
              <a:spcAft>
                <a:spcPts val="0"/>
              </a:spcAft>
              <a:buClr>
                <a:schemeClr val="dk1"/>
              </a:buClr>
              <a:buSzPts val="2100"/>
              <a:buChar char="•"/>
            </a:pPr>
            <a:r>
              <a:rPr lang="en-US"/>
              <a:t> Configuration Read</a:t>
            </a:r>
            <a:endParaRPr/>
          </a:p>
          <a:p>
            <a:pPr indent="-171450" lvl="0" marL="171450" rtl="0" algn="l">
              <a:lnSpc>
                <a:spcPct val="90000"/>
              </a:lnSpc>
              <a:spcBef>
                <a:spcPts val="750"/>
              </a:spcBef>
              <a:spcAft>
                <a:spcPts val="0"/>
              </a:spcAft>
              <a:buClr>
                <a:schemeClr val="dk1"/>
              </a:buClr>
              <a:buSzPts val="2100"/>
              <a:buChar char="•"/>
            </a:pPr>
            <a:r>
              <a:rPr lang="en-US"/>
              <a:t>Configuration Write</a:t>
            </a:r>
            <a:endParaRPr/>
          </a:p>
          <a:p>
            <a:pPr indent="-171450" lvl="0" marL="171450" rtl="0" algn="l">
              <a:lnSpc>
                <a:spcPct val="90000"/>
              </a:lnSpc>
              <a:spcBef>
                <a:spcPts val="750"/>
              </a:spcBef>
              <a:spcAft>
                <a:spcPts val="0"/>
              </a:spcAft>
              <a:buClr>
                <a:schemeClr val="dk1"/>
              </a:buClr>
              <a:buSzPts val="2100"/>
              <a:buChar char="•"/>
            </a:pPr>
            <a:r>
              <a:rPr lang="en-US"/>
              <a:t> Dual address Cycle</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PCI ARBITRATION</a:t>
            </a:r>
            <a:endParaRPr b="1"/>
          </a:p>
        </p:txBody>
      </p:sp>
      <p:sp>
        <p:nvSpPr>
          <p:cNvPr id="360" name="Google Shape;360;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PCI makes use of a centralized, synchronous arbitration scheme in which each master has a unique request (REQ) and grant (GNT) signal.</a:t>
            </a:r>
            <a:endParaRPr/>
          </a:p>
          <a:p>
            <a:pPr indent="-38100" lvl="0" marL="171450" rtl="0" algn="l">
              <a:lnSpc>
                <a:spcPct val="90000"/>
              </a:lnSpc>
              <a:spcBef>
                <a:spcPts val="750"/>
              </a:spcBef>
              <a:spcAft>
                <a:spcPts val="0"/>
              </a:spcAft>
              <a:buClr>
                <a:schemeClr val="dk1"/>
              </a:buClr>
              <a:buSzPts val="2100"/>
              <a:buNone/>
            </a:pPr>
            <a:r>
              <a:t/>
            </a:r>
            <a:endParaRPr/>
          </a:p>
        </p:txBody>
      </p:sp>
      <p:pic>
        <p:nvPicPr>
          <p:cNvPr id="361" name="Google Shape;361;p52"/>
          <p:cNvPicPr preferRelativeResize="0"/>
          <p:nvPr/>
        </p:nvPicPr>
        <p:blipFill rotWithShape="1">
          <a:blip r:embed="rId3">
            <a:alphaModFix/>
          </a:blip>
          <a:srcRect b="0" l="0" r="0" t="0"/>
          <a:stretch/>
        </p:blipFill>
        <p:spPr>
          <a:xfrm>
            <a:off x="1066800" y="3124200"/>
            <a:ext cx="7086600" cy="30670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3"/>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a:t>SCSI</a:t>
            </a:r>
            <a:endParaRPr b="1"/>
          </a:p>
        </p:txBody>
      </p:sp>
      <p:pic>
        <p:nvPicPr>
          <p:cNvPr id="367" name="Google Shape;367;p53"/>
          <p:cNvPicPr preferRelativeResize="0"/>
          <p:nvPr>
            <p:ph idx="1" type="body"/>
          </p:nvPr>
        </p:nvPicPr>
        <p:blipFill rotWithShape="1">
          <a:blip r:embed="rId3">
            <a:alphaModFix/>
          </a:blip>
          <a:srcRect b="0" l="0" r="0" t="0"/>
          <a:stretch/>
        </p:blipFill>
        <p:spPr>
          <a:xfrm>
            <a:off x="914400" y="1752600"/>
            <a:ext cx="7467600" cy="435133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4"/>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a:t>SCSI</a:t>
            </a:r>
            <a:endParaRPr b="1"/>
          </a:p>
        </p:txBody>
      </p:sp>
      <p:sp>
        <p:nvSpPr>
          <p:cNvPr id="373" name="Google Shape;373;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Small Computer S/M Interface –Universal paralell interface for micro computers ,to link multiple peripheral devices on a single I/O bus.</a:t>
            </a:r>
            <a:endParaRPr/>
          </a:p>
          <a:p>
            <a:pPr indent="-171450" lvl="0" marL="171450" rtl="0" algn="l">
              <a:lnSpc>
                <a:spcPct val="90000"/>
              </a:lnSpc>
              <a:spcBef>
                <a:spcPts val="750"/>
              </a:spcBef>
              <a:spcAft>
                <a:spcPts val="0"/>
              </a:spcAft>
              <a:buClr>
                <a:schemeClr val="dk1"/>
              </a:buClr>
              <a:buSzPts val="2100"/>
              <a:buChar char="•"/>
            </a:pPr>
            <a:r>
              <a:rPr lang="en-US"/>
              <a:t>Each Device is allotted an address.</a:t>
            </a:r>
            <a:endParaRPr/>
          </a:p>
          <a:p>
            <a:pPr indent="-171450" lvl="0" marL="171450" rtl="0" algn="l">
              <a:lnSpc>
                <a:spcPct val="90000"/>
              </a:lnSpc>
              <a:spcBef>
                <a:spcPts val="750"/>
              </a:spcBef>
              <a:spcAft>
                <a:spcPts val="0"/>
              </a:spcAft>
              <a:buClr>
                <a:schemeClr val="dk1"/>
              </a:buClr>
              <a:buSzPts val="2100"/>
              <a:buChar char="•"/>
            </a:pPr>
            <a:r>
              <a:rPr lang="en-US"/>
              <a:t>50 pin ribbon cable used to connect internal SCSI deices &amp; thick shielded cable for connecting external SCSI devices.</a:t>
            </a:r>
            <a:endParaRPr/>
          </a:p>
          <a:p>
            <a:pPr indent="-171450" lvl="0" marL="171450" rtl="0" algn="l">
              <a:lnSpc>
                <a:spcPct val="90000"/>
              </a:lnSpc>
              <a:spcBef>
                <a:spcPts val="750"/>
              </a:spcBef>
              <a:spcAft>
                <a:spcPts val="0"/>
              </a:spcAft>
              <a:buClr>
                <a:schemeClr val="dk1"/>
              </a:buClr>
              <a:buSzPts val="2100"/>
              <a:buChar char="•"/>
            </a:pPr>
            <a:r>
              <a:rPr lang="en-US"/>
              <a:t>The subsystems on SCSI bus function in two different ways.</a:t>
            </a:r>
            <a:endParaRPr/>
          </a:p>
          <a:p>
            <a:pPr indent="-171450" lvl="0" marL="171450" rtl="0" algn="l">
              <a:lnSpc>
                <a:spcPct val="90000"/>
              </a:lnSpc>
              <a:spcBef>
                <a:spcPts val="750"/>
              </a:spcBef>
              <a:spcAft>
                <a:spcPts val="0"/>
              </a:spcAft>
              <a:buClr>
                <a:schemeClr val="dk1"/>
              </a:buClr>
              <a:buSzPts val="2100"/>
              <a:buChar char="•"/>
            </a:pPr>
            <a:r>
              <a:rPr b="1" lang="en-US"/>
              <a:t>Initiator &amp; Target</a:t>
            </a:r>
            <a:endParaRPr/>
          </a:p>
          <a:p>
            <a:pPr indent="-171450" lvl="0" marL="171450" rtl="0" algn="l">
              <a:lnSpc>
                <a:spcPct val="90000"/>
              </a:lnSpc>
              <a:spcBef>
                <a:spcPts val="750"/>
              </a:spcBef>
              <a:spcAft>
                <a:spcPts val="0"/>
              </a:spcAft>
              <a:buClr>
                <a:schemeClr val="dk1"/>
              </a:buClr>
              <a:buSzPts val="2100"/>
              <a:buChar char="•"/>
            </a:pPr>
            <a:r>
              <a:rPr lang="en-US"/>
              <a:t>Initiator-Starts communicating with the target.</a:t>
            </a:r>
            <a:endParaRPr/>
          </a:p>
          <a:p>
            <a:pPr indent="-171450" lvl="0" marL="171450" rtl="0" algn="l">
              <a:lnSpc>
                <a:spcPct val="90000"/>
              </a:lnSpc>
              <a:spcBef>
                <a:spcPts val="750"/>
              </a:spcBef>
              <a:spcAft>
                <a:spcPts val="0"/>
              </a:spcAft>
              <a:buClr>
                <a:schemeClr val="dk1"/>
              </a:buClr>
              <a:buSzPts val="2100"/>
              <a:buChar char="•"/>
            </a:pPr>
            <a:r>
              <a:rPr lang="en-US"/>
              <a:t>Target-Responds to command from the initiator.</a:t>
            </a:r>
            <a:endParaRPr/>
          </a:p>
          <a:p>
            <a:pPr indent="-171450" lvl="0" marL="171450" rtl="0" algn="l">
              <a:lnSpc>
                <a:spcPct val="90000"/>
              </a:lnSpc>
              <a:spcBef>
                <a:spcPts val="750"/>
              </a:spcBef>
              <a:spcAft>
                <a:spcPts val="0"/>
              </a:spcAft>
              <a:buClr>
                <a:schemeClr val="dk1"/>
              </a:buClr>
              <a:buSzPts val="2100"/>
              <a:buChar char="•"/>
            </a:pPr>
            <a:r>
              <a:rPr lang="en-US"/>
              <a:t>SCSI adaptor-initiator &amp; peripheral Devices-Target</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5"/>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a:t>SCSI</a:t>
            </a:r>
            <a:endParaRPr b="1"/>
          </a:p>
        </p:txBody>
      </p:sp>
      <p:sp>
        <p:nvSpPr>
          <p:cNvPr id="379" name="Google Shape;379;p5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The SCSI bus uses a handshaking protocol.</a:t>
            </a:r>
            <a:endParaRPr/>
          </a:p>
          <a:p>
            <a:pPr indent="-171450" lvl="0" marL="171450" rtl="0" algn="l">
              <a:lnSpc>
                <a:spcPct val="90000"/>
              </a:lnSpc>
              <a:spcBef>
                <a:spcPts val="750"/>
              </a:spcBef>
              <a:spcAft>
                <a:spcPts val="0"/>
              </a:spcAft>
              <a:buClr>
                <a:schemeClr val="dk1"/>
              </a:buClr>
              <a:buSzPts val="2100"/>
              <a:buChar char="•"/>
            </a:pPr>
            <a:r>
              <a:rPr lang="en-US"/>
              <a:t>SCSI interface mainly used in servers and RISC systems.</a:t>
            </a:r>
            <a:endParaRPr/>
          </a:p>
          <a:p>
            <a:pPr indent="-171450" lvl="0" marL="171450" rtl="0" algn="l">
              <a:lnSpc>
                <a:spcPct val="90000"/>
              </a:lnSpc>
              <a:spcBef>
                <a:spcPts val="750"/>
              </a:spcBef>
              <a:spcAft>
                <a:spcPts val="0"/>
              </a:spcAft>
              <a:buClr>
                <a:schemeClr val="dk1"/>
              </a:buClr>
              <a:buSzPts val="2100"/>
              <a:buChar char="•"/>
            </a:pPr>
            <a:r>
              <a:rPr lang="en-US"/>
              <a:t>3 Different types of SCSI standards.:-</a:t>
            </a:r>
            <a:endParaRPr/>
          </a:p>
          <a:p>
            <a:pPr indent="-171450" lvl="0" marL="171450" rtl="0" algn="l">
              <a:lnSpc>
                <a:spcPct val="90000"/>
              </a:lnSpc>
              <a:spcBef>
                <a:spcPts val="750"/>
              </a:spcBef>
              <a:spcAft>
                <a:spcPts val="0"/>
              </a:spcAft>
              <a:buClr>
                <a:schemeClr val="dk1"/>
              </a:buClr>
              <a:buSzPts val="2100"/>
              <a:buChar char="•"/>
            </a:pPr>
            <a:r>
              <a:rPr lang="en-US"/>
              <a:t>1.SCSI-1</a:t>
            </a:r>
            <a:endParaRPr/>
          </a:p>
          <a:p>
            <a:pPr indent="-171450" lvl="0" marL="171450" rtl="0" algn="l">
              <a:lnSpc>
                <a:spcPct val="90000"/>
              </a:lnSpc>
              <a:spcBef>
                <a:spcPts val="750"/>
              </a:spcBef>
              <a:spcAft>
                <a:spcPts val="0"/>
              </a:spcAft>
              <a:buClr>
                <a:schemeClr val="dk1"/>
              </a:buClr>
              <a:buSzPts val="2100"/>
              <a:buChar char="•"/>
            </a:pPr>
            <a:r>
              <a:rPr lang="en-US"/>
              <a:t>2.SCSI-2</a:t>
            </a:r>
            <a:endParaRPr/>
          </a:p>
          <a:p>
            <a:pPr indent="-171450" lvl="0" marL="171450" rtl="0" algn="l">
              <a:lnSpc>
                <a:spcPct val="90000"/>
              </a:lnSpc>
              <a:spcBef>
                <a:spcPts val="750"/>
              </a:spcBef>
              <a:spcAft>
                <a:spcPts val="0"/>
              </a:spcAft>
              <a:buClr>
                <a:schemeClr val="dk1"/>
              </a:buClr>
              <a:buSzPts val="2100"/>
              <a:buChar char="•"/>
            </a:pPr>
            <a:r>
              <a:rPr lang="en-US"/>
              <a:t>3.SCSI-3</a:t>
            </a:r>
            <a:endParaRPr/>
          </a:p>
          <a:p>
            <a:pPr indent="-171450" lvl="0" marL="171450" rtl="0" algn="l">
              <a:lnSpc>
                <a:spcPct val="90000"/>
              </a:lnSpc>
              <a:spcBef>
                <a:spcPts val="750"/>
              </a:spcBef>
              <a:spcAft>
                <a:spcPts val="0"/>
              </a:spcAft>
              <a:buClr>
                <a:schemeClr val="dk1"/>
              </a:buClr>
              <a:buSzPts val="2100"/>
              <a:buChar char="•"/>
            </a:pPr>
            <a:r>
              <a:rPr lang="en-US"/>
              <a:t>In the SCSI , one device can communicate with another in general,.</a:t>
            </a:r>
            <a:endParaRPr/>
          </a:p>
          <a:p>
            <a:pPr indent="-171450" lvl="0" marL="171450" rtl="0" algn="l">
              <a:lnSpc>
                <a:spcPct val="90000"/>
              </a:lnSpc>
              <a:spcBef>
                <a:spcPts val="750"/>
              </a:spcBef>
              <a:spcAft>
                <a:spcPts val="0"/>
              </a:spcAft>
              <a:buClr>
                <a:schemeClr val="dk1"/>
              </a:buClr>
              <a:buSzPts val="2100"/>
              <a:buChar char="•"/>
            </a:pPr>
            <a:r>
              <a:rPr lang="en-US"/>
              <a:t>But a device may not have the capability to initiate a communication.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6"/>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a:t>SCSI</a:t>
            </a:r>
            <a:endParaRPr b="1"/>
          </a:p>
        </p:txBody>
      </p:sp>
      <p:pic>
        <p:nvPicPr>
          <p:cNvPr id="385" name="Google Shape;385;p56"/>
          <p:cNvPicPr preferRelativeResize="0"/>
          <p:nvPr>
            <p:ph idx="1" type="body"/>
          </p:nvPr>
        </p:nvPicPr>
        <p:blipFill rotWithShape="1">
          <a:blip r:embed="rId3">
            <a:alphaModFix/>
          </a:blip>
          <a:srcRect b="0" l="0" r="0" t="0"/>
          <a:stretch/>
        </p:blipFill>
        <p:spPr>
          <a:xfrm>
            <a:off x="1559725" y="1437925"/>
            <a:ext cx="6024600" cy="41385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7"/>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id="391" name="Google Shape;391;p57"/>
          <p:cNvPicPr preferRelativeResize="0"/>
          <p:nvPr>
            <p:ph idx="1" type="body"/>
          </p:nvPr>
        </p:nvPicPr>
        <p:blipFill rotWithShape="1">
          <a:blip r:embed="rId3">
            <a:alphaModFix/>
          </a:blip>
          <a:srcRect b="0" l="0" r="0" t="0"/>
          <a:stretch/>
        </p:blipFill>
        <p:spPr>
          <a:xfrm>
            <a:off x="152400" y="152400"/>
            <a:ext cx="8763000" cy="6477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8"/>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SCSI -1</a:t>
            </a:r>
            <a:endParaRPr b="1"/>
          </a:p>
        </p:txBody>
      </p:sp>
      <p:sp>
        <p:nvSpPr>
          <p:cNvPr id="397" name="Google Shape;397;p5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Main feature-Supporting different I/O devices on one interface.</a:t>
            </a:r>
            <a:endParaRPr/>
          </a:p>
          <a:p>
            <a:pPr indent="-171450" lvl="0" marL="171450" rtl="0" algn="l">
              <a:lnSpc>
                <a:spcPct val="90000"/>
              </a:lnSpc>
              <a:spcBef>
                <a:spcPts val="750"/>
              </a:spcBef>
              <a:spcAft>
                <a:spcPts val="0"/>
              </a:spcAft>
              <a:buClr>
                <a:schemeClr val="dk1"/>
              </a:buClr>
              <a:buSzPts val="2100"/>
              <a:buChar char="•"/>
            </a:pPr>
            <a:r>
              <a:rPr lang="en-US"/>
              <a:t>Upto 8 Devices can be attached.</a:t>
            </a:r>
            <a:endParaRPr/>
          </a:p>
          <a:p>
            <a:pPr indent="-171450" lvl="0" marL="171450" rtl="0" algn="l">
              <a:lnSpc>
                <a:spcPct val="90000"/>
              </a:lnSpc>
              <a:spcBef>
                <a:spcPts val="750"/>
              </a:spcBef>
              <a:spcAft>
                <a:spcPts val="0"/>
              </a:spcAft>
              <a:buClr>
                <a:schemeClr val="dk1"/>
              </a:buClr>
              <a:buSzPts val="2100"/>
              <a:buChar char="•"/>
            </a:pPr>
            <a:r>
              <a:rPr lang="en-US"/>
              <a:t>3 bit address is used. So 8 devices are assigned address with 3 bit.</a:t>
            </a:r>
            <a:endParaRPr/>
          </a:p>
          <a:p>
            <a:pPr indent="-171450" lvl="0" marL="171450" rtl="0" algn="l">
              <a:lnSpc>
                <a:spcPct val="90000"/>
              </a:lnSpc>
              <a:spcBef>
                <a:spcPts val="750"/>
              </a:spcBef>
              <a:spcAft>
                <a:spcPts val="0"/>
              </a:spcAft>
              <a:buClr>
                <a:schemeClr val="dk1"/>
              </a:buClr>
              <a:buSzPts val="2100"/>
              <a:buChar char="•"/>
            </a:pPr>
            <a:r>
              <a:rPr lang="en-US"/>
              <a:t>Device with address 7 has highest priority and with address 0 , lowest priority.</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9"/>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SCSI-2</a:t>
            </a:r>
            <a:endParaRPr/>
          </a:p>
        </p:txBody>
      </p:sp>
      <p:sp>
        <p:nvSpPr>
          <p:cNvPr id="403" name="Google Shape;403;p5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Introduced to support devices like CD-ROM’s ,Scanners,Communication devices &amp;  Optical Storage Devices.</a:t>
            </a:r>
            <a:endParaRPr/>
          </a:p>
          <a:p>
            <a:pPr indent="-171450" lvl="0" marL="171450" rtl="0" algn="l">
              <a:lnSpc>
                <a:spcPct val="90000"/>
              </a:lnSpc>
              <a:spcBef>
                <a:spcPts val="750"/>
              </a:spcBef>
              <a:spcAft>
                <a:spcPts val="0"/>
              </a:spcAft>
              <a:buClr>
                <a:schemeClr val="dk1"/>
              </a:buClr>
              <a:buSzPts val="2100"/>
              <a:buChar char="•"/>
            </a:pPr>
            <a:r>
              <a:rPr lang="en-US"/>
              <a:t>It supports 8-bit, 16 bit or 32 bit data.</a:t>
            </a:r>
            <a:endParaRPr/>
          </a:p>
          <a:p>
            <a:pPr indent="-171450" lvl="0" marL="171450" rtl="0" algn="l">
              <a:lnSpc>
                <a:spcPct val="90000"/>
              </a:lnSpc>
              <a:spcBef>
                <a:spcPts val="750"/>
              </a:spcBef>
              <a:spcAft>
                <a:spcPts val="0"/>
              </a:spcAft>
              <a:buClr>
                <a:schemeClr val="dk1"/>
              </a:buClr>
              <a:buSzPts val="2100"/>
              <a:buChar char="•"/>
            </a:pPr>
            <a:r>
              <a:rPr lang="en-US"/>
              <a:t>Its different versions are:-</a:t>
            </a:r>
            <a:endParaRPr/>
          </a:p>
          <a:p>
            <a:pPr indent="-171450" lvl="0" marL="171450" rtl="0" algn="l">
              <a:lnSpc>
                <a:spcPct val="90000"/>
              </a:lnSpc>
              <a:spcBef>
                <a:spcPts val="750"/>
              </a:spcBef>
              <a:spcAft>
                <a:spcPts val="0"/>
              </a:spcAft>
              <a:buClr>
                <a:schemeClr val="dk1"/>
              </a:buClr>
              <a:buSzPts val="2100"/>
              <a:buChar char="•"/>
            </a:pPr>
            <a:r>
              <a:rPr lang="en-US"/>
              <a:t>1.Fast SCSI</a:t>
            </a:r>
            <a:endParaRPr/>
          </a:p>
          <a:p>
            <a:pPr indent="-171450" lvl="0" marL="171450" rtl="0" algn="l">
              <a:lnSpc>
                <a:spcPct val="90000"/>
              </a:lnSpc>
              <a:spcBef>
                <a:spcPts val="750"/>
              </a:spcBef>
              <a:spcAft>
                <a:spcPts val="0"/>
              </a:spcAft>
              <a:buClr>
                <a:schemeClr val="dk1"/>
              </a:buClr>
              <a:buSzPts val="2100"/>
              <a:buChar char="•"/>
            </a:pPr>
            <a:r>
              <a:rPr lang="en-US"/>
              <a:t>Wide SCSI</a:t>
            </a:r>
            <a:endParaRPr/>
          </a:p>
          <a:p>
            <a:pPr indent="-171450" lvl="0" marL="171450" rtl="0" algn="l">
              <a:lnSpc>
                <a:spcPct val="90000"/>
              </a:lnSpc>
              <a:spcBef>
                <a:spcPts val="750"/>
              </a:spcBef>
              <a:spcAft>
                <a:spcPts val="0"/>
              </a:spcAft>
              <a:buClr>
                <a:schemeClr val="dk1"/>
              </a:buClr>
              <a:buSzPts val="2100"/>
              <a:buChar char="•"/>
            </a:pPr>
            <a:r>
              <a:rPr lang="en-US"/>
              <a:t>Fast and wide</a:t>
            </a:r>
            <a:endParaRPr/>
          </a:p>
          <a:p>
            <a:pPr indent="-171450" lvl="0" marL="171450" rtl="0" algn="l">
              <a:lnSpc>
                <a:spcPct val="90000"/>
              </a:lnSpc>
              <a:spcBef>
                <a:spcPts val="750"/>
              </a:spcBef>
              <a:spcAft>
                <a:spcPts val="0"/>
              </a:spcAft>
              <a:buClr>
                <a:schemeClr val="dk1"/>
              </a:buClr>
              <a:buSzPts val="2100"/>
              <a:buChar char="•"/>
            </a:pPr>
            <a:r>
              <a:rPr lang="en-US"/>
              <a:t>Slow and normal</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0"/>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SCSI_3</a:t>
            </a:r>
            <a:endParaRPr b="1"/>
          </a:p>
        </p:txBody>
      </p:sp>
      <p:sp>
        <p:nvSpPr>
          <p:cNvPr id="409" name="Google Shape;409;p6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Supports more than 8 eight devices  and transfer speed is 20 MBPS.</a:t>
            </a:r>
            <a:endParaRPr/>
          </a:p>
          <a:p>
            <a:pPr indent="-171450" lvl="0" marL="171450" rtl="0" algn="l">
              <a:lnSpc>
                <a:spcPct val="90000"/>
              </a:lnSpc>
              <a:spcBef>
                <a:spcPts val="750"/>
              </a:spcBef>
              <a:spcAft>
                <a:spcPts val="0"/>
              </a:spcAft>
              <a:buClr>
                <a:schemeClr val="dk1"/>
              </a:buClr>
              <a:buSzPts val="2100"/>
              <a:buChar char="•"/>
            </a:pPr>
            <a:r>
              <a:rPr lang="en-US"/>
              <a:t>Main objective-To support Optical fiber and long distance.</a:t>
            </a:r>
            <a:endParaRPr/>
          </a:p>
          <a:p>
            <a:pPr indent="-171450" lvl="0" marL="171450" rtl="0" algn="l">
              <a:lnSpc>
                <a:spcPct val="90000"/>
              </a:lnSpc>
              <a:spcBef>
                <a:spcPts val="750"/>
              </a:spcBef>
              <a:spcAft>
                <a:spcPts val="0"/>
              </a:spcAft>
              <a:buClr>
                <a:schemeClr val="dk1"/>
              </a:buClr>
              <a:buSzPts val="2100"/>
              <a:buChar char="•"/>
            </a:pPr>
            <a:r>
              <a:rPr lang="en-US"/>
              <a:t>Upto 16 devices can be connected on such a SCSI bus.</a:t>
            </a:r>
            <a:endParaRPr/>
          </a:p>
          <a:p>
            <a:pPr indent="-38100" lvl="0" marL="171450" rtl="0" algn="l">
              <a:lnSpc>
                <a:spcPct val="90000"/>
              </a:lnSpc>
              <a:spcBef>
                <a:spcPts val="750"/>
              </a:spcBef>
              <a:spcAft>
                <a:spcPts val="0"/>
              </a:spcAft>
              <a:buClr>
                <a:schemeClr val="dk1"/>
              </a:buClr>
              <a:buSzPts val="21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1"/>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b="1" lang="en-US"/>
              <a:t>                     SCSI  BUS PRINCIPLES</a:t>
            </a:r>
            <a:endParaRPr b="1"/>
          </a:p>
        </p:txBody>
      </p:sp>
      <p:sp>
        <p:nvSpPr>
          <p:cNvPr id="415" name="Google Shape;415;p6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Supports variety of peripherals such as disk drives, tape drives…</a:t>
            </a:r>
            <a:endParaRPr/>
          </a:p>
          <a:p>
            <a:pPr indent="-171450" lvl="0" marL="171450" rtl="0" algn="l">
              <a:lnSpc>
                <a:spcPct val="90000"/>
              </a:lnSpc>
              <a:spcBef>
                <a:spcPts val="750"/>
              </a:spcBef>
              <a:spcAft>
                <a:spcPts val="0"/>
              </a:spcAft>
              <a:buClr>
                <a:schemeClr val="dk1"/>
              </a:buClr>
              <a:buSzPts val="2100"/>
              <a:buChar char="•"/>
            </a:pPr>
            <a:r>
              <a:rPr lang="en-US"/>
              <a:t>SCSI provides peer-peer protocol(2 devices can communicate  on equal levels to perform I/O activities.</a:t>
            </a:r>
            <a:endParaRPr/>
          </a:p>
          <a:p>
            <a:pPr indent="-171450" lvl="0" marL="171450" rtl="0" algn="l">
              <a:lnSpc>
                <a:spcPct val="90000"/>
              </a:lnSpc>
              <a:spcBef>
                <a:spcPts val="750"/>
              </a:spcBef>
              <a:spcAft>
                <a:spcPts val="0"/>
              </a:spcAft>
              <a:buClr>
                <a:schemeClr val="dk1"/>
              </a:buClr>
              <a:buSzPts val="2100"/>
              <a:buChar char="•"/>
            </a:pPr>
            <a:r>
              <a:rPr lang="en-US"/>
              <a:t>A maximum of 8 SCSI devices are permitted even though only 2 can communicate at a time.</a:t>
            </a:r>
            <a:endParaRPr/>
          </a:p>
          <a:p>
            <a:pPr indent="-171450" lvl="0" marL="171450" rtl="0" algn="l">
              <a:lnSpc>
                <a:spcPct val="90000"/>
              </a:lnSpc>
              <a:spcBef>
                <a:spcPts val="750"/>
              </a:spcBef>
              <a:spcAft>
                <a:spcPts val="0"/>
              </a:spcAft>
              <a:buClr>
                <a:schemeClr val="dk1"/>
              </a:buClr>
              <a:buSzPts val="2100"/>
              <a:buChar char="•"/>
            </a:pPr>
            <a:r>
              <a:rPr lang="en-US"/>
              <a:t>The SCSI bus is time shared to achieve effective utilization of bus bandwidth.</a:t>
            </a:r>
            <a:endParaRPr/>
          </a:p>
          <a:p>
            <a:pPr indent="-171450" lvl="0" marL="171450" rtl="0" algn="l">
              <a:lnSpc>
                <a:spcPct val="90000"/>
              </a:lnSpc>
              <a:spcBef>
                <a:spcPts val="750"/>
              </a:spcBef>
              <a:spcAft>
                <a:spcPts val="0"/>
              </a:spcAft>
              <a:buClr>
                <a:schemeClr val="dk1"/>
              </a:buClr>
              <a:buSzPts val="2100"/>
              <a:buChar char="•"/>
            </a:pPr>
            <a:r>
              <a:rPr lang="en-US"/>
              <a:t>Hence the devices disconnect and reconnect the bus as and when required.</a:t>
            </a:r>
            <a:endParaRPr/>
          </a:p>
          <a:p>
            <a:pPr indent="-171450" lvl="0" marL="171450" rtl="0" algn="l">
              <a:lnSpc>
                <a:spcPct val="90000"/>
              </a:lnSpc>
              <a:spcBef>
                <a:spcPts val="750"/>
              </a:spcBef>
              <a:spcAft>
                <a:spcPts val="0"/>
              </a:spcAft>
              <a:buClr>
                <a:schemeClr val="dk1"/>
              </a:buClr>
              <a:buSzPts val="2100"/>
              <a:buChar char="•"/>
            </a:pPr>
            <a:r>
              <a:rPr lang="en-US"/>
              <a:t>When 2 devices communicate on bus –one acts as initiator and other target.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2"/>
          <p:cNvSpPr txBox="1"/>
          <p:nvPr>
            <p:ph type="title"/>
          </p:nvPr>
        </p:nvSpPr>
        <p:spPr>
          <a:xfrm>
            <a:off x="628650" y="365128"/>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alibri"/>
              <a:buNone/>
            </a:pPr>
            <a:r>
              <a:rPr lang="en-US"/>
              <a:t> </a:t>
            </a:r>
            <a:r>
              <a:rPr b="1" lang="en-US"/>
              <a:t>SCSI  BUS PRINCIPLES</a:t>
            </a:r>
            <a:endParaRPr/>
          </a:p>
        </p:txBody>
      </p:sp>
      <p:sp>
        <p:nvSpPr>
          <p:cNvPr id="421" name="Google Shape;421;p62"/>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t>Information transfers on the data bus are asynchronous and follow a handshake protocol.</a:t>
            </a:r>
            <a:endParaRPr/>
          </a:p>
          <a:p>
            <a:pPr indent="-171450" lvl="0" marL="171450" rtl="0" algn="l">
              <a:lnSpc>
                <a:spcPct val="90000"/>
              </a:lnSpc>
              <a:spcBef>
                <a:spcPts val="750"/>
              </a:spcBef>
              <a:spcAft>
                <a:spcPts val="0"/>
              </a:spcAft>
              <a:buClr>
                <a:schemeClr val="dk1"/>
              </a:buClr>
              <a:buSzPts val="2100"/>
              <a:buChar char="•"/>
            </a:pPr>
            <a:r>
              <a:rPr lang="en-US"/>
              <a:t>One byte of information is transferred with each handshake.</a:t>
            </a:r>
            <a:endParaRPr/>
          </a:p>
          <a:p>
            <a:pPr indent="-171450" lvl="0" marL="171450" rtl="0" algn="l">
              <a:lnSpc>
                <a:spcPct val="90000"/>
              </a:lnSpc>
              <a:spcBef>
                <a:spcPts val="750"/>
              </a:spcBef>
              <a:spcAft>
                <a:spcPts val="0"/>
              </a:spcAft>
              <a:buClr>
                <a:schemeClr val="dk1"/>
              </a:buClr>
              <a:buSzPts val="2100"/>
              <a:buChar char="•"/>
            </a:pPr>
            <a:r>
              <a:rPr lang="en-US"/>
              <a:t>Synchronous data transfer option is also possible.</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2100"/>
              <a:buChar char="•"/>
            </a:pPr>
            <a:r>
              <a:rPr lang="en-US"/>
              <a:t>Reference_ B.Govinda Rajalu-Computer oraganization &amp; architecture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VU_KJSCE THEME TEMPLATE FOR PPT_Standard Screen (3)">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2017-07-03T08:50:35Z</dcterms:created>
  <dc:creator>ofc</dc:creator>
</cp:coreProperties>
</file>