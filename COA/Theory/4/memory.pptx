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Lst>
  <p:sldSz cy="6858000" cx="9144000"/>
  <p:notesSz cx="6858000" cy="9144000"/>
  <p:embeddedFontLst>
    <p:embeddedFont>
      <p:font typeface="Arimo"/>
      <p:regular r:id="rId135"/>
      <p:bold r:id="rId136"/>
      <p:italic r:id="rId137"/>
      <p:boldItalic r:id="rId1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39" roundtripDataSignature="AMtx7mjtWpT5gqzChHab1TKRJToKQKCP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customschemas.google.com/relationships/presentationmetadata" Target="metadata"/><Relationship Id="rId138" Type="http://schemas.openxmlformats.org/officeDocument/2006/relationships/font" Target="fonts/Arimo-boldItalic.fntdata"/><Relationship Id="rId137" Type="http://schemas.openxmlformats.org/officeDocument/2006/relationships/font" Target="fonts/Arimo-italic.fntdata"/><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font" Target="fonts/Arimo-bold.fntdata"/><Relationship Id="rId135" Type="http://schemas.openxmlformats.org/officeDocument/2006/relationships/font" Target="fonts/Arimo-regular.fntdata"/><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0" name="Google Shape;590;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2" name="Google Shape;602;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2" name="Google Shape;632;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8" name="Google Shape;638;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4" name="Google Shape;644;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0" name="Google Shape;650;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6" name="Google Shape;656;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8" name="Google Shape;668;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4" name="Google Shape;674;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0" name="Google Shape;680;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6" name="Google Shape;686;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2" name="Google Shape;692;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4" name="Google Shape;704;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0" name="Google Shape;710;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7" name="Google Shape;717;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3" name="Google Shape;723;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1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9" name="Google Shape;729;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1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5" name="Google Shape;735;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1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 name="Google Shape;741;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1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7" name="Google Shape;747;p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1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3" name="Google Shape;753;p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1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9" name="Google Shape;759;p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5" name="Google Shape;765;p1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1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1" name="Google Shape;771;p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1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7" name="Google Shape;777;p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1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3" name="Google Shape;783;p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1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9" name="Google Shape;789;p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 name="Google Shape;795;p1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1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1" name="Google Shape;801;p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1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7" name="Google Shape;807;p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1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3" name="Google Shape;813;p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1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9" name="Google Shape;819;p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5" name="Google Shape;825;p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1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1" name="Google Shape;831;p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1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7" name="Google Shape;837;p1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1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3" name="Google Shape;843;p1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1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9" name="Google Shape;849;p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1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5" name="Google Shape;855;p1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1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1" name="Google Shape;861;p1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31"/>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31"/>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2" name="Google Shape;22;p131"/>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31"/>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31"/>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32"/>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3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8" name="Google Shape;28;p132"/>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32"/>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32"/>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33"/>
          <p:cNvSpPr txBox="1"/>
          <p:nvPr>
            <p:ph type="title"/>
          </p:nvPr>
        </p:nvSpPr>
        <p:spPr>
          <a:xfrm>
            <a:off x="623888" y="1709741"/>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33"/>
          <p:cNvSpPr txBox="1"/>
          <p:nvPr>
            <p:ph idx="1" type="body"/>
          </p:nvPr>
        </p:nvSpPr>
        <p:spPr>
          <a:xfrm>
            <a:off x="623888" y="4589466"/>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sz="1800">
                <a:solidFill>
                  <a:schemeClr val="dk1"/>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4" name="Google Shape;34;p133"/>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33"/>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33"/>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3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34"/>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 name="Google Shape;40;p134"/>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1" name="Google Shape;41;p134"/>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34"/>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34"/>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35"/>
          <p:cNvSpPr txBox="1"/>
          <p:nvPr>
            <p:ph type="title"/>
          </p:nvPr>
        </p:nvSpPr>
        <p:spPr>
          <a:xfrm>
            <a:off x="629841"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35"/>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7" name="Google Shape;47;p135"/>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8" name="Google Shape;48;p135"/>
          <p:cNvSpPr txBox="1"/>
          <p:nvPr>
            <p:ph idx="3" type="body"/>
          </p:nvPr>
        </p:nvSpPr>
        <p:spPr>
          <a:xfrm>
            <a:off x="4629151"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9" name="Google Shape;49;p135"/>
          <p:cNvSpPr txBox="1"/>
          <p:nvPr>
            <p:ph idx="4" type="body"/>
          </p:nvPr>
        </p:nvSpPr>
        <p:spPr>
          <a:xfrm>
            <a:off x="4629151"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0" name="Google Shape;50;p135"/>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35"/>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5"/>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136"/>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6"/>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36"/>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36"/>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37"/>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37"/>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37"/>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138"/>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38"/>
          <p:cNvSpPr txBox="1"/>
          <p:nvPr>
            <p:ph idx="1" type="body"/>
          </p:nvPr>
        </p:nvSpPr>
        <p:spPr>
          <a:xfrm>
            <a:off x="3887391" y="987428"/>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5" name="Google Shape;65;p138"/>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6" name="Google Shape;66;p138"/>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38"/>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38"/>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139"/>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39"/>
          <p:cNvSpPr/>
          <p:nvPr>
            <p:ph idx="2" type="pic"/>
          </p:nvPr>
        </p:nvSpPr>
        <p:spPr>
          <a:xfrm>
            <a:off x="3887391" y="987428"/>
            <a:ext cx="4629150" cy="4873625"/>
          </a:xfrm>
          <a:prstGeom prst="rect">
            <a:avLst/>
          </a:prstGeom>
          <a:noFill/>
          <a:ln>
            <a:noFill/>
          </a:ln>
        </p:spPr>
      </p:sp>
      <p:sp>
        <p:nvSpPr>
          <p:cNvPr id="72" name="Google Shape;72;p139"/>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3" name="Google Shape;73;p139"/>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39"/>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39"/>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14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40"/>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9" name="Google Shape;79;p140"/>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40"/>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40"/>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141"/>
          <p:cNvSpPr txBox="1"/>
          <p:nvPr>
            <p:ph type="title"/>
          </p:nvPr>
        </p:nvSpPr>
        <p:spPr>
          <a:xfrm rot="5400000">
            <a:off x="4623595"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41"/>
          <p:cNvSpPr txBox="1"/>
          <p:nvPr>
            <p:ph idx="1" type="body"/>
          </p:nvPr>
        </p:nvSpPr>
        <p:spPr>
          <a:xfrm rot="5400000">
            <a:off x="623095"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5" name="Google Shape;85;p141"/>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41"/>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41"/>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7.xml"/><Relationship Id="rId10" Type="http://schemas.openxmlformats.org/officeDocument/2006/relationships/slideLayout" Target="../slideLayouts/slideLayout6.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4.jp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6" Type="http://schemas.openxmlformats.org/officeDocument/2006/relationships/theme" Target="../theme/theme2.xml"/><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30"/>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30"/>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30"/>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A picture containing drawing&#10;&#10;Description automatically generated" id="15" name="Google Shape;15;p130"/>
          <p:cNvPicPr preferRelativeResize="0"/>
          <p:nvPr/>
        </p:nvPicPr>
        <p:blipFill rotWithShape="1">
          <a:blip r:embed="rId1">
            <a:alphaModFix/>
          </a:blip>
          <a:srcRect b="0" l="0" r="0" t="0"/>
          <a:stretch/>
        </p:blipFill>
        <p:spPr>
          <a:xfrm>
            <a:off x="135246" y="93609"/>
            <a:ext cx="2837329" cy="863652"/>
          </a:xfrm>
          <a:prstGeom prst="rect">
            <a:avLst/>
          </a:prstGeom>
          <a:noFill/>
          <a:ln>
            <a:noFill/>
          </a:ln>
        </p:spPr>
      </p:pic>
      <p:pic>
        <p:nvPicPr>
          <p:cNvPr descr="A close up of a sign&#10;&#10;Description automatically generated" id="16" name="Google Shape;16;p130"/>
          <p:cNvPicPr preferRelativeResize="0"/>
          <p:nvPr/>
        </p:nvPicPr>
        <p:blipFill rotWithShape="1">
          <a:blip r:embed="rId2">
            <a:alphaModFix/>
          </a:blip>
          <a:srcRect b="0" l="0" r="0" t="0"/>
          <a:stretch/>
        </p:blipFill>
        <p:spPr>
          <a:xfrm>
            <a:off x="8068102" y="93609"/>
            <a:ext cx="985130" cy="721920"/>
          </a:xfrm>
          <a:prstGeom prst="rect">
            <a:avLst/>
          </a:prstGeom>
          <a:noFill/>
          <a:ln>
            <a:noFill/>
          </a:ln>
        </p:spPr>
      </p:pic>
      <p:pic>
        <p:nvPicPr>
          <p:cNvPr id="17" name="Google Shape;17;p130"/>
          <p:cNvPicPr preferRelativeResize="0"/>
          <p:nvPr/>
        </p:nvPicPr>
        <p:blipFill rotWithShape="1">
          <a:blip r:embed="rId3">
            <a:alphaModFix/>
          </a:blip>
          <a:srcRect b="0" l="0" r="0" t="0"/>
          <a:stretch/>
        </p:blipFill>
        <p:spPr>
          <a:xfrm rot="5400000">
            <a:off x="4204042" y="1938904"/>
            <a:ext cx="702416" cy="9177499"/>
          </a:xfrm>
          <a:prstGeom prst="rect">
            <a:avLst/>
          </a:prstGeom>
          <a:noFill/>
          <a:ln>
            <a:noFill/>
          </a:ln>
        </p:spPr>
      </p:pic>
      <p:pic>
        <p:nvPicPr>
          <p:cNvPr id="18" name="Google Shape;18;p130"/>
          <p:cNvPicPr preferRelativeResize="0"/>
          <p:nvPr/>
        </p:nvPicPr>
        <p:blipFill rotWithShape="1">
          <a:blip r:embed="rId4">
            <a:alphaModFix/>
          </a:blip>
          <a:srcRect b="0" l="0" r="0" t="0"/>
          <a:stretch/>
        </p:blipFill>
        <p:spPr>
          <a:xfrm rot="5400000">
            <a:off x="5540362" y="2572804"/>
            <a:ext cx="207493" cy="699978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4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4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4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5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5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5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4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4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6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5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5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7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5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5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6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6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6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6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6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7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7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6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6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6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8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6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7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7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8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7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7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9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8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78.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8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77.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9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88.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9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95.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8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79.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90.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 Id="rId3" Type="http://schemas.openxmlformats.org/officeDocument/2006/relationships/image" Target="../media/image9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image" Target="../media/image8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93.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86.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10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100.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89.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 Id="rId3" Type="http://schemas.openxmlformats.org/officeDocument/2006/relationships/image" Target="../media/image9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 Id="rId3" Type="http://schemas.openxmlformats.org/officeDocument/2006/relationships/image" Target="../media/image87.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 Id="rId3" Type="http://schemas.openxmlformats.org/officeDocument/2006/relationships/image" Target="../media/image98.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104.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10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image" Target="../media/image10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105.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99.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10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txBox="1"/>
          <p:nvPr>
            <p:ph type="ctrTitle"/>
          </p:nvPr>
        </p:nvSpPr>
        <p:spPr>
          <a:xfrm>
            <a:off x="1981200" y="1447800"/>
            <a:ext cx="6629400" cy="1894362"/>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Calibri"/>
              <a:buNone/>
            </a:pPr>
            <a:r>
              <a:rPr b="1" lang="en-US" sz="3600">
                <a:solidFill>
                  <a:schemeClr val="dk1"/>
                </a:solidFill>
              </a:rPr>
              <a:t>Module-4</a:t>
            </a:r>
            <a:endParaRPr b="1" sz="3600">
              <a:solidFill>
                <a:schemeClr val="dk1"/>
              </a:solidFill>
            </a:endParaRPr>
          </a:p>
        </p:txBody>
      </p:sp>
      <p:sp>
        <p:nvSpPr>
          <p:cNvPr id="93" name="Google Shape;93;p1"/>
          <p:cNvSpPr txBox="1"/>
          <p:nvPr>
            <p:ph idx="1" type="subTitle"/>
          </p:nvPr>
        </p:nvSpPr>
        <p:spPr>
          <a:xfrm>
            <a:off x="533400" y="4419600"/>
            <a:ext cx="8610600" cy="1752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00000"/>
              </a:buClr>
              <a:buSzPts val="6600"/>
              <a:buNone/>
            </a:pPr>
            <a:r>
              <a:rPr b="1" lang="en-US" sz="6600">
                <a:solidFill>
                  <a:srgbClr val="C00000"/>
                </a:solidFill>
                <a:latin typeface="Arimo"/>
                <a:ea typeface="Arimo"/>
                <a:cs typeface="Arimo"/>
                <a:sym typeface="Arimo"/>
              </a:rPr>
              <a:t>MEMORY</a:t>
            </a:r>
            <a:endParaRPr b="1" sz="6600">
              <a:solidFill>
                <a:srgbClr val="C00000"/>
              </a:solidFill>
              <a:latin typeface="Arimo"/>
              <a:ea typeface="Arimo"/>
              <a:cs typeface="Arimo"/>
              <a:sym typeface="Arim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99" name="Google Shape;99;p2"/>
          <p:cNvPicPr preferRelativeResize="0"/>
          <p:nvPr>
            <p:ph idx="1" type="body"/>
          </p:nvPr>
        </p:nvPicPr>
        <p:blipFill rotWithShape="1">
          <a:blip r:embed="rId3">
            <a:alphaModFix/>
          </a:blip>
          <a:srcRect b="0" l="0" r="0" t="0"/>
          <a:stretch/>
        </p:blipFill>
        <p:spPr>
          <a:xfrm>
            <a:off x="0" y="0"/>
            <a:ext cx="9144000" cy="6629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05" name="Google Shape;105;p3"/>
          <p:cNvPicPr preferRelativeResize="0"/>
          <p:nvPr>
            <p:ph idx="1" type="body"/>
          </p:nvPr>
        </p:nvPicPr>
        <p:blipFill rotWithShape="1">
          <a:blip r:embed="rId3">
            <a:alphaModFix/>
          </a:blip>
          <a:srcRect b="0" l="0" r="0" t="0"/>
          <a:stretch/>
        </p:blipFill>
        <p:spPr>
          <a:xfrm>
            <a:off x="-76200" y="76200"/>
            <a:ext cx="9296399" cy="6781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11" name="Google Shape;111;p4"/>
          <p:cNvPicPr preferRelativeResize="0"/>
          <p:nvPr>
            <p:ph idx="1" type="body"/>
          </p:nvPr>
        </p:nvPicPr>
        <p:blipFill rotWithShape="1">
          <a:blip r:embed="rId3">
            <a:alphaModFix/>
          </a:blip>
          <a:srcRect b="0" l="0" r="0" t="0"/>
          <a:stretch/>
        </p:blipFill>
        <p:spPr>
          <a:xfrm>
            <a:off x="76200" y="0"/>
            <a:ext cx="8991600" cy="6629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17" name="Google Shape;117;p5"/>
          <p:cNvPicPr preferRelativeResize="0"/>
          <p:nvPr>
            <p:ph idx="1" type="body"/>
          </p:nvPr>
        </p:nvPicPr>
        <p:blipFill rotWithShape="1">
          <a:blip r:embed="rId3">
            <a:alphaModFix/>
          </a:blip>
          <a:srcRect b="0" l="0" r="0" t="0"/>
          <a:stretch/>
        </p:blipFill>
        <p:spPr>
          <a:xfrm>
            <a:off x="152400" y="76200"/>
            <a:ext cx="8991600" cy="655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6"/>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23" name="Google Shape;123;p6"/>
          <p:cNvPicPr preferRelativeResize="0"/>
          <p:nvPr>
            <p:ph idx="1" type="body"/>
          </p:nvPr>
        </p:nvPicPr>
        <p:blipFill rotWithShape="1">
          <a:blip r:embed="rId3">
            <a:alphaModFix/>
          </a:blip>
          <a:srcRect b="0" l="0" r="0" t="0"/>
          <a:stretch/>
        </p:blipFill>
        <p:spPr>
          <a:xfrm>
            <a:off x="-76200" y="0"/>
            <a:ext cx="9067800" cy="655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29" name="Google Shape;129;p7"/>
          <p:cNvPicPr preferRelativeResize="0"/>
          <p:nvPr>
            <p:ph idx="1" type="body"/>
          </p:nvPr>
        </p:nvPicPr>
        <p:blipFill rotWithShape="1">
          <a:blip r:embed="rId3">
            <a:alphaModFix/>
          </a:blip>
          <a:srcRect b="0" l="0" r="0" t="0"/>
          <a:stretch/>
        </p:blipFill>
        <p:spPr>
          <a:xfrm>
            <a:off x="152400" y="152400"/>
            <a:ext cx="8915399" cy="6629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35" name="Google Shape;135;p8"/>
          <p:cNvPicPr preferRelativeResize="0"/>
          <p:nvPr>
            <p:ph idx="1" type="body"/>
          </p:nvPr>
        </p:nvPicPr>
        <p:blipFill rotWithShape="1">
          <a:blip r:embed="rId3">
            <a:alphaModFix/>
          </a:blip>
          <a:srcRect b="0" l="0" r="0" t="0"/>
          <a:stretch/>
        </p:blipFill>
        <p:spPr>
          <a:xfrm>
            <a:off x="0" y="76200"/>
            <a:ext cx="9144000" cy="6629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41" name="Google Shape;141;p9"/>
          <p:cNvPicPr preferRelativeResize="0"/>
          <p:nvPr>
            <p:ph idx="1" type="body"/>
          </p:nvPr>
        </p:nvPicPr>
        <p:blipFill rotWithShape="1">
          <a:blip r:embed="rId3">
            <a:alphaModFix/>
          </a:blip>
          <a:srcRect b="0" l="0" r="0" t="0"/>
          <a:stretch/>
        </p:blipFill>
        <p:spPr>
          <a:xfrm>
            <a:off x="228600" y="152400"/>
            <a:ext cx="8610600" cy="655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47" name="Google Shape;147;p10"/>
          <p:cNvPicPr preferRelativeResize="0"/>
          <p:nvPr>
            <p:ph idx="1" type="body"/>
          </p:nvPr>
        </p:nvPicPr>
        <p:blipFill rotWithShape="1">
          <a:blip r:embed="rId3">
            <a:alphaModFix/>
          </a:blip>
          <a:srcRect b="0" l="0" r="0" t="0"/>
          <a:stretch/>
        </p:blipFill>
        <p:spPr>
          <a:xfrm>
            <a:off x="76200" y="0"/>
            <a:ext cx="9067799" cy="7162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53" name="Google Shape;153;p11"/>
          <p:cNvPicPr preferRelativeResize="0"/>
          <p:nvPr>
            <p:ph idx="1" type="body"/>
          </p:nvPr>
        </p:nvPicPr>
        <p:blipFill rotWithShape="1">
          <a:blip r:embed="rId3">
            <a:alphaModFix/>
          </a:blip>
          <a:srcRect b="0" l="0" r="0" t="0"/>
          <a:stretch/>
        </p:blipFill>
        <p:spPr>
          <a:xfrm>
            <a:off x="152400" y="0"/>
            <a:ext cx="8763000" cy="6629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2"/>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u="sng"/>
              <a:t>PHYSICAL TYPES</a:t>
            </a:r>
            <a:endParaRPr b="1" u="sng"/>
          </a:p>
        </p:txBody>
      </p:sp>
      <p:sp>
        <p:nvSpPr>
          <p:cNvPr id="159" name="Google Shape;159;p1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7800" lvl="0" marL="171450" rtl="0" algn="l">
              <a:lnSpc>
                <a:spcPct val="90000"/>
              </a:lnSpc>
              <a:spcBef>
                <a:spcPts val="0"/>
              </a:spcBef>
              <a:spcAft>
                <a:spcPts val="0"/>
              </a:spcAft>
              <a:buClr>
                <a:schemeClr val="dk1"/>
              </a:buClr>
              <a:buSzPts val="2800"/>
              <a:buChar char="•"/>
            </a:pPr>
            <a:r>
              <a:rPr b="1" lang="en-US" sz="2800"/>
              <a:t>physical types</a:t>
            </a:r>
            <a:r>
              <a:rPr lang="en-US" sz="2800"/>
              <a:t>-</a:t>
            </a:r>
            <a:endParaRPr/>
          </a:p>
          <a:p>
            <a:pPr indent="-177800" lvl="0" marL="171450" rtl="0" algn="l">
              <a:lnSpc>
                <a:spcPct val="90000"/>
              </a:lnSpc>
              <a:spcBef>
                <a:spcPts val="750"/>
              </a:spcBef>
              <a:spcAft>
                <a:spcPts val="0"/>
              </a:spcAft>
              <a:buClr>
                <a:schemeClr val="dk1"/>
              </a:buClr>
              <a:buSzPts val="2800"/>
              <a:buChar char="•"/>
            </a:pPr>
            <a:r>
              <a:rPr lang="en-US" sz="2800"/>
              <a:t>semiconductor memory,</a:t>
            </a:r>
            <a:endParaRPr/>
          </a:p>
          <a:p>
            <a:pPr indent="-177800" lvl="0" marL="171450" rtl="0" algn="l">
              <a:lnSpc>
                <a:spcPct val="90000"/>
              </a:lnSpc>
              <a:spcBef>
                <a:spcPts val="750"/>
              </a:spcBef>
              <a:spcAft>
                <a:spcPts val="0"/>
              </a:spcAft>
              <a:buClr>
                <a:schemeClr val="dk1"/>
              </a:buClr>
              <a:buSzPts val="2800"/>
              <a:buChar char="•"/>
            </a:pPr>
            <a:r>
              <a:rPr lang="en-US" sz="2800"/>
              <a:t>magnetic surface memory,-used for disk and tape,</a:t>
            </a:r>
            <a:endParaRPr/>
          </a:p>
          <a:p>
            <a:pPr indent="-177800" lvl="0" marL="171450" rtl="0" algn="l">
              <a:lnSpc>
                <a:spcPct val="90000"/>
              </a:lnSpc>
              <a:spcBef>
                <a:spcPts val="750"/>
              </a:spcBef>
              <a:spcAft>
                <a:spcPts val="0"/>
              </a:spcAft>
              <a:buClr>
                <a:schemeClr val="dk1"/>
              </a:buClr>
              <a:buSzPts val="2800"/>
              <a:buChar char="•"/>
            </a:pPr>
            <a:r>
              <a:rPr lang="en-US" sz="2800"/>
              <a:t>optical and magneto-optical</a:t>
            </a:r>
            <a:endParaRPr sz="2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3"/>
          <p:cNvSpPr txBox="1"/>
          <p:nvPr>
            <p:ph type="title"/>
          </p:nvPr>
        </p:nvSpPr>
        <p:spPr>
          <a:xfrm>
            <a:off x="381000" y="-990600"/>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65" name="Google Shape;165;p13"/>
          <p:cNvPicPr preferRelativeResize="0"/>
          <p:nvPr>
            <p:ph idx="1" type="body"/>
          </p:nvPr>
        </p:nvPicPr>
        <p:blipFill rotWithShape="1">
          <a:blip r:embed="rId3">
            <a:alphaModFix/>
          </a:blip>
          <a:srcRect b="0" l="0" r="0" t="0"/>
          <a:stretch/>
        </p:blipFill>
        <p:spPr>
          <a:xfrm>
            <a:off x="-76200" y="0"/>
            <a:ext cx="9220200" cy="6705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71" name="Google Shape;171;p14"/>
          <p:cNvPicPr preferRelativeResize="0"/>
          <p:nvPr>
            <p:ph idx="1" type="body"/>
          </p:nvPr>
        </p:nvPicPr>
        <p:blipFill rotWithShape="1">
          <a:blip r:embed="rId3">
            <a:alphaModFix/>
          </a:blip>
          <a:srcRect b="0" l="0" r="0" t="0"/>
          <a:stretch/>
        </p:blipFill>
        <p:spPr>
          <a:xfrm>
            <a:off x="152400" y="228600"/>
            <a:ext cx="8763000" cy="6629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77" name="Google Shape;177;p15"/>
          <p:cNvPicPr preferRelativeResize="0"/>
          <p:nvPr>
            <p:ph idx="1" type="body"/>
          </p:nvPr>
        </p:nvPicPr>
        <p:blipFill rotWithShape="1">
          <a:blip r:embed="rId3">
            <a:alphaModFix/>
          </a:blip>
          <a:srcRect b="0" l="0" r="0" t="0"/>
          <a:stretch/>
        </p:blipFill>
        <p:spPr>
          <a:xfrm>
            <a:off x="76200" y="76200"/>
            <a:ext cx="8991600" cy="6553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6"/>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83" name="Google Shape;183;p16"/>
          <p:cNvPicPr preferRelativeResize="0"/>
          <p:nvPr>
            <p:ph idx="1" type="body"/>
          </p:nvPr>
        </p:nvPicPr>
        <p:blipFill rotWithShape="1">
          <a:blip r:embed="rId3">
            <a:alphaModFix/>
          </a:blip>
          <a:srcRect b="0" l="0" r="0" t="0"/>
          <a:stretch/>
        </p:blipFill>
        <p:spPr>
          <a:xfrm>
            <a:off x="228600" y="152400"/>
            <a:ext cx="8610600" cy="6400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89" name="Google Shape;189;p17"/>
          <p:cNvPicPr preferRelativeResize="0"/>
          <p:nvPr>
            <p:ph idx="1" type="body"/>
          </p:nvPr>
        </p:nvPicPr>
        <p:blipFill rotWithShape="1">
          <a:blip r:embed="rId3">
            <a:alphaModFix/>
          </a:blip>
          <a:srcRect b="0" l="0" r="0" t="0"/>
          <a:stretch/>
        </p:blipFill>
        <p:spPr>
          <a:xfrm>
            <a:off x="0" y="76200"/>
            <a:ext cx="9067800" cy="6705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95" name="Google Shape;195;p18"/>
          <p:cNvPicPr preferRelativeResize="0"/>
          <p:nvPr>
            <p:ph idx="1" type="body"/>
          </p:nvPr>
        </p:nvPicPr>
        <p:blipFill rotWithShape="1">
          <a:blip r:embed="rId3">
            <a:alphaModFix/>
          </a:blip>
          <a:srcRect b="0" l="0" r="0" t="0"/>
          <a:stretch/>
        </p:blipFill>
        <p:spPr>
          <a:xfrm>
            <a:off x="152401" y="0"/>
            <a:ext cx="8839200"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01" name="Google Shape;201;p19"/>
          <p:cNvPicPr preferRelativeResize="0"/>
          <p:nvPr>
            <p:ph idx="1" type="body"/>
          </p:nvPr>
        </p:nvPicPr>
        <p:blipFill rotWithShape="1">
          <a:blip r:embed="rId3">
            <a:alphaModFix/>
          </a:blip>
          <a:srcRect b="0" l="0" r="0" t="0"/>
          <a:stretch/>
        </p:blipFill>
        <p:spPr>
          <a:xfrm>
            <a:off x="304801" y="0"/>
            <a:ext cx="8763000" cy="6705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07" name="Google Shape;207;p20"/>
          <p:cNvPicPr preferRelativeResize="0"/>
          <p:nvPr>
            <p:ph idx="1" type="body"/>
          </p:nvPr>
        </p:nvPicPr>
        <p:blipFill rotWithShape="1">
          <a:blip r:embed="rId3">
            <a:alphaModFix/>
          </a:blip>
          <a:srcRect b="0" l="0" r="0" t="0"/>
          <a:stretch/>
        </p:blipFill>
        <p:spPr>
          <a:xfrm>
            <a:off x="76200" y="0"/>
            <a:ext cx="9067800" cy="6781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13" name="Google Shape;213;p21"/>
          <p:cNvPicPr preferRelativeResize="0"/>
          <p:nvPr>
            <p:ph idx="1" type="body"/>
          </p:nvPr>
        </p:nvPicPr>
        <p:blipFill rotWithShape="1">
          <a:blip r:embed="rId3">
            <a:alphaModFix/>
          </a:blip>
          <a:srcRect b="0" l="0" r="0" t="0"/>
          <a:stretch/>
        </p:blipFill>
        <p:spPr>
          <a:xfrm>
            <a:off x="0" y="0"/>
            <a:ext cx="9220200" cy="686276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2"/>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19" name="Google Shape;219;p22"/>
          <p:cNvPicPr preferRelativeResize="0"/>
          <p:nvPr>
            <p:ph idx="1" type="body"/>
          </p:nvPr>
        </p:nvPicPr>
        <p:blipFill rotWithShape="1">
          <a:blip r:embed="rId3">
            <a:alphaModFix/>
          </a:blip>
          <a:srcRect b="0" l="0" r="0" t="0"/>
          <a:stretch/>
        </p:blipFill>
        <p:spPr>
          <a:xfrm>
            <a:off x="228600" y="152400"/>
            <a:ext cx="8458200" cy="6553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25" name="Google Shape;225;p23"/>
          <p:cNvPicPr preferRelativeResize="0"/>
          <p:nvPr>
            <p:ph idx="1" type="body"/>
          </p:nvPr>
        </p:nvPicPr>
        <p:blipFill rotWithShape="1">
          <a:blip r:embed="rId3">
            <a:alphaModFix/>
          </a:blip>
          <a:srcRect b="0" l="0" r="0" t="0"/>
          <a:stretch/>
        </p:blipFill>
        <p:spPr>
          <a:xfrm>
            <a:off x="0" y="76200"/>
            <a:ext cx="9144000" cy="6477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31" name="Google Shape;231;p24"/>
          <p:cNvPicPr preferRelativeResize="0"/>
          <p:nvPr>
            <p:ph idx="1" type="body"/>
          </p:nvPr>
        </p:nvPicPr>
        <p:blipFill rotWithShape="1">
          <a:blip r:embed="rId3">
            <a:alphaModFix/>
          </a:blip>
          <a:srcRect b="0" l="0" r="0" t="0"/>
          <a:stretch/>
        </p:blipFill>
        <p:spPr>
          <a:xfrm>
            <a:off x="0" y="152400"/>
            <a:ext cx="9067800" cy="6553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37" name="Google Shape;237;p25"/>
          <p:cNvPicPr preferRelativeResize="0"/>
          <p:nvPr>
            <p:ph idx="1" type="body"/>
          </p:nvPr>
        </p:nvPicPr>
        <p:blipFill rotWithShape="1">
          <a:blip r:embed="rId3">
            <a:alphaModFix/>
          </a:blip>
          <a:srcRect b="0" l="0" r="0" t="0"/>
          <a:stretch/>
        </p:blipFill>
        <p:spPr>
          <a:xfrm>
            <a:off x="0" y="-76200"/>
            <a:ext cx="8915400" cy="6858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6"/>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u="sng"/>
              <a:t>PROM-Programmable Read Only Memory</a:t>
            </a:r>
            <a:endParaRPr b="1" u="sng"/>
          </a:p>
        </p:txBody>
      </p:sp>
      <p:sp>
        <p:nvSpPr>
          <p:cNvPr id="243" name="Google Shape;243;p2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38100" lvl="0" marL="171450" rtl="0" algn="l">
              <a:lnSpc>
                <a:spcPct val="90000"/>
              </a:lnSpc>
              <a:spcBef>
                <a:spcPts val="0"/>
              </a:spcBef>
              <a:spcAft>
                <a:spcPts val="0"/>
              </a:spcAft>
              <a:buClr>
                <a:schemeClr val="dk1"/>
              </a:buClr>
              <a:buSzPts val="2100"/>
              <a:buNone/>
            </a:pPr>
            <a:r>
              <a:t/>
            </a:r>
            <a:endParaRPr/>
          </a:p>
          <a:p>
            <a:pPr indent="-171450" lvl="0" marL="171450" rtl="0" algn="l">
              <a:lnSpc>
                <a:spcPct val="90000"/>
              </a:lnSpc>
              <a:spcBef>
                <a:spcPts val="750"/>
              </a:spcBef>
              <a:spcAft>
                <a:spcPts val="0"/>
              </a:spcAft>
              <a:buClr>
                <a:schemeClr val="dk1"/>
              </a:buClr>
              <a:buSzPts val="2100"/>
              <a:buChar char="•"/>
            </a:pPr>
            <a:r>
              <a:rPr b="1" lang="en-US"/>
              <a:t>PROM-Programmable ROM </a:t>
            </a:r>
            <a:endParaRPr/>
          </a:p>
          <a:p>
            <a:pPr indent="-171450" lvl="0" marL="171450" rtl="0" algn="l">
              <a:lnSpc>
                <a:spcPct val="90000"/>
              </a:lnSpc>
              <a:spcBef>
                <a:spcPts val="750"/>
              </a:spcBef>
              <a:spcAft>
                <a:spcPts val="0"/>
              </a:spcAft>
              <a:buClr>
                <a:schemeClr val="dk1"/>
              </a:buClr>
              <a:buSzPts val="2100"/>
              <a:buChar char="•"/>
            </a:pPr>
            <a:r>
              <a:rPr lang="en-US"/>
              <a:t>•Written by user.</a:t>
            </a:r>
            <a:endParaRPr/>
          </a:p>
          <a:p>
            <a:pPr indent="-171450" lvl="0" marL="171450" rtl="0" algn="l">
              <a:lnSpc>
                <a:spcPct val="90000"/>
              </a:lnSpc>
              <a:spcBef>
                <a:spcPts val="750"/>
              </a:spcBef>
              <a:spcAft>
                <a:spcPts val="0"/>
              </a:spcAft>
              <a:buClr>
                <a:schemeClr val="dk1"/>
              </a:buClr>
              <a:buSzPts val="2100"/>
              <a:buChar char="•"/>
            </a:pPr>
            <a:r>
              <a:rPr lang="en-US"/>
              <a:t>•Programmable (“once”) </a:t>
            </a:r>
            <a:endParaRPr/>
          </a:p>
          <a:p>
            <a:pPr indent="-171450" lvl="0" marL="171450" rtl="0" algn="l">
              <a:lnSpc>
                <a:spcPct val="90000"/>
              </a:lnSpc>
              <a:spcBef>
                <a:spcPts val="750"/>
              </a:spcBef>
              <a:spcAft>
                <a:spcPts val="0"/>
              </a:spcAft>
              <a:buClr>
                <a:schemeClr val="dk1"/>
              </a:buClr>
              <a:buSzPts val="2100"/>
              <a:buChar char="•"/>
            </a:pPr>
            <a:r>
              <a:rPr lang="en-US"/>
              <a:t>—</a:t>
            </a:r>
            <a:r>
              <a:rPr b="1" lang="en-US"/>
              <a:t>PROM </a:t>
            </a:r>
            <a:endParaRPr/>
          </a:p>
          <a:p>
            <a:pPr indent="-171450" lvl="0" marL="171450" rtl="0" algn="l">
              <a:lnSpc>
                <a:spcPct val="90000"/>
              </a:lnSpc>
              <a:spcBef>
                <a:spcPts val="750"/>
              </a:spcBef>
              <a:spcAft>
                <a:spcPts val="0"/>
              </a:spcAft>
              <a:buClr>
                <a:schemeClr val="dk1"/>
              </a:buClr>
              <a:buSzPts val="2100"/>
              <a:buChar char="•"/>
            </a:pPr>
            <a:r>
              <a:rPr lang="en-US"/>
              <a:t>—Small amount of data to be written </a:t>
            </a:r>
            <a:endParaRPr/>
          </a:p>
          <a:p>
            <a:pPr indent="-171450" lvl="0" marL="171450" rtl="0" algn="l">
              <a:lnSpc>
                <a:spcPct val="90000"/>
              </a:lnSpc>
              <a:spcBef>
                <a:spcPts val="750"/>
              </a:spcBef>
              <a:spcAft>
                <a:spcPts val="0"/>
              </a:spcAft>
              <a:buClr>
                <a:schemeClr val="dk1"/>
              </a:buClr>
              <a:buSzPts val="2100"/>
              <a:buChar char="•"/>
            </a:pPr>
            <a:r>
              <a:rPr lang="en-US"/>
              <a:t>—Less expensive </a:t>
            </a:r>
            <a:endParaRPr/>
          </a:p>
          <a:p>
            <a:pPr indent="-171450" lvl="0" marL="171450" rtl="0" algn="l">
              <a:lnSpc>
                <a:spcPct val="90000"/>
              </a:lnSpc>
              <a:spcBef>
                <a:spcPts val="750"/>
              </a:spcBef>
              <a:spcAft>
                <a:spcPts val="0"/>
              </a:spcAft>
              <a:buClr>
                <a:schemeClr val="dk1"/>
              </a:buClr>
              <a:buSzPts val="2100"/>
              <a:buChar char="•"/>
            </a:pPr>
            <a:r>
              <a:rPr lang="en-US"/>
              <a:t>—Non volatile, written only once </a:t>
            </a:r>
            <a:endParaRPr/>
          </a:p>
          <a:p>
            <a:pPr indent="-171450" lvl="0" marL="171450" rtl="0" algn="l">
              <a:lnSpc>
                <a:spcPct val="90000"/>
              </a:lnSpc>
              <a:spcBef>
                <a:spcPts val="750"/>
              </a:spcBef>
              <a:spcAft>
                <a:spcPts val="0"/>
              </a:spcAft>
              <a:buClr>
                <a:schemeClr val="dk1"/>
              </a:buClr>
              <a:buSzPts val="2100"/>
              <a:buChar char="•"/>
            </a:pPr>
            <a:r>
              <a:rPr lang="en-US"/>
              <a:t>—Writing performed electrically by the user(fabricated without writing)</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49" name="Google Shape;249;p27"/>
          <p:cNvPicPr preferRelativeResize="0"/>
          <p:nvPr>
            <p:ph idx="1" type="body"/>
          </p:nvPr>
        </p:nvPicPr>
        <p:blipFill rotWithShape="1">
          <a:blip r:embed="rId3">
            <a:alphaModFix/>
          </a:blip>
          <a:srcRect b="0" l="0" r="0" t="0"/>
          <a:stretch/>
        </p:blipFill>
        <p:spPr>
          <a:xfrm>
            <a:off x="152400" y="76200"/>
            <a:ext cx="8686799" cy="66294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                           </a:t>
            </a:r>
            <a:r>
              <a:rPr b="1" lang="en-US" sz="4400" u="sng"/>
              <a:t>EPROM</a:t>
            </a:r>
            <a:endParaRPr b="1" sz="4400" u="sng"/>
          </a:p>
        </p:txBody>
      </p:sp>
      <p:sp>
        <p:nvSpPr>
          <p:cNvPr id="255" name="Google Shape;255;p2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38100" lvl="0" marL="171450" rtl="0" algn="l">
              <a:lnSpc>
                <a:spcPct val="90000"/>
              </a:lnSpc>
              <a:spcBef>
                <a:spcPts val="0"/>
              </a:spcBef>
              <a:spcAft>
                <a:spcPts val="0"/>
              </a:spcAft>
              <a:buClr>
                <a:schemeClr val="dk1"/>
              </a:buClr>
              <a:buSzPts val="2100"/>
              <a:buNone/>
            </a:pPr>
            <a:r>
              <a:t/>
            </a:r>
            <a:endParaRPr/>
          </a:p>
          <a:p>
            <a:pPr indent="-38100" lvl="0" marL="171450" rtl="0" algn="l">
              <a:lnSpc>
                <a:spcPct val="90000"/>
              </a:lnSpc>
              <a:spcBef>
                <a:spcPts val="750"/>
              </a:spcBef>
              <a:spcAft>
                <a:spcPts val="0"/>
              </a:spcAft>
              <a:buClr>
                <a:schemeClr val="dk1"/>
              </a:buClr>
              <a:buSzPts val="2100"/>
              <a:buNone/>
            </a:pPr>
            <a:r>
              <a:t/>
            </a:r>
            <a:endParaRPr/>
          </a:p>
          <a:p>
            <a:pPr indent="-203200" lvl="0" marL="171450" rtl="0" algn="l">
              <a:lnSpc>
                <a:spcPct val="90000"/>
              </a:lnSpc>
              <a:spcBef>
                <a:spcPts val="750"/>
              </a:spcBef>
              <a:spcAft>
                <a:spcPts val="0"/>
              </a:spcAft>
              <a:buClr>
                <a:schemeClr val="dk1"/>
              </a:buClr>
              <a:buSzPts val="3200"/>
              <a:buChar char="•"/>
            </a:pPr>
            <a:r>
              <a:rPr lang="en-US" sz="3200"/>
              <a:t>Read and  write-</a:t>
            </a:r>
            <a:endParaRPr sz="3200"/>
          </a:p>
          <a:p>
            <a:pPr indent="-203200" lvl="0" marL="171450" rtl="0" algn="l">
              <a:lnSpc>
                <a:spcPct val="90000"/>
              </a:lnSpc>
              <a:spcBef>
                <a:spcPts val="750"/>
              </a:spcBef>
              <a:spcAft>
                <a:spcPts val="0"/>
              </a:spcAft>
              <a:buClr>
                <a:schemeClr val="dk1"/>
              </a:buClr>
              <a:buSzPts val="3200"/>
              <a:buChar char="•"/>
            </a:pPr>
            <a:r>
              <a:rPr lang="en-US" sz="3200"/>
              <a:t>—All storage cells should be erased  to </a:t>
            </a:r>
            <a:r>
              <a:rPr b="1" lang="en-US" sz="3200"/>
              <a:t>initial state </a:t>
            </a:r>
            <a:r>
              <a:rPr lang="en-US" sz="3200"/>
              <a:t>by exposure to UV radiation  .</a:t>
            </a:r>
            <a:endParaRPr sz="3200"/>
          </a:p>
          <a:p>
            <a:pPr indent="-203200" lvl="0" marL="171450" rtl="0" algn="l">
              <a:lnSpc>
                <a:spcPct val="90000"/>
              </a:lnSpc>
              <a:spcBef>
                <a:spcPts val="750"/>
              </a:spcBef>
              <a:spcAft>
                <a:spcPts val="0"/>
              </a:spcAft>
              <a:buClr>
                <a:schemeClr val="dk1"/>
              </a:buClr>
              <a:buSzPts val="3200"/>
              <a:buChar char="•"/>
            </a:pPr>
            <a:r>
              <a:rPr lang="en-US" sz="3200"/>
              <a:t>—Can be altered multiple times and holds data virtually indefinitely </a:t>
            </a:r>
            <a:endParaRPr/>
          </a:p>
          <a:p>
            <a:pPr indent="-203200" lvl="0" marL="171450" rtl="0" algn="l">
              <a:lnSpc>
                <a:spcPct val="90000"/>
              </a:lnSpc>
              <a:spcBef>
                <a:spcPts val="750"/>
              </a:spcBef>
              <a:spcAft>
                <a:spcPts val="0"/>
              </a:spcAft>
              <a:buClr>
                <a:schemeClr val="dk1"/>
              </a:buClr>
              <a:buSzPts val="3200"/>
              <a:buChar char="•"/>
            </a:pPr>
            <a:r>
              <a:rPr lang="en-US" sz="3200"/>
              <a:t>—More expensive than PROM </a:t>
            </a:r>
            <a:endParaRPr/>
          </a:p>
          <a:p>
            <a:pPr indent="0" lvl="0" marL="171450" rtl="0" algn="l">
              <a:lnSpc>
                <a:spcPct val="90000"/>
              </a:lnSpc>
              <a:spcBef>
                <a:spcPts val="750"/>
              </a:spcBef>
              <a:spcAft>
                <a:spcPts val="0"/>
              </a:spcAft>
              <a:buClr>
                <a:schemeClr val="dk1"/>
              </a:buClr>
              <a:buSzPts val="3200"/>
              <a:buNone/>
            </a:pPr>
            <a:r>
              <a:t/>
            </a:r>
            <a:endParaRPr sz="32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61" name="Google Shape;261;p29"/>
          <p:cNvPicPr preferRelativeResize="0"/>
          <p:nvPr>
            <p:ph idx="1" type="body"/>
          </p:nvPr>
        </p:nvPicPr>
        <p:blipFill rotWithShape="1">
          <a:blip r:embed="rId3">
            <a:alphaModFix/>
          </a:blip>
          <a:srcRect b="0" l="0" r="0" t="0"/>
          <a:stretch/>
        </p:blipFill>
        <p:spPr>
          <a:xfrm>
            <a:off x="152400" y="0"/>
            <a:ext cx="8915400" cy="67056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67" name="Google Shape;267;p30"/>
          <p:cNvPicPr preferRelativeResize="0"/>
          <p:nvPr>
            <p:ph idx="1" type="body"/>
          </p:nvPr>
        </p:nvPicPr>
        <p:blipFill rotWithShape="1">
          <a:blip r:embed="rId3">
            <a:alphaModFix/>
          </a:blip>
          <a:srcRect b="0" l="0" r="0" t="0"/>
          <a:stretch/>
        </p:blipFill>
        <p:spPr>
          <a:xfrm>
            <a:off x="381001" y="0"/>
            <a:ext cx="8458200" cy="66294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73" name="Google Shape;273;p31"/>
          <p:cNvPicPr preferRelativeResize="0"/>
          <p:nvPr>
            <p:ph idx="1" type="body"/>
          </p:nvPr>
        </p:nvPicPr>
        <p:blipFill rotWithShape="1">
          <a:blip r:embed="rId3">
            <a:alphaModFix/>
          </a:blip>
          <a:srcRect b="0" l="0" r="0" t="0"/>
          <a:stretch/>
        </p:blipFill>
        <p:spPr>
          <a:xfrm>
            <a:off x="-76200" y="304800"/>
            <a:ext cx="8915399" cy="62484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2"/>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                </a:t>
            </a:r>
            <a:r>
              <a:rPr b="1" lang="en-US" u="sng"/>
              <a:t>CACHE MEMORY</a:t>
            </a:r>
            <a:endParaRPr b="1" u="sng"/>
          </a:p>
        </p:txBody>
      </p:sp>
      <p:sp>
        <p:nvSpPr>
          <p:cNvPr id="279" name="Google Shape;279;p3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lnSpcReduction="10000"/>
          </a:bodyPr>
          <a:lstStyle/>
          <a:p>
            <a:pPr indent="-177800" lvl="0" marL="171450" rtl="0" algn="l">
              <a:lnSpc>
                <a:spcPct val="90000"/>
              </a:lnSpc>
              <a:spcBef>
                <a:spcPts val="0"/>
              </a:spcBef>
              <a:spcAft>
                <a:spcPts val="0"/>
              </a:spcAft>
              <a:buClr>
                <a:schemeClr val="dk1"/>
              </a:buClr>
              <a:buSzPts val="2800"/>
              <a:buChar char="•"/>
            </a:pPr>
            <a:r>
              <a:rPr lang="en-US" sz="2800"/>
              <a:t>Cache memory is intended to give –</a:t>
            </a:r>
            <a:endParaRPr/>
          </a:p>
          <a:p>
            <a:pPr indent="-177800" lvl="0" marL="171450" rtl="0" algn="l">
              <a:lnSpc>
                <a:spcPct val="90000"/>
              </a:lnSpc>
              <a:spcBef>
                <a:spcPts val="750"/>
              </a:spcBef>
              <a:spcAft>
                <a:spcPts val="0"/>
              </a:spcAft>
              <a:buClr>
                <a:schemeClr val="dk1"/>
              </a:buClr>
              <a:buSzPts val="2800"/>
              <a:buChar char="•"/>
            </a:pPr>
            <a:r>
              <a:rPr lang="en-US" sz="2800"/>
              <a:t>memory speed approaching that of the fastest memories available.</a:t>
            </a:r>
            <a:endParaRPr sz="2800"/>
          </a:p>
          <a:p>
            <a:pPr indent="-177800" lvl="0" marL="171450" rtl="0" algn="l">
              <a:lnSpc>
                <a:spcPct val="90000"/>
              </a:lnSpc>
              <a:spcBef>
                <a:spcPts val="750"/>
              </a:spcBef>
              <a:spcAft>
                <a:spcPts val="0"/>
              </a:spcAft>
              <a:buClr>
                <a:schemeClr val="dk1"/>
              </a:buClr>
              <a:buSzPts val="2800"/>
              <a:buChar char="•"/>
            </a:pPr>
            <a:r>
              <a:rPr lang="en-US" sz="2800"/>
              <a:t> Provide a large memory size at the price of less expensive types of semiconductor memories.</a:t>
            </a:r>
            <a:endParaRPr/>
          </a:p>
          <a:p>
            <a:pPr indent="-177800" lvl="0" marL="171450" rtl="0" algn="l">
              <a:lnSpc>
                <a:spcPct val="90000"/>
              </a:lnSpc>
              <a:spcBef>
                <a:spcPts val="750"/>
              </a:spcBef>
              <a:spcAft>
                <a:spcPts val="0"/>
              </a:spcAft>
              <a:buClr>
                <a:schemeClr val="dk1"/>
              </a:buClr>
              <a:buSzPts val="2800"/>
              <a:buChar char="•"/>
            </a:pPr>
            <a:r>
              <a:rPr lang="en-US" sz="2800"/>
              <a:t> A relatively large and slow main memory together with a</a:t>
            </a:r>
            <a:endParaRPr/>
          </a:p>
          <a:p>
            <a:pPr indent="-177800" lvl="0" marL="171450" rtl="0" algn="l">
              <a:lnSpc>
                <a:spcPct val="90000"/>
              </a:lnSpc>
              <a:spcBef>
                <a:spcPts val="750"/>
              </a:spcBef>
              <a:spcAft>
                <a:spcPts val="0"/>
              </a:spcAft>
              <a:buClr>
                <a:schemeClr val="dk1"/>
              </a:buClr>
              <a:buSzPts val="2800"/>
              <a:buChar char="•"/>
            </a:pPr>
            <a:r>
              <a:rPr lang="en-US" sz="2800"/>
              <a:t>smaller, faster cache memory. </a:t>
            </a:r>
            <a:endParaRPr sz="2800"/>
          </a:p>
          <a:p>
            <a:pPr indent="-177800" lvl="0" marL="171450" rtl="0" algn="l">
              <a:lnSpc>
                <a:spcPct val="90000"/>
              </a:lnSpc>
              <a:spcBef>
                <a:spcPts val="750"/>
              </a:spcBef>
              <a:spcAft>
                <a:spcPts val="0"/>
              </a:spcAft>
              <a:buClr>
                <a:schemeClr val="dk1"/>
              </a:buClr>
              <a:buSzPts val="2800"/>
              <a:buChar char="•"/>
            </a:pPr>
            <a:r>
              <a:rPr lang="en-US" sz="2800"/>
              <a:t>The cache contains a copy of portions of main memory</a:t>
            </a:r>
            <a:r>
              <a:rPr lang="en-US"/>
              <a: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85" name="Google Shape;285;p33"/>
          <p:cNvPicPr preferRelativeResize="0"/>
          <p:nvPr>
            <p:ph idx="1" type="body"/>
          </p:nvPr>
        </p:nvPicPr>
        <p:blipFill rotWithShape="1">
          <a:blip r:embed="rId3">
            <a:alphaModFix/>
          </a:blip>
          <a:srcRect b="0" l="0" r="0" t="0"/>
          <a:stretch/>
        </p:blipFill>
        <p:spPr>
          <a:xfrm>
            <a:off x="228600" y="152400"/>
            <a:ext cx="8915400" cy="6477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91" name="Google Shape;291;p34"/>
          <p:cNvPicPr preferRelativeResize="0"/>
          <p:nvPr>
            <p:ph idx="1" type="body"/>
          </p:nvPr>
        </p:nvPicPr>
        <p:blipFill rotWithShape="1">
          <a:blip r:embed="rId3">
            <a:alphaModFix/>
          </a:blip>
          <a:srcRect b="0" l="0" r="0" t="0"/>
          <a:stretch/>
        </p:blipFill>
        <p:spPr>
          <a:xfrm>
            <a:off x="152400" y="228600"/>
            <a:ext cx="8762999" cy="66294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97" name="Google Shape;297;p35"/>
          <p:cNvPicPr preferRelativeResize="0"/>
          <p:nvPr>
            <p:ph idx="1" type="body"/>
          </p:nvPr>
        </p:nvPicPr>
        <p:blipFill rotWithShape="1">
          <a:blip r:embed="rId3">
            <a:alphaModFix/>
          </a:blip>
          <a:srcRect b="0" l="0" r="0" t="0"/>
          <a:stretch/>
        </p:blipFill>
        <p:spPr>
          <a:xfrm>
            <a:off x="152400" y="304800"/>
            <a:ext cx="8839200" cy="64008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6"/>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303" name="Google Shape;303;p36"/>
          <p:cNvPicPr preferRelativeResize="0"/>
          <p:nvPr>
            <p:ph idx="1" type="body"/>
          </p:nvPr>
        </p:nvPicPr>
        <p:blipFill rotWithShape="1">
          <a:blip r:embed="rId3">
            <a:alphaModFix/>
          </a:blip>
          <a:srcRect b="0" l="0" r="0" t="0"/>
          <a:stretch/>
        </p:blipFill>
        <p:spPr>
          <a:xfrm>
            <a:off x="0" y="76200"/>
            <a:ext cx="8991600" cy="67818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309" name="Google Shape;309;p37"/>
          <p:cNvPicPr preferRelativeResize="0"/>
          <p:nvPr>
            <p:ph idx="1" type="body"/>
          </p:nvPr>
        </p:nvPicPr>
        <p:blipFill rotWithShape="1">
          <a:blip r:embed="rId3">
            <a:alphaModFix/>
          </a:blip>
          <a:srcRect b="0" l="0" r="0" t="0"/>
          <a:stretch/>
        </p:blipFill>
        <p:spPr>
          <a:xfrm>
            <a:off x="304801" y="152400"/>
            <a:ext cx="8686800" cy="64770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315" name="Google Shape;315;p38"/>
          <p:cNvPicPr preferRelativeResize="0"/>
          <p:nvPr>
            <p:ph idx="1" type="body"/>
          </p:nvPr>
        </p:nvPicPr>
        <p:blipFill rotWithShape="1">
          <a:blip r:embed="rId3">
            <a:alphaModFix/>
          </a:blip>
          <a:srcRect b="0" l="0" r="0" t="0"/>
          <a:stretch/>
        </p:blipFill>
        <p:spPr>
          <a:xfrm>
            <a:off x="76201" y="228600"/>
            <a:ext cx="8839200" cy="64770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sp>
        <p:nvSpPr>
          <p:cNvPr id="321" name="Google Shape;321;p3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38100" lvl="0" marL="171450" rtl="0" algn="l">
              <a:lnSpc>
                <a:spcPct val="90000"/>
              </a:lnSpc>
              <a:spcBef>
                <a:spcPts val="0"/>
              </a:spcBef>
              <a:spcAft>
                <a:spcPts val="0"/>
              </a:spcAft>
              <a:buClr>
                <a:schemeClr val="dk1"/>
              </a:buClr>
              <a:buSzPts val="2100"/>
              <a:buNone/>
            </a:pPr>
            <a:r>
              <a:t/>
            </a:r>
            <a:endParaRPr/>
          </a:p>
        </p:txBody>
      </p:sp>
      <p:pic>
        <p:nvPicPr>
          <p:cNvPr id="322" name="Google Shape;322;p39"/>
          <p:cNvPicPr preferRelativeResize="0"/>
          <p:nvPr/>
        </p:nvPicPr>
        <p:blipFill rotWithShape="1">
          <a:blip r:embed="rId3">
            <a:alphaModFix/>
          </a:blip>
          <a:srcRect b="0" l="0" r="0" t="0"/>
          <a:stretch/>
        </p:blipFill>
        <p:spPr>
          <a:xfrm>
            <a:off x="0" y="0"/>
            <a:ext cx="9143999" cy="70104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n-US" sz="4000"/>
              <a:t>Mapping </a:t>
            </a:r>
            <a:endParaRPr b="1" sz="4000"/>
          </a:p>
        </p:txBody>
      </p:sp>
      <p:sp>
        <p:nvSpPr>
          <p:cNvPr id="328" name="Google Shape;328;p4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7800" lvl="0" marL="171450" rtl="0" algn="l">
              <a:lnSpc>
                <a:spcPct val="90000"/>
              </a:lnSpc>
              <a:spcBef>
                <a:spcPts val="0"/>
              </a:spcBef>
              <a:spcAft>
                <a:spcPts val="0"/>
              </a:spcAft>
              <a:buClr>
                <a:schemeClr val="dk1"/>
              </a:buClr>
              <a:buSzPts val="2800"/>
              <a:buChar char="•"/>
            </a:pPr>
            <a:r>
              <a:rPr lang="en-US" sz="2800"/>
              <a:t>Because there are fewer cache lines than main memory blocks, an algorithm is needed for mapping main memory blocks into cache lines. </a:t>
            </a:r>
            <a:endParaRPr sz="2800"/>
          </a:p>
          <a:p>
            <a:pPr indent="-177800" lvl="0" marL="171450" rtl="0" algn="l">
              <a:lnSpc>
                <a:spcPct val="90000"/>
              </a:lnSpc>
              <a:spcBef>
                <a:spcPts val="750"/>
              </a:spcBef>
              <a:spcAft>
                <a:spcPts val="0"/>
              </a:spcAft>
              <a:buClr>
                <a:schemeClr val="dk1"/>
              </a:buClr>
              <a:buSzPts val="2800"/>
              <a:buChar char="•"/>
            </a:pPr>
            <a:r>
              <a:rPr lang="en-US" sz="2800"/>
              <a:t>Also, a means is needed for determining which main memory block currently occupies a cache line.</a:t>
            </a:r>
            <a:endParaRPr/>
          </a:p>
          <a:p>
            <a:pPr indent="-177800" lvl="0" marL="171450" rtl="0" algn="l">
              <a:lnSpc>
                <a:spcPct val="90000"/>
              </a:lnSpc>
              <a:spcBef>
                <a:spcPts val="750"/>
              </a:spcBef>
              <a:spcAft>
                <a:spcPts val="0"/>
              </a:spcAft>
              <a:buClr>
                <a:schemeClr val="dk1"/>
              </a:buClr>
              <a:buSzPts val="2800"/>
              <a:buChar char="•"/>
            </a:pPr>
            <a:r>
              <a:rPr lang="en-US" sz="2800"/>
              <a:t>The choice of the mapping function decides how the cache is organized.</a:t>
            </a:r>
            <a:endParaRPr/>
          </a:p>
          <a:p>
            <a:pPr indent="-177800" lvl="0" marL="171450" rtl="0" algn="l">
              <a:lnSpc>
                <a:spcPct val="90000"/>
              </a:lnSpc>
              <a:spcBef>
                <a:spcPts val="750"/>
              </a:spcBef>
              <a:spcAft>
                <a:spcPts val="0"/>
              </a:spcAft>
              <a:buClr>
                <a:schemeClr val="dk1"/>
              </a:buClr>
              <a:buSzPts val="2800"/>
              <a:buChar char="•"/>
            </a:pPr>
            <a:r>
              <a:rPr lang="en-US" sz="2800"/>
              <a:t>Three techniques can be used: direct, associative, and set associative</a:t>
            </a:r>
            <a:r>
              <a:rPr lang="en-US"/>
              <a: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334" name="Google Shape;334;p41"/>
          <p:cNvPicPr preferRelativeResize="0"/>
          <p:nvPr>
            <p:ph idx="1" type="body"/>
          </p:nvPr>
        </p:nvPicPr>
        <p:blipFill rotWithShape="1">
          <a:blip r:embed="rId3">
            <a:alphaModFix/>
          </a:blip>
          <a:srcRect b="0" l="0" r="0" t="0"/>
          <a:stretch/>
        </p:blipFill>
        <p:spPr>
          <a:xfrm>
            <a:off x="76200" y="152400"/>
            <a:ext cx="8915399" cy="6477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2"/>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sp>
        <p:nvSpPr>
          <p:cNvPr id="340" name="Google Shape;340;p4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7800" lvl="0" marL="171450" rtl="0" algn="l">
              <a:lnSpc>
                <a:spcPct val="90000"/>
              </a:lnSpc>
              <a:spcBef>
                <a:spcPts val="0"/>
              </a:spcBef>
              <a:spcAft>
                <a:spcPts val="0"/>
              </a:spcAft>
              <a:buClr>
                <a:schemeClr val="dk1"/>
              </a:buClr>
              <a:buSzPts val="2800"/>
              <a:buChar char="•"/>
            </a:pPr>
            <a:r>
              <a:rPr b="1" lang="en-US" sz="2800"/>
              <a:t>Direct Mapping: </a:t>
            </a:r>
            <a:r>
              <a:rPr lang="en-US" sz="2800"/>
              <a:t>Each block from main memory has only one possible place in the cache organization in this technique. </a:t>
            </a:r>
            <a:endParaRPr sz="2800"/>
          </a:p>
          <a:p>
            <a:pPr indent="0" lvl="0" marL="171450" rtl="0" algn="l">
              <a:lnSpc>
                <a:spcPct val="90000"/>
              </a:lnSpc>
              <a:spcBef>
                <a:spcPts val="750"/>
              </a:spcBef>
              <a:spcAft>
                <a:spcPts val="0"/>
              </a:spcAft>
              <a:buClr>
                <a:schemeClr val="dk1"/>
              </a:buClr>
              <a:buSzPts val="2800"/>
              <a:buNone/>
            </a:pPr>
            <a:r>
              <a:t/>
            </a:r>
            <a:endParaRPr sz="2800"/>
          </a:p>
          <a:p>
            <a:pPr indent="-177800" lvl="0" marL="171450" rtl="0" algn="l">
              <a:lnSpc>
                <a:spcPct val="90000"/>
              </a:lnSpc>
              <a:spcBef>
                <a:spcPts val="750"/>
              </a:spcBef>
              <a:spcAft>
                <a:spcPts val="0"/>
              </a:spcAft>
              <a:buClr>
                <a:schemeClr val="dk1"/>
              </a:buClr>
              <a:buSzPts val="2800"/>
              <a:buChar char="•"/>
            </a:pPr>
            <a:r>
              <a:rPr lang="en-US" sz="2800"/>
              <a:t>As in the diagram shown,  one block of Main memory to one particular block(line) of cache.</a:t>
            </a:r>
            <a:endParaRPr sz="2800"/>
          </a:p>
        </p:txBody>
      </p:sp>
      <p:pic>
        <p:nvPicPr>
          <p:cNvPr id="341" name="Google Shape;341;p42"/>
          <p:cNvPicPr preferRelativeResize="0"/>
          <p:nvPr/>
        </p:nvPicPr>
        <p:blipFill rotWithShape="1">
          <a:blip r:embed="rId3">
            <a:alphaModFix/>
          </a:blip>
          <a:srcRect b="0" l="0" r="0" t="0"/>
          <a:stretch/>
        </p:blipFill>
        <p:spPr>
          <a:xfrm>
            <a:off x="838200" y="76200"/>
            <a:ext cx="7391400" cy="14478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347" name="Google Shape;347;p43"/>
          <p:cNvPicPr preferRelativeResize="0"/>
          <p:nvPr>
            <p:ph idx="1" type="body"/>
          </p:nvPr>
        </p:nvPicPr>
        <p:blipFill rotWithShape="1">
          <a:blip r:embed="rId3">
            <a:alphaModFix/>
          </a:blip>
          <a:srcRect b="0" l="0" r="0" t="0"/>
          <a:stretch/>
        </p:blipFill>
        <p:spPr>
          <a:xfrm>
            <a:off x="76200" y="0"/>
            <a:ext cx="9067800" cy="68580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353" name="Google Shape;353;p44"/>
          <p:cNvPicPr preferRelativeResize="0"/>
          <p:nvPr>
            <p:ph idx="1" type="body"/>
          </p:nvPr>
        </p:nvPicPr>
        <p:blipFill rotWithShape="1">
          <a:blip r:embed="rId3">
            <a:alphaModFix/>
          </a:blip>
          <a:srcRect b="0" l="0" r="0" t="0"/>
          <a:stretch/>
        </p:blipFill>
        <p:spPr>
          <a:xfrm>
            <a:off x="-76200" y="0"/>
            <a:ext cx="9220200" cy="68580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Explaining with Example</a:t>
            </a:r>
            <a:endParaRPr/>
          </a:p>
        </p:txBody>
      </p:sp>
      <p:sp>
        <p:nvSpPr>
          <p:cNvPr id="359" name="Google Shape;359;p4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b="1" lang="en-US"/>
              <a:t>Consider an MM of 64 bits , block size=4 words</a:t>
            </a:r>
            <a:endParaRPr/>
          </a:p>
          <a:p>
            <a:pPr indent="-171450" lvl="0" marL="171450" rtl="0" algn="l">
              <a:lnSpc>
                <a:spcPct val="90000"/>
              </a:lnSpc>
              <a:spcBef>
                <a:spcPts val="750"/>
              </a:spcBef>
              <a:spcAft>
                <a:spcPts val="0"/>
              </a:spcAft>
              <a:buClr>
                <a:schemeClr val="dk1"/>
              </a:buClr>
              <a:buSzPts val="2100"/>
              <a:buChar char="•"/>
            </a:pPr>
            <a:r>
              <a:rPr b="1" lang="en-US"/>
              <a:t>No : of blocks in MM=64/4=16</a:t>
            </a:r>
            <a:endParaRPr/>
          </a:p>
          <a:p>
            <a:pPr indent="-38100" lvl="0" marL="171450" rtl="0" algn="l">
              <a:lnSpc>
                <a:spcPct val="90000"/>
              </a:lnSpc>
              <a:spcBef>
                <a:spcPts val="750"/>
              </a:spcBef>
              <a:spcAft>
                <a:spcPts val="0"/>
              </a:spcAft>
              <a:buClr>
                <a:schemeClr val="dk1"/>
              </a:buClr>
              <a:buSzPts val="2100"/>
              <a:buNone/>
            </a:pPr>
            <a:r>
              <a:t/>
            </a:r>
            <a:endParaRPr b="1"/>
          </a:p>
          <a:p>
            <a:pPr indent="-171450" lvl="0" marL="171450" rtl="0" algn="l">
              <a:lnSpc>
                <a:spcPct val="90000"/>
              </a:lnSpc>
              <a:spcBef>
                <a:spcPts val="750"/>
              </a:spcBef>
              <a:spcAft>
                <a:spcPts val="0"/>
              </a:spcAft>
              <a:buClr>
                <a:schemeClr val="dk1"/>
              </a:buClr>
              <a:buSzPts val="2100"/>
              <a:buChar char="•"/>
            </a:pPr>
            <a:r>
              <a:rPr b="1" lang="en-US"/>
              <a:t>Cache =16 words</a:t>
            </a:r>
            <a:endParaRPr/>
          </a:p>
          <a:p>
            <a:pPr indent="-171450" lvl="0" marL="171450" rtl="0" algn="l">
              <a:lnSpc>
                <a:spcPct val="90000"/>
              </a:lnSpc>
              <a:spcBef>
                <a:spcPts val="750"/>
              </a:spcBef>
              <a:spcAft>
                <a:spcPts val="0"/>
              </a:spcAft>
              <a:buClr>
                <a:schemeClr val="dk1"/>
              </a:buClr>
              <a:buSzPts val="2100"/>
              <a:buChar char="•"/>
            </a:pPr>
            <a:r>
              <a:rPr b="1" lang="en-US"/>
              <a:t>Block size=4 words</a:t>
            </a:r>
            <a:r>
              <a:rPr lang="en-US"/>
              <a:t>.</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6"/>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365" name="Google Shape;365;p46"/>
          <p:cNvPicPr preferRelativeResize="0"/>
          <p:nvPr>
            <p:ph idx="1" type="body"/>
          </p:nvPr>
        </p:nvPicPr>
        <p:blipFill rotWithShape="1">
          <a:blip r:embed="rId3">
            <a:alphaModFix/>
          </a:blip>
          <a:srcRect b="0" l="0" r="0" t="0"/>
          <a:stretch/>
        </p:blipFill>
        <p:spPr>
          <a:xfrm>
            <a:off x="685801" y="152400"/>
            <a:ext cx="7848600" cy="65532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7"/>
          <p:cNvSpPr txBox="1"/>
          <p:nvPr>
            <p:ph type="title"/>
          </p:nvPr>
        </p:nvSpPr>
        <p:spPr>
          <a:xfrm>
            <a:off x="381000" y="457201"/>
            <a:ext cx="7886700" cy="990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371" name="Google Shape;371;p47"/>
          <p:cNvPicPr preferRelativeResize="0"/>
          <p:nvPr>
            <p:ph idx="1" type="body"/>
          </p:nvPr>
        </p:nvPicPr>
        <p:blipFill rotWithShape="1">
          <a:blip r:embed="rId3">
            <a:alphaModFix/>
          </a:blip>
          <a:srcRect b="0" l="0" r="0" t="0"/>
          <a:stretch/>
        </p:blipFill>
        <p:spPr>
          <a:xfrm>
            <a:off x="628650" y="1447800"/>
            <a:ext cx="7886700" cy="510539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377" name="Google Shape;377;p48"/>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383" name="Google Shape;383;p49"/>
          <p:cNvPicPr preferRelativeResize="0"/>
          <p:nvPr>
            <p:ph idx="1" type="body"/>
          </p:nvPr>
        </p:nvPicPr>
        <p:blipFill rotWithShape="1">
          <a:blip r:embed="rId3">
            <a:alphaModFix/>
          </a:blip>
          <a:srcRect b="0" l="0" r="0" t="0"/>
          <a:stretch/>
        </p:blipFill>
        <p:spPr>
          <a:xfrm>
            <a:off x="0" y="0"/>
            <a:ext cx="9220200" cy="68580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389" name="Google Shape;389;p50"/>
          <p:cNvPicPr preferRelativeResize="0"/>
          <p:nvPr>
            <p:ph idx="1" type="body"/>
          </p:nvPr>
        </p:nvPicPr>
        <p:blipFill rotWithShape="1">
          <a:blip r:embed="rId3">
            <a:alphaModFix/>
          </a:blip>
          <a:srcRect b="0" l="0" r="0" t="0"/>
          <a:stretch/>
        </p:blipFill>
        <p:spPr>
          <a:xfrm>
            <a:off x="0" y="0"/>
            <a:ext cx="9220199" cy="68580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395" name="Google Shape;395;p51"/>
          <p:cNvPicPr preferRelativeResize="0"/>
          <p:nvPr>
            <p:ph idx="1" type="body"/>
          </p:nvPr>
        </p:nvPicPr>
        <p:blipFill rotWithShape="1">
          <a:blip r:embed="rId3">
            <a:alphaModFix/>
          </a:blip>
          <a:srcRect b="0" l="0" r="0" t="0"/>
          <a:stretch/>
        </p:blipFill>
        <p:spPr>
          <a:xfrm>
            <a:off x="228600" y="0"/>
            <a:ext cx="8763000" cy="6256338"/>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52"/>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401" name="Google Shape;401;p52"/>
          <p:cNvPicPr preferRelativeResize="0"/>
          <p:nvPr>
            <p:ph idx="1" type="body"/>
          </p:nvPr>
        </p:nvPicPr>
        <p:blipFill rotWithShape="1">
          <a:blip r:embed="rId3">
            <a:alphaModFix/>
          </a:blip>
          <a:srcRect b="0" l="0" r="0" t="0"/>
          <a:stretch/>
        </p:blipFill>
        <p:spPr>
          <a:xfrm>
            <a:off x="0" y="0"/>
            <a:ext cx="9067800" cy="68580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407" name="Google Shape;407;p53"/>
          <p:cNvPicPr preferRelativeResize="0"/>
          <p:nvPr>
            <p:ph idx="1" type="body"/>
          </p:nvPr>
        </p:nvPicPr>
        <p:blipFill rotWithShape="1">
          <a:blip r:embed="rId3">
            <a:alphaModFix/>
          </a:blip>
          <a:srcRect b="0" l="0" r="0" t="0"/>
          <a:stretch/>
        </p:blipFill>
        <p:spPr>
          <a:xfrm>
            <a:off x="0" y="76200"/>
            <a:ext cx="9143999" cy="67818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413" name="Google Shape;413;p54"/>
          <p:cNvPicPr preferRelativeResize="0"/>
          <p:nvPr>
            <p:ph idx="1" type="body"/>
          </p:nvPr>
        </p:nvPicPr>
        <p:blipFill rotWithShape="1">
          <a:blip r:embed="rId3">
            <a:alphaModFix/>
          </a:blip>
          <a:srcRect b="0" l="0" r="0" t="0"/>
          <a:stretch/>
        </p:blipFill>
        <p:spPr>
          <a:xfrm>
            <a:off x="0" y="0"/>
            <a:ext cx="9143999" cy="6176963"/>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419" name="Google Shape;419;p55"/>
          <p:cNvPicPr preferRelativeResize="0"/>
          <p:nvPr>
            <p:ph idx="1" type="body"/>
          </p:nvPr>
        </p:nvPicPr>
        <p:blipFill rotWithShape="1">
          <a:blip r:embed="rId3">
            <a:alphaModFix/>
          </a:blip>
          <a:srcRect b="0" l="0" r="0" t="0"/>
          <a:stretch/>
        </p:blipFill>
        <p:spPr>
          <a:xfrm>
            <a:off x="0" y="0"/>
            <a:ext cx="9144000" cy="67818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6"/>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425" name="Google Shape;425;p56"/>
          <p:cNvPicPr preferRelativeResize="0"/>
          <p:nvPr>
            <p:ph idx="1" type="body"/>
          </p:nvPr>
        </p:nvPicPr>
        <p:blipFill rotWithShape="1">
          <a:blip r:embed="rId3">
            <a:alphaModFix/>
          </a:blip>
          <a:srcRect b="0" l="0" r="0" t="0"/>
          <a:stretch/>
        </p:blipFill>
        <p:spPr>
          <a:xfrm>
            <a:off x="1" y="0"/>
            <a:ext cx="8915400" cy="68580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431" name="Google Shape;431;p57"/>
          <p:cNvPicPr preferRelativeResize="0"/>
          <p:nvPr>
            <p:ph idx="1" type="body"/>
          </p:nvPr>
        </p:nvPicPr>
        <p:blipFill rotWithShape="1">
          <a:blip r:embed="rId3">
            <a:alphaModFix/>
          </a:blip>
          <a:srcRect b="0" l="0" r="0" t="0"/>
          <a:stretch/>
        </p:blipFill>
        <p:spPr>
          <a:xfrm>
            <a:off x="0" y="152400"/>
            <a:ext cx="9144000" cy="6024563"/>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u="sng"/>
              <a:t>Direct mapping</a:t>
            </a:r>
            <a:endParaRPr b="1" u="sng"/>
          </a:p>
        </p:txBody>
      </p:sp>
      <p:sp>
        <p:nvSpPr>
          <p:cNvPr id="437" name="Google Shape;437;p5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The direct mapping technique is simple and inexpensive to implement.</a:t>
            </a:r>
            <a:endParaRPr/>
          </a:p>
          <a:p>
            <a:pPr indent="-171450" lvl="0" marL="171450" rtl="0" algn="l">
              <a:lnSpc>
                <a:spcPct val="90000"/>
              </a:lnSpc>
              <a:spcBef>
                <a:spcPts val="750"/>
              </a:spcBef>
              <a:spcAft>
                <a:spcPts val="0"/>
              </a:spcAft>
              <a:buClr>
                <a:schemeClr val="dk1"/>
              </a:buClr>
              <a:buSzPts val="2100"/>
              <a:buChar char="•"/>
            </a:pPr>
            <a:r>
              <a:rPr lang="en-US"/>
              <a:t> Its main disadvantage is that there is a fixed cache location for any given block.</a:t>
            </a:r>
            <a:endParaRPr/>
          </a:p>
          <a:p>
            <a:pPr indent="-171450" lvl="0" marL="171450" rtl="0" algn="l">
              <a:lnSpc>
                <a:spcPct val="90000"/>
              </a:lnSpc>
              <a:spcBef>
                <a:spcPts val="750"/>
              </a:spcBef>
              <a:spcAft>
                <a:spcPts val="0"/>
              </a:spcAft>
              <a:buClr>
                <a:schemeClr val="dk1"/>
              </a:buClr>
              <a:buSzPts val="2100"/>
              <a:buChar char="•"/>
            </a:pPr>
            <a:r>
              <a:rPr lang="en-US"/>
              <a:t>Thus, if a program happens to reference words repeatedly from two different blocks that map into the same line, then the blocks will be continually swapped in the cache, and the hit ratio will be low (a phenomenon known as </a:t>
            </a:r>
            <a:r>
              <a:rPr i="1" lang="en-US"/>
              <a:t>thrashing</a:t>
            </a:r>
            <a:r>
              <a:rPr lang="en-US"/>
              <a:t>).</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443" name="Google Shape;443;p59"/>
          <p:cNvPicPr preferRelativeResize="0"/>
          <p:nvPr>
            <p:ph idx="1" type="body"/>
          </p:nvPr>
        </p:nvPicPr>
        <p:blipFill rotWithShape="1">
          <a:blip r:embed="rId3">
            <a:alphaModFix/>
          </a:blip>
          <a:srcRect b="0" l="0" r="0" t="0"/>
          <a:stretch/>
        </p:blipFill>
        <p:spPr>
          <a:xfrm>
            <a:off x="76200" y="0"/>
            <a:ext cx="9144001" cy="67056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449" name="Google Shape;449;p60"/>
          <p:cNvPicPr preferRelativeResize="0"/>
          <p:nvPr>
            <p:ph idx="1" type="body"/>
          </p:nvPr>
        </p:nvPicPr>
        <p:blipFill rotWithShape="1">
          <a:blip r:embed="rId3">
            <a:alphaModFix/>
          </a:blip>
          <a:srcRect b="0" l="0" r="0" t="0"/>
          <a:stretch/>
        </p:blipFill>
        <p:spPr>
          <a:xfrm>
            <a:off x="1" y="0"/>
            <a:ext cx="9067800" cy="68580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455" name="Google Shape;455;p61"/>
          <p:cNvPicPr preferRelativeResize="0"/>
          <p:nvPr>
            <p:ph idx="1" type="body"/>
          </p:nvPr>
        </p:nvPicPr>
        <p:blipFill rotWithShape="1">
          <a:blip r:embed="rId3">
            <a:alphaModFix/>
          </a:blip>
          <a:srcRect b="0" l="0" r="0" t="0"/>
          <a:stretch/>
        </p:blipFill>
        <p:spPr>
          <a:xfrm>
            <a:off x="304800" y="152400"/>
            <a:ext cx="8610600" cy="66294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2"/>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461" name="Google Shape;461;p62"/>
          <p:cNvPicPr preferRelativeResize="0"/>
          <p:nvPr>
            <p:ph idx="1" type="body"/>
          </p:nvPr>
        </p:nvPicPr>
        <p:blipFill rotWithShape="1">
          <a:blip r:embed="rId3">
            <a:alphaModFix/>
          </a:blip>
          <a:srcRect b="0" l="0" r="0" t="0"/>
          <a:stretch/>
        </p:blipFill>
        <p:spPr>
          <a:xfrm>
            <a:off x="0" y="0"/>
            <a:ext cx="8991600" cy="68580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6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467" name="Google Shape;467;p63"/>
          <p:cNvPicPr preferRelativeResize="0"/>
          <p:nvPr>
            <p:ph idx="1" type="body"/>
          </p:nvPr>
        </p:nvPicPr>
        <p:blipFill rotWithShape="1">
          <a:blip r:embed="rId3">
            <a:alphaModFix/>
          </a:blip>
          <a:srcRect b="0" l="0" r="0" t="0"/>
          <a:stretch/>
        </p:blipFill>
        <p:spPr>
          <a:xfrm>
            <a:off x="0" y="76200"/>
            <a:ext cx="8991600" cy="67056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473" name="Google Shape;473;p64"/>
          <p:cNvPicPr preferRelativeResize="0"/>
          <p:nvPr>
            <p:ph idx="1" type="body"/>
          </p:nvPr>
        </p:nvPicPr>
        <p:blipFill rotWithShape="1">
          <a:blip r:embed="rId3">
            <a:alphaModFix/>
          </a:blip>
          <a:srcRect b="0" l="0" r="0" t="0"/>
          <a:stretch/>
        </p:blipFill>
        <p:spPr>
          <a:xfrm>
            <a:off x="0" y="0"/>
            <a:ext cx="9144000" cy="67818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6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a:t>Replacement Algorithms</a:t>
            </a:r>
            <a:endParaRPr/>
          </a:p>
        </p:txBody>
      </p:sp>
      <p:sp>
        <p:nvSpPr>
          <p:cNvPr id="479" name="Google Shape;479;p65"/>
          <p:cNvSpPr txBox="1"/>
          <p:nvPr>
            <p:ph idx="1" type="body"/>
          </p:nvPr>
        </p:nvSpPr>
        <p:spPr>
          <a:xfrm>
            <a:off x="628650" y="1447800"/>
            <a:ext cx="7886700" cy="4729163"/>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rgbClr val="FF0000"/>
              </a:buClr>
              <a:buSzPts val="2100"/>
              <a:buChar char="•"/>
            </a:pPr>
            <a:r>
              <a:rPr b="1" lang="en-US">
                <a:solidFill>
                  <a:srgbClr val="FF0000"/>
                </a:solidFill>
              </a:rPr>
              <a:t>Once the cache has been filled, when a new block is brought into the cache, one of the existing blocks must be replaced.</a:t>
            </a:r>
            <a:endParaRPr/>
          </a:p>
          <a:p>
            <a:pPr indent="-177800" lvl="0" marL="171450" rtl="0" algn="l">
              <a:lnSpc>
                <a:spcPct val="90000"/>
              </a:lnSpc>
              <a:spcBef>
                <a:spcPts val="750"/>
              </a:spcBef>
              <a:spcAft>
                <a:spcPts val="0"/>
              </a:spcAft>
              <a:buClr>
                <a:schemeClr val="dk1"/>
              </a:buClr>
              <a:buSzPts val="2800"/>
              <a:buChar char="•"/>
            </a:pPr>
            <a:r>
              <a:rPr lang="en-US" sz="2800"/>
              <a:t>-Four of the most common-</a:t>
            </a:r>
            <a:endParaRPr/>
          </a:p>
          <a:p>
            <a:pPr indent="-177800" lvl="0" marL="171450" rtl="0" algn="l">
              <a:lnSpc>
                <a:spcPct val="90000"/>
              </a:lnSpc>
              <a:spcBef>
                <a:spcPts val="750"/>
              </a:spcBef>
              <a:spcAft>
                <a:spcPts val="0"/>
              </a:spcAft>
              <a:buClr>
                <a:schemeClr val="dk1"/>
              </a:buClr>
              <a:buSzPts val="2800"/>
              <a:buChar char="•"/>
            </a:pPr>
            <a:r>
              <a:rPr lang="en-US" sz="2800"/>
              <a:t>Least recently used (LRU)</a:t>
            </a:r>
            <a:endParaRPr/>
          </a:p>
          <a:p>
            <a:pPr indent="-177800" lvl="0" marL="171450" rtl="0" algn="l">
              <a:lnSpc>
                <a:spcPct val="90000"/>
              </a:lnSpc>
              <a:spcBef>
                <a:spcPts val="750"/>
              </a:spcBef>
              <a:spcAft>
                <a:spcPts val="0"/>
              </a:spcAft>
              <a:buClr>
                <a:schemeClr val="dk1"/>
              </a:buClr>
              <a:buSzPts val="2800"/>
              <a:buChar char="•"/>
            </a:pPr>
            <a:r>
              <a:rPr lang="en-US" sz="2800"/>
              <a:t>First-in-first-out (FIFO)</a:t>
            </a:r>
            <a:endParaRPr/>
          </a:p>
          <a:p>
            <a:pPr indent="-177800" lvl="0" marL="171450" rtl="0" algn="l">
              <a:lnSpc>
                <a:spcPct val="90000"/>
              </a:lnSpc>
              <a:spcBef>
                <a:spcPts val="750"/>
              </a:spcBef>
              <a:spcAft>
                <a:spcPts val="0"/>
              </a:spcAft>
              <a:buClr>
                <a:schemeClr val="dk1"/>
              </a:buClr>
              <a:buSzPts val="2800"/>
              <a:buChar char="•"/>
            </a:pPr>
            <a:r>
              <a:rPr lang="en-US" sz="2800"/>
              <a:t>Least frequently used (LFU)</a:t>
            </a:r>
            <a:endParaRPr sz="280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6"/>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a:t>Write Policy</a:t>
            </a:r>
            <a:endParaRPr/>
          </a:p>
        </p:txBody>
      </p:sp>
      <p:sp>
        <p:nvSpPr>
          <p:cNvPr id="485" name="Google Shape;485;p6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7800" lvl="0" marL="171450" rtl="0" algn="l">
              <a:lnSpc>
                <a:spcPct val="90000"/>
              </a:lnSpc>
              <a:spcBef>
                <a:spcPts val="0"/>
              </a:spcBef>
              <a:spcAft>
                <a:spcPts val="0"/>
              </a:spcAft>
              <a:buClr>
                <a:schemeClr val="dk1"/>
              </a:buClr>
              <a:buSzPts val="2800"/>
              <a:buChar char="•"/>
            </a:pPr>
            <a:r>
              <a:rPr lang="en-US" sz="2800"/>
              <a:t>When a block that is resident in the cache is to be replaced, there are two cases to consider. </a:t>
            </a:r>
            <a:endParaRPr sz="2800"/>
          </a:p>
          <a:p>
            <a:pPr indent="0" lvl="0" marL="0" rtl="0" algn="l">
              <a:lnSpc>
                <a:spcPct val="90000"/>
              </a:lnSpc>
              <a:spcBef>
                <a:spcPts val="750"/>
              </a:spcBef>
              <a:spcAft>
                <a:spcPts val="0"/>
              </a:spcAft>
              <a:buClr>
                <a:schemeClr val="dk1"/>
              </a:buClr>
              <a:buSzPts val="2100"/>
              <a:buNone/>
            </a:pPr>
            <a:r>
              <a:t/>
            </a:r>
            <a:endParaRPr/>
          </a:p>
          <a:p>
            <a:pPr indent="0" lvl="0" marL="0" rtl="0" algn="l">
              <a:lnSpc>
                <a:spcPct val="90000"/>
              </a:lnSpc>
              <a:spcBef>
                <a:spcPts val="750"/>
              </a:spcBef>
              <a:spcAft>
                <a:spcPts val="0"/>
              </a:spcAft>
              <a:buClr>
                <a:srgbClr val="FF0000"/>
              </a:buClr>
              <a:buSzPts val="2400"/>
              <a:buNone/>
            </a:pPr>
            <a:r>
              <a:rPr lang="en-US" sz="2400">
                <a:solidFill>
                  <a:srgbClr val="FF0000"/>
                </a:solidFill>
              </a:rPr>
              <a:t>-Old block in the cache has not been altered.</a:t>
            </a:r>
            <a:endParaRPr/>
          </a:p>
          <a:p>
            <a:pPr indent="0" lvl="0" marL="0" rtl="0" algn="l">
              <a:lnSpc>
                <a:spcPct val="90000"/>
              </a:lnSpc>
              <a:spcBef>
                <a:spcPts val="750"/>
              </a:spcBef>
              <a:spcAft>
                <a:spcPts val="0"/>
              </a:spcAft>
              <a:buClr>
                <a:schemeClr val="dk1"/>
              </a:buClr>
              <a:buSzPts val="2400"/>
              <a:buNone/>
            </a:pPr>
            <a:r>
              <a:rPr lang="en-US" sz="2400"/>
              <a:t>     -overwritten without first writing out the old block-</a:t>
            </a:r>
            <a:endParaRPr sz="2400"/>
          </a:p>
          <a:p>
            <a:pPr indent="0" lvl="0" marL="0" rtl="0" algn="l">
              <a:lnSpc>
                <a:spcPct val="90000"/>
              </a:lnSpc>
              <a:spcBef>
                <a:spcPts val="750"/>
              </a:spcBef>
              <a:spcAft>
                <a:spcPts val="0"/>
              </a:spcAft>
              <a:buClr>
                <a:schemeClr val="dk1"/>
              </a:buClr>
              <a:buSzPts val="2400"/>
              <a:buNone/>
            </a:pPr>
            <a:r>
              <a:rPr lang="en-US" sz="2400"/>
              <a:t>  </a:t>
            </a:r>
            <a:endParaRPr/>
          </a:p>
          <a:p>
            <a:pPr indent="0" lvl="0" marL="0" rtl="0" algn="l">
              <a:lnSpc>
                <a:spcPct val="90000"/>
              </a:lnSpc>
              <a:spcBef>
                <a:spcPts val="750"/>
              </a:spcBef>
              <a:spcAft>
                <a:spcPts val="0"/>
              </a:spcAft>
              <a:buClr>
                <a:schemeClr val="dk1"/>
              </a:buClr>
              <a:buSzPts val="2400"/>
              <a:buNone/>
            </a:pPr>
            <a:r>
              <a:rPr lang="en-US" sz="2400"/>
              <a:t>-</a:t>
            </a:r>
            <a:r>
              <a:rPr lang="en-US" sz="2400">
                <a:solidFill>
                  <a:srgbClr val="FF0000"/>
                </a:solidFill>
              </a:rPr>
              <a:t>One write operation has been performed.</a:t>
            </a:r>
            <a:endParaRPr/>
          </a:p>
          <a:p>
            <a:pPr indent="0" lvl="0" marL="0" rtl="0" algn="l">
              <a:lnSpc>
                <a:spcPct val="90000"/>
              </a:lnSpc>
              <a:spcBef>
                <a:spcPts val="750"/>
              </a:spcBef>
              <a:spcAft>
                <a:spcPts val="0"/>
              </a:spcAft>
              <a:buClr>
                <a:schemeClr val="dk1"/>
              </a:buClr>
              <a:buSzPts val="2400"/>
              <a:buNone/>
            </a:pPr>
            <a:r>
              <a:rPr lang="en-US" sz="2400"/>
              <a:t>      - main memory must be updated-</a:t>
            </a:r>
            <a:endParaRPr sz="240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6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a:t>Write Policy</a:t>
            </a:r>
            <a:endParaRPr/>
          </a:p>
        </p:txBody>
      </p:sp>
      <p:sp>
        <p:nvSpPr>
          <p:cNvPr id="491" name="Google Shape;491;p6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lnSpcReduction="10000"/>
          </a:bodyPr>
          <a:lstStyle/>
          <a:p>
            <a:pPr indent="-171450" lvl="0" marL="171450" rtl="0" algn="l">
              <a:lnSpc>
                <a:spcPct val="90000"/>
              </a:lnSpc>
              <a:spcBef>
                <a:spcPts val="0"/>
              </a:spcBef>
              <a:spcAft>
                <a:spcPts val="0"/>
              </a:spcAft>
              <a:buClr>
                <a:schemeClr val="dk1"/>
              </a:buClr>
              <a:buSzPts val="2100"/>
              <a:buChar char="•"/>
            </a:pPr>
            <a:r>
              <a:rPr b="1" lang="en-US"/>
              <a:t>A variety of write policies,  is possible</a:t>
            </a:r>
            <a:r>
              <a:rPr lang="en-US"/>
              <a:t>.</a:t>
            </a:r>
            <a:endParaRPr/>
          </a:p>
          <a:p>
            <a:pPr indent="-171450" lvl="0" marL="171450" rtl="0" algn="l">
              <a:lnSpc>
                <a:spcPct val="90000"/>
              </a:lnSpc>
              <a:spcBef>
                <a:spcPts val="750"/>
              </a:spcBef>
              <a:spcAft>
                <a:spcPts val="0"/>
              </a:spcAft>
              <a:buClr>
                <a:schemeClr val="dk1"/>
              </a:buClr>
              <a:buSzPts val="2100"/>
              <a:buChar char="•"/>
            </a:pPr>
            <a:r>
              <a:rPr lang="en-US"/>
              <a:t>-Simplest technique  called </a:t>
            </a:r>
            <a:r>
              <a:rPr b="1" lang="en-US">
                <a:solidFill>
                  <a:srgbClr val="FF0000"/>
                </a:solidFill>
              </a:rPr>
              <a:t>write through</a:t>
            </a:r>
            <a:r>
              <a:rPr b="1" lang="en-US"/>
              <a:t>-</a:t>
            </a:r>
            <a:endParaRPr/>
          </a:p>
          <a:p>
            <a:pPr indent="-171450" lvl="0" marL="171450" rtl="0" algn="l">
              <a:lnSpc>
                <a:spcPct val="90000"/>
              </a:lnSpc>
              <a:spcBef>
                <a:spcPts val="750"/>
              </a:spcBef>
              <a:spcAft>
                <a:spcPts val="0"/>
              </a:spcAft>
              <a:buClr>
                <a:schemeClr val="dk1"/>
              </a:buClr>
              <a:buSzPts val="2100"/>
              <a:buChar char="•"/>
            </a:pPr>
            <a:r>
              <a:rPr lang="en-US"/>
              <a:t>All write operations are made to main memory &amp; cache, ensuring Main Memory is always valid-</a:t>
            </a:r>
            <a:endParaRPr/>
          </a:p>
          <a:p>
            <a:pPr indent="0" lvl="0" marL="0" rtl="0" algn="l">
              <a:lnSpc>
                <a:spcPct val="90000"/>
              </a:lnSpc>
              <a:spcBef>
                <a:spcPts val="750"/>
              </a:spcBef>
              <a:spcAft>
                <a:spcPts val="0"/>
              </a:spcAft>
              <a:buClr>
                <a:srgbClr val="FF0000"/>
              </a:buClr>
              <a:buSzPts val="2100"/>
              <a:buNone/>
            </a:pPr>
            <a:r>
              <a:rPr lang="en-US">
                <a:solidFill>
                  <a:srgbClr val="FF0000"/>
                </a:solidFill>
              </a:rPr>
              <a:t>-Disadvantage-</a:t>
            </a:r>
            <a:endParaRPr>
              <a:solidFill>
                <a:srgbClr val="FF0000"/>
              </a:solidFill>
            </a:endParaRPr>
          </a:p>
          <a:p>
            <a:pPr indent="-171450" lvl="0" marL="171450" rtl="0" algn="l">
              <a:lnSpc>
                <a:spcPct val="90000"/>
              </a:lnSpc>
              <a:spcBef>
                <a:spcPts val="750"/>
              </a:spcBef>
              <a:spcAft>
                <a:spcPts val="0"/>
              </a:spcAft>
              <a:buClr>
                <a:schemeClr val="dk1"/>
              </a:buClr>
              <a:buSzPts val="2100"/>
              <a:buChar char="•"/>
            </a:pPr>
            <a:r>
              <a:rPr lang="en-US"/>
              <a:t>Generates substantial memory traffic.</a:t>
            </a:r>
            <a:endParaRPr/>
          </a:p>
          <a:p>
            <a:pPr indent="-171450" lvl="0" marL="171450" rtl="0" algn="l">
              <a:lnSpc>
                <a:spcPct val="90000"/>
              </a:lnSpc>
              <a:spcBef>
                <a:spcPts val="750"/>
              </a:spcBef>
              <a:spcAft>
                <a:spcPts val="0"/>
              </a:spcAft>
              <a:buClr>
                <a:schemeClr val="dk1"/>
              </a:buClr>
              <a:buSzPts val="2100"/>
              <a:buChar char="•"/>
            </a:pPr>
            <a:r>
              <a:rPr b="1" lang="en-US" u="sng"/>
              <a:t>Alternative method </a:t>
            </a:r>
            <a:r>
              <a:rPr b="1" lang="en-US"/>
              <a:t> -write back</a:t>
            </a:r>
            <a:endParaRPr/>
          </a:p>
          <a:p>
            <a:pPr indent="0" lvl="0" marL="0" rtl="0" algn="l">
              <a:lnSpc>
                <a:spcPct val="90000"/>
              </a:lnSpc>
              <a:spcBef>
                <a:spcPts val="750"/>
              </a:spcBef>
              <a:spcAft>
                <a:spcPts val="0"/>
              </a:spcAft>
              <a:buClr>
                <a:schemeClr val="dk1"/>
              </a:buClr>
              <a:buSzPts val="2100"/>
              <a:buNone/>
            </a:pPr>
            <a:r>
              <a:rPr b="1" lang="en-US" u="sng"/>
              <a:t>-</a:t>
            </a:r>
            <a:r>
              <a:rPr lang="en-US"/>
              <a:t>Minimizes memory writes.</a:t>
            </a:r>
            <a:endParaRPr/>
          </a:p>
          <a:p>
            <a:pPr indent="0" lvl="0" marL="0" rtl="0" algn="l">
              <a:lnSpc>
                <a:spcPct val="90000"/>
              </a:lnSpc>
              <a:spcBef>
                <a:spcPts val="750"/>
              </a:spcBef>
              <a:spcAft>
                <a:spcPts val="0"/>
              </a:spcAft>
              <a:buClr>
                <a:schemeClr val="dk1"/>
              </a:buClr>
              <a:buSzPts val="2100"/>
              <a:buNone/>
            </a:pPr>
            <a:r>
              <a:rPr lang="en-US"/>
              <a:t>-Updates are made only in the cache. </a:t>
            </a:r>
            <a:endParaRPr/>
          </a:p>
          <a:p>
            <a:pPr indent="0" lvl="0" marL="0" rtl="0" algn="l">
              <a:lnSpc>
                <a:spcPct val="90000"/>
              </a:lnSpc>
              <a:spcBef>
                <a:spcPts val="750"/>
              </a:spcBef>
              <a:spcAft>
                <a:spcPts val="0"/>
              </a:spcAft>
              <a:buClr>
                <a:schemeClr val="dk1"/>
              </a:buClr>
              <a:buSzPts val="2100"/>
              <a:buNone/>
            </a:pPr>
            <a:r>
              <a:rPr lang="en-US"/>
              <a:t>When an update occurs, a </a:t>
            </a:r>
            <a:r>
              <a:rPr b="1" lang="en-US"/>
              <a:t>dirty bit</a:t>
            </a:r>
            <a:r>
              <a:rPr lang="en-US"/>
              <a:t>, or </a:t>
            </a:r>
            <a:r>
              <a:rPr b="1" lang="en-US"/>
              <a:t>use bit</a:t>
            </a:r>
            <a:r>
              <a:rPr lang="en-US"/>
              <a:t>, associated with the line is set .Then, when a block is replaced, it is written back to main memory only if  dirty bit is set.</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497" name="Google Shape;497;p68"/>
          <p:cNvPicPr preferRelativeResize="0"/>
          <p:nvPr>
            <p:ph idx="1" type="body"/>
          </p:nvPr>
        </p:nvPicPr>
        <p:blipFill rotWithShape="1">
          <a:blip r:embed="rId3">
            <a:alphaModFix/>
          </a:blip>
          <a:srcRect b="0" l="0" r="0" t="0"/>
          <a:stretch/>
        </p:blipFill>
        <p:spPr>
          <a:xfrm>
            <a:off x="228600" y="0"/>
            <a:ext cx="8686800" cy="67056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503" name="Google Shape;503;p69"/>
          <p:cNvPicPr preferRelativeResize="0"/>
          <p:nvPr>
            <p:ph idx="1" type="body"/>
          </p:nvPr>
        </p:nvPicPr>
        <p:blipFill rotWithShape="1">
          <a:blip r:embed="rId3">
            <a:alphaModFix/>
          </a:blip>
          <a:srcRect b="0" l="0" r="0" t="0"/>
          <a:stretch/>
        </p:blipFill>
        <p:spPr>
          <a:xfrm>
            <a:off x="152400" y="152400"/>
            <a:ext cx="8915399" cy="65532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7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509" name="Google Shape;509;p70"/>
          <p:cNvPicPr preferRelativeResize="0"/>
          <p:nvPr>
            <p:ph idx="1" type="body"/>
          </p:nvPr>
        </p:nvPicPr>
        <p:blipFill rotWithShape="1">
          <a:blip r:embed="rId3">
            <a:alphaModFix/>
          </a:blip>
          <a:srcRect b="0" l="0" r="0" t="0"/>
          <a:stretch/>
        </p:blipFill>
        <p:spPr>
          <a:xfrm>
            <a:off x="0" y="-76200"/>
            <a:ext cx="9144000" cy="693420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7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515" name="Google Shape;515;p71"/>
          <p:cNvPicPr preferRelativeResize="0"/>
          <p:nvPr>
            <p:ph idx="1" type="body"/>
          </p:nvPr>
        </p:nvPicPr>
        <p:blipFill rotWithShape="1">
          <a:blip r:embed="rId3">
            <a:alphaModFix/>
          </a:blip>
          <a:srcRect b="0" l="0" r="0" t="0"/>
          <a:stretch/>
        </p:blipFill>
        <p:spPr>
          <a:xfrm>
            <a:off x="228600" y="76200"/>
            <a:ext cx="8763000" cy="670560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72"/>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u="sng"/>
              <a:t>Write policies &amp; cache coherence Approaches</a:t>
            </a:r>
            <a:endParaRPr b="1" u="sng"/>
          </a:p>
        </p:txBody>
      </p:sp>
      <p:sp>
        <p:nvSpPr>
          <p:cNvPr id="521" name="Google Shape;521;p7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b="1" lang="en-US"/>
              <a:t>Write back: </a:t>
            </a:r>
            <a:r>
              <a:rPr lang="en-US"/>
              <a:t>Write operations are usually made only to the cache. Main memory is only updated when the corresponding cache line is flushed from the cache.</a:t>
            </a:r>
            <a:endParaRPr/>
          </a:p>
          <a:p>
            <a:pPr indent="-171450" lvl="0" marL="171450" rtl="0" algn="l">
              <a:lnSpc>
                <a:spcPct val="90000"/>
              </a:lnSpc>
              <a:spcBef>
                <a:spcPts val="750"/>
              </a:spcBef>
              <a:spcAft>
                <a:spcPts val="0"/>
              </a:spcAft>
              <a:buClr>
                <a:schemeClr val="dk1"/>
              </a:buClr>
              <a:buSzPts val="2100"/>
              <a:buChar char="•"/>
            </a:pPr>
            <a:r>
              <a:rPr b="1" lang="en-US"/>
              <a:t>Write through: </a:t>
            </a:r>
            <a:r>
              <a:rPr lang="en-US"/>
              <a:t>All write operations are made to main memory as well as to the cache, ensuring that main memory is always valid.</a:t>
            </a:r>
            <a:endParaRPr/>
          </a:p>
          <a:p>
            <a:pPr indent="-203200" lvl="0" marL="171450" rtl="0" algn="l">
              <a:lnSpc>
                <a:spcPct val="90000"/>
              </a:lnSpc>
              <a:spcBef>
                <a:spcPts val="750"/>
              </a:spcBef>
              <a:spcAft>
                <a:spcPts val="0"/>
              </a:spcAft>
              <a:buClr>
                <a:srgbClr val="FF0000"/>
              </a:buClr>
              <a:buSzPts val="3200"/>
              <a:buChar char="•"/>
            </a:pPr>
            <a:r>
              <a:rPr b="1" lang="en-US" sz="3200">
                <a:solidFill>
                  <a:srgbClr val="FF0000"/>
                </a:solidFill>
              </a:rPr>
              <a:t>Cache coherence approaches </a:t>
            </a:r>
            <a:r>
              <a:rPr lang="en-US"/>
              <a:t>-</a:t>
            </a:r>
            <a:endParaRPr/>
          </a:p>
          <a:p>
            <a:pPr indent="-171450" lvl="0" marL="171450" rtl="0" algn="l">
              <a:lnSpc>
                <a:spcPct val="90000"/>
              </a:lnSpc>
              <a:spcBef>
                <a:spcPts val="750"/>
              </a:spcBef>
              <a:spcAft>
                <a:spcPts val="0"/>
              </a:spcAft>
              <a:buClr>
                <a:schemeClr val="dk1"/>
              </a:buClr>
              <a:buSzPts val="2100"/>
              <a:buFont typeface="Calibri"/>
              <a:buChar char="-"/>
            </a:pPr>
            <a:r>
              <a:rPr lang="en-US"/>
              <a:t>Divided into software and hardware approaches. </a:t>
            </a:r>
            <a:endParaRPr/>
          </a:p>
          <a:p>
            <a:pPr indent="-171450" lvl="0" marL="171450" rtl="0" algn="l">
              <a:lnSpc>
                <a:spcPct val="90000"/>
              </a:lnSpc>
              <a:spcBef>
                <a:spcPts val="750"/>
              </a:spcBef>
              <a:spcAft>
                <a:spcPts val="0"/>
              </a:spcAft>
              <a:buClr>
                <a:schemeClr val="dk1"/>
              </a:buClr>
              <a:buSzPts val="2100"/>
              <a:buFont typeface="Calibri"/>
              <a:buChar char="-"/>
            </a:pPr>
            <a:r>
              <a:rPr lang="en-US"/>
              <a:t>Some adopt a strategy  involving both software and hardware elements</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7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527" name="Google Shape;527;p73"/>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7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533" name="Google Shape;533;p74"/>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7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u="sng"/>
              <a:t>Hardware solutions</a:t>
            </a:r>
            <a:endParaRPr b="1" u="sng"/>
          </a:p>
        </p:txBody>
      </p:sp>
      <p:sp>
        <p:nvSpPr>
          <p:cNvPr id="539" name="Google Shape;539;p7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Hardware-based solutions are generally referred to as cache coherence protocols.</a:t>
            </a:r>
            <a:endParaRPr/>
          </a:p>
          <a:p>
            <a:pPr indent="-171450" lvl="0" marL="171450" rtl="0" algn="l">
              <a:lnSpc>
                <a:spcPct val="90000"/>
              </a:lnSpc>
              <a:spcBef>
                <a:spcPts val="750"/>
              </a:spcBef>
              <a:spcAft>
                <a:spcPts val="0"/>
              </a:spcAft>
              <a:buClr>
                <a:schemeClr val="dk1"/>
              </a:buClr>
              <a:buSzPts val="2100"/>
              <a:buChar char="•"/>
            </a:pPr>
            <a:r>
              <a:rPr lang="en-US"/>
              <a:t>Because the problem is only dealt with when it actually arises, there is more effective use of caches, leading to improved performance over a software approach.</a:t>
            </a:r>
            <a:endParaRPr/>
          </a:p>
          <a:p>
            <a:pPr indent="-171450" lvl="0" marL="171450" rtl="0" algn="l">
              <a:lnSpc>
                <a:spcPct val="90000"/>
              </a:lnSpc>
              <a:spcBef>
                <a:spcPts val="750"/>
              </a:spcBef>
              <a:spcAft>
                <a:spcPts val="0"/>
              </a:spcAft>
              <a:buClr>
                <a:schemeClr val="dk1"/>
              </a:buClr>
              <a:buSzPts val="2100"/>
              <a:buChar char="•"/>
            </a:pPr>
            <a:r>
              <a:rPr lang="en-US"/>
              <a:t>These approaches are transparent to the programmer and the compiler, reducing the software development burden.</a:t>
            </a:r>
            <a:endParaRPr/>
          </a:p>
          <a:p>
            <a:pPr indent="-171450" lvl="0" marL="171450" rtl="0" algn="l">
              <a:lnSpc>
                <a:spcPct val="90000"/>
              </a:lnSpc>
              <a:spcBef>
                <a:spcPts val="750"/>
              </a:spcBef>
              <a:spcAft>
                <a:spcPts val="0"/>
              </a:spcAft>
              <a:buClr>
                <a:schemeClr val="dk1"/>
              </a:buClr>
              <a:buSzPts val="2100"/>
              <a:buChar char="•"/>
            </a:pPr>
            <a:r>
              <a:rPr lang="en-US"/>
              <a:t>Hardware schemes differ in a number of particulars, including where the state information about data lines is held, how that information is organized, where coherence is enforced, and the enforcement mechanisms. In general, hardware schemes can be divided into two categories: directory protocols and snoopy protocols.</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6"/>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545" name="Google Shape;545;p76"/>
          <p:cNvPicPr preferRelativeResize="0"/>
          <p:nvPr>
            <p:ph idx="1" type="body"/>
          </p:nvPr>
        </p:nvPicPr>
        <p:blipFill rotWithShape="1">
          <a:blip r:embed="rId3">
            <a:alphaModFix/>
          </a:blip>
          <a:srcRect b="0" l="0" r="0" t="0"/>
          <a:stretch/>
        </p:blipFill>
        <p:spPr>
          <a:xfrm>
            <a:off x="-76200" y="76200"/>
            <a:ext cx="9144000" cy="64770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7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Snoopy Protocol</a:t>
            </a:r>
            <a:endParaRPr/>
          </a:p>
        </p:txBody>
      </p:sp>
      <p:sp>
        <p:nvSpPr>
          <p:cNvPr id="551" name="Google Shape;551;p7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rgbClr val="FF0000"/>
              </a:buClr>
              <a:buSzPts val="2400"/>
              <a:buChar char="•"/>
            </a:pPr>
            <a:r>
              <a:rPr b="1" lang="en-US" sz="2400" u="sng">
                <a:solidFill>
                  <a:srgbClr val="FF0000"/>
                </a:solidFill>
              </a:rPr>
              <a:t>2 Basic Approaches of SNOOPY PROTOCOL</a:t>
            </a:r>
            <a:endParaRPr/>
          </a:p>
          <a:p>
            <a:pPr indent="0" lvl="0" marL="0" rtl="0" algn="l">
              <a:lnSpc>
                <a:spcPct val="90000"/>
              </a:lnSpc>
              <a:spcBef>
                <a:spcPts val="750"/>
              </a:spcBef>
              <a:spcAft>
                <a:spcPts val="0"/>
              </a:spcAft>
              <a:buClr>
                <a:schemeClr val="dk1"/>
              </a:buClr>
              <a:buSzPts val="2400"/>
              <a:buNone/>
            </a:pPr>
            <a:r>
              <a:t/>
            </a:r>
            <a:endParaRPr sz="2400" u="sng"/>
          </a:p>
          <a:p>
            <a:pPr indent="0" lvl="0" marL="0" rtl="0" algn="l">
              <a:lnSpc>
                <a:spcPct val="90000"/>
              </a:lnSpc>
              <a:spcBef>
                <a:spcPts val="750"/>
              </a:spcBef>
              <a:spcAft>
                <a:spcPts val="0"/>
              </a:spcAft>
              <a:buClr>
                <a:schemeClr val="dk1"/>
              </a:buClr>
              <a:buSzPts val="2400"/>
              <a:buNone/>
            </a:pPr>
            <a:r>
              <a:rPr lang="en-US" sz="2400"/>
              <a:t>-1.Write Invalidate</a:t>
            </a:r>
            <a:endParaRPr/>
          </a:p>
          <a:p>
            <a:pPr indent="0" lvl="0" marL="0" rtl="0" algn="l">
              <a:lnSpc>
                <a:spcPct val="90000"/>
              </a:lnSpc>
              <a:spcBef>
                <a:spcPts val="750"/>
              </a:spcBef>
              <a:spcAft>
                <a:spcPts val="0"/>
              </a:spcAft>
              <a:buClr>
                <a:schemeClr val="dk1"/>
              </a:buClr>
              <a:buSzPts val="2400"/>
              <a:buNone/>
            </a:pPr>
            <a:r>
              <a:t/>
            </a:r>
            <a:endParaRPr sz="2400"/>
          </a:p>
          <a:p>
            <a:pPr indent="0" lvl="0" marL="0" rtl="0" algn="l">
              <a:lnSpc>
                <a:spcPct val="90000"/>
              </a:lnSpc>
              <a:spcBef>
                <a:spcPts val="750"/>
              </a:spcBef>
              <a:spcAft>
                <a:spcPts val="0"/>
              </a:spcAft>
              <a:buClr>
                <a:schemeClr val="dk1"/>
              </a:buClr>
              <a:buSzPts val="2400"/>
              <a:buNone/>
            </a:pPr>
            <a:r>
              <a:rPr lang="en-US" sz="2400"/>
              <a:t>-2.Write update</a:t>
            </a:r>
            <a:endParaRPr sz="2400"/>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7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557" name="Google Shape;557;p78"/>
          <p:cNvPicPr preferRelativeResize="0"/>
          <p:nvPr>
            <p:ph idx="1" type="body"/>
          </p:nvPr>
        </p:nvPicPr>
        <p:blipFill rotWithShape="1">
          <a:blip r:embed="rId3">
            <a:alphaModFix/>
          </a:blip>
          <a:srcRect b="0" l="0" r="0" t="0"/>
          <a:stretch/>
        </p:blipFill>
        <p:spPr>
          <a:xfrm>
            <a:off x="304800" y="0"/>
            <a:ext cx="8839200" cy="655320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563" name="Google Shape;563;p79"/>
          <p:cNvPicPr preferRelativeResize="0"/>
          <p:nvPr>
            <p:ph idx="1" type="body"/>
          </p:nvPr>
        </p:nvPicPr>
        <p:blipFill rotWithShape="1">
          <a:blip r:embed="rId3">
            <a:alphaModFix/>
          </a:blip>
          <a:srcRect b="0" l="0" r="0" t="0"/>
          <a:stretch/>
        </p:blipFill>
        <p:spPr>
          <a:xfrm>
            <a:off x="228600" y="152400"/>
            <a:ext cx="8915399" cy="647700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8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569" name="Google Shape;569;p80"/>
          <p:cNvPicPr preferRelativeResize="0"/>
          <p:nvPr>
            <p:ph idx="1" type="body"/>
          </p:nvPr>
        </p:nvPicPr>
        <p:blipFill rotWithShape="1">
          <a:blip r:embed="rId3">
            <a:alphaModFix/>
          </a:blip>
          <a:srcRect b="0" l="0" r="0" t="0"/>
          <a:stretch/>
        </p:blipFill>
        <p:spPr>
          <a:xfrm>
            <a:off x="-76200" y="0"/>
            <a:ext cx="9067800" cy="670560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8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575" name="Google Shape;575;p81"/>
          <p:cNvPicPr preferRelativeResize="0"/>
          <p:nvPr>
            <p:ph idx="1" type="body"/>
          </p:nvPr>
        </p:nvPicPr>
        <p:blipFill rotWithShape="1">
          <a:blip r:embed="rId3">
            <a:alphaModFix/>
          </a:blip>
          <a:srcRect b="0" l="0" r="0" t="0"/>
          <a:stretch/>
        </p:blipFill>
        <p:spPr>
          <a:xfrm>
            <a:off x="0" y="0"/>
            <a:ext cx="9144000" cy="670560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82"/>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581" name="Google Shape;581;p82"/>
          <p:cNvPicPr preferRelativeResize="0"/>
          <p:nvPr>
            <p:ph idx="1" type="body"/>
          </p:nvPr>
        </p:nvPicPr>
        <p:blipFill rotWithShape="1">
          <a:blip r:embed="rId3">
            <a:alphaModFix/>
          </a:blip>
          <a:srcRect b="0" l="0" r="0" t="0"/>
          <a:stretch/>
        </p:blipFill>
        <p:spPr>
          <a:xfrm>
            <a:off x="152400" y="0"/>
            <a:ext cx="8763000" cy="655320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8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587" name="Google Shape;587;p83"/>
          <p:cNvPicPr preferRelativeResize="0"/>
          <p:nvPr>
            <p:ph idx="1" type="body"/>
          </p:nvPr>
        </p:nvPicPr>
        <p:blipFill rotWithShape="1">
          <a:blip r:embed="rId3">
            <a:alphaModFix/>
          </a:blip>
          <a:srcRect b="0" l="0" r="0" t="0"/>
          <a:stretch/>
        </p:blipFill>
        <p:spPr>
          <a:xfrm>
            <a:off x="0" y="228600"/>
            <a:ext cx="9144000" cy="647700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8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593" name="Google Shape;593;p84"/>
          <p:cNvPicPr preferRelativeResize="0"/>
          <p:nvPr>
            <p:ph idx="1" type="body"/>
          </p:nvPr>
        </p:nvPicPr>
        <p:blipFill rotWithShape="1">
          <a:blip r:embed="rId3">
            <a:alphaModFix/>
          </a:blip>
          <a:srcRect b="0" l="0" r="0" t="0"/>
          <a:stretch/>
        </p:blipFill>
        <p:spPr>
          <a:xfrm>
            <a:off x="152401" y="0"/>
            <a:ext cx="9067800" cy="670560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8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599" name="Google Shape;599;p85"/>
          <p:cNvPicPr preferRelativeResize="0"/>
          <p:nvPr>
            <p:ph idx="1" type="body"/>
          </p:nvPr>
        </p:nvPicPr>
        <p:blipFill rotWithShape="1">
          <a:blip r:embed="rId3">
            <a:alphaModFix/>
          </a:blip>
          <a:srcRect b="0" l="0" r="0" t="0"/>
          <a:stretch/>
        </p:blipFill>
        <p:spPr>
          <a:xfrm>
            <a:off x="152400" y="0"/>
            <a:ext cx="8915399" cy="670560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86"/>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605" name="Google Shape;605;p86"/>
          <p:cNvPicPr preferRelativeResize="0"/>
          <p:nvPr>
            <p:ph idx="1" type="body"/>
          </p:nvPr>
        </p:nvPicPr>
        <p:blipFill rotWithShape="1">
          <a:blip r:embed="rId3">
            <a:alphaModFix/>
          </a:blip>
          <a:srcRect b="0" l="0" r="0" t="0"/>
          <a:stretch/>
        </p:blipFill>
        <p:spPr>
          <a:xfrm>
            <a:off x="0" y="228600"/>
            <a:ext cx="8915400" cy="655320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8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611" name="Google Shape;611;p87"/>
          <p:cNvPicPr preferRelativeResize="0"/>
          <p:nvPr>
            <p:ph idx="1" type="body"/>
          </p:nvPr>
        </p:nvPicPr>
        <p:blipFill rotWithShape="1">
          <a:blip r:embed="rId3">
            <a:alphaModFix/>
          </a:blip>
          <a:srcRect b="0" l="0" r="0" t="0"/>
          <a:stretch/>
        </p:blipFill>
        <p:spPr>
          <a:xfrm>
            <a:off x="0" y="152400"/>
            <a:ext cx="8915400" cy="6024563"/>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8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617" name="Google Shape;617;p88"/>
          <p:cNvPicPr preferRelativeResize="0"/>
          <p:nvPr>
            <p:ph idx="1" type="body"/>
          </p:nvPr>
        </p:nvPicPr>
        <p:blipFill rotWithShape="1">
          <a:blip r:embed="rId3">
            <a:alphaModFix/>
          </a:blip>
          <a:srcRect b="0" l="0" r="0" t="0"/>
          <a:stretch/>
        </p:blipFill>
        <p:spPr>
          <a:xfrm>
            <a:off x="304800" y="152400"/>
            <a:ext cx="8534399" cy="662940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8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623" name="Google Shape;623;p89"/>
          <p:cNvPicPr preferRelativeResize="0"/>
          <p:nvPr>
            <p:ph idx="1" type="body"/>
          </p:nvPr>
        </p:nvPicPr>
        <p:blipFill rotWithShape="1">
          <a:blip r:embed="rId3">
            <a:alphaModFix/>
          </a:blip>
          <a:srcRect b="0" l="0" r="0" t="0"/>
          <a:stretch/>
        </p:blipFill>
        <p:spPr>
          <a:xfrm>
            <a:off x="228600" y="152400"/>
            <a:ext cx="8763000" cy="655320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9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629" name="Google Shape;629;p90"/>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9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635" name="Google Shape;635;p91"/>
          <p:cNvPicPr preferRelativeResize="0"/>
          <p:nvPr>
            <p:ph idx="1" type="body"/>
          </p:nvPr>
        </p:nvPicPr>
        <p:blipFill rotWithShape="1">
          <a:blip r:embed="rId3">
            <a:alphaModFix/>
          </a:blip>
          <a:srcRect b="0" l="0" r="0" t="0"/>
          <a:stretch/>
        </p:blipFill>
        <p:spPr>
          <a:xfrm>
            <a:off x="228600" y="0"/>
            <a:ext cx="8839200" cy="6176963"/>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92"/>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641" name="Google Shape;641;p92"/>
          <p:cNvPicPr preferRelativeResize="0"/>
          <p:nvPr>
            <p:ph idx="1" type="body"/>
          </p:nvPr>
        </p:nvPicPr>
        <p:blipFill rotWithShape="1">
          <a:blip r:embed="rId3">
            <a:alphaModFix/>
          </a:blip>
          <a:srcRect b="0" l="0" r="0" t="0"/>
          <a:stretch/>
        </p:blipFill>
        <p:spPr>
          <a:xfrm>
            <a:off x="0" y="0"/>
            <a:ext cx="9144000" cy="662940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9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647" name="Google Shape;647;p93"/>
          <p:cNvPicPr preferRelativeResize="0"/>
          <p:nvPr>
            <p:ph idx="1" type="body"/>
          </p:nvPr>
        </p:nvPicPr>
        <p:blipFill rotWithShape="1">
          <a:blip r:embed="rId3">
            <a:alphaModFix/>
          </a:blip>
          <a:srcRect b="0" l="0" r="0" t="0"/>
          <a:stretch/>
        </p:blipFill>
        <p:spPr>
          <a:xfrm>
            <a:off x="152400" y="152400"/>
            <a:ext cx="8991600" cy="662940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9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653" name="Google Shape;653;p94"/>
          <p:cNvPicPr preferRelativeResize="0"/>
          <p:nvPr>
            <p:ph idx="1" type="body"/>
          </p:nvPr>
        </p:nvPicPr>
        <p:blipFill rotWithShape="1">
          <a:blip r:embed="rId3">
            <a:alphaModFix/>
          </a:blip>
          <a:srcRect b="0" l="0" r="0" t="0"/>
          <a:stretch/>
        </p:blipFill>
        <p:spPr>
          <a:xfrm>
            <a:off x="0" y="0"/>
            <a:ext cx="9144000" cy="662940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9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659" name="Google Shape;659;p95"/>
          <p:cNvPicPr preferRelativeResize="0"/>
          <p:nvPr>
            <p:ph idx="1" type="body"/>
          </p:nvPr>
        </p:nvPicPr>
        <p:blipFill rotWithShape="1">
          <a:blip r:embed="rId3">
            <a:alphaModFix/>
          </a:blip>
          <a:srcRect b="0" l="0" r="0" t="0"/>
          <a:stretch/>
        </p:blipFill>
        <p:spPr>
          <a:xfrm>
            <a:off x="0" y="76200"/>
            <a:ext cx="9144000" cy="662940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96"/>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665" name="Google Shape;665;p96"/>
          <p:cNvPicPr preferRelativeResize="0"/>
          <p:nvPr>
            <p:ph idx="1" type="body"/>
          </p:nvPr>
        </p:nvPicPr>
        <p:blipFill rotWithShape="1">
          <a:blip r:embed="rId3">
            <a:alphaModFix/>
          </a:blip>
          <a:srcRect b="0" l="0" r="0" t="0"/>
          <a:stretch/>
        </p:blipFill>
        <p:spPr>
          <a:xfrm>
            <a:off x="228601" y="76200"/>
            <a:ext cx="8534400" cy="662940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9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671" name="Google Shape;671;p97"/>
          <p:cNvPicPr preferRelativeResize="0"/>
          <p:nvPr>
            <p:ph idx="1" type="body"/>
          </p:nvPr>
        </p:nvPicPr>
        <p:blipFill rotWithShape="1">
          <a:blip r:embed="rId3">
            <a:alphaModFix/>
          </a:blip>
          <a:srcRect b="0" l="0" r="0" t="0"/>
          <a:stretch/>
        </p:blipFill>
        <p:spPr>
          <a:xfrm>
            <a:off x="76200" y="0"/>
            <a:ext cx="9067800" cy="678180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9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677" name="Google Shape;677;p98"/>
          <p:cNvPicPr preferRelativeResize="0"/>
          <p:nvPr>
            <p:ph idx="1" type="body"/>
          </p:nvPr>
        </p:nvPicPr>
        <p:blipFill rotWithShape="1">
          <a:blip r:embed="rId3">
            <a:alphaModFix/>
          </a:blip>
          <a:srcRect b="0" l="0" r="0" t="0"/>
          <a:stretch/>
        </p:blipFill>
        <p:spPr>
          <a:xfrm>
            <a:off x="76200" y="0"/>
            <a:ext cx="8763000" cy="685800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9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683" name="Google Shape;683;p99"/>
          <p:cNvPicPr preferRelativeResize="0"/>
          <p:nvPr>
            <p:ph idx="1" type="body"/>
          </p:nvPr>
        </p:nvPicPr>
        <p:blipFill rotWithShape="1">
          <a:blip r:embed="rId3">
            <a:alphaModFix/>
          </a:blip>
          <a:srcRect b="0" l="0" r="0" t="0"/>
          <a:stretch/>
        </p:blipFill>
        <p:spPr>
          <a:xfrm>
            <a:off x="228601" y="304800"/>
            <a:ext cx="8534400" cy="624840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10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689" name="Google Shape;689;p100"/>
          <p:cNvPicPr preferRelativeResize="0"/>
          <p:nvPr>
            <p:ph idx="1" type="body"/>
          </p:nvPr>
        </p:nvPicPr>
        <p:blipFill rotWithShape="1">
          <a:blip r:embed="rId3">
            <a:alphaModFix/>
          </a:blip>
          <a:srcRect b="0" l="0" r="0" t="0"/>
          <a:stretch/>
        </p:blipFill>
        <p:spPr>
          <a:xfrm>
            <a:off x="381000" y="228600"/>
            <a:ext cx="8534400" cy="5948363"/>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10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695" name="Google Shape;695;p101"/>
          <p:cNvPicPr preferRelativeResize="0"/>
          <p:nvPr>
            <p:ph idx="1" type="body"/>
          </p:nvPr>
        </p:nvPicPr>
        <p:blipFill rotWithShape="1">
          <a:blip r:embed="rId3">
            <a:alphaModFix/>
          </a:blip>
          <a:srcRect b="0" l="0" r="0" t="0"/>
          <a:stretch/>
        </p:blipFill>
        <p:spPr>
          <a:xfrm>
            <a:off x="1" y="152400"/>
            <a:ext cx="8991600" cy="647700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102"/>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701" name="Google Shape;701;p102"/>
          <p:cNvPicPr preferRelativeResize="0"/>
          <p:nvPr>
            <p:ph idx="1" type="body"/>
          </p:nvPr>
        </p:nvPicPr>
        <p:blipFill rotWithShape="1">
          <a:blip r:embed="rId3">
            <a:alphaModFix/>
          </a:blip>
          <a:srcRect b="0" l="0" r="0" t="0"/>
          <a:stretch/>
        </p:blipFill>
        <p:spPr>
          <a:xfrm>
            <a:off x="-24245" y="0"/>
            <a:ext cx="9144000" cy="6889173"/>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10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707" name="Google Shape;707;p103"/>
          <p:cNvPicPr preferRelativeResize="0"/>
          <p:nvPr>
            <p:ph idx="1" type="body"/>
          </p:nvPr>
        </p:nvPicPr>
        <p:blipFill rotWithShape="1">
          <a:blip r:embed="rId3">
            <a:alphaModFix/>
          </a:blip>
          <a:srcRect b="0" l="0" r="0" t="0"/>
          <a:stretch/>
        </p:blipFill>
        <p:spPr>
          <a:xfrm>
            <a:off x="228600" y="152400"/>
            <a:ext cx="8763000" cy="647700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10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sp>
        <p:nvSpPr>
          <p:cNvPr id="713" name="Google Shape;713;p10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a:t>
            </a:r>
            <a:endParaRPr/>
          </a:p>
        </p:txBody>
      </p:sp>
      <p:pic>
        <p:nvPicPr>
          <p:cNvPr id="714" name="Google Shape;714;p104"/>
          <p:cNvPicPr preferRelativeResize="0"/>
          <p:nvPr/>
        </p:nvPicPr>
        <p:blipFill rotWithShape="1">
          <a:blip r:embed="rId3">
            <a:alphaModFix/>
          </a:blip>
          <a:srcRect b="0" l="0" r="0" t="0"/>
          <a:stretch/>
        </p:blipFill>
        <p:spPr>
          <a:xfrm>
            <a:off x="0" y="76200"/>
            <a:ext cx="8991600" cy="670560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10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                            </a:t>
            </a:r>
            <a:r>
              <a:rPr b="1" lang="en-US" u="sng"/>
              <a:t>RAID</a:t>
            </a:r>
            <a:br>
              <a:rPr b="1" lang="en-US" u="sng"/>
            </a:br>
            <a:r>
              <a:rPr b="1" lang="en-US" u="sng"/>
              <a:t>(Redundant  Array Of  Independent Disks)</a:t>
            </a:r>
            <a:endParaRPr b="1" u="sng"/>
          </a:p>
        </p:txBody>
      </p:sp>
      <p:sp>
        <p:nvSpPr>
          <p:cNvPr id="720" name="Google Shape;720;p105"/>
          <p:cNvSpPr txBox="1"/>
          <p:nvPr>
            <p:ph idx="1" type="body"/>
          </p:nvPr>
        </p:nvSpPr>
        <p:spPr>
          <a:xfrm>
            <a:off x="628650" y="1676400"/>
            <a:ext cx="7886700" cy="4500563"/>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400"/>
              <a:buNone/>
            </a:pPr>
            <a:r>
              <a:rPr b="1" lang="en-US" sz="2400" u="sng"/>
              <a:t>Secondary Storage-Very Slow-</a:t>
            </a:r>
            <a:endParaRPr/>
          </a:p>
          <a:p>
            <a:pPr indent="0" lvl="0" marL="0" rtl="0" algn="l">
              <a:lnSpc>
                <a:spcPct val="90000"/>
              </a:lnSpc>
              <a:spcBef>
                <a:spcPts val="750"/>
              </a:spcBef>
              <a:spcAft>
                <a:spcPts val="0"/>
              </a:spcAft>
              <a:buClr>
                <a:schemeClr val="dk1"/>
              </a:buClr>
              <a:buSzPts val="2400"/>
              <a:buNone/>
            </a:pPr>
            <a:r>
              <a:t/>
            </a:r>
            <a:endParaRPr b="1" sz="2400" u="sng"/>
          </a:p>
          <a:p>
            <a:pPr indent="0" lvl="0" marL="0" rtl="0" algn="l">
              <a:lnSpc>
                <a:spcPct val="90000"/>
              </a:lnSpc>
              <a:spcBef>
                <a:spcPts val="750"/>
              </a:spcBef>
              <a:spcAft>
                <a:spcPts val="0"/>
              </a:spcAft>
              <a:buClr>
                <a:schemeClr val="dk1"/>
              </a:buClr>
              <a:buSzPts val="2800"/>
              <a:buNone/>
            </a:pPr>
            <a:r>
              <a:rPr lang="en-US" sz="2800"/>
              <a:t>-Additional gain in performance is obtained  by using multiple parallel components.</a:t>
            </a:r>
            <a:endParaRPr/>
          </a:p>
          <a:p>
            <a:pPr indent="0" lvl="0" marL="0" rtl="0" algn="l">
              <a:lnSpc>
                <a:spcPct val="90000"/>
              </a:lnSpc>
              <a:spcBef>
                <a:spcPts val="750"/>
              </a:spcBef>
              <a:spcAft>
                <a:spcPts val="0"/>
              </a:spcAft>
              <a:buClr>
                <a:schemeClr val="dk1"/>
              </a:buClr>
              <a:buSzPts val="2800"/>
              <a:buNone/>
            </a:pPr>
            <a:r>
              <a:t/>
            </a:r>
            <a:endParaRPr sz="2800"/>
          </a:p>
          <a:p>
            <a:pPr indent="0" lvl="0" marL="0" rtl="0" algn="l">
              <a:lnSpc>
                <a:spcPct val="90000"/>
              </a:lnSpc>
              <a:spcBef>
                <a:spcPts val="750"/>
              </a:spcBef>
              <a:spcAft>
                <a:spcPts val="0"/>
              </a:spcAft>
              <a:buClr>
                <a:schemeClr val="dk1"/>
              </a:buClr>
              <a:buSzPts val="2800"/>
              <a:buNone/>
            </a:pPr>
            <a:r>
              <a:rPr lang="en-US" sz="2800"/>
              <a:t>In  disk storage - arrays of disks are developed that operate independently and in parallel.</a:t>
            </a:r>
            <a:endParaRPr/>
          </a:p>
          <a:p>
            <a:pPr indent="0" lvl="0" marL="171450" rtl="0" algn="l">
              <a:lnSpc>
                <a:spcPct val="90000"/>
              </a:lnSpc>
              <a:spcBef>
                <a:spcPts val="750"/>
              </a:spcBef>
              <a:spcAft>
                <a:spcPts val="0"/>
              </a:spcAft>
              <a:buClr>
                <a:schemeClr val="dk1"/>
              </a:buClr>
              <a:buSzPts val="2800"/>
              <a:buNone/>
            </a:pPr>
            <a:r>
              <a:t/>
            </a:r>
            <a:endParaRPr sz="2800"/>
          </a:p>
          <a:p>
            <a:pPr indent="0" lvl="0" marL="0" rtl="0" algn="l">
              <a:lnSpc>
                <a:spcPct val="90000"/>
              </a:lnSpc>
              <a:spcBef>
                <a:spcPts val="750"/>
              </a:spcBef>
              <a:spcAft>
                <a:spcPts val="0"/>
              </a:spcAft>
              <a:buClr>
                <a:schemeClr val="dk1"/>
              </a:buClr>
              <a:buSzPts val="2800"/>
              <a:buNone/>
            </a:pPr>
            <a:r>
              <a:rPr lang="en-US" sz="2800"/>
              <a:t>With Multiple disks,-separate I/O requests  handled in parallel, as long as the data required is on separate disks.</a:t>
            </a:r>
            <a:endParaRPr/>
          </a:p>
          <a:p>
            <a:pPr indent="0" lvl="0" marL="0" rtl="0" algn="l">
              <a:lnSpc>
                <a:spcPct val="90000"/>
              </a:lnSpc>
              <a:spcBef>
                <a:spcPts val="750"/>
              </a:spcBef>
              <a:spcAft>
                <a:spcPts val="0"/>
              </a:spcAft>
              <a:buClr>
                <a:schemeClr val="dk1"/>
              </a:buClr>
              <a:buSzPts val="2800"/>
              <a:buNone/>
            </a:pPr>
            <a:r>
              <a:t/>
            </a:r>
            <a:endParaRPr sz="2800"/>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106"/>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                       </a:t>
            </a:r>
            <a:r>
              <a:rPr b="1" lang="en-US" u="sng"/>
              <a:t>RAID</a:t>
            </a:r>
            <a:endParaRPr b="1" u="sng"/>
          </a:p>
        </p:txBody>
      </p:sp>
      <p:sp>
        <p:nvSpPr>
          <p:cNvPr id="726" name="Google Shape;726;p106"/>
          <p:cNvSpPr txBox="1"/>
          <p:nvPr>
            <p:ph idx="1" type="body"/>
          </p:nvPr>
        </p:nvSpPr>
        <p:spPr>
          <a:xfrm>
            <a:off x="628650" y="1447800"/>
            <a:ext cx="7886700" cy="5105399"/>
          </a:xfrm>
          <a:prstGeom prst="rect">
            <a:avLst/>
          </a:prstGeom>
          <a:noFill/>
          <a:ln>
            <a:noFill/>
          </a:ln>
        </p:spPr>
        <p:txBody>
          <a:bodyPr anchorCtr="0" anchor="t" bIns="45700" lIns="91425" spcFirstLastPara="1" rIns="91425" wrap="square" tIns="45700">
            <a:noAutofit/>
          </a:bodyPr>
          <a:lstStyle/>
          <a:p>
            <a:pPr indent="-177800" lvl="0" marL="171450" rtl="0" algn="l">
              <a:lnSpc>
                <a:spcPct val="90000"/>
              </a:lnSpc>
              <a:spcBef>
                <a:spcPts val="0"/>
              </a:spcBef>
              <a:spcAft>
                <a:spcPts val="0"/>
              </a:spcAft>
              <a:buClr>
                <a:schemeClr val="dk1"/>
              </a:buClr>
              <a:buSzPts val="2800"/>
              <a:buChar char="•"/>
            </a:pPr>
            <a:r>
              <a:rPr lang="en-US" sz="2800"/>
              <a:t>With  use of multiple disks- wide variety of ways in which the data organized and  redundancy added to improve reliability.</a:t>
            </a:r>
            <a:endParaRPr/>
          </a:p>
          <a:p>
            <a:pPr indent="0" lvl="0" marL="171450" rtl="0" algn="l">
              <a:lnSpc>
                <a:spcPct val="90000"/>
              </a:lnSpc>
              <a:spcBef>
                <a:spcPts val="750"/>
              </a:spcBef>
              <a:spcAft>
                <a:spcPts val="0"/>
              </a:spcAft>
              <a:buClr>
                <a:schemeClr val="dk1"/>
              </a:buClr>
              <a:buSzPts val="2800"/>
              <a:buNone/>
            </a:pPr>
            <a:r>
              <a:t/>
            </a:r>
            <a:endParaRPr sz="2800"/>
          </a:p>
          <a:p>
            <a:pPr indent="0" lvl="0" marL="0" rtl="0" algn="l">
              <a:lnSpc>
                <a:spcPct val="90000"/>
              </a:lnSpc>
              <a:spcBef>
                <a:spcPts val="750"/>
              </a:spcBef>
              <a:spcAft>
                <a:spcPts val="0"/>
              </a:spcAft>
              <a:buClr>
                <a:schemeClr val="dk1"/>
              </a:buClr>
              <a:buSzPts val="2800"/>
              <a:buNone/>
            </a:pPr>
            <a:r>
              <a:t/>
            </a:r>
            <a:endParaRPr sz="2800"/>
          </a:p>
          <a:p>
            <a:pPr indent="-177800" lvl="0" marL="171450" rtl="0" algn="l">
              <a:lnSpc>
                <a:spcPct val="90000"/>
              </a:lnSpc>
              <a:spcBef>
                <a:spcPts val="750"/>
              </a:spcBef>
              <a:spcAft>
                <a:spcPts val="0"/>
              </a:spcAft>
              <a:buClr>
                <a:schemeClr val="dk1"/>
              </a:buClr>
              <a:buSzPts val="2800"/>
              <a:buChar char="•"/>
            </a:pPr>
            <a:r>
              <a:rPr lang="en-US" sz="2800"/>
              <a:t>So standardized scheme for multiple-disk database design, known as  </a:t>
            </a:r>
            <a:r>
              <a:rPr b="1" lang="en-US" sz="2800"/>
              <a:t>RAID –Redundant Array of Independent Disks.</a:t>
            </a:r>
            <a:endParaRPr/>
          </a:p>
          <a:p>
            <a:pPr indent="0" lvl="0" marL="0" rtl="0" algn="l">
              <a:lnSpc>
                <a:spcPct val="90000"/>
              </a:lnSpc>
              <a:spcBef>
                <a:spcPts val="750"/>
              </a:spcBef>
              <a:spcAft>
                <a:spcPts val="0"/>
              </a:spcAft>
              <a:buClr>
                <a:schemeClr val="dk1"/>
              </a:buClr>
              <a:buSzPts val="2800"/>
              <a:buNone/>
            </a:pPr>
            <a:r>
              <a:t/>
            </a:r>
            <a:endParaRPr b="1" sz="2800"/>
          </a:p>
          <a:p>
            <a:pPr indent="0" lvl="0" marL="0" rtl="0" algn="l">
              <a:lnSpc>
                <a:spcPct val="90000"/>
              </a:lnSpc>
              <a:spcBef>
                <a:spcPts val="750"/>
              </a:spcBef>
              <a:spcAft>
                <a:spcPts val="0"/>
              </a:spcAft>
              <a:buClr>
                <a:schemeClr val="dk1"/>
              </a:buClr>
              <a:buSzPts val="2800"/>
              <a:buNone/>
            </a:pPr>
            <a:r>
              <a:rPr b="1" lang="en-US" sz="2800"/>
              <a:t>RAID</a:t>
            </a:r>
            <a:r>
              <a:rPr lang="en-US" sz="2800"/>
              <a:t> scheme consists of </a:t>
            </a:r>
            <a:r>
              <a:rPr b="1" lang="en-US" sz="2800"/>
              <a:t>seven levels</a:t>
            </a:r>
            <a:r>
              <a:rPr lang="en-US" sz="2800"/>
              <a:t>, zero through six.</a:t>
            </a:r>
            <a:endParaRPr b="1" sz="2800"/>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10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                      </a:t>
            </a:r>
            <a:r>
              <a:rPr b="1" lang="en-US" u="sng"/>
              <a:t>RAID</a:t>
            </a:r>
            <a:endParaRPr b="1" u="sng"/>
          </a:p>
        </p:txBody>
      </p:sp>
      <p:sp>
        <p:nvSpPr>
          <p:cNvPr id="732" name="Google Shape;732;p107"/>
          <p:cNvSpPr txBox="1"/>
          <p:nvPr>
            <p:ph idx="1" type="body"/>
          </p:nvPr>
        </p:nvSpPr>
        <p:spPr>
          <a:xfrm>
            <a:off x="628650" y="1524000"/>
            <a:ext cx="7886700" cy="46529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t>These levels designate different design architectures that share three common characteristics:</a:t>
            </a:r>
            <a:endParaRPr/>
          </a:p>
          <a:p>
            <a:pPr indent="0" lvl="0" marL="0" rtl="0" algn="l">
              <a:lnSpc>
                <a:spcPct val="90000"/>
              </a:lnSpc>
              <a:spcBef>
                <a:spcPts val="750"/>
              </a:spcBef>
              <a:spcAft>
                <a:spcPts val="0"/>
              </a:spcAft>
              <a:buClr>
                <a:schemeClr val="dk1"/>
              </a:buClr>
              <a:buSzPts val="2400"/>
              <a:buNone/>
            </a:pPr>
            <a:r>
              <a:t/>
            </a:r>
            <a:endParaRPr sz="2400"/>
          </a:p>
          <a:p>
            <a:pPr indent="-171450" lvl="0" marL="171450" rtl="0" algn="l">
              <a:lnSpc>
                <a:spcPct val="90000"/>
              </a:lnSpc>
              <a:spcBef>
                <a:spcPts val="750"/>
              </a:spcBef>
              <a:spcAft>
                <a:spcPts val="0"/>
              </a:spcAft>
              <a:buClr>
                <a:schemeClr val="dk1"/>
              </a:buClr>
              <a:buSzPts val="2400"/>
              <a:buChar char="•"/>
            </a:pPr>
            <a:r>
              <a:rPr b="1" lang="en-US" sz="2400"/>
              <a:t>1. </a:t>
            </a:r>
            <a:r>
              <a:rPr lang="en-US" sz="2400"/>
              <a:t>RAID is a set of physical disk drives viewed by the operating system as a single logical drive.</a:t>
            </a:r>
            <a:endParaRPr/>
          </a:p>
          <a:p>
            <a:pPr indent="-171450" lvl="0" marL="171450" rtl="0" algn="l">
              <a:lnSpc>
                <a:spcPct val="90000"/>
              </a:lnSpc>
              <a:spcBef>
                <a:spcPts val="750"/>
              </a:spcBef>
              <a:spcAft>
                <a:spcPts val="0"/>
              </a:spcAft>
              <a:buClr>
                <a:schemeClr val="dk1"/>
              </a:buClr>
              <a:buSzPts val="2400"/>
              <a:buChar char="•"/>
            </a:pPr>
            <a:r>
              <a:rPr b="1" lang="en-US" sz="2400"/>
              <a:t>2. </a:t>
            </a:r>
            <a:r>
              <a:rPr lang="en-US" sz="2400"/>
              <a:t>Data are distributed across the physical drives of an array in a scheme known as striping.</a:t>
            </a:r>
            <a:endParaRPr sz="2400"/>
          </a:p>
          <a:p>
            <a:pPr indent="-171450" lvl="0" marL="171450" rtl="0" algn="l">
              <a:lnSpc>
                <a:spcPct val="90000"/>
              </a:lnSpc>
              <a:spcBef>
                <a:spcPts val="750"/>
              </a:spcBef>
              <a:spcAft>
                <a:spcPts val="0"/>
              </a:spcAft>
              <a:buClr>
                <a:schemeClr val="dk1"/>
              </a:buClr>
              <a:buSzPts val="2400"/>
              <a:buChar char="•"/>
            </a:pPr>
            <a:r>
              <a:rPr b="1" lang="en-US" sz="2400"/>
              <a:t>3. </a:t>
            </a:r>
            <a:r>
              <a:rPr lang="en-US" sz="2400"/>
              <a:t>Redundant disk capacity is used to store parity information, which guarantees data recoverability in case of a disk failure.</a:t>
            </a:r>
            <a:endParaRPr sz="2400"/>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10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738" name="Google Shape;738;p108"/>
          <p:cNvPicPr preferRelativeResize="0"/>
          <p:nvPr>
            <p:ph idx="1" type="body"/>
          </p:nvPr>
        </p:nvPicPr>
        <p:blipFill rotWithShape="1">
          <a:blip r:embed="rId3">
            <a:alphaModFix/>
          </a:blip>
          <a:srcRect b="0" l="0" r="0" t="0"/>
          <a:stretch/>
        </p:blipFill>
        <p:spPr>
          <a:xfrm>
            <a:off x="0" y="-76200"/>
            <a:ext cx="9144000" cy="6781800"/>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10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                               </a:t>
            </a:r>
            <a:r>
              <a:rPr b="1" lang="en-US" u="sng"/>
              <a:t>RAID</a:t>
            </a:r>
            <a:endParaRPr b="1" u="sng"/>
          </a:p>
        </p:txBody>
      </p:sp>
      <p:sp>
        <p:nvSpPr>
          <p:cNvPr id="744" name="Google Shape;744;p10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9050" lvl="0" marL="171450" rtl="0" algn="l">
              <a:lnSpc>
                <a:spcPct val="90000"/>
              </a:lnSpc>
              <a:spcBef>
                <a:spcPts val="0"/>
              </a:spcBef>
              <a:spcAft>
                <a:spcPts val="0"/>
              </a:spcAft>
              <a:buClr>
                <a:schemeClr val="dk1"/>
              </a:buClr>
              <a:buSzPts val="2400"/>
              <a:buNone/>
            </a:pPr>
            <a:r>
              <a:t/>
            </a:r>
            <a:endParaRPr sz="2400"/>
          </a:p>
          <a:p>
            <a:pPr indent="-171450" lvl="0" marL="171450" rtl="0" algn="l">
              <a:lnSpc>
                <a:spcPct val="90000"/>
              </a:lnSpc>
              <a:spcBef>
                <a:spcPts val="750"/>
              </a:spcBef>
              <a:spcAft>
                <a:spcPts val="0"/>
              </a:spcAft>
              <a:buClr>
                <a:schemeClr val="dk1"/>
              </a:buClr>
              <a:buSzPts val="2400"/>
              <a:buChar char="•"/>
            </a:pPr>
            <a:r>
              <a:rPr lang="en-US" sz="2400"/>
              <a:t>The RAID strategy employs –</a:t>
            </a:r>
            <a:endParaRPr/>
          </a:p>
          <a:p>
            <a:pPr indent="-19050" lvl="0" marL="171450" rtl="0" algn="l">
              <a:lnSpc>
                <a:spcPct val="90000"/>
              </a:lnSpc>
              <a:spcBef>
                <a:spcPts val="750"/>
              </a:spcBef>
              <a:spcAft>
                <a:spcPts val="0"/>
              </a:spcAft>
              <a:buClr>
                <a:schemeClr val="dk1"/>
              </a:buClr>
              <a:buSzPts val="2400"/>
              <a:buNone/>
            </a:pPr>
            <a:r>
              <a:t/>
            </a:r>
            <a:endParaRPr sz="2400"/>
          </a:p>
          <a:p>
            <a:pPr indent="-171450" lvl="0" marL="171450" rtl="0" algn="l">
              <a:lnSpc>
                <a:spcPct val="90000"/>
              </a:lnSpc>
              <a:spcBef>
                <a:spcPts val="750"/>
              </a:spcBef>
              <a:spcAft>
                <a:spcPts val="0"/>
              </a:spcAft>
              <a:buClr>
                <a:schemeClr val="dk1"/>
              </a:buClr>
              <a:buSzPts val="2400"/>
              <a:buChar char="•"/>
            </a:pPr>
            <a:r>
              <a:rPr lang="en-US" sz="2400"/>
              <a:t>Multiple disk drives and</a:t>
            </a:r>
            <a:endParaRPr/>
          </a:p>
          <a:p>
            <a:pPr indent="-171450" lvl="0" marL="171450" rtl="0" algn="l">
              <a:lnSpc>
                <a:spcPct val="90000"/>
              </a:lnSpc>
              <a:spcBef>
                <a:spcPts val="750"/>
              </a:spcBef>
              <a:spcAft>
                <a:spcPts val="0"/>
              </a:spcAft>
              <a:buClr>
                <a:schemeClr val="dk1"/>
              </a:buClr>
              <a:buSzPts val="2400"/>
              <a:buChar char="•"/>
            </a:pPr>
            <a:r>
              <a:rPr lang="en-US" sz="2400"/>
              <a:t> Distributes data in these disk drives to enable simultaneous access to data from multiple drives.</a:t>
            </a:r>
            <a:endParaRPr/>
          </a:p>
          <a:p>
            <a:pPr indent="-171450" lvl="0" marL="171450" rtl="0" algn="l">
              <a:lnSpc>
                <a:spcPct val="90000"/>
              </a:lnSpc>
              <a:spcBef>
                <a:spcPts val="750"/>
              </a:spcBef>
              <a:spcAft>
                <a:spcPts val="0"/>
              </a:spcAft>
              <a:buClr>
                <a:schemeClr val="dk1"/>
              </a:buClr>
              <a:buSzPts val="2400"/>
              <a:buChar char="•"/>
            </a:pPr>
            <a:r>
              <a:rPr lang="en-US" sz="2400"/>
              <a:t>Improving I/O performance and allowing increases in capacity.</a:t>
            </a:r>
            <a:endParaRPr sz="2400"/>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11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750" name="Google Shape;750;p110"/>
          <p:cNvPicPr preferRelativeResize="0"/>
          <p:nvPr>
            <p:ph idx="1" type="body"/>
          </p:nvPr>
        </p:nvPicPr>
        <p:blipFill rotWithShape="1">
          <a:blip r:embed="rId3">
            <a:alphaModFix/>
          </a:blip>
          <a:srcRect b="0" l="0" r="0" t="0"/>
          <a:stretch/>
        </p:blipFill>
        <p:spPr>
          <a:xfrm>
            <a:off x="0" y="0"/>
            <a:ext cx="8839200" cy="67056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11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                  </a:t>
            </a:r>
            <a:r>
              <a:rPr b="1" lang="en-US" u="sng"/>
              <a:t>RAID LEVEL-0</a:t>
            </a:r>
            <a:br>
              <a:rPr b="1" lang="en-US" u="sng"/>
            </a:br>
            <a:r>
              <a:rPr b="1" lang="en-US"/>
              <a:t>         </a:t>
            </a:r>
            <a:r>
              <a:rPr b="1" lang="en-US" u="sng"/>
              <a:t>(</a:t>
            </a:r>
            <a:r>
              <a:rPr b="1" i="1" lang="en-US" sz="2400"/>
              <a:t>FOR HIGH DATA TRANSFER CAPACITY)</a:t>
            </a:r>
            <a:endParaRPr b="1" sz="2400" u="sng"/>
          </a:p>
        </p:txBody>
      </p:sp>
      <p:sp>
        <p:nvSpPr>
          <p:cNvPr id="756" name="Google Shape;756;p11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92500" lnSpcReduction="10000"/>
          </a:bodyPr>
          <a:lstStyle/>
          <a:p>
            <a:pPr indent="-187960" lvl="0" marL="171450" rtl="0" algn="l">
              <a:lnSpc>
                <a:spcPct val="90000"/>
              </a:lnSpc>
              <a:spcBef>
                <a:spcPts val="0"/>
              </a:spcBef>
              <a:spcAft>
                <a:spcPts val="0"/>
              </a:spcAft>
              <a:buClr>
                <a:schemeClr val="dk1"/>
              </a:buClr>
              <a:buSzPct val="100000"/>
              <a:buChar char="•"/>
            </a:pPr>
            <a:r>
              <a:rPr lang="en-US" sz="3200"/>
              <a:t>NO Redundancy</a:t>
            </a:r>
            <a:endParaRPr/>
          </a:p>
          <a:p>
            <a:pPr indent="-187960" lvl="0" marL="171450" rtl="0" algn="l">
              <a:lnSpc>
                <a:spcPct val="90000"/>
              </a:lnSpc>
              <a:spcBef>
                <a:spcPts val="750"/>
              </a:spcBef>
              <a:spcAft>
                <a:spcPts val="0"/>
              </a:spcAft>
              <a:buClr>
                <a:schemeClr val="dk1"/>
              </a:buClr>
              <a:buSzPct val="100000"/>
              <a:buChar char="•"/>
            </a:pPr>
            <a:r>
              <a:rPr lang="en-US" sz="3200"/>
              <a:t>Improved Performance &amp; Capacity .</a:t>
            </a:r>
            <a:endParaRPr/>
          </a:p>
          <a:p>
            <a:pPr indent="-187960" lvl="0" marL="171450" rtl="0" algn="l">
              <a:lnSpc>
                <a:spcPct val="90000"/>
              </a:lnSpc>
              <a:spcBef>
                <a:spcPts val="750"/>
              </a:spcBef>
              <a:spcAft>
                <a:spcPts val="0"/>
              </a:spcAft>
              <a:buClr>
                <a:schemeClr val="dk1"/>
              </a:buClr>
              <a:buSzPct val="100000"/>
              <a:buChar char="•"/>
            </a:pPr>
            <a:r>
              <a:rPr lang="en-US" sz="3200"/>
              <a:t>Low cost.</a:t>
            </a:r>
            <a:endParaRPr sz="3200"/>
          </a:p>
          <a:p>
            <a:pPr indent="-187960" lvl="0" marL="171450" rtl="0" algn="l">
              <a:lnSpc>
                <a:spcPct val="90000"/>
              </a:lnSpc>
              <a:spcBef>
                <a:spcPts val="750"/>
              </a:spcBef>
              <a:spcAft>
                <a:spcPts val="0"/>
              </a:spcAft>
              <a:buClr>
                <a:schemeClr val="dk1"/>
              </a:buClr>
              <a:buSzPct val="100000"/>
              <a:buChar char="•"/>
            </a:pPr>
            <a:r>
              <a:rPr lang="en-US" sz="3200"/>
              <a:t>User &amp; system data distributed across all disks.</a:t>
            </a:r>
            <a:endParaRPr/>
          </a:p>
          <a:p>
            <a:pPr indent="-187960" lvl="0" marL="171450" rtl="0" algn="l">
              <a:lnSpc>
                <a:spcPct val="90000"/>
              </a:lnSpc>
              <a:spcBef>
                <a:spcPts val="750"/>
              </a:spcBef>
              <a:spcAft>
                <a:spcPts val="0"/>
              </a:spcAft>
              <a:buClr>
                <a:schemeClr val="dk1"/>
              </a:buClr>
              <a:buSzPct val="100000"/>
              <a:buChar char="•"/>
            </a:pPr>
            <a:r>
              <a:rPr lang="en-US" sz="3200"/>
              <a:t>Parallel issue of request-Reducing I/O Queuing time.</a:t>
            </a:r>
            <a:endParaRPr/>
          </a:p>
          <a:p>
            <a:pPr indent="-187960" lvl="0" marL="171450" rtl="0" algn="l">
              <a:lnSpc>
                <a:spcPct val="90000"/>
              </a:lnSpc>
              <a:spcBef>
                <a:spcPts val="750"/>
              </a:spcBef>
              <a:spcAft>
                <a:spcPts val="0"/>
              </a:spcAft>
              <a:buClr>
                <a:schemeClr val="dk1"/>
              </a:buClr>
              <a:buSzPct val="100000"/>
              <a:buChar char="•"/>
            </a:pPr>
            <a:r>
              <a:rPr lang="en-US" sz="3200"/>
              <a:t>The disk s divided into strips (like blocks or frames in MM).</a:t>
            </a:r>
            <a:endParaRPr/>
          </a:p>
          <a:p>
            <a:pPr indent="-187960" lvl="0" marL="171450" rtl="0" algn="l">
              <a:lnSpc>
                <a:spcPct val="90000"/>
              </a:lnSpc>
              <a:spcBef>
                <a:spcPts val="750"/>
              </a:spcBef>
              <a:spcAft>
                <a:spcPts val="0"/>
              </a:spcAft>
              <a:buClr>
                <a:schemeClr val="dk1"/>
              </a:buClr>
              <a:buSzPct val="100000"/>
              <a:buChar char="•"/>
            </a:pPr>
            <a:r>
              <a:rPr lang="en-US" sz="3200"/>
              <a:t>Best performance-but no fault tolerance.</a:t>
            </a:r>
            <a:endParaRPr sz="3200"/>
          </a:p>
          <a:p>
            <a:pPr indent="-48133" lvl="0" marL="171450" rtl="0" algn="l">
              <a:lnSpc>
                <a:spcPct val="90000"/>
              </a:lnSpc>
              <a:spcBef>
                <a:spcPts val="750"/>
              </a:spcBef>
              <a:spcAft>
                <a:spcPts val="0"/>
              </a:spcAft>
              <a:buClr>
                <a:schemeClr val="dk1"/>
              </a:buClr>
              <a:buSzPct val="100000"/>
              <a:buNone/>
            </a:pPr>
            <a:r>
              <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112"/>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762" name="Google Shape;762;p112"/>
          <p:cNvPicPr preferRelativeResize="0"/>
          <p:nvPr>
            <p:ph idx="1" type="body"/>
          </p:nvPr>
        </p:nvPicPr>
        <p:blipFill rotWithShape="1">
          <a:blip r:embed="rId3">
            <a:alphaModFix/>
          </a:blip>
          <a:srcRect b="0" l="0" r="0" t="0"/>
          <a:stretch/>
        </p:blipFill>
        <p:spPr>
          <a:xfrm>
            <a:off x="228600" y="0"/>
            <a:ext cx="9067799" cy="670560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1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u="sng"/>
              <a:t>RAID LEVEL-1</a:t>
            </a:r>
            <a:endParaRPr/>
          </a:p>
        </p:txBody>
      </p:sp>
      <p:sp>
        <p:nvSpPr>
          <p:cNvPr id="768" name="Google Shape;768;p11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lnSpcReduction="10000"/>
          </a:bodyPr>
          <a:lstStyle/>
          <a:p>
            <a:pPr indent="-177800" lvl="0" marL="171450" rtl="0" algn="l">
              <a:lnSpc>
                <a:spcPct val="90000"/>
              </a:lnSpc>
              <a:spcBef>
                <a:spcPts val="0"/>
              </a:spcBef>
              <a:spcAft>
                <a:spcPts val="0"/>
              </a:spcAft>
              <a:buClr>
                <a:schemeClr val="dk1"/>
              </a:buClr>
              <a:buSzPts val="2800"/>
              <a:buChar char="•"/>
            </a:pPr>
            <a:r>
              <a:rPr lang="en-US" sz="2800"/>
              <a:t>Redundancy of data.</a:t>
            </a:r>
            <a:endParaRPr/>
          </a:p>
          <a:p>
            <a:pPr indent="-177800" lvl="0" marL="171450" rtl="0" algn="l">
              <a:lnSpc>
                <a:spcPct val="90000"/>
              </a:lnSpc>
              <a:spcBef>
                <a:spcPts val="750"/>
              </a:spcBef>
              <a:spcAft>
                <a:spcPts val="0"/>
              </a:spcAft>
              <a:buClr>
                <a:schemeClr val="dk1"/>
              </a:buClr>
              <a:buSzPts val="2800"/>
              <a:buChar char="•"/>
            </a:pPr>
            <a:r>
              <a:rPr lang="en-US" sz="2800"/>
              <a:t>Redundancy achieved by duplicating data.</a:t>
            </a:r>
            <a:endParaRPr/>
          </a:p>
          <a:p>
            <a:pPr indent="-177800" lvl="0" marL="171450" rtl="0" algn="l">
              <a:lnSpc>
                <a:spcPct val="90000"/>
              </a:lnSpc>
              <a:spcBef>
                <a:spcPts val="750"/>
              </a:spcBef>
              <a:spcAft>
                <a:spcPts val="0"/>
              </a:spcAft>
              <a:buClr>
                <a:schemeClr val="dk1"/>
              </a:buClr>
              <a:buSzPts val="2800"/>
              <a:buChar char="•"/>
            </a:pPr>
            <a:r>
              <a:rPr lang="en-US" sz="2800"/>
              <a:t>Every disk in the array has a mirror disk with same data.</a:t>
            </a:r>
            <a:endParaRPr/>
          </a:p>
          <a:p>
            <a:pPr indent="-177800" lvl="0" marL="171450" rtl="0" algn="l">
              <a:lnSpc>
                <a:spcPct val="90000"/>
              </a:lnSpc>
              <a:spcBef>
                <a:spcPts val="750"/>
              </a:spcBef>
              <a:spcAft>
                <a:spcPts val="0"/>
              </a:spcAft>
              <a:buClr>
                <a:schemeClr val="dk1"/>
              </a:buClr>
              <a:buSzPts val="2800"/>
              <a:buChar char="•"/>
            </a:pPr>
            <a:r>
              <a:rPr lang="en-US" sz="2800"/>
              <a:t>A read request can be serviced by either of the 2 disks-Improving read performance.</a:t>
            </a:r>
            <a:endParaRPr sz="2800"/>
          </a:p>
          <a:p>
            <a:pPr indent="-177800" lvl="0" marL="171450" rtl="0" algn="l">
              <a:lnSpc>
                <a:spcPct val="90000"/>
              </a:lnSpc>
              <a:spcBef>
                <a:spcPts val="750"/>
              </a:spcBef>
              <a:spcAft>
                <a:spcPts val="0"/>
              </a:spcAft>
              <a:buClr>
                <a:schemeClr val="dk1"/>
              </a:buClr>
              <a:buSzPts val="2800"/>
              <a:buChar char="•"/>
            </a:pPr>
            <a:r>
              <a:rPr lang="en-US" sz="2800"/>
              <a:t>Write request is done in parallel.</a:t>
            </a:r>
            <a:endParaRPr sz="2800"/>
          </a:p>
          <a:p>
            <a:pPr indent="-177800" lvl="0" marL="171450" rtl="0" algn="l">
              <a:lnSpc>
                <a:spcPct val="90000"/>
              </a:lnSpc>
              <a:spcBef>
                <a:spcPts val="750"/>
              </a:spcBef>
              <a:spcAft>
                <a:spcPts val="0"/>
              </a:spcAft>
              <a:buClr>
                <a:schemeClr val="dk1"/>
              </a:buClr>
              <a:buSzPts val="2800"/>
              <a:buChar char="•"/>
            </a:pPr>
            <a:r>
              <a:rPr lang="en-US" sz="2800"/>
              <a:t>Failure recovery very easy-data still present in second drive.</a:t>
            </a:r>
            <a:endParaRPr/>
          </a:p>
          <a:p>
            <a:pPr indent="-177800" lvl="0" marL="171450" rtl="0" algn="l">
              <a:lnSpc>
                <a:spcPct val="90000"/>
              </a:lnSpc>
              <a:spcBef>
                <a:spcPts val="750"/>
              </a:spcBef>
              <a:spcAft>
                <a:spcPts val="0"/>
              </a:spcAft>
              <a:buClr>
                <a:schemeClr val="dk1"/>
              </a:buClr>
              <a:buSzPts val="2800"/>
              <a:buChar char="•"/>
            </a:pPr>
            <a:r>
              <a:rPr lang="en-US" sz="2800"/>
              <a:t>Costly-twice disk space</a:t>
            </a:r>
            <a:r>
              <a:rPr lang="en-US"/>
              <a:t>.</a:t>
            </a:r>
            <a:endParaRPr/>
          </a:p>
          <a:p>
            <a:pPr indent="-38100" lvl="0" marL="171450" rtl="0" algn="l">
              <a:lnSpc>
                <a:spcPct val="90000"/>
              </a:lnSpc>
              <a:spcBef>
                <a:spcPts val="750"/>
              </a:spcBef>
              <a:spcAft>
                <a:spcPts val="0"/>
              </a:spcAft>
              <a:buClr>
                <a:schemeClr val="dk1"/>
              </a:buClr>
              <a:buSzPts val="2100"/>
              <a:buNone/>
            </a:pPr>
            <a:r>
              <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11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774" name="Google Shape;774;p114"/>
          <p:cNvPicPr preferRelativeResize="0"/>
          <p:nvPr>
            <p:ph idx="1" type="body"/>
          </p:nvPr>
        </p:nvPicPr>
        <p:blipFill rotWithShape="1">
          <a:blip r:embed="rId3">
            <a:alphaModFix/>
          </a:blip>
          <a:srcRect b="0" l="0" r="0" t="0"/>
          <a:stretch/>
        </p:blipFill>
        <p:spPr>
          <a:xfrm>
            <a:off x="152400" y="-76200"/>
            <a:ext cx="8991600" cy="701040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11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u="sng"/>
              <a:t>RAID LEVEL-2</a:t>
            </a:r>
            <a:endParaRPr/>
          </a:p>
        </p:txBody>
      </p:sp>
      <p:sp>
        <p:nvSpPr>
          <p:cNvPr id="780" name="Google Shape;780;p115"/>
          <p:cNvSpPr txBox="1"/>
          <p:nvPr>
            <p:ph idx="1" type="body"/>
          </p:nvPr>
        </p:nvSpPr>
        <p:spPr>
          <a:xfrm>
            <a:off x="628650" y="1371600"/>
            <a:ext cx="7886700" cy="4805363"/>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t>Parallel access technique-All member disk takes part in execution of every I/O request.</a:t>
            </a:r>
            <a:endParaRPr/>
          </a:p>
          <a:p>
            <a:pPr indent="-171450" lvl="0" marL="171450" rtl="0" algn="l">
              <a:lnSpc>
                <a:spcPct val="90000"/>
              </a:lnSpc>
              <a:spcBef>
                <a:spcPts val="750"/>
              </a:spcBef>
              <a:spcAft>
                <a:spcPts val="0"/>
              </a:spcAft>
              <a:buClr>
                <a:schemeClr val="dk1"/>
              </a:buClr>
              <a:buSzPts val="2400"/>
              <a:buChar char="•"/>
            </a:pPr>
            <a:r>
              <a:rPr lang="en-US" sz="2400"/>
              <a:t>Data striping is used-as in other levels-with very smaller strips.</a:t>
            </a:r>
            <a:endParaRPr sz="2400"/>
          </a:p>
          <a:p>
            <a:pPr indent="-171450" lvl="0" marL="171450" rtl="0" algn="l">
              <a:lnSpc>
                <a:spcPct val="90000"/>
              </a:lnSpc>
              <a:spcBef>
                <a:spcPts val="750"/>
              </a:spcBef>
              <a:spcAft>
                <a:spcPts val="0"/>
              </a:spcAft>
              <a:buClr>
                <a:schemeClr val="dk1"/>
              </a:buClr>
              <a:buSzPts val="2400"/>
              <a:buChar char="•"/>
            </a:pPr>
            <a:r>
              <a:rPr lang="en-US" sz="2400"/>
              <a:t>Error correcting code –calculated across corresponding bits on each data disk and stored in multiple parity disks. </a:t>
            </a:r>
            <a:endParaRPr/>
          </a:p>
          <a:p>
            <a:pPr indent="-171450" lvl="0" marL="171450" rtl="0" algn="l">
              <a:lnSpc>
                <a:spcPct val="90000"/>
              </a:lnSpc>
              <a:spcBef>
                <a:spcPts val="750"/>
              </a:spcBef>
              <a:spcAft>
                <a:spcPts val="0"/>
              </a:spcAft>
              <a:buClr>
                <a:schemeClr val="dk1"/>
              </a:buClr>
              <a:buSzPts val="2400"/>
              <a:buChar char="•"/>
            </a:pPr>
            <a:r>
              <a:rPr lang="en-US" sz="2400"/>
              <a:t>Some discs store error correcting &amp; parity info.</a:t>
            </a:r>
            <a:endParaRPr sz="2400"/>
          </a:p>
          <a:p>
            <a:pPr indent="-171450" lvl="0" marL="171450" rtl="0" algn="l">
              <a:lnSpc>
                <a:spcPct val="90000"/>
              </a:lnSpc>
              <a:spcBef>
                <a:spcPts val="750"/>
              </a:spcBef>
              <a:spcAft>
                <a:spcPts val="0"/>
              </a:spcAft>
              <a:buClr>
                <a:schemeClr val="dk1"/>
              </a:buClr>
              <a:buSzPts val="2400"/>
              <a:buChar char="•"/>
            </a:pPr>
            <a:r>
              <a:rPr lang="en-US" sz="2400"/>
              <a:t>Hamming code used-error correction(correct single bit errors &amp; detect double bit errors).</a:t>
            </a:r>
            <a:endParaRPr sz="2400"/>
          </a:p>
          <a:p>
            <a:pPr indent="-171450" lvl="0" marL="171450" rtl="0" algn="l">
              <a:lnSpc>
                <a:spcPct val="90000"/>
              </a:lnSpc>
              <a:spcBef>
                <a:spcPts val="750"/>
              </a:spcBef>
              <a:spcAft>
                <a:spcPts val="0"/>
              </a:spcAft>
              <a:buClr>
                <a:schemeClr val="dk1"/>
              </a:buClr>
              <a:buSzPts val="2400"/>
              <a:buChar char="•"/>
            </a:pPr>
            <a:r>
              <a:rPr lang="en-US" sz="2400"/>
              <a:t>Fewer disks than RAID 1-but still costly</a:t>
            </a:r>
            <a:endParaRPr/>
          </a:p>
          <a:p>
            <a:pPr indent="-171450" lvl="0" marL="171450" rtl="0" algn="l">
              <a:lnSpc>
                <a:spcPct val="90000"/>
              </a:lnSpc>
              <a:spcBef>
                <a:spcPts val="750"/>
              </a:spcBef>
              <a:spcAft>
                <a:spcPts val="0"/>
              </a:spcAft>
              <a:buClr>
                <a:schemeClr val="dk1"/>
              </a:buClr>
              <a:buSzPts val="2400"/>
              <a:buChar char="•"/>
            </a:pPr>
            <a:r>
              <a:rPr lang="en-US" sz="2400"/>
              <a:t>No: of redundant disks proportional to log(no : of data disk).</a:t>
            </a:r>
            <a:endParaRPr/>
          </a:p>
          <a:p>
            <a:pPr indent="-19050" lvl="0" marL="171450" rtl="0" algn="l">
              <a:lnSpc>
                <a:spcPct val="90000"/>
              </a:lnSpc>
              <a:spcBef>
                <a:spcPts val="750"/>
              </a:spcBef>
              <a:spcAft>
                <a:spcPts val="0"/>
              </a:spcAft>
              <a:buClr>
                <a:schemeClr val="dk1"/>
              </a:buClr>
              <a:buSzPts val="2400"/>
              <a:buNone/>
            </a:pPr>
            <a:r>
              <a:t/>
            </a:r>
            <a:endParaRPr sz="2400"/>
          </a:p>
          <a:p>
            <a:pPr indent="-19050" lvl="0" marL="171450" rtl="0" algn="l">
              <a:lnSpc>
                <a:spcPct val="90000"/>
              </a:lnSpc>
              <a:spcBef>
                <a:spcPts val="750"/>
              </a:spcBef>
              <a:spcAft>
                <a:spcPts val="0"/>
              </a:spcAft>
              <a:buClr>
                <a:schemeClr val="dk1"/>
              </a:buClr>
              <a:buSzPts val="2400"/>
              <a:buNone/>
            </a:pPr>
            <a:r>
              <a:t/>
            </a:r>
            <a:endParaRPr sz="2400"/>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116"/>
          <p:cNvSpPr txBox="1"/>
          <p:nvPr>
            <p:ph type="title"/>
          </p:nvPr>
        </p:nvSpPr>
        <p:spPr>
          <a:xfrm>
            <a:off x="609600" y="-457200"/>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786" name="Google Shape;786;p116"/>
          <p:cNvPicPr preferRelativeResize="0"/>
          <p:nvPr>
            <p:ph idx="1" type="body"/>
          </p:nvPr>
        </p:nvPicPr>
        <p:blipFill rotWithShape="1">
          <a:blip r:embed="rId3">
            <a:alphaModFix/>
          </a:blip>
          <a:srcRect b="0" l="0" r="0" t="0"/>
          <a:stretch/>
        </p:blipFill>
        <p:spPr>
          <a:xfrm>
            <a:off x="0" y="76200"/>
            <a:ext cx="9144000" cy="655320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11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                         </a:t>
            </a:r>
            <a:r>
              <a:rPr b="1" lang="en-US" u="sng"/>
              <a:t>RAID-3</a:t>
            </a:r>
            <a:endParaRPr b="1" u="sng"/>
          </a:p>
        </p:txBody>
      </p:sp>
      <p:sp>
        <p:nvSpPr>
          <p:cNvPr id="792" name="Google Shape;792;p117"/>
          <p:cNvSpPr txBox="1"/>
          <p:nvPr>
            <p:ph idx="1" type="body"/>
          </p:nvPr>
        </p:nvSpPr>
        <p:spPr>
          <a:xfrm>
            <a:off x="628650" y="1371600"/>
            <a:ext cx="7886700" cy="4805363"/>
          </a:xfrm>
          <a:prstGeom prst="rect">
            <a:avLst/>
          </a:prstGeom>
          <a:noFill/>
          <a:ln>
            <a:noFill/>
          </a:ln>
        </p:spPr>
        <p:txBody>
          <a:bodyPr anchorCtr="0" anchor="t" bIns="45700" lIns="91425" spcFirstLastPara="1" rIns="91425" wrap="square" tIns="45700">
            <a:noAutofit/>
          </a:bodyPr>
          <a:lstStyle/>
          <a:p>
            <a:pPr indent="-171450" lvl="0" marL="171450" rtl="0" algn="l">
              <a:lnSpc>
                <a:spcPct val="90000"/>
              </a:lnSpc>
              <a:spcBef>
                <a:spcPts val="0"/>
              </a:spcBef>
              <a:spcAft>
                <a:spcPts val="0"/>
              </a:spcAft>
              <a:buClr>
                <a:schemeClr val="dk1"/>
              </a:buClr>
              <a:buSzPts val="2400"/>
              <a:buChar char="•"/>
            </a:pPr>
            <a:r>
              <a:rPr lang="en-US" sz="2400"/>
              <a:t>Organized in a similar fashion to RAID 2-</a:t>
            </a:r>
            <a:endParaRPr/>
          </a:p>
          <a:p>
            <a:pPr indent="-171450" lvl="0" marL="171450" rtl="0" algn="l">
              <a:lnSpc>
                <a:spcPct val="90000"/>
              </a:lnSpc>
              <a:spcBef>
                <a:spcPts val="750"/>
              </a:spcBef>
              <a:spcAft>
                <a:spcPts val="0"/>
              </a:spcAft>
              <a:buClr>
                <a:schemeClr val="dk1"/>
              </a:buClr>
              <a:buSzPts val="2400"/>
              <a:buChar char="•"/>
            </a:pPr>
            <a:r>
              <a:rPr lang="en-US" sz="2400"/>
              <a:t>Difference –This  requires only a single  disk to storing parity, no matter how large the disk array. </a:t>
            </a:r>
            <a:endParaRPr sz="2400"/>
          </a:p>
          <a:p>
            <a:pPr indent="-171450" lvl="0" marL="171450" rtl="0" algn="l">
              <a:lnSpc>
                <a:spcPct val="90000"/>
              </a:lnSpc>
              <a:spcBef>
                <a:spcPts val="750"/>
              </a:spcBef>
              <a:spcAft>
                <a:spcPts val="0"/>
              </a:spcAft>
              <a:buClr>
                <a:schemeClr val="dk1"/>
              </a:buClr>
              <a:buSzPts val="2400"/>
              <a:buChar char="•"/>
            </a:pPr>
            <a:r>
              <a:rPr lang="en-US" sz="2400"/>
              <a:t>Employs parallel access, with data distributed in small strips. </a:t>
            </a:r>
            <a:endParaRPr sz="2400"/>
          </a:p>
          <a:p>
            <a:pPr indent="-171450" lvl="0" marL="171450" rtl="0" algn="l">
              <a:lnSpc>
                <a:spcPct val="90000"/>
              </a:lnSpc>
              <a:spcBef>
                <a:spcPts val="750"/>
              </a:spcBef>
              <a:spcAft>
                <a:spcPts val="0"/>
              </a:spcAft>
              <a:buClr>
                <a:schemeClr val="dk1"/>
              </a:buClr>
              <a:buSzPts val="2400"/>
              <a:buChar char="•"/>
            </a:pPr>
            <a:r>
              <a:rPr lang="en-US" sz="2400"/>
              <a:t>A simple parity bit is computed for the set of individual bits in the same position on all of the data disks.</a:t>
            </a:r>
            <a:endParaRPr/>
          </a:p>
          <a:p>
            <a:pPr indent="-171450" lvl="0" marL="171450" rtl="0" algn="l">
              <a:lnSpc>
                <a:spcPct val="90000"/>
              </a:lnSpc>
              <a:spcBef>
                <a:spcPts val="750"/>
              </a:spcBef>
              <a:spcAft>
                <a:spcPts val="0"/>
              </a:spcAft>
              <a:buClr>
                <a:schemeClr val="dk1"/>
              </a:buClr>
              <a:buSzPts val="2400"/>
              <a:buChar char="•"/>
            </a:pPr>
            <a:r>
              <a:rPr b="1" i="1" lang="en-US" sz="2400"/>
              <a:t>REDUNDANCY- </a:t>
            </a:r>
            <a:r>
              <a:rPr lang="en-US" sz="2400"/>
              <a:t>In the event of a drive failure, the parity drive is accessed and data is reconstructed from the remaining disks in the array. </a:t>
            </a:r>
            <a:endParaRPr/>
          </a:p>
          <a:p>
            <a:pPr indent="-171450" lvl="0" marL="171450" rtl="0" algn="l">
              <a:lnSpc>
                <a:spcPct val="90000"/>
              </a:lnSpc>
              <a:spcBef>
                <a:spcPts val="750"/>
              </a:spcBef>
              <a:spcAft>
                <a:spcPts val="0"/>
              </a:spcAft>
              <a:buClr>
                <a:schemeClr val="dk1"/>
              </a:buClr>
              <a:buSzPts val="2400"/>
              <a:buChar char="•"/>
            </a:pPr>
            <a:r>
              <a:rPr lang="en-US" sz="2400"/>
              <a:t>Once the failed drive is replaced, the missing data can be restored on the new drive and operation resumed.</a:t>
            </a:r>
            <a:endParaRPr sz="2400"/>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1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RAID-3</a:t>
            </a:r>
            <a:endParaRPr/>
          </a:p>
        </p:txBody>
      </p:sp>
      <p:sp>
        <p:nvSpPr>
          <p:cNvPr id="798" name="Google Shape;798;p11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b="1" i="1" lang="en-US"/>
              <a:t>PERFORMANCE -</a:t>
            </a:r>
            <a:r>
              <a:rPr lang="en-US"/>
              <a:t>Data are striped in very small strips, RAID 3 can achieve very high data transfer rates. </a:t>
            </a:r>
            <a:endParaRPr/>
          </a:p>
          <a:p>
            <a:pPr indent="-171450" lvl="0" marL="171450" rtl="0" algn="l">
              <a:lnSpc>
                <a:spcPct val="90000"/>
              </a:lnSpc>
              <a:spcBef>
                <a:spcPts val="750"/>
              </a:spcBef>
              <a:spcAft>
                <a:spcPts val="0"/>
              </a:spcAft>
              <a:buClr>
                <a:schemeClr val="dk1"/>
              </a:buClr>
              <a:buSzPts val="2100"/>
              <a:buChar char="•"/>
            </a:pPr>
            <a:r>
              <a:rPr lang="en-US"/>
              <a:t>Any I/O request will involve the parallel transfer of data from all of the data disks. </a:t>
            </a:r>
            <a:endParaRPr/>
          </a:p>
          <a:p>
            <a:pPr indent="-171450" lvl="0" marL="171450" rtl="0" algn="l">
              <a:lnSpc>
                <a:spcPct val="90000"/>
              </a:lnSpc>
              <a:spcBef>
                <a:spcPts val="750"/>
              </a:spcBef>
              <a:spcAft>
                <a:spcPts val="0"/>
              </a:spcAft>
              <a:buClr>
                <a:schemeClr val="dk1"/>
              </a:buClr>
              <a:buSzPts val="2100"/>
              <a:buChar char="•"/>
            </a:pPr>
            <a:r>
              <a:rPr lang="en-US"/>
              <a:t>Only one I/O request can be executed at a time. </a:t>
            </a:r>
            <a:endParaRPr/>
          </a:p>
          <a:p>
            <a:pPr indent="-171450" lvl="0" marL="171450" rtl="0" algn="l">
              <a:lnSpc>
                <a:spcPct val="90000"/>
              </a:lnSpc>
              <a:spcBef>
                <a:spcPts val="750"/>
              </a:spcBef>
              <a:spcAft>
                <a:spcPts val="0"/>
              </a:spcAft>
              <a:buClr>
                <a:schemeClr val="dk1"/>
              </a:buClr>
              <a:buSzPts val="2100"/>
              <a:buChar char="•"/>
            </a:pPr>
            <a:r>
              <a:rPr lang="en-US"/>
              <a:t>Thus, in a transaction-oriented environment, performance suffers.</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11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804" name="Google Shape;804;p119"/>
          <p:cNvPicPr preferRelativeResize="0"/>
          <p:nvPr>
            <p:ph idx="1" type="body"/>
          </p:nvPr>
        </p:nvPicPr>
        <p:blipFill rotWithShape="1">
          <a:blip r:embed="rId3">
            <a:alphaModFix/>
          </a:blip>
          <a:srcRect b="0" l="0" r="0" t="0"/>
          <a:stretch/>
        </p:blipFill>
        <p:spPr>
          <a:xfrm>
            <a:off x="304800" y="228600"/>
            <a:ext cx="8686800" cy="6329363"/>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2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RAID_4</a:t>
            </a:r>
            <a:endParaRPr/>
          </a:p>
        </p:txBody>
      </p:sp>
      <p:sp>
        <p:nvSpPr>
          <p:cNvPr id="810" name="Google Shape;810;p120"/>
          <p:cNvSpPr txBox="1"/>
          <p:nvPr>
            <p:ph idx="1" type="body"/>
          </p:nvPr>
        </p:nvSpPr>
        <p:spPr>
          <a:xfrm>
            <a:off x="628650" y="1524000"/>
            <a:ext cx="7886700" cy="4652963"/>
          </a:xfrm>
          <a:prstGeom prst="rect">
            <a:avLst/>
          </a:prstGeom>
          <a:noFill/>
          <a:ln>
            <a:noFill/>
          </a:ln>
        </p:spPr>
        <p:txBody>
          <a:bodyPr anchorCtr="0" anchor="t" bIns="45700" lIns="91425" spcFirstLastPara="1" rIns="91425" wrap="square" tIns="45700">
            <a:normAutofit lnSpcReduction="10000"/>
          </a:bodyPr>
          <a:lstStyle/>
          <a:p>
            <a:pPr indent="-171450" lvl="0" marL="171450" rtl="0" algn="l">
              <a:lnSpc>
                <a:spcPct val="90000"/>
              </a:lnSpc>
              <a:spcBef>
                <a:spcPts val="0"/>
              </a:spcBef>
              <a:spcAft>
                <a:spcPts val="0"/>
              </a:spcAft>
              <a:buClr>
                <a:schemeClr val="dk1"/>
              </a:buClr>
              <a:buSzPts val="2400"/>
              <a:buChar char="•"/>
            </a:pPr>
            <a:r>
              <a:rPr lang="en-US" sz="2400"/>
              <a:t>Separate I/O requests can be satisfied in parallel. </a:t>
            </a:r>
            <a:endParaRPr sz="2400"/>
          </a:p>
          <a:p>
            <a:pPr indent="-171450" lvl="0" marL="171450" rtl="0" algn="l">
              <a:lnSpc>
                <a:spcPct val="90000"/>
              </a:lnSpc>
              <a:spcBef>
                <a:spcPts val="750"/>
              </a:spcBef>
              <a:spcAft>
                <a:spcPts val="0"/>
              </a:spcAft>
              <a:buClr>
                <a:schemeClr val="dk1"/>
              </a:buClr>
              <a:buSzPts val="2400"/>
              <a:buChar char="•"/>
            </a:pPr>
            <a:r>
              <a:rPr lang="en-US" sz="2400"/>
              <a:t>Uses large stripes-means a user can read records from any single drive. </a:t>
            </a:r>
            <a:endParaRPr sz="2400"/>
          </a:p>
          <a:p>
            <a:pPr indent="0" lvl="0" marL="0" rtl="0" algn="l">
              <a:lnSpc>
                <a:spcPct val="90000"/>
              </a:lnSpc>
              <a:spcBef>
                <a:spcPts val="750"/>
              </a:spcBef>
              <a:spcAft>
                <a:spcPts val="0"/>
              </a:spcAft>
              <a:buClr>
                <a:schemeClr val="dk1"/>
              </a:buClr>
              <a:buSzPts val="2400"/>
              <a:buNone/>
            </a:pPr>
            <a:r>
              <a:t/>
            </a:r>
            <a:endParaRPr sz="2400"/>
          </a:p>
          <a:p>
            <a:pPr indent="-171450" lvl="0" marL="171450" rtl="0" algn="l">
              <a:lnSpc>
                <a:spcPct val="90000"/>
              </a:lnSpc>
              <a:spcBef>
                <a:spcPts val="750"/>
              </a:spcBef>
              <a:spcAft>
                <a:spcPts val="0"/>
              </a:spcAft>
              <a:buClr>
                <a:schemeClr val="dk1"/>
              </a:buClr>
              <a:buSzPts val="2400"/>
              <a:buChar char="•"/>
            </a:pPr>
            <a:r>
              <a:rPr lang="en-US" sz="2400"/>
              <a:t>Suitable for applications- that require high I/O request rates </a:t>
            </a:r>
            <a:endParaRPr sz="2400"/>
          </a:p>
          <a:p>
            <a:pPr indent="0" lvl="0" marL="0" rtl="0" algn="l">
              <a:lnSpc>
                <a:spcPct val="90000"/>
              </a:lnSpc>
              <a:spcBef>
                <a:spcPts val="750"/>
              </a:spcBef>
              <a:spcAft>
                <a:spcPts val="0"/>
              </a:spcAft>
              <a:buClr>
                <a:schemeClr val="dk1"/>
              </a:buClr>
              <a:buSzPts val="2400"/>
              <a:buNone/>
            </a:pPr>
            <a:r>
              <a:rPr lang="en-US" sz="2400"/>
              <a:t>and</a:t>
            </a:r>
            <a:endParaRPr/>
          </a:p>
          <a:p>
            <a:pPr indent="0" lvl="0" marL="0" rtl="0" algn="l">
              <a:lnSpc>
                <a:spcPct val="90000"/>
              </a:lnSpc>
              <a:spcBef>
                <a:spcPts val="750"/>
              </a:spcBef>
              <a:spcAft>
                <a:spcPts val="0"/>
              </a:spcAft>
              <a:buClr>
                <a:schemeClr val="dk1"/>
              </a:buClr>
              <a:buSzPts val="2400"/>
              <a:buNone/>
            </a:pPr>
            <a:r>
              <a:rPr lang="en-US" sz="2400"/>
              <a:t> less suited for applications -that require high data transfer rates.</a:t>
            </a:r>
            <a:endParaRPr/>
          </a:p>
          <a:p>
            <a:pPr indent="0" lvl="0" marL="0" rtl="0" algn="l">
              <a:lnSpc>
                <a:spcPct val="90000"/>
              </a:lnSpc>
              <a:spcBef>
                <a:spcPts val="750"/>
              </a:spcBef>
              <a:spcAft>
                <a:spcPts val="0"/>
              </a:spcAft>
              <a:buClr>
                <a:schemeClr val="dk1"/>
              </a:buClr>
              <a:buSzPts val="2400"/>
              <a:buNone/>
            </a:pPr>
            <a:r>
              <a:t/>
            </a:r>
            <a:endParaRPr sz="2400"/>
          </a:p>
          <a:p>
            <a:pPr indent="-171450" lvl="0" marL="171450" rtl="0" algn="l">
              <a:lnSpc>
                <a:spcPct val="90000"/>
              </a:lnSpc>
              <a:spcBef>
                <a:spcPts val="750"/>
              </a:spcBef>
              <a:spcAft>
                <a:spcPts val="0"/>
              </a:spcAft>
              <a:buClr>
                <a:schemeClr val="dk1"/>
              </a:buClr>
              <a:buSzPts val="2400"/>
              <a:buChar char="•"/>
            </a:pPr>
            <a:r>
              <a:rPr lang="en-US" sz="2400"/>
              <a:t>A bit-by-bit parity strip is calculated across corresponding strips on each data disk, and the parity bits are stored in the corresponding strip on the parity disk.</a:t>
            </a:r>
            <a:endParaRPr/>
          </a:p>
          <a:p>
            <a:pPr indent="-38100" lvl="0" marL="171450" rtl="0" algn="l">
              <a:lnSpc>
                <a:spcPct val="90000"/>
              </a:lnSpc>
              <a:spcBef>
                <a:spcPts val="750"/>
              </a:spcBef>
              <a:spcAft>
                <a:spcPts val="0"/>
              </a:spcAft>
              <a:buClr>
                <a:schemeClr val="dk1"/>
              </a:buClr>
              <a:buSzPts val="2100"/>
              <a:buNone/>
            </a:pPr>
            <a:r>
              <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2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                </a:t>
            </a:r>
            <a:r>
              <a:rPr b="1" lang="en-US" u="sng"/>
              <a:t>RAID-4</a:t>
            </a:r>
            <a:endParaRPr b="1" u="sng"/>
          </a:p>
        </p:txBody>
      </p:sp>
      <p:sp>
        <p:nvSpPr>
          <p:cNvPr id="816" name="Google Shape;816;p12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t>Each update requires, -updating the user data and also the parity drive.</a:t>
            </a:r>
            <a:endParaRPr/>
          </a:p>
          <a:p>
            <a:pPr indent="-19050" lvl="0" marL="171450" rtl="0" algn="l">
              <a:lnSpc>
                <a:spcPct val="90000"/>
              </a:lnSpc>
              <a:spcBef>
                <a:spcPts val="750"/>
              </a:spcBef>
              <a:spcAft>
                <a:spcPts val="0"/>
              </a:spcAft>
              <a:buClr>
                <a:schemeClr val="dk1"/>
              </a:buClr>
              <a:buSzPts val="2400"/>
              <a:buNone/>
            </a:pPr>
            <a:r>
              <a:t/>
            </a:r>
            <a:endParaRPr sz="2400"/>
          </a:p>
          <a:p>
            <a:pPr indent="-171450" lvl="0" marL="171450" rtl="0" algn="l">
              <a:lnSpc>
                <a:spcPct val="90000"/>
              </a:lnSpc>
              <a:spcBef>
                <a:spcPts val="750"/>
              </a:spcBef>
              <a:spcAft>
                <a:spcPts val="0"/>
              </a:spcAft>
              <a:buClr>
                <a:schemeClr val="dk1"/>
              </a:buClr>
              <a:buSzPts val="2400"/>
              <a:buChar char="•"/>
            </a:pPr>
            <a:r>
              <a:rPr lang="en-US" sz="2400"/>
              <a:t>To calculate the new parity, -read the old user strip and the old parity strip. </a:t>
            </a:r>
            <a:endParaRPr sz="2400"/>
          </a:p>
          <a:p>
            <a:pPr indent="-171450" lvl="0" marL="171450" rtl="0" algn="l">
              <a:lnSpc>
                <a:spcPct val="90000"/>
              </a:lnSpc>
              <a:spcBef>
                <a:spcPts val="750"/>
              </a:spcBef>
              <a:spcAft>
                <a:spcPts val="0"/>
              </a:spcAft>
              <a:buClr>
                <a:schemeClr val="dk1"/>
              </a:buClr>
              <a:buSzPts val="2400"/>
              <a:buChar char="•"/>
            </a:pPr>
            <a:r>
              <a:rPr lang="en-US" sz="2400"/>
              <a:t>Then  update these two strips with the new data and the newly calculated parity. </a:t>
            </a:r>
            <a:endParaRPr sz="2400"/>
          </a:p>
          <a:p>
            <a:pPr indent="-19050" lvl="0" marL="171450" rtl="0" algn="l">
              <a:lnSpc>
                <a:spcPct val="90000"/>
              </a:lnSpc>
              <a:spcBef>
                <a:spcPts val="750"/>
              </a:spcBef>
              <a:spcAft>
                <a:spcPts val="0"/>
              </a:spcAft>
              <a:buClr>
                <a:schemeClr val="dk1"/>
              </a:buClr>
              <a:buSzPts val="2400"/>
              <a:buNone/>
            </a:pPr>
            <a:r>
              <a:t/>
            </a:r>
            <a:endParaRPr sz="2400"/>
          </a:p>
          <a:p>
            <a:pPr indent="-171450" lvl="0" marL="171450" rtl="0" algn="l">
              <a:lnSpc>
                <a:spcPct val="90000"/>
              </a:lnSpc>
              <a:spcBef>
                <a:spcPts val="750"/>
              </a:spcBef>
              <a:spcAft>
                <a:spcPts val="0"/>
              </a:spcAft>
              <a:buClr>
                <a:schemeClr val="dk1"/>
              </a:buClr>
              <a:buSzPts val="2400"/>
              <a:buChar char="•"/>
            </a:pPr>
            <a:r>
              <a:rPr lang="en-US" sz="2400"/>
              <a:t>Thus, each strip write involves two reads and two writes</a:t>
            </a:r>
            <a:r>
              <a:rPr lang="en-US"/>
              <a:t>.</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122"/>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822" name="Google Shape;822;p122"/>
          <p:cNvPicPr preferRelativeResize="0"/>
          <p:nvPr>
            <p:ph idx="1" type="body"/>
          </p:nvPr>
        </p:nvPicPr>
        <p:blipFill rotWithShape="1">
          <a:blip r:embed="rId3">
            <a:alphaModFix/>
          </a:blip>
          <a:srcRect b="0" l="0" r="0" t="0"/>
          <a:stretch/>
        </p:blipFill>
        <p:spPr>
          <a:xfrm>
            <a:off x="381000" y="228600"/>
            <a:ext cx="8382000" cy="5948363"/>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2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                            </a:t>
            </a:r>
            <a:r>
              <a:rPr b="1" lang="en-US" u="sng"/>
              <a:t>RAID-5</a:t>
            </a:r>
            <a:endParaRPr b="1" u="sng"/>
          </a:p>
        </p:txBody>
      </p:sp>
      <p:sp>
        <p:nvSpPr>
          <p:cNvPr id="828" name="Google Shape;828;p123"/>
          <p:cNvSpPr txBox="1"/>
          <p:nvPr>
            <p:ph idx="1" type="body"/>
          </p:nvPr>
        </p:nvSpPr>
        <p:spPr>
          <a:xfrm>
            <a:off x="628650" y="1371600"/>
            <a:ext cx="7886700" cy="4805363"/>
          </a:xfrm>
          <a:prstGeom prst="rect">
            <a:avLst/>
          </a:prstGeom>
          <a:noFill/>
          <a:ln>
            <a:noFill/>
          </a:ln>
        </p:spPr>
        <p:txBody>
          <a:bodyPr anchorCtr="0" anchor="t" bIns="45700" lIns="91425" spcFirstLastPara="1" rIns="91425" wrap="square" tIns="45700">
            <a:normAutofit lnSpcReduction="10000"/>
          </a:bodyPr>
          <a:lstStyle/>
          <a:p>
            <a:pPr indent="-177800" lvl="0" marL="171450" rtl="0" algn="l">
              <a:lnSpc>
                <a:spcPct val="90000"/>
              </a:lnSpc>
              <a:spcBef>
                <a:spcPts val="0"/>
              </a:spcBef>
              <a:spcAft>
                <a:spcPts val="0"/>
              </a:spcAft>
              <a:buClr>
                <a:schemeClr val="dk1"/>
              </a:buClr>
              <a:buSzPts val="2800"/>
              <a:buChar char="•"/>
            </a:pPr>
            <a:r>
              <a:rPr lang="en-US" sz="2800"/>
              <a:t>RAID 5 is organized in a similar fashion to RAID 4.</a:t>
            </a:r>
            <a:endParaRPr/>
          </a:p>
          <a:p>
            <a:pPr indent="0" lvl="0" marL="0" rtl="0" algn="l">
              <a:lnSpc>
                <a:spcPct val="90000"/>
              </a:lnSpc>
              <a:spcBef>
                <a:spcPts val="750"/>
              </a:spcBef>
              <a:spcAft>
                <a:spcPts val="0"/>
              </a:spcAft>
              <a:buClr>
                <a:schemeClr val="dk1"/>
              </a:buClr>
              <a:buSzPts val="2800"/>
              <a:buNone/>
            </a:pPr>
            <a:r>
              <a:t/>
            </a:r>
            <a:endParaRPr sz="2800"/>
          </a:p>
          <a:p>
            <a:pPr indent="-177800" lvl="0" marL="171450" rtl="0" algn="l">
              <a:lnSpc>
                <a:spcPct val="90000"/>
              </a:lnSpc>
              <a:spcBef>
                <a:spcPts val="750"/>
              </a:spcBef>
              <a:spcAft>
                <a:spcPts val="0"/>
              </a:spcAft>
              <a:buClr>
                <a:schemeClr val="dk1"/>
              </a:buClr>
              <a:buSzPts val="2800"/>
              <a:buChar char="•"/>
            </a:pPr>
            <a:r>
              <a:rPr lang="en-US" sz="2800"/>
              <a:t>The difference - parity information is striped across each drive, enabling the array to function, even if one drive were to fail.</a:t>
            </a:r>
            <a:endParaRPr/>
          </a:p>
          <a:p>
            <a:pPr indent="0" lvl="0" marL="171450" rtl="0" algn="l">
              <a:lnSpc>
                <a:spcPct val="90000"/>
              </a:lnSpc>
              <a:spcBef>
                <a:spcPts val="750"/>
              </a:spcBef>
              <a:spcAft>
                <a:spcPts val="0"/>
              </a:spcAft>
              <a:buClr>
                <a:schemeClr val="dk1"/>
              </a:buClr>
              <a:buSzPts val="2800"/>
              <a:buNone/>
            </a:pPr>
            <a:r>
              <a:t/>
            </a:r>
            <a:endParaRPr sz="2800"/>
          </a:p>
          <a:p>
            <a:pPr indent="-177800" lvl="0" marL="171450" rtl="0" algn="l">
              <a:lnSpc>
                <a:spcPct val="90000"/>
              </a:lnSpc>
              <a:spcBef>
                <a:spcPts val="750"/>
              </a:spcBef>
              <a:spcAft>
                <a:spcPts val="0"/>
              </a:spcAft>
              <a:buClr>
                <a:schemeClr val="dk1"/>
              </a:buClr>
              <a:buSzPts val="2800"/>
              <a:buChar char="•"/>
            </a:pPr>
            <a:r>
              <a:rPr lang="en-US" sz="2800"/>
              <a:t>A typical allocation is a round-robin scheme.</a:t>
            </a:r>
            <a:endParaRPr/>
          </a:p>
          <a:p>
            <a:pPr indent="0" lvl="0" marL="0" rtl="0" algn="l">
              <a:lnSpc>
                <a:spcPct val="90000"/>
              </a:lnSpc>
              <a:spcBef>
                <a:spcPts val="750"/>
              </a:spcBef>
              <a:spcAft>
                <a:spcPts val="0"/>
              </a:spcAft>
              <a:buClr>
                <a:schemeClr val="dk1"/>
              </a:buClr>
              <a:buSzPts val="2800"/>
              <a:buNone/>
            </a:pPr>
            <a:r>
              <a:t/>
            </a:r>
            <a:endParaRPr sz="2800"/>
          </a:p>
          <a:p>
            <a:pPr indent="-177800" lvl="0" marL="171450" rtl="0" algn="l">
              <a:lnSpc>
                <a:spcPct val="90000"/>
              </a:lnSpc>
              <a:spcBef>
                <a:spcPts val="750"/>
              </a:spcBef>
              <a:spcAft>
                <a:spcPts val="0"/>
              </a:spcAft>
              <a:buClr>
                <a:schemeClr val="dk1"/>
              </a:buClr>
              <a:buSzPts val="2800"/>
              <a:buChar char="•"/>
            </a:pPr>
            <a:r>
              <a:rPr lang="en-US" sz="2800"/>
              <a:t> For an n-disk array, the parity strip is on a different disk for the first n stripes, and the pattern then repeats.</a:t>
            </a:r>
            <a:endParaRPr sz="2800"/>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12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834" name="Google Shape;834;p124"/>
          <p:cNvPicPr preferRelativeResize="0"/>
          <p:nvPr>
            <p:ph idx="1" type="body"/>
          </p:nvPr>
        </p:nvPicPr>
        <p:blipFill rotWithShape="1">
          <a:blip r:embed="rId3">
            <a:alphaModFix/>
          </a:blip>
          <a:srcRect b="0" l="0" r="0" t="0"/>
          <a:stretch/>
        </p:blipFill>
        <p:spPr>
          <a:xfrm>
            <a:off x="381000" y="152400"/>
            <a:ext cx="8534400" cy="6024563"/>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12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                        </a:t>
            </a:r>
            <a:r>
              <a:rPr b="1" lang="en-US" u="sng"/>
              <a:t>RAID-6</a:t>
            </a:r>
            <a:endParaRPr b="1" u="sng"/>
          </a:p>
        </p:txBody>
      </p:sp>
      <p:sp>
        <p:nvSpPr>
          <p:cNvPr id="840" name="Google Shape;840;p12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92500"/>
          </a:bodyPr>
          <a:lstStyle/>
          <a:p>
            <a:pPr indent="0" lvl="0" marL="0" rtl="0" algn="l">
              <a:lnSpc>
                <a:spcPct val="90000"/>
              </a:lnSpc>
              <a:spcBef>
                <a:spcPts val="0"/>
              </a:spcBef>
              <a:spcAft>
                <a:spcPts val="0"/>
              </a:spcAft>
              <a:buClr>
                <a:schemeClr val="dk1"/>
              </a:buClr>
              <a:buSzPct val="100000"/>
              <a:buNone/>
            </a:pPr>
            <a:r>
              <a:rPr lang="en-US"/>
              <a:t>Here, two different parity calculations are carried out and stored in separate blocks on different disks. </a:t>
            </a:r>
            <a:endParaRPr/>
          </a:p>
          <a:p>
            <a:pPr indent="0" lvl="0" marL="0" rtl="0" algn="l">
              <a:lnSpc>
                <a:spcPct val="90000"/>
              </a:lnSpc>
              <a:spcBef>
                <a:spcPts val="750"/>
              </a:spcBef>
              <a:spcAft>
                <a:spcPts val="0"/>
              </a:spcAft>
              <a:buClr>
                <a:schemeClr val="dk1"/>
              </a:buClr>
              <a:buSzPct val="100000"/>
              <a:buNone/>
            </a:pPr>
            <a:r>
              <a:rPr lang="en-US"/>
              <a:t>1) Exclusive-OR calculation used in RAID 4 and 5.</a:t>
            </a:r>
            <a:endParaRPr/>
          </a:p>
          <a:p>
            <a:pPr indent="0" lvl="0" marL="0" rtl="0" algn="l">
              <a:lnSpc>
                <a:spcPct val="90000"/>
              </a:lnSpc>
              <a:spcBef>
                <a:spcPts val="750"/>
              </a:spcBef>
              <a:spcAft>
                <a:spcPts val="0"/>
              </a:spcAft>
              <a:buClr>
                <a:schemeClr val="dk1"/>
              </a:buClr>
              <a:buSzPct val="100000"/>
              <a:buNone/>
            </a:pPr>
            <a:r>
              <a:rPr lang="en-US"/>
              <a:t>2) An independent data check algorithm.</a:t>
            </a:r>
            <a:endParaRPr/>
          </a:p>
          <a:p>
            <a:pPr indent="-171481" lvl="0" marL="171450" rtl="0" algn="l">
              <a:lnSpc>
                <a:spcPct val="90000"/>
              </a:lnSpc>
              <a:spcBef>
                <a:spcPts val="750"/>
              </a:spcBef>
              <a:spcAft>
                <a:spcPts val="0"/>
              </a:spcAft>
              <a:buClr>
                <a:schemeClr val="dk1"/>
              </a:buClr>
              <a:buSzPct val="100000"/>
              <a:buChar char="•"/>
            </a:pPr>
            <a:r>
              <a:rPr lang="en-US"/>
              <a:t>In RAID-6,if user data require N disks consists of N +2 disks.</a:t>
            </a:r>
            <a:endParaRPr/>
          </a:p>
          <a:p>
            <a:pPr indent="-171481" lvl="0" marL="171450" rtl="0" algn="l">
              <a:lnSpc>
                <a:spcPct val="90000"/>
              </a:lnSpc>
              <a:spcBef>
                <a:spcPts val="750"/>
              </a:spcBef>
              <a:spcAft>
                <a:spcPts val="0"/>
              </a:spcAft>
              <a:buClr>
                <a:schemeClr val="dk1"/>
              </a:buClr>
              <a:buSzPct val="100000"/>
              <a:buChar char="•"/>
            </a:pPr>
            <a:r>
              <a:rPr lang="en-US"/>
              <a:t>Data check algorithm makes it possible to regenerate data even if two disks containing user data fail.</a:t>
            </a:r>
            <a:endParaRPr/>
          </a:p>
          <a:p>
            <a:pPr indent="-171481" lvl="0" marL="171450" rtl="0" algn="l">
              <a:lnSpc>
                <a:spcPct val="90000"/>
              </a:lnSpc>
              <a:spcBef>
                <a:spcPts val="750"/>
              </a:spcBef>
              <a:spcAft>
                <a:spcPts val="0"/>
              </a:spcAft>
              <a:buClr>
                <a:schemeClr val="dk1"/>
              </a:buClr>
              <a:buSzPct val="100000"/>
              <a:buChar char="•"/>
            </a:pPr>
            <a:r>
              <a:rPr lang="en-US"/>
              <a:t>The advantage of RAID 6 is that it provides extremely high data availability.</a:t>
            </a:r>
            <a:endParaRPr/>
          </a:p>
          <a:p>
            <a:pPr indent="-171481" lvl="0" marL="171450" rtl="0" algn="l">
              <a:lnSpc>
                <a:spcPct val="90000"/>
              </a:lnSpc>
              <a:spcBef>
                <a:spcPts val="750"/>
              </a:spcBef>
              <a:spcAft>
                <a:spcPts val="0"/>
              </a:spcAft>
              <a:buClr>
                <a:schemeClr val="dk1"/>
              </a:buClr>
              <a:buSzPct val="100000"/>
              <a:buChar char="•"/>
            </a:pPr>
            <a:r>
              <a:rPr lang="en-US"/>
              <a:t> RAID 6 incurs a substantial write penalty, because each write affects two parity blocks. </a:t>
            </a:r>
            <a:endParaRPr/>
          </a:p>
          <a:p>
            <a:pPr indent="-171481" lvl="0" marL="171450" rtl="0" algn="l">
              <a:lnSpc>
                <a:spcPct val="90000"/>
              </a:lnSpc>
              <a:spcBef>
                <a:spcPts val="750"/>
              </a:spcBef>
              <a:spcAft>
                <a:spcPts val="0"/>
              </a:spcAft>
              <a:buClr>
                <a:schemeClr val="dk1"/>
              </a:buClr>
              <a:buSzPct val="100000"/>
              <a:buChar char="•"/>
            </a:pPr>
            <a:r>
              <a:rPr lang="en-US"/>
              <a:t>RAID 6 controller  suffer more than a 30% drop in overall write performance</a:t>
            </a:r>
            <a:endParaRPr/>
          </a:p>
          <a:p>
            <a:pPr indent="0" lvl="0" marL="0" rtl="0" algn="l">
              <a:lnSpc>
                <a:spcPct val="90000"/>
              </a:lnSpc>
              <a:spcBef>
                <a:spcPts val="750"/>
              </a:spcBef>
              <a:spcAft>
                <a:spcPts val="0"/>
              </a:spcAft>
              <a:buClr>
                <a:schemeClr val="dk1"/>
              </a:buClr>
              <a:buSzPct val="100000"/>
              <a:buNone/>
            </a:pPr>
            <a:r>
              <a:rPr lang="en-US"/>
              <a:t>compared with a RAID 5 implementation. </a:t>
            </a:r>
            <a:endParaRPr/>
          </a:p>
          <a:p>
            <a:pPr indent="0" lvl="0" marL="0" rtl="0" algn="l">
              <a:lnSpc>
                <a:spcPct val="90000"/>
              </a:lnSpc>
              <a:spcBef>
                <a:spcPts val="750"/>
              </a:spcBef>
              <a:spcAft>
                <a:spcPts val="0"/>
              </a:spcAft>
              <a:buClr>
                <a:schemeClr val="dk1"/>
              </a:buClr>
              <a:buSzPct val="100000"/>
              <a:buNone/>
            </a:pPr>
            <a:r>
              <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26"/>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846" name="Google Shape;846;p126"/>
          <p:cNvPicPr preferRelativeResize="0"/>
          <p:nvPr>
            <p:ph idx="1" type="body"/>
          </p:nvPr>
        </p:nvPicPr>
        <p:blipFill rotWithShape="1">
          <a:blip r:embed="rId3">
            <a:alphaModFix/>
          </a:blip>
          <a:srcRect b="0" l="0" r="0" t="0"/>
          <a:stretch/>
        </p:blipFill>
        <p:spPr>
          <a:xfrm>
            <a:off x="-76200" y="304800"/>
            <a:ext cx="9144000" cy="6400800"/>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12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852" name="Google Shape;852;p127"/>
          <p:cNvPicPr preferRelativeResize="0"/>
          <p:nvPr>
            <p:ph idx="1" type="body"/>
          </p:nvPr>
        </p:nvPicPr>
        <p:blipFill rotWithShape="1">
          <a:blip r:embed="rId3">
            <a:alphaModFix/>
          </a:blip>
          <a:srcRect b="0" l="0" r="0" t="0"/>
          <a:stretch/>
        </p:blipFill>
        <p:spPr>
          <a:xfrm>
            <a:off x="304800" y="304800"/>
            <a:ext cx="8534399" cy="5872163"/>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2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858" name="Google Shape;858;p128"/>
          <p:cNvPicPr preferRelativeResize="0"/>
          <p:nvPr>
            <p:ph idx="1" type="body"/>
          </p:nvPr>
        </p:nvPicPr>
        <p:blipFill rotWithShape="1">
          <a:blip r:embed="rId3">
            <a:alphaModFix/>
          </a:blip>
          <a:srcRect b="0" l="0" r="0" t="0"/>
          <a:stretch/>
        </p:blipFill>
        <p:spPr>
          <a:xfrm>
            <a:off x="228601" y="152400"/>
            <a:ext cx="8610600" cy="6024563"/>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12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sp>
        <p:nvSpPr>
          <p:cNvPr id="864" name="Google Shape;864;p12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38100" lvl="0" marL="171450" rtl="0" algn="l">
              <a:lnSpc>
                <a:spcPct val="90000"/>
              </a:lnSpc>
              <a:spcBef>
                <a:spcPts val="0"/>
              </a:spcBef>
              <a:spcAft>
                <a:spcPts val="0"/>
              </a:spcAft>
              <a:buClr>
                <a:schemeClr val="dk1"/>
              </a:buClr>
              <a:buSzPts val="2100"/>
              <a:buNone/>
            </a:pPr>
            <a:r>
              <a:t/>
            </a:r>
            <a:endParaRPr/>
          </a:p>
        </p:txBody>
      </p:sp>
      <p:pic>
        <p:nvPicPr>
          <p:cNvPr id="865" name="Google Shape;865;p129"/>
          <p:cNvPicPr preferRelativeResize="0"/>
          <p:nvPr/>
        </p:nvPicPr>
        <p:blipFill rotWithShape="1">
          <a:blip r:embed="rId3">
            <a:alphaModFix/>
          </a:blip>
          <a:srcRect b="0" l="0" r="0" t="0"/>
          <a:stretch/>
        </p:blipFill>
        <p:spPr>
          <a:xfrm>
            <a:off x="228600" y="0"/>
            <a:ext cx="8610599" cy="64103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VU_KJSCE THEME TEMPLATE FOR PPT_Standard Screen (3)">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2017-07-03T08:50:35Z</dcterms:created>
  <dc:creator>ofc</dc:creator>
</cp:coreProperties>
</file>