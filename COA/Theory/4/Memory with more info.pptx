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159.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71.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160.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46.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69.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67.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164.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16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Lst>
  <p:sldSz cy="6858000" cx="9144000"/>
  <p:notesSz cx="9144000" cy="6858000"/>
  <p:embeddedFontLst>
    <p:embeddedFont>
      <p:font typeface="Noto Sans Symbols"/>
      <p:regular r:id="rId179"/>
      <p:bold r:id="rId180"/>
    </p:embeddedFont>
    <p:embeddedFont>
      <p:font typeface="Arial Black"/>
      <p:regular r:id="rId18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guide id="3" orient="horz" pos="360">
          <p15:clr>
            <a:srgbClr val="747775"/>
          </p15:clr>
        </p15:guide>
      </p15:sldGuideLst>
    </p:ext>
    <p:ext uri="http://customooxmlschemas.google.com/">
      <go:slidesCustomData xmlns:go="http://customooxmlschemas.google.com/" r:id="rId182" roundtripDataSignature="AMtx7mjNMRpgrUHeOaQtCHZQN4eGzwpq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1BDAFC8-E8DF-4A75-9545-EAE88DFA4F55}">
  <a:tblStyle styleId="{41BDAFC8-E8DF-4A75-9545-EAE88DFA4F55}"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 pos="360"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182" Type="http://customschemas.google.com/relationships/presentationmetadata" Target="metadata"/><Relationship Id="rId35" Type="http://schemas.openxmlformats.org/officeDocument/2006/relationships/slide" Target="slides/slide29.xml"/><Relationship Id="rId181" Type="http://schemas.openxmlformats.org/officeDocument/2006/relationships/font" Target="fonts/ArialBlack-regular.fntdata"/><Relationship Id="rId34" Type="http://schemas.openxmlformats.org/officeDocument/2006/relationships/slide" Target="slides/slide28.xml"/><Relationship Id="rId180" Type="http://schemas.openxmlformats.org/officeDocument/2006/relationships/font" Target="fonts/NotoSansSymbols-bold.fntdata"/><Relationship Id="rId37" Type="http://schemas.openxmlformats.org/officeDocument/2006/relationships/slide" Target="slides/slide31.xml"/><Relationship Id="rId176" Type="http://schemas.openxmlformats.org/officeDocument/2006/relationships/slide" Target="slides/slide170.xml"/><Relationship Id="rId36" Type="http://schemas.openxmlformats.org/officeDocument/2006/relationships/slide" Target="slides/slide30.xml"/><Relationship Id="rId175" Type="http://schemas.openxmlformats.org/officeDocument/2006/relationships/slide" Target="slides/slide169.xml"/><Relationship Id="rId39" Type="http://schemas.openxmlformats.org/officeDocument/2006/relationships/slide" Target="slides/slide33.xml"/><Relationship Id="rId174" Type="http://schemas.openxmlformats.org/officeDocument/2006/relationships/slide" Target="slides/slide168.xml"/><Relationship Id="rId38" Type="http://schemas.openxmlformats.org/officeDocument/2006/relationships/slide" Target="slides/slide32.xml"/><Relationship Id="rId173" Type="http://schemas.openxmlformats.org/officeDocument/2006/relationships/slide" Target="slides/slide167.xml"/><Relationship Id="rId179" Type="http://schemas.openxmlformats.org/officeDocument/2006/relationships/font" Target="fonts/NotoSansSymbols-regular.fntdata"/><Relationship Id="rId178" Type="http://schemas.openxmlformats.org/officeDocument/2006/relationships/slide" Target="slides/slide172.xml"/><Relationship Id="rId177" Type="http://schemas.openxmlformats.org/officeDocument/2006/relationships/slide" Target="slides/slide171.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slide" Target="slides/slide144.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3.xml"/><Relationship Id="rId4" Type="http://schemas.openxmlformats.org/officeDocument/2006/relationships/tableStyles" Target="tableStyles.xml"/><Relationship Id="rId148" Type="http://schemas.openxmlformats.org/officeDocument/2006/relationships/slide" Target="slides/slide142.xml"/><Relationship Id="rId9" Type="http://schemas.openxmlformats.org/officeDocument/2006/relationships/slide" Target="slides/slide3.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5" Type="http://schemas.openxmlformats.org/officeDocument/2006/relationships/slideMaster" Target="slideMasters/slideMaster1.xml"/><Relationship Id="rId147" Type="http://schemas.openxmlformats.org/officeDocument/2006/relationships/slide" Target="slides/slide141.xml"/><Relationship Id="rId6" Type="http://schemas.openxmlformats.org/officeDocument/2006/relationships/notesMaster" Target="notesMasters/notesMaster1.xml"/><Relationship Id="rId146" Type="http://schemas.openxmlformats.org/officeDocument/2006/relationships/slide" Target="slides/slide140.xml"/><Relationship Id="rId7" Type="http://schemas.openxmlformats.org/officeDocument/2006/relationships/slide" Target="slides/slide1.xml"/><Relationship Id="rId145" Type="http://schemas.openxmlformats.org/officeDocument/2006/relationships/slide" Target="slides/slide139.xml"/><Relationship Id="rId8" Type="http://schemas.openxmlformats.org/officeDocument/2006/relationships/slide" Target="slides/slide2.xml"/><Relationship Id="rId144" Type="http://schemas.openxmlformats.org/officeDocument/2006/relationships/slide" Target="slides/slide138.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172" Type="http://schemas.openxmlformats.org/officeDocument/2006/relationships/slide" Target="slides/slide166.xml"/><Relationship Id="rId65" Type="http://schemas.openxmlformats.org/officeDocument/2006/relationships/slide" Target="slides/slide59.xml"/><Relationship Id="rId171" Type="http://schemas.openxmlformats.org/officeDocument/2006/relationships/slide" Target="slides/slide165.xml"/><Relationship Id="rId68" Type="http://schemas.openxmlformats.org/officeDocument/2006/relationships/slide" Target="slides/slide62.xml"/><Relationship Id="rId170" Type="http://schemas.openxmlformats.org/officeDocument/2006/relationships/slide" Target="slides/slide164.xml"/><Relationship Id="rId67" Type="http://schemas.openxmlformats.org/officeDocument/2006/relationships/slide" Target="slides/slide61.xml"/><Relationship Id="rId60" Type="http://schemas.openxmlformats.org/officeDocument/2006/relationships/slide" Target="slides/slide54.xml"/><Relationship Id="rId165" Type="http://schemas.openxmlformats.org/officeDocument/2006/relationships/slide" Target="slides/slide159.xml"/><Relationship Id="rId69" Type="http://schemas.openxmlformats.org/officeDocument/2006/relationships/slide" Target="slides/slide63.xml"/><Relationship Id="rId164" Type="http://schemas.openxmlformats.org/officeDocument/2006/relationships/slide" Target="slides/slide158.xml"/><Relationship Id="rId163" Type="http://schemas.openxmlformats.org/officeDocument/2006/relationships/slide" Target="slides/slide157.xml"/><Relationship Id="rId162" Type="http://schemas.openxmlformats.org/officeDocument/2006/relationships/slide" Target="slides/slide156.xml"/><Relationship Id="rId169" Type="http://schemas.openxmlformats.org/officeDocument/2006/relationships/slide" Target="slides/slide163.xml"/><Relationship Id="rId168" Type="http://schemas.openxmlformats.org/officeDocument/2006/relationships/slide" Target="slides/slide162.xml"/><Relationship Id="rId167" Type="http://schemas.openxmlformats.org/officeDocument/2006/relationships/slide" Target="slides/slide161.xml"/><Relationship Id="rId166" Type="http://schemas.openxmlformats.org/officeDocument/2006/relationships/slide" Target="slides/slide160.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161" Type="http://schemas.openxmlformats.org/officeDocument/2006/relationships/slide" Target="slides/slide155.xml"/><Relationship Id="rId54" Type="http://schemas.openxmlformats.org/officeDocument/2006/relationships/slide" Target="slides/slide48.xml"/><Relationship Id="rId160" Type="http://schemas.openxmlformats.org/officeDocument/2006/relationships/slide" Target="slides/slide154.xml"/><Relationship Id="rId57" Type="http://schemas.openxmlformats.org/officeDocument/2006/relationships/slide" Target="slides/slide51.xml"/><Relationship Id="rId56" Type="http://schemas.openxmlformats.org/officeDocument/2006/relationships/slide" Target="slides/slide50.xml"/><Relationship Id="rId159" Type="http://schemas.openxmlformats.org/officeDocument/2006/relationships/slide" Target="slides/slide153.xml"/><Relationship Id="rId59" Type="http://schemas.openxmlformats.org/officeDocument/2006/relationships/slide" Target="slides/slide53.xml"/><Relationship Id="rId154" Type="http://schemas.openxmlformats.org/officeDocument/2006/relationships/slide" Target="slides/slide148.xml"/><Relationship Id="rId58" Type="http://schemas.openxmlformats.org/officeDocument/2006/relationships/slide" Target="slides/slide52.xml"/><Relationship Id="rId153" Type="http://schemas.openxmlformats.org/officeDocument/2006/relationships/slide" Target="slides/slide147.xml"/><Relationship Id="rId152" Type="http://schemas.openxmlformats.org/officeDocument/2006/relationships/slide" Target="slides/slide146.xml"/><Relationship Id="rId151" Type="http://schemas.openxmlformats.org/officeDocument/2006/relationships/slide" Target="slides/slide145.xml"/><Relationship Id="rId158" Type="http://schemas.openxmlformats.org/officeDocument/2006/relationships/slide" Target="slides/slide152.xml"/><Relationship Id="rId157" Type="http://schemas.openxmlformats.org/officeDocument/2006/relationships/slide" Target="slides/slide151.xml"/><Relationship Id="rId156" Type="http://schemas.openxmlformats.org/officeDocument/2006/relationships/slide" Target="slides/slide150.xml"/><Relationship Id="rId155" Type="http://schemas.openxmlformats.org/officeDocument/2006/relationships/slide" Target="slides/slide1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44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44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3962400" cy="3444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13513"/>
            <a:ext cx="3962400" cy="3444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 name="Google Shape;46;p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 name="Google Shape;52;p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 name="Google Shape;66;p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p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 name="Google Shape;79;p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p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9: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1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1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1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1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13: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1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1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1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1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1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1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9: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2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20: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20:notes"/>
          <p:cNvSpPr txBox="1"/>
          <p:nvPr>
            <p:ph idx="12" type="sldNum"/>
          </p:nvPr>
        </p:nvSpPr>
        <p:spPr>
          <a:xfrm>
            <a:off x="5180013" y="6513513"/>
            <a:ext cx="3962400" cy="3444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2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2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2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2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2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23: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2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2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2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2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2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2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29: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29:notes"/>
          <p:cNvSpPr txBox="1"/>
          <p:nvPr>
            <p:ph idx="12" type="sldNum"/>
          </p:nvPr>
        </p:nvSpPr>
        <p:spPr>
          <a:xfrm>
            <a:off x="5180013" y="6513513"/>
            <a:ext cx="3962400" cy="3444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3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3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3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3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3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3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33: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3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3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3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3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3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3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3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3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39: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3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4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4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4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4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4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43: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4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p4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4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4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4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4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4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4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4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4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49: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4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5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p5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5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p5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5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5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5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53: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5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5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5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p5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5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p5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5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5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5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5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59: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5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6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6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6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1" name="Google Shape;441;p6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6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7" name="Google Shape;447;p6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6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3" name="Google Shape;453;p63: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6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p6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6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5" name="Google Shape;465;p6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6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1" name="Google Shape;471;p6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6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7" name="Google Shape;477;p6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6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4" name="Google Shape;484;p6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69: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0" name="Google Shape;490;p6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7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1" name="Google Shape;501;p7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7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7" name="Google Shape;507;p7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7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5" name="Google Shape;515;p7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7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1" name="Google Shape;521;p73: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7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7" name="Google Shape;527;p7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7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5" name="Google Shape;535;p7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7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1" name="Google Shape;541;p7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7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7" name="Google Shape;547;p7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7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4" name="Google Shape;554;p7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79: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3" name="Google Shape;563;p7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8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9" name="Google Shape;569;p8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8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 name="Google Shape;576;p8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8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5" name="Google Shape;585;p8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8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1" name="Google Shape;591;p83: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8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p8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8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2" name="Google Shape;602;p8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8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8" name="Google Shape;608;p8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8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4" name="Google Shape;614;p8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8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0" name="Google Shape;620;p8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89: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6" name="Google Shape;626;p8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9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3" name="Google Shape;633;p9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9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9" name="Google Shape;639;p9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9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5" name="Google Shape;645;p9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9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1" name="Google Shape;651;p93: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9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7" name="Google Shape;657;p9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9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2" name="Google Shape;662;p9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9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8" name="Google Shape;668;p9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9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4" name="Google Shape;674;p9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9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9" name="Google Shape;679;p9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99: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4" name="Google Shape;684;p9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10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9" name="Google Shape;689;p10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10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4" name="Google Shape;694;p10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10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9" name="Google Shape;699;p10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10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4" name="Google Shape;704;p103: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10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9" name="Google Shape;709;p10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10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6" name="Google Shape;716;p10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10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2" name="Google Shape;722;p10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10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7" name="Google Shape;727;p10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10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3" name="Google Shape;733;p10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p109: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9" name="Google Shape;739;p10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11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5" name="Google Shape;745;p11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11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3" name="Google Shape;753;p11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11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9" name="Google Shape;759;p11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11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6" name="Google Shape;766;p113: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11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2" name="Google Shape;772;p11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11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8" name="Google Shape;778;p11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11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3" name="Google Shape;783;p11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11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9" name="Google Shape;789;p11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1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5" name="Google Shape;795;p11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p119: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1" name="Google Shape;801;p11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12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7" name="Google Shape;807;p12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12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3" name="Google Shape;813;p12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p12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9" name="Google Shape;819;p12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2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5" name="Google Shape;825;p123: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12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1" name="Google Shape;831;p12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p12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7" name="Google Shape;837;p12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12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2" name="Google Shape;842;p12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p12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9" name="Google Shape;849;p12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12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5" name="Google Shape;855;p12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p129: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1" name="Google Shape;861;p12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p13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7" name="Google Shape;867;p13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p13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3" name="Google Shape;873;p13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13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8" name="Google Shape;878;p13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13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3" name="Google Shape;883;p133: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p13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9" name="Google Shape;889;p13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13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5" name="Google Shape;895;p13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p13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1" name="Google Shape;901;p13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p13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7" name="Google Shape;907;p13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p13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3" name="Google Shape;913;p13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14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9" name="Google Shape;919;p14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p14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4" name="Google Shape;924;p14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p14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1" name="Google Shape;931;p14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p14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7" name="Google Shape;937;p143: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p14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4" name="Google Shape;944;p14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14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0" name="Google Shape;950;p14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p14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6" name="Google Shape;956;p14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p14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1" name="Google Shape;961;p14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p14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7" name="Google Shape;967;p14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149: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3" name="Google Shape;973;p14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15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0" name="Google Shape;980;p15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p15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6" name="Google Shape;986;p15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p15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2" name="Google Shape;992;p15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p15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8" name="Google Shape;998;p153: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p15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5" name="Google Shape;1005;p15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p15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1" name="Google Shape;1011;p15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p15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8" name="Google Shape;1018;p15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15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5" name="Google Shape;1025;p15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p15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2" name="Google Shape;1032;p15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p159: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8" name="Google Shape;1038;p15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p16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4" name="Google Shape;1044;p16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p16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0" name="Google Shape;1050;p16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p16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6" name="Google Shape;1056;p16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p16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3" name="Google Shape;1063;p163: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p16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9" name="Google Shape;1069;p16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p16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6" name="Google Shape;1076;p16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p16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3" name="Google Shape;1083;p16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p16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9" name="Google Shape;1089;p16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p16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6" name="Google Shape;1096;p16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p169: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2" name="Google Shape;1102;p16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p17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9" name="Google Shape;1109;p17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p17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5" name="Google Shape;1115;p17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p17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1" name="Google Shape;1121;p17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p17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7" name="Google Shape;1127;p173: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p17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3" name="Google Shape;1133;p17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6" name="Shape 16"/>
        <p:cNvGrpSpPr/>
        <p:nvPr/>
      </p:nvGrpSpPr>
      <p:grpSpPr>
        <a:xfrm>
          <a:off x="0" y="0"/>
          <a:ext cx="0" cy="0"/>
          <a:chOff x="0" y="0"/>
          <a:chExt cx="0" cy="0"/>
        </a:xfrm>
      </p:grpSpPr>
      <p:sp>
        <p:nvSpPr>
          <p:cNvPr id="17" name="Google Shape;17;p177"/>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77"/>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77"/>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algn="r">
              <a:spcBef>
                <a:spcPts val="0"/>
              </a:spcBef>
              <a:buNone/>
              <a:defRPr sz="1800">
                <a:solidFill>
                  <a:srgbClr val="888888"/>
                </a:solidFill>
                <a:latin typeface="Calibri"/>
                <a:ea typeface="Calibri"/>
                <a:cs typeface="Calibri"/>
                <a:sym typeface="Calibri"/>
              </a:defRPr>
            </a:lvl1pPr>
            <a:lvl2pPr indent="0" lvl="1" marL="0" algn="r">
              <a:spcBef>
                <a:spcPts val="0"/>
              </a:spcBef>
              <a:buNone/>
              <a:defRPr sz="1800">
                <a:solidFill>
                  <a:srgbClr val="888888"/>
                </a:solidFill>
                <a:latin typeface="Calibri"/>
                <a:ea typeface="Calibri"/>
                <a:cs typeface="Calibri"/>
                <a:sym typeface="Calibri"/>
              </a:defRPr>
            </a:lvl2pPr>
            <a:lvl3pPr indent="0" lvl="2" marL="0" algn="r">
              <a:spcBef>
                <a:spcPts val="0"/>
              </a:spcBef>
              <a:buNone/>
              <a:defRPr sz="1800">
                <a:solidFill>
                  <a:srgbClr val="888888"/>
                </a:solidFill>
                <a:latin typeface="Calibri"/>
                <a:ea typeface="Calibri"/>
                <a:cs typeface="Calibri"/>
                <a:sym typeface="Calibri"/>
              </a:defRPr>
            </a:lvl3pPr>
            <a:lvl4pPr indent="0" lvl="3" marL="0" algn="r">
              <a:spcBef>
                <a:spcPts val="0"/>
              </a:spcBef>
              <a:buNone/>
              <a:defRPr sz="1800">
                <a:solidFill>
                  <a:srgbClr val="888888"/>
                </a:solidFill>
                <a:latin typeface="Calibri"/>
                <a:ea typeface="Calibri"/>
                <a:cs typeface="Calibri"/>
                <a:sym typeface="Calibri"/>
              </a:defRPr>
            </a:lvl4pPr>
            <a:lvl5pPr indent="0" lvl="4" marL="0" algn="r">
              <a:spcBef>
                <a:spcPts val="0"/>
              </a:spcBef>
              <a:buNone/>
              <a:defRPr sz="1800">
                <a:solidFill>
                  <a:srgbClr val="888888"/>
                </a:solidFill>
                <a:latin typeface="Calibri"/>
                <a:ea typeface="Calibri"/>
                <a:cs typeface="Calibri"/>
                <a:sym typeface="Calibri"/>
              </a:defRPr>
            </a:lvl5pPr>
            <a:lvl6pPr indent="0" lvl="5" marL="0" algn="r">
              <a:spcBef>
                <a:spcPts val="0"/>
              </a:spcBef>
              <a:buNone/>
              <a:defRPr sz="1800">
                <a:solidFill>
                  <a:srgbClr val="888888"/>
                </a:solidFill>
                <a:latin typeface="Calibri"/>
                <a:ea typeface="Calibri"/>
                <a:cs typeface="Calibri"/>
                <a:sym typeface="Calibri"/>
              </a:defRPr>
            </a:lvl6pPr>
            <a:lvl7pPr indent="0" lvl="6" marL="0" algn="r">
              <a:spcBef>
                <a:spcPts val="0"/>
              </a:spcBef>
              <a:buNone/>
              <a:defRPr sz="1800">
                <a:solidFill>
                  <a:srgbClr val="888888"/>
                </a:solidFill>
                <a:latin typeface="Calibri"/>
                <a:ea typeface="Calibri"/>
                <a:cs typeface="Calibri"/>
                <a:sym typeface="Calibri"/>
              </a:defRPr>
            </a:lvl7pPr>
            <a:lvl8pPr indent="0" lvl="7" marL="0" algn="r">
              <a:spcBef>
                <a:spcPts val="0"/>
              </a:spcBef>
              <a:buNone/>
              <a:defRPr sz="1800">
                <a:solidFill>
                  <a:srgbClr val="888888"/>
                </a:solidFill>
                <a:latin typeface="Calibri"/>
                <a:ea typeface="Calibri"/>
                <a:cs typeface="Calibri"/>
                <a:sym typeface="Calibri"/>
              </a:defRPr>
            </a:lvl8pPr>
            <a:lvl9pPr indent="0" lvl="8" marL="0" algn="r">
              <a:spcBef>
                <a:spcPts val="0"/>
              </a:spcBef>
              <a:buNone/>
              <a:defRPr sz="1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0" name="Shape 20"/>
        <p:cNvGrpSpPr/>
        <p:nvPr/>
      </p:nvGrpSpPr>
      <p:grpSpPr>
        <a:xfrm>
          <a:off x="0" y="0"/>
          <a:ext cx="0" cy="0"/>
          <a:chOff x="0" y="0"/>
          <a:chExt cx="0" cy="0"/>
        </a:xfrm>
      </p:grpSpPr>
      <p:sp>
        <p:nvSpPr>
          <p:cNvPr id="21" name="Google Shape;21;p178"/>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800">
                <a:solidFill>
                  <a:schemeClr val="dk1"/>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78"/>
          <p:cNvSpPr txBox="1"/>
          <p:nvPr>
            <p:ph idx="1" type="body"/>
          </p:nvPr>
        </p:nvSpPr>
        <p:spPr>
          <a:xfrm>
            <a:off x="525144" y="1188465"/>
            <a:ext cx="8093710" cy="371538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2000">
                <a:solidFill>
                  <a:schemeClr val="dk1"/>
                </a:solidFill>
                <a:latin typeface="Verdana"/>
                <a:ea typeface="Verdana"/>
                <a:cs typeface="Verdana"/>
                <a:sym typeface="Verdana"/>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 name="Google Shape;23;p178"/>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78"/>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78"/>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algn="r">
              <a:spcBef>
                <a:spcPts val="0"/>
              </a:spcBef>
              <a:buNone/>
              <a:defRPr sz="1800">
                <a:solidFill>
                  <a:srgbClr val="888888"/>
                </a:solidFill>
                <a:latin typeface="Calibri"/>
                <a:ea typeface="Calibri"/>
                <a:cs typeface="Calibri"/>
                <a:sym typeface="Calibri"/>
              </a:defRPr>
            </a:lvl1pPr>
            <a:lvl2pPr indent="0" lvl="1" marL="0" algn="r">
              <a:spcBef>
                <a:spcPts val="0"/>
              </a:spcBef>
              <a:buNone/>
              <a:defRPr sz="1800">
                <a:solidFill>
                  <a:srgbClr val="888888"/>
                </a:solidFill>
                <a:latin typeface="Calibri"/>
                <a:ea typeface="Calibri"/>
                <a:cs typeface="Calibri"/>
                <a:sym typeface="Calibri"/>
              </a:defRPr>
            </a:lvl2pPr>
            <a:lvl3pPr indent="0" lvl="2" marL="0" algn="r">
              <a:spcBef>
                <a:spcPts val="0"/>
              </a:spcBef>
              <a:buNone/>
              <a:defRPr sz="1800">
                <a:solidFill>
                  <a:srgbClr val="888888"/>
                </a:solidFill>
                <a:latin typeface="Calibri"/>
                <a:ea typeface="Calibri"/>
                <a:cs typeface="Calibri"/>
                <a:sym typeface="Calibri"/>
              </a:defRPr>
            </a:lvl3pPr>
            <a:lvl4pPr indent="0" lvl="3" marL="0" algn="r">
              <a:spcBef>
                <a:spcPts val="0"/>
              </a:spcBef>
              <a:buNone/>
              <a:defRPr sz="1800">
                <a:solidFill>
                  <a:srgbClr val="888888"/>
                </a:solidFill>
                <a:latin typeface="Calibri"/>
                <a:ea typeface="Calibri"/>
                <a:cs typeface="Calibri"/>
                <a:sym typeface="Calibri"/>
              </a:defRPr>
            </a:lvl4pPr>
            <a:lvl5pPr indent="0" lvl="4" marL="0" algn="r">
              <a:spcBef>
                <a:spcPts val="0"/>
              </a:spcBef>
              <a:buNone/>
              <a:defRPr sz="1800">
                <a:solidFill>
                  <a:srgbClr val="888888"/>
                </a:solidFill>
                <a:latin typeface="Calibri"/>
                <a:ea typeface="Calibri"/>
                <a:cs typeface="Calibri"/>
                <a:sym typeface="Calibri"/>
              </a:defRPr>
            </a:lvl5pPr>
            <a:lvl6pPr indent="0" lvl="5" marL="0" algn="r">
              <a:spcBef>
                <a:spcPts val="0"/>
              </a:spcBef>
              <a:buNone/>
              <a:defRPr sz="1800">
                <a:solidFill>
                  <a:srgbClr val="888888"/>
                </a:solidFill>
                <a:latin typeface="Calibri"/>
                <a:ea typeface="Calibri"/>
                <a:cs typeface="Calibri"/>
                <a:sym typeface="Calibri"/>
              </a:defRPr>
            </a:lvl6pPr>
            <a:lvl7pPr indent="0" lvl="6" marL="0" algn="r">
              <a:spcBef>
                <a:spcPts val="0"/>
              </a:spcBef>
              <a:buNone/>
              <a:defRPr sz="1800">
                <a:solidFill>
                  <a:srgbClr val="888888"/>
                </a:solidFill>
                <a:latin typeface="Calibri"/>
                <a:ea typeface="Calibri"/>
                <a:cs typeface="Calibri"/>
                <a:sym typeface="Calibri"/>
              </a:defRPr>
            </a:lvl7pPr>
            <a:lvl8pPr indent="0" lvl="7" marL="0" algn="r">
              <a:spcBef>
                <a:spcPts val="0"/>
              </a:spcBef>
              <a:buNone/>
              <a:defRPr sz="1800">
                <a:solidFill>
                  <a:srgbClr val="888888"/>
                </a:solidFill>
                <a:latin typeface="Calibri"/>
                <a:ea typeface="Calibri"/>
                <a:cs typeface="Calibri"/>
                <a:sym typeface="Calibri"/>
              </a:defRPr>
            </a:lvl8pPr>
            <a:lvl9pPr indent="0" lvl="8" marL="0" algn="r">
              <a:spcBef>
                <a:spcPts val="0"/>
              </a:spcBef>
              <a:buNone/>
              <a:defRPr sz="1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6" name="Shape 26"/>
        <p:cNvGrpSpPr/>
        <p:nvPr/>
      </p:nvGrpSpPr>
      <p:grpSpPr>
        <a:xfrm>
          <a:off x="0" y="0"/>
          <a:ext cx="0" cy="0"/>
          <a:chOff x="0" y="0"/>
          <a:chExt cx="0" cy="0"/>
        </a:xfrm>
      </p:grpSpPr>
      <p:sp>
        <p:nvSpPr>
          <p:cNvPr id="27" name="Google Shape;27;p179"/>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800">
                <a:solidFill>
                  <a:schemeClr val="dk1"/>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179"/>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79"/>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79"/>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algn="r">
              <a:spcBef>
                <a:spcPts val="0"/>
              </a:spcBef>
              <a:buNone/>
              <a:defRPr sz="1800">
                <a:solidFill>
                  <a:srgbClr val="888888"/>
                </a:solidFill>
                <a:latin typeface="Calibri"/>
                <a:ea typeface="Calibri"/>
                <a:cs typeface="Calibri"/>
                <a:sym typeface="Calibri"/>
              </a:defRPr>
            </a:lvl1pPr>
            <a:lvl2pPr indent="0" lvl="1" marL="0" algn="r">
              <a:spcBef>
                <a:spcPts val="0"/>
              </a:spcBef>
              <a:buNone/>
              <a:defRPr sz="1800">
                <a:solidFill>
                  <a:srgbClr val="888888"/>
                </a:solidFill>
                <a:latin typeface="Calibri"/>
                <a:ea typeface="Calibri"/>
                <a:cs typeface="Calibri"/>
                <a:sym typeface="Calibri"/>
              </a:defRPr>
            </a:lvl2pPr>
            <a:lvl3pPr indent="0" lvl="2" marL="0" algn="r">
              <a:spcBef>
                <a:spcPts val="0"/>
              </a:spcBef>
              <a:buNone/>
              <a:defRPr sz="1800">
                <a:solidFill>
                  <a:srgbClr val="888888"/>
                </a:solidFill>
                <a:latin typeface="Calibri"/>
                <a:ea typeface="Calibri"/>
                <a:cs typeface="Calibri"/>
                <a:sym typeface="Calibri"/>
              </a:defRPr>
            </a:lvl3pPr>
            <a:lvl4pPr indent="0" lvl="3" marL="0" algn="r">
              <a:spcBef>
                <a:spcPts val="0"/>
              </a:spcBef>
              <a:buNone/>
              <a:defRPr sz="1800">
                <a:solidFill>
                  <a:srgbClr val="888888"/>
                </a:solidFill>
                <a:latin typeface="Calibri"/>
                <a:ea typeface="Calibri"/>
                <a:cs typeface="Calibri"/>
                <a:sym typeface="Calibri"/>
              </a:defRPr>
            </a:lvl4pPr>
            <a:lvl5pPr indent="0" lvl="4" marL="0" algn="r">
              <a:spcBef>
                <a:spcPts val="0"/>
              </a:spcBef>
              <a:buNone/>
              <a:defRPr sz="1800">
                <a:solidFill>
                  <a:srgbClr val="888888"/>
                </a:solidFill>
                <a:latin typeface="Calibri"/>
                <a:ea typeface="Calibri"/>
                <a:cs typeface="Calibri"/>
                <a:sym typeface="Calibri"/>
              </a:defRPr>
            </a:lvl5pPr>
            <a:lvl6pPr indent="0" lvl="5" marL="0" algn="r">
              <a:spcBef>
                <a:spcPts val="0"/>
              </a:spcBef>
              <a:buNone/>
              <a:defRPr sz="1800">
                <a:solidFill>
                  <a:srgbClr val="888888"/>
                </a:solidFill>
                <a:latin typeface="Calibri"/>
                <a:ea typeface="Calibri"/>
                <a:cs typeface="Calibri"/>
                <a:sym typeface="Calibri"/>
              </a:defRPr>
            </a:lvl6pPr>
            <a:lvl7pPr indent="0" lvl="6" marL="0" algn="r">
              <a:spcBef>
                <a:spcPts val="0"/>
              </a:spcBef>
              <a:buNone/>
              <a:defRPr sz="1800">
                <a:solidFill>
                  <a:srgbClr val="888888"/>
                </a:solidFill>
                <a:latin typeface="Calibri"/>
                <a:ea typeface="Calibri"/>
                <a:cs typeface="Calibri"/>
                <a:sym typeface="Calibri"/>
              </a:defRPr>
            </a:lvl7pPr>
            <a:lvl8pPr indent="0" lvl="7" marL="0" algn="r">
              <a:spcBef>
                <a:spcPts val="0"/>
              </a:spcBef>
              <a:buNone/>
              <a:defRPr sz="1800">
                <a:solidFill>
                  <a:srgbClr val="888888"/>
                </a:solidFill>
                <a:latin typeface="Calibri"/>
                <a:ea typeface="Calibri"/>
                <a:cs typeface="Calibri"/>
                <a:sym typeface="Calibri"/>
              </a:defRPr>
            </a:lvl8pPr>
            <a:lvl9pPr indent="0" lvl="8" marL="0" algn="r">
              <a:spcBef>
                <a:spcPts val="0"/>
              </a:spcBef>
              <a:buNone/>
              <a:defRPr sz="1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1" name="Shape 31"/>
        <p:cNvGrpSpPr/>
        <p:nvPr/>
      </p:nvGrpSpPr>
      <p:grpSpPr>
        <a:xfrm>
          <a:off x="0" y="0"/>
          <a:ext cx="0" cy="0"/>
          <a:chOff x="0" y="0"/>
          <a:chExt cx="0" cy="0"/>
        </a:xfrm>
      </p:grpSpPr>
      <p:sp>
        <p:nvSpPr>
          <p:cNvPr id="32" name="Google Shape;32;p180"/>
          <p:cNvSpPr txBox="1"/>
          <p:nvPr>
            <p:ph type="ctrTitle"/>
          </p:nvPr>
        </p:nvSpPr>
        <p:spPr>
          <a:xfrm>
            <a:off x="3076194" y="974493"/>
            <a:ext cx="2991611" cy="14890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80"/>
          <p:cNvSpPr txBox="1"/>
          <p:nvPr>
            <p:ph idx="1" type="subTitle"/>
          </p:nvPr>
        </p:nvSpPr>
        <p:spPr>
          <a:xfrm>
            <a:off x="1371600" y="3840480"/>
            <a:ext cx="64008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80"/>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80"/>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80"/>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algn="r">
              <a:spcBef>
                <a:spcPts val="0"/>
              </a:spcBef>
              <a:buNone/>
              <a:defRPr sz="1800">
                <a:solidFill>
                  <a:srgbClr val="888888"/>
                </a:solidFill>
                <a:latin typeface="Calibri"/>
                <a:ea typeface="Calibri"/>
                <a:cs typeface="Calibri"/>
                <a:sym typeface="Calibri"/>
              </a:defRPr>
            </a:lvl1pPr>
            <a:lvl2pPr indent="0" lvl="1" marL="0" algn="r">
              <a:spcBef>
                <a:spcPts val="0"/>
              </a:spcBef>
              <a:buNone/>
              <a:defRPr sz="1800">
                <a:solidFill>
                  <a:srgbClr val="888888"/>
                </a:solidFill>
                <a:latin typeface="Calibri"/>
                <a:ea typeface="Calibri"/>
                <a:cs typeface="Calibri"/>
                <a:sym typeface="Calibri"/>
              </a:defRPr>
            </a:lvl2pPr>
            <a:lvl3pPr indent="0" lvl="2" marL="0" algn="r">
              <a:spcBef>
                <a:spcPts val="0"/>
              </a:spcBef>
              <a:buNone/>
              <a:defRPr sz="1800">
                <a:solidFill>
                  <a:srgbClr val="888888"/>
                </a:solidFill>
                <a:latin typeface="Calibri"/>
                <a:ea typeface="Calibri"/>
                <a:cs typeface="Calibri"/>
                <a:sym typeface="Calibri"/>
              </a:defRPr>
            </a:lvl3pPr>
            <a:lvl4pPr indent="0" lvl="3" marL="0" algn="r">
              <a:spcBef>
                <a:spcPts val="0"/>
              </a:spcBef>
              <a:buNone/>
              <a:defRPr sz="1800">
                <a:solidFill>
                  <a:srgbClr val="888888"/>
                </a:solidFill>
                <a:latin typeface="Calibri"/>
                <a:ea typeface="Calibri"/>
                <a:cs typeface="Calibri"/>
                <a:sym typeface="Calibri"/>
              </a:defRPr>
            </a:lvl4pPr>
            <a:lvl5pPr indent="0" lvl="4" marL="0" algn="r">
              <a:spcBef>
                <a:spcPts val="0"/>
              </a:spcBef>
              <a:buNone/>
              <a:defRPr sz="1800">
                <a:solidFill>
                  <a:srgbClr val="888888"/>
                </a:solidFill>
                <a:latin typeface="Calibri"/>
                <a:ea typeface="Calibri"/>
                <a:cs typeface="Calibri"/>
                <a:sym typeface="Calibri"/>
              </a:defRPr>
            </a:lvl5pPr>
            <a:lvl6pPr indent="0" lvl="5" marL="0" algn="r">
              <a:spcBef>
                <a:spcPts val="0"/>
              </a:spcBef>
              <a:buNone/>
              <a:defRPr sz="1800">
                <a:solidFill>
                  <a:srgbClr val="888888"/>
                </a:solidFill>
                <a:latin typeface="Calibri"/>
                <a:ea typeface="Calibri"/>
                <a:cs typeface="Calibri"/>
                <a:sym typeface="Calibri"/>
              </a:defRPr>
            </a:lvl6pPr>
            <a:lvl7pPr indent="0" lvl="6" marL="0" algn="r">
              <a:spcBef>
                <a:spcPts val="0"/>
              </a:spcBef>
              <a:buNone/>
              <a:defRPr sz="1800">
                <a:solidFill>
                  <a:srgbClr val="888888"/>
                </a:solidFill>
                <a:latin typeface="Calibri"/>
                <a:ea typeface="Calibri"/>
                <a:cs typeface="Calibri"/>
                <a:sym typeface="Calibri"/>
              </a:defRPr>
            </a:lvl7pPr>
            <a:lvl8pPr indent="0" lvl="7" marL="0" algn="r">
              <a:spcBef>
                <a:spcPts val="0"/>
              </a:spcBef>
              <a:buNone/>
              <a:defRPr sz="1800">
                <a:solidFill>
                  <a:srgbClr val="888888"/>
                </a:solidFill>
                <a:latin typeface="Calibri"/>
                <a:ea typeface="Calibri"/>
                <a:cs typeface="Calibri"/>
                <a:sym typeface="Calibri"/>
              </a:defRPr>
            </a:lvl8pPr>
            <a:lvl9pPr indent="0" lvl="8" marL="0" algn="r">
              <a:spcBef>
                <a:spcPts val="0"/>
              </a:spcBef>
              <a:buNone/>
              <a:defRPr sz="1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7" name="Shape 37"/>
        <p:cNvGrpSpPr/>
        <p:nvPr/>
      </p:nvGrpSpPr>
      <p:grpSpPr>
        <a:xfrm>
          <a:off x="0" y="0"/>
          <a:ext cx="0" cy="0"/>
          <a:chOff x="0" y="0"/>
          <a:chExt cx="0" cy="0"/>
        </a:xfrm>
      </p:grpSpPr>
      <p:sp>
        <p:nvSpPr>
          <p:cNvPr id="38" name="Google Shape;38;p181"/>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800">
                <a:solidFill>
                  <a:schemeClr val="dk1"/>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81"/>
          <p:cNvSpPr txBox="1"/>
          <p:nvPr>
            <p:ph idx="1" type="body"/>
          </p:nvPr>
        </p:nvSpPr>
        <p:spPr>
          <a:xfrm>
            <a:off x="457200" y="1577340"/>
            <a:ext cx="397764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0" name="Google Shape;40;p181"/>
          <p:cNvSpPr txBox="1"/>
          <p:nvPr>
            <p:ph idx="2" type="body"/>
          </p:nvPr>
        </p:nvSpPr>
        <p:spPr>
          <a:xfrm>
            <a:off x="4709160" y="1577340"/>
            <a:ext cx="397764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1" name="Google Shape;41;p181"/>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81"/>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81"/>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algn="r">
              <a:spcBef>
                <a:spcPts val="0"/>
              </a:spcBef>
              <a:buNone/>
              <a:defRPr sz="1800">
                <a:solidFill>
                  <a:srgbClr val="888888"/>
                </a:solidFill>
                <a:latin typeface="Calibri"/>
                <a:ea typeface="Calibri"/>
                <a:cs typeface="Calibri"/>
                <a:sym typeface="Calibri"/>
              </a:defRPr>
            </a:lvl1pPr>
            <a:lvl2pPr indent="0" lvl="1" marL="0" algn="r">
              <a:spcBef>
                <a:spcPts val="0"/>
              </a:spcBef>
              <a:buNone/>
              <a:defRPr sz="1800">
                <a:solidFill>
                  <a:srgbClr val="888888"/>
                </a:solidFill>
                <a:latin typeface="Calibri"/>
                <a:ea typeface="Calibri"/>
                <a:cs typeface="Calibri"/>
                <a:sym typeface="Calibri"/>
              </a:defRPr>
            </a:lvl2pPr>
            <a:lvl3pPr indent="0" lvl="2" marL="0" algn="r">
              <a:spcBef>
                <a:spcPts val="0"/>
              </a:spcBef>
              <a:buNone/>
              <a:defRPr sz="1800">
                <a:solidFill>
                  <a:srgbClr val="888888"/>
                </a:solidFill>
                <a:latin typeface="Calibri"/>
                <a:ea typeface="Calibri"/>
                <a:cs typeface="Calibri"/>
                <a:sym typeface="Calibri"/>
              </a:defRPr>
            </a:lvl3pPr>
            <a:lvl4pPr indent="0" lvl="3" marL="0" algn="r">
              <a:spcBef>
                <a:spcPts val="0"/>
              </a:spcBef>
              <a:buNone/>
              <a:defRPr sz="1800">
                <a:solidFill>
                  <a:srgbClr val="888888"/>
                </a:solidFill>
                <a:latin typeface="Calibri"/>
                <a:ea typeface="Calibri"/>
                <a:cs typeface="Calibri"/>
                <a:sym typeface="Calibri"/>
              </a:defRPr>
            </a:lvl4pPr>
            <a:lvl5pPr indent="0" lvl="4" marL="0" algn="r">
              <a:spcBef>
                <a:spcPts val="0"/>
              </a:spcBef>
              <a:buNone/>
              <a:defRPr sz="1800">
                <a:solidFill>
                  <a:srgbClr val="888888"/>
                </a:solidFill>
                <a:latin typeface="Calibri"/>
                <a:ea typeface="Calibri"/>
                <a:cs typeface="Calibri"/>
                <a:sym typeface="Calibri"/>
              </a:defRPr>
            </a:lvl5pPr>
            <a:lvl6pPr indent="0" lvl="5" marL="0" algn="r">
              <a:spcBef>
                <a:spcPts val="0"/>
              </a:spcBef>
              <a:buNone/>
              <a:defRPr sz="1800">
                <a:solidFill>
                  <a:srgbClr val="888888"/>
                </a:solidFill>
                <a:latin typeface="Calibri"/>
                <a:ea typeface="Calibri"/>
                <a:cs typeface="Calibri"/>
                <a:sym typeface="Calibri"/>
              </a:defRPr>
            </a:lvl6pPr>
            <a:lvl7pPr indent="0" lvl="6" marL="0" algn="r">
              <a:spcBef>
                <a:spcPts val="0"/>
              </a:spcBef>
              <a:buNone/>
              <a:defRPr sz="1800">
                <a:solidFill>
                  <a:srgbClr val="888888"/>
                </a:solidFill>
                <a:latin typeface="Calibri"/>
                <a:ea typeface="Calibri"/>
                <a:cs typeface="Calibri"/>
                <a:sym typeface="Calibri"/>
              </a:defRPr>
            </a:lvl7pPr>
            <a:lvl8pPr indent="0" lvl="7" marL="0" algn="r">
              <a:spcBef>
                <a:spcPts val="0"/>
              </a:spcBef>
              <a:buNone/>
              <a:defRPr sz="1800">
                <a:solidFill>
                  <a:srgbClr val="888888"/>
                </a:solidFill>
                <a:latin typeface="Calibri"/>
                <a:ea typeface="Calibri"/>
                <a:cs typeface="Calibri"/>
                <a:sym typeface="Calibri"/>
              </a:defRPr>
            </a:lvl8pPr>
            <a:lvl9pPr indent="0" lvl="8" marL="0" algn="r">
              <a:spcBef>
                <a:spcPts val="0"/>
              </a:spcBef>
              <a:buNone/>
              <a:defRPr sz="1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6"/>
          <p:cNvSpPr/>
          <p:nvPr/>
        </p:nvSpPr>
        <p:spPr>
          <a:xfrm>
            <a:off x="457200" y="990600"/>
            <a:ext cx="8153400" cy="0"/>
          </a:xfrm>
          <a:custGeom>
            <a:rect b="b" l="l" r="r" t="t"/>
            <a:pathLst>
              <a:path extrusionOk="0" h="120000" w="8153400">
                <a:moveTo>
                  <a:pt x="0" y="0"/>
                </a:moveTo>
                <a:lnTo>
                  <a:pt x="8153400" y="0"/>
                </a:lnTo>
              </a:path>
            </a:pathLst>
          </a:custGeom>
          <a:noFill/>
          <a:ln cap="flat" cmpd="sng" w="76200">
            <a:solidFill>
              <a:srgbClr val="FF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 name="Google Shape;11;p176"/>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2800" u="none" cap="none" strike="noStrike">
                <a:solidFill>
                  <a:schemeClr val="dk1"/>
                </a:solidFill>
                <a:latin typeface="Arial Black"/>
                <a:ea typeface="Arial Black"/>
                <a:cs typeface="Arial Black"/>
                <a:sym typeface="Arial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76"/>
          <p:cNvSpPr txBox="1"/>
          <p:nvPr>
            <p:ph idx="1" type="body"/>
          </p:nvPr>
        </p:nvSpPr>
        <p:spPr>
          <a:xfrm>
            <a:off x="525144" y="1188465"/>
            <a:ext cx="8093710" cy="371538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2000" u="none" cap="none" strike="noStrike">
                <a:solidFill>
                  <a:schemeClr val="dk1"/>
                </a:solidFill>
                <a:latin typeface="Verdana"/>
                <a:ea typeface="Verdana"/>
                <a:cs typeface="Verdana"/>
                <a:sym typeface="Verdana"/>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3" name="Google Shape;13;p176"/>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76"/>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176"/>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b="0" sz="1800" u="none">
                <a:solidFill>
                  <a:srgbClr val="888888"/>
                </a:solidFill>
                <a:latin typeface="Calibri"/>
                <a:ea typeface="Calibri"/>
                <a:cs typeface="Calibri"/>
                <a:sym typeface="Calibri"/>
              </a:defRPr>
            </a:lvl1pPr>
            <a:lvl2pPr indent="0" lvl="1" marL="0" marR="0" rtl="0" algn="r">
              <a:spcBef>
                <a:spcPts val="0"/>
              </a:spcBef>
              <a:buNone/>
              <a:defRPr b="0" sz="1800" u="none">
                <a:solidFill>
                  <a:srgbClr val="888888"/>
                </a:solidFill>
                <a:latin typeface="Calibri"/>
                <a:ea typeface="Calibri"/>
                <a:cs typeface="Calibri"/>
                <a:sym typeface="Calibri"/>
              </a:defRPr>
            </a:lvl2pPr>
            <a:lvl3pPr indent="0" lvl="2" marL="0" marR="0" rtl="0" algn="r">
              <a:spcBef>
                <a:spcPts val="0"/>
              </a:spcBef>
              <a:buNone/>
              <a:defRPr b="0" sz="1800" u="none">
                <a:solidFill>
                  <a:srgbClr val="888888"/>
                </a:solidFill>
                <a:latin typeface="Calibri"/>
                <a:ea typeface="Calibri"/>
                <a:cs typeface="Calibri"/>
                <a:sym typeface="Calibri"/>
              </a:defRPr>
            </a:lvl3pPr>
            <a:lvl4pPr indent="0" lvl="3" marL="0" marR="0" rtl="0" algn="r">
              <a:spcBef>
                <a:spcPts val="0"/>
              </a:spcBef>
              <a:buNone/>
              <a:defRPr b="0" sz="1800" u="none">
                <a:solidFill>
                  <a:srgbClr val="888888"/>
                </a:solidFill>
                <a:latin typeface="Calibri"/>
                <a:ea typeface="Calibri"/>
                <a:cs typeface="Calibri"/>
                <a:sym typeface="Calibri"/>
              </a:defRPr>
            </a:lvl4pPr>
            <a:lvl5pPr indent="0" lvl="4" marL="0" marR="0" rtl="0" algn="r">
              <a:spcBef>
                <a:spcPts val="0"/>
              </a:spcBef>
              <a:buNone/>
              <a:defRPr b="0" sz="1800" u="none">
                <a:solidFill>
                  <a:srgbClr val="888888"/>
                </a:solidFill>
                <a:latin typeface="Calibri"/>
                <a:ea typeface="Calibri"/>
                <a:cs typeface="Calibri"/>
                <a:sym typeface="Calibri"/>
              </a:defRPr>
            </a:lvl5pPr>
            <a:lvl6pPr indent="0" lvl="5" marL="0" marR="0" rtl="0" algn="r">
              <a:spcBef>
                <a:spcPts val="0"/>
              </a:spcBef>
              <a:buNone/>
              <a:defRPr b="0" sz="1800" u="none">
                <a:solidFill>
                  <a:srgbClr val="888888"/>
                </a:solidFill>
                <a:latin typeface="Calibri"/>
                <a:ea typeface="Calibri"/>
                <a:cs typeface="Calibri"/>
                <a:sym typeface="Calibri"/>
              </a:defRPr>
            </a:lvl6pPr>
            <a:lvl7pPr indent="0" lvl="6" marL="0" marR="0" rtl="0" algn="r">
              <a:spcBef>
                <a:spcPts val="0"/>
              </a:spcBef>
              <a:buNone/>
              <a:defRPr b="0" sz="1800" u="none">
                <a:solidFill>
                  <a:srgbClr val="888888"/>
                </a:solidFill>
                <a:latin typeface="Calibri"/>
                <a:ea typeface="Calibri"/>
                <a:cs typeface="Calibri"/>
                <a:sym typeface="Calibri"/>
              </a:defRPr>
            </a:lvl7pPr>
            <a:lvl8pPr indent="0" lvl="7" marL="0" marR="0" rtl="0" algn="r">
              <a:spcBef>
                <a:spcPts val="0"/>
              </a:spcBef>
              <a:buNone/>
              <a:defRPr b="0" sz="1800" u="none">
                <a:solidFill>
                  <a:srgbClr val="888888"/>
                </a:solidFill>
                <a:latin typeface="Calibri"/>
                <a:ea typeface="Calibri"/>
                <a:cs typeface="Calibri"/>
                <a:sym typeface="Calibri"/>
              </a:defRPr>
            </a:lvl8pPr>
            <a:lvl9pPr indent="0" lvl="8" marL="0" marR="0" rtl="0" algn="r">
              <a:spcBef>
                <a:spcPts val="0"/>
              </a:spcBef>
              <a:buNone/>
              <a:defRPr b="0" sz="1800" u="non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jpg"/><Relationship Id="rId4" Type="http://schemas.openxmlformats.org/officeDocument/2006/relationships/image" Target="../media/image1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jpg"/><Relationship Id="rId4"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5.jp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image" Target="../media/image2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8.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2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29.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2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2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2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2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2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2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3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3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32.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3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33.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35.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 Id="rId3" Type="http://schemas.openxmlformats.org/officeDocument/2006/relationships/image" Target="../media/image39.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 Id="rId3" Type="http://schemas.openxmlformats.org/officeDocument/2006/relationships/image" Target="../media/image37.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 Id="rId3" Type="http://schemas.openxmlformats.org/officeDocument/2006/relationships/image" Target="../media/image36.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 Id="rId3" Type="http://schemas.openxmlformats.org/officeDocument/2006/relationships/image" Target="../media/image38.jp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47.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 Id="rId3" Type="http://schemas.openxmlformats.org/officeDocument/2006/relationships/image" Target="../media/image40.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 Id="rId3" Type="http://schemas.openxmlformats.org/officeDocument/2006/relationships/image" Target="../media/image4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 Id="rId3" Type="http://schemas.openxmlformats.org/officeDocument/2006/relationships/image" Target="../media/image43.png"/><Relationship Id="rId4" Type="http://schemas.openxmlformats.org/officeDocument/2006/relationships/image" Target="../media/image42.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 Id="rId3" Type="http://schemas.openxmlformats.org/officeDocument/2006/relationships/image" Target="../media/image44.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 Id="rId3" Type="http://schemas.openxmlformats.org/officeDocument/2006/relationships/image" Target="../media/image45.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0.xml"/><Relationship Id="rId3" Type="http://schemas.openxmlformats.org/officeDocument/2006/relationships/image" Target="../media/image60.jp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1.xml"/><Relationship Id="rId3" Type="http://schemas.openxmlformats.org/officeDocument/2006/relationships/image" Target="../media/image57.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2.xml"/><Relationship Id="rId3" Type="http://schemas.openxmlformats.org/officeDocument/2006/relationships/image" Target="../media/image51.jp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 Id="rId3" Type="http://schemas.openxmlformats.org/officeDocument/2006/relationships/image" Target="../media/image48.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9.xml"/><Relationship Id="rId3" Type="http://schemas.openxmlformats.org/officeDocument/2006/relationships/image" Target="../media/image46.jp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 Id="rId3" Type="http://schemas.openxmlformats.org/officeDocument/2006/relationships/image" Target="../media/image52.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3.xml"/><Relationship Id="rId3" Type="http://schemas.openxmlformats.org/officeDocument/2006/relationships/image" Target="../media/image68.jp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 Id="rId3" Type="http://schemas.openxmlformats.org/officeDocument/2006/relationships/image" Target="../media/image50.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 Id="rId3" Type="http://schemas.openxmlformats.org/officeDocument/2006/relationships/image" Target="../media/image53.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6.xml"/><Relationship Id="rId3" Type="http://schemas.openxmlformats.org/officeDocument/2006/relationships/image" Target="../media/image49.jp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8.xml"/><Relationship Id="rId3" Type="http://schemas.openxmlformats.org/officeDocument/2006/relationships/image" Target="../media/image56.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9.xml"/><Relationship Id="rId3" Type="http://schemas.openxmlformats.org/officeDocument/2006/relationships/image" Target="../media/image55.jp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0.xml"/><Relationship Id="rId3" Type="http://schemas.openxmlformats.org/officeDocument/2006/relationships/image" Target="../media/image69.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1.xml"/><Relationship Id="rId3" Type="http://schemas.openxmlformats.org/officeDocument/2006/relationships/image" Target="../media/image54.jp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 Id="rId3" Type="http://schemas.openxmlformats.org/officeDocument/2006/relationships/image" Target="../media/image59.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 Id="rId3" Type="http://schemas.openxmlformats.org/officeDocument/2006/relationships/image" Target="../media/image66.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4.xml"/><Relationship Id="rId3" Type="http://schemas.openxmlformats.org/officeDocument/2006/relationships/image" Target="../media/image58.jp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 Id="rId3" Type="http://schemas.openxmlformats.org/officeDocument/2006/relationships/image" Target="../media/image61.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6.xml"/><Relationship Id="rId3" Type="http://schemas.openxmlformats.org/officeDocument/2006/relationships/image" Target="../media/image67.jp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 Id="rId3" Type="http://schemas.openxmlformats.org/officeDocument/2006/relationships/image" Target="../media/image65.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8.xml"/><Relationship Id="rId3" Type="http://schemas.openxmlformats.org/officeDocument/2006/relationships/image" Target="../media/image64.jp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9.xml"/><Relationship Id="rId3" Type="http://schemas.openxmlformats.org/officeDocument/2006/relationships/image" Target="../media/image63.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0.xml"/><Relationship Id="rId3" Type="http://schemas.openxmlformats.org/officeDocument/2006/relationships/image" Target="../media/image62.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 Id="rId3" Type="http://schemas.openxmlformats.org/officeDocument/2006/relationships/hyperlink" Target="https://pdos.csail.mit.edu/6.828/2011/readings/i386/s05_02.htm" TargetMode="External"/><Relationship Id="rId4" Type="http://schemas.openxmlformats.org/officeDocument/2006/relationships/hyperlink" Target="https://www.slideserve.com/ayasha/memory-management" TargetMode="External"/><Relationship Id="rId5" Type="http://schemas.openxmlformats.org/officeDocument/2006/relationships/hyperlink" Target="https://tildesites.bowdoin.edu/~allen/courses/cs220/lab7/notes.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7" name="Shape 47"/>
        <p:cNvGrpSpPr/>
        <p:nvPr/>
      </p:nvGrpSpPr>
      <p:grpSpPr>
        <a:xfrm>
          <a:off x="0" y="0"/>
          <a:ext cx="0" cy="0"/>
          <a:chOff x="0" y="0"/>
          <a:chExt cx="0" cy="0"/>
        </a:xfrm>
      </p:grpSpPr>
      <p:sp>
        <p:nvSpPr>
          <p:cNvPr id="48" name="Google Shape;48;p1"/>
          <p:cNvSpPr/>
          <p:nvPr/>
        </p:nvSpPr>
        <p:spPr>
          <a:xfrm>
            <a:off x="457200" y="2514600"/>
            <a:ext cx="8153400" cy="0"/>
          </a:xfrm>
          <a:custGeom>
            <a:rect b="b" l="l" r="r" t="t"/>
            <a:pathLst>
              <a:path extrusionOk="0" h="120000" w="8153400">
                <a:moveTo>
                  <a:pt x="0" y="0"/>
                </a:moveTo>
                <a:lnTo>
                  <a:pt x="8153400" y="0"/>
                </a:lnTo>
              </a:path>
            </a:pathLst>
          </a:custGeom>
          <a:noFill/>
          <a:ln cap="flat" cmpd="sng" w="76200">
            <a:solidFill>
              <a:srgbClr val="FF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 name="Google Shape;49;p1"/>
          <p:cNvSpPr txBox="1"/>
          <p:nvPr/>
        </p:nvSpPr>
        <p:spPr>
          <a:xfrm>
            <a:off x="993450" y="1122750"/>
            <a:ext cx="6946800" cy="216840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sz="2800">
                <a:solidFill>
                  <a:schemeClr val="dk1"/>
                </a:solidFill>
                <a:latin typeface="Arial Black"/>
                <a:ea typeface="Arial Black"/>
                <a:cs typeface="Arial Black"/>
                <a:sym typeface="Arial Black"/>
              </a:rPr>
              <a:t>William Stallings  Computer Organization  and Architecture</a:t>
            </a:r>
            <a:endParaRPr sz="2800">
              <a:solidFill>
                <a:schemeClr val="dk1"/>
              </a:solidFill>
              <a:latin typeface="Arial Black"/>
              <a:ea typeface="Arial Black"/>
              <a:cs typeface="Arial Black"/>
              <a:sym typeface="Arial Black"/>
            </a:endParaRPr>
          </a:p>
          <a:p>
            <a:pPr indent="0" lvl="0" marL="12700" marR="0" rtl="0" algn="l">
              <a:lnSpc>
                <a:spcPct val="100000"/>
              </a:lnSpc>
              <a:spcBef>
                <a:spcPts val="5"/>
              </a:spcBef>
              <a:spcAft>
                <a:spcPts val="0"/>
              </a:spcAft>
              <a:buNone/>
            </a:pPr>
            <a:r>
              <a:rPr lang="en-US" sz="2800">
                <a:solidFill>
                  <a:schemeClr val="dk1"/>
                </a:solidFill>
                <a:latin typeface="Arial Black"/>
                <a:ea typeface="Arial Black"/>
                <a:cs typeface="Arial Black"/>
                <a:sym typeface="Arial Black"/>
              </a:rPr>
              <a:t>7th Edition</a:t>
            </a:r>
            <a:endParaRPr sz="2800">
              <a:solidFill>
                <a:schemeClr val="dk1"/>
              </a:solidFill>
              <a:latin typeface="Arial Black"/>
              <a:ea typeface="Arial Black"/>
              <a:cs typeface="Arial Black"/>
              <a:sym typeface="Arial Black"/>
            </a:endParaRPr>
          </a:p>
          <a:p>
            <a:pPr indent="0" lvl="0" marL="12700" marR="0" rtl="0" algn="l">
              <a:lnSpc>
                <a:spcPct val="100000"/>
              </a:lnSpc>
              <a:spcBef>
                <a:spcPts val="5"/>
              </a:spcBef>
              <a:spcAft>
                <a:spcPts val="0"/>
              </a:spcAft>
              <a:buNone/>
            </a:pPr>
            <a:r>
              <a:t/>
            </a:r>
            <a:endParaRPr sz="2800">
              <a:solidFill>
                <a:schemeClr val="dk1"/>
              </a:solidFill>
              <a:latin typeface="Arial Black"/>
              <a:ea typeface="Arial Black"/>
              <a:cs typeface="Arial Black"/>
              <a:sym typeface="Arial Black"/>
            </a:endParaRPr>
          </a:p>
          <a:p>
            <a:pPr indent="0" lvl="0" marL="12700" marR="2587625" rtl="0" algn="l">
              <a:lnSpc>
                <a:spcPct val="120100"/>
              </a:lnSpc>
              <a:spcBef>
                <a:spcPts val="0"/>
              </a:spcBef>
              <a:spcAft>
                <a:spcPts val="0"/>
              </a:spcAft>
              <a:buNone/>
            </a:pPr>
            <a:r>
              <a:rPr lang="en-US" sz="2800">
                <a:solidFill>
                  <a:schemeClr val="dk1"/>
                </a:solidFill>
                <a:latin typeface="Arial Black"/>
                <a:ea typeface="Arial Black"/>
                <a:cs typeface="Arial Black"/>
                <a:sym typeface="Arial Black"/>
              </a:rPr>
              <a:t>Chapter 5  Memory</a:t>
            </a:r>
            <a:endParaRPr sz="2800">
              <a:solidFill>
                <a:schemeClr val="dk1"/>
              </a:solidFill>
              <a:latin typeface="Arial Black"/>
              <a:ea typeface="Arial Black"/>
              <a:cs typeface="Arial Black"/>
              <a:sym typeface="Arial Black"/>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2"/>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55" name="Google Shape;55;p2"/>
          <p:cNvSpPr txBox="1"/>
          <p:nvPr>
            <p:ph idx="1" type="body"/>
          </p:nvPr>
        </p:nvSpPr>
        <p:spPr>
          <a:xfrm>
            <a:off x="525144" y="1188465"/>
            <a:ext cx="8093710" cy="371538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56" name="Google Shape;56;p2"/>
          <p:cNvPicPr preferRelativeResize="0"/>
          <p:nvPr/>
        </p:nvPicPr>
        <p:blipFill rotWithShape="1">
          <a:blip r:embed="rId3">
            <a:alphaModFix/>
          </a:blip>
          <a:srcRect b="0" l="0" r="0" t="0"/>
          <a:stretch/>
        </p:blipFill>
        <p:spPr>
          <a:xfrm>
            <a:off x="457200" y="1752600"/>
            <a:ext cx="8153400" cy="3124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4"/>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62" name="Google Shape;62;p4"/>
          <p:cNvSpPr txBox="1"/>
          <p:nvPr>
            <p:ph idx="1" type="body"/>
          </p:nvPr>
        </p:nvSpPr>
        <p:spPr>
          <a:xfrm>
            <a:off x="525144" y="1188465"/>
            <a:ext cx="8093710" cy="371538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63" name="Google Shape;63;p4"/>
          <p:cNvPicPr preferRelativeResize="0"/>
          <p:nvPr/>
        </p:nvPicPr>
        <p:blipFill rotWithShape="1">
          <a:blip r:embed="rId3">
            <a:alphaModFix/>
          </a:blip>
          <a:srcRect b="14583" l="22840" r="13909" t="26042"/>
          <a:stretch/>
        </p:blipFill>
        <p:spPr>
          <a:xfrm>
            <a:off x="609600" y="990600"/>
            <a:ext cx="8229600" cy="4343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5"/>
          <p:cNvSpPr txBox="1"/>
          <p:nvPr>
            <p:ph type="title"/>
          </p:nvPr>
        </p:nvSpPr>
        <p:spPr>
          <a:xfrm>
            <a:off x="459753" y="484075"/>
            <a:ext cx="6716700" cy="4431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Characteristics of Memory</a:t>
            </a:r>
            <a:endParaRPr/>
          </a:p>
        </p:txBody>
      </p:sp>
      <p:sp>
        <p:nvSpPr>
          <p:cNvPr id="69" name="Google Shape;69;p5"/>
          <p:cNvSpPr txBox="1"/>
          <p:nvPr/>
        </p:nvSpPr>
        <p:spPr>
          <a:xfrm>
            <a:off x="535940" y="1012215"/>
            <a:ext cx="6459220" cy="4563110"/>
          </a:xfrm>
          <a:prstGeom prst="rect">
            <a:avLst/>
          </a:prstGeom>
          <a:noFill/>
          <a:ln>
            <a:noFill/>
          </a:ln>
        </p:spPr>
        <p:txBody>
          <a:bodyPr anchorCtr="0" anchor="t" bIns="0" lIns="0" spcFirstLastPara="1" rIns="0" wrap="square" tIns="98425">
            <a:spAutoFit/>
          </a:bodyPr>
          <a:lstStyle/>
          <a:p>
            <a:pPr indent="-515619" lvl="0" marL="527685" marR="0" rtl="0" algn="l">
              <a:lnSpc>
                <a:spcPct val="100000"/>
              </a:lnSpc>
              <a:spcBef>
                <a:spcPts val="0"/>
              </a:spcBef>
              <a:spcAft>
                <a:spcPts val="0"/>
              </a:spcAft>
              <a:buClr>
                <a:srgbClr val="FF0000"/>
              </a:buClr>
              <a:buSzPts val="2800"/>
              <a:buFont typeface="Verdana"/>
              <a:buAutoNum type="arabicPeriod"/>
            </a:pPr>
            <a:r>
              <a:rPr lang="en-US" sz="2800">
                <a:solidFill>
                  <a:schemeClr val="dk1"/>
                </a:solidFill>
                <a:latin typeface="Verdana"/>
                <a:ea typeface="Verdana"/>
                <a:cs typeface="Verdana"/>
                <a:sym typeface="Verdana"/>
              </a:rPr>
              <a:t>Location</a:t>
            </a:r>
            <a:endParaRPr sz="2800">
              <a:solidFill>
                <a:schemeClr val="dk1"/>
              </a:solidFill>
              <a:latin typeface="Verdana"/>
              <a:ea typeface="Verdana"/>
              <a:cs typeface="Verdana"/>
              <a:sym typeface="Verdana"/>
            </a:endParaRPr>
          </a:p>
          <a:p>
            <a:pPr indent="-515619" lvl="0" marL="527685" marR="0" rtl="0" algn="l">
              <a:lnSpc>
                <a:spcPct val="100000"/>
              </a:lnSpc>
              <a:spcBef>
                <a:spcPts val="675"/>
              </a:spcBef>
              <a:spcAft>
                <a:spcPts val="0"/>
              </a:spcAft>
              <a:buClr>
                <a:srgbClr val="FF0000"/>
              </a:buClr>
              <a:buSzPts val="2800"/>
              <a:buFont typeface="Verdana"/>
              <a:buAutoNum type="arabicPeriod"/>
            </a:pPr>
            <a:r>
              <a:rPr lang="en-US" sz="2800">
                <a:solidFill>
                  <a:schemeClr val="dk1"/>
                </a:solidFill>
                <a:latin typeface="Verdana"/>
                <a:ea typeface="Verdana"/>
                <a:cs typeface="Verdana"/>
                <a:sym typeface="Verdana"/>
              </a:rPr>
              <a:t>Capacity</a:t>
            </a:r>
            <a:endParaRPr sz="2800">
              <a:solidFill>
                <a:schemeClr val="dk1"/>
              </a:solidFill>
              <a:latin typeface="Verdana"/>
              <a:ea typeface="Verdana"/>
              <a:cs typeface="Verdana"/>
              <a:sym typeface="Verdana"/>
            </a:endParaRPr>
          </a:p>
          <a:p>
            <a:pPr indent="-515619" lvl="0" marL="527685" marR="0" rtl="0" algn="l">
              <a:lnSpc>
                <a:spcPct val="100000"/>
              </a:lnSpc>
              <a:spcBef>
                <a:spcPts val="670"/>
              </a:spcBef>
              <a:spcAft>
                <a:spcPts val="0"/>
              </a:spcAft>
              <a:buClr>
                <a:srgbClr val="FF0000"/>
              </a:buClr>
              <a:buSzPts val="2800"/>
              <a:buFont typeface="Verdana"/>
              <a:buAutoNum type="arabicPeriod"/>
            </a:pPr>
            <a:r>
              <a:rPr lang="en-US" sz="2800">
                <a:solidFill>
                  <a:schemeClr val="dk1"/>
                </a:solidFill>
                <a:latin typeface="Verdana"/>
                <a:ea typeface="Verdana"/>
                <a:cs typeface="Verdana"/>
                <a:sym typeface="Verdana"/>
              </a:rPr>
              <a:t>Unit of transfer</a:t>
            </a:r>
            <a:endParaRPr sz="2800">
              <a:solidFill>
                <a:schemeClr val="dk1"/>
              </a:solidFill>
              <a:latin typeface="Verdana"/>
              <a:ea typeface="Verdana"/>
              <a:cs typeface="Verdana"/>
              <a:sym typeface="Verdana"/>
            </a:endParaRPr>
          </a:p>
          <a:p>
            <a:pPr indent="-515619" lvl="0" marL="527685" marR="0" rtl="0" algn="l">
              <a:lnSpc>
                <a:spcPct val="100000"/>
              </a:lnSpc>
              <a:spcBef>
                <a:spcPts val="675"/>
              </a:spcBef>
              <a:spcAft>
                <a:spcPts val="0"/>
              </a:spcAft>
              <a:buClr>
                <a:srgbClr val="FF0000"/>
              </a:buClr>
              <a:buSzPts val="2800"/>
              <a:buFont typeface="Verdana"/>
              <a:buAutoNum type="arabicPeriod"/>
            </a:pPr>
            <a:r>
              <a:rPr lang="en-US" sz="2800">
                <a:solidFill>
                  <a:schemeClr val="dk1"/>
                </a:solidFill>
                <a:latin typeface="Verdana"/>
                <a:ea typeface="Verdana"/>
                <a:cs typeface="Verdana"/>
                <a:sym typeface="Verdana"/>
              </a:rPr>
              <a:t>Access method</a:t>
            </a:r>
            <a:endParaRPr sz="2800">
              <a:solidFill>
                <a:schemeClr val="dk1"/>
              </a:solidFill>
              <a:latin typeface="Verdana"/>
              <a:ea typeface="Verdana"/>
              <a:cs typeface="Verdana"/>
              <a:sym typeface="Verdana"/>
            </a:endParaRPr>
          </a:p>
          <a:p>
            <a:pPr indent="-515619" lvl="0" marL="527685" marR="0" rtl="0" algn="l">
              <a:lnSpc>
                <a:spcPct val="100000"/>
              </a:lnSpc>
              <a:spcBef>
                <a:spcPts val="670"/>
              </a:spcBef>
              <a:spcAft>
                <a:spcPts val="0"/>
              </a:spcAft>
              <a:buClr>
                <a:srgbClr val="FF0000"/>
              </a:buClr>
              <a:buSzPts val="2800"/>
              <a:buFont typeface="Verdana"/>
              <a:buAutoNum type="arabicPeriod"/>
            </a:pPr>
            <a:r>
              <a:rPr lang="en-US" sz="2800">
                <a:solidFill>
                  <a:schemeClr val="dk1"/>
                </a:solidFill>
                <a:latin typeface="Verdana"/>
                <a:ea typeface="Verdana"/>
                <a:cs typeface="Verdana"/>
                <a:sym typeface="Verdana"/>
              </a:rPr>
              <a:t>Performance(SRAM,DRAM)</a:t>
            </a:r>
            <a:endParaRPr sz="2800">
              <a:solidFill>
                <a:schemeClr val="dk1"/>
              </a:solidFill>
              <a:latin typeface="Verdana"/>
              <a:ea typeface="Verdana"/>
              <a:cs typeface="Verdana"/>
              <a:sym typeface="Verdana"/>
            </a:endParaRPr>
          </a:p>
          <a:p>
            <a:pPr indent="-515619" lvl="0" marL="527685" marR="0" rtl="0" algn="l">
              <a:lnSpc>
                <a:spcPct val="100000"/>
              </a:lnSpc>
              <a:spcBef>
                <a:spcPts val="675"/>
              </a:spcBef>
              <a:spcAft>
                <a:spcPts val="0"/>
              </a:spcAft>
              <a:buClr>
                <a:srgbClr val="FF0000"/>
              </a:buClr>
              <a:buSzPts val="2800"/>
              <a:buFont typeface="Verdana"/>
              <a:buAutoNum type="arabicPeriod"/>
            </a:pPr>
            <a:r>
              <a:rPr lang="en-US" sz="2800">
                <a:solidFill>
                  <a:schemeClr val="dk1"/>
                </a:solidFill>
                <a:latin typeface="Verdana"/>
                <a:ea typeface="Verdana"/>
                <a:cs typeface="Verdana"/>
                <a:sym typeface="Verdana"/>
              </a:rPr>
              <a:t>Physical type</a:t>
            </a:r>
            <a:endParaRPr sz="2800">
              <a:solidFill>
                <a:schemeClr val="dk1"/>
              </a:solidFill>
              <a:latin typeface="Verdana"/>
              <a:ea typeface="Verdana"/>
              <a:cs typeface="Verdana"/>
              <a:sym typeface="Verdana"/>
            </a:endParaRPr>
          </a:p>
          <a:p>
            <a:pPr indent="-515619" lvl="0" marL="527685" marR="0" rtl="0" algn="l">
              <a:lnSpc>
                <a:spcPct val="100000"/>
              </a:lnSpc>
              <a:spcBef>
                <a:spcPts val="675"/>
              </a:spcBef>
              <a:spcAft>
                <a:spcPts val="0"/>
              </a:spcAft>
              <a:buClr>
                <a:srgbClr val="FF0000"/>
              </a:buClr>
              <a:buSzPts val="2800"/>
              <a:buFont typeface="Verdana"/>
              <a:buAutoNum type="arabicPeriod"/>
            </a:pPr>
            <a:r>
              <a:rPr lang="en-US" sz="2800">
                <a:solidFill>
                  <a:schemeClr val="dk1"/>
                </a:solidFill>
                <a:latin typeface="Verdana"/>
                <a:ea typeface="Verdana"/>
                <a:cs typeface="Verdana"/>
                <a:sym typeface="Verdana"/>
              </a:rPr>
              <a:t>Physical characteristics</a:t>
            </a:r>
            <a:endParaRPr sz="2800">
              <a:solidFill>
                <a:schemeClr val="dk1"/>
              </a:solidFill>
              <a:latin typeface="Verdana"/>
              <a:ea typeface="Verdana"/>
              <a:cs typeface="Verdana"/>
              <a:sym typeface="Verdana"/>
            </a:endParaRPr>
          </a:p>
          <a:p>
            <a:pPr indent="-515619" lvl="0" marL="527685" marR="0" rtl="0" algn="l">
              <a:lnSpc>
                <a:spcPct val="100000"/>
              </a:lnSpc>
              <a:spcBef>
                <a:spcPts val="670"/>
              </a:spcBef>
              <a:spcAft>
                <a:spcPts val="0"/>
              </a:spcAft>
              <a:buClr>
                <a:srgbClr val="FF0000"/>
              </a:buClr>
              <a:buSzPts val="2800"/>
              <a:buFont typeface="Verdana"/>
              <a:buAutoNum type="arabicPeriod"/>
            </a:pPr>
            <a:r>
              <a:rPr lang="en-US" sz="2800">
                <a:solidFill>
                  <a:schemeClr val="dk1"/>
                </a:solidFill>
                <a:latin typeface="Verdana"/>
                <a:ea typeface="Verdana"/>
                <a:cs typeface="Verdana"/>
                <a:sym typeface="Verdana"/>
              </a:rPr>
              <a:t>Organisation</a:t>
            </a:r>
            <a:endParaRPr sz="2800">
              <a:solidFill>
                <a:schemeClr val="dk1"/>
              </a:solidFill>
              <a:latin typeface="Verdana"/>
              <a:ea typeface="Verdana"/>
              <a:cs typeface="Verdana"/>
              <a:sym typeface="Verdana"/>
            </a:endParaRPr>
          </a:p>
          <a:p>
            <a:pPr indent="-457834" lvl="1" marL="927100" marR="0" rtl="0" algn="l">
              <a:lnSpc>
                <a:spcPct val="100000"/>
              </a:lnSpc>
              <a:spcBef>
                <a:spcPts val="580"/>
              </a:spcBef>
              <a:spcAft>
                <a:spcPts val="0"/>
              </a:spcAft>
              <a:buClr>
                <a:srgbClr val="FF0000"/>
              </a:buClr>
              <a:buSzPts val="2400"/>
              <a:buFont typeface="Verdana"/>
              <a:buAutoNum type="arabicPeriod"/>
            </a:pPr>
            <a:r>
              <a:rPr b="0" i="0" lang="en-US" sz="2400" u="none" cap="none" strike="noStrike">
                <a:solidFill>
                  <a:schemeClr val="dk1"/>
                </a:solidFill>
                <a:latin typeface="Verdana"/>
                <a:ea typeface="Verdana"/>
                <a:cs typeface="Verdana"/>
                <a:sym typeface="Verdana"/>
              </a:rPr>
              <a:t>Direct Mapping,Associative Mapping</a:t>
            </a:r>
            <a:endParaRPr b="0" i="0" sz="2400" u="none" cap="none" strike="noStrike">
              <a:solidFill>
                <a:schemeClr val="dk1"/>
              </a:solidFill>
              <a:latin typeface="Verdana"/>
              <a:ea typeface="Verdana"/>
              <a:cs typeface="Verdana"/>
              <a:sym typeface="Verdan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6"/>
          <p:cNvSpPr txBox="1"/>
          <p:nvPr/>
        </p:nvSpPr>
        <p:spPr>
          <a:xfrm>
            <a:off x="457199" y="304800"/>
            <a:ext cx="6753657" cy="3247043"/>
          </a:xfrm>
          <a:prstGeom prst="rect">
            <a:avLst/>
          </a:prstGeom>
          <a:noFill/>
          <a:ln>
            <a:noFill/>
          </a:ln>
        </p:spPr>
        <p:txBody>
          <a:bodyPr anchorCtr="0" anchor="t" bIns="0" lIns="0" spcFirstLastPara="1" rIns="0" wrap="square" tIns="200650">
            <a:spAutoFit/>
          </a:bodyPr>
          <a:lstStyle/>
          <a:p>
            <a:pPr indent="0" lvl="0" marL="12700" marR="0" rtl="0" algn="l">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1. Location</a:t>
            </a:r>
            <a:endParaRPr sz="2400">
              <a:solidFill>
                <a:schemeClr val="dk1"/>
              </a:solidFill>
              <a:latin typeface="Times New Roman"/>
              <a:ea typeface="Times New Roman"/>
              <a:cs typeface="Times New Roman"/>
              <a:sym typeface="Times New Roman"/>
            </a:endParaRPr>
          </a:p>
          <a:p>
            <a:pPr indent="-152400" lvl="0" marL="0"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Internal memory/External</a:t>
            </a:r>
            <a:endParaRPr/>
          </a:p>
          <a:p>
            <a:pPr indent="-152400" lvl="0" marL="0"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Local mem-Registers</a:t>
            </a:r>
            <a:endParaRPr sz="2400">
              <a:solidFill>
                <a:schemeClr val="dk1"/>
              </a:solidFill>
              <a:latin typeface="Times New Roman"/>
              <a:ea typeface="Times New Roman"/>
              <a:cs typeface="Times New Roman"/>
              <a:sym typeface="Times New Roman"/>
            </a:endParaRPr>
          </a:p>
          <a:p>
            <a:pPr indent="-152400" lvl="0" marL="0"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Cache -internal.</a:t>
            </a:r>
            <a:endParaRPr/>
          </a:p>
          <a:p>
            <a:pPr indent="-152400" lvl="0" marL="0"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 External memory-peripheral storage devices, such as disk and tape, that are accessible to the processor via I/O controllers</a:t>
            </a:r>
            <a:endParaRPr sz="2400">
              <a:solidFill>
                <a:schemeClr val="dk1"/>
              </a:solidFill>
              <a:latin typeface="Times New Roman"/>
              <a:ea typeface="Times New Roman"/>
              <a:cs typeface="Times New Roman"/>
              <a:sym typeface="Times New Roman"/>
            </a:endParaRPr>
          </a:p>
          <a:p>
            <a:pPr indent="-344170" lvl="0" marL="406400" marR="0" rtl="0" algn="l">
              <a:lnSpc>
                <a:spcPct val="100000"/>
              </a:lnSpc>
              <a:spcBef>
                <a:spcPts val="670"/>
              </a:spcBef>
              <a:spcAft>
                <a:spcPts val="0"/>
              </a:spcAft>
              <a:buNone/>
            </a:pPr>
            <a:r>
              <a:t/>
            </a:r>
            <a:endParaRPr sz="2400">
              <a:solidFill>
                <a:schemeClr val="dk1"/>
              </a:solidFill>
              <a:latin typeface="Times New Roman"/>
              <a:ea typeface="Times New Roman"/>
              <a:cs typeface="Times New Roman"/>
              <a:sym typeface="Times New Roman"/>
            </a:endParaRPr>
          </a:p>
        </p:txBody>
      </p:sp>
      <p:pic>
        <p:nvPicPr>
          <p:cNvPr id="75" name="Google Shape;75;p6"/>
          <p:cNvPicPr preferRelativeResize="0"/>
          <p:nvPr/>
        </p:nvPicPr>
        <p:blipFill rotWithShape="1">
          <a:blip r:embed="rId3">
            <a:alphaModFix/>
          </a:blip>
          <a:srcRect b="0" l="0" r="0" t="0"/>
          <a:stretch/>
        </p:blipFill>
        <p:spPr>
          <a:xfrm>
            <a:off x="4953000" y="3124200"/>
            <a:ext cx="3657600" cy="3330575"/>
          </a:xfrm>
          <a:prstGeom prst="rect">
            <a:avLst/>
          </a:prstGeom>
          <a:noFill/>
          <a:ln>
            <a:noFill/>
          </a:ln>
        </p:spPr>
      </p:pic>
      <p:pic>
        <p:nvPicPr>
          <p:cNvPr id="76" name="Google Shape;76;p6"/>
          <p:cNvPicPr preferRelativeResize="0"/>
          <p:nvPr/>
        </p:nvPicPr>
        <p:blipFill rotWithShape="1">
          <a:blip r:embed="rId4">
            <a:alphaModFix/>
          </a:blip>
          <a:srcRect b="0" l="0" r="0" t="0"/>
          <a:stretch/>
        </p:blipFill>
        <p:spPr>
          <a:xfrm>
            <a:off x="457200" y="4038600"/>
            <a:ext cx="3870325" cy="2209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7"/>
          <p:cNvSpPr txBox="1"/>
          <p:nvPr>
            <p:ph type="title"/>
          </p:nvPr>
        </p:nvSpPr>
        <p:spPr>
          <a:xfrm>
            <a:off x="485343" y="484073"/>
            <a:ext cx="2212975"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2. Capacity</a:t>
            </a:r>
            <a:endParaRPr/>
          </a:p>
        </p:txBody>
      </p:sp>
      <p:sp>
        <p:nvSpPr>
          <p:cNvPr id="82" name="Google Shape;82;p7"/>
          <p:cNvSpPr txBox="1"/>
          <p:nvPr/>
        </p:nvSpPr>
        <p:spPr>
          <a:xfrm>
            <a:off x="459740" y="860217"/>
            <a:ext cx="7388860" cy="5205271"/>
          </a:xfrm>
          <a:prstGeom prst="rect">
            <a:avLst/>
          </a:prstGeom>
          <a:noFill/>
          <a:ln>
            <a:noFill/>
          </a:ln>
        </p:spPr>
        <p:txBody>
          <a:bodyPr anchorCtr="0" anchor="t" bIns="0" lIns="0" spcFirstLastPara="1" rIns="0" wrap="square" tIns="97775">
            <a:spAutoFit/>
          </a:bodyPr>
          <a:lstStyle/>
          <a:p>
            <a:pPr indent="-343535" lvl="0" marL="355600" marR="0" rtl="0" algn="l">
              <a:lnSpc>
                <a:spcPct val="100000"/>
              </a:lnSpc>
              <a:spcBef>
                <a:spcPts val="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Word size</a:t>
            </a:r>
            <a:endParaRPr sz="2800">
              <a:solidFill>
                <a:schemeClr val="dk1"/>
              </a:solidFill>
              <a:latin typeface="Verdana"/>
              <a:ea typeface="Verdana"/>
              <a:cs typeface="Verdana"/>
              <a:sym typeface="Verdana"/>
            </a:endParaRPr>
          </a:p>
          <a:p>
            <a:pPr indent="0" lvl="0" marL="469900" marR="0" rtl="0" algn="l">
              <a:lnSpc>
                <a:spcPct val="100000"/>
              </a:lnSpc>
              <a:spcBef>
                <a:spcPts val="580"/>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The natural unit of organisation</a:t>
            </a:r>
            <a:endParaRPr sz="2400">
              <a:solidFill>
                <a:schemeClr val="dk1"/>
              </a:solidFill>
              <a:latin typeface="Verdana"/>
              <a:ea typeface="Verdana"/>
              <a:cs typeface="Verdana"/>
              <a:sym typeface="Verdana"/>
            </a:endParaRPr>
          </a:p>
          <a:p>
            <a:pPr indent="-343535" lvl="0" marL="355600" marR="0" rtl="0" algn="l">
              <a:lnSpc>
                <a:spcPct val="100000"/>
              </a:lnSpc>
              <a:spcBef>
                <a:spcPts val="67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Internal mem-bytes/words</a:t>
            </a:r>
            <a:endParaRPr/>
          </a:p>
          <a:p>
            <a:pPr indent="-343535" lvl="0" marL="355600" marR="0" rtl="0" algn="l">
              <a:lnSpc>
                <a:spcPct val="100000"/>
              </a:lnSpc>
              <a:spcBef>
                <a:spcPts val="67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External mem-bytes</a:t>
            </a:r>
            <a:endParaRPr/>
          </a:p>
          <a:p>
            <a:pPr indent="-343535" lvl="0" marL="355600" marR="0" rtl="0" algn="l">
              <a:lnSpc>
                <a:spcPct val="100000"/>
              </a:lnSpc>
              <a:spcBef>
                <a:spcPts val="67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Number of words</a:t>
            </a:r>
            <a:endParaRPr sz="2800">
              <a:solidFill>
                <a:schemeClr val="dk1"/>
              </a:solidFill>
              <a:latin typeface="Verdana"/>
              <a:ea typeface="Verdana"/>
              <a:cs typeface="Verdana"/>
              <a:sym typeface="Verdana"/>
            </a:endParaRPr>
          </a:p>
          <a:p>
            <a:pPr indent="0" lvl="0" marL="469900" marR="0" rtl="0" algn="l">
              <a:lnSpc>
                <a:spcPct val="100000"/>
              </a:lnSpc>
              <a:spcBef>
                <a:spcPts val="580"/>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or Bytes</a:t>
            </a:r>
            <a:endParaRPr sz="2400">
              <a:solidFill>
                <a:schemeClr val="dk1"/>
              </a:solidFill>
              <a:latin typeface="Verdana"/>
              <a:ea typeface="Verdana"/>
              <a:cs typeface="Verdana"/>
              <a:sym typeface="Verdana"/>
            </a:endParaRPr>
          </a:p>
          <a:p>
            <a:pPr indent="0" lvl="0" marL="12700" marR="0" rtl="0" algn="l">
              <a:lnSpc>
                <a:spcPct val="100000"/>
              </a:lnSpc>
              <a:spcBef>
                <a:spcPts val="475"/>
              </a:spcBef>
              <a:spcAft>
                <a:spcPts val="0"/>
              </a:spcAft>
              <a:buNone/>
            </a:pPr>
            <a:r>
              <a:rPr b="1" lang="en-US" sz="2000">
                <a:solidFill>
                  <a:schemeClr val="dk1"/>
                </a:solidFill>
                <a:latin typeface="Verdana"/>
                <a:ea typeface="Verdana"/>
                <a:cs typeface="Verdana"/>
                <a:sym typeface="Verdana"/>
              </a:rPr>
              <a:t>Types of various Units of Memory-</a:t>
            </a:r>
            <a:endParaRPr sz="2000">
              <a:solidFill>
                <a:schemeClr val="dk1"/>
              </a:solidFill>
              <a:latin typeface="Verdana"/>
              <a:ea typeface="Verdana"/>
              <a:cs typeface="Verdana"/>
              <a:sym typeface="Verdana"/>
            </a:endParaRPr>
          </a:p>
          <a:p>
            <a:pPr indent="0" lvl="0" marL="12700" marR="0" rtl="0" algn="l">
              <a:lnSpc>
                <a:spcPct val="100000"/>
              </a:lnSpc>
              <a:spcBef>
                <a:spcPts val="480"/>
              </a:spcBef>
              <a:spcAft>
                <a:spcPts val="0"/>
              </a:spcAft>
              <a:buNone/>
            </a:pPr>
            <a:r>
              <a:rPr lang="en-US" sz="2000">
                <a:solidFill>
                  <a:schemeClr val="dk1"/>
                </a:solidFill>
                <a:latin typeface="Verdana"/>
                <a:ea typeface="Verdana"/>
                <a:cs typeface="Verdana"/>
                <a:sym typeface="Verdana"/>
              </a:rPr>
              <a:t>Byte</a:t>
            </a:r>
            <a:endParaRPr sz="2000">
              <a:solidFill>
                <a:schemeClr val="dk1"/>
              </a:solidFill>
              <a:latin typeface="Verdana"/>
              <a:ea typeface="Verdana"/>
              <a:cs typeface="Verdana"/>
              <a:sym typeface="Verdana"/>
            </a:endParaRPr>
          </a:p>
          <a:p>
            <a:pPr indent="0" lvl="0" marL="12700" marR="4271645" rtl="0" algn="l">
              <a:lnSpc>
                <a:spcPct val="120000"/>
              </a:lnSpc>
              <a:spcBef>
                <a:spcPts val="0"/>
              </a:spcBef>
              <a:spcAft>
                <a:spcPts val="0"/>
              </a:spcAft>
              <a:buNone/>
            </a:pPr>
            <a:r>
              <a:rPr lang="en-US" sz="2000">
                <a:solidFill>
                  <a:schemeClr val="dk1"/>
                </a:solidFill>
                <a:latin typeface="Verdana"/>
                <a:ea typeface="Verdana"/>
                <a:cs typeface="Verdana"/>
                <a:sym typeface="Verdana"/>
              </a:rPr>
              <a:t>Kilo Byte  Mega Byte</a:t>
            </a:r>
            <a:endParaRPr sz="2000">
              <a:solidFill>
                <a:schemeClr val="dk1"/>
              </a:solidFill>
              <a:latin typeface="Verdana"/>
              <a:ea typeface="Verdana"/>
              <a:cs typeface="Verdana"/>
              <a:sym typeface="Verdana"/>
            </a:endParaRPr>
          </a:p>
          <a:p>
            <a:pPr indent="0" lvl="0" marL="12700" marR="4269105" rtl="0" algn="l">
              <a:lnSpc>
                <a:spcPct val="120000"/>
              </a:lnSpc>
              <a:spcBef>
                <a:spcPts val="5"/>
              </a:spcBef>
              <a:spcAft>
                <a:spcPts val="0"/>
              </a:spcAft>
              <a:buNone/>
            </a:pPr>
            <a:r>
              <a:rPr lang="en-US" sz="2000">
                <a:solidFill>
                  <a:schemeClr val="dk1"/>
                </a:solidFill>
                <a:latin typeface="Verdana"/>
                <a:ea typeface="Verdana"/>
                <a:cs typeface="Verdana"/>
                <a:sym typeface="Verdana"/>
              </a:rPr>
              <a:t>Giga Byte  Tera Byte  Peta Byte  Exa Byte  Zetta Byte  Yotta Byte</a:t>
            </a:r>
            <a:endParaRPr sz="2000">
              <a:solidFill>
                <a:schemeClr val="dk1"/>
              </a:solidFill>
              <a:latin typeface="Verdana"/>
              <a:ea typeface="Verdana"/>
              <a:cs typeface="Verdana"/>
              <a:sym typeface="Verdan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id="87" name="Google Shape;87;p8"/>
          <p:cNvPicPr preferRelativeResize="0"/>
          <p:nvPr/>
        </p:nvPicPr>
        <p:blipFill rotWithShape="1">
          <a:blip r:embed="rId3">
            <a:alphaModFix/>
          </a:blip>
          <a:srcRect b="0" l="0" r="0" t="0"/>
          <a:stretch/>
        </p:blipFill>
        <p:spPr>
          <a:xfrm>
            <a:off x="381000" y="100011"/>
            <a:ext cx="8229600" cy="67214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9"/>
          <p:cNvSpPr txBox="1"/>
          <p:nvPr>
            <p:ph type="title"/>
          </p:nvPr>
        </p:nvSpPr>
        <p:spPr>
          <a:xfrm>
            <a:off x="485343" y="484073"/>
            <a:ext cx="3556635"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3. Unit of Transfer</a:t>
            </a:r>
            <a:endParaRPr/>
          </a:p>
        </p:txBody>
      </p:sp>
      <p:sp>
        <p:nvSpPr>
          <p:cNvPr id="93" name="Google Shape;93;p9"/>
          <p:cNvSpPr txBox="1"/>
          <p:nvPr/>
        </p:nvSpPr>
        <p:spPr>
          <a:xfrm>
            <a:off x="304800" y="1295400"/>
            <a:ext cx="8305800" cy="5182829"/>
          </a:xfrm>
          <a:prstGeom prst="rect">
            <a:avLst/>
          </a:prstGeom>
          <a:noFill/>
          <a:ln>
            <a:noFill/>
          </a:ln>
        </p:spPr>
        <p:txBody>
          <a:bodyPr anchorCtr="0" anchor="t" bIns="0" lIns="0" spcFirstLastPara="1" rIns="0" wrap="square" tIns="12050">
            <a:spAutoFit/>
          </a:bodyPr>
          <a:lstStyle/>
          <a:p>
            <a:pPr indent="-127000" lvl="0" marL="0" marR="0" rtl="0" algn="just">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Internal memory, the unit of transfer is equal to the </a:t>
            </a:r>
            <a:r>
              <a:rPr lang="en-US" sz="2000">
                <a:solidFill>
                  <a:srgbClr val="FF0000"/>
                </a:solidFill>
                <a:latin typeface="Calibri"/>
                <a:ea typeface="Calibri"/>
                <a:cs typeface="Calibri"/>
                <a:sym typeface="Calibri"/>
              </a:rPr>
              <a:t>number of electrical lines into and out of the memory module-governed by data bus-width</a:t>
            </a:r>
            <a:endParaRPr/>
          </a:p>
          <a:p>
            <a:pPr indent="-127000" lvl="1" marL="457200" marR="0" rtl="0" algn="just">
              <a:spcBef>
                <a:spcPts val="0"/>
              </a:spcBef>
              <a:spcAft>
                <a:spcPts val="0"/>
              </a:spcAft>
              <a:buClr>
                <a:srgbClr val="FF0000"/>
              </a:buClr>
              <a:buSzPts val="2000"/>
              <a:buFont typeface="Arial"/>
              <a:buChar char="•"/>
            </a:pPr>
            <a:r>
              <a:rPr b="0" i="0" lang="en-US" sz="2000" u="none" cap="none" strike="noStrike">
                <a:solidFill>
                  <a:srgbClr val="FF0000"/>
                </a:solidFill>
                <a:latin typeface="Calibri"/>
                <a:ea typeface="Calibri"/>
                <a:cs typeface="Calibri"/>
                <a:sym typeface="Calibri"/>
              </a:rPr>
              <a:t>Word</a:t>
            </a:r>
            <a:r>
              <a:rPr b="0" i="0" lang="en-US" sz="2000" u="none" cap="none" strike="noStrike">
                <a:solidFill>
                  <a:schemeClr val="dk1"/>
                </a:solidFill>
                <a:latin typeface="Calibri"/>
                <a:ea typeface="Calibri"/>
                <a:cs typeface="Calibri"/>
                <a:sym typeface="Calibri"/>
              </a:rPr>
              <a:t>-</a:t>
            </a:r>
            <a:r>
              <a:rPr b="0" i="0" lang="en-US" sz="1800" u="none" cap="none" strike="noStrike">
                <a:solidFill>
                  <a:srgbClr val="242021"/>
                </a:solidFill>
                <a:latin typeface="Times"/>
                <a:ea typeface="Times"/>
                <a:cs typeface="Times"/>
                <a:sym typeface="Times"/>
              </a:rPr>
              <a:t>“natural” unit of organization of memory. </a:t>
            </a:r>
            <a:endParaRPr/>
          </a:p>
          <a:p>
            <a:pPr indent="-114300" lvl="1" marL="457200" marR="0" rtl="0" algn="just">
              <a:spcBef>
                <a:spcPts val="0"/>
              </a:spcBef>
              <a:spcAft>
                <a:spcPts val="0"/>
              </a:spcAft>
              <a:buClr>
                <a:srgbClr val="242021"/>
              </a:buClr>
              <a:buSzPts val="1800"/>
              <a:buFont typeface="Arial"/>
              <a:buChar char="•"/>
            </a:pPr>
            <a:r>
              <a:rPr b="0" i="0" lang="en-US" sz="1800" u="none" cap="none" strike="noStrike">
                <a:solidFill>
                  <a:srgbClr val="242021"/>
                </a:solidFill>
                <a:latin typeface="Times"/>
                <a:ea typeface="Times"/>
                <a:cs typeface="Times"/>
                <a:sym typeface="Times"/>
              </a:rPr>
              <a:t>The size of a word is typically equal to the </a:t>
            </a:r>
            <a:r>
              <a:rPr b="0" i="0" lang="en-US" sz="1800" u="none" cap="none" strike="noStrike">
                <a:solidFill>
                  <a:schemeClr val="accent1"/>
                </a:solidFill>
                <a:latin typeface="Times"/>
                <a:ea typeface="Times"/>
                <a:cs typeface="Times"/>
                <a:sym typeface="Times"/>
              </a:rPr>
              <a:t>number of bits used to represent an integer and to the instruction length</a:t>
            </a:r>
            <a:r>
              <a:rPr b="0" i="0" lang="en-US" sz="1800" u="none" cap="none" strike="noStrike">
                <a:solidFill>
                  <a:srgbClr val="242021"/>
                </a:solidFill>
                <a:latin typeface="Times"/>
                <a:ea typeface="Times"/>
                <a:cs typeface="Times"/>
                <a:sym typeface="Times"/>
              </a:rPr>
              <a:t>. </a:t>
            </a:r>
            <a:br>
              <a:rPr b="0" i="0" lang="en-US" sz="2000" u="none" cap="none" strike="noStrike">
                <a:solidFill>
                  <a:schemeClr val="dk1"/>
                </a:solidFill>
                <a:latin typeface="Calibri"/>
                <a:ea typeface="Calibri"/>
                <a:cs typeface="Calibri"/>
                <a:sym typeface="Calibri"/>
              </a:rPr>
            </a:br>
            <a:endParaRPr b="0" i="0" sz="2000" u="none" cap="none" strike="noStrike">
              <a:solidFill>
                <a:srgbClr val="FF0000"/>
              </a:solidFill>
              <a:latin typeface="Calibri"/>
              <a:ea typeface="Calibri"/>
              <a:cs typeface="Calibri"/>
              <a:sym typeface="Calibri"/>
            </a:endParaRPr>
          </a:p>
          <a:p>
            <a:pPr indent="-127000" lvl="1" marL="457200" marR="0" rtl="0" algn="just">
              <a:spcBef>
                <a:spcPts val="0"/>
              </a:spcBef>
              <a:spcAft>
                <a:spcPts val="0"/>
              </a:spcAft>
              <a:buClr>
                <a:srgbClr val="FF0000"/>
              </a:buClr>
              <a:buSzPts val="2000"/>
              <a:buFont typeface="Arial"/>
              <a:buChar char="•"/>
            </a:pPr>
            <a:r>
              <a:rPr b="0" i="0" lang="en-US" sz="2000" u="none" cap="none" strike="noStrike">
                <a:solidFill>
                  <a:srgbClr val="FF0000"/>
                </a:solidFill>
                <a:latin typeface="Calibri"/>
                <a:ea typeface="Calibri"/>
                <a:cs typeface="Calibri"/>
                <a:sym typeface="Calibri"/>
              </a:rPr>
              <a:t>Addressable units-—</a:t>
            </a:r>
            <a:r>
              <a:rPr b="0" i="0" lang="en-US" sz="2000" u="none" cap="none" strike="noStrike">
                <a:solidFill>
                  <a:schemeClr val="dk1"/>
                </a:solidFill>
                <a:latin typeface="Calibri"/>
                <a:ea typeface="Calibri"/>
                <a:cs typeface="Calibri"/>
                <a:sym typeface="Calibri"/>
              </a:rPr>
              <a:t>Smallest location which can be uniquely addressed</a:t>
            </a:r>
            <a:endParaRPr/>
          </a:p>
          <a:p>
            <a:pPr indent="-127000" lvl="1" marL="457200" marR="0" rtl="0" algn="just">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the relationship between the length in bits A of an address and the number N of addressable units is 2A = N.</a:t>
            </a:r>
            <a:endParaRPr/>
          </a:p>
          <a:p>
            <a:pPr indent="0" lvl="1" marL="457200" marR="0" rtl="0" algn="just">
              <a:spcBef>
                <a:spcPts val="0"/>
              </a:spcBef>
              <a:spcAft>
                <a:spcPts val="0"/>
              </a:spcAft>
              <a:buNone/>
            </a:pPr>
            <a:r>
              <a:t/>
            </a:r>
            <a:endParaRPr b="0" i="0" sz="2000" u="none" cap="none" strike="noStrike">
              <a:solidFill>
                <a:schemeClr val="dk1"/>
              </a:solidFill>
              <a:latin typeface="Calibri"/>
              <a:ea typeface="Calibri"/>
              <a:cs typeface="Calibri"/>
              <a:sym typeface="Calibri"/>
            </a:endParaRPr>
          </a:p>
          <a:p>
            <a:pPr indent="-127000" lvl="1" marL="457200" marR="0" rtl="0" algn="just">
              <a:spcBef>
                <a:spcPts val="0"/>
              </a:spcBef>
              <a:spcAft>
                <a:spcPts val="0"/>
              </a:spcAft>
              <a:buClr>
                <a:srgbClr val="FF0000"/>
              </a:buClr>
              <a:buSzPts val="2000"/>
              <a:buFont typeface="Arial"/>
              <a:buChar char="•"/>
            </a:pPr>
            <a:r>
              <a:rPr b="0" i="0" lang="en-US" sz="2000" u="none" cap="none" strike="noStrike">
                <a:solidFill>
                  <a:srgbClr val="FF0000"/>
                </a:solidFill>
                <a:latin typeface="Calibri"/>
                <a:ea typeface="Calibri"/>
                <a:cs typeface="Calibri"/>
                <a:sym typeface="Calibri"/>
              </a:rPr>
              <a:t> Units of Transfer-this is the number of bits read out of or written into memory at a time (main memory)</a:t>
            </a:r>
            <a:endParaRPr/>
          </a:p>
          <a:p>
            <a:pPr indent="-127000" lvl="2" marL="914400" marR="0" rtl="0" algn="just">
              <a:spcBef>
                <a:spcPts val="0"/>
              </a:spcBef>
              <a:spcAft>
                <a:spcPts val="0"/>
              </a:spcAft>
              <a:buClr>
                <a:srgbClr val="FF0000"/>
              </a:buClr>
              <a:buSzPts val="2000"/>
              <a:buFont typeface="Arial"/>
              <a:buChar char="•"/>
            </a:pPr>
            <a:r>
              <a:rPr b="0" i="0" lang="en-US" sz="2000" u="none" cap="none" strike="noStrike">
                <a:solidFill>
                  <a:srgbClr val="FF0000"/>
                </a:solidFill>
                <a:latin typeface="Calibri"/>
                <a:ea typeface="Calibri"/>
                <a:cs typeface="Calibri"/>
                <a:sym typeface="Calibri"/>
              </a:rPr>
              <a:t>Data is transferred in blocks (external memory)</a:t>
            </a:r>
            <a:endParaRPr/>
          </a:p>
          <a:p>
            <a:pPr indent="0" lvl="1" marL="457200" marR="0" rtl="0" algn="just">
              <a:spcBef>
                <a:spcPts val="0"/>
              </a:spcBef>
              <a:spcAft>
                <a:spcPts val="0"/>
              </a:spcAft>
              <a:buClr>
                <a:schemeClr val="dk1"/>
              </a:buClr>
              <a:buSzPts val="2000"/>
              <a:buFont typeface="Arial"/>
              <a:buNone/>
            </a:pPr>
            <a:r>
              <a:t/>
            </a:r>
            <a:endParaRPr b="0" i="0" sz="2000" u="none" cap="none" strike="noStrike">
              <a:solidFill>
                <a:srgbClr val="FF0000"/>
              </a:solidFill>
              <a:latin typeface="Calibri"/>
              <a:ea typeface="Calibri"/>
              <a:cs typeface="Calibri"/>
              <a:sym typeface="Calibri"/>
            </a:endParaRPr>
          </a:p>
          <a:p>
            <a:pPr indent="0" lvl="0" marL="0" marR="0" rtl="0" algn="just">
              <a:spcBef>
                <a:spcPts val="0"/>
              </a:spcBef>
              <a:spcAft>
                <a:spcPts val="0"/>
              </a:spcAft>
              <a:buNone/>
            </a:pPr>
            <a:r>
              <a:t/>
            </a:r>
            <a:endParaRPr sz="2000">
              <a:solidFill>
                <a:srgbClr val="FF0000"/>
              </a:solidFill>
              <a:latin typeface="Calibri"/>
              <a:ea typeface="Calibri"/>
              <a:cs typeface="Calibri"/>
              <a:sym typeface="Calibri"/>
            </a:endParaRPr>
          </a:p>
          <a:p>
            <a:pPr indent="0" lvl="0" marL="0" marR="0" rtl="0" algn="just">
              <a:spcBef>
                <a:spcPts val="0"/>
              </a:spcBef>
              <a:spcAft>
                <a:spcPts val="0"/>
              </a:spcAft>
              <a:buClr>
                <a:schemeClr val="dk1"/>
              </a:buClr>
              <a:buSzPts val="2000"/>
              <a:buFont typeface="Arial"/>
              <a:buNone/>
            </a:pPr>
            <a:r>
              <a:t/>
            </a:r>
            <a:endParaRPr sz="2000">
              <a:solidFill>
                <a:srgbClr val="FF0000"/>
              </a:solidFill>
              <a:latin typeface="Calibri"/>
              <a:ea typeface="Calibri"/>
              <a:cs typeface="Calibri"/>
              <a:sym typeface="Calibri"/>
            </a:endParaRPr>
          </a:p>
          <a:p>
            <a:pPr indent="0" lvl="0" marL="0" marR="0" rtl="0" algn="just">
              <a:spcBef>
                <a:spcPts val="0"/>
              </a:spcBef>
              <a:spcAft>
                <a:spcPts val="0"/>
              </a:spcAft>
              <a:buClr>
                <a:schemeClr val="dk1"/>
              </a:buClr>
              <a:buSzPts val="2000"/>
              <a:buFont typeface="Arial"/>
              <a:buNone/>
            </a:pPr>
            <a:r>
              <a:t/>
            </a:r>
            <a:endParaRPr sz="2000">
              <a:solidFill>
                <a:srgbClr val="FF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0"/>
          <p:cNvSpPr txBox="1"/>
          <p:nvPr>
            <p:ph type="title"/>
          </p:nvPr>
        </p:nvSpPr>
        <p:spPr>
          <a:xfrm>
            <a:off x="485343" y="484073"/>
            <a:ext cx="4326890"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4. Access Methods (1)</a:t>
            </a:r>
            <a:endParaRPr/>
          </a:p>
        </p:txBody>
      </p:sp>
      <p:sp>
        <p:nvSpPr>
          <p:cNvPr id="99" name="Google Shape;99;p10"/>
          <p:cNvSpPr txBox="1"/>
          <p:nvPr/>
        </p:nvSpPr>
        <p:spPr>
          <a:xfrm>
            <a:off x="535940" y="1012617"/>
            <a:ext cx="7641590" cy="5551841"/>
          </a:xfrm>
          <a:prstGeom prst="rect">
            <a:avLst/>
          </a:prstGeom>
          <a:noFill/>
          <a:ln>
            <a:noFill/>
          </a:ln>
        </p:spPr>
        <p:txBody>
          <a:bodyPr anchorCtr="0" anchor="t" bIns="0" lIns="0" spcFirstLastPara="1" rIns="0" wrap="square" tIns="97775">
            <a:spAutoFit/>
          </a:bodyPr>
          <a:lstStyle/>
          <a:p>
            <a:pPr indent="-343535" lvl="0" marL="355600" marR="0" rtl="0" algn="l">
              <a:lnSpc>
                <a:spcPct val="100000"/>
              </a:lnSpc>
              <a:spcBef>
                <a:spcPts val="0"/>
              </a:spcBef>
              <a:spcAft>
                <a:spcPts val="0"/>
              </a:spcAft>
              <a:buClr>
                <a:srgbClr val="FF0000"/>
              </a:buClr>
              <a:buSzPts val="2800"/>
              <a:buFont typeface="Verdana"/>
              <a:buChar char="•"/>
            </a:pPr>
            <a:r>
              <a:rPr b="1" lang="en-US" sz="2800">
                <a:solidFill>
                  <a:srgbClr val="FF0000"/>
                </a:solidFill>
                <a:latin typeface="Verdana"/>
                <a:ea typeface="Verdana"/>
                <a:cs typeface="Verdana"/>
                <a:sym typeface="Verdana"/>
              </a:rPr>
              <a:t>Sequential</a:t>
            </a:r>
            <a:endParaRPr sz="2800">
              <a:solidFill>
                <a:schemeClr val="dk1"/>
              </a:solidFill>
              <a:latin typeface="Verdana"/>
              <a:ea typeface="Verdana"/>
              <a:cs typeface="Verdana"/>
              <a:sym typeface="Verdana"/>
            </a:endParaRPr>
          </a:p>
          <a:p>
            <a:pPr indent="-287019" lvl="0" marL="756285" marR="311150" rtl="0" algn="l">
              <a:lnSpc>
                <a:spcPct val="100000"/>
              </a:lnSpc>
              <a:spcBef>
                <a:spcPts val="580"/>
              </a:spcBef>
              <a:spcAft>
                <a:spcPts val="0"/>
              </a:spcAft>
              <a:buNone/>
            </a:pPr>
            <a:r>
              <a:rPr lang="en-US" sz="2400">
                <a:solidFill>
                  <a:srgbClr val="FF0000"/>
                </a:solidFill>
                <a:latin typeface="Verdana"/>
                <a:ea typeface="Verdana"/>
                <a:cs typeface="Verdana"/>
                <a:sym typeface="Verdana"/>
              </a:rPr>
              <a:t>—</a:t>
            </a:r>
            <a:r>
              <a:rPr b="0" i="0" lang="en-US" sz="1800">
                <a:solidFill>
                  <a:srgbClr val="242021"/>
                </a:solidFill>
                <a:latin typeface="Times New Roman"/>
                <a:ea typeface="Times New Roman"/>
                <a:cs typeface="Times New Roman"/>
                <a:sym typeface="Times New Roman"/>
              </a:rPr>
              <a:t>Memory is organized into units of data, called </a:t>
            </a:r>
            <a:r>
              <a:rPr b="0" i="0" lang="en-US" sz="1800">
                <a:solidFill>
                  <a:schemeClr val="dk1"/>
                </a:solidFill>
                <a:latin typeface="Times New Roman"/>
                <a:ea typeface="Times New Roman"/>
                <a:cs typeface="Times New Roman"/>
                <a:sym typeface="Times New Roman"/>
              </a:rPr>
              <a:t>records</a:t>
            </a:r>
            <a:r>
              <a:rPr lang="en-US" sz="1800">
                <a:solidFill>
                  <a:schemeClr val="dk1"/>
                </a:solidFill>
                <a:latin typeface="Times New Roman"/>
                <a:ea typeface="Times New Roman"/>
                <a:cs typeface="Times New Roman"/>
                <a:sym typeface="Times New Roman"/>
              </a:rPr>
              <a:t> </a:t>
            </a:r>
            <a:endParaRPr/>
          </a:p>
          <a:p>
            <a:pPr indent="-287019" lvl="0" marL="756285" marR="311150" rtl="0" algn="l">
              <a:lnSpc>
                <a:spcPct val="100000"/>
              </a:lnSpc>
              <a:spcBef>
                <a:spcPts val="58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Start at the beginning and read through in  order</a:t>
            </a:r>
            <a:endParaRPr sz="1800">
              <a:solidFill>
                <a:schemeClr val="dk1"/>
              </a:solidFill>
              <a:latin typeface="Times New Roman"/>
              <a:ea typeface="Times New Roman"/>
              <a:cs typeface="Times New Roman"/>
              <a:sym typeface="Times New Roman"/>
            </a:endParaRPr>
          </a:p>
          <a:p>
            <a:pPr indent="-287019" lvl="0" marL="756285" marR="311150" rtl="0" algn="l">
              <a:lnSpc>
                <a:spcPct val="100000"/>
              </a:lnSpc>
              <a:spcBef>
                <a:spcPts val="580"/>
              </a:spcBef>
              <a:spcAft>
                <a:spcPts val="0"/>
              </a:spcAft>
              <a:buClr>
                <a:srgbClr val="242021"/>
              </a:buClr>
              <a:buSzPts val="1800"/>
              <a:buFont typeface="Arial"/>
              <a:buChar char="•"/>
            </a:pPr>
            <a:r>
              <a:rPr b="0" i="0" lang="en-US" sz="1800">
                <a:solidFill>
                  <a:srgbClr val="242021"/>
                </a:solidFill>
                <a:latin typeface="Times New Roman"/>
                <a:ea typeface="Times New Roman"/>
                <a:cs typeface="Times New Roman"/>
                <a:sym typeface="Times New Roman"/>
              </a:rPr>
              <a:t>A </a:t>
            </a:r>
            <a:r>
              <a:rPr b="0" i="0" lang="en-US" sz="1800">
                <a:solidFill>
                  <a:srgbClr val="FF0000"/>
                </a:solidFill>
                <a:latin typeface="Times New Roman"/>
                <a:ea typeface="Times New Roman"/>
                <a:cs typeface="Times New Roman"/>
                <a:sym typeface="Times New Roman"/>
              </a:rPr>
              <a:t>shared read–write mechanism </a:t>
            </a:r>
            <a:r>
              <a:rPr b="0" i="0" lang="en-US" sz="1800">
                <a:solidFill>
                  <a:srgbClr val="242021"/>
                </a:solidFill>
                <a:latin typeface="Times New Roman"/>
                <a:ea typeface="Times New Roman"/>
                <a:cs typeface="Times New Roman"/>
                <a:sym typeface="Times New Roman"/>
              </a:rPr>
              <a:t>is used, and this must be moved from its current location to the desired location, passing and rejecting each intermediate record</a:t>
            </a:r>
            <a:r>
              <a:rPr lang="en-US" sz="1800">
                <a:solidFill>
                  <a:schemeClr val="dk1"/>
                </a:solidFill>
                <a:latin typeface="Times New Roman"/>
                <a:ea typeface="Times New Roman"/>
                <a:cs typeface="Times New Roman"/>
                <a:sym typeface="Times New Roman"/>
              </a:rPr>
              <a:t> </a:t>
            </a:r>
            <a:br>
              <a:rPr lang="en-US" sz="1800">
                <a:solidFill>
                  <a:schemeClr val="dk1"/>
                </a:solidFill>
                <a:latin typeface="Times New Roman"/>
                <a:ea typeface="Times New Roman"/>
                <a:cs typeface="Times New Roman"/>
                <a:sym typeface="Times New Roman"/>
              </a:rPr>
            </a:br>
            <a:r>
              <a:rPr lang="en-US" sz="1800">
                <a:solidFill>
                  <a:srgbClr val="FF0000"/>
                </a:solidFill>
                <a:latin typeface="Times New Roman"/>
                <a:ea typeface="Times New Roman"/>
                <a:cs typeface="Times New Roman"/>
                <a:sym typeface="Times New Roman"/>
              </a:rPr>
              <a:t>—</a:t>
            </a:r>
            <a:r>
              <a:rPr lang="en-US" sz="1800">
                <a:solidFill>
                  <a:schemeClr val="dk1"/>
                </a:solidFill>
                <a:latin typeface="Times New Roman"/>
                <a:ea typeface="Times New Roman"/>
                <a:cs typeface="Times New Roman"/>
                <a:sym typeface="Times New Roman"/>
              </a:rPr>
              <a:t>Access time depends on </a:t>
            </a:r>
            <a:r>
              <a:rPr lang="en-US" sz="1800">
                <a:solidFill>
                  <a:srgbClr val="FF0000"/>
                </a:solidFill>
                <a:latin typeface="Times New Roman"/>
                <a:ea typeface="Times New Roman"/>
                <a:cs typeface="Times New Roman"/>
                <a:sym typeface="Times New Roman"/>
              </a:rPr>
              <a:t>location of data and  previous location</a:t>
            </a:r>
            <a:endParaRPr sz="1800">
              <a:solidFill>
                <a:srgbClr val="FF0000"/>
              </a:solidFill>
              <a:latin typeface="Times New Roman"/>
              <a:ea typeface="Times New Roman"/>
              <a:cs typeface="Times New Roman"/>
              <a:sym typeface="Times New Roman"/>
            </a:endParaRPr>
          </a:p>
          <a:p>
            <a:pPr indent="0" lvl="0" marL="469900" marR="0" rtl="0" algn="l">
              <a:lnSpc>
                <a:spcPct val="100000"/>
              </a:lnSpc>
              <a:spcBef>
                <a:spcPts val="580"/>
              </a:spcBef>
              <a:spcAft>
                <a:spcPts val="0"/>
              </a:spcAft>
              <a:buNone/>
            </a:pPr>
            <a:r>
              <a:rPr lang="en-US" sz="1800">
                <a:solidFill>
                  <a:srgbClr val="FF0000"/>
                </a:solidFill>
                <a:latin typeface="Times New Roman"/>
                <a:ea typeface="Times New Roman"/>
                <a:cs typeface="Times New Roman"/>
                <a:sym typeface="Times New Roman"/>
              </a:rPr>
              <a:t>—</a:t>
            </a:r>
            <a:r>
              <a:rPr lang="en-US" sz="1800">
                <a:solidFill>
                  <a:schemeClr val="dk1"/>
                </a:solidFill>
                <a:latin typeface="Times New Roman"/>
                <a:ea typeface="Times New Roman"/>
                <a:cs typeface="Times New Roman"/>
                <a:sym typeface="Times New Roman"/>
              </a:rPr>
              <a:t>e.g. tape</a:t>
            </a:r>
            <a:endParaRPr sz="1800">
              <a:solidFill>
                <a:schemeClr val="dk1"/>
              </a:solidFill>
              <a:latin typeface="Times New Roman"/>
              <a:ea typeface="Times New Roman"/>
              <a:cs typeface="Times New Roman"/>
              <a:sym typeface="Times New Roman"/>
            </a:endParaRPr>
          </a:p>
          <a:p>
            <a:pPr indent="-343535" lvl="0" marL="355600" marR="0" rtl="0" algn="l">
              <a:lnSpc>
                <a:spcPct val="100000"/>
              </a:lnSpc>
              <a:spcBef>
                <a:spcPts val="665"/>
              </a:spcBef>
              <a:spcAft>
                <a:spcPts val="0"/>
              </a:spcAft>
              <a:buClr>
                <a:srgbClr val="FF0000"/>
              </a:buClr>
              <a:buSzPts val="2800"/>
              <a:buFont typeface="Verdana"/>
              <a:buChar char="•"/>
            </a:pPr>
            <a:r>
              <a:rPr b="1" lang="en-US" sz="2800">
                <a:solidFill>
                  <a:srgbClr val="FF0000"/>
                </a:solidFill>
                <a:latin typeface="Verdana"/>
                <a:ea typeface="Verdana"/>
                <a:cs typeface="Verdana"/>
                <a:sym typeface="Verdana"/>
              </a:rPr>
              <a:t>Direct</a:t>
            </a:r>
            <a:endParaRPr sz="2800">
              <a:solidFill>
                <a:schemeClr val="dk1"/>
              </a:solidFill>
              <a:latin typeface="Verdana"/>
              <a:ea typeface="Verdana"/>
              <a:cs typeface="Verdana"/>
              <a:sym typeface="Verdana"/>
            </a:endParaRPr>
          </a:p>
          <a:p>
            <a:pPr indent="0" lvl="0" marL="469900" marR="0" rtl="0" algn="l">
              <a:lnSpc>
                <a:spcPct val="100000"/>
              </a:lnSpc>
              <a:spcBef>
                <a:spcPts val="580"/>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Individual blocks have </a:t>
            </a:r>
            <a:r>
              <a:rPr lang="en-US" sz="2400">
                <a:solidFill>
                  <a:srgbClr val="FF0000"/>
                </a:solidFill>
                <a:latin typeface="Verdana"/>
                <a:ea typeface="Verdana"/>
                <a:cs typeface="Verdana"/>
                <a:sym typeface="Verdana"/>
              </a:rPr>
              <a:t>unique address</a:t>
            </a:r>
            <a:endParaRPr/>
          </a:p>
          <a:p>
            <a:pPr indent="-287019" lvl="0" marL="756285" marR="1304290" rtl="0" algn="l">
              <a:lnSpc>
                <a:spcPct val="100000"/>
              </a:lnSpc>
              <a:spcBef>
                <a:spcPts val="580"/>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Access is by jumping to vicinity plus  sequential search</a:t>
            </a:r>
            <a:endParaRPr sz="2400">
              <a:solidFill>
                <a:schemeClr val="dk1"/>
              </a:solidFill>
              <a:latin typeface="Verdana"/>
              <a:ea typeface="Verdana"/>
              <a:cs typeface="Verdana"/>
              <a:sym typeface="Verdana"/>
            </a:endParaRPr>
          </a:p>
          <a:p>
            <a:pPr indent="-323215" lvl="0" marL="793115" marR="1189990" rtl="0" algn="l">
              <a:lnSpc>
                <a:spcPct val="144166"/>
              </a:lnSpc>
              <a:spcBef>
                <a:spcPts val="209"/>
              </a:spcBef>
              <a:spcAft>
                <a:spcPts val="0"/>
              </a:spcAft>
              <a:buNone/>
            </a:pPr>
            <a:r>
              <a:rPr lang="en-US" sz="2400">
                <a:solidFill>
                  <a:srgbClr val="FF0000"/>
                </a:solidFill>
                <a:latin typeface="Verdana"/>
                <a:ea typeface="Verdana"/>
                <a:cs typeface="Verdana"/>
                <a:sym typeface="Verdana"/>
              </a:rPr>
              <a:t>—involves a shared read–write  mechanism</a:t>
            </a:r>
            <a:endParaRPr sz="2400">
              <a:solidFill>
                <a:schemeClr val="dk1"/>
              </a:solidFill>
              <a:latin typeface="Verdana"/>
              <a:ea typeface="Verdana"/>
              <a:cs typeface="Verdana"/>
              <a:sym typeface="Verdana"/>
            </a:endParaRPr>
          </a:p>
        </p:txBody>
      </p:sp>
      <p:pic>
        <p:nvPicPr>
          <p:cNvPr id="100" name="Google Shape;100;p10"/>
          <p:cNvPicPr preferRelativeResize="0"/>
          <p:nvPr/>
        </p:nvPicPr>
        <p:blipFill rotWithShape="1">
          <a:blip r:embed="rId3">
            <a:alphaModFix/>
          </a:blip>
          <a:srcRect b="0" l="0" r="0" t="0"/>
          <a:stretch/>
        </p:blipFill>
        <p:spPr>
          <a:xfrm>
            <a:off x="6688633" y="326536"/>
            <a:ext cx="1970024" cy="1447800"/>
          </a:xfrm>
          <a:prstGeom prst="rect">
            <a:avLst/>
          </a:prstGeom>
          <a:noFill/>
          <a:ln>
            <a:noFill/>
          </a:ln>
        </p:spPr>
      </p:pic>
      <p:pic>
        <p:nvPicPr>
          <p:cNvPr id="101" name="Google Shape;101;p10"/>
          <p:cNvPicPr preferRelativeResize="0"/>
          <p:nvPr/>
        </p:nvPicPr>
        <p:blipFill rotWithShape="1">
          <a:blip r:embed="rId4">
            <a:alphaModFix/>
          </a:blip>
          <a:srcRect b="0" l="0" r="0" t="0"/>
          <a:stretch/>
        </p:blipFill>
        <p:spPr>
          <a:xfrm>
            <a:off x="7440676" y="5486400"/>
            <a:ext cx="1409700" cy="12382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1"/>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107" name="Google Shape;107;p11"/>
          <p:cNvSpPr txBox="1"/>
          <p:nvPr>
            <p:ph idx="1" type="body"/>
          </p:nvPr>
        </p:nvSpPr>
        <p:spPr>
          <a:xfrm>
            <a:off x="525144" y="1188465"/>
            <a:ext cx="8093710" cy="5601533"/>
          </a:xfrm>
          <a:prstGeom prst="rect">
            <a:avLst/>
          </a:prstGeom>
          <a:noFill/>
          <a:ln>
            <a:noFill/>
          </a:ln>
        </p:spPr>
        <p:txBody>
          <a:bodyPr anchorCtr="0" anchor="t" bIns="0" lIns="0" spcFirstLastPara="1" rIns="0" wrap="square" tIns="0">
            <a:spAutoFit/>
          </a:bodyPr>
          <a:lstStyle/>
          <a:p>
            <a:pPr indent="-323215" lvl="0" marL="793115" marR="1189990" rtl="0" algn="l">
              <a:lnSpc>
                <a:spcPct val="173000"/>
              </a:lnSpc>
              <a:spcBef>
                <a:spcPts val="0"/>
              </a:spcBef>
              <a:spcAft>
                <a:spcPts val="0"/>
              </a:spcAft>
              <a:buNone/>
            </a:pPr>
            <a:r>
              <a:rPr lang="en-US" sz="2000">
                <a:latin typeface="Verdana"/>
                <a:ea typeface="Verdana"/>
                <a:cs typeface="Verdana"/>
                <a:sym typeface="Verdana"/>
              </a:rPr>
              <a:t>Access time depends on </a:t>
            </a:r>
            <a:r>
              <a:rPr lang="en-US" sz="2000">
                <a:solidFill>
                  <a:srgbClr val="FF0000"/>
                </a:solidFill>
                <a:latin typeface="Verdana"/>
                <a:ea typeface="Verdana"/>
                <a:cs typeface="Verdana"/>
                <a:sym typeface="Verdana"/>
              </a:rPr>
              <a:t>location and  previous location</a:t>
            </a:r>
            <a:endParaRPr sz="2000">
              <a:solidFill>
                <a:srgbClr val="FF0000"/>
              </a:solidFill>
              <a:latin typeface="Verdana"/>
              <a:ea typeface="Verdana"/>
              <a:cs typeface="Verdana"/>
              <a:sym typeface="Verdana"/>
            </a:endParaRPr>
          </a:p>
          <a:p>
            <a:pPr indent="0" lvl="0" marL="469900" rtl="0" algn="l">
              <a:lnSpc>
                <a:spcPct val="100000"/>
              </a:lnSpc>
              <a:spcBef>
                <a:spcPts val="360"/>
              </a:spcBef>
              <a:spcAft>
                <a:spcPts val="0"/>
              </a:spcAft>
              <a:buNone/>
            </a:pPr>
            <a:r>
              <a:rPr lang="en-US" sz="2000">
                <a:solidFill>
                  <a:srgbClr val="FF0000"/>
                </a:solidFill>
                <a:latin typeface="Verdana"/>
                <a:ea typeface="Verdana"/>
                <a:cs typeface="Verdana"/>
                <a:sym typeface="Verdana"/>
              </a:rPr>
              <a:t>—</a:t>
            </a:r>
            <a:r>
              <a:rPr lang="en-US" sz="2000">
                <a:latin typeface="Verdana"/>
                <a:ea typeface="Verdana"/>
                <a:cs typeface="Verdana"/>
                <a:sym typeface="Verdana"/>
              </a:rPr>
              <a:t>e.g. disk</a:t>
            </a:r>
            <a:endParaRPr/>
          </a:p>
          <a:p>
            <a:pPr indent="0" lvl="0" marL="469900" rtl="0" algn="l">
              <a:lnSpc>
                <a:spcPct val="100000"/>
              </a:lnSpc>
              <a:spcBef>
                <a:spcPts val="360"/>
              </a:spcBef>
              <a:spcAft>
                <a:spcPts val="0"/>
              </a:spcAft>
              <a:buNone/>
            </a:pPr>
            <a:r>
              <a:t/>
            </a:r>
            <a:endParaRPr/>
          </a:p>
          <a:p>
            <a:pPr indent="-343535" lvl="0" marL="355600" rtl="0" algn="l">
              <a:lnSpc>
                <a:spcPct val="100000"/>
              </a:lnSpc>
              <a:spcBef>
                <a:spcPts val="770"/>
              </a:spcBef>
              <a:spcAft>
                <a:spcPts val="0"/>
              </a:spcAft>
              <a:buClr>
                <a:srgbClr val="FF0000"/>
              </a:buClr>
              <a:buSzPts val="2400"/>
              <a:buFont typeface="Verdana"/>
              <a:buChar char="•"/>
            </a:pPr>
            <a:r>
              <a:rPr b="1" lang="en-US" sz="2400">
                <a:solidFill>
                  <a:srgbClr val="FF0000"/>
                </a:solidFill>
                <a:latin typeface="Verdana"/>
                <a:ea typeface="Verdana"/>
                <a:cs typeface="Verdana"/>
                <a:sym typeface="Verdana"/>
              </a:rPr>
              <a:t>Random</a:t>
            </a:r>
            <a:endParaRPr sz="2400">
              <a:latin typeface="Verdana"/>
              <a:ea typeface="Verdana"/>
              <a:cs typeface="Verdana"/>
              <a:sym typeface="Verdana"/>
            </a:endParaRPr>
          </a:p>
          <a:p>
            <a:pPr indent="0" lvl="0" marL="469900" rtl="0" algn="just">
              <a:lnSpc>
                <a:spcPct val="100000"/>
              </a:lnSpc>
              <a:spcBef>
                <a:spcPts val="580"/>
              </a:spcBef>
              <a:spcAft>
                <a:spcPts val="0"/>
              </a:spcAft>
              <a:buNone/>
            </a:pPr>
            <a:r>
              <a:rPr lang="en-US" sz="2000">
                <a:solidFill>
                  <a:srgbClr val="FF0000"/>
                </a:solidFill>
                <a:latin typeface="Verdana"/>
                <a:ea typeface="Verdana"/>
                <a:cs typeface="Verdana"/>
                <a:sym typeface="Verdana"/>
              </a:rPr>
              <a:t>—</a:t>
            </a:r>
            <a:r>
              <a:rPr lang="en-US" sz="2000">
                <a:latin typeface="Verdana"/>
                <a:ea typeface="Verdana"/>
                <a:cs typeface="Verdana"/>
                <a:sym typeface="Verdana"/>
              </a:rPr>
              <a:t>Each addressable location in memory has a </a:t>
            </a:r>
            <a:r>
              <a:rPr lang="en-US" sz="2000">
                <a:solidFill>
                  <a:srgbClr val="FF0000"/>
                </a:solidFill>
                <a:latin typeface="Verdana"/>
                <a:ea typeface="Verdana"/>
                <a:cs typeface="Verdana"/>
                <a:sym typeface="Verdana"/>
              </a:rPr>
              <a:t>unique, physically wired-in addressing mechanism</a:t>
            </a:r>
            <a:endParaRPr/>
          </a:p>
          <a:p>
            <a:pPr indent="0" lvl="0" marL="469900" rtl="0" algn="just">
              <a:lnSpc>
                <a:spcPct val="100000"/>
              </a:lnSpc>
              <a:spcBef>
                <a:spcPts val="580"/>
              </a:spcBef>
              <a:spcAft>
                <a:spcPts val="0"/>
              </a:spcAft>
              <a:buNone/>
            </a:pPr>
            <a:r>
              <a:rPr lang="en-US" sz="2000">
                <a:latin typeface="Verdana"/>
                <a:ea typeface="Verdana"/>
                <a:cs typeface="Verdana"/>
                <a:sym typeface="Verdana"/>
              </a:rPr>
              <a:t>-Individual addresses identify locations exactly</a:t>
            </a:r>
            <a:endParaRPr sz="2000">
              <a:latin typeface="Verdana"/>
              <a:ea typeface="Verdana"/>
              <a:cs typeface="Verdana"/>
              <a:sym typeface="Verdana"/>
            </a:endParaRPr>
          </a:p>
          <a:p>
            <a:pPr indent="-287019" lvl="0" marL="756285" marR="814705" rtl="0" algn="just">
              <a:lnSpc>
                <a:spcPct val="100000"/>
              </a:lnSpc>
              <a:spcBef>
                <a:spcPts val="580"/>
              </a:spcBef>
              <a:spcAft>
                <a:spcPts val="0"/>
              </a:spcAft>
              <a:buNone/>
            </a:pPr>
            <a:r>
              <a:rPr lang="en-US" sz="2000">
                <a:solidFill>
                  <a:srgbClr val="FF0000"/>
                </a:solidFill>
                <a:latin typeface="Verdana"/>
                <a:ea typeface="Verdana"/>
                <a:cs typeface="Verdana"/>
                <a:sym typeface="Verdana"/>
              </a:rPr>
              <a:t>—</a:t>
            </a:r>
            <a:r>
              <a:rPr lang="en-US" sz="2000">
                <a:latin typeface="Verdana"/>
                <a:ea typeface="Verdana"/>
                <a:cs typeface="Verdana"/>
                <a:sym typeface="Verdana"/>
              </a:rPr>
              <a:t>Access time is </a:t>
            </a:r>
            <a:r>
              <a:rPr lang="en-US" sz="2000">
                <a:solidFill>
                  <a:srgbClr val="FF0000"/>
                </a:solidFill>
                <a:latin typeface="Verdana"/>
                <a:ea typeface="Verdana"/>
                <a:cs typeface="Verdana"/>
                <a:sym typeface="Verdana"/>
              </a:rPr>
              <a:t>independent of location or  previous access</a:t>
            </a:r>
            <a:endParaRPr/>
          </a:p>
          <a:p>
            <a:pPr indent="-287019" lvl="0" marL="756285" marR="814705" rtl="0" algn="just">
              <a:lnSpc>
                <a:spcPct val="100000"/>
              </a:lnSpc>
              <a:spcBef>
                <a:spcPts val="580"/>
              </a:spcBef>
              <a:spcAft>
                <a:spcPts val="0"/>
              </a:spcAft>
              <a:buNone/>
            </a:pPr>
            <a:r>
              <a:rPr lang="en-US" sz="2000">
                <a:latin typeface="Verdana"/>
                <a:ea typeface="Verdana"/>
                <a:cs typeface="Verdana"/>
                <a:sym typeface="Verdana"/>
              </a:rPr>
              <a:t>-any location can be selected at random and directly addressed and accessed</a:t>
            </a:r>
            <a:endParaRPr/>
          </a:p>
          <a:p>
            <a:pPr indent="0" lvl="0" marL="469900" rtl="0" algn="l">
              <a:lnSpc>
                <a:spcPct val="100000"/>
              </a:lnSpc>
              <a:spcBef>
                <a:spcPts val="575"/>
              </a:spcBef>
              <a:spcAft>
                <a:spcPts val="0"/>
              </a:spcAft>
              <a:buNone/>
            </a:pPr>
            <a:r>
              <a:rPr lang="en-US" sz="2000">
                <a:solidFill>
                  <a:srgbClr val="FF0000"/>
                </a:solidFill>
                <a:latin typeface="Verdana"/>
                <a:ea typeface="Verdana"/>
                <a:cs typeface="Verdana"/>
                <a:sym typeface="Verdana"/>
              </a:rPr>
              <a:t>—</a:t>
            </a:r>
            <a:r>
              <a:rPr lang="en-US" sz="2000">
                <a:latin typeface="Verdana"/>
                <a:ea typeface="Verdana"/>
                <a:cs typeface="Verdana"/>
                <a:sym typeface="Verdana"/>
              </a:rPr>
              <a:t>e.g. RAM</a:t>
            </a:r>
            <a:endParaRPr sz="2000">
              <a:latin typeface="Verdana"/>
              <a:ea typeface="Verdana"/>
              <a:cs typeface="Verdana"/>
              <a:sym typeface="Verdana"/>
            </a:endParaRPr>
          </a:p>
          <a:p>
            <a:pPr indent="0" lvl="0" marL="469900" rtl="0" algn="l">
              <a:lnSpc>
                <a:spcPct val="100000"/>
              </a:lnSpc>
              <a:spcBef>
                <a:spcPts val="360"/>
              </a:spcBef>
              <a:spcAft>
                <a:spcPts val="0"/>
              </a:spcAft>
              <a:buNone/>
            </a:pPr>
            <a:r>
              <a:t/>
            </a:r>
            <a:endParaRPr sz="2000">
              <a:latin typeface="Verdana"/>
              <a:ea typeface="Verdana"/>
              <a:cs typeface="Verdana"/>
              <a:sym typeface="Verdana"/>
            </a:endParaRPr>
          </a:p>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2"/>
          <p:cNvSpPr txBox="1"/>
          <p:nvPr>
            <p:ph type="title"/>
          </p:nvPr>
        </p:nvSpPr>
        <p:spPr>
          <a:xfrm>
            <a:off x="485343" y="484073"/>
            <a:ext cx="3853179"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Access Methods (2)</a:t>
            </a:r>
            <a:endParaRPr/>
          </a:p>
        </p:txBody>
      </p:sp>
      <p:sp>
        <p:nvSpPr>
          <p:cNvPr id="113" name="Google Shape;113;p12"/>
          <p:cNvSpPr txBox="1"/>
          <p:nvPr/>
        </p:nvSpPr>
        <p:spPr>
          <a:xfrm>
            <a:off x="535940" y="1012617"/>
            <a:ext cx="7886700" cy="3422732"/>
          </a:xfrm>
          <a:prstGeom prst="rect">
            <a:avLst/>
          </a:prstGeom>
          <a:noFill/>
          <a:ln>
            <a:noFill/>
          </a:ln>
        </p:spPr>
        <p:txBody>
          <a:bodyPr anchorCtr="0" anchor="t" bIns="0" lIns="0" spcFirstLastPara="1" rIns="0" wrap="square" tIns="97775">
            <a:spAutoFit/>
          </a:bodyPr>
          <a:lstStyle/>
          <a:p>
            <a:pPr indent="-343535" lvl="0" marL="355600" marR="0" rtl="0" algn="l">
              <a:lnSpc>
                <a:spcPct val="100000"/>
              </a:lnSpc>
              <a:spcBef>
                <a:spcPts val="0"/>
              </a:spcBef>
              <a:spcAft>
                <a:spcPts val="0"/>
              </a:spcAft>
              <a:buClr>
                <a:srgbClr val="FF0000"/>
              </a:buClr>
              <a:buSzPts val="2800"/>
              <a:buFont typeface="Verdana"/>
              <a:buChar char="•"/>
            </a:pPr>
            <a:r>
              <a:rPr b="1" lang="en-US" sz="2800">
                <a:solidFill>
                  <a:srgbClr val="FF0000"/>
                </a:solidFill>
                <a:latin typeface="Verdana"/>
                <a:ea typeface="Verdana"/>
                <a:cs typeface="Verdana"/>
                <a:sym typeface="Verdana"/>
              </a:rPr>
              <a:t>Associative</a:t>
            </a:r>
            <a:endParaRPr sz="2800">
              <a:solidFill>
                <a:schemeClr val="dk1"/>
              </a:solidFill>
              <a:latin typeface="Verdana"/>
              <a:ea typeface="Verdana"/>
              <a:cs typeface="Verdana"/>
              <a:sym typeface="Verdana"/>
            </a:endParaRPr>
          </a:p>
          <a:p>
            <a:pPr indent="-287019" lvl="0" marL="756285" marR="5080" rtl="0" algn="just">
              <a:lnSpc>
                <a:spcPct val="100000"/>
              </a:lnSpc>
              <a:spcBef>
                <a:spcPts val="580"/>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Data is located by a </a:t>
            </a:r>
            <a:r>
              <a:rPr lang="en-US" sz="2400">
                <a:solidFill>
                  <a:srgbClr val="FF0000"/>
                </a:solidFill>
                <a:latin typeface="Verdana"/>
                <a:ea typeface="Verdana"/>
                <a:cs typeface="Verdana"/>
                <a:sym typeface="Verdana"/>
              </a:rPr>
              <a:t>comparison with contents  of a portion of the store</a:t>
            </a:r>
            <a:endParaRPr/>
          </a:p>
          <a:p>
            <a:pPr indent="-287019" lvl="0" marL="756285" marR="814705" rtl="0" algn="just">
              <a:lnSpc>
                <a:spcPct val="100000"/>
              </a:lnSpc>
              <a:spcBef>
                <a:spcPts val="580"/>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Access time is </a:t>
            </a:r>
            <a:r>
              <a:rPr lang="en-US" sz="2400">
                <a:solidFill>
                  <a:srgbClr val="FF0000"/>
                </a:solidFill>
                <a:latin typeface="Verdana"/>
                <a:ea typeface="Verdana"/>
                <a:cs typeface="Verdana"/>
                <a:sym typeface="Verdana"/>
              </a:rPr>
              <a:t>independent of location or  previous access</a:t>
            </a:r>
            <a:endParaRPr sz="2400">
              <a:solidFill>
                <a:srgbClr val="FF0000"/>
              </a:solidFill>
              <a:latin typeface="Verdana"/>
              <a:ea typeface="Verdana"/>
              <a:cs typeface="Verdana"/>
              <a:sym typeface="Verdana"/>
            </a:endParaRPr>
          </a:p>
          <a:p>
            <a:pPr indent="-287019" lvl="0" marL="756285" marR="814705" rtl="0" algn="just">
              <a:lnSpc>
                <a:spcPct val="100000"/>
              </a:lnSpc>
              <a:spcBef>
                <a:spcPts val="580"/>
              </a:spcBef>
              <a:spcAft>
                <a:spcPts val="0"/>
              </a:spcAft>
              <a:buNone/>
            </a:pPr>
            <a:r>
              <a:rPr lang="en-US" sz="2400">
                <a:solidFill>
                  <a:schemeClr val="dk1"/>
                </a:solidFill>
                <a:latin typeface="Verdana"/>
                <a:ea typeface="Verdana"/>
                <a:cs typeface="Verdana"/>
                <a:sym typeface="Verdana"/>
              </a:rPr>
              <a:t>-a word is retrieved based on a portion of its contents rather than its address</a:t>
            </a:r>
            <a:endParaRPr/>
          </a:p>
          <a:p>
            <a:pPr indent="0" lvl="0" marL="469900" marR="0" rtl="0" algn="just">
              <a:lnSpc>
                <a:spcPct val="100000"/>
              </a:lnSpc>
              <a:spcBef>
                <a:spcPts val="575"/>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e.g. cache</a:t>
            </a:r>
            <a:endParaRPr sz="2400">
              <a:solidFill>
                <a:schemeClr val="dk1"/>
              </a:solidFill>
              <a:latin typeface="Verdana"/>
              <a:ea typeface="Verdana"/>
              <a:cs typeface="Verdana"/>
              <a:sym typeface="Verdan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3"/>
          <p:cNvSpPr txBox="1"/>
          <p:nvPr>
            <p:ph type="title"/>
          </p:nvPr>
        </p:nvSpPr>
        <p:spPr>
          <a:xfrm>
            <a:off x="485343" y="484073"/>
            <a:ext cx="2982595"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5. Performance</a:t>
            </a:r>
            <a:endParaRPr/>
          </a:p>
        </p:txBody>
      </p:sp>
      <p:sp>
        <p:nvSpPr>
          <p:cNvPr id="119" name="Google Shape;119;p13"/>
          <p:cNvSpPr txBox="1"/>
          <p:nvPr/>
        </p:nvSpPr>
        <p:spPr>
          <a:xfrm>
            <a:off x="535940" y="1225042"/>
            <a:ext cx="7530465" cy="2120132"/>
          </a:xfrm>
          <a:prstGeom prst="rect">
            <a:avLst/>
          </a:prstGeom>
          <a:noFill/>
          <a:ln>
            <a:noFill/>
          </a:ln>
        </p:spPr>
        <p:txBody>
          <a:bodyPr anchorCtr="0" anchor="t" bIns="0" lIns="0" spcFirstLastPara="1" rIns="0" wrap="square" tIns="12050">
            <a:spAutoFit/>
          </a:bodyPr>
          <a:lstStyle/>
          <a:p>
            <a:pPr indent="-343535" lvl="0" marL="355600" marR="0" rtl="0" algn="just">
              <a:lnSpc>
                <a:spcPct val="100000"/>
              </a:lnSpc>
              <a:spcBef>
                <a:spcPts val="0"/>
              </a:spcBef>
              <a:spcAft>
                <a:spcPts val="0"/>
              </a:spcAft>
              <a:buClr>
                <a:srgbClr val="FF0000"/>
              </a:buClr>
              <a:buSzPts val="2800"/>
              <a:buFont typeface="Verdana"/>
              <a:buChar char="•"/>
            </a:pPr>
            <a:r>
              <a:rPr b="1" lang="en-US" sz="2800">
                <a:solidFill>
                  <a:schemeClr val="dk1"/>
                </a:solidFill>
                <a:latin typeface="Verdana"/>
                <a:ea typeface="Verdana"/>
                <a:cs typeface="Verdana"/>
                <a:sym typeface="Verdana"/>
              </a:rPr>
              <a:t>Access time (latency)</a:t>
            </a:r>
            <a:endParaRPr sz="2800">
              <a:solidFill>
                <a:schemeClr val="dk1"/>
              </a:solidFill>
              <a:latin typeface="Verdana"/>
              <a:ea typeface="Verdana"/>
              <a:cs typeface="Verdana"/>
              <a:sym typeface="Verdana"/>
            </a:endParaRPr>
          </a:p>
          <a:p>
            <a:pPr indent="-287019" lvl="0" marL="756285" marR="5080" rtl="0" algn="just">
              <a:lnSpc>
                <a:spcPct val="150000"/>
              </a:lnSpc>
              <a:spcBef>
                <a:spcPts val="680"/>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Time between requesting for operation and  the time it is made available at the required  location</a:t>
            </a:r>
            <a:endParaRPr sz="2400">
              <a:solidFill>
                <a:schemeClr val="dk1"/>
              </a:solidFill>
              <a:latin typeface="Verdana"/>
              <a:ea typeface="Verdana"/>
              <a:cs typeface="Verdana"/>
              <a:sym typeface="Verdan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4"/>
          <p:cNvSpPr txBox="1"/>
          <p:nvPr>
            <p:ph type="title"/>
          </p:nvPr>
        </p:nvSpPr>
        <p:spPr>
          <a:xfrm>
            <a:off x="485343" y="57404"/>
            <a:ext cx="8173313" cy="399796"/>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125" name="Google Shape;125;p14"/>
          <p:cNvSpPr txBox="1"/>
          <p:nvPr>
            <p:ph idx="1" type="body"/>
          </p:nvPr>
        </p:nvSpPr>
        <p:spPr>
          <a:xfrm>
            <a:off x="525144" y="457200"/>
            <a:ext cx="8093710" cy="6124754"/>
          </a:xfrm>
          <a:prstGeom prst="rect">
            <a:avLst/>
          </a:prstGeom>
          <a:noFill/>
          <a:ln>
            <a:noFill/>
          </a:ln>
        </p:spPr>
        <p:txBody>
          <a:bodyPr anchorCtr="0" anchor="t" bIns="0" lIns="0" spcFirstLastPara="1" rIns="0" wrap="square" tIns="0">
            <a:spAutoFit/>
          </a:bodyPr>
          <a:lstStyle/>
          <a:p>
            <a:pPr indent="-343535" lvl="0" marL="355600" rtl="0" algn="just">
              <a:lnSpc>
                <a:spcPct val="100000"/>
              </a:lnSpc>
              <a:spcBef>
                <a:spcPts val="0"/>
              </a:spcBef>
              <a:spcAft>
                <a:spcPts val="0"/>
              </a:spcAft>
              <a:buClr>
                <a:srgbClr val="FF0000"/>
              </a:buClr>
              <a:buSzPts val="2400"/>
              <a:buFont typeface="Verdana"/>
              <a:buChar char="•"/>
            </a:pPr>
            <a:r>
              <a:rPr b="1" lang="en-US" sz="2400">
                <a:latin typeface="Verdana"/>
                <a:ea typeface="Verdana"/>
                <a:cs typeface="Verdana"/>
                <a:sym typeface="Verdana"/>
              </a:rPr>
              <a:t>Memory Cycle time</a:t>
            </a:r>
            <a:endParaRPr sz="2400">
              <a:latin typeface="Verdana"/>
              <a:ea typeface="Verdana"/>
              <a:cs typeface="Verdana"/>
              <a:sym typeface="Verdana"/>
            </a:endParaRPr>
          </a:p>
          <a:p>
            <a:pPr indent="0" lvl="0" marL="469900" rtl="0" algn="l">
              <a:lnSpc>
                <a:spcPct val="100000"/>
              </a:lnSpc>
              <a:spcBef>
                <a:spcPts val="2120"/>
              </a:spcBef>
              <a:spcAft>
                <a:spcPts val="0"/>
              </a:spcAft>
              <a:buNone/>
            </a:pPr>
            <a:r>
              <a:rPr lang="en-US" sz="2000">
                <a:solidFill>
                  <a:srgbClr val="FF0000"/>
                </a:solidFill>
                <a:latin typeface="Verdana"/>
                <a:ea typeface="Verdana"/>
                <a:cs typeface="Verdana"/>
                <a:sym typeface="Verdana"/>
              </a:rPr>
              <a:t>—</a:t>
            </a:r>
            <a:r>
              <a:rPr lang="en-US" sz="2000">
                <a:latin typeface="Verdana"/>
                <a:ea typeface="Verdana"/>
                <a:cs typeface="Verdana"/>
                <a:sym typeface="Verdana"/>
              </a:rPr>
              <a:t>Minimum time elapsed between two</a:t>
            </a:r>
            <a:endParaRPr sz="2000">
              <a:latin typeface="Verdana"/>
              <a:ea typeface="Verdana"/>
              <a:cs typeface="Verdana"/>
              <a:sym typeface="Verdana"/>
            </a:endParaRPr>
          </a:p>
          <a:p>
            <a:pPr indent="0" lvl="0" marL="756285" rtl="0" algn="l">
              <a:lnSpc>
                <a:spcPct val="100000"/>
              </a:lnSpc>
              <a:spcBef>
                <a:spcPts val="1440"/>
              </a:spcBef>
              <a:spcAft>
                <a:spcPts val="0"/>
              </a:spcAft>
              <a:buNone/>
            </a:pPr>
            <a:r>
              <a:rPr b="1" lang="en-US" sz="2000">
                <a:solidFill>
                  <a:srgbClr val="FF0000"/>
                </a:solidFill>
                <a:latin typeface="Verdana"/>
                <a:ea typeface="Verdana"/>
                <a:cs typeface="Verdana"/>
                <a:sym typeface="Verdana"/>
              </a:rPr>
              <a:t>consecutive read requests</a:t>
            </a:r>
            <a:endParaRPr/>
          </a:p>
          <a:p>
            <a:pPr indent="0" lvl="0" marL="756285" rtl="0" algn="l">
              <a:lnSpc>
                <a:spcPct val="100000"/>
              </a:lnSpc>
              <a:spcBef>
                <a:spcPts val="1440"/>
              </a:spcBef>
              <a:spcAft>
                <a:spcPts val="0"/>
              </a:spcAft>
              <a:buNone/>
            </a:pPr>
            <a:r>
              <a:rPr b="1" lang="en-US">
                <a:solidFill>
                  <a:srgbClr val="FF0000"/>
                </a:solidFill>
              </a:rPr>
              <a:t>-</a:t>
            </a:r>
            <a:r>
              <a:rPr b="1" lang="en-US">
                <a:solidFill>
                  <a:srgbClr val="7F7F7F"/>
                </a:solidFill>
              </a:rPr>
              <a:t>consists of the access time plus any additional time required before a second access can commence</a:t>
            </a:r>
            <a:endParaRPr sz="2000">
              <a:solidFill>
                <a:srgbClr val="7F7F7F"/>
              </a:solidFill>
              <a:latin typeface="Verdana"/>
              <a:ea typeface="Verdana"/>
              <a:cs typeface="Verdana"/>
              <a:sym typeface="Verdana"/>
            </a:endParaRPr>
          </a:p>
          <a:p>
            <a:pPr indent="-343535" lvl="0" marL="355600" rtl="0" algn="just">
              <a:lnSpc>
                <a:spcPct val="100000"/>
              </a:lnSpc>
              <a:spcBef>
                <a:spcPts val="2255"/>
              </a:spcBef>
              <a:spcAft>
                <a:spcPts val="0"/>
              </a:spcAft>
              <a:buClr>
                <a:srgbClr val="FF0000"/>
              </a:buClr>
              <a:buSzPts val="2400"/>
              <a:buFont typeface="Verdana"/>
              <a:buChar char="•"/>
            </a:pPr>
            <a:r>
              <a:rPr b="1" lang="en-US" sz="2400">
                <a:latin typeface="Verdana"/>
                <a:ea typeface="Verdana"/>
                <a:cs typeface="Verdana"/>
                <a:sym typeface="Verdana"/>
              </a:rPr>
              <a:t>Transfer Rate</a:t>
            </a:r>
            <a:endParaRPr sz="2400">
              <a:latin typeface="Verdana"/>
              <a:ea typeface="Verdana"/>
              <a:cs typeface="Verdana"/>
              <a:sym typeface="Verdana"/>
            </a:endParaRPr>
          </a:p>
          <a:p>
            <a:pPr indent="0" lvl="0" marL="469900" rtl="0" algn="l">
              <a:lnSpc>
                <a:spcPct val="100000"/>
              </a:lnSpc>
              <a:spcBef>
                <a:spcPts val="2115"/>
              </a:spcBef>
              <a:spcAft>
                <a:spcPts val="0"/>
              </a:spcAft>
              <a:buNone/>
            </a:pPr>
            <a:r>
              <a:rPr lang="en-US" sz="2000">
                <a:solidFill>
                  <a:srgbClr val="FF0000"/>
                </a:solidFill>
                <a:latin typeface="Verdana"/>
                <a:ea typeface="Verdana"/>
                <a:cs typeface="Verdana"/>
                <a:sym typeface="Verdana"/>
              </a:rPr>
              <a:t>—</a:t>
            </a:r>
            <a:r>
              <a:rPr lang="en-US" sz="2000">
                <a:latin typeface="Verdana"/>
                <a:ea typeface="Verdana"/>
                <a:cs typeface="Verdana"/>
                <a:sym typeface="Verdana"/>
              </a:rPr>
              <a:t>Rate at which data can be moved in and out of memory unit</a:t>
            </a:r>
            <a:endParaRPr/>
          </a:p>
          <a:p>
            <a:pPr indent="0" lvl="0" marL="469900" rtl="0" algn="l">
              <a:lnSpc>
                <a:spcPct val="100000"/>
              </a:lnSpc>
              <a:spcBef>
                <a:spcPts val="2115"/>
              </a:spcBef>
              <a:spcAft>
                <a:spcPts val="0"/>
              </a:spcAft>
              <a:buNone/>
            </a:pPr>
            <a:r>
              <a:rPr lang="en-US"/>
              <a:t>-For RAM, 1\T</a:t>
            </a:r>
            <a:endParaRPr/>
          </a:p>
          <a:p>
            <a:pPr indent="0" lvl="0" marL="469900" rtl="0" algn="l">
              <a:lnSpc>
                <a:spcPct val="100000"/>
              </a:lnSpc>
              <a:spcBef>
                <a:spcPts val="2115"/>
              </a:spcBef>
              <a:spcAft>
                <a:spcPts val="0"/>
              </a:spcAft>
              <a:buNone/>
            </a:pPr>
            <a:r>
              <a:rPr lang="en-US" sz="2000">
                <a:latin typeface="Verdana"/>
                <a:ea typeface="Verdana"/>
                <a:cs typeface="Verdana"/>
                <a:sym typeface="Verdana"/>
              </a:rPr>
              <a:t>-For non-RAM, (PTO)</a:t>
            </a:r>
            <a:endParaRPr/>
          </a:p>
          <a:p>
            <a:pPr indent="0" lvl="0" marL="469900" rtl="0" algn="l">
              <a:lnSpc>
                <a:spcPct val="100000"/>
              </a:lnSpc>
              <a:spcBef>
                <a:spcPts val="2115"/>
              </a:spcBef>
              <a:spcAft>
                <a:spcPts val="0"/>
              </a:spcAft>
              <a:buNone/>
            </a:pPr>
            <a:r>
              <a:t/>
            </a:r>
            <a:endParaRPr sz="2000">
              <a:latin typeface="Verdana"/>
              <a:ea typeface="Verdana"/>
              <a:cs typeface="Verdana"/>
              <a:sym typeface="Verdana"/>
            </a:endParaRPr>
          </a:p>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5"/>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131" name="Google Shape;131;p15"/>
          <p:cNvSpPr txBox="1"/>
          <p:nvPr>
            <p:ph idx="1" type="body"/>
          </p:nvPr>
        </p:nvSpPr>
        <p:spPr>
          <a:xfrm>
            <a:off x="525144" y="1188465"/>
            <a:ext cx="8093710" cy="371538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132" name="Google Shape;132;p15"/>
          <p:cNvPicPr preferRelativeResize="0"/>
          <p:nvPr/>
        </p:nvPicPr>
        <p:blipFill rotWithShape="1">
          <a:blip r:embed="rId3">
            <a:alphaModFix/>
          </a:blip>
          <a:srcRect b="23333" l="35833" r="21666" t="52963"/>
          <a:stretch/>
        </p:blipFill>
        <p:spPr>
          <a:xfrm>
            <a:off x="1295400" y="2246722"/>
            <a:ext cx="6705600" cy="209667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6"/>
          <p:cNvSpPr txBox="1"/>
          <p:nvPr>
            <p:ph type="title"/>
          </p:nvPr>
        </p:nvSpPr>
        <p:spPr>
          <a:xfrm>
            <a:off x="485343" y="484073"/>
            <a:ext cx="3421379"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6. Physical Types</a:t>
            </a:r>
            <a:endParaRPr/>
          </a:p>
        </p:txBody>
      </p:sp>
      <p:sp>
        <p:nvSpPr>
          <p:cNvPr id="138" name="Google Shape;138;p16"/>
          <p:cNvSpPr txBox="1"/>
          <p:nvPr/>
        </p:nvSpPr>
        <p:spPr>
          <a:xfrm>
            <a:off x="535940" y="1012617"/>
            <a:ext cx="3028950" cy="2879725"/>
          </a:xfrm>
          <a:prstGeom prst="rect">
            <a:avLst/>
          </a:prstGeom>
          <a:noFill/>
          <a:ln>
            <a:noFill/>
          </a:ln>
        </p:spPr>
        <p:txBody>
          <a:bodyPr anchorCtr="0" anchor="t" bIns="0" lIns="0" spcFirstLastPara="1" rIns="0" wrap="square" tIns="97775">
            <a:spAutoFit/>
          </a:bodyPr>
          <a:lstStyle/>
          <a:p>
            <a:pPr indent="-343535" lvl="0" marL="355600" marR="0" rtl="0" algn="l">
              <a:lnSpc>
                <a:spcPct val="100000"/>
              </a:lnSpc>
              <a:spcBef>
                <a:spcPts val="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Semiconductor</a:t>
            </a:r>
            <a:endParaRPr sz="2800">
              <a:solidFill>
                <a:schemeClr val="dk1"/>
              </a:solidFill>
              <a:latin typeface="Verdana"/>
              <a:ea typeface="Verdana"/>
              <a:cs typeface="Verdana"/>
              <a:sym typeface="Verdana"/>
            </a:endParaRPr>
          </a:p>
          <a:p>
            <a:pPr indent="0" lvl="0" marL="469900" marR="0" rtl="0" algn="l">
              <a:lnSpc>
                <a:spcPct val="100000"/>
              </a:lnSpc>
              <a:spcBef>
                <a:spcPts val="580"/>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RAM</a:t>
            </a:r>
            <a:endParaRPr sz="2400">
              <a:solidFill>
                <a:schemeClr val="dk1"/>
              </a:solidFill>
              <a:latin typeface="Verdana"/>
              <a:ea typeface="Verdana"/>
              <a:cs typeface="Verdana"/>
              <a:sym typeface="Verdana"/>
            </a:endParaRPr>
          </a:p>
          <a:p>
            <a:pPr indent="-343535" lvl="0" marL="355600" marR="0" rtl="0" algn="l">
              <a:lnSpc>
                <a:spcPct val="100000"/>
              </a:lnSpc>
              <a:spcBef>
                <a:spcPts val="67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Magnetic</a:t>
            </a:r>
            <a:endParaRPr sz="2800">
              <a:solidFill>
                <a:schemeClr val="dk1"/>
              </a:solidFill>
              <a:latin typeface="Verdana"/>
              <a:ea typeface="Verdana"/>
              <a:cs typeface="Verdana"/>
              <a:sym typeface="Verdana"/>
            </a:endParaRPr>
          </a:p>
          <a:p>
            <a:pPr indent="0" lvl="0" marL="469900" marR="0" rtl="0" algn="l">
              <a:lnSpc>
                <a:spcPct val="100000"/>
              </a:lnSpc>
              <a:spcBef>
                <a:spcPts val="580"/>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Disk &amp; Tape</a:t>
            </a:r>
            <a:endParaRPr sz="2400">
              <a:solidFill>
                <a:schemeClr val="dk1"/>
              </a:solidFill>
              <a:latin typeface="Verdana"/>
              <a:ea typeface="Verdana"/>
              <a:cs typeface="Verdana"/>
              <a:sym typeface="Verdana"/>
            </a:endParaRPr>
          </a:p>
          <a:p>
            <a:pPr indent="-343535" lvl="0" marL="355600" marR="0" rtl="0" algn="l">
              <a:lnSpc>
                <a:spcPct val="100000"/>
              </a:lnSpc>
              <a:spcBef>
                <a:spcPts val="67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Optical</a:t>
            </a:r>
            <a:endParaRPr sz="2800">
              <a:solidFill>
                <a:schemeClr val="dk1"/>
              </a:solidFill>
              <a:latin typeface="Verdana"/>
              <a:ea typeface="Verdana"/>
              <a:cs typeface="Verdana"/>
              <a:sym typeface="Verdana"/>
            </a:endParaRPr>
          </a:p>
          <a:p>
            <a:pPr indent="0" lvl="0" marL="469900" marR="0" rtl="0" algn="l">
              <a:lnSpc>
                <a:spcPct val="100000"/>
              </a:lnSpc>
              <a:spcBef>
                <a:spcPts val="580"/>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CD &amp; DVD</a:t>
            </a:r>
            <a:endParaRPr sz="2400">
              <a:solidFill>
                <a:schemeClr val="dk1"/>
              </a:solidFill>
              <a:latin typeface="Verdana"/>
              <a:ea typeface="Verdana"/>
              <a:cs typeface="Verdana"/>
              <a:sym typeface="Verdana"/>
            </a:endParaRPr>
          </a:p>
        </p:txBody>
      </p:sp>
      <p:grpSp>
        <p:nvGrpSpPr>
          <p:cNvPr id="139" name="Google Shape;139;p16"/>
          <p:cNvGrpSpPr/>
          <p:nvPr/>
        </p:nvGrpSpPr>
        <p:grpSpPr>
          <a:xfrm>
            <a:off x="0" y="152400"/>
            <a:ext cx="9143999" cy="5829300"/>
            <a:chOff x="0" y="152400"/>
            <a:chExt cx="9143999" cy="5829300"/>
          </a:xfrm>
        </p:grpSpPr>
        <p:pic>
          <p:nvPicPr>
            <p:cNvPr id="140" name="Google Shape;140;p16"/>
            <p:cNvPicPr preferRelativeResize="0"/>
            <p:nvPr/>
          </p:nvPicPr>
          <p:blipFill rotWithShape="1">
            <a:blip r:embed="rId3">
              <a:alphaModFix/>
            </a:blip>
            <a:srcRect b="0" l="0" r="0" t="0"/>
            <a:stretch/>
          </p:blipFill>
          <p:spPr>
            <a:xfrm>
              <a:off x="4541901" y="152400"/>
              <a:ext cx="4602098" cy="2908300"/>
            </a:xfrm>
            <a:prstGeom prst="rect">
              <a:avLst/>
            </a:prstGeom>
            <a:noFill/>
            <a:ln>
              <a:noFill/>
            </a:ln>
          </p:spPr>
        </p:pic>
        <p:pic>
          <p:nvPicPr>
            <p:cNvPr id="141" name="Google Shape;141;p16"/>
            <p:cNvPicPr preferRelativeResize="0"/>
            <p:nvPr/>
          </p:nvPicPr>
          <p:blipFill rotWithShape="1">
            <a:blip r:embed="rId4">
              <a:alphaModFix/>
            </a:blip>
            <a:srcRect b="0" l="0" r="0" t="0"/>
            <a:stretch/>
          </p:blipFill>
          <p:spPr>
            <a:xfrm>
              <a:off x="3657600" y="2667000"/>
              <a:ext cx="2895600" cy="2895600"/>
            </a:xfrm>
            <a:prstGeom prst="rect">
              <a:avLst/>
            </a:prstGeom>
            <a:noFill/>
            <a:ln>
              <a:noFill/>
            </a:ln>
          </p:spPr>
        </p:pic>
        <p:pic>
          <p:nvPicPr>
            <p:cNvPr id="142" name="Google Shape;142;p16"/>
            <p:cNvPicPr preferRelativeResize="0"/>
            <p:nvPr/>
          </p:nvPicPr>
          <p:blipFill rotWithShape="1">
            <a:blip r:embed="rId5">
              <a:alphaModFix/>
            </a:blip>
            <a:srcRect b="0" l="0" r="0" t="0"/>
            <a:stretch/>
          </p:blipFill>
          <p:spPr>
            <a:xfrm>
              <a:off x="0" y="1066800"/>
              <a:ext cx="6553200" cy="4914900"/>
            </a:xfrm>
            <a:prstGeom prst="rect">
              <a:avLst/>
            </a:prstGeom>
            <a:noFill/>
            <a:ln>
              <a:noFill/>
            </a:ln>
          </p:spPr>
        </p:pic>
        <p:pic>
          <p:nvPicPr>
            <p:cNvPr id="143" name="Google Shape;143;p16"/>
            <p:cNvPicPr preferRelativeResize="0"/>
            <p:nvPr/>
          </p:nvPicPr>
          <p:blipFill rotWithShape="1">
            <a:blip r:embed="rId6">
              <a:alphaModFix/>
            </a:blip>
            <a:srcRect b="0" l="0" r="0" t="0"/>
            <a:stretch/>
          </p:blipFill>
          <p:spPr>
            <a:xfrm>
              <a:off x="0" y="1066800"/>
              <a:ext cx="8543925" cy="4914900"/>
            </a:xfrm>
            <a:prstGeom prst="rect">
              <a:avLst/>
            </a:prstGeom>
            <a:noFill/>
            <a:ln>
              <a:noFill/>
            </a:ln>
          </p:spPr>
        </p:pic>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7"/>
          <p:cNvSpPr txBox="1"/>
          <p:nvPr/>
        </p:nvSpPr>
        <p:spPr>
          <a:xfrm>
            <a:off x="485343" y="295911"/>
            <a:ext cx="8353857" cy="3742050"/>
          </a:xfrm>
          <a:prstGeom prst="rect">
            <a:avLst/>
          </a:prstGeom>
          <a:noFill/>
          <a:ln>
            <a:noFill/>
          </a:ln>
        </p:spPr>
        <p:txBody>
          <a:bodyPr anchorCtr="0" anchor="t" bIns="0" lIns="0" spcFirstLastPara="1" rIns="0" wrap="square" tIns="200650">
            <a:spAutoFit/>
          </a:bodyPr>
          <a:lstStyle/>
          <a:p>
            <a:pPr indent="0" lvl="0" marL="12700" marR="0" rtl="0" algn="just">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7. Physical Characteristics</a:t>
            </a:r>
            <a:endParaRPr sz="2000">
              <a:solidFill>
                <a:schemeClr val="dk1"/>
              </a:solidFill>
              <a:latin typeface="Times New Roman"/>
              <a:ea typeface="Times New Roman"/>
              <a:cs typeface="Times New Roman"/>
              <a:sym typeface="Times New Roman"/>
            </a:endParaRPr>
          </a:p>
          <a:p>
            <a:pPr indent="-344170" lvl="0" marL="406400" marR="0" rtl="0" algn="just">
              <a:lnSpc>
                <a:spcPct val="100000"/>
              </a:lnSpc>
              <a:spcBef>
                <a:spcPts val="1475"/>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Decay-</a:t>
            </a:r>
            <a:r>
              <a:rPr b="0" i="0" lang="en-US" sz="2000">
                <a:solidFill>
                  <a:srgbClr val="242021"/>
                </a:solidFill>
                <a:latin typeface="Times New Roman"/>
                <a:ea typeface="Times New Roman"/>
                <a:cs typeface="Times New Roman"/>
                <a:sym typeface="Times New Roman"/>
              </a:rPr>
              <a:t>In a volatile memory, information decays naturally or is lost when electrical power is switched off. </a:t>
            </a:r>
            <a:endParaRPr sz="2000">
              <a:solidFill>
                <a:schemeClr val="dk1"/>
              </a:solidFill>
              <a:latin typeface="Times New Roman"/>
              <a:ea typeface="Times New Roman"/>
              <a:cs typeface="Times New Roman"/>
              <a:sym typeface="Times New Roman"/>
            </a:endParaRPr>
          </a:p>
          <a:p>
            <a:pPr indent="-344170" lvl="0" marL="406400" marR="0" rtl="0" algn="just">
              <a:lnSpc>
                <a:spcPct val="100000"/>
              </a:lnSpc>
              <a:spcBef>
                <a:spcPts val="675"/>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Volatility-</a:t>
            </a:r>
            <a:r>
              <a:rPr lang="en-US" sz="2000">
                <a:solidFill>
                  <a:srgbClr val="242021"/>
                </a:solidFill>
                <a:latin typeface="Times New Roman"/>
                <a:ea typeface="Times New Roman"/>
                <a:cs typeface="Times New Roman"/>
                <a:sym typeface="Times New Roman"/>
              </a:rPr>
              <a:t> In a nonvolatile memory, information once recorded remains without deterioration until deliberately changed; no electrical power is needed to retain information</a:t>
            </a:r>
            <a:endParaRPr sz="2000">
              <a:solidFill>
                <a:schemeClr val="dk1"/>
              </a:solidFill>
              <a:latin typeface="Times New Roman"/>
              <a:ea typeface="Times New Roman"/>
              <a:cs typeface="Times New Roman"/>
              <a:sym typeface="Times New Roman"/>
            </a:endParaRPr>
          </a:p>
          <a:p>
            <a:pPr indent="-344170" lvl="0" marL="406400" marR="0" rtl="0" algn="just">
              <a:lnSpc>
                <a:spcPct val="100000"/>
              </a:lnSpc>
              <a:spcBef>
                <a:spcPts val="670"/>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Erasable-</a:t>
            </a:r>
            <a:r>
              <a:rPr b="0" i="0" lang="en-US" sz="2000">
                <a:solidFill>
                  <a:srgbClr val="242021"/>
                </a:solidFill>
                <a:latin typeface="Times New Roman"/>
                <a:ea typeface="Times New Roman"/>
                <a:cs typeface="Times New Roman"/>
                <a:sym typeface="Times New Roman"/>
              </a:rPr>
              <a:t>Nonerasable memory cannot be altered, except by destroying the storage unit. Semiconductor memory of this type is known as </a:t>
            </a:r>
            <a:r>
              <a:rPr b="0" i="1" lang="en-US" sz="2000">
                <a:solidFill>
                  <a:srgbClr val="242021"/>
                </a:solidFill>
                <a:latin typeface="Times New Roman"/>
                <a:ea typeface="Times New Roman"/>
                <a:cs typeface="Times New Roman"/>
                <a:sym typeface="Times New Roman"/>
              </a:rPr>
              <a:t>read-only memory </a:t>
            </a:r>
            <a:r>
              <a:rPr b="0" i="0" lang="en-US" sz="2000">
                <a:solidFill>
                  <a:srgbClr val="242021"/>
                </a:solidFill>
                <a:latin typeface="Times New Roman"/>
                <a:ea typeface="Times New Roman"/>
                <a:cs typeface="Times New Roman"/>
                <a:sym typeface="Times New Roman"/>
              </a:rPr>
              <a:t>(ROM)</a:t>
            </a:r>
            <a:r>
              <a:rPr lang="en-US" sz="2000">
                <a:solidFill>
                  <a:schemeClr val="dk1"/>
                </a:solidFill>
                <a:latin typeface="Times New Roman"/>
                <a:ea typeface="Times New Roman"/>
                <a:cs typeface="Times New Roman"/>
                <a:sym typeface="Times New Roman"/>
              </a:rPr>
              <a:t> </a:t>
            </a:r>
            <a:endParaRPr sz="2000">
              <a:solidFill>
                <a:schemeClr val="dk1"/>
              </a:solidFill>
              <a:latin typeface="Times New Roman"/>
              <a:ea typeface="Times New Roman"/>
              <a:cs typeface="Times New Roman"/>
              <a:sym typeface="Times New Roman"/>
            </a:endParaRPr>
          </a:p>
          <a:p>
            <a:pPr indent="-344170" lvl="0" marL="406400" marR="0" rtl="0" algn="just">
              <a:lnSpc>
                <a:spcPct val="100000"/>
              </a:lnSpc>
              <a:spcBef>
                <a:spcPts val="675"/>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Power consumption</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8"/>
          <p:cNvSpPr txBox="1"/>
          <p:nvPr/>
        </p:nvSpPr>
        <p:spPr>
          <a:xfrm>
            <a:off x="485343" y="295911"/>
            <a:ext cx="7520305" cy="2279015"/>
          </a:xfrm>
          <a:prstGeom prst="rect">
            <a:avLst/>
          </a:prstGeom>
          <a:noFill/>
          <a:ln>
            <a:noFill/>
          </a:ln>
        </p:spPr>
        <p:txBody>
          <a:bodyPr anchorCtr="0" anchor="t" bIns="0" lIns="0" spcFirstLastPara="1" rIns="0" wrap="square" tIns="200650">
            <a:spAutoFit/>
          </a:bodyPr>
          <a:lstStyle/>
          <a:p>
            <a:pPr indent="0" lvl="0" marL="12700" marR="0" rtl="0" algn="l">
              <a:lnSpc>
                <a:spcPct val="100000"/>
              </a:lnSpc>
              <a:spcBef>
                <a:spcPts val="0"/>
              </a:spcBef>
              <a:spcAft>
                <a:spcPts val="0"/>
              </a:spcAft>
              <a:buNone/>
            </a:pPr>
            <a:r>
              <a:rPr lang="en-US" sz="2800">
                <a:solidFill>
                  <a:schemeClr val="dk1"/>
                </a:solidFill>
                <a:latin typeface="Arial Black"/>
                <a:ea typeface="Arial Black"/>
                <a:cs typeface="Arial Black"/>
                <a:sym typeface="Arial Black"/>
              </a:rPr>
              <a:t>8. Organisation</a:t>
            </a:r>
            <a:endParaRPr sz="2800">
              <a:solidFill>
                <a:schemeClr val="dk1"/>
              </a:solidFill>
              <a:latin typeface="Arial Black"/>
              <a:ea typeface="Arial Black"/>
              <a:cs typeface="Arial Black"/>
              <a:sym typeface="Arial Black"/>
            </a:endParaRPr>
          </a:p>
          <a:p>
            <a:pPr indent="-344170" lvl="0" marL="406400" marR="0" rtl="0" algn="l">
              <a:lnSpc>
                <a:spcPct val="100000"/>
              </a:lnSpc>
              <a:spcBef>
                <a:spcPts val="147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Physical arrangement of bits into words</a:t>
            </a:r>
            <a:endParaRPr sz="2800">
              <a:solidFill>
                <a:schemeClr val="dk1"/>
              </a:solidFill>
              <a:latin typeface="Verdana"/>
              <a:ea typeface="Verdana"/>
              <a:cs typeface="Verdana"/>
              <a:sym typeface="Verdana"/>
            </a:endParaRPr>
          </a:p>
          <a:p>
            <a:pPr indent="-344170" lvl="0" marL="406400" marR="0" rtl="0" algn="l">
              <a:lnSpc>
                <a:spcPct val="100000"/>
              </a:lnSpc>
              <a:spcBef>
                <a:spcPts val="67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Not always obvious</a:t>
            </a:r>
            <a:endParaRPr sz="2800">
              <a:solidFill>
                <a:schemeClr val="dk1"/>
              </a:solidFill>
              <a:latin typeface="Verdana"/>
              <a:ea typeface="Verdana"/>
              <a:cs typeface="Verdana"/>
              <a:sym typeface="Verdana"/>
            </a:endParaRPr>
          </a:p>
          <a:p>
            <a:pPr indent="-344170" lvl="0" marL="406400" marR="0" rtl="0" algn="l">
              <a:lnSpc>
                <a:spcPct val="100000"/>
              </a:lnSpc>
              <a:spcBef>
                <a:spcPts val="67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e.g. interleaved</a:t>
            </a:r>
            <a:endParaRPr sz="2800">
              <a:solidFill>
                <a:schemeClr val="dk1"/>
              </a:solidFill>
              <a:latin typeface="Verdana"/>
              <a:ea typeface="Verdana"/>
              <a:cs typeface="Verdana"/>
              <a:sym typeface="Verdana"/>
            </a:endParaRPr>
          </a:p>
        </p:txBody>
      </p:sp>
      <p:pic>
        <p:nvPicPr>
          <p:cNvPr id="154" name="Google Shape;154;p18"/>
          <p:cNvPicPr preferRelativeResize="0"/>
          <p:nvPr/>
        </p:nvPicPr>
        <p:blipFill rotWithShape="1">
          <a:blip r:embed="rId3">
            <a:alphaModFix/>
          </a:blip>
          <a:srcRect b="0" l="0" r="0" t="0"/>
          <a:stretch/>
        </p:blipFill>
        <p:spPr>
          <a:xfrm>
            <a:off x="914400" y="3032575"/>
            <a:ext cx="7848599" cy="38254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9"/>
          <p:cNvSpPr txBox="1"/>
          <p:nvPr>
            <p:ph type="title"/>
          </p:nvPr>
        </p:nvSpPr>
        <p:spPr>
          <a:xfrm>
            <a:off x="485355" y="484075"/>
            <a:ext cx="6013800" cy="4431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Memory Hierarchy</a:t>
            </a:r>
            <a:endParaRPr/>
          </a:p>
        </p:txBody>
      </p:sp>
      <p:sp>
        <p:nvSpPr>
          <p:cNvPr id="160" name="Google Shape;160;p19"/>
          <p:cNvSpPr txBox="1"/>
          <p:nvPr/>
        </p:nvSpPr>
        <p:spPr>
          <a:xfrm>
            <a:off x="535940" y="1012617"/>
            <a:ext cx="6951345" cy="3318510"/>
          </a:xfrm>
          <a:prstGeom prst="rect">
            <a:avLst/>
          </a:prstGeom>
          <a:noFill/>
          <a:ln>
            <a:noFill/>
          </a:ln>
        </p:spPr>
        <p:txBody>
          <a:bodyPr anchorCtr="0" anchor="t" bIns="0" lIns="0" spcFirstLastPara="1" rIns="0" wrap="square" tIns="97775">
            <a:spAutoFit/>
          </a:bodyPr>
          <a:lstStyle/>
          <a:p>
            <a:pPr indent="-343535" lvl="0" marL="355600" marR="0" rtl="0" algn="l">
              <a:lnSpc>
                <a:spcPct val="100000"/>
              </a:lnSpc>
              <a:spcBef>
                <a:spcPts val="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Registers</a:t>
            </a:r>
            <a:endParaRPr sz="2800">
              <a:solidFill>
                <a:schemeClr val="dk1"/>
              </a:solidFill>
              <a:latin typeface="Verdana"/>
              <a:ea typeface="Verdana"/>
              <a:cs typeface="Verdana"/>
              <a:sym typeface="Verdana"/>
            </a:endParaRPr>
          </a:p>
          <a:p>
            <a:pPr indent="0" lvl="0" marL="469900" marR="0" rtl="0" algn="l">
              <a:lnSpc>
                <a:spcPct val="100000"/>
              </a:lnSpc>
              <a:spcBef>
                <a:spcPts val="580"/>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In CPU</a:t>
            </a:r>
            <a:endParaRPr sz="2400">
              <a:solidFill>
                <a:schemeClr val="dk1"/>
              </a:solidFill>
              <a:latin typeface="Verdana"/>
              <a:ea typeface="Verdana"/>
              <a:cs typeface="Verdana"/>
              <a:sym typeface="Verdana"/>
            </a:endParaRPr>
          </a:p>
          <a:p>
            <a:pPr indent="-343535" lvl="0" marL="355600" marR="0" rtl="0" algn="l">
              <a:lnSpc>
                <a:spcPct val="100000"/>
              </a:lnSpc>
              <a:spcBef>
                <a:spcPts val="67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Internal or Main memory</a:t>
            </a:r>
            <a:endParaRPr sz="2800">
              <a:solidFill>
                <a:schemeClr val="dk1"/>
              </a:solidFill>
              <a:latin typeface="Verdana"/>
              <a:ea typeface="Verdana"/>
              <a:cs typeface="Verdana"/>
              <a:sym typeface="Verdana"/>
            </a:endParaRPr>
          </a:p>
          <a:p>
            <a:pPr indent="0" lvl="0" marL="469900" marR="0" rtl="0" algn="l">
              <a:lnSpc>
                <a:spcPct val="100000"/>
              </a:lnSpc>
              <a:spcBef>
                <a:spcPts val="580"/>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May include one or more levels of cache</a:t>
            </a:r>
            <a:endParaRPr sz="2400">
              <a:solidFill>
                <a:schemeClr val="dk1"/>
              </a:solidFill>
              <a:latin typeface="Verdana"/>
              <a:ea typeface="Verdana"/>
              <a:cs typeface="Verdana"/>
              <a:sym typeface="Verdana"/>
            </a:endParaRPr>
          </a:p>
          <a:p>
            <a:pPr indent="0" lvl="0" marL="469900" marR="0" rtl="0" algn="l">
              <a:lnSpc>
                <a:spcPct val="100000"/>
              </a:lnSpc>
              <a:spcBef>
                <a:spcPts val="580"/>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“RAM”</a:t>
            </a:r>
            <a:endParaRPr sz="2400">
              <a:solidFill>
                <a:schemeClr val="dk1"/>
              </a:solidFill>
              <a:latin typeface="Verdana"/>
              <a:ea typeface="Verdana"/>
              <a:cs typeface="Verdana"/>
              <a:sym typeface="Verdana"/>
            </a:endParaRPr>
          </a:p>
          <a:p>
            <a:pPr indent="-343535" lvl="0" marL="355600" marR="0" rtl="0" algn="l">
              <a:lnSpc>
                <a:spcPct val="100000"/>
              </a:lnSpc>
              <a:spcBef>
                <a:spcPts val="67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External memory</a:t>
            </a:r>
            <a:endParaRPr sz="2800">
              <a:solidFill>
                <a:schemeClr val="dk1"/>
              </a:solidFill>
              <a:latin typeface="Verdana"/>
              <a:ea typeface="Verdana"/>
              <a:cs typeface="Verdana"/>
              <a:sym typeface="Verdana"/>
            </a:endParaRPr>
          </a:p>
          <a:p>
            <a:pPr indent="0" lvl="0" marL="469900" marR="0" rtl="0" algn="l">
              <a:lnSpc>
                <a:spcPct val="100000"/>
              </a:lnSpc>
              <a:spcBef>
                <a:spcPts val="580"/>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Backing store</a:t>
            </a:r>
            <a:endParaRPr sz="2400">
              <a:solidFill>
                <a:schemeClr val="dk1"/>
              </a:solidFill>
              <a:latin typeface="Verdana"/>
              <a:ea typeface="Verdana"/>
              <a:cs typeface="Verdana"/>
              <a:sym typeface="Verdan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0"/>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167" name="Google Shape;167;p20"/>
          <p:cNvSpPr txBox="1"/>
          <p:nvPr>
            <p:ph idx="1" type="body"/>
          </p:nvPr>
        </p:nvSpPr>
        <p:spPr>
          <a:xfrm>
            <a:off x="525144" y="1188465"/>
            <a:ext cx="8093700" cy="6741900"/>
          </a:xfrm>
          <a:prstGeom prst="rect">
            <a:avLst/>
          </a:prstGeom>
          <a:noFill/>
          <a:ln>
            <a:noFill/>
          </a:ln>
        </p:spPr>
        <p:txBody>
          <a:bodyPr anchorCtr="0" anchor="t" bIns="0" lIns="0" spcFirstLastPara="1" rIns="0" wrap="square" tIns="0">
            <a:spAutoFit/>
          </a:bodyPr>
          <a:lstStyle/>
          <a:p>
            <a:pPr indent="-285750" lvl="0" marL="285750" rtl="0" algn="l">
              <a:spcBef>
                <a:spcPts val="0"/>
              </a:spcBef>
              <a:spcAft>
                <a:spcPts val="0"/>
              </a:spcAft>
              <a:buClr>
                <a:srgbClr val="242021"/>
              </a:buClr>
              <a:buSzPts val="1800"/>
              <a:buFont typeface="Arial"/>
              <a:buChar char="•"/>
            </a:pPr>
            <a:r>
              <a:rPr lang="en-US" sz="1800">
                <a:solidFill>
                  <a:srgbClr val="242021"/>
                </a:solidFill>
                <a:latin typeface="Times"/>
                <a:ea typeface="Times"/>
                <a:cs typeface="Times"/>
                <a:sym typeface="Times"/>
              </a:rPr>
              <a:t>T</a:t>
            </a:r>
            <a:r>
              <a:rPr b="0" i="0" lang="en-US" sz="1800">
                <a:solidFill>
                  <a:srgbClr val="242021"/>
                </a:solidFill>
                <a:latin typeface="Times"/>
                <a:ea typeface="Times"/>
                <a:cs typeface="Times"/>
                <a:sym typeface="Times"/>
              </a:rPr>
              <a:t>here is a trade-off among the three key characteristics of memory</a:t>
            </a:r>
            <a:r>
              <a:rPr b="1" i="0" lang="en-US" sz="1800">
                <a:solidFill>
                  <a:srgbClr val="242021"/>
                </a:solidFill>
                <a:latin typeface="Times"/>
                <a:ea typeface="Times"/>
                <a:cs typeface="Times"/>
                <a:sym typeface="Times"/>
              </a:rPr>
              <a:t>: capacity, access time, and cost</a:t>
            </a:r>
            <a:r>
              <a:rPr b="0" i="0" lang="en-US" sz="1800">
                <a:solidFill>
                  <a:srgbClr val="242021"/>
                </a:solidFill>
                <a:latin typeface="Times"/>
                <a:ea typeface="Times"/>
                <a:cs typeface="Times"/>
                <a:sym typeface="Times"/>
              </a:rPr>
              <a:t>. </a:t>
            </a:r>
            <a:endParaRPr/>
          </a:p>
          <a:p>
            <a:pPr indent="-285750" lvl="0" marL="285750" rtl="0" algn="l">
              <a:spcBef>
                <a:spcPts val="0"/>
              </a:spcBef>
              <a:spcAft>
                <a:spcPts val="0"/>
              </a:spcAft>
              <a:buClr>
                <a:srgbClr val="242021"/>
              </a:buClr>
              <a:buSzPts val="1800"/>
              <a:buFont typeface="Arial"/>
              <a:buChar char="•"/>
            </a:pPr>
            <a:r>
              <a:rPr b="0" i="0" lang="en-US" sz="1800">
                <a:solidFill>
                  <a:srgbClr val="242021"/>
                </a:solidFill>
                <a:latin typeface="Times"/>
                <a:ea typeface="Times"/>
                <a:cs typeface="Times"/>
                <a:sym typeface="Times"/>
              </a:rPr>
              <a:t>A variety of technologies are used to implement memory systems, and across this spectrum of technologies, the following relationships hold:</a:t>
            </a:r>
            <a:endParaRPr/>
          </a:p>
          <a:p>
            <a:pPr indent="0" lvl="0" marL="0" rtl="0" algn="ctr">
              <a:spcBef>
                <a:spcPts val="0"/>
              </a:spcBef>
              <a:spcAft>
                <a:spcPts val="0"/>
              </a:spcAft>
              <a:buNone/>
            </a:pPr>
            <a:r>
              <a:rPr b="0" i="0" lang="en-US" sz="1800">
                <a:solidFill>
                  <a:srgbClr val="007367"/>
                </a:solidFill>
                <a:latin typeface="Arial"/>
                <a:ea typeface="Arial"/>
                <a:cs typeface="Arial"/>
                <a:sym typeface="Arial"/>
              </a:rPr>
              <a:t>■ </a:t>
            </a:r>
            <a:r>
              <a:rPr b="0" i="0" lang="en-US" sz="1800">
                <a:solidFill>
                  <a:srgbClr val="242021"/>
                </a:solidFill>
                <a:latin typeface="Times"/>
                <a:ea typeface="Times"/>
                <a:cs typeface="Times"/>
                <a:sym typeface="Times"/>
              </a:rPr>
              <a:t>Faster access time, greater cost per bit;</a:t>
            </a:r>
            <a:endParaRPr/>
          </a:p>
          <a:p>
            <a:pPr indent="0" lvl="0" marL="0" rtl="0" algn="ctr">
              <a:spcBef>
                <a:spcPts val="0"/>
              </a:spcBef>
              <a:spcAft>
                <a:spcPts val="0"/>
              </a:spcAft>
              <a:buNone/>
            </a:pPr>
            <a:r>
              <a:rPr b="0" i="0" lang="en-US" sz="1800">
                <a:solidFill>
                  <a:srgbClr val="007367"/>
                </a:solidFill>
                <a:latin typeface="Arial"/>
                <a:ea typeface="Arial"/>
                <a:cs typeface="Arial"/>
                <a:sym typeface="Arial"/>
              </a:rPr>
              <a:t>■ </a:t>
            </a:r>
            <a:r>
              <a:rPr b="0" i="0" lang="en-US" sz="1800">
                <a:solidFill>
                  <a:srgbClr val="242021"/>
                </a:solidFill>
                <a:latin typeface="Times"/>
                <a:ea typeface="Times"/>
                <a:cs typeface="Times"/>
                <a:sym typeface="Times"/>
              </a:rPr>
              <a:t>Greater capacity, smaller cost per bit;</a:t>
            </a:r>
            <a:endParaRPr/>
          </a:p>
          <a:p>
            <a:pPr indent="0" lvl="0" marL="0" rtl="0" algn="ctr">
              <a:spcBef>
                <a:spcPts val="0"/>
              </a:spcBef>
              <a:spcAft>
                <a:spcPts val="0"/>
              </a:spcAft>
              <a:buNone/>
            </a:pPr>
            <a:r>
              <a:rPr b="0" i="0" lang="en-US" sz="1800">
                <a:solidFill>
                  <a:srgbClr val="007367"/>
                </a:solidFill>
                <a:latin typeface="Arial"/>
                <a:ea typeface="Arial"/>
                <a:cs typeface="Arial"/>
                <a:sym typeface="Arial"/>
              </a:rPr>
              <a:t>■ </a:t>
            </a:r>
            <a:r>
              <a:rPr b="0" i="0" lang="en-US" sz="1800">
                <a:solidFill>
                  <a:srgbClr val="242021"/>
                </a:solidFill>
                <a:latin typeface="Times"/>
                <a:ea typeface="Times"/>
                <a:cs typeface="Times"/>
                <a:sym typeface="Times"/>
              </a:rPr>
              <a:t>Greater capacity, slower access time</a:t>
            </a:r>
            <a:r>
              <a:rPr lang="en-US"/>
              <a:t> </a:t>
            </a:r>
            <a:endParaRPr/>
          </a:p>
          <a:p>
            <a:pPr indent="0" lvl="0" marL="0" rtl="0" algn="ctr">
              <a:spcBef>
                <a:spcPts val="0"/>
              </a:spcBef>
              <a:spcAft>
                <a:spcPts val="0"/>
              </a:spcAft>
              <a:buNone/>
            </a:pPr>
            <a:r>
              <a:t/>
            </a:r>
            <a:endParaRPr/>
          </a:p>
          <a:p>
            <a:pPr indent="0" lvl="0" marL="0" rtl="0" algn="just">
              <a:spcBef>
                <a:spcPts val="0"/>
              </a:spcBef>
              <a:spcAft>
                <a:spcPts val="0"/>
              </a:spcAft>
              <a:buNone/>
            </a:pPr>
            <a:r>
              <a:t/>
            </a:r>
            <a:endParaRPr/>
          </a:p>
          <a:p>
            <a:pPr indent="0" lvl="0" marL="0" rtl="0" algn="ctr">
              <a:spcBef>
                <a:spcPts val="0"/>
              </a:spcBef>
              <a:spcAft>
                <a:spcPts val="0"/>
              </a:spcAft>
              <a:buNone/>
            </a:pPr>
            <a:r>
              <a:t/>
            </a:r>
            <a:endParaRPr/>
          </a:p>
          <a:p>
            <a:pPr indent="0" lvl="0" marL="0" rtl="0" algn="l">
              <a:spcBef>
                <a:spcPts val="0"/>
              </a:spcBef>
              <a:spcAft>
                <a:spcPts val="0"/>
              </a:spcAft>
              <a:buNone/>
            </a:pPr>
            <a:r>
              <a:rPr b="1" lang="en-US" sz="1800">
                <a:solidFill>
                  <a:srgbClr val="242021"/>
                </a:solidFill>
                <a:latin typeface="Times"/>
                <a:ea typeface="Times"/>
                <a:cs typeface="Times"/>
                <a:sym typeface="Times"/>
              </a:rPr>
              <a:t>M</a:t>
            </a:r>
            <a:r>
              <a:rPr b="1" i="0" lang="en-US" sz="1800">
                <a:solidFill>
                  <a:srgbClr val="242021"/>
                </a:solidFill>
                <a:latin typeface="Times"/>
                <a:ea typeface="Times"/>
                <a:cs typeface="Times"/>
                <a:sym typeface="Times"/>
              </a:rPr>
              <a:t>emory hierarchy</a:t>
            </a:r>
            <a:r>
              <a:rPr lang="en-US" sz="1800">
                <a:solidFill>
                  <a:srgbClr val="242021"/>
                </a:solidFill>
                <a:latin typeface="Times"/>
                <a:ea typeface="Times"/>
                <a:cs typeface="Times"/>
                <a:sym typeface="Times"/>
              </a:rPr>
              <a:t>-</a:t>
            </a:r>
            <a:endParaRPr/>
          </a:p>
          <a:p>
            <a:pPr indent="0" lvl="0" marL="0" rtl="0" algn="l">
              <a:spcBef>
                <a:spcPts val="0"/>
              </a:spcBef>
              <a:spcAft>
                <a:spcPts val="0"/>
              </a:spcAft>
              <a:buNone/>
            </a:pPr>
            <a:r>
              <a:rPr b="0" i="0" lang="en-US" sz="1800">
                <a:solidFill>
                  <a:srgbClr val="242021"/>
                </a:solidFill>
                <a:latin typeface="Times"/>
                <a:ea typeface="Times"/>
                <a:cs typeface="Times"/>
                <a:sym typeface="Times"/>
              </a:rPr>
              <a:t>As one goes down the hierarchy, the following occur:</a:t>
            </a:r>
            <a:endParaRPr/>
          </a:p>
          <a:p>
            <a:pPr indent="0" lvl="0" marL="0" rtl="0" algn="ctr">
              <a:spcBef>
                <a:spcPts val="0"/>
              </a:spcBef>
              <a:spcAft>
                <a:spcPts val="0"/>
              </a:spcAft>
              <a:buNone/>
            </a:pPr>
            <a:r>
              <a:rPr b="1" i="0" lang="en-US" sz="1800">
                <a:solidFill>
                  <a:srgbClr val="007367"/>
                </a:solidFill>
                <a:latin typeface="Times"/>
                <a:ea typeface="Times"/>
                <a:cs typeface="Times"/>
                <a:sym typeface="Times"/>
              </a:rPr>
              <a:t>a. </a:t>
            </a:r>
            <a:r>
              <a:rPr b="0" i="0" lang="en-US" sz="1800">
                <a:solidFill>
                  <a:srgbClr val="242021"/>
                </a:solidFill>
                <a:latin typeface="Times"/>
                <a:ea typeface="Times"/>
                <a:cs typeface="Times"/>
                <a:sym typeface="Times"/>
              </a:rPr>
              <a:t>Decreasing cost per bit;</a:t>
            </a:r>
            <a:endParaRPr/>
          </a:p>
          <a:p>
            <a:pPr indent="0" lvl="0" marL="0" rtl="0" algn="ctr">
              <a:spcBef>
                <a:spcPts val="0"/>
              </a:spcBef>
              <a:spcAft>
                <a:spcPts val="0"/>
              </a:spcAft>
              <a:buNone/>
            </a:pPr>
            <a:r>
              <a:rPr b="1" i="0" lang="en-US" sz="1800">
                <a:solidFill>
                  <a:srgbClr val="007367"/>
                </a:solidFill>
                <a:latin typeface="Times"/>
                <a:ea typeface="Times"/>
                <a:cs typeface="Times"/>
                <a:sym typeface="Times"/>
              </a:rPr>
              <a:t>b. </a:t>
            </a:r>
            <a:r>
              <a:rPr b="0" i="0" lang="en-US" sz="1800">
                <a:solidFill>
                  <a:srgbClr val="242021"/>
                </a:solidFill>
                <a:latin typeface="Times"/>
                <a:ea typeface="Times"/>
                <a:cs typeface="Times"/>
                <a:sym typeface="Times"/>
              </a:rPr>
              <a:t>Increasing capacity;</a:t>
            </a:r>
            <a:endParaRPr/>
          </a:p>
          <a:p>
            <a:pPr indent="0" lvl="0" marL="0" rtl="0" algn="ctr">
              <a:spcBef>
                <a:spcPts val="0"/>
              </a:spcBef>
              <a:spcAft>
                <a:spcPts val="0"/>
              </a:spcAft>
              <a:buNone/>
            </a:pPr>
            <a:r>
              <a:rPr b="1" i="0" lang="en-US" sz="1800">
                <a:solidFill>
                  <a:srgbClr val="007367"/>
                </a:solidFill>
                <a:latin typeface="Times"/>
                <a:ea typeface="Times"/>
                <a:cs typeface="Times"/>
                <a:sym typeface="Times"/>
              </a:rPr>
              <a:t>c. </a:t>
            </a:r>
            <a:r>
              <a:rPr b="0" i="0" lang="en-US" sz="1800">
                <a:solidFill>
                  <a:srgbClr val="242021"/>
                </a:solidFill>
                <a:latin typeface="Times"/>
                <a:ea typeface="Times"/>
                <a:cs typeface="Times"/>
                <a:sym typeface="Times"/>
              </a:rPr>
              <a:t>Increasing access time;</a:t>
            </a:r>
            <a:endParaRPr/>
          </a:p>
          <a:p>
            <a:pPr indent="0" lvl="0" marL="0" rtl="0" algn="ctr">
              <a:spcBef>
                <a:spcPts val="0"/>
              </a:spcBef>
              <a:spcAft>
                <a:spcPts val="0"/>
              </a:spcAft>
              <a:buNone/>
            </a:pPr>
            <a:r>
              <a:rPr b="1" i="0" lang="en-US" sz="1800">
                <a:solidFill>
                  <a:srgbClr val="007367"/>
                </a:solidFill>
                <a:latin typeface="Times"/>
                <a:ea typeface="Times"/>
                <a:cs typeface="Times"/>
                <a:sym typeface="Times"/>
              </a:rPr>
              <a:t>d. </a:t>
            </a:r>
            <a:r>
              <a:rPr b="0" i="0" lang="en-US" sz="1800">
                <a:solidFill>
                  <a:srgbClr val="242021"/>
                </a:solidFill>
                <a:latin typeface="Times"/>
                <a:ea typeface="Times"/>
                <a:cs typeface="Times"/>
                <a:sym typeface="Times"/>
              </a:rPr>
              <a:t>Decreasing frequency of access of the memory by the processor.</a:t>
            </a:r>
            <a:r>
              <a:rPr lang="en-US"/>
              <a:t> </a:t>
            </a:r>
            <a:br>
              <a:rPr lang="en-US"/>
            </a:b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br>
              <a:rPr lang="en-US"/>
            </a:b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1"/>
          <p:cNvSpPr txBox="1"/>
          <p:nvPr>
            <p:ph type="title"/>
          </p:nvPr>
        </p:nvSpPr>
        <p:spPr>
          <a:xfrm>
            <a:off x="485352" y="484075"/>
            <a:ext cx="7506900" cy="4431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Memory Hierarchy - Diagram</a:t>
            </a:r>
            <a:endParaRPr/>
          </a:p>
        </p:txBody>
      </p:sp>
      <p:pic>
        <p:nvPicPr>
          <p:cNvPr id="173" name="Google Shape;173;p21"/>
          <p:cNvPicPr preferRelativeResize="0"/>
          <p:nvPr/>
        </p:nvPicPr>
        <p:blipFill rotWithShape="1">
          <a:blip r:embed="rId3">
            <a:alphaModFix/>
          </a:blip>
          <a:srcRect b="0" l="0" r="0" t="0"/>
          <a:stretch/>
        </p:blipFill>
        <p:spPr>
          <a:xfrm>
            <a:off x="8844" y="1118955"/>
            <a:ext cx="5925910" cy="5660123"/>
          </a:xfrm>
          <a:prstGeom prst="rect">
            <a:avLst/>
          </a:prstGeom>
          <a:noFill/>
          <a:ln>
            <a:noFill/>
          </a:ln>
        </p:spPr>
      </p:pic>
      <p:sp>
        <p:nvSpPr>
          <p:cNvPr id="174" name="Google Shape;174;p21"/>
          <p:cNvSpPr txBox="1"/>
          <p:nvPr/>
        </p:nvSpPr>
        <p:spPr>
          <a:xfrm>
            <a:off x="5413628" y="1394205"/>
            <a:ext cx="3561715" cy="2475230"/>
          </a:xfrm>
          <a:prstGeom prst="rect">
            <a:avLst/>
          </a:prstGeom>
          <a:noFill/>
          <a:ln>
            <a:noFill/>
          </a:ln>
        </p:spPr>
        <p:txBody>
          <a:bodyPr anchorCtr="0" anchor="t" bIns="0" lIns="0" spcFirstLastPara="1" rIns="0" wrap="square" tIns="12700">
            <a:spAutoFit/>
          </a:bodyPr>
          <a:lstStyle/>
          <a:p>
            <a:pPr indent="-343535" lvl="0" marL="355600" marR="0" rtl="0" algn="l">
              <a:lnSpc>
                <a:spcPct val="100000"/>
              </a:lnSpc>
              <a:spcBef>
                <a:spcPts val="0"/>
              </a:spcBef>
              <a:spcAft>
                <a:spcPts val="0"/>
              </a:spcAft>
              <a:buClr>
                <a:schemeClr val="dk1"/>
              </a:buClr>
              <a:buSzPts val="2400"/>
              <a:buFont typeface="Noto Sans Symbols"/>
              <a:buChar char="▪"/>
            </a:pPr>
            <a:r>
              <a:rPr lang="en-US" sz="2400">
                <a:solidFill>
                  <a:schemeClr val="dk1"/>
                </a:solidFill>
                <a:latin typeface="Times New Roman"/>
                <a:ea typeface="Times New Roman"/>
                <a:cs typeface="Times New Roman"/>
                <a:sym typeface="Times New Roman"/>
              </a:rPr>
              <a:t>Going down the hierarchy</a:t>
            </a:r>
            <a:endParaRPr sz="2400">
              <a:solidFill>
                <a:schemeClr val="dk1"/>
              </a:solidFill>
              <a:latin typeface="Times New Roman"/>
              <a:ea typeface="Times New Roman"/>
              <a:cs typeface="Times New Roman"/>
              <a:sym typeface="Times New Roman"/>
            </a:endParaRPr>
          </a:p>
          <a:p>
            <a:pPr indent="-343535" lvl="1" marL="812800" marR="0" rtl="0" algn="l">
              <a:lnSpc>
                <a:spcPct val="100000"/>
              </a:lnSpc>
              <a:spcBef>
                <a:spcPts val="2005"/>
              </a:spcBef>
              <a:spcAft>
                <a:spcPts val="0"/>
              </a:spcAft>
              <a:buClr>
                <a:schemeClr val="dk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Decreasing </a:t>
            </a:r>
            <a:r>
              <a:rPr b="1" i="0" lang="en-US" sz="2400" u="none" cap="none" strike="noStrike">
                <a:solidFill>
                  <a:srgbClr val="FF0000"/>
                </a:solidFill>
                <a:latin typeface="Times New Roman"/>
                <a:ea typeface="Times New Roman"/>
                <a:cs typeface="Times New Roman"/>
                <a:sym typeface="Times New Roman"/>
              </a:rPr>
              <a:t>Cost</a:t>
            </a:r>
            <a:endParaRPr b="0" i="0" sz="2400" u="none" cap="none" strike="noStrike">
              <a:solidFill>
                <a:schemeClr val="dk1"/>
              </a:solidFill>
              <a:latin typeface="Times New Roman"/>
              <a:ea typeface="Times New Roman"/>
              <a:cs typeface="Times New Roman"/>
              <a:sym typeface="Times New Roman"/>
            </a:endParaRPr>
          </a:p>
          <a:p>
            <a:pPr indent="0" lvl="1" marL="457200" marR="0" rtl="0" algn="l">
              <a:lnSpc>
                <a:spcPct val="100000"/>
              </a:lnSpc>
              <a:spcBef>
                <a:spcPts val="5"/>
              </a:spcBef>
              <a:spcAft>
                <a:spcPts val="0"/>
              </a:spcAft>
              <a:buClr>
                <a:schemeClr val="dk1"/>
              </a:buClr>
              <a:buSzPts val="2500"/>
              <a:buFont typeface="Noto Sans Symbols"/>
              <a:buNone/>
            </a:pPr>
            <a:r>
              <a:t/>
            </a:r>
            <a:endParaRPr b="0" i="0" sz="2500" u="none" cap="none" strike="noStrike">
              <a:solidFill>
                <a:schemeClr val="dk1"/>
              </a:solidFill>
              <a:latin typeface="Times New Roman"/>
              <a:ea typeface="Times New Roman"/>
              <a:cs typeface="Times New Roman"/>
              <a:sym typeface="Times New Roman"/>
            </a:endParaRPr>
          </a:p>
          <a:p>
            <a:pPr indent="-343535" lvl="1" marL="812800" marR="0" rtl="0" algn="l">
              <a:lnSpc>
                <a:spcPct val="100000"/>
              </a:lnSpc>
              <a:spcBef>
                <a:spcPts val="0"/>
              </a:spcBef>
              <a:spcAft>
                <a:spcPts val="0"/>
              </a:spcAft>
              <a:buClr>
                <a:schemeClr val="dk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Increase </a:t>
            </a:r>
            <a:r>
              <a:rPr b="1" i="0" lang="en-US" sz="2400" u="none" cap="none" strike="noStrike">
                <a:solidFill>
                  <a:srgbClr val="FF0000"/>
                </a:solidFill>
                <a:latin typeface="Times New Roman"/>
                <a:ea typeface="Times New Roman"/>
                <a:cs typeface="Times New Roman"/>
                <a:sym typeface="Times New Roman"/>
              </a:rPr>
              <a:t>Capacity</a:t>
            </a:r>
            <a:endParaRPr b="0" i="0" sz="2400" u="none" cap="none" strike="noStrike">
              <a:solidFill>
                <a:schemeClr val="dk1"/>
              </a:solidFill>
              <a:latin typeface="Times New Roman"/>
              <a:ea typeface="Times New Roman"/>
              <a:cs typeface="Times New Roman"/>
              <a:sym typeface="Times New Roman"/>
            </a:endParaRPr>
          </a:p>
          <a:p>
            <a:pPr indent="0" lvl="1" marL="457200" marR="0" rtl="0" algn="l">
              <a:lnSpc>
                <a:spcPct val="100000"/>
              </a:lnSpc>
              <a:spcBef>
                <a:spcPts val="5"/>
              </a:spcBef>
              <a:spcAft>
                <a:spcPts val="0"/>
              </a:spcAft>
              <a:buClr>
                <a:schemeClr val="dk1"/>
              </a:buClr>
              <a:buSzPts val="2500"/>
              <a:buFont typeface="Noto Sans Symbols"/>
              <a:buNone/>
            </a:pPr>
            <a:r>
              <a:t/>
            </a:r>
            <a:endParaRPr b="0" i="0" sz="2500" u="none" cap="none" strike="noStrike">
              <a:solidFill>
                <a:schemeClr val="dk1"/>
              </a:solidFill>
              <a:latin typeface="Times New Roman"/>
              <a:ea typeface="Times New Roman"/>
              <a:cs typeface="Times New Roman"/>
              <a:sym typeface="Times New Roman"/>
            </a:endParaRPr>
          </a:p>
          <a:p>
            <a:pPr indent="-343535" lvl="1" marL="812800" marR="0" rtl="0" algn="l">
              <a:lnSpc>
                <a:spcPct val="100000"/>
              </a:lnSpc>
              <a:spcBef>
                <a:spcPts val="5"/>
              </a:spcBef>
              <a:spcAft>
                <a:spcPts val="0"/>
              </a:spcAft>
              <a:buClr>
                <a:schemeClr val="dk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Increase </a:t>
            </a:r>
            <a:r>
              <a:rPr b="1" i="0" lang="en-US" sz="2400" u="none" cap="none" strike="noStrike">
                <a:solidFill>
                  <a:srgbClr val="FF0000"/>
                </a:solidFill>
                <a:latin typeface="Times New Roman"/>
                <a:ea typeface="Times New Roman"/>
                <a:cs typeface="Times New Roman"/>
                <a:sym typeface="Times New Roman"/>
              </a:rPr>
              <a:t>Access Time</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2"/>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180" name="Google Shape;180;p22"/>
          <p:cNvSpPr txBox="1"/>
          <p:nvPr>
            <p:ph idx="1" type="body"/>
          </p:nvPr>
        </p:nvSpPr>
        <p:spPr>
          <a:xfrm>
            <a:off x="525144" y="1188465"/>
            <a:ext cx="8093710" cy="6278642"/>
          </a:xfrm>
          <a:prstGeom prst="rect">
            <a:avLst/>
          </a:prstGeom>
          <a:noFill/>
          <a:ln>
            <a:noFill/>
          </a:ln>
        </p:spPr>
        <p:txBody>
          <a:bodyPr anchorCtr="0" anchor="t" bIns="0" lIns="0" spcFirstLastPara="1" rIns="0" wrap="square" tIns="0">
            <a:spAutoFit/>
          </a:bodyPr>
          <a:lstStyle/>
          <a:p>
            <a:pPr indent="-285750" lvl="0" marL="285750" rtl="0" algn="just">
              <a:spcBef>
                <a:spcPts val="0"/>
              </a:spcBef>
              <a:spcAft>
                <a:spcPts val="0"/>
              </a:spcAft>
              <a:buClr>
                <a:srgbClr val="242021"/>
              </a:buClr>
              <a:buSzPts val="1800"/>
              <a:buFont typeface="Arial"/>
              <a:buChar char="•"/>
            </a:pPr>
            <a:r>
              <a:rPr b="0" i="0" lang="en-US" sz="1800">
                <a:solidFill>
                  <a:srgbClr val="242021"/>
                </a:solidFill>
                <a:latin typeface="Times"/>
                <a:ea typeface="Times"/>
                <a:cs typeface="Times"/>
                <a:sym typeface="Times"/>
              </a:rPr>
              <a:t>It is possible to organize data across the hierarchy such that the </a:t>
            </a:r>
            <a:r>
              <a:rPr b="1" i="0" lang="en-US" sz="1800">
                <a:solidFill>
                  <a:srgbClr val="242021"/>
                </a:solidFill>
                <a:latin typeface="Times"/>
                <a:ea typeface="Times"/>
                <a:cs typeface="Times"/>
                <a:sym typeface="Times"/>
              </a:rPr>
              <a:t>percentage of accesses to each successively lower level is substantially less than that of the level above.</a:t>
            </a:r>
            <a:r>
              <a:rPr b="1" lang="en-US"/>
              <a:t> </a:t>
            </a:r>
            <a:endParaRPr/>
          </a:p>
          <a:p>
            <a:pPr indent="-285750" lvl="0" marL="285750" rtl="0" algn="just">
              <a:spcBef>
                <a:spcPts val="0"/>
              </a:spcBef>
              <a:spcAft>
                <a:spcPts val="0"/>
              </a:spcAft>
              <a:buClr>
                <a:srgbClr val="242021"/>
              </a:buClr>
              <a:buSzPts val="1800"/>
              <a:buFont typeface="Arial"/>
              <a:buChar char="•"/>
            </a:pPr>
            <a:r>
              <a:rPr b="0" i="0" lang="en-US" sz="1800">
                <a:solidFill>
                  <a:srgbClr val="242021"/>
                </a:solidFill>
                <a:latin typeface="Times"/>
                <a:ea typeface="Times"/>
                <a:cs typeface="Times"/>
                <a:sym typeface="Times"/>
              </a:rPr>
              <a:t>The fastest, smallest, and most expensive type of memory consists of the </a:t>
            </a:r>
            <a:r>
              <a:rPr b="1" i="0" lang="en-US" sz="1800">
                <a:solidFill>
                  <a:srgbClr val="242021"/>
                </a:solidFill>
                <a:latin typeface="Times"/>
                <a:ea typeface="Times"/>
                <a:cs typeface="Times"/>
                <a:sym typeface="Times"/>
              </a:rPr>
              <a:t>registers internal to the processor.</a:t>
            </a:r>
            <a:endParaRPr/>
          </a:p>
          <a:p>
            <a:pPr indent="-285750" lvl="0" marL="285750" rtl="0" algn="just">
              <a:spcBef>
                <a:spcPts val="0"/>
              </a:spcBef>
              <a:spcAft>
                <a:spcPts val="0"/>
              </a:spcAft>
              <a:buClr>
                <a:srgbClr val="242021"/>
              </a:buClr>
              <a:buSzPts val="1800"/>
              <a:buFont typeface="Arial"/>
              <a:buChar char="•"/>
            </a:pPr>
            <a:r>
              <a:rPr b="0" i="0" lang="en-US" sz="1800">
                <a:solidFill>
                  <a:srgbClr val="242021"/>
                </a:solidFill>
                <a:latin typeface="Times"/>
                <a:ea typeface="Times"/>
                <a:cs typeface="Times"/>
                <a:sym typeface="Times"/>
              </a:rPr>
              <a:t> Typically, a processor will contain a few dozen such registers, although some machines contain hundreds of registers. </a:t>
            </a:r>
            <a:endParaRPr/>
          </a:p>
          <a:p>
            <a:pPr indent="-285750" lvl="0" marL="285750" rtl="0" algn="just">
              <a:spcBef>
                <a:spcPts val="0"/>
              </a:spcBef>
              <a:spcAft>
                <a:spcPts val="0"/>
              </a:spcAft>
              <a:buClr>
                <a:srgbClr val="242021"/>
              </a:buClr>
              <a:buSzPts val="1800"/>
              <a:buFont typeface="Arial"/>
              <a:buChar char="•"/>
            </a:pPr>
            <a:r>
              <a:rPr b="1" i="0" lang="en-US" sz="1800">
                <a:solidFill>
                  <a:srgbClr val="242021"/>
                </a:solidFill>
                <a:latin typeface="Times"/>
                <a:ea typeface="Times"/>
                <a:cs typeface="Times"/>
                <a:sym typeface="Times"/>
              </a:rPr>
              <a:t>Main memory </a:t>
            </a:r>
            <a:r>
              <a:rPr b="0" i="0" lang="en-US" sz="1800">
                <a:solidFill>
                  <a:srgbClr val="242021"/>
                </a:solidFill>
                <a:latin typeface="Times"/>
                <a:ea typeface="Times"/>
                <a:cs typeface="Times"/>
                <a:sym typeface="Times"/>
              </a:rPr>
              <a:t>is the principal internal memory system of the computer. Each location in main memory has a unique address. Main memory is usually extended with a higher-speed, smaller cache.</a:t>
            </a:r>
            <a:endParaRPr/>
          </a:p>
          <a:p>
            <a:pPr indent="-285750" lvl="0" marL="285750" rtl="0" algn="just">
              <a:spcBef>
                <a:spcPts val="0"/>
              </a:spcBef>
              <a:spcAft>
                <a:spcPts val="0"/>
              </a:spcAft>
              <a:buClr>
                <a:srgbClr val="242021"/>
              </a:buClr>
              <a:buSzPts val="1800"/>
              <a:buFont typeface="Arial"/>
              <a:buChar char="•"/>
            </a:pPr>
            <a:r>
              <a:rPr b="0" i="0" lang="en-US" sz="1800">
                <a:solidFill>
                  <a:srgbClr val="242021"/>
                </a:solidFill>
                <a:latin typeface="Times"/>
                <a:ea typeface="Times"/>
                <a:cs typeface="Times"/>
                <a:sym typeface="Times"/>
              </a:rPr>
              <a:t> The cache is not usually visible to the programmer or, indeed, to the processor. </a:t>
            </a:r>
            <a:endParaRPr/>
          </a:p>
          <a:p>
            <a:pPr indent="-285750" lvl="0" marL="285750" rtl="0" algn="just">
              <a:spcBef>
                <a:spcPts val="0"/>
              </a:spcBef>
              <a:spcAft>
                <a:spcPts val="0"/>
              </a:spcAft>
              <a:buClr>
                <a:srgbClr val="242021"/>
              </a:buClr>
              <a:buSzPts val="1800"/>
              <a:buFont typeface="Arial"/>
              <a:buChar char="•"/>
            </a:pPr>
            <a:r>
              <a:rPr b="0" i="0" lang="en-US" sz="1800">
                <a:solidFill>
                  <a:srgbClr val="242021"/>
                </a:solidFill>
                <a:latin typeface="Times"/>
                <a:ea typeface="Times"/>
                <a:cs typeface="Times"/>
                <a:sym typeface="Times"/>
              </a:rPr>
              <a:t>It is a device for staging the </a:t>
            </a:r>
            <a:r>
              <a:rPr b="1" i="0" lang="en-US" sz="1800">
                <a:solidFill>
                  <a:srgbClr val="242021"/>
                </a:solidFill>
                <a:latin typeface="Times"/>
                <a:ea typeface="Times"/>
                <a:cs typeface="Times"/>
                <a:sym typeface="Times"/>
              </a:rPr>
              <a:t>movement of data between main memory and processor registers to improve performance</a:t>
            </a:r>
            <a:r>
              <a:rPr b="0" i="0" lang="en-US" sz="1800">
                <a:solidFill>
                  <a:srgbClr val="242021"/>
                </a:solidFill>
                <a:latin typeface="Times"/>
                <a:ea typeface="Times"/>
                <a:cs typeface="Times"/>
                <a:sym typeface="Times"/>
              </a:rPr>
              <a:t>.</a:t>
            </a:r>
            <a:endParaRPr/>
          </a:p>
          <a:p>
            <a:pPr indent="-285750" lvl="0" marL="285750" rtl="0" algn="just">
              <a:spcBef>
                <a:spcPts val="0"/>
              </a:spcBef>
              <a:spcAft>
                <a:spcPts val="0"/>
              </a:spcAft>
              <a:buClr>
                <a:srgbClr val="242021"/>
              </a:buClr>
              <a:buSzPts val="1800"/>
              <a:buFont typeface="Arial"/>
              <a:buChar char="•"/>
            </a:pPr>
            <a:r>
              <a:rPr b="0" i="0" lang="en-US" sz="1800">
                <a:solidFill>
                  <a:srgbClr val="242021"/>
                </a:solidFill>
                <a:latin typeface="Times"/>
                <a:ea typeface="Times"/>
                <a:cs typeface="Times"/>
                <a:sym typeface="Times"/>
              </a:rPr>
              <a:t>Data are stored more permanently on external mass storage devices, of which the most common are </a:t>
            </a:r>
            <a:r>
              <a:rPr b="1" i="0" lang="en-US" sz="1800">
                <a:solidFill>
                  <a:srgbClr val="242021"/>
                </a:solidFill>
                <a:latin typeface="Times"/>
                <a:ea typeface="Times"/>
                <a:cs typeface="Times"/>
                <a:sym typeface="Times"/>
              </a:rPr>
              <a:t>hard disk and removable media, such as removable magnetic disk, tape, and optical storage</a:t>
            </a:r>
            <a:r>
              <a:rPr b="0" i="0" lang="en-US" sz="1800">
                <a:solidFill>
                  <a:srgbClr val="242021"/>
                </a:solidFill>
                <a:latin typeface="Times"/>
                <a:ea typeface="Times"/>
                <a:cs typeface="Times"/>
                <a:sym typeface="Times"/>
              </a:rPr>
              <a:t>.</a:t>
            </a:r>
            <a:endParaRPr/>
          </a:p>
          <a:p>
            <a:pPr indent="-285750" lvl="0" marL="285750" rtl="0" algn="just">
              <a:spcBef>
                <a:spcPts val="0"/>
              </a:spcBef>
              <a:spcAft>
                <a:spcPts val="0"/>
              </a:spcAft>
              <a:buClr>
                <a:srgbClr val="242021"/>
              </a:buClr>
              <a:buSzPts val="1800"/>
              <a:buFont typeface="Arial"/>
              <a:buChar char="•"/>
            </a:pPr>
            <a:r>
              <a:rPr b="0" i="0" lang="en-US" sz="1800">
                <a:solidFill>
                  <a:srgbClr val="242021"/>
                </a:solidFill>
                <a:latin typeface="Times"/>
                <a:ea typeface="Times"/>
                <a:cs typeface="Times"/>
                <a:sym typeface="Times"/>
              </a:rPr>
              <a:t> </a:t>
            </a:r>
            <a:br>
              <a:rPr lang="en-US"/>
            </a:br>
            <a:endParaRPr b="1"/>
          </a:p>
          <a:p>
            <a:pPr indent="-158750" lvl="0" marL="285750" rtl="0" algn="just">
              <a:spcBef>
                <a:spcPts val="0"/>
              </a:spcBef>
              <a:spcAft>
                <a:spcPts val="0"/>
              </a:spcAft>
              <a:buClr>
                <a:schemeClr val="dk1"/>
              </a:buClr>
              <a:buSzPts val="2000"/>
              <a:buFont typeface="Arial"/>
              <a:buNone/>
            </a:pPr>
            <a:r>
              <a:t/>
            </a:r>
            <a:endParaRPr/>
          </a:p>
          <a:p>
            <a:pPr indent="-158750" lvl="0" marL="285750" rtl="0" algn="just">
              <a:spcBef>
                <a:spcPts val="0"/>
              </a:spcBef>
              <a:spcAft>
                <a:spcPts val="0"/>
              </a:spcAft>
              <a:buClr>
                <a:schemeClr val="dk1"/>
              </a:buClr>
              <a:buSzPts val="2000"/>
              <a:buFont typeface="Arial"/>
              <a:buNone/>
            </a:pPr>
            <a:r>
              <a:t/>
            </a:r>
            <a:endParaRPr b="1"/>
          </a:p>
          <a:p>
            <a:pPr indent="0" lvl="0" marL="0" rtl="0" algn="just">
              <a:spcBef>
                <a:spcPts val="0"/>
              </a:spcBef>
              <a:spcAft>
                <a:spcPts val="0"/>
              </a:spcAft>
              <a:buNone/>
            </a:pPr>
            <a:br>
              <a:rPr lang="en-US"/>
            </a:b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3"/>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186" name="Google Shape;186;p23"/>
          <p:cNvSpPr txBox="1"/>
          <p:nvPr>
            <p:ph idx="1" type="body"/>
          </p:nvPr>
        </p:nvSpPr>
        <p:spPr>
          <a:xfrm>
            <a:off x="525144" y="1188465"/>
            <a:ext cx="8093710" cy="2769989"/>
          </a:xfrm>
          <a:prstGeom prst="rect">
            <a:avLst/>
          </a:prstGeom>
          <a:noFill/>
          <a:ln>
            <a:noFill/>
          </a:ln>
        </p:spPr>
        <p:txBody>
          <a:bodyPr anchorCtr="0" anchor="t" bIns="0" lIns="0" spcFirstLastPara="1" rIns="0" wrap="square" tIns="0">
            <a:spAutoFit/>
          </a:bodyPr>
          <a:lstStyle/>
          <a:p>
            <a:pPr indent="-342900" lvl="0" marL="342900" rtl="0" algn="just">
              <a:spcBef>
                <a:spcPts val="0"/>
              </a:spcBef>
              <a:spcAft>
                <a:spcPts val="0"/>
              </a:spcAft>
              <a:buClr>
                <a:srgbClr val="242021"/>
              </a:buClr>
              <a:buSzPts val="2000"/>
              <a:buFont typeface="Arial"/>
              <a:buChar char="•"/>
            </a:pPr>
            <a:r>
              <a:rPr b="0" i="0" lang="en-US" sz="2000">
                <a:solidFill>
                  <a:srgbClr val="242021"/>
                </a:solidFill>
                <a:latin typeface="Times New Roman"/>
                <a:ea typeface="Times New Roman"/>
                <a:cs typeface="Times New Roman"/>
                <a:sym typeface="Times New Roman"/>
              </a:rPr>
              <a:t>External, nonvolatile memory is also referred to as </a:t>
            </a:r>
            <a:r>
              <a:rPr b="1" i="0" lang="en-US" sz="2000">
                <a:solidFill>
                  <a:srgbClr val="242021"/>
                </a:solidFill>
                <a:latin typeface="Times New Roman"/>
                <a:ea typeface="Times New Roman"/>
                <a:cs typeface="Times New Roman"/>
                <a:sym typeface="Times New Roman"/>
              </a:rPr>
              <a:t>secondary memory </a:t>
            </a:r>
            <a:r>
              <a:rPr b="0" i="0" lang="en-US" sz="2000">
                <a:solidFill>
                  <a:srgbClr val="242021"/>
                </a:solidFill>
                <a:latin typeface="Times New Roman"/>
                <a:ea typeface="Times New Roman"/>
                <a:cs typeface="Times New Roman"/>
                <a:sym typeface="Times New Roman"/>
              </a:rPr>
              <a:t>or </a:t>
            </a:r>
            <a:r>
              <a:rPr b="1" i="0" lang="en-US" sz="2000">
                <a:solidFill>
                  <a:srgbClr val="242021"/>
                </a:solidFill>
                <a:latin typeface="Times New Roman"/>
                <a:ea typeface="Times New Roman"/>
                <a:cs typeface="Times New Roman"/>
                <a:sym typeface="Times New Roman"/>
              </a:rPr>
              <a:t>auxiliary memory</a:t>
            </a:r>
            <a:r>
              <a:rPr b="0" i="0" lang="en-US" sz="2000">
                <a:solidFill>
                  <a:srgbClr val="242021"/>
                </a:solidFill>
                <a:latin typeface="Times New Roman"/>
                <a:ea typeface="Times New Roman"/>
                <a:cs typeface="Times New Roman"/>
                <a:sym typeface="Times New Roman"/>
              </a:rPr>
              <a:t>. </a:t>
            </a:r>
            <a:endParaRPr/>
          </a:p>
          <a:p>
            <a:pPr indent="-342900" lvl="0" marL="342900" rtl="0" algn="just">
              <a:spcBef>
                <a:spcPts val="0"/>
              </a:spcBef>
              <a:spcAft>
                <a:spcPts val="0"/>
              </a:spcAft>
              <a:buClr>
                <a:srgbClr val="242021"/>
              </a:buClr>
              <a:buSzPts val="2000"/>
              <a:buFont typeface="Arial"/>
              <a:buChar char="•"/>
            </a:pPr>
            <a:r>
              <a:rPr b="0" i="0" lang="en-US" sz="2000">
                <a:solidFill>
                  <a:srgbClr val="242021"/>
                </a:solidFill>
                <a:latin typeface="Times New Roman"/>
                <a:ea typeface="Times New Roman"/>
                <a:cs typeface="Times New Roman"/>
                <a:sym typeface="Times New Roman"/>
              </a:rPr>
              <a:t>These are used to store program and data files and are usually visible to the programmer only in terms of files and records, as opposed to individual bytes or words. </a:t>
            </a:r>
            <a:endParaRPr/>
          </a:p>
          <a:p>
            <a:pPr indent="-342900" lvl="0" marL="342900" rtl="0" algn="just">
              <a:spcBef>
                <a:spcPts val="0"/>
              </a:spcBef>
              <a:spcAft>
                <a:spcPts val="0"/>
              </a:spcAft>
              <a:buClr>
                <a:srgbClr val="242021"/>
              </a:buClr>
              <a:buSzPts val="2000"/>
              <a:buFont typeface="Arial"/>
              <a:buChar char="•"/>
            </a:pPr>
            <a:r>
              <a:rPr b="0" i="0" lang="en-US" sz="2000">
                <a:solidFill>
                  <a:srgbClr val="242021"/>
                </a:solidFill>
                <a:latin typeface="Times New Roman"/>
                <a:ea typeface="Times New Roman"/>
                <a:cs typeface="Times New Roman"/>
                <a:sym typeface="Times New Roman"/>
              </a:rPr>
              <a:t>Disk is also used to provide an extension to main memory known as virtual memory</a:t>
            </a:r>
            <a:br>
              <a:rPr lang="en-US" sz="1800">
                <a:latin typeface="Times New Roman"/>
                <a:ea typeface="Times New Roman"/>
                <a:cs typeface="Times New Roman"/>
                <a:sym typeface="Times New Roman"/>
              </a:rPr>
            </a:br>
            <a:endParaRPr b="0" i="0" sz="2000">
              <a:solidFill>
                <a:srgbClr val="242021"/>
              </a:solidFill>
              <a:latin typeface="Times New Roman"/>
              <a:ea typeface="Times New Roman"/>
              <a:cs typeface="Times New Roman"/>
              <a:sym typeface="Times New Roman"/>
            </a:endParaRPr>
          </a:p>
          <a:p>
            <a:pPr indent="-215900" lvl="0" marL="342900" rtl="0" algn="l">
              <a:spcBef>
                <a:spcPts val="0"/>
              </a:spcBef>
              <a:spcAft>
                <a:spcPts val="0"/>
              </a:spcAft>
              <a:buClr>
                <a:schemeClr val="dk1"/>
              </a:buClr>
              <a:buSzPts val="2000"/>
              <a:buFont typeface="Arial"/>
              <a:buNone/>
            </a:pPr>
            <a:r>
              <a:t/>
            </a:r>
            <a:endParaRPr>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4"/>
          <p:cNvSpPr txBox="1"/>
          <p:nvPr>
            <p:ph type="title"/>
          </p:nvPr>
        </p:nvSpPr>
        <p:spPr>
          <a:xfrm>
            <a:off x="485343" y="57404"/>
            <a:ext cx="8173313" cy="430887"/>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US"/>
              <a:t>Semiconductor Memory</a:t>
            </a:r>
            <a:endParaRPr/>
          </a:p>
        </p:txBody>
      </p:sp>
      <p:sp>
        <p:nvSpPr>
          <p:cNvPr id="192" name="Google Shape;192;p24"/>
          <p:cNvSpPr txBox="1"/>
          <p:nvPr>
            <p:ph idx="1" type="body"/>
          </p:nvPr>
        </p:nvSpPr>
        <p:spPr>
          <a:xfrm>
            <a:off x="525144" y="1188465"/>
            <a:ext cx="8093710" cy="3077766"/>
          </a:xfrm>
          <a:prstGeom prst="rect">
            <a:avLst/>
          </a:prstGeom>
          <a:noFill/>
          <a:ln>
            <a:noFill/>
          </a:ln>
        </p:spPr>
        <p:txBody>
          <a:bodyPr anchorCtr="0" anchor="t" bIns="0" lIns="0" spcFirstLastPara="1" rIns="0" wrap="square" tIns="0">
            <a:spAutoFit/>
          </a:bodyPr>
          <a:lstStyle/>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Semiconductor memory is a type of digital memory technology that uses semiconductors, such as silicon, to store and retrieve digital data.</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the use of semiconductor chips for main memory is almost universal.</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The basic element of a semiconductor memory is the </a:t>
            </a:r>
            <a:r>
              <a:rPr b="1" lang="en-US">
                <a:latin typeface="Times New Roman"/>
                <a:ea typeface="Times New Roman"/>
                <a:cs typeface="Times New Roman"/>
                <a:sym typeface="Times New Roman"/>
              </a:rPr>
              <a:t>memory cell</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All semiconductor memory cells share certain properties:</a:t>
            </a:r>
            <a:endParaRPr/>
          </a:p>
          <a:p>
            <a:pPr indent="-342900" lvl="1" marL="800100" rtl="0" algn="just">
              <a:spcBef>
                <a:spcPts val="0"/>
              </a:spcBef>
              <a:spcAft>
                <a:spcPts val="0"/>
              </a:spcAft>
              <a:buSzPts val="2000"/>
              <a:buFont typeface="Arial"/>
              <a:buChar char="•"/>
            </a:pPr>
            <a:r>
              <a:rPr lang="en-US" sz="2000">
                <a:latin typeface="Times New Roman"/>
                <a:ea typeface="Times New Roman"/>
                <a:cs typeface="Times New Roman"/>
                <a:sym typeface="Times New Roman"/>
              </a:rPr>
              <a:t>They exhibit two stable (or semi-stable) states, which can be used to represent</a:t>
            </a:r>
            <a:endParaRPr/>
          </a:p>
          <a:p>
            <a:pPr indent="0" lvl="0" marL="0" rtl="0" algn="just">
              <a:spcBef>
                <a:spcPts val="0"/>
              </a:spcBef>
              <a:spcAft>
                <a:spcPts val="0"/>
              </a:spcAft>
              <a:buNone/>
            </a:pPr>
            <a:r>
              <a:rPr lang="en-US">
                <a:latin typeface="Times New Roman"/>
                <a:ea typeface="Times New Roman"/>
                <a:cs typeface="Times New Roman"/>
                <a:sym typeface="Times New Roman"/>
              </a:rPr>
              <a:t> binary 1 and 0.</a:t>
            </a:r>
            <a:endParaRPr/>
          </a:p>
          <a:p>
            <a:pPr indent="-342900" lvl="1" marL="800100" rtl="0" algn="just">
              <a:spcBef>
                <a:spcPts val="0"/>
              </a:spcBef>
              <a:spcAft>
                <a:spcPts val="0"/>
              </a:spcAft>
              <a:buSzPts val="2000"/>
              <a:buFont typeface="Arial"/>
              <a:buChar char="•"/>
            </a:pPr>
            <a:r>
              <a:rPr lang="en-US" sz="2000">
                <a:latin typeface="Times New Roman"/>
                <a:ea typeface="Times New Roman"/>
                <a:cs typeface="Times New Roman"/>
                <a:sym typeface="Times New Roman"/>
              </a:rPr>
              <a:t>They are capable of being written into (at least once), to set the state.</a:t>
            </a:r>
            <a:endParaRPr/>
          </a:p>
          <a:p>
            <a:pPr indent="-342900" lvl="1" marL="800100" rtl="0" algn="just">
              <a:spcBef>
                <a:spcPts val="0"/>
              </a:spcBef>
              <a:spcAft>
                <a:spcPts val="0"/>
              </a:spcAft>
              <a:buSzPts val="2000"/>
              <a:buFont typeface="Arial"/>
              <a:buChar char="•"/>
            </a:pPr>
            <a:r>
              <a:rPr lang="en-US" sz="2000">
                <a:latin typeface="Times New Roman"/>
                <a:ea typeface="Times New Roman"/>
                <a:cs typeface="Times New Roman"/>
                <a:sym typeface="Times New Roman"/>
              </a:rPr>
              <a:t>They are capable of being read to sense the state.</a:t>
            </a:r>
            <a:endParaRPr sz="2000">
              <a:latin typeface="Times New Roman"/>
              <a:ea typeface="Times New Roman"/>
              <a:cs typeface="Times New Roman"/>
              <a:sym typeface="Times New Roman"/>
            </a:endParaRPr>
          </a:p>
        </p:txBody>
      </p:sp>
      <p:sp>
        <p:nvSpPr>
          <p:cNvPr id="193" name="Google Shape;193;p24"/>
          <p:cNvSpPr txBox="1"/>
          <p:nvPr/>
        </p:nvSpPr>
        <p:spPr>
          <a:xfrm>
            <a:off x="457200" y="4419600"/>
            <a:ext cx="8382000" cy="2031325"/>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the cell has </a:t>
            </a:r>
            <a:r>
              <a:rPr lang="en-US" sz="1800">
                <a:solidFill>
                  <a:srgbClr val="FF0000"/>
                </a:solidFill>
                <a:latin typeface="Times New Roman"/>
                <a:ea typeface="Times New Roman"/>
                <a:cs typeface="Times New Roman"/>
                <a:sym typeface="Times New Roman"/>
              </a:rPr>
              <a:t>three functional terminals capable of carrying an electrical signal</a:t>
            </a:r>
            <a:r>
              <a:rPr lang="en-US" sz="1800">
                <a:solidFill>
                  <a:schemeClr val="dk1"/>
                </a:solidFill>
                <a:latin typeface="Times New Roman"/>
                <a:ea typeface="Times New Roman"/>
                <a:cs typeface="Times New Roman"/>
                <a:sym typeface="Times New Roman"/>
              </a:rPr>
              <a:t>. </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The </a:t>
            </a:r>
            <a:r>
              <a:rPr lang="en-US" sz="1800">
                <a:solidFill>
                  <a:srgbClr val="FF0000"/>
                </a:solidFill>
                <a:latin typeface="Times New Roman"/>
                <a:ea typeface="Times New Roman"/>
                <a:cs typeface="Times New Roman"/>
                <a:sym typeface="Times New Roman"/>
              </a:rPr>
              <a:t>select terminal</a:t>
            </a:r>
            <a:r>
              <a:rPr lang="en-US" sz="1800">
                <a:solidFill>
                  <a:schemeClr val="dk1"/>
                </a:solidFill>
                <a:latin typeface="Times New Roman"/>
                <a:ea typeface="Times New Roman"/>
                <a:cs typeface="Times New Roman"/>
                <a:sym typeface="Times New Roman"/>
              </a:rPr>
              <a:t>, as the name suggests, </a:t>
            </a:r>
            <a:r>
              <a:rPr lang="en-US" sz="1800">
                <a:solidFill>
                  <a:srgbClr val="FF0000"/>
                </a:solidFill>
                <a:latin typeface="Times New Roman"/>
                <a:ea typeface="Times New Roman"/>
                <a:cs typeface="Times New Roman"/>
                <a:sym typeface="Times New Roman"/>
              </a:rPr>
              <a:t>selects a memory cell for a read or write operation. </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The control terminal </a:t>
            </a:r>
            <a:r>
              <a:rPr lang="en-US" sz="1800">
                <a:solidFill>
                  <a:srgbClr val="FF0000"/>
                </a:solidFill>
                <a:latin typeface="Times New Roman"/>
                <a:ea typeface="Times New Roman"/>
                <a:cs typeface="Times New Roman"/>
                <a:sym typeface="Times New Roman"/>
              </a:rPr>
              <a:t>indicates</a:t>
            </a:r>
            <a:r>
              <a:rPr lang="en-US" sz="1800">
                <a:solidFill>
                  <a:schemeClr val="dk1"/>
                </a:solidFill>
                <a:latin typeface="Times New Roman"/>
                <a:ea typeface="Times New Roman"/>
                <a:cs typeface="Times New Roman"/>
                <a:sym typeface="Times New Roman"/>
              </a:rPr>
              <a:t> </a:t>
            </a:r>
            <a:r>
              <a:rPr lang="en-US" sz="1800">
                <a:solidFill>
                  <a:srgbClr val="FF0000"/>
                </a:solidFill>
                <a:latin typeface="Times New Roman"/>
                <a:ea typeface="Times New Roman"/>
                <a:cs typeface="Times New Roman"/>
                <a:sym typeface="Times New Roman"/>
              </a:rPr>
              <a:t>read or write</a:t>
            </a:r>
            <a:r>
              <a:rPr lang="en-US" sz="1800">
                <a:solidFill>
                  <a:schemeClr val="dk1"/>
                </a:solidFill>
                <a:latin typeface="Times New Roman"/>
                <a:ea typeface="Times New Roman"/>
                <a:cs typeface="Times New Roman"/>
                <a:sym typeface="Times New Roman"/>
              </a:rPr>
              <a:t>. </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For writing, the other terminal provides an electrical signal that </a:t>
            </a:r>
            <a:r>
              <a:rPr lang="en-US" sz="1800">
                <a:solidFill>
                  <a:srgbClr val="FF0000"/>
                </a:solidFill>
                <a:latin typeface="Times New Roman"/>
                <a:ea typeface="Times New Roman"/>
                <a:cs typeface="Times New Roman"/>
                <a:sym typeface="Times New Roman"/>
              </a:rPr>
              <a:t>sets the state of the cell to 1 or 0. </a:t>
            </a:r>
            <a:endParaRPr/>
          </a:p>
          <a:p>
            <a:pPr indent="-285750" lvl="0" marL="285750" marR="0" rtl="0" algn="l">
              <a:spcBef>
                <a:spcPts val="0"/>
              </a:spcBef>
              <a:spcAft>
                <a:spcPts val="0"/>
              </a:spcAft>
              <a:buClr>
                <a:srgbClr val="FF0000"/>
              </a:buClr>
              <a:buSzPts val="1800"/>
              <a:buFont typeface="Arial"/>
              <a:buChar char="•"/>
            </a:pPr>
            <a:r>
              <a:rPr lang="en-US" sz="1800">
                <a:solidFill>
                  <a:srgbClr val="FF0000"/>
                </a:solidFill>
                <a:latin typeface="Times New Roman"/>
                <a:ea typeface="Times New Roman"/>
                <a:cs typeface="Times New Roman"/>
                <a:sym typeface="Times New Roman"/>
              </a:rPr>
              <a:t>For reading, that terminal is used for output of the cell’s state</a:t>
            </a:r>
            <a:r>
              <a:rPr lang="en-US"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5"/>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199" name="Google Shape;199;p25"/>
          <p:cNvSpPr txBox="1"/>
          <p:nvPr>
            <p:ph idx="1" type="body"/>
          </p:nvPr>
        </p:nvSpPr>
        <p:spPr>
          <a:xfrm>
            <a:off x="525144" y="1188465"/>
            <a:ext cx="8093710" cy="371538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200" name="Google Shape;200;p25"/>
          <p:cNvPicPr preferRelativeResize="0"/>
          <p:nvPr/>
        </p:nvPicPr>
        <p:blipFill rotWithShape="1">
          <a:blip r:embed="rId3">
            <a:alphaModFix/>
          </a:blip>
          <a:srcRect b="0" l="0" r="0" t="0"/>
          <a:stretch/>
        </p:blipFill>
        <p:spPr>
          <a:xfrm>
            <a:off x="2035175" y="2349500"/>
            <a:ext cx="5073650" cy="2159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6"/>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206" name="Google Shape;206;p26"/>
          <p:cNvSpPr txBox="1"/>
          <p:nvPr>
            <p:ph idx="1" type="body"/>
          </p:nvPr>
        </p:nvSpPr>
        <p:spPr>
          <a:xfrm>
            <a:off x="525144" y="1188465"/>
            <a:ext cx="8093710" cy="371538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207" name="Google Shape;207;p26"/>
          <p:cNvPicPr preferRelativeResize="0"/>
          <p:nvPr/>
        </p:nvPicPr>
        <p:blipFill rotWithShape="1">
          <a:blip r:embed="rId3">
            <a:alphaModFix/>
          </a:blip>
          <a:srcRect b="0" l="0" r="0" t="0"/>
          <a:stretch/>
        </p:blipFill>
        <p:spPr>
          <a:xfrm>
            <a:off x="457200" y="1879600"/>
            <a:ext cx="7448550" cy="42164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7"/>
          <p:cNvSpPr txBox="1"/>
          <p:nvPr>
            <p:ph type="title"/>
          </p:nvPr>
        </p:nvSpPr>
        <p:spPr>
          <a:xfrm>
            <a:off x="485353" y="484075"/>
            <a:ext cx="8305500" cy="4431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RAM- Random Access Memory</a:t>
            </a:r>
            <a:endParaRPr/>
          </a:p>
        </p:txBody>
      </p:sp>
      <p:sp>
        <p:nvSpPr>
          <p:cNvPr id="213" name="Google Shape;213;p27"/>
          <p:cNvSpPr txBox="1"/>
          <p:nvPr/>
        </p:nvSpPr>
        <p:spPr>
          <a:xfrm>
            <a:off x="535940" y="1012617"/>
            <a:ext cx="8074660" cy="3499676"/>
          </a:xfrm>
          <a:prstGeom prst="rect">
            <a:avLst/>
          </a:prstGeom>
          <a:noFill/>
          <a:ln>
            <a:noFill/>
          </a:ln>
        </p:spPr>
        <p:txBody>
          <a:bodyPr anchorCtr="0" anchor="t" bIns="0" lIns="0" spcFirstLastPara="1" rIns="0" wrap="square" tIns="97775">
            <a:spAutoFit/>
          </a:bodyPr>
          <a:lstStyle/>
          <a:p>
            <a:pPr indent="-343535" lvl="0" marL="355600" marR="0" rtl="0" algn="l">
              <a:lnSpc>
                <a:spcPct val="100000"/>
              </a:lnSpc>
              <a:spcBef>
                <a:spcPts val="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RAM</a:t>
            </a:r>
            <a:endParaRPr sz="2800">
              <a:solidFill>
                <a:schemeClr val="dk1"/>
              </a:solidFill>
              <a:latin typeface="Verdana"/>
              <a:ea typeface="Verdana"/>
              <a:cs typeface="Verdana"/>
              <a:sym typeface="Verdana"/>
            </a:endParaRPr>
          </a:p>
          <a:p>
            <a:pPr indent="0" lvl="0" marL="469900" marR="0" rtl="0" algn="just">
              <a:lnSpc>
                <a:spcPct val="100000"/>
              </a:lnSpc>
              <a:spcBef>
                <a:spcPts val="580"/>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Times New Roman"/>
                <a:ea typeface="Times New Roman"/>
                <a:cs typeface="Times New Roman"/>
                <a:sym typeface="Times New Roman"/>
              </a:rPr>
              <a:t>Random access- data can be quickly read and modified in any order</a:t>
            </a:r>
            <a:endParaRPr sz="2400">
              <a:solidFill>
                <a:schemeClr val="dk1"/>
              </a:solidFill>
              <a:latin typeface="Times New Roman"/>
              <a:ea typeface="Times New Roman"/>
              <a:cs typeface="Times New Roman"/>
              <a:sym typeface="Times New Roman"/>
            </a:endParaRPr>
          </a:p>
          <a:p>
            <a:pPr indent="0" lvl="0" marL="469900" marR="0" rtl="0" algn="just">
              <a:lnSpc>
                <a:spcPct val="100000"/>
              </a:lnSpc>
              <a:spcBef>
                <a:spcPts val="580"/>
              </a:spcBef>
              <a:spcAft>
                <a:spcPts val="0"/>
              </a:spcAft>
              <a:buNone/>
            </a:pPr>
            <a:r>
              <a:rPr lang="en-US" sz="2400">
                <a:solidFill>
                  <a:srgbClr val="FF0000"/>
                </a:solidFill>
                <a:latin typeface="Times New Roman"/>
                <a:ea typeface="Times New Roman"/>
                <a:cs typeface="Times New Roman"/>
                <a:sym typeface="Times New Roman"/>
              </a:rPr>
              <a:t>—</a:t>
            </a:r>
            <a:r>
              <a:rPr lang="en-US" sz="2400">
                <a:solidFill>
                  <a:schemeClr val="dk1"/>
                </a:solidFill>
                <a:latin typeface="Times New Roman"/>
                <a:ea typeface="Times New Roman"/>
                <a:cs typeface="Times New Roman"/>
                <a:sym typeface="Times New Roman"/>
              </a:rPr>
              <a:t>Read/Write-it is possible both to read data from the memory and to write new data into the memory easily and rapidly</a:t>
            </a:r>
            <a:endParaRPr sz="2400">
              <a:solidFill>
                <a:schemeClr val="dk1"/>
              </a:solidFill>
              <a:latin typeface="Times New Roman"/>
              <a:ea typeface="Times New Roman"/>
              <a:cs typeface="Times New Roman"/>
              <a:sym typeface="Times New Roman"/>
            </a:endParaRPr>
          </a:p>
          <a:p>
            <a:pPr indent="0" lvl="0" marL="469900" marR="0" rtl="0" algn="l">
              <a:lnSpc>
                <a:spcPct val="100000"/>
              </a:lnSpc>
              <a:spcBef>
                <a:spcPts val="575"/>
              </a:spcBef>
              <a:spcAft>
                <a:spcPts val="0"/>
              </a:spcAft>
              <a:buNone/>
            </a:pPr>
            <a:r>
              <a:rPr lang="en-US" sz="2400">
                <a:solidFill>
                  <a:srgbClr val="FF0000"/>
                </a:solidFill>
                <a:latin typeface="Times New Roman"/>
                <a:ea typeface="Times New Roman"/>
                <a:cs typeface="Times New Roman"/>
                <a:sym typeface="Times New Roman"/>
              </a:rPr>
              <a:t>—</a:t>
            </a:r>
            <a:r>
              <a:rPr lang="en-US" sz="2400">
                <a:solidFill>
                  <a:schemeClr val="dk1"/>
                </a:solidFill>
                <a:latin typeface="Times New Roman"/>
                <a:ea typeface="Times New Roman"/>
                <a:cs typeface="Times New Roman"/>
                <a:sym typeface="Times New Roman"/>
              </a:rPr>
              <a:t>Volatile-If the power is interrupted, then the data are lost.</a:t>
            </a:r>
            <a:endParaRPr sz="2400">
              <a:solidFill>
                <a:schemeClr val="dk1"/>
              </a:solidFill>
              <a:latin typeface="Times New Roman"/>
              <a:ea typeface="Times New Roman"/>
              <a:cs typeface="Times New Roman"/>
              <a:sym typeface="Times New Roman"/>
            </a:endParaRPr>
          </a:p>
          <a:p>
            <a:pPr indent="0" lvl="0" marL="469900" marR="0" rtl="0" algn="l">
              <a:lnSpc>
                <a:spcPct val="100000"/>
              </a:lnSpc>
              <a:spcBef>
                <a:spcPts val="580"/>
              </a:spcBef>
              <a:spcAft>
                <a:spcPts val="0"/>
              </a:spcAft>
              <a:buNone/>
            </a:pPr>
            <a:r>
              <a:rPr lang="en-US" sz="2400">
                <a:solidFill>
                  <a:srgbClr val="FF0000"/>
                </a:solidFill>
                <a:latin typeface="Times New Roman"/>
                <a:ea typeface="Times New Roman"/>
                <a:cs typeface="Times New Roman"/>
                <a:sym typeface="Times New Roman"/>
              </a:rPr>
              <a:t>—</a:t>
            </a:r>
            <a:r>
              <a:rPr lang="en-US" sz="2400">
                <a:solidFill>
                  <a:schemeClr val="dk1"/>
                </a:solidFill>
                <a:latin typeface="Times New Roman"/>
                <a:ea typeface="Times New Roman"/>
                <a:cs typeface="Times New Roman"/>
                <a:sym typeface="Times New Roman"/>
              </a:rPr>
              <a:t>Temporary storage</a:t>
            </a:r>
            <a:endParaRPr sz="2400">
              <a:solidFill>
                <a:schemeClr val="dk1"/>
              </a:solidFill>
              <a:latin typeface="Times New Roman"/>
              <a:ea typeface="Times New Roman"/>
              <a:cs typeface="Times New Roman"/>
              <a:sym typeface="Times New Roman"/>
            </a:endParaRPr>
          </a:p>
          <a:p>
            <a:pPr indent="0" lvl="0" marL="469900" marR="0" rtl="0" algn="l">
              <a:lnSpc>
                <a:spcPct val="100000"/>
              </a:lnSpc>
              <a:spcBef>
                <a:spcPts val="575"/>
              </a:spcBef>
              <a:spcAft>
                <a:spcPts val="0"/>
              </a:spcAft>
              <a:buNone/>
            </a:pPr>
            <a:r>
              <a:rPr lang="en-US" sz="2400">
                <a:solidFill>
                  <a:srgbClr val="FF0000"/>
                </a:solidFill>
                <a:latin typeface="Times New Roman"/>
                <a:ea typeface="Times New Roman"/>
                <a:cs typeface="Times New Roman"/>
                <a:sym typeface="Times New Roman"/>
              </a:rPr>
              <a:t>—</a:t>
            </a:r>
            <a:r>
              <a:rPr lang="en-US" sz="2400">
                <a:solidFill>
                  <a:schemeClr val="dk1"/>
                </a:solidFill>
                <a:latin typeface="Times New Roman"/>
                <a:ea typeface="Times New Roman"/>
                <a:cs typeface="Times New Roman"/>
                <a:sym typeface="Times New Roman"/>
              </a:rPr>
              <a:t>Static or dynamic RAM</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8"/>
          <p:cNvSpPr txBox="1"/>
          <p:nvPr>
            <p:ph idx="1" type="body"/>
          </p:nvPr>
        </p:nvSpPr>
        <p:spPr>
          <a:xfrm>
            <a:off x="525144" y="1188465"/>
            <a:ext cx="8093710" cy="3141886"/>
          </a:xfrm>
          <a:prstGeom prst="rect">
            <a:avLst/>
          </a:prstGeom>
          <a:noFill/>
          <a:ln>
            <a:noFill/>
          </a:ln>
        </p:spPr>
        <p:txBody>
          <a:bodyPr anchorCtr="0" anchor="t" bIns="0" lIns="0" spcFirstLastPara="1" rIns="0" wrap="square" tIns="0">
            <a:spAutoFit/>
          </a:bodyPr>
          <a:lstStyle/>
          <a:p>
            <a:pPr indent="-343535" lvl="0" marL="355600" rtl="0" algn="just">
              <a:lnSpc>
                <a:spcPct val="100000"/>
              </a:lnSpc>
              <a:spcBef>
                <a:spcPts val="0"/>
              </a:spcBef>
              <a:spcAft>
                <a:spcPts val="0"/>
              </a:spcAft>
              <a:buClr>
                <a:srgbClr val="FF0000"/>
              </a:buClr>
              <a:buSzPts val="2000"/>
              <a:buFont typeface="Verdana"/>
              <a:buChar char="•"/>
            </a:pPr>
            <a:r>
              <a:rPr lang="en-US"/>
              <a:t>Bits stored as </a:t>
            </a:r>
            <a:r>
              <a:rPr lang="en-US">
                <a:solidFill>
                  <a:srgbClr val="FF0000"/>
                </a:solidFill>
              </a:rPr>
              <a:t>charge in capacitors</a:t>
            </a:r>
            <a:endParaRPr/>
          </a:p>
          <a:p>
            <a:pPr indent="-343535" lvl="0" marL="355600" rtl="0" algn="just">
              <a:lnSpc>
                <a:spcPct val="100000"/>
              </a:lnSpc>
              <a:spcBef>
                <a:spcPts val="775"/>
              </a:spcBef>
              <a:spcAft>
                <a:spcPts val="0"/>
              </a:spcAft>
              <a:buClr>
                <a:srgbClr val="FF0000"/>
              </a:buClr>
              <a:buSzPts val="2000"/>
              <a:buFont typeface="Verdana"/>
              <a:buChar char="•"/>
            </a:pPr>
            <a:r>
              <a:rPr lang="en-US"/>
              <a:t>absence of charge in a capacitor is interpreted as a </a:t>
            </a:r>
            <a:r>
              <a:rPr b="1" lang="en-US"/>
              <a:t>binary 1 or 0.</a:t>
            </a:r>
            <a:endParaRPr/>
          </a:p>
          <a:p>
            <a:pPr indent="-343535" lvl="0" marL="355600" rtl="0" algn="just">
              <a:lnSpc>
                <a:spcPct val="100000"/>
              </a:lnSpc>
              <a:spcBef>
                <a:spcPts val="675"/>
              </a:spcBef>
              <a:spcAft>
                <a:spcPts val="0"/>
              </a:spcAft>
              <a:buClr>
                <a:srgbClr val="FF0000"/>
              </a:buClr>
              <a:buSzPts val="2000"/>
              <a:buFont typeface="Verdana"/>
              <a:buChar char="•"/>
            </a:pPr>
            <a:r>
              <a:rPr b="1" lang="en-US"/>
              <a:t>Charges leak</a:t>
            </a:r>
            <a:r>
              <a:rPr lang="en-US"/>
              <a:t>-capacitors have a natural tendency to discharge, dynamic RAMs require periodic charge refreshing to maintain data storage</a:t>
            </a:r>
            <a:endParaRPr/>
          </a:p>
          <a:p>
            <a:pPr indent="-343535" lvl="0" marL="355600" rtl="0" algn="just">
              <a:lnSpc>
                <a:spcPct val="100000"/>
              </a:lnSpc>
              <a:spcBef>
                <a:spcPts val="670"/>
              </a:spcBef>
              <a:spcAft>
                <a:spcPts val="0"/>
              </a:spcAft>
              <a:buClr>
                <a:srgbClr val="FF0000"/>
              </a:buClr>
              <a:buSzPts val="2000"/>
              <a:buFont typeface="Verdana"/>
              <a:buChar char="•"/>
            </a:pPr>
            <a:r>
              <a:rPr lang="en-US"/>
              <a:t>Need </a:t>
            </a:r>
            <a:r>
              <a:rPr b="1" lang="en-US"/>
              <a:t>refreshing </a:t>
            </a:r>
            <a:r>
              <a:rPr lang="en-US"/>
              <a:t>even when powered</a:t>
            </a:r>
            <a:endParaRPr/>
          </a:p>
          <a:p>
            <a:pPr indent="-343535" lvl="0" marL="355600" rtl="0" algn="just">
              <a:lnSpc>
                <a:spcPct val="100000"/>
              </a:lnSpc>
              <a:spcBef>
                <a:spcPts val="675"/>
              </a:spcBef>
              <a:spcAft>
                <a:spcPts val="0"/>
              </a:spcAft>
              <a:buClr>
                <a:srgbClr val="FF0000"/>
              </a:buClr>
              <a:buSzPts val="2000"/>
              <a:buFont typeface="Verdana"/>
              <a:buChar char="•"/>
            </a:pPr>
            <a:r>
              <a:rPr lang="en-US"/>
              <a:t>Simpler construction</a:t>
            </a:r>
            <a:endParaRPr/>
          </a:p>
          <a:p>
            <a:pPr indent="-215900" lvl="0" marL="342900" rtl="0" algn="l">
              <a:spcBef>
                <a:spcPts val="0"/>
              </a:spcBef>
              <a:spcAft>
                <a:spcPts val="0"/>
              </a:spcAft>
              <a:buClr>
                <a:schemeClr val="dk1"/>
              </a:buClr>
              <a:buSzPts val="2000"/>
              <a:buFont typeface="Arial"/>
              <a:buNone/>
            </a:pPr>
            <a:r>
              <a:t/>
            </a:r>
            <a:endParaRPr/>
          </a:p>
        </p:txBody>
      </p:sp>
      <p:sp>
        <p:nvSpPr>
          <p:cNvPr id="219" name="Google Shape;219;p28"/>
          <p:cNvSpPr txBox="1"/>
          <p:nvPr>
            <p:ph type="title"/>
          </p:nvPr>
        </p:nvSpPr>
        <p:spPr>
          <a:xfrm>
            <a:off x="1143000" y="381000"/>
            <a:ext cx="7515656" cy="44307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Dynamic RAM</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9"/>
          <p:cNvSpPr txBox="1"/>
          <p:nvPr>
            <p:ph type="title"/>
          </p:nvPr>
        </p:nvSpPr>
        <p:spPr>
          <a:xfrm>
            <a:off x="688354" y="255475"/>
            <a:ext cx="6453300" cy="4431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Dynamic RAM Structure</a:t>
            </a:r>
            <a:endParaRPr/>
          </a:p>
        </p:txBody>
      </p:sp>
      <p:pic>
        <p:nvPicPr>
          <p:cNvPr id="226" name="Google Shape;226;p29"/>
          <p:cNvPicPr preferRelativeResize="0"/>
          <p:nvPr/>
        </p:nvPicPr>
        <p:blipFill rotWithShape="1">
          <a:blip r:embed="rId3">
            <a:alphaModFix/>
          </a:blip>
          <a:srcRect b="0" l="0" r="0" t="0"/>
          <a:stretch/>
        </p:blipFill>
        <p:spPr>
          <a:xfrm>
            <a:off x="914400" y="1143000"/>
            <a:ext cx="5090374" cy="5378230"/>
          </a:xfrm>
          <a:prstGeom prst="rect">
            <a:avLst/>
          </a:prstGeom>
          <a:noFill/>
          <a:ln>
            <a:noFill/>
          </a:ln>
        </p:spPr>
      </p:pic>
      <p:sp>
        <p:nvSpPr>
          <p:cNvPr id="227" name="Google Shape;227;p29"/>
          <p:cNvSpPr txBox="1"/>
          <p:nvPr/>
        </p:nvSpPr>
        <p:spPr>
          <a:xfrm>
            <a:off x="6324600" y="2057400"/>
            <a:ext cx="2133600" cy="1477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typical DRAM structure for an individual cell that stores one</a:t>
            </a:r>
            <a:endParaRPr/>
          </a:p>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bit.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0"/>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233" name="Google Shape;233;p30"/>
          <p:cNvSpPr txBox="1"/>
          <p:nvPr>
            <p:ph idx="1" type="body"/>
          </p:nvPr>
        </p:nvSpPr>
        <p:spPr>
          <a:xfrm>
            <a:off x="525144" y="1188465"/>
            <a:ext cx="8093710" cy="4093428"/>
          </a:xfrm>
          <a:prstGeom prst="rect">
            <a:avLst/>
          </a:prstGeom>
          <a:noFill/>
          <a:ln>
            <a:noFill/>
          </a:ln>
        </p:spPr>
        <p:txBody>
          <a:bodyPr anchorCtr="0" anchor="t" bIns="0" lIns="0" spcFirstLastPara="1" rIns="0" wrap="square" tIns="0">
            <a:spAutoFit/>
          </a:bodyPr>
          <a:lstStyle/>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The </a:t>
            </a:r>
            <a:r>
              <a:rPr b="1" lang="en-US">
                <a:latin typeface="Times New Roman"/>
                <a:ea typeface="Times New Roman"/>
                <a:cs typeface="Times New Roman"/>
                <a:sym typeface="Times New Roman"/>
              </a:rPr>
              <a:t>address line is activated </a:t>
            </a:r>
            <a:r>
              <a:rPr lang="en-US">
                <a:latin typeface="Times New Roman"/>
                <a:ea typeface="Times New Roman"/>
                <a:cs typeface="Times New Roman"/>
                <a:sym typeface="Times New Roman"/>
              </a:rPr>
              <a:t>when the bit value from this cell is to be </a:t>
            </a:r>
            <a:r>
              <a:rPr b="1" lang="en-US">
                <a:latin typeface="Times New Roman"/>
                <a:ea typeface="Times New Roman"/>
                <a:cs typeface="Times New Roman"/>
                <a:sym typeface="Times New Roman"/>
              </a:rPr>
              <a:t>read or written. </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The transistor acts as a </a:t>
            </a:r>
            <a:r>
              <a:rPr lang="en-US">
                <a:solidFill>
                  <a:srgbClr val="FF0000"/>
                </a:solidFill>
                <a:latin typeface="Times New Roman"/>
                <a:ea typeface="Times New Roman"/>
                <a:cs typeface="Times New Roman"/>
                <a:sym typeface="Times New Roman"/>
              </a:rPr>
              <a:t>switch that is closed </a:t>
            </a:r>
            <a:r>
              <a:rPr lang="en-US">
                <a:latin typeface="Times New Roman"/>
                <a:ea typeface="Times New Roman"/>
                <a:cs typeface="Times New Roman"/>
                <a:sym typeface="Times New Roman"/>
              </a:rPr>
              <a:t>(allowing current to flow) if a </a:t>
            </a:r>
            <a:r>
              <a:rPr lang="en-US">
                <a:solidFill>
                  <a:srgbClr val="FF0000"/>
                </a:solidFill>
                <a:latin typeface="Times New Roman"/>
                <a:ea typeface="Times New Roman"/>
                <a:cs typeface="Times New Roman"/>
                <a:sym typeface="Times New Roman"/>
              </a:rPr>
              <a:t>voltage is applied to the address line </a:t>
            </a:r>
            <a:r>
              <a:rPr lang="en-US">
                <a:latin typeface="Times New Roman"/>
                <a:ea typeface="Times New Roman"/>
                <a:cs typeface="Times New Roman"/>
                <a:sym typeface="Times New Roman"/>
              </a:rPr>
              <a:t>and open (no current flows) if no voltage is present on the address line.</a:t>
            </a:r>
            <a:endParaRPr/>
          </a:p>
          <a:p>
            <a:pPr indent="-342900" lvl="1" marL="800100" rtl="0" algn="just">
              <a:spcBef>
                <a:spcPts val="0"/>
              </a:spcBef>
              <a:spcAft>
                <a:spcPts val="0"/>
              </a:spcAft>
              <a:buSzPts val="1800"/>
              <a:buFont typeface="Arial"/>
              <a:buChar char="•"/>
            </a:pPr>
            <a:r>
              <a:rPr lang="en-US">
                <a:latin typeface="Times New Roman"/>
                <a:ea typeface="Times New Roman"/>
                <a:cs typeface="Times New Roman"/>
                <a:sym typeface="Times New Roman"/>
              </a:rPr>
              <a:t>For the </a:t>
            </a:r>
            <a:r>
              <a:rPr b="1" lang="en-US">
                <a:latin typeface="Times New Roman"/>
                <a:ea typeface="Times New Roman"/>
                <a:cs typeface="Times New Roman"/>
                <a:sym typeface="Times New Roman"/>
              </a:rPr>
              <a:t>write operation, a voltage signal is applied to the bit line</a:t>
            </a:r>
            <a:r>
              <a:rPr lang="en-US">
                <a:latin typeface="Times New Roman"/>
                <a:ea typeface="Times New Roman"/>
                <a:cs typeface="Times New Roman"/>
                <a:sym typeface="Times New Roman"/>
              </a:rPr>
              <a:t>; a high voltage represents 1, and a low voltage represents 0. </a:t>
            </a:r>
            <a:endParaRPr/>
          </a:p>
          <a:p>
            <a:pPr indent="-342900" lvl="1" marL="800100" rtl="0" algn="just">
              <a:spcBef>
                <a:spcPts val="0"/>
              </a:spcBef>
              <a:spcAft>
                <a:spcPts val="0"/>
              </a:spcAft>
              <a:buSzPts val="1800"/>
              <a:buFont typeface="Arial"/>
              <a:buChar char="•"/>
            </a:pPr>
            <a:r>
              <a:rPr b="1" lang="en-US">
                <a:latin typeface="Times New Roman"/>
                <a:ea typeface="Times New Roman"/>
                <a:cs typeface="Times New Roman"/>
                <a:sym typeface="Times New Roman"/>
              </a:rPr>
              <a:t>A signal is then applied to the address line, allowing a charge to be transferred to the capacitor</a:t>
            </a:r>
            <a:endParaRPr/>
          </a:p>
          <a:p>
            <a:pPr indent="-342900" lvl="1" marL="800100" rtl="0" algn="just">
              <a:spcBef>
                <a:spcPts val="0"/>
              </a:spcBef>
              <a:spcAft>
                <a:spcPts val="0"/>
              </a:spcAft>
              <a:buSzPts val="1800"/>
              <a:buFont typeface="Arial"/>
              <a:buChar char="•"/>
            </a:pPr>
            <a:r>
              <a:rPr lang="en-US">
                <a:latin typeface="Times New Roman"/>
                <a:ea typeface="Times New Roman"/>
                <a:cs typeface="Times New Roman"/>
                <a:sym typeface="Times New Roman"/>
              </a:rPr>
              <a:t>For the read operation, when the address line is selected, the transistor turns on and the charge stored on the capacitor is fed out onto a bit line and to a sense amplifier</a:t>
            </a:r>
            <a:endParaRPr/>
          </a:p>
          <a:p>
            <a:pPr indent="-342900" lvl="1" marL="800100" rtl="0" algn="just">
              <a:spcBef>
                <a:spcPts val="0"/>
              </a:spcBef>
              <a:spcAft>
                <a:spcPts val="0"/>
              </a:spcAft>
              <a:buSzPts val="1800"/>
              <a:buFont typeface="Arial"/>
              <a:buChar char="•"/>
            </a:pPr>
            <a:r>
              <a:rPr lang="en-US">
                <a:latin typeface="Times New Roman"/>
                <a:ea typeface="Times New Roman"/>
                <a:cs typeface="Times New Roman"/>
                <a:sym typeface="Times New Roman"/>
              </a:rPr>
              <a:t>The sense amplifier compares the capacitor voltage to a reference value and determines if the cell contains a logic 1 or a logic 0.</a:t>
            </a:r>
            <a:endParaRPr>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type="title"/>
          </p:nvPr>
        </p:nvSpPr>
        <p:spPr>
          <a:xfrm>
            <a:off x="485343" y="484073"/>
            <a:ext cx="2708910"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Dynamic RAM</a:t>
            </a:r>
            <a:endParaRPr/>
          </a:p>
        </p:txBody>
      </p:sp>
      <p:sp>
        <p:nvSpPr>
          <p:cNvPr id="239" name="Google Shape;239;p31"/>
          <p:cNvSpPr txBox="1"/>
          <p:nvPr/>
        </p:nvSpPr>
        <p:spPr>
          <a:xfrm>
            <a:off x="535940" y="1012215"/>
            <a:ext cx="7181850" cy="3059171"/>
          </a:xfrm>
          <a:prstGeom prst="rect">
            <a:avLst/>
          </a:prstGeom>
          <a:noFill/>
          <a:ln>
            <a:noFill/>
          </a:ln>
        </p:spPr>
        <p:txBody>
          <a:bodyPr anchorCtr="0" anchor="t" bIns="0" lIns="0" spcFirstLastPara="1" rIns="0" wrap="square" tIns="98425">
            <a:spAutoFit/>
          </a:bodyPr>
          <a:lstStyle/>
          <a:p>
            <a:pPr indent="-343535" lvl="0" marL="355600" marR="0" rtl="0" algn="l">
              <a:lnSpc>
                <a:spcPct val="100000"/>
              </a:lnSpc>
              <a:spcBef>
                <a:spcPts val="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Less expensive</a:t>
            </a:r>
            <a:endParaRPr sz="2800">
              <a:solidFill>
                <a:schemeClr val="dk1"/>
              </a:solidFill>
              <a:latin typeface="Verdana"/>
              <a:ea typeface="Verdana"/>
              <a:cs typeface="Verdana"/>
              <a:sym typeface="Verdana"/>
            </a:endParaRPr>
          </a:p>
          <a:p>
            <a:pPr indent="-343535" lvl="0" marL="355600" marR="0" rtl="0" algn="l">
              <a:lnSpc>
                <a:spcPct val="100000"/>
              </a:lnSpc>
              <a:spcBef>
                <a:spcPts val="67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Need refresh circuits</a:t>
            </a:r>
            <a:endParaRPr sz="2800">
              <a:solidFill>
                <a:schemeClr val="dk1"/>
              </a:solidFill>
              <a:latin typeface="Verdana"/>
              <a:ea typeface="Verdana"/>
              <a:cs typeface="Verdana"/>
              <a:sym typeface="Verdana"/>
            </a:endParaRPr>
          </a:p>
          <a:p>
            <a:pPr indent="-343535" lvl="0" marL="355600" marR="0" rtl="0" algn="l">
              <a:lnSpc>
                <a:spcPct val="100000"/>
              </a:lnSpc>
              <a:spcBef>
                <a:spcPts val="67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Slower</a:t>
            </a:r>
            <a:endParaRPr sz="2800">
              <a:solidFill>
                <a:schemeClr val="dk1"/>
              </a:solidFill>
              <a:latin typeface="Verdana"/>
              <a:ea typeface="Verdana"/>
              <a:cs typeface="Verdana"/>
              <a:sym typeface="Verdana"/>
            </a:endParaRPr>
          </a:p>
          <a:p>
            <a:pPr indent="-343535" lvl="0" marL="355600" marR="0" rtl="0" algn="l">
              <a:lnSpc>
                <a:spcPct val="100000"/>
              </a:lnSpc>
              <a:spcBef>
                <a:spcPts val="67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Main memory</a:t>
            </a:r>
            <a:endParaRPr sz="2800">
              <a:solidFill>
                <a:schemeClr val="dk1"/>
              </a:solidFill>
              <a:latin typeface="Verdana"/>
              <a:ea typeface="Verdana"/>
              <a:cs typeface="Verdana"/>
              <a:sym typeface="Verdana"/>
            </a:endParaRPr>
          </a:p>
          <a:p>
            <a:pPr indent="-343535" lvl="0" marL="355600" marR="0" rtl="0" algn="l">
              <a:lnSpc>
                <a:spcPct val="100000"/>
              </a:lnSpc>
              <a:spcBef>
                <a:spcPts val="67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Essentially analog</a:t>
            </a:r>
            <a:endParaRPr sz="2800">
              <a:solidFill>
                <a:schemeClr val="dk1"/>
              </a:solidFill>
              <a:latin typeface="Verdana"/>
              <a:ea typeface="Verdana"/>
              <a:cs typeface="Verdana"/>
              <a:sym typeface="Verdana"/>
            </a:endParaRPr>
          </a:p>
          <a:p>
            <a:pPr indent="0" lvl="0" marL="469900" marR="0" rtl="0" algn="l">
              <a:lnSpc>
                <a:spcPct val="100000"/>
              </a:lnSpc>
              <a:spcBef>
                <a:spcPts val="580"/>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Level of charge determines value</a:t>
            </a:r>
            <a:endParaRPr sz="2400">
              <a:solidFill>
                <a:schemeClr val="dk1"/>
              </a:solidFill>
              <a:latin typeface="Verdana"/>
              <a:ea typeface="Verdana"/>
              <a:cs typeface="Verdana"/>
              <a:sym typeface="Verdana"/>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2"/>
          <p:cNvSpPr txBox="1"/>
          <p:nvPr>
            <p:ph type="title"/>
          </p:nvPr>
        </p:nvSpPr>
        <p:spPr>
          <a:xfrm>
            <a:off x="688340" y="331673"/>
            <a:ext cx="4150995"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Static RAM Structure</a:t>
            </a:r>
            <a:endParaRPr/>
          </a:p>
        </p:txBody>
      </p:sp>
      <p:pic>
        <p:nvPicPr>
          <p:cNvPr id="245" name="Google Shape;245;p32"/>
          <p:cNvPicPr preferRelativeResize="0"/>
          <p:nvPr/>
        </p:nvPicPr>
        <p:blipFill rotWithShape="1">
          <a:blip r:embed="rId3">
            <a:alphaModFix/>
          </a:blip>
          <a:srcRect b="0" l="0" r="0" t="0"/>
          <a:stretch/>
        </p:blipFill>
        <p:spPr>
          <a:xfrm>
            <a:off x="1772380" y="1233968"/>
            <a:ext cx="5681974" cy="554463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3"/>
          <p:cNvSpPr txBox="1"/>
          <p:nvPr>
            <p:ph idx="1" type="body"/>
          </p:nvPr>
        </p:nvSpPr>
        <p:spPr>
          <a:xfrm>
            <a:off x="525144" y="1188465"/>
            <a:ext cx="8093710" cy="1231106"/>
          </a:xfrm>
          <a:prstGeom prst="rect">
            <a:avLst/>
          </a:prstGeom>
          <a:noFill/>
          <a:ln>
            <a:noFill/>
          </a:ln>
        </p:spPr>
        <p:txBody>
          <a:bodyPr anchorCtr="0" anchor="t" bIns="0" lIns="0" spcFirstLastPara="1" rIns="0" wrap="square" tIns="0">
            <a:spAutoFit/>
          </a:bodyPr>
          <a:lstStyle/>
          <a:p>
            <a:pPr indent="-342900" lvl="0" marL="342900" rtl="0" algn="l">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In a SRAM, binary values are stored using traditional flip-flop logic-gate configurations </a:t>
            </a:r>
            <a:endParaRPr/>
          </a:p>
          <a:p>
            <a:pPr indent="-342900" lvl="0" marL="342900" rtl="0" algn="l">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A static RAM will hold its data as long as power is supplied to it.</a:t>
            </a:r>
            <a:endParaRPr/>
          </a:p>
          <a:p>
            <a:pPr indent="-215900" lvl="0" marL="342900" rtl="0" algn="l">
              <a:spcBef>
                <a:spcPts val="0"/>
              </a:spcBef>
              <a:spcAft>
                <a:spcPts val="0"/>
              </a:spcAft>
              <a:buClr>
                <a:schemeClr val="dk1"/>
              </a:buClr>
              <a:buSzPts val="2000"/>
              <a:buFont typeface="Arial"/>
              <a:buNone/>
            </a:pPr>
            <a:r>
              <a:t/>
            </a:r>
            <a:endParaRPr>
              <a:latin typeface="Times New Roman"/>
              <a:ea typeface="Times New Roman"/>
              <a:cs typeface="Times New Roman"/>
              <a:sym typeface="Times New Roman"/>
            </a:endParaRPr>
          </a:p>
        </p:txBody>
      </p:sp>
      <p:sp>
        <p:nvSpPr>
          <p:cNvPr id="251" name="Google Shape;251;p33"/>
          <p:cNvSpPr txBox="1"/>
          <p:nvPr>
            <p:ph type="title"/>
          </p:nvPr>
        </p:nvSpPr>
        <p:spPr>
          <a:xfrm>
            <a:off x="533400" y="228600"/>
            <a:ext cx="8173313" cy="44307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Static RAM</a:t>
            </a:r>
            <a:endParaRPr/>
          </a:p>
        </p:txBody>
      </p:sp>
      <p:pic>
        <p:nvPicPr>
          <p:cNvPr id="252" name="Google Shape;252;p33"/>
          <p:cNvPicPr preferRelativeResize="0"/>
          <p:nvPr/>
        </p:nvPicPr>
        <p:blipFill rotWithShape="1">
          <a:blip r:embed="rId3">
            <a:alphaModFix/>
          </a:blip>
          <a:srcRect b="0" l="0" r="0" t="0"/>
          <a:stretch/>
        </p:blipFill>
        <p:spPr>
          <a:xfrm>
            <a:off x="1828800" y="2286000"/>
            <a:ext cx="5681974" cy="395919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4"/>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258" name="Google Shape;258;p34"/>
          <p:cNvSpPr txBox="1"/>
          <p:nvPr>
            <p:ph idx="1" type="body"/>
          </p:nvPr>
        </p:nvSpPr>
        <p:spPr>
          <a:xfrm>
            <a:off x="533400" y="1600200"/>
            <a:ext cx="8093710" cy="3323987"/>
          </a:xfrm>
          <a:prstGeom prst="rect">
            <a:avLst/>
          </a:prstGeom>
          <a:noFill/>
          <a:ln>
            <a:noFill/>
          </a:ln>
        </p:spPr>
        <p:txBody>
          <a:bodyPr anchorCtr="0" anchor="t" bIns="0" lIns="0" spcFirstLastPara="1" rIns="0" wrap="square" tIns="0">
            <a:spAutoFit/>
          </a:bodyPr>
          <a:lstStyle/>
          <a:p>
            <a:pPr indent="-342900" lvl="0" marL="34290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SRAM address line is used to open or close a switch.</a:t>
            </a:r>
            <a:endParaRPr/>
          </a:p>
          <a:p>
            <a:pPr indent="-342900" lvl="0" marL="34290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The address line controls two transistors (T5 and T6). </a:t>
            </a:r>
            <a:endParaRPr/>
          </a:p>
          <a:p>
            <a:pPr indent="-342900" lvl="0" marL="34290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When a signal is applied to this line, the two transistors are switched on, allowing a read or write operation. </a:t>
            </a:r>
            <a:endParaRPr/>
          </a:p>
          <a:p>
            <a:pPr indent="-342900" lvl="0" marL="34290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For a write operation, the desired bit value is applied to line B, while its complement is applied to line B. </a:t>
            </a:r>
            <a:endParaRPr/>
          </a:p>
          <a:p>
            <a:pPr indent="-342900" lvl="0" marL="34290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This forces the four transistors (T1, T2, T3, T4) into the proper state. </a:t>
            </a:r>
            <a:endParaRPr/>
          </a:p>
          <a:p>
            <a:pPr indent="-342900" lvl="0" marL="34290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For a read operation, the bit value is read from line B.</a:t>
            </a:r>
            <a:endParaRPr sz="2400">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5"/>
          <p:cNvSpPr txBox="1"/>
          <p:nvPr>
            <p:ph type="title"/>
          </p:nvPr>
        </p:nvSpPr>
        <p:spPr>
          <a:xfrm>
            <a:off x="485343" y="484073"/>
            <a:ext cx="4224655"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Static RAM Operation</a:t>
            </a:r>
            <a:endParaRPr/>
          </a:p>
        </p:txBody>
      </p:sp>
      <p:sp>
        <p:nvSpPr>
          <p:cNvPr id="264" name="Google Shape;264;p35"/>
          <p:cNvSpPr txBox="1"/>
          <p:nvPr/>
        </p:nvSpPr>
        <p:spPr>
          <a:xfrm>
            <a:off x="510540" y="1011180"/>
            <a:ext cx="7834630" cy="5257800"/>
          </a:xfrm>
          <a:prstGeom prst="rect">
            <a:avLst/>
          </a:prstGeom>
          <a:noFill/>
          <a:ln>
            <a:noFill/>
          </a:ln>
        </p:spPr>
        <p:txBody>
          <a:bodyPr anchorCtr="0" anchor="t" bIns="0" lIns="0" spcFirstLastPara="1" rIns="0" wrap="square" tIns="12050">
            <a:spAutoFit/>
          </a:bodyPr>
          <a:lstStyle/>
          <a:p>
            <a:pPr indent="-343535" lvl="0" marL="381000" marR="30480" rtl="0" algn="l">
              <a:lnSpc>
                <a:spcPct val="150100"/>
              </a:lnSpc>
              <a:spcBef>
                <a:spcPts val="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Transistor arrangement gives stable logic  state</a:t>
            </a:r>
            <a:endParaRPr sz="2800">
              <a:solidFill>
                <a:schemeClr val="dk1"/>
              </a:solidFill>
              <a:latin typeface="Verdana"/>
              <a:ea typeface="Verdana"/>
              <a:cs typeface="Verdana"/>
              <a:sym typeface="Verdana"/>
            </a:endParaRPr>
          </a:p>
          <a:p>
            <a:pPr indent="-343535" lvl="0" marL="381000" marR="0" rtl="0" algn="l">
              <a:lnSpc>
                <a:spcPct val="100000"/>
              </a:lnSpc>
              <a:spcBef>
                <a:spcPts val="235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State 1</a:t>
            </a:r>
            <a:endParaRPr sz="2800">
              <a:solidFill>
                <a:schemeClr val="dk1"/>
              </a:solidFill>
              <a:latin typeface="Verdana"/>
              <a:ea typeface="Verdana"/>
              <a:cs typeface="Verdana"/>
              <a:sym typeface="Verdana"/>
            </a:endParaRPr>
          </a:p>
          <a:p>
            <a:pPr indent="0" lvl="0" marL="495300" marR="0" rtl="0" algn="l">
              <a:lnSpc>
                <a:spcPct val="100000"/>
              </a:lnSpc>
              <a:spcBef>
                <a:spcPts val="2120"/>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C</a:t>
            </a:r>
            <a:r>
              <a:rPr baseline="-25000" lang="en-US" sz="2400">
                <a:solidFill>
                  <a:schemeClr val="dk1"/>
                </a:solidFill>
                <a:latin typeface="Verdana"/>
                <a:ea typeface="Verdana"/>
                <a:cs typeface="Verdana"/>
                <a:sym typeface="Verdana"/>
              </a:rPr>
              <a:t>1 </a:t>
            </a:r>
            <a:r>
              <a:rPr lang="en-US" sz="2400">
                <a:solidFill>
                  <a:schemeClr val="dk1"/>
                </a:solidFill>
                <a:latin typeface="Verdana"/>
                <a:ea typeface="Verdana"/>
                <a:cs typeface="Verdana"/>
                <a:sym typeface="Verdana"/>
              </a:rPr>
              <a:t>high, C</a:t>
            </a:r>
            <a:r>
              <a:rPr baseline="-25000" lang="en-US" sz="2400">
                <a:solidFill>
                  <a:schemeClr val="dk1"/>
                </a:solidFill>
                <a:latin typeface="Verdana"/>
                <a:ea typeface="Verdana"/>
                <a:cs typeface="Verdana"/>
                <a:sym typeface="Verdana"/>
              </a:rPr>
              <a:t>2 </a:t>
            </a:r>
            <a:r>
              <a:rPr lang="en-US" sz="2400">
                <a:solidFill>
                  <a:schemeClr val="dk1"/>
                </a:solidFill>
                <a:latin typeface="Verdana"/>
                <a:ea typeface="Verdana"/>
                <a:cs typeface="Verdana"/>
                <a:sym typeface="Verdana"/>
              </a:rPr>
              <a:t>low</a:t>
            </a:r>
            <a:endParaRPr sz="2400">
              <a:solidFill>
                <a:schemeClr val="dk1"/>
              </a:solidFill>
              <a:latin typeface="Verdana"/>
              <a:ea typeface="Verdana"/>
              <a:cs typeface="Verdana"/>
              <a:sym typeface="Verdana"/>
            </a:endParaRPr>
          </a:p>
          <a:p>
            <a:pPr indent="0" lvl="0" marL="495300" marR="0" rtl="0" algn="l">
              <a:lnSpc>
                <a:spcPct val="100000"/>
              </a:lnSpc>
              <a:spcBef>
                <a:spcPts val="2014"/>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T</a:t>
            </a:r>
            <a:r>
              <a:rPr baseline="-25000" lang="en-US" sz="2400">
                <a:solidFill>
                  <a:schemeClr val="dk1"/>
                </a:solidFill>
                <a:latin typeface="Verdana"/>
                <a:ea typeface="Verdana"/>
                <a:cs typeface="Verdana"/>
                <a:sym typeface="Verdana"/>
              </a:rPr>
              <a:t>1 </a:t>
            </a:r>
            <a:r>
              <a:rPr lang="en-US" sz="2400">
                <a:solidFill>
                  <a:schemeClr val="dk1"/>
                </a:solidFill>
                <a:latin typeface="Verdana"/>
                <a:ea typeface="Verdana"/>
                <a:cs typeface="Verdana"/>
                <a:sym typeface="Verdana"/>
              </a:rPr>
              <a:t>T</a:t>
            </a:r>
            <a:r>
              <a:rPr baseline="-25000" lang="en-US" sz="2400">
                <a:solidFill>
                  <a:schemeClr val="dk1"/>
                </a:solidFill>
                <a:latin typeface="Verdana"/>
                <a:ea typeface="Verdana"/>
                <a:cs typeface="Verdana"/>
                <a:sym typeface="Verdana"/>
              </a:rPr>
              <a:t>4 </a:t>
            </a:r>
            <a:r>
              <a:rPr lang="en-US" sz="2400">
                <a:solidFill>
                  <a:schemeClr val="dk1"/>
                </a:solidFill>
                <a:latin typeface="Verdana"/>
                <a:ea typeface="Verdana"/>
                <a:cs typeface="Verdana"/>
                <a:sym typeface="Verdana"/>
              </a:rPr>
              <a:t>off, </a:t>
            </a:r>
            <a:r>
              <a:rPr b="1" lang="en-US" sz="2400">
                <a:solidFill>
                  <a:schemeClr val="dk1"/>
                </a:solidFill>
                <a:latin typeface="Verdana"/>
                <a:ea typeface="Verdana"/>
                <a:cs typeface="Verdana"/>
                <a:sym typeface="Verdana"/>
              </a:rPr>
              <a:t>T</a:t>
            </a:r>
            <a:r>
              <a:rPr b="1" baseline="-25000" lang="en-US" sz="2400">
                <a:solidFill>
                  <a:schemeClr val="dk1"/>
                </a:solidFill>
                <a:latin typeface="Verdana"/>
                <a:ea typeface="Verdana"/>
                <a:cs typeface="Verdana"/>
                <a:sym typeface="Verdana"/>
              </a:rPr>
              <a:t>2 </a:t>
            </a:r>
            <a:r>
              <a:rPr b="1" lang="en-US" sz="2400">
                <a:solidFill>
                  <a:schemeClr val="dk1"/>
                </a:solidFill>
                <a:latin typeface="Verdana"/>
                <a:ea typeface="Verdana"/>
                <a:cs typeface="Verdana"/>
                <a:sym typeface="Verdana"/>
              </a:rPr>
              <a:t>T</a:t>
            </a:r>
            <a:r>
              <a:rPr b="1" baseline="-25000" lang="en-US" sz="2400">
                <a:solidFill>
                  <a:schemeClr val="dk1"/>
                </a:solidFill>
                <a:latin typeface="Verdana"/>
                <a:ea typeface="Verdana"/>
                <a:cs typeface="Verdana"/>
                <a:sym typeface="Verdana"/>
              </a:rPr>
              <a:t>3 </a:t>
            </a:r>
            <a:r>
              <a:rPr b="1" lang="en-US" sz="2400">
                <a:solidFill>
                  <a:schemeClr val="dk1"/>
                </a:solidFill>
                <a:latin typeface="Verdana"/>
                <a:ea typeface="Verdana"/>
                <a:cs typeface="Verdana"/>
                <a:sym typeface="Verdana"/>
              </a:rPr>
              <a:t>on</a:t>
            </a:r>
            <a:endParaRPr sz="2400">
              <a:solidFill>
                <a:schemeClr val="dk1"/>
              </a:solidFill>
              <a:latin typeface="Verdana"/>
              <a:ea typeface="Verdana"/>
              <a:cs typeface="Verdana"/>
              <a:sym typeface="Verdana"/>
            </a:endParaRPr>
          </a:p>
          <a:p>
            <a:pPr indent="-343535" lvl="0" marL="381000" marR="0" rtl="0" algn="l">
              <a:lnSpc>
                <a:spcPct val="100000"/>
              </a:lnSpc>
              <a:spcBef>
                <a:spcPts val="225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State 0</a:t>
            </a:r>
            <a:endParaRPr sz="2800">
              <a:solidFill>
                <a:schemeClr val="dk1"/>
              </a:solidFill>
              <a:latin typeface="Verdana"/>
              <a:ea typeface="Verdana"/>
              <a:cs typeface="Verdana"/>
              <a:sym typeface="Verdana"/>
            </a:endParaRPr>
          </a:p>
          <a:p>
            <a:pPr indent="0" lvl="0" marL="495300" marR="0" rtl="0" algn="l">
              <a:lnSpc>
                <a:spcPct val="100000"/>
              </a:lnSpc>
              <a:spcBef>
                <a:spcPts val="2115"/>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C</a:t>
            </a:r>
            <a:r>
              <a:rPr baseline="-25000" lang="en-US" sz="2400">
                <a:solidFill>
                  <a:schemeClr val="dk1"/>
                </a:solidFill>
                <a:latin typeface="Verdana"/>
                <a:ea typeface="Verdana"/>
                <a:cs typeface="Verdana"/>
                <a:sym typeface="Verdana"/>
              </a:rPr>
              <a:t>2 </a:t>
            </a:r>
            <a:r>
              <a:rPr lang="en-US" sz="2400">
                <a:solidFill>
                  <a:schemeClr val="dk1"/>
                </a:solidFill>
                <a:latin typeface="Verdana"/>
                <a:ea typeface="Verdana"/>
                <a:cs typeface="Verdana"/>
                <a:sym typeface="Verdana"/>
              </a:rPr>
              <a:t>high, C</a:t>
            </a:r>
            <a:r>
              <a:rPr baseline="-25000" lang="en-US" sz="2400">
                <a:solidFill>
                  <a:schemeClr val="dk1"/>
                </a:solidFill>
                <a:latin typeface="Verdana"/>
                <a:ea typeface="Verdana"/>
                <a:cs typeface="Verdana"/>
                <a:sym typeface="Verdana"/>
              </a:rPr>
              <a:t>1 </a:t>
            </a:r>
            <a:r>
              <a:rPr lang="en-US" sz="2400">
                <a:solidFill>
                  <a:schemeClr val="dk1"/>
                </a:solidFill>
                <a:latin typeface="Verdana"/>
                <a:ea typeface="Verdana"/>
                <a:cs typeface="Verdana"/>
                <a:sym typeface="Verdana"/>
              </a:rPr>
              <a:t>low</a:t>
            </a:r>
            <a:endParaRPr sz="2400">
              <a:solidFill>
                <a:schemeClr val="dk1"/>
              </a:solidFill>
              <a:latin typeface="Verdana"/>
              <a:ea typeface="Verdana"/>
              <a:cs typeface="Verdana"/>
              <a:sym typeface="Verdana"/>
            </a:endParaRPr>
          </a:p>
          <a:p>
            <a:pPr indent="0" lvl="0" marL="495300" marR="0" rtl="0" algn="l">
              <a:lnSpc>
                <a:spcPct val="100000"/>
              </a:lnSpc>
              <a:spcBef>
                <a:spcPts val="2020"/>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T</a:t>
            </a:r>
            <a:r>
              <a:rPr baseline="-25000" lang="en-US" sz="2400">
                <a:solidFill>
                  <a:schemeClr val="dk1"/>
                </a:solidFill>
                <a:latin typeface="Verdana"/>
                <a:ea typeface="Verdana"/>
                <a:cs typeface="Verdana"/>
                <a:sym typeface="Verdana"/>
              </a:rPr>
              <a:t>2 </a:t>
            </a:r>
            <a:r>
              <a:rPr lang="en-US" sz="2400">
                <a:solidFill>
                  <a:schemeClr val="dk1"/>
                </a:solidFill>
                <a:latin typeface="Verdana"/>
                <a:ea typeface="Verdana"/>
                <a:cs typeface="Verdana"/>
                <a:sym typeface="Verdana"/>
              </a:rPr>
              <a:t>T</a:t>
            </a:r>
            <a:r>
              <a:rPr baseline="-25000" lang="en-US" sz="2400">
                <a:solidFill>
                  <a:schemeClr val="dk1"/>
                </a:solidFill>
                <a:latin typeface="Verdana"/>
                <a:ea typeface="Verdana"/>
                <a:cs typeface="Verdana"/>
                <a:sym typeface="Verdana"/>
              </a:rPr>
              <a:t>3 </a:t>
            </a:r>
            <a:r>
              <a:rPr lang="en-US" sz="2400">
                <a:solidFill>
                  <a:schemeClr val="dk1"/>
                </a:solidFill>
                <a:latin typeface="Verdana"/>
                <a:ea typeface="Verdana"/>
                <a:cs typeface="Verdana"/>
                <a:sym typeface="Verdana"/>
              </a:rPr>
              <a:t>off, </a:t>
            </a:r>
            <a:r>
              <a:rPr b="1" lang="en-US" sz="2400">
                <a:solidFill>
                  <a:schemeClr val="dk1"/>
                </a:solidFill>
                <a:latin typeface="Verdana"/>
                <a:ea typeface="Verdana"/>
                <a:cs typeface="Verdana"/>
                <a:sym typeface="Verdana"/>
              </a:rPr>
              <a:t>T</a:t>
            </a:r>
            <a:r>
              <a:rPr b="1" baseline="-25000" lang="en-US" sz="2400">
                <a:solidFill>
                  <a:schemeClr val="dk1"/>
                </a:solidFill>
                <a:latin typeface="Verdana"/>
                <a:ea typeface="Verdana"/>
                <a:cs typeface="Verdana"/>
                <a:sym typeface="Verdana"/>
              </a:rPr>
              <a:t>1 </a:t>
            </a:r>
            <a:r>
              <a:rPr b="1" lang="en-US" sz="2400">
                <a:solidFill>
                  <a:schemeClr val="dk1"/>
                </a:solidFill>
                <a:latin typeface="Verdana"/>
                <a:ea typeface="Verdana"/>
                <a:cs typeface="Verdana"/>
                <a:sym typeface="Verdana"/>
              </a:rPr>
              <a:t>T</a:t>
            </a:r>
            <a:r>
              <a:rPr b="1" baseline="-25000" lang="en-US" sz="2400">
                <a:solidFill>
                  <a:schemeClr val="dk1"/>
                </a:solidFill>
                <a:latin typeface="Verdana"/>
                <a:ea typeface="Verdana"/>
                <a:cs typeface="Verdana"/>
                <a:sym typeface="Verdana"/>
              </a:rPr>
              <a:t>4 </a:t>
            </a:r>
            <a:r>
              <a:rPr b="1" lang="en-US" sz="2400">
                <a:solidFill>
                  <a:schemeClr val="dk1"/>
                </a:solidFill>
                <a:latin typeface="Verdana"/>
                <a:ea typeface="Verdana"/>
                <a:cs typeface="Verdana"/>
                <a:sym typeface="Verdana"/>
              </a:rPr>
              <a:t>on</a:t>
            </a:r>
            <a:endParaRPr sz="2400">
              <a:solidFill>
                <a:schemeClr val="dk1"/>
              </a:solidFill>
              <a:latin typeface="Verdana"/>
              <a:ea typeface="Verdana"/>
              <a:cs typeface="Verdana"/>
              <a:sym typeface="Verdana"/>
            </a:endParaRPr>
          </a:p>
        </p:txBody>
      </p:sp>
      <p:grpSp>
        <p:nvGrpSpPr>
          <p:cNvPr id="265" name="Google Shape;265;p35"/>
          <p:cNvGrpSpPr/>
          <p:nvPr/>
        </p:nvGrpSpPr>
        <p:grpSpPr>
          <a:xfrm>
            <a:off x="4114800" y="1927222"/>
            <a:ext cx="4876799" cy="4854575"/>
            <a:chOff x="4267200" y="1927223"/>
            <a:chExt cx="4876799" cy="4854575"/>
          </a:xfrm>
        </p:grpSpPr>
        <p:sp>
          <p:nvSpPr>
            <p:cNvPr id="266" name="Google Shape;266;p35"/>
            <p:cNvSpPr/>
            <p:nvPr/>
          </p:nvSpPr>
          <p:spPr>
            <a:xfrm>
              <a:off x="7467600" y="4953000"/>
              <a:ext cx="228600" cy="0"/>
            </a:xfrm>
            <a:custGeom>
              <a:rect b="b" l="l" r="r" t="t"/>
              <a:pathLst>
                <a:path extrusionOk="0" h="120000" w="228600">
                  <a:moveTo>
                    <a:pt x="0" y="0"/>
                  </a:moveTo>
                  <a:lnTo>
                    <a:pt x="228600"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67" name="Google Shape;267;p35"/>
            <p:cNvPicPr preferRelativeResize="0"/>
            <p:nvPr/>
          </p:nvPicPr>
          <p:blipFill rotWithShape="1">
            <a:blip r:embed="rId3">
              <a:alphaModFix/>
            </a:blip>
            <a:srcRect b="0" l="0" r="0" t="0"/>
            <a:stretch/>
          </p:blipFill>
          <p:spPr>
            <a:xfrm>
              <a:off x="4267200" y="1927223"/>
              <a:ext cx="4876799" cy="4854575"/>
            </a:xfrm>
            <a:prstGeom prst="rect">
              <a:avLst/>
            </a:prstGeom>
            <a:noFill/>
            <a:ln>
              <a:noFill/>
            </a:ln>
          </p:spPr>
        </p:pic>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6"/>
          <p:cNvSpPr txBox="1"/>
          <p:nvPr>
            <p:ph type="title"/>
          </p:nvPr>
        </p:nvSpPr>
        <p:spPr>
          <a:xfrm>
            <a:off x="485343" y="484073"/>
            <a:ext cx="2195195"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Static RAM</a:t>
            </a:r>
            <a:endParaRPr/>
          </a:p>
        </p:txBody>
      </p:sp>
      <p:sp>
        <p:nvSpPr>
          <p:cNvPr id="273" name="Google Shape;273;p36"/>
          <p:cNvSpPr txBox="1"/>
          <p:nvPr/>
        </p:nvSpPr>
        <p:spPr>
          <a:xfrm>
            <a:off x="535950" y="1140100"/>
            <a:ext cx="7682100" cy="5629800"/>
          </a:xfrm>
          <a:prstGeom prst="rect">
            <a:avLst/>
          </a:prstGeom>
          <a:noFill/>
          <a:ln>
            <a:noFill/>
          </a:ln>
        </p:spPr>
        <p:txBody>
          <a:bodyPr anchorCtr="0" anchor="t" bIns="0" lIns="0" spcFirstLastPara="1" rIns="0" wrap="square" tIns="98425">
            <a:spAutoFit/>
          </a:bodyPr>
          <a:lstStyle/>
          <a:p>
            <a:pPr indent="-343535" lvl="0" marL="355600" marR="0" rtl="0" algn="l">
              <a:lnSpc>
                <a:spcPct val="100000"/>
              </a:lnSpc>
              <a:spcBef>
                <a:spcPts val="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Bits stored as on/off switches</a:t>
            </a:r>
            <a:endParaRPr sz="2800">
              <a:solidFill>
                <a:schemeClr val="dk1"/>
              </a:solidFill>
              <a:latin typeface="Verdana"/>
              <a:ea typeface="Verdana"/>
              <a:cs typeface="Verdana"/>
              <a:sym typeface="Verdana"/>
            </a:endParaRPr>
          </a:p>
          <a:p>
            <a:pPr indent="-343535" lvl="0" marL="355600" marR="0" rtl="0" algn="l">
              <a:lnSpc>
                <a:spcPct val="100000"/>
              </a:lnSpc>
              <a:spcBef>
                <a:spcPts val="67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No charges to leak</a:t>
            </a:r>
            <a:endParaRPr sz="2800">
              <a:solidFill>
                <a:schemeClr val="dk1"/>
              </a:solidFill>
              <a:latin typeface="Verdana"/>
              <a:ea typeface="Verdana"/>
              <a:cs typeface="Verdana"/>
              <a:sym typeface="Verdana"/>
            </a:endParaRPr>
          </a:p>
          <a:p>
            <a:pPr indent="-343535" lvl="0" marL="355600" marR="0" rtl="0" algn="l">
              <a:lnSpc>
                <a:spcPct val="100000"/>
              </a:lnSpc>
              <a:spcBef>
                <a:spcPts val="67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No refreshing needed when powered</a:t>
            </a:r>
            <a:endParaRPr sz="2800">
              <a:solidFill>
                <a:schemeClr val="dk1"/>
              </a:solidFill>
              <a:latin typeface="Verdana"/>
              <a:ea typeface="Verdana"/>
              <a:cs typeface="Verdana"/>
              <a:sym typeface="Verdana"/>
            </a:endParaRPr>
          </a:p>
          <a:p>
            <a:pPr indent="-343535" lvl="0" marL="355600" marR="0" rtl="0" algn="l">
              <a:lnSpc>
                <a:spcPct val="100000"/>
              </a:lnSpc>
              <a:spcBef>
                <a:spcPts val="67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More complex construction</a:t>
            </a:r>
            <a:endParaRPr sz="2800">
              <a:solidFill>
                <a:schemeClr val="dk1"/>
              </a:solidFill>
              <a:latin typeface="Verdana"/>
              <a:ea typeface="Verdana"/>
              <a:cs typeface="Verdana"/>
              <a:sym typeface="Verdana"/>
            </a:endParaRPr>
          </a:p>
          <a:p>
            <a:pPr indent="-343535" lvl="0" marL="355600" marR="0" rtl="0" algn="l">
              <a:lnSpc>
                <a:spcPct val="100000"/>
              </a:lnSpc>
              <a:spcBef>
                <a:spcPts val="67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Larger information per bit</a:t>
            </a:r>
            <a:endParaRPr sz="2800">
              <a:solidFill>
                <a:schemeClr val="dk1"/>
              </a:solidFill>
              <a:latin typeface="Verdana"/>
              <a:ea typeface="Verdana"/>
              <a:cs typeface="Verdana"/>
              <a:sym typeface="Verdana"/>
            </a:endParaRPr>
          </a:p>
          <a:p>
            <a:pPr indent="-343535" lvl="0" marL="355600" marR="0" rtl="0" algn="l">
              <a:lnSpc>
                <a:spcPct val="100000"/>
              </a:lnSpc>
              <a:spcBef>
                <a:spcPts val="67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More expensive</a:t>
            </a:r>
            <a:endParaRPr sz="2800">
              <a:solidFill>
                <a:schemeClr val="dk1"/>
              </a:solidFill>
              <a:latin typeface="Verdana"/>
              <a:ea typeface="Verdana"/>
              <a:cs typeface="Verdana"/>
              <a:sym typeface="Verdana"/>
            </a:endParaRPr>
          </a:p>
          <a:p>
            <a:pPr indent="-343535" lvl="0" marL="355600" marR="0" rtl="0" algn="l">
              <a:lnSpc>
                <a:spcPct val="100000"/>
              </a:lnSpc>
              <a:spcBef>
                <a:spcPts val="67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Does not need refresh circuits</a:t>
            </a:r>
            <a:endParaRPr sz="2800">
              <a:solidFill>
                <a:schemeClr val="dk1"/>
              </a:solidFill>
              <a:latin typeface="Verdana"/>
              <a:ea typeface="Verdana"/>
              <a:cs typeface="Verdana"/>
              <a:sym typeface="Verdana"/>
            </a:endParaRPr>
          </a:p>
          <a:p>
            <a:pPr indent="-343535" lvl="0" marL="355600" marR="0" rtl="0" algn="l">
              <a:lnSpc>
                <a:spcPct val="100000"/>
              </a:lnSpc>
              <a:spcBef>
                <a:spcPts val="67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Faster</a:t>
            </a:r>
            <a:endParaRPr sz="2800">
              <a:solidFill>
                <a:schemeClr val="dk1"/>
              </a:solidFill>
              <a:latin typeface="Verdana"/>
              <a:ea typeface="Verdana"/>
              <a:cs typeface="Verdana"/>
              <a:sym typeface="Verdana"/>
            </a:endParaRPr>
          </a:p>
          <a:p>
            <a:pPr indent="-343535" lvl="0" marL="355600" marR="0" rtl="0" algn="l">
              <a:lnSpc>
                <a:spcPct val="100000"/>
              </a:lnSpc>
              <a:spcBef>
                <a:spcPts val="67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Cache</a:t>
            </a:r>
            <a:endParaRPr sz="2800">
              <a:solidFill>
                <a:schemeClr val="dk1"/>
              </a:solidFill>
              <a:latin typeface="Verdana"/>
              <a:ea typeface="Verdana"/>
              <a:cs typeface="Verdana"/>
              <a:sym typeface="Verdana"/>
            </a:endParaRPr>
          </a:p>
          <a:p>
            <a:pPr indent="-343535" lvl="0" marL="355600" marR="0" rtl="0" algn="l">
              <a:lnSpc>
                <a:spcPct val="100000"/>
              </a:lnSpc>
              <a:spcBef>
                <a:spcPts val="67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Digital</a:t>
            </a:r>
            <a:endParaRPr sz="2800">
              <a:solidFill>
                <a:schemeClr val="dk1"/>
              </a:solidFill>
              <a:latin typeface="Verdana"/>
              <a:ea typeface="Verdana"/>
              <a:cs typeface="Verdana"/>
              <a:sym typeface="Verdana"/>
            </a:endParaRPr>
          </a:p>
          <a:p>
            <a:pPr indent="0" lvl="0" marL="469900" marR="0" rtl="0" algn="l">
              <a:lnSpc>
                <a:spcPct val="100000"/>
              </a:lnSpc>
              <a:spcBef>
                <a:spcPts val="580"/>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Uses flip-flops</a:t>
            </a:r>
            <a:endParaRPr sz="2400">
              <a:solidFill>
                <a:schemeClr val="dk1"/>
              </a:solidFill>
              <a:latin typeface="Verdana"/>
              <a:ea typeface="Verdana"/>
              <a:cs typeface="Verdana"/>
              <a:sym typeface="Verdana"/>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7"/>
          <p:cNvSpPr txBox="1"/>
          <p:nvPr>
            <p:ph type="title"/>
          </p:nvPr>
        </p:nvSpPr>
        <p:spPr>
          <a:xfrm>
            <a:off x="485343" y="484073"/>
            <a:ext cx="2788920"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SRAM v DRAM</a:t>
            </a:r>
            <a:endParaRPr/>
          </a:p>
        </p:txBody>
      </p:sp>
      <p:sp>
        <p:nvSpPr>
          <p:cNvPr id="279" name="Google Shape;279;p37"/>
          <p:cNvSpPr txBox="1"/>
          <p:nvPr/>
        </p:nvSpPr>
        <p:spPr>
          <a:xfrm>
            <a:off x="535940" y="1012617"/>
            <a:ext cx="5582285" cy="5587427"/>
          </a:xfrm>
          <a:prstGeom prst="rect">
            <a:avLst/>
          </a:prstGeom>
          <a:noFill/>
          <a:ln>
            <a:noFill/>
          </a:ln>
        </p:spPr>
        <p:txBody>
          <a:bodyPr anchorCtr="0" anchor="t" bIns="0" lIns="0" spcFirstLastPara="1" rIns="0" wrap="square" tIns="97775">
            <a:spAutoFit/>
          </a:bodyPr>
          <a:lstStyle/>
          <a:p>
            <a:pPr indent="-343535" lvl="0" marL="355600" marR="0" rtl="0" algn="l">
              <a:lnSpc>
                <a:spcPct val="100000"/>
              </a:lnSpc>
              <a:spcBef>
                <a:spcPts val="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Both volatile</a:t>
            </a:r>
            <a:endParaRPr sz="2800">
              <a:solidFill>
                <a:schemeClr val="dk1"/>
              </a:solidFill>
              <a:latin typeface="Verdana"/>
              <a:ea typeface="Verdana"/>
              <a:cs typeface="Verdana"/>
              <a:sym typeface="Verdana"/>
            </a:endParaRPr>
          </a:p>
          <a:p>
            <a:pPr indent="0" lvl="0" marL="469900" marR="0" rtl="0" algn="l">
              <a:lnSpc>
                <a:spcPct val="100000"/>
              </a:lnSpc>
              <a:spcBef>
                <a:spcPts val="580"/>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Power needed to preserve data</a:t>
            </a:r>
            <a:endParaRPr sz="2400">
              <a:solidFill>
                <a:schemeClr val="dk1"/>
              </a:solidFill>
              <a:latin typeface="Verdana"/>
              <a:ea typeface="Verdana"/>
              <a:cs typeface="Verdana"/>
              <a:sym typeface="Verdana"/>
            </a:endParaRPr>
          </a:p>
          <a:p>
            <a:pPr indent="-343535" lvl="0" marL="355600" marR="0" rtl="0" algn="l">
              <a:lnSpc>
                <a:spcPct val="100000"/>
              </a:lnSpc>
              <a:spcBef>
                <a:spcPts val="67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Dynamic cell</a:t>
            </a:r>
            <a:endParaRPr sz="2800">
              <a:solidFill>
                <a:schemeClr val="dk1"/>
              </a:solidFill>
              <a:latin typeface="Verdana"/>
              <a:ea typeface="Verdana"/>
              <a:cs typeface="Verdana"/>
              <a:sym typeface="Verdana"/>
            </a:endParaRPr>
          </a:p>
          <a:p>
            <a:pPr indent="0" lvl="0" marL="469900" marR="0" rtl="0" algn="l">
              <a:lnSpc>
                <a:spcPct val="100000"/>
              </a:lnSpc>
              <a:spcBef>
                <a:spcPts val="580"/>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Simpler &amp; smaller</a:t>
            </a:r>
            <a:endParaRPr sz="2400">
              <a:solidFill>
                <a:schemeClr val="dk1"/>
              </a:solidFill>
              <a:latin typeface="Verdana"/>
              <a:ea typeface="Verdana"/>
              <a:cs typeface="Verdana"/>
              <a:sym typeface="Verdana"/>
            </a:endParaRPr>
          </a:p>
          <a:p>
            <a:pPr indent="0" lvl="0" marL="469900" marR="0" rtl="0" algn="l">
              <a:lnSpc>
                <a:spcPct val="100000"/>
              </a:lnSpc>
              <a:spcBef>
                <a:spcPts val="580"/>
              </a:spcBef>
              <a:spcAft>
                <a:spcPts val="0"/>
              </a:spcAft>
              <a:buNone/>
            </a:pPr>
            <a:r>
              <a:rPr lang="en-US" sz="2400">
                <a:solidFill>
                  <a:srgbClr val="FF0000"/>
                </a:solidFill>
                <a:latin typeface="Verdana"/>
                <a:ea typeface="Verdana"/>
                <a:cs typeface="Verdana"/>
                <a:sym typeface="Verdana"/>
              </a:rPr>
              <a:t>— DRAM is </a:t>
            </a:r>
            <a:r>
              <a:rPr lang="en-US" sz="2400">
                <a:solidFill>
                  <a:schemeClr val="dk1"/>
                </a:solidFill>
                <a:latin typeface="Verdana"/>
                <a:ea typeface="Verdana"/>
                <a:cs typeface="Verdana"/>
                <a:sym typeface="Verdana"/>
              </a:rPr>
              <a:t>more dense</a:t>
            </a:r>
            <a:endParaRPr sz="2400">
              <a:solidFill>
                <a:schemeClr val="dk1"/>
              </a:solidFill>
              <a:latin typeface="Verdana"/>
              <a:ea typeface="Verdana"/>
              <a:cs typeface="Verdana"/>
              <a:sym typeface="Verdana"/>
            </a:endParaRPr>
          </a:p>
          <a:p>
            <a:pPr indent="0" lvl="0" marL="469900" marR="0" rtl="0" algn="l">
              <a:lnSpc>
                <a:spcPct val="100000"/>
              </a:lnSpc>
              <a:spcBef>
                <a:spcPts val="575"/>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Less expensive</a:t>
            </a:r>
            <a:endParaRPr sz="2400">
              <a:solidFill>
                <a:schemeClr val="dk1"/>
              </a:solidFill>
              <a:latin typeface="Verdana"/>
              <a:ea typeface="Verdana"/>
              <a:cs typeface="Verdana"/>
              <a:sym typeface="Verdana"/>
            </a:endParaRPr>
          </a:p>
          <a:p>
            <a:pPr indent="0" lvl="0" marL="469900" marR="0" rtl="0" algn="l">
              <a:lnSpc>
                <a:spcPct val="100000"/>
              </a:lnSpc>
              <a:spcBef>
                <a:spcPts val="575"/>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Needs refresh circuitry</a:t>
            </a:r>
            <a:endParaRPr sz="2400">
              <a:solidFill>
                <a:schemeClr val="dk1"/>
              </a:solidFill>
              <a:latin typeface="Verdana"/>
              <a:ea typeface="Verdana"/>
              <a:cs typeface="Verdana"/>
              <a:sym typeface="Verdana"/>
            </a:endParaRPr>
          </a:p>
          <a:p>
            <a:pPr indent="0" lvl="0" marL="469900" marR="0" rtl="0" algn="l">
              <a:lnSpc>
                <a:spcPct val="100000"/>
              </a:lnSpc>
              <a:spcBef>
                <a:spcPts val="580"/>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Larger memory requirements</a:t>
            </a:r>
            <a:endParaRPr/>
          </a:p>
          <a:p>
            <a:pPr indent="0" lvl="0" marL="469900" marR="0" rtl="0" algn="l">
              <a:lnSpc>
                <a:spcPct val="100000"/>
              </a:lnSpc>
              <a:spcBef>
                <a:spcPts val="580"/>
              </a:spcBef>
              <a:spcAft>
                <a:spcPts val="0"/>
              </a:spcAft>
              <a:buNone/>
            </a:pPr>
            <a:r>
              <a:rPr lang="en-US" sz="2400">
                <a:solidFill>
                  <a:schemeClr val="dk1"/>
                </a:solidFill>
                <a:latin typeface="Verdana"/>
                <a:ea typeface="Verdana"/>
                <a:cs typeface="Verdana"/>
                <a:sym typeface="Verdana"/>
              </a:rPr>
              <a:t>-used for main memory</a:t>
            </a:r>
            <a:endParaRPr sz="2400">
              <a:solidFill>
                <a:schemeClr val="dk1"/>
              </a:solidFill>
              <a:latin typeface="Verdana"/>
              <a:ea typeface="Verdana"/>
              <a:cs typeface="Verdana"/>
              <a:sym typeface="Verdana"/>
            </a:endParaRPr>
          </a:p>
          <a:p>
            <a:pPr indent="-343535" lvl="0" marL="355600" marR="0" rtl="0" algn="l">
              <a:lnSpc>
                <a:spcPct val="100000"/>
              </a:lnSpc>
              <a:spcBef>
                <a:spcPts val="67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Static</a:t>
            </a:r>
            <a:endParaRPr sz="2800">
              <a:solidFill>
                <a:schemeClr val="dk1"/>
              </a:solidFill>
              <a:latin typeface="Verdana"/>
              <a:ea typeface="Verdana"/>
              <a:cs typeface="Verdana"/>
              <a:sym typeface="Verdana"/>
            </a:endParaRPr>
          </a:p>
          <a:p>
            <a:pPr indent="0" lvl="0" marL="469900" marR="0" rtl="0" algn="l">
              <a:lnSpc>
                <a:spcPct val="100000"/>
              </a:lnSpc>
              <a:spcBef>
                <a:spcPts val="580"/>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Faster</a:t>
            </a:r>
            <a:endParaRPr sz="2400">
              <a:solidFill>
                <a:schemeClr val="dk1"/>
              </a:solidFill>
              <a:latin typeface="Verdana"/>
              <a:ea typeface="Verdana"/>
              <a:cs typeface="Verdana"/>
              <a:sym typeface="Verdana"/>
            </a:endParaRPr>
          </a:p>
          <a:p>
            <a:pPr indent="0" lvl="0" marL="469900" marR="0" rtl="0" algn="l">
              <a:lnSpc>
                <a:spcPct val="100000"/>
              </a:lnSpc>
              <a:spcBef>
                <a:spcPts val="575"/>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Cache memory</a:t>
            </a:r>
            <a:endParaRPr sz="2400">
              <a:solidFill>
                <a:schemeClr val="dk1"/>
              </a:solidFill>
              <a:latin typeface="Verdana"/>
              <a:ea typeface="Verdana"/>
              <a:cs typeface="Verdana"/>
              <a:sym typeface="Verdana"/>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8"/>
          <p:cNvSpPr txBox="1"/>
          <p:nvPr>
            <p:ph type="title"/>
          </p:nvPr>
        </p:nvSpPr>
        <p:spPr>
          <a:xfrm>
            <a:off x="485351" y="484075"/>
            <a:ext cx="5961900" cy="4431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Read Only Memory (ROM)</a:t>
            </a:r>
            <a:endParaRPr/>
          </a:p>
        </p:txBody>
      </p:sp>
      <p:sp>
        <p:nvSpPr>
          <p:cNvPr id="285" name="Google Shape;285;p38"/>
          <p:cNvSpPr txBox="1"/>
          <p:nvPr/>
        </p:nvSpPr>
        <p:spPr>
          <a:xfrm>
            <a:off x="612140" y="936417"/>
            <a:ext cx="8038465" cy="4830810"/>
          </a:xfrm>
          <a:prstGeom prst="rect">
            <a:avLst/>
          </a:prstGeom>
          <a:noFill/>
          <a:ln>
            <a:noFill/>
          </a:ln>
        </p:spPr>
        <p:txBody>
          <a:bodyPr anchorCtr="0" anchor="t" bIns="0" lIns="0" spcFirstLastPara="1" rIns="0" wrap="square" tIns="97775">
            <a:spAutoFit/>
          </a:bodyPr>
          <a:lstStyle/>
          <a:p>
            <a:pPr indent="-343535" lvl="0" marL="355600" marR="0" rtl="0" algn="l">
              <a:lnSpc>
                <a:spcPct val="100000"/>
              </a:lnSpc>
              <a:spcBef>
                <a:spcPts val="0"/>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Permanent storage</a:t>
            </a:r>
            <a:endParaRPr sz="2000">
              <a:solidFill>
                <a:schemeClr val="dk1"/>
              </a:solidFill>
              <a:latin typeface="Times New Roman"/>
              <a:ea typeface="Times New Roman"/>
              <a:cs typeface="Times New Roman"/>
              <a:sym typeface="Times New Roman"/>
            </a:endParaRPr>
          </a:p>
          <a:p>
            <a:pPr indent="0" lvl="0" marL="469900" marR="0" rtl="0" algn="l">
              <a:lnSpc>
                <a:spcPct val="100000"/>
              </a:lnSpc>
              <a:spcBef>
                <a:spcPts val="580"/>
              </a:spcBef>
              <a:spcAft>
                <a:spcPts val="0"/>
              </a:spcAft>
              <a:buNone/>
            </a:pPr>
            <a:r>
              <a:rPr lang="en-US" sz="2000">
                <a:solidFill>
                  <a:srgbClr val="FF0000"/>
                </a:solidFill>
                <a:latin typeface="Times New Roman"/>
                <a:ea typeface="Times New Roman"/>
                <a:cs typeface="Times New Roman"/>
                <a:sym typeface="Times New Roman"/>
              </a:rPr>
              <a:t>—</a:t>
            </a:r>
            <a:r>
              <a:rPr lang="en-US" sz="2000">
                <a:solidFill>
                  <a:schemeClr val="dk1"/>
                </a:solidFill>
                <a:latin typeface="Times New Roman"/>
                <a:ea typeface="Times New Roman"/>
                <a:cs typeface="Times New Roman"/>
                <a:sym typeface="Times New Roman"/>
              </a:rPr>
              <a:t>Non volatile (no power source is required to maintain the bit values in memory)</a:t>
            </a:r>
            <a:endParaRPr sz="2000">
              <a:solidFill>
                <a:schemeClr val="dk1"/>
              </a:solidFill>
              <a:latin typeface="Times New Roman"/>
              <a:ea typeface="Times New Roman"/>
              <a:cs typeface="Times New Roman"/>
              <a:sym typeface="Times New Roman"/>
            </a:endParaRPr>
          </a:p>
          <a:p>
            <a:pPr indent="0" lvl="0" marL="469900" marR="0" rtl="0" algn="l">
              <a:lnSpc>
                <a:spcPct val="100000"/>
              </a:lnSpc>
              <a:spcBef>
                <a:spcPts val="0"/>
              </a:spcBef>
              <a:spcAft>
                <a:spcPts val="0"/>
              </a:spcAft>
              <a:buNone/>
            </a:pPr>
            <a:r>
              <a:rPr lang="en-US" sz="2000">
                <a:solidFill>
                  <a:srgbClr val="FF0000"/>
                </a:solidFill>
                <a:latin typeface="Times New Roman"/>
                <a:ea typeface="Times New Roman"/>
                <a:cs typeface="Times New Roman"/>
                <a:sym typeface="Times New Roman"/>
              </a:rPr>
              <a:t>—</a:t>
            </a:r>
            <a:r>
              <a:rPr lang="en-US" sz="2000">
                <a:solidFill>
                  <a:schemeClr val="dk1"/>
                </a:solidFill>
                <a:latin typeface="Times New Roman"/>
                <a:ea typeface="Times New Roman"/>
                <a:cs typeface="Times New Roman"/>
                <a:sym typeface="Times New Roman"/>
              </a:rPr>
              <a:t>Can read a ROM but cant write new data into it</a:t>
            </a:r>
            <a:endParaRPr sz="2000">
              <a:solidFill>
                <a:schemeClr val="dk1"/>
              </a:solidFill>
              <a:latin typeface="Times New Roman"/>
              <a:ea typeface="Times New Roman"/>
              <a:cs typeface="Times New Roman"/>
              <a:sym typeface="Times New Roman"/>
            </a:endParaRPr>
          </a:p>
          <a:p>
            <a:pPr indent="0" lvl="0" marL="469900" marR="0" rtl="0" algn="l">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-Applications-Microprogramming, System programs</a:t>
            </a:r>
            <a:endParaRPr/>
          </a:p>
          <a:p>
            <a:pPr indent="0" lvl="0" marL="469900" marR="0" rtl="0" algn="l">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-data or program is permanently in main memory and need never be loaded from a secondary storage device</a:t>
            </a:r>
            <a:endParaRPr sz="2000">
              <a:solidFill>
                <a:schemeClr val="dk1"/>
              </a:solidFill>
              <a:latin typeface="Times New Roman"/>
              <a:ea typeface="Times New Roman"/>
              <a:cs typeface="Times New Roman"/>
              <a:sym typeface="Times New Roman"/>
            </a:endParaRPr>
          </a:p>
          <a:p>
            <a:pPr indent="0" lvl="0" marL="0" marR="0" rtl="0" algn="l">
              <a:lnSpc>
                <a:spcPct val="100000"/>
              </a:lnSpc>
              <a:spcBef>
                <a:spcPts val="25"/>
              </a:spcBef>
              <a:spcAft>
                <a:spcPts val="0"/>
              </a:spcAft>
              <a:buNone/>
            </a:pPr>
            <a:r>
              <a:t/>
            </a:r>
            <a:endParaRPr sz="2000">
              <a:solidFill>
                <a:schemeClr val="dk1"/>
              </a:solidFill>
              <a:latin typeface="Times New Roman"/>
              <a:ea typeface="Times New Roman"/>
              <a:cs typeface="Times New Roman"/>
              <a:sym typeface="Times New Roman"/>
            </a:endParaRPr>
          </a:p>
          <a:p>
            <a:pPr indent="-343535" lvl="0" marL="355600" marR="0" rtl="0" algn="l">
              <a:lnSpc>
                <a:spcPct val="100000"/>
              </a:lnSpc>
              <a:spcBef>
                <a:spcPts val="0"/>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TYPES OF ROM</a:t>
            </a:r>
            <a:endParaRPr sz="2000">
              <a:solidFill>
                <a:schemeClr val="dk1"/>
              </a:solidFill>
              <a:latin typeface="Times New Roman"/>
              <a:ea typeface="Times New Roman"/>
              <a:cs typeface="Times New Roman"/>
              <a:sym typeface="Times New Roman"/>
            </a:endParaRPr>
          </a:p>
          <a:p>
            <a:pPr indent="0" lvl="0" marL="469900" marR="0" rtl="0" algn="l">
              <a:lnSpc>
                <a:spcPct val="100000"/>
              </a:lnSpc>
              <a:spcBef>
                <a:spcPts val="2510"/>
              </a:spcBef>
              <a:spcAft>
                <a:spcPts val="0"/>
              </a:spcAft>
              <a:buNone/>
            </a:pPr>
            <a:r>
              <a:rPr lang="en-US" sz="2000">
                <a:solidFill>
                  <a:srgbClr val="FF0000"/>
                </a:solidFill>
                <a:latin typeface="Times New Roman"/>
                <a:ea typeface="Times New Roman"/>
                <a:cs typeface="Times New Roman"/>
                <a:sym typeface="Times New Roman"/>
              </a:rPr>
              <a:t>—</a:t>
            </a:r>
            <a:r>
              <a:rPr lang="en-US" sz="2000">
                <a:solidFill>
                  <a:schemeClr val="dk1"/>
                </a:solidFill>
                <a:latin typeface="Times New Roman"/>
                <a:ea typeface="Times New Roman"/>
                <a:cs typeface="Times New Roman"/>
                <a:sym typeface="Times New Roman"/>
              </a:rPr>
              <a:t>PROM</a:t>
            </a:r>
            <a:endParaRPr sz="2000">
              <a:solidFill>
                <a:schemeClr val="dk1"/>
              </a:solidFill>
              <a:latin typeface="Times New Roman"/>
              <a:ea typeface="Times New Roman"/>
              <a:cs typeface="Times New Roman"/>
              <a:sym typeface="Times New Roman"/>
            </a:endParaRPr>
          </a:p>
          <a:p>
            <a:pPr indent="0" lvl="0" marL="0" marR="0" rtl="0" algn="l">
              <a:lnSpc>
                <a:spcPct val="100000"/>
              </a:lnSpc>
              <a:spcBef>
                <a:spcPts val="55"/>
              </a:spcBef>
              <a:spcAft>
                <a:spcPts val="0"/>
              </a:spcAft>
              <a:buNone/>
            </a:pPr>
            <a:r>
              <a:t/>
            </a:r>
            <a:endParaRPr sz="2000">
              <a:solidFill>
                <a:schemeClr val="dk1"/>
              </a:solidFill>
              <a:latin typeface="Times New Roman"/>
              <a:ea typeface="Times New Roman"/>
              <a:cs typeface="Times New Roman"/>
              <a:sym typeface="Times New Roman"/>
            </a:endParaRPr>
          </a:p>
          <a:p>
            <a:pPr indent="0" lvl="0" marL="469900" marR="0" rtl="0" algn="l">
              <a:lnSpc>
                <a:spcPct val="100000"/>
              </a:lnSpc>
              <a:spcBef>
                <a:spcPts val="0"/>
              </a:spcBef>
              <a:spcAft>
                <a:spcPts val="0"/>
              </a:spcAft>
              <a:buNone/>
            </a:pPr>
            <a:r>
              <a:rPr lang="en-US" sz="2000">
                <a:solidFill>
                  <a:srgbClr val="FF0000"/>
                </a:solidFill>
                <a:latin typeface="Times New Roman"/>
                <a:ea typeface="Times New Roman"/>
                <a:cs typeface="Times New Roman"/>
                <a:sym typeface="Times New Roman"/>
              </a:rPr>
              <a:t>—</a:t>
            </a:r>
            <a:r>
              <a:rPr lang="en-US" sz="2000">
                <a:solidFill>
                  <a:schemeClr val="dk1"/>
                </a:solidFill>
                <a:latin typeface="Times New Roman"/>
                <a:ea typeface="Times New Roman"/>
                <a:cs typeface="Times New Roman"/>
                <a:sym typeface="Times New Roman"/>
              </a:rPr>
              <a:t>EPROM</a:t>
            </a:r>
            <a:endParaRPr sz="2000">
              <a:solidFill>
                <a:schemeClr val="dk1"/>
              </a:solidFill>
              <a:latin typeface="Times New Roman"/>
              <a:ea typeface="Times New Roman"/>
              <a:cs typeface="Times New Roman"/>
              <a:sym typeface="Times New Roman"/>
            </a:endParaRPr>
          </a:p>
          <a:p>
            <a:pPr indent="0" lvl="0" marL="0" marR="0" rtl="0" algn="l">
              <a:lnSpc>
                <a:spcPct val="100000"/>
              </a:lnSpc>
              <a:spcBef>
                <a:spcPts val="55"/>
              </a:spcBef>
              <a:spcAft>
                <a:spcPts val="0"/>
              </a:spcAft>
              <a:buNone/>
            </a:pPr>
            <a:r>
              <a:t/>
            </a:r>
            <a:endParaRPr sz="2000">
              <a:solidFill>
                <a:schemeClr val="dk1"/>
              </a:solidFill>
              <a:latin typeface="Times New Roman"/>
              <a:ea typeface="Times New Roman"/>
              <a:cs typeface="Times New Roman"/>
              <a:sym typeface="Times New Roman"/>
            </a:endParaRPr>
          </a:p>
          <a:p>
            <a:pPr indent="0" lvl="0" marL="469900" marR="0" rtl="0" algn="l">
              <a:lnSpc>
                <a:spcPct val="100000"/>
              </a:lnSpc>
              <a:spcBef>
                <a:spcPts val="0"/>
              </a:spcBef>
              <a:spcAft>
                <a:spcPts val="0"/>
              </a:spcAft>
              <a:buNone/>
            </a:pPr>
            <a:r>
              <a:rPr lang="en-US" sz="2000">
                <a:solidFill>
                  <a:srgbClr val="FF0000"/>
                </a:solidFill>
                <a:latin typeface="Times New Roman"/>
                <a:ea typeface="Times New Roman"/>
                <a:cs typeface="Times New Roman"/>
                <a:sym typeface="Times New Roman"/>
              </a:rPr>
              <a:t>—</a:t>
            </a:r>
            <a:r>
              <a:rPr lang="en-US" sz="2000">
                <a:solidFill>
                  <a:schemeClr val="dk1"/>
                </a:solidFill>
                <a:latin typeface="Times New Roman"/>
                <a:ea typeface="Times New Roman"/>
                <a:cs typeface="Times New Roman"/>
                <a:sym typeface="Times New Roman"/>
              </a:rPr>
              <a:t>EEPROM</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9"/>
          <p:cNvSpPr txBox="1"/>
          <p:nvPr>
            <p:ph type="title"/>
          </p:nvPr>
        </p:nvSpPr>
        <p:spPr>
          <a:xfrm>
            <a:off x="485343" y="484073"/>
            <a:ext cx="5158105"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PROM-Programmable ROM</a:t>
            </a:r>
            <a:endParaRPr/>
          </a:p>
        </p:txBody>
      </p:sp>
      <p:sp>
        <p:nvSpPr>
          <p:cNvPr id="291" name="Google Shape;291;p39"/>
          <p:cNvSpPr txBox="1"/>
          <p:nvPr/>
        </p:nvSpPr>
        <p:spPr>
          <a:xfrm>
            <a:off x="535940" y="1012215"/>
            <a:ext cx="7541259" cy="5021246"/>
          </a:xfrm>
          <a:prstGeom prst="rect">
            <a:avLst/>
          </a:prstGeom>
          <a:noFill/>
          <a:ln>
            <a:noFill/>
          </a:ln>
        </p:spPr>
        <p:txBody>
          <a:bodyPr anchorCtr="0" anchor="t" bIns="0" lIns="0" spcFirstLastPara="1" rIns="0" wrap="square" tIns="98425">
            <a:spAutoFit/>
          </a:bodyPr>
          <a:lstStyle/>
          <a:p>
            <a:pPr indent="-343535" lvl="0" marL="355600" marR="0" rtl="0" algn="l">
              <a:lnSpc>
                <a:spcPct val="100000"/>
              </a:lnSpc>
              <a:spcBef>
                <a:spcPts val="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Written during manufacture</a:t>
            </a:r>
            <a:endParaRPr sz="2800">
              <a:solidFill>
                <a:schemeClr val="dk1"/>
              </a:solidFill>
              <a:latin typeface="Verdana"/>
              <a:ea typeface="Verdana"/>
              <a:cs typeface="Verdana"/>
              <a:sym typeface="Verdana"/>
            </a:endParaRPr>
          </a:p>
          <a:p>
            <a:pPr indent="-343535" lvl="0" marL="355600" marR="0" rtl="0" algn="l">
              <a:lnSpc>
                <a:spcPct val="100000"/>
              </a:lnSpc>
              <a:spcBef>
                <a:spcPts val="67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Programmable (“once”)</a:t>
            </a:r>
            <a:endParaRPr sz="2800">
              <a:solidFill>
                <a:schemeClr val="dk1"/>
              </a:solidFill>
              <a:latin typeface="Verdana"/>
              <a:ea typeface="Verdana"/>
              <a:cs typeface="Verdana"/>
              <a:sym typeface="Verdana"/>
            </a:endParaRPr>
          </a:p>
          <a:p>
            <a:pPr indent="0" lvl="0" marL="469900" marR="0" rtl="0" algn="l">
              <a:lnSpc>
                <a:spcPct val="100000"/>
              </a:lnSpc>
              <a:spcBef>
                <a:spcPts val="580"/>
              </a:spcBef>
              <a:spcAft>
                <a:spcPts val="0"/>
              </a:spcAft>
              <a:buNone/>
            </a:pPr>
            <a:r>
              <a:rPr lang="en-US" sz="2400">
                <a:solidFill>
                  <a:srgbClr val="FF0000"/>
                </a:solidFill>
                <a:latin typeface="Verdana"/>
                <a:ea typeface="Verdana"/>
                <a:cs typeface="Verdana"/>
                <a:sym typeface="Verdana"/>
              </a:rPr>
              <a:t>—</a:t>
            </a:r>
            <a:r>
              <a:rPr b="1" lang="en-US" sz="2400">
                <a:solidFill>
                  <a:srgbClr val="FF0000"/>
                </a:solidFill>
                <a:latin typeface="Verdana"/>
                <a:ea typeface="Verdana"/>
                <a:cs typeface="Verdana"/>
                <a:sym typeface="Verdana"/>
              </a:rPr>
              <a:t>PROM</a:t>
            </a:r>
            <a:endParaRPr sz="2400">
              <a:solidFill>
                <a:schemeClr val="dk1"/>
              </a:solidFill>
              <a:latin typeface="Verdana"/>
              <a:ea typeface="Verdana"/>
              <a:cs typeface="Verdana"/>
              <a:sym typeface="Verdana"/>
            </a:endParaRPr>
          </a:p>
          <a:p>
            <a:pPr indent="0" lvl="0" marL="469900" marR="0" rtl="0" algn="l">
              <a:lnSpc>
                <a:spcPct val="100000"/>
              </a:lnSpc>
              <a:spcBef>
                <a:spcPts val="1425"/>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Small amount of data to be written</a:t>
            </a:r>
            <a:endParaRPr sz="2400">
              <a:solidFill>
                <a:schemeClr val="dk1"/>
              </a:solidFill>
              <a:latin typeface="Verdana"/>
              <a:ea typeface="Verdana"/>
              <a:cs typeface="Verdana"/>
              <a:sym typeface="Verdana"/>
            </a:endParaRPr>
          </a:p>
          <a:p>
            <a:pPr indent="0" lvl="0" marL="469900" marR="0" rtl="0" algn="l">
              <a:lnSpc>
                <a:spcPct val="100000"/>
              </a:lnSpc>
              <a:spcBef>
                <a:spcPts val="2020"/>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Less expensive</a:t>
            </a:r>
            <a:endParaRPr/>
          </a:p>
          <a:p>
            <a:pPr indent="0" lvl="0" marL="469900" marR="0" rtl="0" algn="l">
              <a:lnSpc>
                <a:spcPct val="100000"/>
              </a:lnSpc>
              <a:spcBef>
                <a:spcPts val="2014"/>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Non volatile, written only once</a:t>
            </a:r>
            <a:endParaRPr/>
          </a:p>
          <a:p>
            <a:pPr indent="0" lvl="0" marL="469900" marR="0" rtl="0" algn="l">
              <a:lnSpc>
                <a:spcPct val="100000"/>
              </a:lnSpc>
              <a:spcBef>
                <a:spcPts val="2020"/>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Writing performed electrically at the time of</a:t>
            </a:r>
            <a:endParaRPr/>
          </a:p>
          <a:p>
            <a:pPr indent="0" lvl="0" marL="756285" marR="0" rtl="0" algn="l">
              <a:lnSpc>
                <a:spcPct val="100000"/>
              </a:lnSpc>
              <a:spcBef>
                <a:spcPts val="1440"/>
              </a:spcBef>
              <a:spcAft>
                <a:spcPts val="0"/>
              </a:spcAft>
              <a:buNone/>
            </a:pPr>
            <a:r>
              <a:rPr lang="en-US" sz="2400">
                <a:solidFill>
                  <a:schemeClr val="dk1"/>
                </a:solidFill>
                <a:latin typeface="Verdana"/>
                <a:ea typeface="Verdana"/>
                <a:cs typeface="Verdana"/>
                <a:sym typeface="Verdana"/>
              </a:rPr>
              <a:t>chip fabrication</a:t>
            </a:r>
            <a:endParaRPr sz="2400">
              <a:solidFill>
                <a:schemeClr val="dk1"/>
              </a:solidFill>
              <a:latin typeface="Verdana"/>
              <a:ea typeface="Verdana"/>
              <a:cs typeface="Verdana"/>
              <a:sym typeface="Verdana"/>
            </a:endParaRPr>
          </a:p>
          <a:p>
            <a:pPr indent="0" lvl="0" marL="756285" marR="0" rtl="0" algn="l">
              <a:lnSpc>
                <a:spcPct val="100000"/>
              </a:lnSpc>
              <a:spcBef>
                <a:spcPts val="1440"/>
              </a:spcBef>
              <a:spcAft>
                <a:spcPts val="0"/>
              </a:spcAft>
              <a:buNone/>
            </a:pPr>
            <a:r>
              <a:rPr lang="en-US" sz="2400">
                <a:solidFill>
                  <a:schemeClr val="dk1"/>
                </a:solidFill>
                <a:latin typeface="Verdana"/>
                <a:ea typeface="Verdana"/>
                <a:cs typeface="Verdana"/>
                <a:sym typeface="Verdana"/>
              </a:rPr>
              <a:t>-provide flexibility and convenience.</a:t>
            </a:r>
            <a:endParaRPr sz="2400">
              <a:solidFill>
                <a:schemeClr val="dk1"/>
              </a:solidFill>
              <a:latin typeface="Verdana"/>
              <a:ea typeface="Verdana"/>
              <a:cs typeface="Verdana"/>
              <a:sym typeface="Verdana"/>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0"/>
          <p:cNvSpPr txBox="1"/>
          <p:nvPr>
            <p:ph type="title"/>
          </p:nvPr>
        </p:nvSpPr>
        <p:spPr>
          <a:xfrm>
            <a:off x="485343" y="57404"/>
            <a:ext cx="8506257"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Read “mostly”</a:t>
            </a:r>
            <a:endParaRPr/>
          </a:p>
        </p:txBody>
      </p:sp>
      <p:sp>
        <p:nvSpPr>
          <p:cNvPr id="297" name="Google Shape;297;p40"/>
          <p:cNvSpPr txBox="1"/>
          <p:nvPr/>
        </p:nvSpPr>
        <p:spPr>
          <a:xfrm>
            <a:off x="304800" y="1143000"/>
            <a:ext cx="8534400" cy="5532284"/>
          </a:xfrm>
          <a:prstGeom prst="rect">
            <a:avLst/>
          </a:prstGeom>
          <a:noFill/>
          <a:ln>
            <a:noFill/>
          </a:ln>
        </p:spPr>
        <p:txBody>
          <a:bodyPr anchorCtr="0" anchor="t" bIns="0" lIns="0" spcFirstLastPara="1" rIns="0" wrap="square" tIns="12700">
            <a:spAutoFit/>
          </a:bodyPr>
          <a:lstStyle/>
          <a:p>
            <a:pPr indent="0" lvl="0" marL="12700" marR="0" rtl="0" algn="just">
              <a:lnSpc>
                <a:spcPct val="100000"/>
              </a:lnSpc>
              <a:spcBef>
                <a:spcPts val="0"/>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Times New Roman"/>
                <a:ea typeface="Times New Roman"/>
                <a:cs typeface="Times New Roman"/>
                <a:sym typeface="Times New Roman"/>
              </a:rPr>
              <a:t>type of memory that can be </a:t>
            </a:r>
            <a:r>
              <a:rPr b="1" lang="en-US" sz="2400">
                <a:solidFill>
                  <a:schemeClr val="dk1"/>
                </a:solidFill>
                <a:latin typeface="Times New Roman"/>
                <a:ea typeface="Times New Roman"/>
                <a:cs typeface="Times New Roman"/>
                <a:sym typeface="Times New Roman"/>
              </a:rPr>
              <a:t>read fast, but written to only slowly</a:t>
            </a:r>
            <a:r>
              <a:rPr lang="en-US" sz="2400">
                <a:solidFill>
                  <a:schemeClr val="dk1"/>
                </a:solidFill>
                <a:latin typeface="Times New Roman"/>
                <a:ea typeface="Times New Roman"/>
                <a:cs typeface="Times New Roman"/>
                <a:sym typeface="Times New Roman"/>
              </a:rPr>
              <a:t>.</a:t>
            </a:r>
            <a:endParaRPr/>
          </a:p>
          <a:p>
            <a:pPr indent="0" lvl="0" marL="0" marR="0" rtl="0" algn="just">
              <a:spcBef>
                <a:spcPts val="0"/>
              </a:spcBef>
              <a:spcAft>
                <a:spcPts val="0"/>
              </a:spcAft>
              <a:buNone/>
            </a:pPr>
            <a:r>
              <a:rPr lang="en-US" sz="2400">
                <a:solidFill>
                  <a:srgbClr val="FF0000"/>
                </a:solidFill>
                <a:latin typeface="Times New Roman"/>
                <a:ea typeface="Times New Roman"/>
                <a:cs typeface="Times New Roman"/>
                <a:sym typeface="Times New Roman"/>
              </a:rPr>
              <a:t>-</a:t>
            </a:r>
            <a:r>
              <a:rPr b="1" lang="en-US" sz="2400">
                <a:solidFill>
                  <a:srgbClr val="FF0000"/>
                </a:solidFill>
                <a:latin typeface="Times New Roman"/>
                <a:ea typeface="Times New Roman"/>
                <a:cs typeface="Times New Roman"/>
                <a:sym typeface="Times New Roman"/>
              </a:rPr>
              <a:t>r</a:t>
            </a:r>
            <a:r>
              <a:rPr b="1" lang="en-US" sz="2400">
                <a:solidFill>
                  <a:schemeClr val="dk1"/>
                </a:solidFill>
                <a:latin typeface="Times New Roman"/>
                <a:ea typeface="Times New Roman"/>
                <a:cs typeface="Times New Roman"/>
                <a:sym typeface="Times New Roman"/>
              </a:rPr>
              <a:t>ead operations are far more frequent than write operations </a:t>
            </a:r>
            <a:r>
              <a:rPr lang="en-US" sz="2400">
                <a:solidFill>
                  <a:schemeClr val="dk1"/>
                </a:solidFill>
                <a:latin typeface="Times New Roman"/>
                <a:ea typeface="Times New Roman"/>
                <a:cs typeface="Times New Roman"/>
                <a:sym typeface="Times New Roman"/>
              </a:rPr>
              <a:t>but for which nonvolatile storage is required</a:t>
            </a:r>
            <a:endParaRPr sz="2400">
              <a:solidFill>
                <a:srgbClr val="FF0000"/>
              </a:solidFill>
              <a:latin typeface="Times New Roman"/>
              <a:ea typeface="Times New Roman"/>
              <a:cs typeface="Times New Roman"/>
              <a:sym typeface="Times New Roman"/>
            </a:endParaRPr>
          </a:p>
          <a:p>
            <a:pPr indent="0" lvl="0" marL="12700" marR="0" rtl="0" algn="l">
              <a:lnSpc>
                <a:spcPct val="100000"/>
              </a:lnSpc>
              <a:spcBef>
                <a:spcPts val="100"/>
              </a:spcBef>
              <a:spcAft>
                <a:spcPts val="0"/>
              </a:spcAft>
              <a:buNone/>
            </a:pPr>
            <a:r>
              <a:t/>
            </a:r>
            <a:endParaRPr sz="2400">
              <a:solidFill>
                <a:srgbClr val="FF0000"/>
              </a:solidFill>
              <a:latin typeface="Verdana"/>
              <a:ea typeface="Verdana"/>
              <a:cs typeface="Verdana"/>
              <a:sym typeface="Verdana"/>
            </a:endParaRPr>
          </a:p>
          <a:p>
            <a:pPr indent="0" lvl="0" marL="12700" marR="0" rtl="0" algn="l">
              <a:lnSpc>
                <a:spcPct val="100000"/>
              </a:lnSpc>
              <a:spcBef>
                <a:spcPts val="100"/>
              </a:spcBef>
              <a:spcAft>
                <a:spcPts val="0"/>
              </a:spcAft>
              <a:buNone/>
            </a:pPr>
            <a:r>
              <a:rPr lang="en-US" sz="2400">
                <a:solidFill>
                  <a:schemeClr val="dk1"/>
                </a:solidFill>
                <a:latin typeface="Verdana"/>
                <a:ea typeface="Verdana"/>
                <a:cs typeface="Verdana"/>
                <a:sym typeface="Verdana"/>
              </a:rPr>
              <a:t>Erasable Programmable (</a:t>
            </a:r>
            <a:r>
              <a:rPr b="1" lang="en-US" sz="2400">
                <a:solidFill>
                  <a:srgbClr val="FF0000"/>
                </a:solidFill>
                <a:latin typeface="Verdana"/>
                <a:ea typeface="Verdana"/>
                <a:cs typeface="Verdana"/>
                <a:sym typeface="Verdana"/>
              </a:rPr>
              <a:t>EPROM</a:t>
            </a:r>
            <a:r>
              <a:rPr lang="en-US" sz="2400">
                <a:solidFill>
                  <a:schemeClr val="dk1"/>
                </a:solidFill>
                <a:latin typeface="Verdana"/>
                <a:ea typeface="Verdana"/>
                <a:cs typeface="Verdana"/>
                <a:sym typeface="Verdana"/>
              </a:rPr>
              <a:t>)</a:t>
            </a:r>
            <a:endParaRPr sz="2400">
              <a:solidFill>
                <a:schemeClr val="dk1"/>
              </a:solidFill>
              <a:latin typeface="Verdana"/>
              <a:ea typeface="Verdana"/>
              <a:cs typeface="Verdana"/>
              <a:sym typeface="Verdana"/>
            </a:endParaRPr>
          </a:p>
          <a:p>
            <a:pPr indent="0" lvl="0" marL="0" marR="0" rtl="0" algn="l">
              <a:lnSpc>
                <a:spcPct val="100000"/>
              </a:lnSpc>
              <a:spcBef>
                <a:spcPts val="0"/>
              </a:spcBef>
              <a:spcAft>
                <a:spcPts val="0"/>
              </a:spcAft>
              <a:buNone/>
            </a:pPr>
            <a:r>
              <a:t/>
            </a:r>
            <a:endParaRPr sz="2500">
              <a:solidFill>
                <a:schemeClr val="dk1"/>
              </a:solidFill>
              <a:latin typeface="Verdana"/>
              <a:ea typeface="Verdana"/>
              <a:cs typeface="Verdana"/>
              <a:sym typeface="Verdana"/>
            </a:endParaRPr>
          </a:p>
          <a:p>
            <a:pPr indent="-229234" lvl="0" marL="697865" marR="0" rtl="0" algn="l">
              <a:lnSpc>
                <a:spcPct val="100000"/>
              </a:lnSpc>
              <a:spcBef>
                <a:spcPts val="5"/>
              </a:spcBef>
              <a:spcAft>
                <a:spcPts val="0"/>
              </a:spcAft>
              <a:buClr>
                <a:srgbClr val="FF0000"/>
              </a:buClr>
              <a:buSzPts val="2000"/>
              <a:buFont typeface="Verdana"/>
              <a:buChar char="–"/>
            </a:pPr>
            <a:r>
              <a:rPr lang="en-US" sz="2000">
                <a:solidFill>
                  <a:schemeClr val="dk1"/>
                </a:solidFill>
                <a:latin typeface="Verdana"/>
                <a:ea typeface="Verdana"/>
                <a:cs typeface="Verdana"/>
                <a:sym typeface="Verdana"/>
              </a:rPr>
              <a:t>Erased by UV</a:t>
            </a:r>
            <a:endParaRPr/>
          </a:p>
          <a:p>
            <a:pPr indent="0" lvl="0" marL="0" marR="0" rtl="0" algn="l">
              <a:lnSpc>
                <a:spcPct val="100000"/>
              </a:lnSpc>
              <a:spcBef>
                <a:spcPts val="10"/>
              </a:spcBef>
              <a:spcAft>
                <a:spcPts val="0"/>
              </a:spcAft>
              <a:buClr>
                <a:srgbClr val="FF0000"/>
              </a:buClr>
              <a:buSzPts val="2700"/>
              <a:buFont typeface="Verdana"/>
              <a:buNone/>
            </a:pPr>
            <a:r>
              <a:t/>
            </a:r>
            <a:endParaRPr sz="2700">
              <a:solidFill>
                <a:schemeClr val="dk1"/>
              </a:solidFill>
              <a:latin typeface="Verdana"/>
              <a:ea typeface="Verdana"/>
              <a:cs typeface="Verdana"/>
              <a:sym typeface="Verdana"/>
            </a:endParaRPr>
          </a:p>
          <a:p>
            <a:pPr indent="0" lvl="0" marL="12700" marR="0" rtl="0" algn="l">
              <a:lnSpc>
                <a:spcPct val="100000"/>
              </a:lnSpc>
              <a:spcBef>
                <a:spcPts val="5"/>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Electrically Erasable (</a:t>
            </a:r>
            <a:r>
              <a:rPr b="1" lang="en-US" sz="2400">
                <a:solidFill>
                  <a:srgbClr val="FF0000"/>
                </a:solidFill>
                <a:latin typeface="Verdana"/>
                <a:ea typeface="Verdana"/>
                <a:cs typeface="Verdana"/>
                <a:sym typeface="Verdana"/>
              </a:rPr>
              <a:t>EEPROM</a:t>
            </a:r>
            <a:r>
              <a:rPr lang="en-US" sz="2400">
                <a:solidFill>
                  <a:schemeClr val="dk1"/>
                </a:solidFill>
                <a:latin typeface="Verdana"/>
                <a:ea typeface="Verdana"/>
                <a:cs typeface="Verdana"/>
                <a:sym typeface="Verdana"/>
              </a:rPr>
              <a:t>)</a:t>
            </a:r>
            <a:endParaRPr/>
          </a:p>
          <a:p>
            <a:pPr indent="0" lvl="0" marL="0" marR="0" rtl="0" algn="l">
              <a:lnSpc>
                <a:spcPct val="100000"/>
              </a:lnSpc>
              <a:spcBef>
                <a:spcPts val="0"/>
              </a:spcBef>
              <a:spcAft>
                <a:spcPts val="0"/>
              </a:spcAft>
              <a:buNone/>
            </a:pPr>
            <a:r>
              <a:t/>
            </a:r>
            <a:endParaRPr sz="2500">
              <a:solidFill>
                <a:schemeClr val="dk1"/>
              </a:solidFill>
              <a:latin typeface="Verdana"/>
              <a:ea typeface="Verdana"/>
              <a:cs typeface="Verdana"/>
              <a:sym typeface="Verdana"/>
            </a:endParaRPr>
          </a:p>
          <a:p>
            <a:pPr indent="-229234" lvl="0" marL="697865" marR="0" rtl="0" algn="l">
              <a:lnSpc>
                <a:spcPct val="100000"/>
              </a:lnSpc>
              <a:spcBef>
                <a:spcPts val="0"/>
              </a:spcBef>
              <a:spcAft>
                <a:spcPts val="0"/>
              </a:spcAft>
              <a:buClr>
                <a:srgbClr val="FF0000"/>
              </a:buClr>
              <a:buSzPts val="2000"/>
              <a:buFont typeface="Verdana"/>
              <a:buChar char="–"/>
            </a:pPr>
            <a:r>
              <a:rPr lang="en-US" sz="2000">
                <a:solidFill>
                  <a:schemeClr val="dk1"/>
                </a:solidFill>
                <a:latin typeface="Verdana"/>
                <a:ea typeface="Verdana"/>
                <a:cs typeface="Verdana"/>
                <a:sym typeface="Verdana"/>
              </a:rPr>
              <a:t>Takes much longer to write than read</a:t>
            </a:r>
            <a:endParaRPr sz="2000">
              <a:solidFill>
                <a:schemeClr val="dk1"/>
              </a:solidFill>
              <a:latin typeface="Verdana"/>
              <a:ea typeface="Verdana"/>
              <a:cs typeface="Verdana"/>
              <a:sym typeface="Verdana"/>
            </a:endParaRPr>
          </a:p>
          <a:p>
            <a:pPr indent="0" lvl="0" marL="0" marR="0" rtl="0" algn="l">
              <a:lnSpc>
                <a:spcPct val="100000"/>
              </a:lnSpc>
              <a:spcBef>
                <a:spcPts val="20"/>
              </a:spcBef>
              <a:spcAft>
                <a:spcPts val="0"/>
              </a:spcAft>
              <a:buClr>
                <a:srgbClr val="FF0000"/>
              </a:buClr>
              <a:buSzPts val="2700"/>
              <a:buFont typeface="Verdana"/>
              <a:buNone/>
            </a:pPr>
            <a:r>
              <a:t/>
            </a:r>
            <a:endParaRPr sz="2700">
              <a:solidFill>
                <a:schemeClr val="dk1"/>
              </a:solidFill>
              <a:latin typeface="Verdana"/>
              <a:ea typeface="Verdana"/>
              <a:cs typeface="Verdana"/>
              <a:sym typeface="Verdana"/>
            </a:endParaRPr>
          </a:p>
          <a:p>
            <a:pPr indent="0" lvl="0" marL="12700" marR="0" rtl="0" algn="l">
              <a:lnSpc>
                <a:spcPct val="100000"/>
              </a:lnSpc>
              <a:spcBef>
                <a:spcPts val="0"/>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Flash memory</a:t>
            </a:r>
            <a:endParaRPr/>
          </a:p>
          <a:p>
            <a:pPr indent="0" lvl="0" marL="0" marR="0" rtl="0" algn="l">
              <a:lnSpc>
                <a:spcPct val="100000"/>
              </a:lnSpc>
              <a:spcBef>
                <a:spcPts val="0"/>
              </a:spcBef>
              <a:spcAft>
                <a:spcPts val="0"/>
              </a:spcAft>
              <a:buNone/>
            </a:pPr>
            <a:r>
              <a:t/>
            </a:r>
            <a:endParaRPr sz="2500">
              <a:solidFill>
                <a:schemeClr val="dk1"/>
              </a:solidFill>
              <a:latin typeface="Verdana"/>
              <a:ea typeface="Verdana"/>
              <a:cs typeface="Verdana"/>
              <a:sym typeface="Verdana"/>
            </a:endParaRPr>
          </a:p>
          <a:p>
            <a:pPr indent="-229234" lvl="0" marL="697865" marR="0" rtl="0" algn="l">
              <a:lnSpc>
                <a:spcPct val="100000"/>
              </a:lnSpc>
              <a:spcBef>
                <a:spcPts val="0"/>
              </a:spcBef>
              <a:spcAft>
                <a:spcPts val="0"/>
              </a:spcAft>
              <a:buClr>
                <a:srgbClr val="FF0000"/>
              </a:buClr>
              <a:buSzPts val="2000"/>
              <a:buFont typeface="Verdana"/>
              <a:buChar char="–"/>
            </a:pPr>
            <a:r>
              <a:rPr lang="en-US" sz="2000">
                <a:solidFill>
                  <a:schemeClr val="dk1"/>
                </a:solidFill>
                <a:latin typeface="Verdana"/>
                <a:ea typeface="Verdana"/>
                <a:cs typeface="Verdana"/>
                <a:sym typeface="Verdana"/>
              </a:rPr>
              <a:t>Erase whole memory electrically</a:t>
            </a:r>
            <a:endParaRPr sz="2000">
              <a:solidFill>
                <a:schemeClr val="dk1"/>
              </a:solidFill>
              <a:latin typeface="Verdana"/>
              <a:ea typeface="Verdana"/>
              <a:cs typeface="Verdana"/>
              <a:sym typeface="Verdana"/>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1"/>
          <p:cNvSpPr txBox="1"/>
          <p:nvPr>
            <p:ph type="title"/>
          </p:nvPr>
        </p:nvSpPr>
        <p:spPr>
          <a:xfrm>
            <a:off x="485343" y="484073"/>
            <a:ext cx="1445895"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EPROM</a:t>
            </a:r>
            <a:endParaRPr/>
          </a:p>
        </p:txBody>
      </p:sp>
      <p:sp>
        <p:nvSpPr>
          <p:cNvPr id="303" name="Google Shape;303;p41"/>
          <p:cNvSpPr txBox="1"/>
          <p:nvPr/>
        </p:nvSpPr>
        <p:spPr>
          <a:xfrm>
            <a:off x="762000" y="1676400"/>
            <a:ext cx="8153400" cy="2752035"/>
          </a:xfrm>
          <a:prstGeom prst="rect">
            <a:avLst/>
          </a:prstGeom>
          <a:noFill/>
          <a:ln>
            <a:noFill/>
          </a:ln>
        </p:spPr>
        <p:txBody>
          <a:bodyPr anchorCtr="0" anchor="t" bIns="0" lIns="0" spcFirstLastPara="1" rIns="0" wrap="square" tIns="12700">
            <a:spAutoFit/>
          </a:bodyPr>
          <a:lstStyle/>
          <a:p>
            <a:pPr indent="0" lvl="0" marL="12700" marR="0" rtl="0" algn="just">
              <a:spcBef>
                <a:spcPts val="0"/>
              </a:spcBef>
              <a:spcAft>
                <a:spcPts val="0"/>
              </a:spcAft>
              <a:buNone/>
            </a:pPr>
            <a:r>
              <a:rPr lang="en-US" sz="2400">
                <a:solidFill>
                  <a:srgbClr val="FF0000"/>
                </a:solidFill>
                <a:latin typeface="Times New Roman"/>
                <a:ea typeface="Times New Roman"/>
                <a:cs typeface="Times New Roman"/>
                <a:sym typeface="Times New Roman"/>
              </a:rPr>
              <a:t>—</a:t>
            </a:r>
            <a:r>
              <a:rPr lang="en-US" sz="2400">
                <a:solidFill>
                  <a:schemeClr val="dk1"/>
                </a:solidFill>
                <a:latin typeface="Times New Roman"/>
                <a:ea typeface="Times New Roman"/>
                <a:cs typeface="Times New Roman"/>
                <a:sym typeface="Times New Roman"/>
              </a:rPr>
              <a:t>Read and written electrically</a:t>
            </a:r>
            <a:endParaRPr sz="2400">
              <a:solidFill>
                <a:schemeClr val="dk1"/>
              </a:solidFill>
              <a:latin typeface="Times New Roman"/>
              <a:ea typeface="Times New Roman"/>
              <a:cs typeface="Times New Roman"/>
              <a:sym typeface="Times New Roman"/>
            </a:endParaRPr>
          </a:p>
          <a:p>
            <a:pPr indent="-287019" lvl="0" marL="299085" marR="56514" rtl="0" algn="just">
              <a:spcBef>
                <a:spcPts val="570"/>
              </a:spcBef>
              <a:spcAft>
                <a:spcPts val="0"/>
              </a:spcAft>
              <a:buNone/>
            </a:pPr>
            <a:r>
              <a:rPr lang="en-US" sz="2400">
                <a:solidFill>
                  <a:srgbClr val="FF0000"/>
                </a:solidFill>
                <a:latin typeface="Times New Roman"/>
                <a:ea typeface="Times New Roman"/>
                <a:cs typeface="Times New Roman"/>
                <a:sym typeface="Times New Roman"/>
              </a:rPr>
              <a:t>—</a:t>
            </a:r>
            <a:r>
              <a:rPr lang="en-US" sz="2400">
                <a:solidFill>
                  <a:schemeClr val="dk1"/>
                </a:solidFill>
                <a:latin typeface="Times New Roman"/>
                <a:ea typeface="Times New Roman"/>
                <a:cs typeface="Times New Roman"/>
                <a:sym typeface="Times New Roman"/>
              </a:rPr>
              <a:t>All storage cells should be erased electrically  to </a:t>
            </a:r>
            <a:r>
              <a:rPr b="1" lang="en-US" sz="2400">
                <a:solidFill>
                  <a:schemeClr val="dk1"/>
                </a:solidFill>
                <a:latin typeface="Times New Roman"/>
                <a:ea typeface="Times New Roman"/>
                <a:cs typeface="Times New Roman"/>
                <a:sym typeface="Times New Roman"/>
              </a:rPr>
              <a:t>initial state </a:t>
            </a:r>
            <a:r>
              <a:rPr lang="en-US" sz="2400">
                <a:solidFill>
                  <a:schemeClr val="dk1"/>
                </a:solidFill>
                <a:latin typeface="Times New Roman"/>
                <a:ea typeface="Times New Roman"/>
                <a:cs typeface="Times New Roman"/>
                <a:sym typeface="Times New Roman"/>
              </a:rPr>
              <a:t>by exposure to UV radiation</a:t>
            </a:r>
            <a:endParaRPr sz="2400">
              <a:solidFill>
                <a:schemeClr val="dk1"/>
              </a:solidFill>
              <a:latin typeface="Times New Roman"/>
              <a:ea typeface="Times New Roman"/>
              <a:cs typeface="Times New Roman"/>
              <a:sym typeface="Times New Roman"/>
            </a:endParaRPr>
          </a:p>
          <a:p>
            <a:pPr indent="-287019" lvl="0" marL="299085" marR="5080" rtl="0" algn="just">
              <a:spcBef>
                <a:spcPts val="580"/>
              </a:spcBef>
              <a:spcAft>
                <a:spcPts val="0"/>
              </a:spcAft>
              <a:buNone/>
            </a:pPr>
            <a:r>
              <a:rPr lang="en-US" sz="2400">
                <a:solidFill>
                  <a:srgbClr val="FF0000"/>
                </a:solidFill>
                <a:latin typeface="Times New Roman"/>
                <a:ea typeface="Times New Roman"/>
                <a:cs typeface="Times New Roman"/>
                <a:sym typeface="Times New Roman"/>
              </a:rPr>
              <a:t>—</a:t>
            </a:r>
            <a:r>
              <a:rPr lang="en-US" sz="2400">
                <a:solidFill>
                  <a:schemeClr val="dk1"/>
                </a:solidFill>
                <a:latin typeface="Times New Roman"/>
                <a:ea typeface="Times New Roman"/>
                <a:cs typeface="Times New Roman"/>
                <a:sym typeface="Times New Roman"/>
              </a:rPr>
              <a:t>Can be erased (altered) multiple times and holds data  virtually indefinitely</a:t>
            </a:r>
            <a:endParaRPr sz="2800">
              <a:solidFill>
                <a:schemeClr val="dk1"/>
              </a:solidFill>
              <a:latin typeface="Times New Roman"/>
              <a:ea typeface="Times New Roman"/>
              <a:cs typeface="Times New Roman"/>
              <a:sym typeface="Times New Roman"/>
            </a:endParaRPr>
          </a:p>
          <a:p>
            <a:pPr indent="0" lvl="0" marL="12700" marR="0" rtl="0" algn="just">
              <a:spcBef>
                <a:spcPts val="0"/>
              </a:spcBef>
              <a:spcAft>
                <a:spcPts val="0"/>
              </a:spcAft>
              <a:buNone/>
            </a:pPr>
            <a:r>
              <a:rPr lang="en-US" sz="2400">
                <a:solidFill>
                  <a:srgbClr val="FF0000"/>
                </a:solidFill>
                <a:latin typeface="Times New Roman"/>
                <a:ea typeface="Times New Roman"/>
                <a:cs typeface="Times New Roman"/>
                <a:sym typeface="Times New Roman"/>
              </a:rPr>
              <a:t>—</a:t>
            </a:r>
            <a:r>
              <a:rPr lang="en-US" sz="2400">
                <a:solidFill>
                  <a:schemeClr val="dk1"/>
                </a:solidFill>
                <a:latin typeface="Times New Roman"/>
                <a:ea typeface="Times New Roman"/>
                <a:cs typeface="Times New Roman"/>
                <a:sym typeface="Times New Roman"/>
              </a:rPr>
              <a:t>More expensive than PROM, multiple update capability</a:t>
            </a:r>
            <a:endParaRPr/>
          </a:p>
          <a:p>
            <a:pPr indent="0" lvl="0" marL="12700" marR="0" rtl="0" algn="just">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2"/>
          <p:cNvSpPr txBox="1"/>
          <p:nvPr/>
        </p:nvSpPr>
        <p:spPr>
          <a:xfrm>
            <a:off x="516719" y="1143000"/>
            <a:ext cx="7634605" cy="3349635"/>
          </a:xfrm>
          <a:prstGeom prst="rect">
            <a:avLst/>
          </a:prstGeom>
          <a:noFill/>
          <a:ln>
            <a:noFill/>
          </a:ln>
        </p:spPr>
        <p:txBody>
          <a:bodyPr anchorCtr="0" anchor="t" bIns="0" lIns="0" spcFirstLastPara="1" rIns="0" wrap="square" tIns="200650">
            <a:spAutoFit/>
          </a:bodyPr>
          <a:lstStyle/>
          <a:p>
            <a:pPr indent="0" lvl="0" marL="12700" marR="0" rtl="0" algn="l">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EEPROM</a:t>
            </a:r>
            <a:endParaRPr sz="2400">
              <a:solidFill>
                <a:schemeClr val="dk1"/>
              </a:solidFill>
              <a:latin typeface="Times New Roman"/>
              <a:ea typeface="Times New Roman"/>
              <a:cs typeface="Times New Roman"/>
              <a:sym typeface="Times New Roman"/>
            </a:endParaRPr>
          </a:p>
          <a:p>
            <a:pPr indent="-343535" lvl="0" marL="406400" marR="137160" rtl="0" algn="l">
              <a:lnSpc>
                <a:spcPct val="100000"/>
              </a:lnSpc>
              <a:spcBef>
                <a:spcPts val="1475"/>
              </a:spcBef>
              <a:spcAft>
                <a:spcPts val="0"/>
              </a:spcAft>
              <a:buClr>
                <a:srgbClr val="FF0000"/>
              </a:buClr>
              <a:buSzPts val="2400"/>
              <a:buFont typeface="Times New Roman"/>
              <a:buChar char="•"/>
            </a:pPr>
            <a:r>
              <a:rPr lang="en-US" sz="2400">
                <a:solidFill>
                  <a:schemeClr val="dk1"/>
                </a:solidFill>
                <a:latin typeface="Times New Roman"/>
                <a:ea typeface="Times New Roman"/>
                <a:cs typeface="Times New Roman"/>
                <a:sym typeface="Times New Roman"/>
              </a:rPr>
              <a:t>Can be written anytime without erasing  prior contents</a:t>
            </a:r>
            <a:endParaRPr sz="2400">
              <a:solidFill>
                <a:schemeClr val="dk1"/>
              </a:solidFill>
              <a:latin typeface="Times New Roman"/>
              <a:ea typeface="Times New Roman"/>
              <a:cs typeface="Times New Roman"/>
              <a:sym typeface="Times New Roman"/>
            </a:endParaRPr>
          </a:p>
          <a:p>
            <a:pPr indent="-344170" lvl="0" marL="406400" marR="0" rtl="0" algn="l">
              <a:lnSpc>
                <a:spcPct val="100000"/>
              </a:lnSpc>
              <a:spcBef>
                <a:spcPts val="0"/>
              </a:spcBef>
              <a:spcAft>
                <a:spcPts val="0"/>
              </a:spcAft>
              <a:buClr>
                <a:srgbClr val="FF0000"/>
              </a:buClr>
              <a:buSzPts val="2400"/>
              <a:buFont typeface="Times New Roman"/>
              <a:buChar char="•"/>
            </a:pPr>
            <a:r>
              <a:rPr lang="en-US" sz="2400">
                <a:solidFill>
                  <a:schemeClr val="dk1"/>
                </a:solidFill>
                <a:latin typeface="Times New Roman"/>
                <a:ea typeface="Times New Roman"/>
                <a:cs typeface="Times New Roman"/>
                <a:sym typeface="Times New Roman"/>
              </a:rPr>
              <a:t>Write operation takes longer than read</a:t>
            </a:r>
            <a:endParaRPr sz="2400">
              <a:solidFill>
                <a:schemeClr val="dk1"/>
              </a:solidFill>
              <a:latin typeface="Times New Roman"/>
              <a:ea typeface="Times New Roman"/>
              <a:cs typeface="Times New Roman"/>
              <a:sym typeface="Times New Roman"/>
            </a:endParaRPr>
          </a:p>
          <a:p>
            <a:pPr indent="-344170" lvl="0" marL="406400" marR="0" rtl="0" algn="l">
              <a:lnSpc>
                <a:spcPct val="100000"/>
              </a:lnSpc>
              <a:spcBef>
                <a:spcPts val="0"/>
              </a:spcBef>
              <a:spcAft>
                <a:spcPts val="0"/>
              </a:spcAft>
              <a:buClr>
                <a:srgbClr val="FF0000"/>
              </a:buClr>
              <a:buSzPts val="2400"/>
              <a:buFont typeface="Times New Roman"/>
              <a:buChar char="•"/>
            </a:pPr>
            <a:r>
              <a:rPr lang="en-US" sz="2400">
                <a:solidFill>
                  <a:schemeClr val="dk1"/>
                </a:solidFill>
                <a:latin typeface="Times New Roman"/>
                <a:ea typeface="Times New Roman"/>
                <a:cs typeface="Times New Roman"/>
                <a:sym typeface="Times New Roman"/>
              </a:rPr>
              <a:t>combines the advantage of nonvolatility with the flexibility of being updatable in place, using ordinary bus control, address, and data lines</a:t>
            </a:r>
            <a:endParaRPr sz="2400">
              <a:solidFill>
                <a:schemeClr val="dk1"/>
              </a:solidFill>
              <a:latin typeface="Times New Roman"/>
              <a:ea typeface="Times New Roman"/>
              <a:cs typeface="Times New Roman"/>
              <a:sym typeface="Times New Roman"/>
            </a:endParaRPr>
          </a:p>
          <a:p>
            <a:pPr indent="-344170" lvl="0" marL="406400" marR="0" rtl="0" algn="l">
              <a:lnSpc>
                <a:spcPct val="100000"/>
              </a:lnSpc>
              <a:spcBef>
                <a:spcPts val="0"/>
              </a:spcBef>
              <a:spcAft>
                <a:spcPts val="0"/>
              </a:spcAft>
              <a:buClr>
                <a:srgbClr val="FF0000"/>
              </a:buClr>
              <a:buSzPts val="2400"/>
              <a:buFont typeface="Times New Roman"/>
              <a:buChar char="•"/>
            </a:pPr>
            <a:r>
              <a:rPr lang="en-US" sz="2400">
                <a:solidFill>
                  <a:schemeClr val="dk1"/>
                </a:solidFill>
                <a:latin typeface="Times New Roman"/>
                <a:ea typeface="Times New Roman"/>
                <a:cs typeface="Times New Roman"/>
                <a:sym typeface="Times New Roman"/>
              </a:rPr>
              <a:t>More expensive than EPROM, less dense</a:t>
            </a:r>
            <a:endParaRPr sz="2400">
              <a:solidFill>
                <a:schemeClr val="dk1"/>
              </a:solidFill>
              <a:latin typeface="Times New Roman"/>
              <a:ea typeface="Times New Roman"/>
              <a:cs typeface="Times New Roman"/>
              <a:sym typeface="Times New Roman"/>
            </a:endParaRPr>
          </a:p>
          <a:p>
            <a:pPr indent="-191770" lvl="0" marL="406400" marR="0" rtl="0" algn="l">
              <a:lnSpc>
                <a:spcPct val="100000"/>
              </a:lnSpc>
              <a:spcBef>
                <a:spcPts val="0"/>
              </a:spcBef>
              <a:spcAft>
                <a:spcPts val="0"/>
              </a:spcAft>
              <a:buClr>
                <a:srgbClr val="FF0000"/>
              </a:buClr>
              <a:buSzPts val="2400"/>
              <a:buFont typeface="Calibri"/>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3"/>
          <p:cNvSpPr txBox="1"/>
          <p:nvPr>
            <p:ph type="title"/>
          </p:nvPr>
        </p:nvSpPr>
        <p:spPr>
          <a:xfrm>
            <a:off x="474075" y="303375"/>
            <a:ext cx="4446600" cy="4431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a:latin typeface="Comic Sans MS"/>
                <a:ea typeface="Comic Sans MS"/>
                <a:cs typeface="Comic Sans MS"/>
                <a:sym typeface="Comic Sans MS"/>
              </a:rPr>
              <a:t>Types of ROM</a:t>
            </a:r>
            <a:endParaRPr/>
          </a:p>
        </p:txBody>
      </p:sp>
      <p:sp>
        <p:nvSpPr>
          <p:cNvPr id="314" name="Google Shape;314;p43"/>
          <p:cNvSpPr txBox="1"/>
          <p:nvPr/>
        </p:nvSpPr>
        <p:spPr>
          <a:xfrm>
            <a:off x="474065" y="920089"/>
            <a:ext cx="8087995" cy="4794250"/>
          </a:xfrm>
          <a:prstGeom prst="rect">
            <a:avLst/>
          </a:prstGeom>
          <a:noFill/>
          <a:ln>
            <a:noFill/>
          </a:ln>
        </p:spPr>
        <p:txBody>
          <a:bodyPr anchorCtr="0" anchor="t" bIns="0" lIns="0" spcFirstLastPara="1" rIns="0" wrap="square" tIns="165100">
            <a:spAutoFit/>
          </a:bodyPr>
          <a:lstStyle/>
          <a:p>
            <a:pPr indent="0" lvl="0" marL="85725" marR="0" rtl="0" algn="l">
              <a:lnSpc>
                <a:spcPct val="100000"/>
              </a:lnSpc>
              <a:spcBef>
                <a:spcPts val="0"/>
              </a:spcBef>
              <a:spcAft>
                <a:spcPts val="0"/>
              </a:spcAft>
              <a:buNone/>
            </a:pPr>
            <a:r>
              <a:rPr b="1" lang="en-US" sz="2000">
                <a:solidFill>
                  <a:schemeClr val="dk1"/>
                </a:solidFill>
                <a:latin typeface="Comic Sans MS"/>
                <a:ea typeface="Comic Sans MS"/>
                <a:cs typeface="Comic Sans MS"/>
                <a:sym typeface="Comic Sans MS"/>
              </a:rPr>
              <a:t>1. Programmable Read Only Memory (PROM)</a:t>
            </a:r>
            <a:endParaRPr sz="2000">
              <a:solidFill>
                <a:schemeClr val="dk1"/>
              </a:solidFill>
              <a:latin typeface="Comic Sans MS"/>
              <a:ea typeface="Comic Sans MS"/>
              <a:cs typeface="Comic Sans MS"/>
              <a:sym typeface="Comic Sans MS"/>
            </a:endParaRPr>
          </a:p>
          <a:p>
            <a:pPr indent="-191134" lvl="0" marL="276225" marR="0" rtl="0" algn="l">
              <a:lnSpc>
                <a:spcPct val="100000"/>
              </a:lnSpc>
              <a:spcBef>
                <a:spcPts val="1200"/>
              </a:spcBef>
              <a:spcAft>
                <a:spcPts val="0"/>
              </a:spcAft>
              <a:buClr>
                <a:schemeClr val="dk1"/>
              </a:buClr>
              <a:buSzPts val="2000"/>
              <a:buFont typeface="Comic Sans MS"/>
              <a:buChar char="•"/>
            </a:pPr>
            <a:r>
              <a:rPr lang="en-US" sz="2000">
                <a:solidFill>
                  <a:schemeClr val="dk1"/>
                </a:solidFill>
                <a:latin typeface="Comic Sans MS"/>
                <a:ea typeface="Comic Sans MS"/>
                <a:cs typeface="Comic Sans MS"/>
                <a:sym typeface="Comic Sans MS"/>
              </a:rPr>
              <a:t>Empty of data when manufactured</a:t>
            </a:r>
            <a:endParaRPr sz="2000">
              <a:solidFill>
                <a:schemeClr val="dk1"/>
              </a:solidFill>
              <a:latin typeface="Comic Sans MS"/>
              <a:ea typeface="Comic Sans MS"/>
              <a:cs typeface="Comic Sans MS"/>
              <a:sym typeface="Comic Sans MS"/>
            </a:endParaRPr>
          </a:p>
          <a:p>
            <a:pPr indent="-191134" lvl="0" marL="276225" marR="0" rtl="0" algn="l">
              <a:lnSpc>
                <a:spcPct val="100000"/>
              </a:lnSpc>
              <a:spcBef>
                <a:spcPts val="1200"/>
              </a:spcBef>
              <a:spcAft>
                <a:spcPts val="0"/>
              </a:spcAft>
              <a:buClr>
                <a:schemeClr val="dk1"/>
              </a:buClr>
              <a:buSzPts val="2000"/>
              <a:buFont typeface="Comic Sans MS"/>
              <a:buChar char="•"/>
            </a:pPr>
            <a:r>
              <a:rPr lang="en-US" sz="2000">
                <a:solidFill>
                  <a:schemeClr val="dk1"/>
                </a:solidFill>
                <a:latin typeface="Comic Sans MS"/>
                <a:ea typeface="Comic Sans MS"/>
                <a:cs typeface="Comic Sans MS"/>
                <a:sym typeface="Comic Sans MS"/>
              </a:rPr>
              <a:t>May be permanently programmed by the user</a:t>
            </a:r>
            <a:endParaRPr sz="2000">
              <a:solidFill>
                <a:schemeClr val="dk1"/>
              </a:solidFill>
              <a:latin typeface="Comic Sans MS"/>
              <a:ea typeface="Comic Sans MS"/>
              <a:cs typeface="Comic Sans MS"/>
              <a:sym typeface="Comic Sans MS"/>
            </a:endParaRPr>
          </a:p>
          <a:p>
            <a:pPr indent="0" lvl="0" marL="0" marR="0" rtl="0" algn="l">
              <a:lnSpc>
                <a:spcPct val="100000"/>
              </a:lnSpc>
              <a:spcBef>
                <a:spcPts val="50"/>
              </a:spcBef>
              <a:spcAft>
                <a:spcPts val="0"/>
              </a:spcAft>
              <a:buNone/>
            </a:pPr>
            <a:r>
              <a:t/>
            </a:r>
            <a:endParaRPr sz="3650">
              <a:solidFill>
                <a:schemeClr val="dk1"/>
              </a:solidFill>
              <a:latin typeface="Comic Sans MS"/>
              <a:ea typeface="Comic Sans MS"/>
              <a:cs typeface="Comic Sans MS"/>
              <a:sym typeface="Comic Sans MS"/>
            </a:endParaRPr>
          </a:p>
          <a:p>
            <a:pPr indent="0" lvl="0" marL="12700" marR="0" rtl="0" algn="l">
              <a:lnSpc>
                <a:spcPct val="100000"/>
              </a:lnSpc>
              <a:spcBef>
                <a:spcPts val="5"/>
              </a:spcBef>
              <a:spcAft>
                <a:spcPts val="0"/>
              </a:spcAft>
              <a:buNone/>
            </a:pPr>
            <a:r>
              <a:rPr b="1" lang="en-US" sz="2000">
                <a:solidFill>
                  <a:schemeClr val="dk1"/>
                </a:solidFill>
                <a:latin typeface="Comic Sans MS"/>
                <a:ea typeface="Comic Sans MS"/>
                <a:cs typeface="Comic Sans MS"/>
                <a:sym typeface="Comic Sans MS"/>
              </a:rPr>
              <a:t>2. Erasable Programmable Read Only Memory (EPROM)</a:t>
            </a:r>
            <a:endParaRPr sz="2000">
              <a:solidFill>
                <a:schemeClr val="dk1"/>
              </a:solidFill>
              <a:latin typeface="Comic Sans MS"/>
              <a:ea typeface="Comic Sans MS"/>
              <a:cs typeface="Comic Sans MS"/>
              <a:sym typeface="Comic Sans MS"/>
            </a:endParaRPr>
          </a:p>
          <a:p>
            <a:pPr indent="-190500" lvl="0" marL="203200" marR="0" rtl="0" algn="l">
              <a:lnSpc>
                <a:spcPct val="100000"/>
              </a:lnSpc>
              <a:spcBef>
                <a:spcPts val="1200"/>
              </a:spcBef>
              <a:spcAft>
                <a:spcPts val="0"/>
              </a:spcAft>
              <a:buClr>
                <a:schemeClr val="dk1"/>
              </a:buClr>
              <a:buSzPts val="2000"/>
              <a:buFont typeface="Comic Sans MS"/>
              <a:buChar char="•"/>
            </a:pPr>
            <a:r>
              <a:rPr lang="en-US" sz="2000">
                <a:solidFill>
                  <a:schemeClr val="dk1"/>
                </a:solidFill>
                <a:latin typeface="Comic Sans MS"/>
                <a:ea typeface="Comic Sans MS"/>
                <a:cs typeface="Comic Sans MS"/>
                <a:sym typeface="Comic Sans MS"/>
              </a:rPr>
              <a:t>Can be programmed, erased and reprogrammed</a:t>
            </a:r>
            <a:endParaRPr sz="2000">
              <a:solidFill>
                <a:schemeClr val="dk1"/>
              </a:solidFill>
              <a:latin typeface="Comic Sans MS"/>
              <a:ea typeface="Comic Sans MS"/>
              <a:cs typeface="Comic Sans MS"/>
              <a:sym typeface="Comic Sans MS"/>
            </a:endParaRPr>
          </a:p>
          <a:p>
            <a:pPr indent="-190500" lvl="0" marL="203200" marR="5080" rtl="0" algn="l">
              <a:lnSpc>
                <a:spcPct val="100000"/>
              </a:lnSpc>
              <a:spcBef>
                <a:spcPts val="1200"/>
              </a:spcBef>
              <a:spcAft>
                <a:spcPts val="0"/>
              </a:spcAft>
              <a:buClr>
                <a:schemeClr val="dk1"/>
              </a:buClr>
              <a:buSzPts val="2000"/>
              <a:buFont typeface="Comic Sans MS"/>
              <a:buChar char="•"/>
            </a:pPr>
            <a:r>
              <a:rPr lang="en-US" sz="2000">
                <a:solidFill>
                  <a:schemeClr val="dk1"/>
                </a:solidFill>
                <a:latin typeface="Comic Sans MS"/>
                <a:ea typeface="Comic Sans MS"/>
                <a:cs typeface="Comic Sans MS"/>
                <a:sym typeface="Comic Sans MS"/>
              </a:rPr>
              <a:t>The EPROM chip has a small window on top allowing it to be erased  by shining ultra-violet light on it</a:t>
            </a:r>
            <a:endParaRPr sz="2000">
              <a:solidFill>
                <a:schemeClr val="dk1"/>
              </a:solidFill>
              <a:latin typeface="Comic Sans MS"/>
              <a:ea typeface="Comic Sans MS"/>
              <a:cs typeface="Comic Sans MS"/>
              <a:sym typeface="Comic Sans MS"/>
            </a:endParaRPr>
          </a:p>
          <a:p>
            <a:pPr indent="-190500" lvl="0" marL="203200" marR="815339" rtl="0" algn="l">
              <a:lnSpc>
                <a:spcPct val="100000"/>
              </a:lnSpc>
              <a:spcBef>
                <a:spcPts val="1205"/>
              </a:spcBef>
              <a:spcAft>
                <a:spcPts val="0"/>
              </a:spcAft>
              <a:buClr>
                <a:schemeClr val="dk1"/>
              </a:buClr>
              <a:buSzPts val="2000"/>
              <a:buFont typeface="Comic Sans MS"/>
              <a:buChar char="•"/>
            </a:pPr>
            <a:r>
              <a:rPr lang="en-US" sz="2000">
                <a:solidFill>
                  <a:schemeClr val="dk1"/>
                </a:solidFill>
                <a:latin typeface="Comic Sans MS"/>
                <a:ea typeface="Comic Sans MS"/>
                <a:cs typeface="Comic Sans MS"/>
                <a:sym typeface="Comic Sans MS"/>
              </a:rPr>
              <a:t>After reprogramming the window is covered to prevent new  contents being erased</a:t>
            </a:r>
            <a:endParaRPr sz="2000">
              <a:solidFill>
                <a:schemeClr val="dk1"/>
              </a:solidFill>
              <a:latin typeface="Comic Sans MS"/>
              <a:ea typeface="Comic Sans MS"/>
              <a:cs typeface="Comic Sans MS"/>
              <a:sym typeface="Comic Sans MS"/>
            </a:endParaRPr>
          </a:p>
          <a:p>
            <a:pPr indent="-190500" lvl="0" marL="203200" marR="0" rtl="0" algn="l">
              <a:lnSpc>
                <a:spcPct val="100000"/>
              </a:lnSpc>
              <a:spcBef>
                <a:spcPts val="1200"/>
              </a:spcBef>
              <a:spcAft>
                <a:spcPts val="0"/>
              </a:spcAft>
              <a:buClr>
                <a:schemeClr val="dk1"/>
              </a:buClr>
              <a:buSzPts val="2000"/>
              <a:buFont typeface="Comic Sans MS"/>
              <a:buChar char="•"/>
            </a:pPr>
            <a:r>
              <a:rPr lang="en-US" sz="2000">
                <a:solidFill>
                  <a:schemeClr val="dk1"/>
                </a:solidFill>
                <a:latin typeface="Comic Sans MS"/>
                <a:ea typeface="Comic Sans MS"/>
                <a:cs typeface="Comic Sans MS"/>
                <a:sym typeface="Comic Sans MS"/>
              </a:rPr>
              <a:t>Access time is around 45 – 90 nanoseconds</a:t>
            </a:r>
            <a:endParaRPr sz="2000">
              <a:solidFill>
                <a:schemeClr val="dk1"/>
              </a:solidFill>
              <a:latin typeface="Comic Sans MS"/>
              <a:ea typeface="Comic Sans MS"/>
              <a:cs typeface="Comic Sans MS"/>
              <a:sym typeface="Comic Sans M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4"/>
          <p:cNvSpPr txBox="1"/>
          <p:nvPr>
            <p:ph type="title"/>
          </p:nvPr>
        </p:nvSpPr>
        <p:spPr>
          <a:xfrm>
            <a:off x="402740" y="0"/>
            <a:ext cx="4540200" cy="4431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a:latin typeface="Comic Sans MS"/>
                <a:ea typeface="Comic Sans MS"/>
                <a:cs typeface="Comic Sans MS"/>
                <a:sym typeface="Comic Sans MS"/>
              </a:rPr>
              <a:t>Types of ROM</a:t>
            </a:r>
            <a:endParaRPr/>
          </a:p>
        </p:txBody>
      </p:sp>
      <p:sp>
        <p:nvSpPr>
          <p:cNvPr id="320" name="Google Shape;320;p44"/>
          <p:cNvSpPr txBox="1"/>
          <p:nvPr/>
        </p:nvSpPr>
        <p:spPr>
          <a:xfrm>
            <a:off x="109950" y="504575"/>
            <a:ext cx="8819700" cy="6324300"/>
          </a:xfrm>
          <a:prstGeom prst="rect">
            <a:avLst/>
          </a:prstGeom>
          <a:noFill/>
          <a:ln>
            <a:noFill/>
          </a:ln>
        </p:spPr>
        <p:txBody>
          <a:bodyPr anchorCtr="0" anchor="t" bIns="0" lIns="0" spcFirstLastPara="1" rIns="0" wrap="square" tIns="149850">
            <a:spAutoFit/>
          </a:bodyPr>
          <a:lstStyle/>
          <a:p>
            <a:pPr indent="0" lvl="0" marL="83820" marR="0" rtl="0" algn="l">
              <a:lnSpc>
                <a:spcPct val="100000"/>
              </a:lnSpc>
              <a:spcBef>
                <a:spcPts val="0"/>
              </a:spcBef>
              <a:spcAft>
                <a:spcPts val="0"/>
              </a:spcAft>
              <a:buNone/>
            </a:pPr>
            <a:r>
              <a:rPr b="1" lang="en-US" sz="1700">
                <a:solidFill>
                  <a:schemeClr val="dk1"/>
                </a:solidFill>
                <a:latin typeface="Comic Sans MS"/>
                <a:ea typeface="Comic Sans MS"/>
                <a:cs typeface="Comic Sans MS"/>
                <a:sym typeface="Comic Sans MS"/>
              </a:rPr>
              <a:t>3. Electrically Erasable Programmable Read Only Memory EEPROM</a:t>
            </a:r>
            <a:endParaRPr sz="1700">
              <a:solidFill>
                <a:schemeClr val="dk1"/>
              </a:solidFill>
              <a:latin typeface="Comic Sans MS"/>
              <a:ea typeface="Comic Sans MS"/>
              <a:cs typeface="Comic Sans MS"/>
              <a:sym typeface="Comic Sans MS"/>
            </a:endParaRPr>
          </a:p>
          <a:p>
            <a:pPr indent="-184785" lvl="0" marL="274320" marR="0" rtl="0" algn="l">
              <a:lnSpc>
                <a:spcPct val="100000"/>
              </a:lnSpc>
              <a:spcBef>
                <a:spcPts val="1080"/>
              </a:spcBef>
              <a:spcAft>
                <a:spcPts val="0"/>
              </a:spcAft>
              <a:buClr>
                <a:schemeClr val="dk1"/>
              </a:buClr>
              <a:buSzPts val="1700"/>
              <a:buFont typeface="Comic Sans MS"/>
              <a:buChar char="•"/>
            </a:pPr>
            <a:r>
              <a:rPr lang="en-US" sz="1700">
                <a:solidFill>
                  <a:schemeClr val="dk1"/>
                </a:solidFill>
                <a:latin typeface="Comic Sans MS"/>
                <a:ea typeface="Comic Sans MS"/>
                <a:cs typeface="Comic Sans MS"/>
                <a:sym typeface="Comic Sans MS"/>
              </a:rPr>
              <a:t>Reprogrammed electrically </a:t>
            </a:r>
            <a:r>
              <a:rPr b="1" lang="en-US" sz="1700">
                <a:solidFill>
                  <a:schemeClr val="dk1"/>
                </a:solidFill>
                <a:latin typeface="Comic Sans MS"/>
                <a:ea typeface="Comic Sans MS"/>
                <a:cs typeface="Comic Sans MS"/>
                <a:sym typeface="Comic Sans MS"/>
              </a:rPr>
              <a:t>without </a:t>
            </a:r>
            <a:r>
              <a:rPr lang="en-US" sz="1700">
                <a:solidFill>
                  <a:schemeClr val="dk1"/>
                </a:solidFill>
                <a:latin typeface="Comic Sans MS"/>
                <a:ea typeface="Comic Sans MS"/>
                <a:cs typeface="Comic Sans MS"/>
                <a:sym typeface="Comic Sans MS"/>
              </a:rPr>
              <a:t>using ultraviolet light</a:t>
            </a:r>
            <a:endParaRPr sz="1300"/>
          </a:p>
          <a:p>
            <a:pPr indent="-184150" lvl="0" marL="274320" marR="5080" rtl="0" algn="l">
              <a:lnSpc>
                <a:spcPct val="100000"/>
              </a:lnSpc>
              <a:spcBef>
                <a:spcPts val="1080"/>
              </a:spcBef>
              <a:spcAft>
                <a:spcPts val="0"/>
              </a:spcAft>
              <a:buClr>
                <a:schemeClr val="dk1"/>
              </a:buClr>
              <a:buSzPts val="1700"/>
              <a:buFont typeface="Comic Sans MS"/>
              <a:buChar char="•"/>
            </a:pPr>
            <a:r>
              <a:rPr lang="en-US" sz="1700">
                <a:solidFill>
                  <a:schemeClr val="dk1"/>
                </a:solidFill>
                <a:latin typeface="Comic Sans MS"/>
                <a:ea typeface="Comic Sans MS"/>
                <a:cs typeface="Comic Sans MS"/>
                <a:sym typeface="Comic Sans MS"/>
              </a:rPr>
              <a:t>Must be removed from the computer and placed in a special machine to do  this</a:t>
            </a:r>
            <a:endParaRPr sz="1700">
              <a:solidFill>
                <a:schemeClr val="dk1"/>
              </a:solidFill>
              <a:latin typeface="Comic Sans MS"/>
              <a:ea typeface="Comic Sans MS"/>
              <a:cs typeface="Comic Sans MS"/>
              <a:sym typeface="Comic Sans MS"/>
            </a:endParaRPr>
          </a:p>
          <a:p>
            <a:pPr indent="-184785" lvl="0" marL="274320" marR="0" rtl="0" algn="l">
              <a:lnSpc>
                <a:spcPct val="100000"/>
              </a:lnSpc>
              <a:spcBef>
                <a:spcPts val="1080"/>
              </a:spcBef>
              <a:spcAft>
                <a:spcPts val="0"/>
              </a:spcAft>
              <a:buClr>
                <a:schemeClr val="dk1"/>
              </a:buClr>
              <a:buSzPts val="1700"/>
              <a:buFont typeface="Comic Sans MS"/>
              <a:buChar char="•"/>
            </a:pPr>
            <a:r>
              <a:rPr lang="en-US" sz="1700">
                <a:solidFill>
                  <a:schemeClr val="dk1"/>
                </a:solidFill>
                <a:latin typeface="Comic Sans MS"/>
                <a:ea typeface="Comic Sans MS"/>
                <a:cs typeface="Comic Sans MS"/>
                <a:sym typeface="Comic Sans MS"/>
              </a:rPr>
              <a:t>Access times between 45 and 200 nanoseconds</a:t>
            </a:r>
            <a:endParaRPr sz="1300"/>
          </a:p>
          <a:p>
            <a:pPr indent="0" lvl="0" marL="12700" marR="0" rtl="0" algn="l">
              <a:lnSpc>
                <a:spcPct val="100000"/>
              </a:lnSpc>
              <a:spcBef>
                <a:spcPts val="1275"/>
              </a:spcBef>
              <a:spcAft>
                <a:spcPts val="0"/>
              </a:spcAft>
              <a:buNone/>
            </a:pPr>
            <a:r>
              <a:rPr b="1" lang="en-US" sz="1700">
                <a:solidFill>
                  <a:schemeClr val="dk1"/>
                </a:solidFill>
                <a:latin typeface="Comic Sans MS"/>
                <a:ea typeface="Comic Sans MS"/>
                <a:cs typeface="Comic Sans MS"/>
                <a:sym typeface="Comic Sans MS"/>
              </a:rPr>
              <a:t>4. Flash ROM</a:t>
            </a:r>
            <a:endParaRPr sz="1700">
              <a:solidFill>
                <a:schemeClr val="dk1"/>
              </a:solidFill>
              <a:latin typeface="Comic Sans MS"/>
              <a:ea typeface="Comic Sans MS"/>
              <a:cs typeface="Comic Sans MS"/>
              <a:sym typeface="Comic Sans MS"/>
            </a:endParaRPr>
          </a:p>
          <a:p>
            <a:pPr indent="-184150" lvl="0" marL="203200" marR="0" rtl="0" algn="l">
              <a:lnSpc>
                <a:spcPct val="100000"/>
              </a:lnSpc>
              <a:spcBef>
                <a:spcPts val="1080"/>
              </a:spcBef>
              <a:spcAft>
                <a:spcPts val="0"/>
              </a:spcAft>
              <a:buClr>
                <a:schemeClr val="dk1"/>
              </a:buClr>
              <a:buSzPts val="1700"/>
              <a:buFont typeface="Comic Sans MS"/>
              <a:buChar char="•"/>
            </a:pPr>
            <a:r>
              <a:rPr lang="en-US" sz="1700">
                <a:solidFill>
                  <a:schemeClr val="dk1"/>
                </a:solidFill>
                <a:latin typeface="Comic Sans MS"/>
                <a:ea typeface="Comic Sans MS"/>
                <a:cs typeface="Comic Sans MS"/>
                <a:sym typeface="Comic Sans MS"/>
              </a:rPr>
              <a:t>Similar to EEPROM</a:t>
            </a:r>
            <a:endParaRPr sz="1700">
              <a:solidFill>
                <a:schemeClr val="dk1"/>
              </a:solidFill>
              <a:latin typeface="Comic Sans MS"/>
              <a:ea typeface="Comic Sans MS"/>
              <a:cs typeface="Comic Sans MS"/>
              <a:sym typeface="Comic Sans MS"/>
            </a:endParaRPr>
          </a:p>
          <a:p>
            <a:pPr indent="-184150" lvl="0" marL="203200" marR="0" rtl="0" algn="l">
              <a:lnSpc>
                <a:spcPct val="100000"/>
              </a:lnSpc>
              <a:spcBef>
                <a:spcPts val="1080"/>
              </a:spcBef>
              <a:spcAft>
                <a:spcPts val="0"/>
              </a:spcAft>
              <a:buClr>
                <a:schemeClr val="dk1"/>
              </a:buClr>
              <a:buSzPts val="1700"/>
              <a:buFont typeface="Comic Sans MS"/>
              <a:buChar char="•"/>
            </a:pPr>
            <a:r>
              <a:rPr lang="en-US" sz="1700">
                <a:solidFill>
                  <a:schemeClr val="dk1"/>
                </a:solidFill>
                <a:latin typeface="Comic Sans MS"/>
                <a:ea typeface="Comic Sans MS"/>
                <a:cs typeface="Comic Sans MS"/>
                <a:sym typeface="Comic Sans MS"/>
              </a:rPr>
              <a:t>intermediate between EPROM and EEPROM in both cost and functionality.</a:t>
            </a:r>
            <a:endParaRPr sz="1300"/>
          </a:p>
          <a:p>
            <a:pPr indent="-184150" lvl="0" marL="203200" marR="0" rtl="0" algn="l">
              <a:lnSpc>
                <a:spcPct val="100000"/>
              </a:lnSpc>
              <a:spcBef>
                <a:spcPts val="1080"/>
              </a:spcBef>
              <a:spcAft>
                <a:spcPts val="0"/>
              </a:spcAft>
              <a:buClr>
                <a:schemeClr val="dk1"/>
              </a:buClr>
              <a:buSzPts val="1700"/>
              <a:buFont typeface="Comic Sans MS"/>
              <a:buChar char="•"/>
            </a:pPr>
            <a:r>
              <a:rPr lang="en-US" sz="1700">
                <a:solidFill>
                  <a:schemeClr val="dk1"/>
                </a:solidFill>
                <a:latin typeface="Comic Sans MS"/>
                <a:ea typeface="Comic Sans MS"/>
                <a:cs typeface="Comic Sans MS"/>
                <a:sym typeface="Comic Sans MS"/>
              </a:rPr>
              <a:t>uses an electrical erasing technology</a:t>
            </a:r>
            <a:endParaRPr sz="1700">
              <a:solidFill>
                <a:schemeClr val="dk1"/>
              </a:solidFill>
              <a:latin typeface="Comic Sans MS"/>
              <a:ea typeface="Comic Sans MS"/>
              <a:cs typeface="Comic Sans MS"/>
              <a:sym typeface="Comic Sans MS"/>
            </a:endParaRPr>
          </a:p>
          <a:p>
            <a:pPr indent="-184150" lvl="0" marL="203200" marR="0" rtl="0" algn="l">
              <a:lnSpc>
                <a:spcPct val="100000"/>
              </a:lnSpc>
              <a:spcBef>
                <a:spcPts val="1080"/>
              </a:spcBef>
              <a:spcAft>
                <a:spcPts val="0"/>
              </a:spcAft>
              <a:buClr>
                <a:schemeClr val="dk1"/>
              </a:buClr>
              <a:buSzPts val="1700"/>
              <a:buFont typeface="Comic Sans MS"/>
              <a:buChar char="•"/>
            </a:pPr>
            <a:r>
              <a:rPr lang="en-US" sz="1700">
                <a:solidFill>
                  <a:schemeClr val="dk1"/>
                </a:solidFill>
                <a:latin typeface="Comic Sans MS"/>
                <a:ea typeface="Comic Sans MS"/>
                <a:cs typeface="Comic Sans MS"/>
                <a:sym typeface="Comic Sans MS"/>
              </a:rPr>
              <a:t>However, can be reprogrammed while still in the computer</a:t>
            </a:r>
            <a:endParaRPr sz="1300"/>
          </a:p>
          <a:p>
            <a:pPr indent="-184150" lvl="0" marL="203200" marR="0" rtl="0" algn="l">
              <a:lnSpc>
                <a:spcPct val="100000"/>
              </a:lnSpc>
              <a:spcBef>
                <a:spcPts val="1080"/>
              </a:spcBef>
              <a:spcAft>
                <a:spcPts val="0"/>
              </a:spcAft>
              <a:buClr>
                <a:schemeClr val="dk1"/>
              </a:buClr>
              <a:buSzPts val="1700"/>
              <a:buFont typeface="Comic Sans MS"/>
              <a:buChar char="•"/>
            </a:pPr>
            <a:r>
              <a:rPr lang="en-US" sz="1700">
                <a:solidFill>
                  <a:schemeClr val="dk1"/>
                </a:solidFill>
                <a:latin typeface="Comic Sans MS"/>
                <a:ea typeface="Comic Sans MS"/>
                <a:cs typeface="Comic Sans MS"/>
                <a:sym typeface="Comic Sans MS"/>
              </a:rPr>
              <a:t>Easier to upgrade programs stored in Flash ROM</a:t>
            </a:r>
            <a:endParaRPr sz="1700">
              <a:solidFill>
                <a:schemeClr val="dk1"/>
              </a:solidFill>
              <a:latin typeface="Comic Sans MS"/>
              <a:ea typeface="Comic Sans MS"/>
              <a:cs typeface="Comic Sans MS"/>
              <a:sym typeface="Comic Sans MS"/>
            </a:endParaRPr>
          </a:p>
          <a:p>
            <a:pPr indent="-184150" lvl="0" marL="203200" marR="0" rtl="0" algn="l">
              <a:lnSpc>
                <a:spcPct val="100000"/>
              </a:lnSpc>
              <a:spcBef>
                <a:spcPts val="1085"/>
              </a:spcBef>
              <a:spcAft>
                <a:spcPts val="0"/>
              </a:spcAft>
              <a:buClr>
                <a:schemeClr val="dk1"/>
              </a:buClr>
              <a:buSzPts val="1700"/>
              <a:buFont typeface="Comic Sans MS"/>
              <a:buChar char="•"/>
            </a:pPr>
            <a:r>
              <a:rPr lang="en-US" sz="1700">
                <a:solidFill>
                  <a:schemeClr val="dk1"/>
                </a:solidFill>
                <a:latin typeface="Comic Sans MS"/>
                <a:ea typeface="Comic Sans MS"/>
                <a:cs typeface="Comic Sans MS"/>
                <a:sym typeface="Comic Sans MS"/>
              </a:rPr>
              <a:t>Used to store programs in devices e.g. modems</a:t>
            </a:r>
            <a:endParaRPr sz="1700">
              <a:solidFill>
                <a:schemeClr val="dk1"/>
              </a:solidFill>
              <a:latin typeface="Comic Sans MS"/>
              <a:ea typeface="Comic Sans MS"/>
              <a:cs typeface="Comic Sans MS"/>
              <a:sym typeface="Comic Sans MS"/>
            </a:endParaRPr>
          </a:p>
          <a:p>
            <a:pPr indent="-184150" lvl="0" marL="203200" marR="0" rtl="0" algn="l">
              <a:lnSpc>
                <a:spcPct val="100000"/>
              </a:lnSpc>
              <a:spcBef>
                <a:spcPts val="1075"/>
              </a:spcBef>
              <a:spcAft>
                <a:spcPts val="0"/>
              </a:spcAft>
              <a:buClr>
                <a:schemeClr val="dk1"/>
              </a:buClr>
              <a:buSzPts val="1700"/>
              <a:buFont typeface="Comic Sans MS"/>
              <a:buChar char="•"/>
            </a:pPr>
            <a:r>
              <a:rPr lang="en-US" sz="1700">
                <a:solidFill>
                  <a:schemeClr val="dk1"/>
                </a:solidFill>
                <a:latin typeface="Comic Sans MS"/>
                <a:ea typeface="Comic Sans MS"/>
                <a:cs typeface="Comic Sans MS"/>
                <a:sym typeface="Comic Sans MS"/>
              </a:rPr>
              <a:t>Access time is around 45 – 90 nanoseconds</a:t>
            </a:r>
            <a:endParaRPr sz="1700">
              <a:solidFill>
                <a:schemeClr val="dk1"/>
              </a:solidFill>
              <a:latin typeface="Comic Sans MS"/>
              <a:ea typeface="Comic Sans MS"/>
              <a:cs typeface="Comic Sans MS"/>
              <a:sym typeface="Comic Sans MS"/>
            </a:endParaRPr>
          </a:p>
          <a:p>
            <a:pPr indent="-184150" lvl="0" marL="203200" marR="0" rtl="0" algn="l">
              <a:lnSpc>
                <a:spcPct val="100000"/>
              </a:lnSpc>
              <a:spcBef>
                <a:spcPts val="1075"/>
              </a:spcBef>
              <a:spcAft>
                <a:spcPts val="0"/>
              </a:spcAft>
              <a:buClr>
                <a:schemeClr val="dk1"/>
              </a:buClr>
              <a:buSzPts val="1700"/>
              <a:buFont typeface="Comic Sans MS"/>
              <a:buChar char="•"/>
            </a:pPr>
            <a:r>
              <a:rPr lang="en-US" sz="1700">
                <a:solidFill>
                  <a:schemeClr val="dk1"/>
                </a:solidFill>
                <a:latin typeface="Comic Sans MS"/>
                <a:ea typeface="Comic Sans MS"/>
                <a:cs typeface="Comic Sans MS"/>
                <a:sym typeface="Comic Sans MS"/>
              </a:rPr>
              <a:t>flash memory uses only one transistor per bit, and so achieves the high density</a:t>
            </a:r>
            <a:endParaRPr sz="1700">
              <a:solidFill>
                <a:schemeClr val="dk1"/>
              </a:solidFill>
              <a:latin typeface="Comic Sans MS"/>
              <a:ea typeface="Comic Sans MS"/>
              <a:cs typeface="Comic Sans MS"/>
              <a:sym typeface="Comic Sans MS"/>
            </a:endParaRPr>
          </a:p>
          <a:p>
            <a:pPr indent="0" lvl="0" marL="0" marR="0" rtl="0" algn="l">
              <a:lnSpc>
                <a:spcPct val="100000"/>
              </a:lnSpc>
              <a:spcBef>
                <a:spcPts val="55"/>
              </a:spcBef>
              <a:spcAft>
                <a:spcPts val="0"/>
              </a:spcAft>
              <a:buNone/>
            </a:pPr>
            <a:r>
              <a:t/>
            </a:r>
            <a:endParaRPr sz="1900">
              <a:solidFill>
                <a:schemeClr val="dk1"/>
              </a:solidFill>
              <a:latin typeface="Comic Sans MS"/>
              <a:ea typeface="Comic Sans MS"/>
              <a:cs typeface="Comic Sans MS"/>
              <a:sym typeface="Comic Sans MS"/>
            </a:endParaRPr>
          </a:p>
          <a:p>
            <a:pPr indent="0" lvl="0" marL="69215" marR="0" rtl="0" algn="l">
              <a:lnSpc>
                <a:spcPct val="100000"/>
              </a:lnSpc>
              <a:spcBef>
                <a:spcPts val="0"/>
              </a:spcBef>
              <a:spcAft>
                <a:spcPts val="0"/>
              </a:spcAft>
              <a:buNone/>
            </a:pPr>
            <a:r>
              <a:t/>
            </a:r>
            <a:endParaRPr sz="1700">
              <a:solidFill>
                <a:schemeClr val="dk1"/>
              </a:solidFill>
              <a:latin typeface="Comic Sans MS"/>
              <a:ea typeface="Comic Sans MS"/>
              <a:cs typeface="Comic Sans MS"/>
              <a:sym typeface="Comic Sans M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5"/>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326" name="Google Shape;326;p45"/>
          <p:cNvSpPr txBox="1"/>
          <p:nvPr>
            <p:ph idx="1" type="body"/>
          </p:nvPr>
        </p:nvSpPr>
        <p:spPr>
          <a:xfrm>
            <a:off x="525144" y="1188465"/>
            <a:ext cx="8093710" cy="3026470"/>
          </a:xfrm>
          <a:prstGeom prst="rect">
            <a:avLst/>
          </a:prstGeom>
          <a:noFill/>
          <a:ln>
            <a:noFill/>
          </a:ln>
        </p:spPr>
        <p:txBody>
          <a:bodyPr anchorCtr="0" anchor="t" bIns="0" lIns="0" spcFirstLastPara="1" rIns="0" wrap="square" tIns="0">
            <a:spAutoFit/>
          </a:bodyPr>
          <a:lstStyle/>
          <a:p>
            <a:pPr indent="0" lvl="0" marL="69215" rtl="0" algn="l">
              <a:lnSpc>
                <a:spcPct val="100000"/>
              </a:lnSpc>
              <a:spcBef>
                <a:spcPts val="0"/>
              </a:spcBef>
              <a:spcAft>
                <a:spcPts val="0"/>
              </a:spcAft>
              <a:buNone/>
            </a:pPr>
            <a:r>
              <a:rPr b="1" lang="en-US">
                <a:latin typeface="Comic Sans MS"/>
                <a:ea typeface="Comic Sans MS"/>
                <a:cs typeface="Comic Sans MS"/>
                <a:sym typeface="Comic Sans MS"/>
              </a:rPr>
              <a:t>5. ROM cartridges</a:t>
            </a:r>
            <a:endParaRPr>
              <a:latin typeface="Comic Sans MS"/>
              <a:ea typeface="Comic Sans MS"/>
              <a:cs typeface="Comic Sans MS"/>
              <a:sym typeface="Comic Sans MS"/>
            </a:endParaRPr>
          </a:p>
          <a:p>
            <a:pPr indent="-191135" lvl="0" marL="259715" rtl="0" algn="l">
              <a:lnSpc>
                <a:spcPct val="100000"/>
              </a:lnSpc>
              <a:spcBef>
                <a:spcPts val="1085"/>
              </a:spcBef>
              <a:spcAft>
                <a:spcPts val="0"/>
              </a:spcAft>
              <a:buClr>
                <a:schemeClr val="dk1"/>
              </a:buClr>
              <a:buSzPts val="2000"/>
              <a:buFont typeface="Comic Sans MS"/>
              <a:buChar char="•"/>
            </a:pPr>
            <a:r>
              <a:rPr lang="en-US">
                <a:latin typeface="Comic Sans MS"/>
                <a:ea typeface="Comic Sans MS"/>
                <a:cs typeface="Comic Sans MS"/>
                <a:sym typeface="Comic Sans MS"/>
              </a:rPr>
              <a:t> ROM cartridge is a read-only memory chip housed in a plastic casing, with an opening at one end exposing the chip interface. </a:t>
            </a:r>
            <a:endParaRPr/>
          </a:p>
          <a:p>
            <a:pPr indent="-191135" lvl="0" marL="259715" rtl="0" algn="l">
              <a:lnSpc>
                <a:spcPct val="100000"/>
              </a:lnSpc>
              <a:spcBef>
                <a:spcPts val="1085"/>
              </a:spcBef>
              <a:spcAft>
                <a:spcPts val="0"/>
              </a:spcAft>
              <a:buClr>
                <a:schemeClr val="dk1"/>
              </a:buClr>
              <a:buSzPts val="2000"/>
              <a:buFont typeface="Comic Sans MS"/>
              <a:buChar char="•"/>
            </a:pPr>
            <a:r>
              <a:rPr lang="en-US">
                <a:latin typeface="Comic Sans MS"/>
                <a:ea typeface="Comic Sans MS"/>
                <a:cs typeface="Comic Sans MS"/>
                <a:sym typeface="Comic Sans MS"/>
              </a:rPr>
              <a:t>The cartridge can be inserted into a computing device, such as a video game console, that loads software or data from the chip.</a:t>
            </a:r>
            <a:endParaRPr/>
          </a:p>
          <a:p>
            <a:pPr indent="-191135" lvl="0" marL="259715" rtl="0" algn="l">
              <a:lnSpc>
                <a:spcPct val="100000"/>
              </a:lnSpc>
              <a:spcBef>
                <a:spcPts val="1085"/>
              </a:spcBef>
              <a:spcAft>
                <a:spcPts val="0"/>
              </a:spcAft>
              <a:buClr>
                <a:schemeClr val="dk1"/>
              </a:buClr>
              <a:buSzPts val="2000"/>
              <a:buFont typeface="Comic Sans MS"/>
              <a:buChar char="•"/>
            </a:pPr>
            <a:r>
              <a:rPr lang="en-US">
                <a:latin typeface="Comic Sans MS"/>
                <a:ea typeface="Comic Sans MS"/>
                <a:cs typeface="Comic Sans MS"/>
                <a:sym typeface="Comic Sans MS"/>
              </a:rPr>
              <a:t>Commonly used in games machines</a:t>
            </a:r>
            <a:endParaRPr/>
          </a:p>
          <a:p>
            <a:pPr indent="-191135" lvl="0" marL="259715" rtl="0" algn="l">
              <a:lnSpc>
                <a:spcPct val="100000"/>
              </a:lnSpc>
              <a:spcBef>
                <a:spcPts val="1080"/>
              </a:spcBef>
              <a:spcAft>
                <a:spcPts val="0"/>
              </a:spcAft>
              <a:buClr>
                <a:schemeClr val="dk1"/>
              </a:buClr>
              <a:buSzPts val="2000"/>
              <a:buFont typeface="Comic Sans MS"/>
              <a:buChar char="•"/>
            </a:pPr>
            <a:r>
              <a:rPr lang="en-US">
                <a:latin typeface="Comic Sans MS"/>
                <a:ea typeface="Comic Sans MS"/>
                <a:cs typeface="Comic Sans MS"/>
                <a:sym typeface="Comic Sans MS"/>
              </a:rPr>
              <a:t>Prevents software from being easily copied</a:t>
            </a:r>
            <a:endParaRPr>
              <a:latin typeface="Comic Sans MS"/>
              <a:ea typeface="Comic Sans MS"/>
              <a:cs typeface="Comic Sans MS"/>
              <a:sym typeface="Comic Sans MS"/>
            </a:endParaRPr>
          </a:p>
          <a:p>
            <a:pPr indent="0" lvl="0" marL="0" rtl="0" algn="l">
              <a:spcBef>
                <a:spcPts val="0"/>
              </a:spcBef>
              <a:spcAft>
                <a:spcPts val="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6"/>
          <p:cNvSpPr txBox="1"/>
          <p:nvPr/>
        </p:nvSpPr>
        <p:spPr>
          <a:xfrm>
            <a:off x="485343" y="484073"/>
            <a:ext cx="8201457" cy="2702663"/>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2800">
                <a:solidFill>
                  <a:schemeClr val="dk1"/>
                </a:solidFill>
                <a:latin typeface="Arial Black"/>
                <a:ea typeface="Arial Black"/>
                <a:cs typeface="Arial Black"/>
                <a:sym typeface="Arial Black"/>
              </a:rPr>
              <a:t>Cache</a:t>
            </a:r>
            <a:endParaRPr sz="2800">
              <a:solidFill>
                <a:schemeClr val="dk1"/>
              </a:solidFill>
              <a:latin typeface="Arial Black"/>
              <a:ea typeface="Arial Black"/>
              <a:cs typeface="Arial Black"/>
              <a:sym typeface="Arial Black"/>
            </a:endParaRPr>
          </a:p>
          <a:p>
            <a:pPr indent="0" lvl="0" marL="0" marR="0" rtl="0" algn="l">
              <a:lnSpc>
                <a:spcPct val="100000"/>
              </a:lnSpc>
              <a:spcBef>
                <a:spcPts val="65"/>
              </a:spcBef>
              <a:spcAft>
                <a:spcPts val="0"/>
              </a:spcAft>
              <a:buNone/>
            </a:pPr>
            <a:r>
              <a:t/>
            </a:r>
            <a:endParaRPr sz="2600">
              <a:solidFill>
                <a:schemeClr val="dk1"/>
              </a:solidFill>
              <a:latin typeface="Arial Black"/>
              <a:ea typeface="Arial Black"/>
              <a:cs typeface="Arial Black"/>
              <a:sym typeface="Arial Black"/>
            </a:endParaRPr>
          </a:p>
          <a:p>
            <a:pPr indent="-344170" lvl="0" marL="406400" marR="0" rtl="0" algn="just">
              <a:lnSpc>
                <a:spcPct val="100000"/>
              </a:lnSpc>
              <a:spcBef>
                <a:spcPts val="0"/>
              </a:spcBef>
              <a:spcAft>
                <a:spcPts val="0"/>
              </a:spcAft>
              <a:buClr>
                <a:srgbClr val="FF0000"/>
              </a:buClr>
              <a:buSzPts val="2400"/>
              <a:buFont typeface="Verdana"/>
              <a:buChar char="•"/>
            </a:pPr>
            <a:r>
              <a:rPr b="1" lang="en-US" sz="2400">
                <a:solidFill>
                  <a:schemeClr val="dk1"/>
                </a:solidFill>
                <a:latin typeface="Times New Roman"/>
                <a:ea typeface="Times New Roman"/>
                <a:cs typeface="Times New Roman"/>
                <a:sym typeface="Times New Roman"/>
              </a:rPr>
              <a:t>Small </a:t>
            </a:r>
            <a:r>
              <a:rPr lang="en-US" sz="2400">
                <a:solidFill>
                  <a:schemeClr val="dk1"/>
                </a:solidFill>
                <a:latin typeface="Times New Roman"/>
                <a:ea typeface="Times New Roman"/>
                <a:cs typeface="Times New Roman"/>
                <a:sym typeface="Times New Roman"/>
              </a:rPr>
              <a:t>amount of fast memory</a:t>
            </a:r>
            <a:endParaRPr sz="2400">
              <a:solidFill>
                <a:schemeClr val="dk1"/>
              </a:solidFill>
              <a:latin typeface="Times New Roman"/>
              <a:ea typeface="Times New Roman"/>
              <a:cs typeface="Times New Roman"/>
              <a:sym typeface="Times New Roman"/>
            </a:endParaRPr>
          </a:p>
          <a:p>
            <a:pPr indent="0" lvl="0" marL="0" marR="0" rtl="0" algn="just">
              <a:lnSpc>
                <a:spcPct val="100000"/>
              </a:lnSpc>
              <a:spcBef>
                <a:spcPts val="25"/>
              </a:spcBef>
              <a:spcAft>
                <a:spcPts val="0"/>
              </a:spcAft>
              <a:buClr>
                <a:srgbClr val="FF0000"/>
              </a:buClr>
              <a:buSzPts val="2400"/>
              <a:buFont typeface="Verdana"/>
              <a:buNone/>
            </a:pPr>
            <a:r>
              <a:t/>
            </a:r>
            <a:endParaRPr sz="2400">
              <a:solidFill>
                <a:schemeClr val="dk1"/>
              </a:solidFill>
              <a:latin typeface="Times New Roman"/>
              <a:ea typeface="Times New Roman"/>
              <a:cs typeface="Times New Roman"/>
              <a:sym typeface="Times New Roman"/>
            </a:endParaRPr>
          </a:p>
          <a:p>
            <a:pPr indent="-344170" lvl="0" marL="406400" marR="0" rtl="0" algn="just">
              <a:lnSpc>
                <a:spcPct val="100000"/>
              </a:lnSpc>
              <a:spcBef>
                <a:spcPts val="0"/>
              </a:spcBef>
              <a:spcAft>
                <a:spcPts val="0"/>
              </a:spcAft>
              <a:buClr>
                <a:srgbClr val="FF0000"/>
              </a:buClr>
              <a:buSzPts val="2400"/>
              <a:buFont typeface="Times New Roman"/>
              <a:buChar char="•"/>
            </a:pPr>
            <a:r>
              <a:rPr lang="en-US" sz="2400">
                <a:solidFill>
                  <a:schemeClr val="dk1"/>
                </a:solidFill>
                <a:latin typeface="Times New Roman"/>
                <a:ea typeface="Times New Roman"/>
                <a:cs typeface="Times New Roman"/>
                <a:sym typeface="Times New Roman"/>
              </a:rPr>
              <a:t>Sits between main memory and CPU</a:t>
            </a:r>
            <a:endParaRPr sz="2400">
              <a:solidFill>
                <a:schemeClr val="dk1"/>
              </a:solidFill>
              <a:latin typeface="Times New Roman"/>
              <a:ea typeface="Times New Roman"/>
              <a:cs typeface="Times New Roman"/>
              <a:sym typeface="Times New Roman"/>
            </a:endParaRPr>
          </a:p>
          <a:p>
            <a:pPr indent="0" lvl="0" marL="0" marR="0" rtl="0" algn="just">
              <a:lnSpc>
                <a:spcPct val="100000"/>
              </a:lnSpc>
              <a:spcBef>
                <a:spcPts val="25"/>
              </a:spcBef>
              <a:spcAft>
                <a:spcPts val="0"/>
              </a:spcAft>
              <a:buClr>
                <a:srgbClr val="FF0000"/>
              </a:buClr>
              <a:buSzPts val="2400"/>
              <a:buFont typeface="Verdana"/>
              <a:buNone/>
            </a:pPr>
            <a:r>
              <a:t/>
            </a:r>
            <a:endParaRPr sz="2400">
              <a:solidFill>
                <a:schemeClr val="dk1"/>
              </a:solidFill>
              <a:latin typeface="Times New Roman"/>
              <a:ea typeface="Times New Roman"/>
              <a:cs typeface="Times New Roman"/>
              <a:sym typeface="Times New Roman"/>
            </a:endParaRPr>
          </a:p>
          <a:p>
            <a:pPr indent="-344170" lvl="0" marL="406400" marR="0" rtl="0" algn="just">
              <a:lnSpc>
                <a:spcPct val="100000"/>
              </a:lnSpc>
              <a:spcBef>
                <a:spcPts val="0"/>
              </a:spcBef>
              <a:spcAft>
                <a:spcPts val="0"/>
              </a:spcAft>
              <a:buClr>
                <a:srgbClr val="FF0000"/>
              </a:buClr>
              <a:buSzPts val="2400"/>
              <a:buFont typeface="Times New Roman"/>
              <a:buChar char="•"/>
            </a:pPr>
            <a:r>
              <a:rPr lang="en-US" sz="2400">
                <a:solidFill>
                  <a:schemeClr val="dk1"/>
                </a:solidFill>
                <a:latin typeface="Times New Roman"/>
                <a:ea typeface="Times New Roman"/>
                <a:cs typeface="Times New Roman"/>
                <a:sym typeface="Times New Roman"/>
              </a:rPr>
              <a:t>May be located on CPU chip or module</a:t>
            </a:r>
            <a:endParaRPr sz="2400">
              <a:solidFill>
                <a:schemeClr val="dk1"/>
              </a:solidFill>
              <a:latin typeface="Times New Roman"/>
              <a:ea typeface="Times New Roman"/>
              <a:cs typeface="Times New Roman"/>
              <a:sym typeface="Times New Roman"/>
            </a:endParaRPr>
          </a:p>
        </p:txBody>
      </p:sp>
      <p:pic>
        <p:nvPicPr>
          <p:cNvPr id="332" name="Google Shape;332;p46"/>
          <p:cNvPicPr preferRelativeResize="0"/>
          <p:nvPr/>
        </p:nvPicPr>
        <p:blipFill rotWithShape="1">
          <a:blip r:embed="rId3">
            <a:alphaModFix/>
          </a:blip>
          <a:srcRect b="0" l="0" r="0" t="0"/>
          <a:stretch/>
        </p:blipFill>
        <p:spPr>
          <a:xfrm>
            <a:off x="0" y="3886263"/>
            <a:ext cx="9144000" cy="26824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7"/>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338" name="Google Shape;338;p47"/>
          <p:cNvSpPr txBox="1"/>
          <p:nvPr>
            <p:ph idx="1" type="body"/>
          </p:nvPr>
        </p:nvSpPr>
        <p:spPr>
          <a:xfrm>
            <a:off x="533400" y="1676400"/>
            <a:ext cx="8093710" cy="4062651"/>
          </a:xfrm>
          <a:prstGeom prst="rect">
            <a:avLst/>
          </a:prstGeom>
          <a:noFill/>
          <a:ln>
            <a:noFill/>
          </a:ln>
        </p:spPr>
        <p:txBody>
          <a:bodyPr anchorCtr="0" anchor="t" bIns="0" lIns="0" spcFirstLastPara="1" rIns="0" wrap="square" tIns="0">
            <a:spAutoFit/>
          </a:bodyPr>
          <a:lstStyle/>
          <a:p>
            <a:pPr indent="-342900" lvl="0" marL="34290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The cache contains a copy of portions of main memory. </a:t>
            </a:r>
            <a:endParaRPr/>
          </a:p>
          <a:p>
            <a:pPr indent="-342900" lvl="0" marL="34290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When the processor attempts to read a word of memory, a check is made to determine if the word is in the cache. </a:t>
            </a:r>
            <a:endParaRPr/>
          </a:p>
          <a:p>
            <a:pPr indent="-342900" lvl="0" marL="34290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If so, the word is delivered to the processor. </a:t>
            </a:r>
            <a:endParaRPr/>
          </a:p>
          <a:p>
            <a:pPr indent="-342900" lvl="0" marL="34290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If not, a block of main memory, consisting of some fixed number of words, is read into the cache and then the word is delivered to the processor.</a:t>
            </a:r>
            <a:endParaRPr/>
          </a:p>
          <a:p>
            <a:pPr indent="-342900" lvl="0" marL="342900" rtl="0" algn="just">
              <a:spcBef>
                <a:spcPts val="0"/>
              </a:spcBef>
              <a:spcAft>
                <a:spcPts val="0"/>
              </a:spcAft>
              <a:buClr>
                <a:srgbClr val="FF0000"/>
              </a:buClr>
              <a:buSzPts val="2400"/>
              <a:buFont typeface="Arial"/>
              <a:buChar char="•"/>
            </a:pPr>
            <a:r>
              <a:rPr lang="en-US" sz="2400">
                <a:solidFill>
                  <a:srgbClr val="FF0000"/>
                </a:solidFill>
                <a:latin typeface="Times New Roman"/>
                <a:ea typeface="Times New Roman"/>
                <a:cs typeface="Times New Roman"/>
                <a:sym typeface="Times New Roman"/>
              </a:rPr>
              <a:t>Locality of reference</a:t>
            </a:r>
            <a:r>
              <a:rPr lang="en-US" sz="2400">
                <a:latin typeface="Times New Roman"/>
                <a:ea typeface="Times New Roman"/>
                <a:cs typeface="Times New Roman"/>
                <a:sym typeface="Times New Roman"/>
              </a:rPr>
              <a:t>, when a block of data is fetched into the cache to satisfy a single memory reference, it is likely that there will be future references to that same memory location or to other words in the block.</a:t>
            </a:r>
            <a:endParaRPr sz="2400">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8"/>
          <p:cNvSpPr txBox="1"/>
          <p:nvPr>
            <p:ph type="title"/>
          </p:nvPr>
        </p:nvSpPr>
        <p:spPr>
          <a:xfrm>
            <a:off x="228598" y="243325"/>
            <a:ext cx="7140900" cy="4431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a:latin typeface="Comic Sans MS"/>
                <a:ea typeface="Comic Sans MS"/>
                <a:cs typeface="Comic Sans MS"/>
                <a:sym typeface="Comic Sans MS"/>
              </a:rPr>
              <a:t>The operation of cache memory</a:t>
            </a:r>
            <a:endParaRPr/>
          </a:p>
        </p:txBody>
      </p:sp>
      <p:sp>
        <p:nvSpPr>
          <p:cNvPr id="344" name="Google Shape;344;p48"/>
          <p:cNvSpPr txBox="1"/>
          <p:nvPr/>
        </p:nvSpPr>
        <p:spPr>
          <a:xfrm>
            <a:off x="1679194" y="1471929"/>
            <a:ext cx="2052320" cy="756920"/>
          </a:xfrm>
          <a:prstGeom prst="rect">
            <a:avLst/>
          </a:prstGeom>
          <a:noFill/>
          <a:ln>
            <a:noFill/>
          </a:ln>
        </p:spPr>
        <p:txBody>
          <a:bodyPr anchorCtr="0" anchor="t" bIns="0" lIns="0" spcFirstLastPara="1" rIns="0" wrap="square" tIns="12050">
            <a:spAutoFit/>
          </a:bodyPr>
          <a:lstStyle/>
          <a:p>
            <a:pPr indent="0" lvl="0" marL="12700" marR="5080" rtl="0" algn="just">
              <a:lnSpc>
                <a:spcPct val="100000"/>
              </a:lnSpc>
              <a:spcBef>
                <a:spcPts val="0"/>
              </a:spcBef>
              <a:spcAft>
                <a:spcPts val="0"/>
              </a:spcAft>
              <a:buNone/>
            </a:pPr>
            <a:r>
              <a:rPr lang="en-US" sz="1600">
                <a:solidFill>
                  <a:schemeClr val="dk1"/>
                </a:solidFill>
                <a:latin typeface="Comic Sans MS"/>
                <a:ea typeface="Comic Sans MS"/>
                <a:cs typeface="Comic Sans MS"/>
                <a:sym typeface="Comic Sans MS"/>
              </a:rPr>
              <a:t>1 Cache fetches data  from addresses in  main memory</a:t>
            </a:r>
            <a:endParaRPr sz="1600">
              <a:solidFill>
                <a:schemeClr val="dk1"/>
              </a:solidFill>
              <a:latin typeface="Comic Sans MS"/>
              <a:ea typeface="Comic Sans MS"/>
              <a:cs typeface="Comic Sans MS"/>
              <a:sym typeface="Comic Sans MS"/>
            </a:endParaRPr>
          </a:p>
        </p:txBody>
      </p:sp>
      <p:sp>
        <p:nvSpPr>
          <p:cNvPr id="345" name="Google Shape;345;p48"/>
          <p:cNvSpPr txBox="1"/>
          <p:nvPr/>
        </p:nvSpPr>
        <p:spPr>
          <a:xfrm>
            <a:off x="5489828" y="1471929"/>
            <a:ext cx="1986914" cy="100076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sz="1600">
                <a:solidFill>
                  <a:schemeClr val="dk1"/>
                </a:solidFill>
                <a:latin typeface="Comic Sans MS"/>
                <a:ea typeface="Comic Sans MS"/>
                <a:cs typeface="Comic Sans MS"/>
                <a:sym typeface="Comic Sans MS"/>
              </a:rPr>
              <a:t>2. CPU checks to see  whether the next  instruction it  requires is in cache</a:t>
            </a:r>
            <a:endParaRPr sz="1600">
              <a:solidFill>
                <a:schemeClr val="dk1"/>
              </a:solidFill>
              <a:latin typeface="Comic Sans MS"/>
              <a:ea typeface="Comic Sans MS"/>
              <a:cs typeface="Comic Sans MS"/>
              <a:sym typeface="Comic Sans MS"/>
            </a:endParaRPr>
          </a:p>
        </p:txBody>
      </p:sp>
      <p:sp>
        <p:nvSpPr>
          <p:cNvPr id="346" name="Google Shape;346;p48"/>
          <p:cNvSpPr txBox="1"/>
          <p:nvPr/>
        </p:nvSpPr>
        <p:spPr>
          <a:xfrm>
            <a:off x="5489828" y="4339844"/>
            <a:ext cx="2052320" cy="1244600"/>
          </a:xfrm>
          <a:prstGeom prst="rect">
            <a:avLst/>
          </a:prstGeom>
          <a:noFill/>
          <a:ln>
            <a:noFill/>
          </a:ln>
        </p:spPr>
        <p:txBody>
          <a:bodyPr anchorCtr="0" anchor="t" bIns="0" lIns="0" spcFirstLastPara="1" rIns="0" wrap="square" tIns="12050">
            <a:spAutoFit/>
          </a:bodyPr>
          <a:lstStyle/>
          <a:p>
            <a:pPr indent="0" lvl="0" marL="12700" marR="5080" rtl="0" algn="just">
              <a:lnSpc>
                <a:spcPct val="100000"/>
              </a:lnSpc>
              <a:spcBef>
                <a:spcPts val="0"/>
              </a:spcBef>
              <a:spcAft>
                <a:spcPts val="0"/>
              </a:spcAft>
              <a:buNone/>
            </a:pPr>
            <a:r>
              <a:rPr lang="en-US" sz="1600">
                <a:solidFill>
                  <a:schemeClr val="dk1"/>
                </a:solidFill>
                <a:latin typeface="Comic Sans MS"/>
                <a:ea typeface="Comic Sans MS"/>
                <a:cs typeface="Comic Sans MS"/>
                <a:sym typeface="Comic Sans MS"/>
              </a:rPr>
              <a:t>3. If present then  the instruction is  fetched from the  cache – a very fast  operation</a:t>
            </a:r>
            <a:endParaRPr sz="1600">
              <a:solidFill>
                <a:schemeClr val="dk1"/>
              </a:solidFill>
              <a:latin typeface="Comic Sans MS"/>
              <a:ea typeface="Comic Sans MS"/>
              <a:cs typeface="Comic Sans MS"/>
              <a:sym typeface="Comic Sans MS"/>
            </a:endParaRPr>
          </a:p>
        </p:txBody>
      </p:sp>
      <p:sp>
        <p:nvSpPr>
          <p:cNvPr id="347" name="Google Shape;347;p48"/>
          <p:cNvSpPr txBox="1"/>
          <p:nvPr/>
        </p:nvSpPr>
        <p:spPr>
          <a:xfrm>
            <a:off x="1679194" y="4444746"/>
            <a:ext cx="2052320" cy="1243965"/>
          </a:xfrm>
          <a:prstGeom prst="rect">
            <a:avLst/>
          </a:prstGeom>
          <a:noFill/>
          <a:ln>
            <a:noFill/>
          </a:ln>
        </p:spPr>
        <p:txBody>
          <a:bodyPr anchorCtr="0" anchor="t" bIns="0" lIns="0" spcFirstLastPara="1" rIns="0" wrap="square" tIns="12050">
            <a:spAutoFit/>
          </a:bodyPr>
          <a:lstStyle/>
          <a:p>
            <a:pPr indent="0" lvl="0" marL="12700" marR="5080" rtl="0" algn="just">
              <a:lnSpc>
                <a:spcPct val="100000"/>
              </a:lnSpc>
              <a:spcBef>
                <a:spcPts val="0"/>
              </a:spcBef>
              <a:spcAft>
                <a:spcPts val="0"/>
              </a:spcAft>
              <a:buNone/>
            </a:pPr>
            <a:r>
              <a:rPr lang="en-US" sz="1600">
                <a:solidFill>
                  <a:schemeClr val="dk1"/>
                </a:solidFill>
                <a:latin typeface="Comic Sans MS"/>
                <a:ea typeface="Comic Sans MS"/>
                <a:cs typeface="Comic Sans MS"/>
                <a:sym typeface="Comic Sans MS"/>
              </a:rPr>
              <a:t>4. If not, the CPU  has to fetch next  instruction from  main memory - a  much slower process</a:t>
            </a:r>
            <a:endParaRPr sz="1600">
              <a:solidFill>
                <a:schemeClr val="dk1"/>
              </a:solidFill>
              <a:latin typeface="Comic Sans MS"/>
              <a:ea typeface="Comic Sans MS"/>
              <a:cs typeface="Comic Sans MS"/>
              <a:sym typeface="Comic Sans MS"/>
            </a:endParaRPr>
          </a:p>
        </p:txBody>
      </p:sp>
      <p:sp>
        <p:nvSpPr>
          <p:cNvPr id="348" name="Google Shape;348;p48"/>
          <p:cNvSpPr txBox="1"/>
          <p:nvPr/>
        </p:nvSpPr>
        <p:spPr>
          <a:xfrm>
            <a:off x="228600" y="2824225"/>
            <a:ext cx="1295400" cy="14160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0">
            <a:spAutoFit/>
          </a:bodyPr>
          <a:lstStyle/>
          <a:p>
            <a:pPr indent="0" lvl="0" marL="0" marR="90170" rtl="0" algn="ctr">
              <a:lnSpc>
                <a:spcPct val="150000"/>
              </a:lnSpc>
              <a:spcBef>
                <a:spcPts val="2120"/>
              </a:spcBef>
              <a:spcAft>
                <a:spcPts val="0"/>
              </a:spcAft>
              <a:buNone/>
            </a:pPr>
            <a:r>
              <a:rPr lang="en-US" sz="2800">
                <a:solidFill>
                  <a:schemeClr val="dk1"/>
                </a:solidFill>
                <a:latin typeface="Times New Roman"/>
                <a:ea typeface="Times New Roman"/>
                <a:cs typeface="Times New Roman"/>
                <a:sym typeface="Times New Roman"/>
              </a:rPr>
              <a:t>M</a:t>
            </a:r>
            <a:r>
              <a:rPr lang="en-US" sz="2000">
                <a:solidFill>
                  <a:schemeClr val="dk1"/>
                </a:solidFill>
                <a:latin typeface="Comic Sans MS"/>
                <a:ea typeface="Comic Sans MS"/>
                <a:cs typeface="Comic Sans MS"/>
                <a:sym typeface="Comic Sans MS"/>
              </a:rPr>
              <a:t>ain  Memory  (DRAM)</a:t>
            </a:r>
            <a:endParaRPr sz="2000">
              <a:solidFill>
                <a:schemeClr val="dk1"/>
              </a:solidFill>
              <a:latin typeface="Comic Sans MS"/>
              <a:ea typeface="Comic Sans MS"/>
              <a:cs typeface="Comic Sans MS"/>
              <a:sym typeface="Comic Sans MS"/>
            </a:endParaRPr>
          </a:p>
        </p:txBody>
      </p:sp>
      <p:sp>
        <p:nvSpPr>
          <p:cNvPr id="349" name="Google Shape;349;p48"/>
          <p:cNvSpPr txBox="1"/>
          <p:nvPr/>
        </p:nvSpPr>
        <p:spPr>
          <a:xfrm>
            <a:off x="7848600" y="3275100"/>
            <a:ext cx="990600" cy="3078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2000">
                <a:solidFill>
                  <a:schemeClr val="dk1"/>
                </a:solidFill>
                <a:latin typeface="Comic Sans MS"/>
                <a:ea typeface="Comic Sans MS"/>
                <a:cs typeface="Comic Sans MS"/>
                <a:sym typeface="Comic Sans MS"/>
              </a:rPr>
              <a:t>CPU</a:t>
            </a:r>
            <a:endParaRPr sz="2000">
              <a:solidFill>
                <a:schemeClr val="dk1"/>
              </a:solidFill>
              <a:latin typeface="Comic Sans MS"/>
              <a:ea typeface="Comic Sans MS"/>
              <a:cs typeface="Comic Sans MS"/>
              <a:sym typeface="Comic Sans MS"/>
            </a:endParaRPr>
          </a:p>
        </p:txBody>
      </p:sp>
      <p:sp>
        <p:nvSpPr>
          <p:cNvPr id="350" name="Google Shape;350;p48"/>
          <p:cNvSpPr txBox="1"/>
          <p:nvPr/>
        </p:nvSpPr>
        <p:spPr>
          <a:xfrm>
            <a:off x="3962400" y="2849400"/>
            <a:ext cx="1447800" cy="12360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4425">
            <a:spAutoFit/>
          </a:bodyPr>
          <a:lstStyle/>
          <a:p>
            <a:pPr indent="124459" lvl="0" marL="134620" marR="127000" rtl="0" algn="l">
              <a:lnSpc>
                <a:spcPct val="150000"/>
              </a:lnSpc>
              <a:spcBef>
                <a:spcPts val="0"/>
              </a:spcBef>
              <a:spcAft>
                <a:spcPts val="0"/>
              </a:spcAft>
              <a:buNone/>
            </a:pPr>
            <a:r>
              <a:rPr lang="en-US" sz="2000">
                <a:solidFill>
                  <a:schemeClr val="dk1"/>
                </a:solidFill>
                <a:latin typeface="Comic Sans MS"/>
                <a:ea typeface="Comic Sans MS"/>
                <a:cs typeface="Comic Sans MS"/>
                <a:sym typeface="Comic Sans MS"/>
              </a:rPr>
              <a:t>Cache  Memory  (SRAM)</a:t>
            </a:r>
            <a:endParaRPr sz="2000">
              <a:solidFill>
                <a:schemeClr val="dk1"/>
              </a:solidFill>
              <a:latin typeface="Comic Sans MS"/>
              <a:ea typeface="Comic Sans MS"/>
              <a:cs typeface="Comic Sans MS"/>
              <a:sym typeface="Comic Sans MS"/>
            </a:endParaRPr>
          </a:p>
        </p:txBody>
      </p:sp>
      <p:grpSp>
        <p:nvGrpSpPr>
          <p:cNvPr id="351" name="Google Shape;351;p48"/>
          <p:cNvGrpSpPr/>
          <p:nvPr/>
        </p:nvGrpSpPr>
        <p:grpSpPr>
          <a:xfrm>
            <a:off x="1752600" y="2743200"/>
            <a:ext cx="2057400" cy="990600"/>
            <a:chOff x="1752600" y="2743200"/>
            <a:chExt cx="2057400" cy="990600"/>
          </a:xfrm>
        </p:grpSpPr>
        <p:sp>
          <p:nvSpPr>
            <p:cNvPr id="352" name="Google Shape;352;p48"/>
            <p:cNvSpPr/>
            <p:nvPr/>
          </p:nvSpPr>
          <p:spPr>
            <a:xfrm>
              <a:off x="1752600" y="2743200"/>
              <a:ext cx="2057400" cy="990600"/>
            </a:xfrm>
            <a:custGeom>
              <a:rect b="b" l="l" r="r" t="t"/>
              <a:pathLst>
                <a:path extrusionOk="0" h="990600" w="2057400">
                  <a:moveTo>
                    <a:pt x="1645920" y="0"/>
                  </a:moveTo>
                  <a:lnTo>
                    <a:pt x="1645920" y="247650"/>
                  </a:lnTo>
                  <a:lnTo>
                    <a:pt x="411480" y="247650"/>
                  </a:lnTo>
                  <a:lnTo>
                    <a:pt x="411480" y="0"/>
                  </a:lnTo>
                  <a:lnTo>
                    <a:pt x="0" y="495300"/>
                  </a:lnTo>
                  <a:lnTo>
                    <a:pt x="411480" y="990600"/>
                  </a:lnTo>
                  <a:lnTo>
                    <a:pt x="411480" y="742950"/>
                  </a:lnTo>
                  <a:lnTo>
                    <a:pt x="1645920" y="742950"/>
                  </a:lnTo>
                  <a:lnTo>
                    <a:pt x="1645920" y="990600"/>
                  </a:lnTo>
                  <a:lnTo>
                    <a:pt x="2057400" y="495300"/>
                  </a:lnTo>
                  <a:lnTo>
                    <a:pt x="1645920" y="0"/>
                  </a:lnTo>
                  <a:close/>
                </a:path>
              </a:pathLst>
            </a:custGeom>
            <a:solidFill>
              <a:srgbClr val="FF66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3" name="Google Shape;353;p48"/>
            <p:cNvSpPr/>
            <p:nvPr/>
          </p:nvSpPr>
          <p:spPr>
            <a:xfrm>
              <a:off x="1752600" y="2743200"/>
              <a:ext cx="2057400" cy="990600"/>
            </a:xfrm>
            <a:custGeom>
              <a:rect b="b" l="l" r="r" t="t"/>
              <a:pathLst>
                <a:path extrusionOk="0" h="990600" w="2057400">
                  <a:moveTo>
                    <a:pt x="0" y="495300"/>
                  </a:moveTo>
                  <a:lnTo>
                    <a:pt x="411480" y="0"/>
                  </a:lnTo>
                  <a:lnTo>
                    <a:pt x="411480" y="247650"/>
                  </a:lnTo>
                  <a:lnTo>
                    <a:pt x="1645920" y="247650"/>
                  </a:lnTo>
                  <a:lnTo>
                    <a:pt x="1645920" y="0"/>
                  </a:lnTo>
                  <a:lnTo>
                    <a:pt x="2057400" y="495300"/>
                  </a:lnTo>
                  <a:lnTo>
                    <a:pt x="1645920" y="990600"/>
                  </a:lnTo>
                  <a:lnTo>
                    <a:pt x="1645920" y="742950"/>
                  </a:lnTo>
                  <a:lnTo>
                    <a:pt x="411480" y="742950"/>
                  </a:lnTo>
                  <a:lnTo>
                    <a:pt x="411480" y="990600"/>
                  </a:lnTo>
                  <a:lnTo>
                    <a:pt x="0" y="4953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54" name="Google Shape;354;p48"/>
          <p:cNvGrpSpPr/>
          <p:nvPr/>
        </p:nvGrpSpPr>
        <p:grpSpPr>
          <a:xfrm>
            <a:off x="5486400" y="2743200"/>
            <a:ext cx="2057400" cy="914400"/>
            <a:chOff x="5486400" y="2743200"/>
            <a:chExt cx="2057400" cy="914400"/>
          </a:xfrm>
        </p:grpSpPr>
        <p:sp>
          <p:nvSpPr>
            <p:cNvPr id="355" name="Google Shape;355;p48"/>
            <p:cNvSpPr/>
            <p:nvPr/>
          </p:nvSpPr>
          <p:spPr>
            <a:xfrm>
              <a:off x="5486400" y="2743200"/>
              <a:ext cx="2057400" cy="914400"/>
            </a:xfrm>
            <a:custGeom>
              <a:rect b="b" l="l" r="r" t="t"/>
              <a:pathLst>
                <a:path extrusionOk="0" h="914400" w="2057400">
                  <a:moveTo>
                    <a:pt x="1645920" y="0"/>
                  </a:moveTo>
                  <a:lnTo>
                    <a:pt x="1645920" y="228600"/>
                  </a:lnTo>
                  <a:lnTo>
                    <a:pt x="411479" y="228600"/>
                  </a:lnTo>
                  <a:lnTo>
                    <a:pt x="411479" y="0"/>
                  </a:lnTo>
                  <a:lnTo>
                    <a:pt x="0" y="457200"/>
                  </a:lnTo>
                  <a:lnTo>
                    <a:pt x="411479" y="914400"/>
                  </a:lnTo>
                  <a:lnTo>
                    <a:pt x="411479" y="685800"/>
                  </a:lnTo>
                  <a:lnTo>
                    <a:pt x="1645920" y="685800"/>
                  </a:lnTo>
                  <a:lnTo>
                    <a:pt x="1645920" y="914400"/>
                  </a:lnTo>
                  <a:lnTo>
                    <a:pt x="2057400" y="457200"/>
                  </a:lnTo>
                  <a:lnTo>
                    <a:pt x="1645920" y="0"/>
                  </a:lnTo>
                  <a:close/>
                </a:path>
              </a:pathLst>
            </a:custGeom>
            <a:solidFill>
              <a:srgbClr val="FF66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6" name="Google Shape;356;p48"/>
            <p:cNvSpPr/>
            <p:nvPr/>
          </p:nvSpPr>
          <p:spPr>
            <a:xfrm>
              <a:off x="5486400" y="2743200"/>
              <a:ext cx="2057400" cy="914400"/>
            </a:xfrm>
            <a:custGeom>
              <a:rect b="b" l="l" r="r" t="t"/>
              <a:pathLst>
                <a:path extrusionOk="0" h="914400" w="2057400">
                  <a:moveTo>
                    <a:pt x="0" y="457200"/>
                  </a:moveTo>
                  <a:lnTo>
                    <a:pt x="411479" y="0"/>
                  </a:lnTo>
                  <a:lnTo>
                    <a:pt x="411479" y="228600"/>
                  </a:lnTo>
                  <a:lnTo>
                    <a:pt x="1645920" y="228600"/>
                  </a:lnTo>
                  <a:lnTo>
                    <a:pt x="1645920" y="0"/>
                  </a:lnTo>
                  <a:lnTo>
                    <a:pt x="2057400" y="457200"/>
                  </a:lnTo>
                  <a:lnTo>
                    <a:pt x="1645920" y="914400"/>
                  </a:lnTo>
                  <a:lnTo>
                    <a:pt x="1645920" y="685800"/>
                  </a:lnTo>
                  <a:lnTo>
                    <a:pt x="411479" y="685800"/>
                  </a:lnTo>
                  <a:lnTo>
                    <a:pt x="411479" y="914400"/>
                  </a:lnTo>
                  <a:lnTo>
                    <a:pt x="0" y="4572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57" name="Google Shape;357;p48"/>
          <p:cNvGrpSpPr/>
          <p:nvPr/>
        </p:nvGrpSpPr>
        <p:grpSpPr>
          <a:xfrm>
            <a:off x="4267200" y="6248400"/>
            <a:ext cx="1143000" cy="381000"/>
            <a:chOff x="4267200" y="6248400"/>
            <a:chExt cx="1143000" cy="381000"/>
          </a:xfrm>
        </p:grpSpPr>
        <p:sp>
          <p:nvSpPr>
            <p:cNvPr id="358" name="Google Shape;358;p48"/>
            <p:cNvSpPr/>
            <p:nvPr/>
          </p:nvSpPr>
          <p:spPr>
            <a:xfrm>
              <a:off x="4267200" y="6248400"/>
              <a:ext cx="1143000" cy="381000"/>
            </a:xfrm>
            <a:custGeom>
              <a:rect b="b" l="l" r="r" t="t"/>
              <a:pathLst>
                <a:path extrusionOk="0" h="381000" w="1143000">
                  <a:moveTo>
                    <a:pt x="914400" y="0"/>
                  </a:moveTo>
                  <a:lnTo>
                    <a:pt x="914400" y="95250"/>
                  </a:lnTo>
                  <a:lnTo>
                    <a:pt x="228600" y="95250"/>
                  </a:lnTo>
                  <a:lnTo>
                    <a:pt x="228600" y="0"/>
                  </a:lnTo>
                  <a:lnTo>
                    <a:pt x="0" y="190500"/>
                  </a:lnTo>
                  <a:lnTo>
                    <a:pt x="228600" y="381000"/>
                  </a:lnTo>
                  <a:lnTo>
                    <a:pt x="228600" y="285750"/>
                  </a:lnTo>
                  <a:lnTo>
                    <a:pt x="914400" y="285750"/>
                  </a:lnTo>
                  <a:lnTo>
                    <a:pt x="914400" y="381000"/>
                  </a:lnTo>
                  <a:lnTo>
                    <a:pt x="1143000" y="190500"/>
                  </a:lnTo>
                  <a:lnTo>
                    <a:pt x="914400" y="0"/>
                  </a:lnTo>
                  <a:close/>
                </a:path>
              </a:pathLst>
            </a:custGeom>
            <a:solidFill>
              <a:srgbClr val="FF66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9" name="Google Shape;359;p48"/>
            <p:cNvSpPr/>
            <p:nvPr/>
          </p:nvSpPr>
          <p:spPr>
            <a:xfrm>
              <a:off x="4267200" y="6248400"/>
              <a:ext cx="1143000" cy="381000"/>
            </a:xfrm>
            <a:custGeom>
              <a:rect b="b" l="l" r="r" t="t"/>
              <a:pathLst>
                <a:path extrusionOk="0" h="381000" w="1143000">
                  <a:moveTo>
                    <a:pt x="0" y="190500"/>
                  </a:moveTo>
                  <a:lnTo>
                    <a:pt x="228600" y="0"/>
                  </a:lnTo>
                  <a:lnTo>
                    <a:pt x="228600" y="95250"/>
                  </a:lnTo>
                  <a:lnTo>
                    <a:pt x="914400" y="95250"/>
                  </a:lnTo>
                  <a:lnTo>
                    <a:pt x="914400" y="0"/>
                  </a:lnTo>
                  <a:lnTo>
                    <a:pt x="1143000" y="190500"/>
                  </a:lnTo>
                  <a:lnTo>
                    <a:pt x="914400" y="381000"/>
                  </a:lnTo>
                  <a:lnTo>
                    <a:pt x="914400" y="285750"/>
                  </a:lnTo>
                  <a:lnTo>
                    <a:pt x="228600" y="285750"/>
                  </a:lnTo>
                  <a:lnTo>
                    <a:pt x="228600" y="381000"/>
                  </a:lnTo>
                  <a:lnTo>
                    <a:pt x="0" y="1905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60" name="Google Shape;360;p48"/>
          <p:cNvSpPr txBox="1"/>
          <p:nvPr/>
        </p:nvSpPr>
        <p:spPr>
          <a:xfrm>
            <a:off x="5718809" y="6273800"/>
            <a:ext cx="1685925"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600">
                <a:solidFill>
                  <a:schemeClr val="dk1"/>
                </a:solidFill>
                <a:latin typeface="Comic Sans MS"/>
                <a:ea typeface="Comic Sans MS"/>
                <a:cs typeface="Comic Sans MS"/>
                <a:sym typeface="Comic Sans MS"/>
              </a:rPr>
              <a:t>= Bus connections</a:t>
            </a:r>
            <a:endParaRPr sz="1600">
              <a:solidFill>
                <a:schemeClr val="dk1"/>
              </a:solidFill>
              <a:latin typeface="Comic Sans MS"/>
              <a:ea typeface="Comic Sans MS"/>
              <a:cs typeface="Comic Sans MS"/>
              <a:sym typeface="Comic Sans M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9"/>
          <p:cNvSpPr txBox="1"/>
          <p:nvPr/>
        </p:nvSpPr>
        <p:spPr>
          <a:xfrm>
            <a:off x="231150" y="185200"/>
            <a:ext cx="8148900" cy="6580200"/>
          </a:xfrm>
          <a:prstGeom prst="rect">
            <a:avLst/>
          </a:prstGeom>
          <a:noFill/>
          <a:ln>
            <a:noFill/>
          </a:ln>
        </p:spPr>
        <p:txBody>
          <a:bodyPr anchorCtr="0" anchor="t" bIns="0" lIns="0" spcFirstLastPara="1" rIns="0" wrap="square" tIns="12050">
            <a:spAutoFit/>
          </a:bodyPr>
          <a:lstStyle/>
          <a:p>
            <a:pPr indent="0" lvl="0" marL="266700" marR="0" rtl="0" algn="l">
              <a:lnSpc>
                <a:spcPct val="100000"/>
              </a:lnSpc>
              <a:spcBef>
                <a:spcPts val="0"/>
              </a:spcBef>
              <a:spcAft>
                <a:spcPts val="0"/>
              </a:spcAft>
              <a:buNone/>
            </a:pPr>
            <a:r>
              <a:rPr lang="en-US" sz="2800">
                <a:solidFill>
                  <a:schemeClr val="dk1"/>
                </a:solidFill>
                <a:latin typeface="Arial Black"/>
                <a:ea typeface="Arial Black"/>
                <a:cs typeface="Arial Black"/>
                <a:sym typeface="Arial Black"/>
              </a:rPr>
              <a:t>Cache operation – overview</a:t>
            </a:r>
            <a:endParaRPr sz="2800">
              <a:solidFill>
                <a:schemeClr val="dk1"/>
              </a:solidFill>
              <a:latin typeface="Arial Black"/>
              <a:ea typeface="Arial Black"/>
              <a:cs typeface="Arial Black"/>
              <a:sym typeface="Arial Black"/>
            </a:endParaRPr>
          </a:p>
          <a:p>
            <a:pPr indent="-342900" lvl="0" marL="355600" marR="0" rtl="0" algn="l">
              <a:lnSpc>
                <a:spcPct val="100000"/>
              </a:lnSpc>
              <a:spcBef>
                <a:spcPts val="247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CPU requests contents of memory location</a:t>
            </a:r>
            <a:endParaRPr sz="2800">
              <a:solidFill>
                <a:schemeClr val="dk1"/>
              </a:solidFill>
              <a:latin typeface="Verdana"/>
              <a:ea typeface="Verdana"/>
              <a:cs typeface="Verdana"/>
              <a:sym typeface="Verdana"/>
            </a:endParaRPr>
          </a:p>
          <a:p>
            <a:pPr indent="-342900" lvl="0" marL="355600" marR="0" rtl="0" algn="l">
              <a:lnSpc>
                <a:spcPct val="100000"/>
              </a:lnSpc>
              <a:spcBef>
                <a:spcPts val="235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Check cache for this data</a:t>
            </a:r>
            <a:endParaRPr sz="2800">
              <a:solidFill>
                <a:schemeClr val="dk1"/>
              </a:solidFill>
              <a:latin typeface="Verdana"/>
              <a:ea typeface="Verdana"/>
              <a:cs typeface="Verdana"/>
              <a:sym typeface="Verdana"/>
            </a:endParaRPr>
          </a:p>
          <a:p>
            <a:pPr indent="-342900" lvl="0" marL="355600" marR="0" rtl="0" algn="l">
              <a:lnSpc>
                <a:spcPct val="100000"/>
              </a:lnSpc>
              <a:spcBef>
                <a:spcPts val="235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If present, get from cache (fast)</a:t>
            </a:r>
            <a:endParaRPr sz="2800">
              <a:solidFill>
                <a:schemeClr val="dk1"/>
              </a:solidFill>
              <a:latin typeface="Verdana"/>
              <a:ea typeface="Verdana"/>
              <a:cs typeface="Verdana"/>
              <a:sym typeface="Verdana"/>
            </a:endParaRPr>
          </a:p>
          <a:p>
            <a:pPr indent="-342900" lvl="0" marL="355600" marR="638810" rtl="0" algn="l">
              <a:lnSpc>
                <a:spcPct val="150000"/>
              </a:lnSpc>
              <a:spcBef>
                <a:spcPts val="67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If not present, read required block from  main memory to cache</a:t>
            </a:r>
            <a:endParaRPr sz="2800">
              <a:solidFill>
                <a:schemeClr val="dk1"/>
              </a:solidFill>
              <a:latin typeface="Verdana"/>
              <a:ea typeface="Verdana"/>
              <a:cs typeface="Verdana"/>
              <a:sym typeface="Verdana"/>
            </a:endParaRPr>
          </a:p>
          <a:p>
            <a:pPr indent="-342900" lvl="0" marL="355600" marR="638810" rtl="0" algn="l">
              <a:lnSpc>
                <a:spcPct val="150000"/>
              </a:lnSpc>
              <a:spcBef>
                <a:spcPts val="67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Then deliver from cache to CPU</a:t>
            </a:r>
            <a:endParaRPr sz="2800">
              <a:solidFill>
                <a:schemeClr val="dk1"/>
              </a:solidFill>
              <a:latin typeface="Verdana"/>
              <a:ea typeface="Verdana"/>
              <a:cs typeface="Verdana"/>
              <a:sym typeface="Verdana"/>
            </a:endParaRPr>
          </a:p>
          <a:p>
            <a:pPr indent="-342900" lvl="0" marL="355600" marR="5080" rtl="0" algn="l">
              <a:lnSpc>
                <a:spcPct val="150000"/>
              </a:lnSpc>
              <a:spcBef>
                <a:spcPts val="67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Cache includes </a:t>
            </a:r>
            <a:r>
              <a:rPr b="1" lang="en-US" sz="2800">
                <a:solidFill>
                  <a:srgbClr val="FF0000"/>
                </a:solidFill>
                <a:latin typeface="Verdana"/>
                <a:ea typeface="Verdana"/>
                <a:cs typeface="Verdana"/>
                <a:sym typeface="Verdana"/>
              </a:rPr>
              <a:t>tags </a:t>
            </a:r>
            <a:r>
              <a:rPr lang="en-US" sz="2800">
                <a:solidFill>
                  <a:schemeClr val="dk1"/>
                </a:solidFill>
                <a:latin typeface="Verdana"/>
                <a:ea typeface="Verdana"/>
                <a:cs typeface="Verdana"/>
                <a:sym typeface="Verdana"/>
              </a:rPr>
              <a:t>to identify which block  of main memory is in each cache slot</a:t>
            </a:r>
            <a:endParaRPr sz="2800">
              <a:solidFill>
                <a:schemeClr val="dk1"/>
              </a:solidFill>
              <a:latin typeface="Verdana"/>
              <a:ea typeface="Verdana"/>
              <a:cs typeface="Verdana"/>
              <a:sym typeface="Verdana"/>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0"/>
          <p:cNvSpPr txBox="1"/>
          <p:nvPr/>
        </p:nvSpPr>
        <p:spPr>
          <a:xfrm>
            <a:off x="535940" y="1018921"/>
            <a:ext cx="8161800" cy="5573100"/>
          </a:xfrm>
          <a:prstGeom prst="rect">
            <a:avLst/>
          </a:prstGeom>
          <a:noFill/>
          <a:ln>
            <a:noFill/>
          </a:ln>
        </p:spPr>
        <p:txBody>
          <a:bodyPr anchorCtr="0" anchor="t" bIns="0" lIns="0" spcFirstLastPara="1" rIns="0" wrap="square" tIns="182225">
            <a:spAutoFit/>
          </a:bodyPr>
          <a:lstStyle/>
          <a:p>
            <a:pPr indent="-356235" lvl="0" marL="355600" marR="0" rtl="0" algn="l">
              <a:lnSpc>
                <a:spcPct val="100000"/>
              </a:lnSpc>
              <a:spcBef>
                <a:spcPts val="0"/>
              </a:spcBef>
              <a:spcAft>
                <a:spcPts val="0"/>
              </a:spcAft>
              <a:buClr>
                <a:schemeClr val="dk1"/>
              </a:buClr>
              <a:buSzPts val="2200"/>
              <a:buChar char="•"/>
            </a:pPr>
            <a:r>
              <a:rPr lang="en-US" sz="2200">
                <a:solidFill>
                  <a:schemeClr val="dk1"/>
                </a:solidFill>
              </a:rPr>
              <a:t>CPU cache is divided into three main 'Levels', L1, L2, and L3.</a:t>
            </a:r>
            <a:endParaRPr sz="2200">
              <a:solidFill>
                <a:schemeClr val="dk1"/>
              </a:solidFill>
            </a:endParaRPr>
          </a:p>
          <a:p>
            <a:pPr indent="-342900" lvl="0" marL="1099185" marR="382270" rtl="0" algn="l">
              <a:lnSpc>
                <a:spcPct val="150200"/>
              </a:lnSpc>
              <a:spcBef>
                <a:spcPts val="100"/>
              </a:spcBef>
              <a:spcAft>
                <a:spcPts val="0"/>
              </a:spcAft>
              <a:buNone/>
            </a:pPr>
            <a:r>
              <a:rPr lang="en-US" sz="2200">
                <a:solidFill>
                  <a:schemeClr val="dk1"/>
                </a:solidFill>
              </a:rPr>
              <a:t>—	The hierarchy is according to the speed, and thus, the size of the  cache.</a:t>
            </a:r>
            <a:endParaRPr sz="2200">
              <a:solidFill>
                <a:schemeClr val="dk1"/>
              </a:solidFill>
            </a:endParaRPr>
          </a:p>
          <a:p>
            <a:pPr indent="-330835" lvl="0" marL="355600" marR="112395" rtl="0" algn="l">
              <a:lnSpc>
                <a:spcPct val="180000"/>
              </a:lnSpc>
              <a:spcBef>
                <a:spcPts val="185"/>
              </a:spcBef>
              <a:spcAft>
                <a:spcPts val="0"/>
              </a:spcAft>
              <a:buClr>
                <a:schemeClr val="dk1"/>
              </a:buClr>
              <a:buSzPts val="2200"/>
              <a:buFont typeface="Noto Sans Symbols"/>
              <a:buChar char="⮚"/>
            </a:pPr>
            <a:r>
              <a:rPr b="1" lang="en-US" sz="2200">
                <a:solidFill>
                  <a:schemeClr val="dk1"/>
                </a:solidFill>
              </a:rPr>
              <a:t>Level 1 (L1) cache </a:t>
            </a:r>
            <a:r>
              <a:rPr lang="en-US" sz="2200">
                <a:solidFill>
                  <a:schemeClr val="dk1"/>
                </a:solidFill>
              </a:rPr>
              <a:t>-fast small, </a:t>
            </a:r>
            <a:r>
              <a:rPr b="1" lang="en-US" sz="2200">
                <a:solidFill>
                  <a:srgbClr val="FF0000"/>
                </a:solidFill>
              </a:rPr>
              <a:t>embedded </a:t>
            </a:r>
            <a:r>
              <a:rPr lang="en-US" sz="2200">
                <a:solidFill>
                  <a:schemeClr val="dk1"/>
                </a:solidFill>
              </a:rPr>
              <a:t>in the processor chip  (CPU).</a:t>
            </a:r>
            <a:endParaRPr sz="2200">
              <a:solidFill>
                <a:schemeClr val="dk1"/>
              </a:solidFill>
            </a:endParaRPr>
          </a:p>
          <a:p>
            <a:pPr indent="-330835" lvl="0" marL="355600" marR="194310" rtl="0" algn="l">
              <a:lnSpc>
                <a:spcPct val="180000"/>
              </a:lnSpc>
              <a:spcBef>
                <a:spcPts val="0"/>
              </a:spcBef>
              <a:spcAft>
                <a:spcPts val="0"/>
              </a:spcAft>
              <a:buClr>
                <a:schemeClr val="dk1"/>
              </a:buClr>
              <a:buSzPts val="2200"/>
              <a:buFont typeface="Noto Sans Symbols"/>
              <a:buChar char="⮚"/>
            </a:pPr>
            <a:r>
              <a:rPr b="1" lang="en-US" sz="2200">
                <a:solidFill>
                  <a:schemeClr val="dk1"/>
                </a:solidFill>
              </a:rPr>
              <a:t>Level 2 (L2) cache </a:t>
            </a:r>
            <a:r>
              <a:rPr lang="en-US" sz="2200">
                <a:solidFill>
                  <a:schemeClr val="dk1"/>
                </a:solidFill>
              </a:rPr>
              <a:t>more capacity than L1;	l</a:t>
            </a:r>
            <a:r>
              <a:rPr b="1" lang="en-US" sz="2200">
                <a:solidFill>
                  <a:srgbClr val="FF0000"/>
                </a:solidFill>
              </a:rPr>
              <a:t>ocated </a:t>
            </a:r>
            <a:r>
              <a:rPr lang="en-US" sz="2200">
                <a:solidFill>
                  <a:schemeClr val="dk1"/>
                </a:solidFill>
              </a:rPr>
              <a:t>on the CPU  or on a separate chip or coprocessor.</a:t>
            </a:r>
            <a:endParaRPr sz="2200">
              <a:solidFill>
                <a:schemeClr val="dk1"/>
              </a:solidFill>
            </a:endParaRPr>
          </a:p>
          <a:p>
            <a:pPr indent="-330835" lvl="0" marL="355600" marR="1172845" rtl="0" algn="l">
              <a:lnSpc>
                <a:spcPct val="180000"/>
              </a:lnSpc>
              <a:spcBef>
                <a:spcPts val="5"/>
              </a:spcBef>
              <a:spcAft>
                <a:spcPts val="0"/>
              </a:spcAft>
              <a:buClr>
                <a:schemeClr val="dk1"/>
              </a:buClr>
              <a:buSzPts val="2200"/>
              <a:buFont typeface="Noto Sans Symbols"/>
              <a:buChar char="⮚"/>
            </a:pPr>
            <a:r>
              <a:rPr b="1" lang="en-US" sz="2200">
                <a:solidFill>
                  <a:schemeClr val="dk1"/>
                </a:solidFill>
              </a:rPr>
              <a:t>Level 3 (L3) cache </a:t>
            </a:r>
            <a:r>
              <a:rPr lang="en-US" sz="2200">
                <a:solidFill>
                  <a:schemeClr val="dk1"/>
                </a:solidFill>
              </a:rPr>
              <a:t>specialized memory to improve the  performance of L1 and L2. </a:t>
            </a:r>
            <a:r>
              <a:rPr i="0" lang="en-US" sz="2200" u="none" cap="none" strike="noStrike">
                <a:solidFill>
                  <a:schemeClr val="dk1"/>
                </a:solidFill>
              </a:rPr>
              <a:t>Slower than L1 or L2, double the speed of RAM</a:t>
            </a:r>
            <a:endParaRPr i="0" sz="2200" u="none" cap="none" strike="noStrike">
              <a:solidFill>
                <a:schemeClr val="dk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1"/>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376" name="Google Shape;376;p51"/>
          <p:cNvSpPr txBox="1"/>
          <p:nvPr>
            <p:ph idx="1" type="body"/>
          </p:nvPr>
        </p:nvSpPr>
        <p:spPr>
          <a:xfrm>
            <a:off x="525144" y="1188465"/>
            <a:ext cx="8093710" cy="371538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377" name="Google Shape;377;p51"/>
          <p:cNvPicPr preferRelativeResize="0"/>
          <p:nvPr/>
        </p:nvPicPr>
        <p:blipFill rotWithShape="1">
          <a:blip r:embed="rId3">
            <a:alphaModFix/>
          </a:blip>
          <a:srcRect b="0" l="0" r="0" t="0"/>
          <a:stretch/>
        </p:blipFill>
        <p:spPr>
          <a:xfrm>
            <a:off x="685800" y="1752600"/>
            <a:ext cx="7620000" cy="26670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pic>
        <p:nvPicPr>
          <p:cNvPr id="382" name="Google Shape;382;p52"/>
          <p:cNvPicPr preferRelativeResize="0"/>
          <p:nvPr/>
        </p:nvPicPr>
        <p:blipFill rotWithShape="1">
          <a:blip r:embed="rId3">
            <a:alphaModFix/>
          </a:blip>
          <a:srcRect b="0" l="0" r="0" t="0"/>
          <a:stretch/>
        </p:blipFill>
        <p:spPr>
          <a:xfrm>
            <a:off x="-13447" y="4545"/>
            <a:ext cx="9143999" cy="6857937"/>
          </a:xfrm>
          <a:prstGeom prst="rect">
            <a:avLst/>
          </a:prstGeom>
          <a:noFill/>
          <a:ln>
            <a:noFill/>
          </a:ln>
        </p:spPr>
      </p:pic>
      <p:sp>
        <p:nvSpPr>
          <p:cNvPr id="383" name="Google Shape;383;p52"/>
          <p:cNvSpPr txBox="1"/>
          <p:nvPr/>
        </p:nvSpPr>
        <p:spPr>
          <a:xfrm>
            <a:off x="718515" y="4676394"/>
            <a:ext cx="4209415" cy="1000125"/>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chemeClr val="dk1"/>
                </a:solidFill>
                <a:latin typeface="Times New Roman"/>
                <a:ea typeface="Times New Roman"/>
                <a:cs typeface="Times New Roman"/>
                <a:sym typeface="Times New Roman"/>
              </a:rPr>
              <a:t>TAG </a:t>
            </a:r>
            <a:r>
              <a:rPr b="1" lang="en-US" sz="1600">
                <a:solidFill>
                  <a:srgbClr val="FF0000"/>
                </a:solidFill>
                <a:latin typeface="Times New Roman"/>
                <a:ea typeface="Times New Roman"/>
                <a:cs typeface="Times New Roman"/>
                <a:sym typeface="Times New Roman"/>
              </a:rPr>
              <a:t>- A unique identifier for a group of data.</a:t>
            </a:r>
            <a:endParaRPr sz="1600">
              <a:solidFill>
                <a:schemeClr val="dk1"/>
              </a:solidFill>
              <a:latin typeface="Times New Roman"/>
              <a:ea typeface="Times New Roman"/>
              <a:cs typeface="Times New Roman"/>
              <a:sym typeface="Times New Roman"/>
            </a:endParaRPr>
          </a:p>
          <a:p>
            <a:pPr indent="0" lvl="0" marL="572135" marR="5080" rtl="0" algn="l">
              <a:lnSpc>
                <a:spcPct val="100000"/>
              </a:lnSpc>
              <a:spcBef>
                <a:spcPts val="0"/>
              </a:spcBef>
              <a:spcAft>
                <a:spcPts val="0"/>
              </a:spcAft>
              <a:buNone/>
            </a:pPr>
            <a:r>
              <a:rPr b="1" lang="en-US" sz="1600">
                <a:solidFill>
                  <a:srgbClr val="FF0000"/>
                </a:solidFill>
                <a:latin typeface="Times New Roman"/>
                <a:ea typeface="Times New Roman"/>
                <a:cs typeface="Times New Roman"/>
                <a:sym typeface="Times New Roman"/>
              </a:rPr>
              <a:t>Since different regions of memory may be  mapped into a block, the tag is used to  differentiate between them.</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3"/>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389" name="Google Shape;389;p53"/>
          <p:cNvSpPr txBox="1"/>
          <p:nvPr>
            <p:ph idx="1" type="body"/>
          </p:nvPr>
        </p:nvSpPr>
        <p:spPr>
          <a:xfrm>
            <a:off x="525144" y="1188465"/>
            <a:ext cx="8093710" cy="4616648"/>
          </a:xfrm>
          <a:prstGeom prst="rect">
            <a:avLst/>
          </a:prstGeom>
          <a:noFill/>
          <a:ln>
            <a:noFill/>
          </a:ln>
        </p:spPr>
        <p:txBody>
          <a:bodyPr anchorCtr="0" anchor="t" bIns="0" lIns="0" spcFirstLastPara="1" rIns="0" wrap="square" tIns="0">
            <a:spAutoFit/>
          </a:bodyPr>
          <a:lstStyle/>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Main memory consists of up to 2</a:t>
            </a:r>
            <a:r>
              <a:rPr i="1" lang="en-US">
                <a:latin typeface="Times New Roman"/>
                <a:ea typeface="Times New Roman"/>
                <a:cs typeface="Times New Roman"/>
                <a:sym typeface="Times New Roman"/>
              </a:rPr>
              <a:t>n </a:t>
            </a:r>
            <a:r>
              <a:rPr lang="en-US">
                <a:latin typeface="Times New Roman"/>
                <a:ea typeface="Times New Roman"/>
                <a:cs typeface="Times New Roman"/>
                <a:sym typeface="Times New Roman"/>
              </a:rPr>
              <a:t>addressable words, with each word having a unique </a:t>
            </a:r>
            <a:r>
              <a:rPr i="1" lang="en-US">
                <a:latin typeface="Times New Roman"/>
                <a:ea typeface="Times New Roman"/>
                <a:cs typeface="Times New Roman"/>
                <a:sym typeface="Times New Roman"/>
              </a:rPr>
              <a:t>n-</a:t>
            </a:r>
            <a:r>
              <a:rPr lang="en-US">
                <a:latin typeface="Times New Roman"/>
                <a:ea typeface="Times New Roman"/>
                <a:cs typeface="Times New Roman"/>
                <a:sym typeface="Times New Roman"/>
              </a:rPr>
              <a:t>bit address. </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For mapping purposes, this memory is considered to consist of </a:t>
            </a:r>
            <a:r>
              <a:rPr b="1" lang="en-US">
                <a:latin typeface="Times New Roman"/>
                <a:ea typeface="Times New Roman"/>
                <a:cs typeface="Times New Roman"/>
                <a:sym typeface="Times New Roman"/>
              </a:rPr>
              <a:t>a number of fixed-length blocks of </a:t>
            </a:r>
            <a:r>
              <a:rPr b="1" i="1" lang="en-US">
                <a:latin typeface="Times New Roman"/>
                <a:ea typeface="Times New Roman"/>
                <a:cs typeface="Times New Roman"/>
                <a:sym typeface="Times New Roman"/>
              </a:rPr>
              <a:t>K </a:t>
            </a:r>
            <a:r>
              <a:rPr b="1" lang="en-US">
                <a:latin typeface="Times New Roman"/>
                <a:ea typeface="Times New Roman"/>
                <a:cs typeface="Times New Roman"/>
                <a:sym typeface="Times New Roman"/>
              </a:rPr>
              <a:t>words each</a:t>
            </a:r>
            <a:r>
              <a:rPr lang="en-US">
                <a:latin typeface="Times New Roman"/>
                <a:ea typeface="Times New Roman"/>
                <a:cs typeface="Times New Roman"/>
                <a:sym typeface="Times New Roman"/>
              </a:rPr>
              <a:t>. </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That is, there are </a:t>
            </a:r>
            <a:r>
              <a:rPr i="1" lang="en-US">
                <a:latin typeface="Times New Roman"/>
                <a:ea typeface="Times New Roman"/>
                <a:cs typeface="Times New Roman"/>
                <a:sym typeface="Times New Roman"/>
              </a:rPr>
              <a:t>M </a:t>
            </a:r>
            <a:r>
              <a:rPr lang="en-US">
                <a:latin typeface="Times New Roman"/>
                <a:ea typeface="Times New Roman"/>
                <a:cs typeface="Times New Roman"/>
                <a:sym typeface="Times New Roman"/>
              </a:rPr>
              <a:t>= 2</a:t>
            </a:r>
            <a:r>
              <a:rPr i="1" lang="en-US">
                <a:latin typeface="Times New Roman"/>
                <a:ea typeface="Times New Roman"/>
                <a:cs typeface="Times New Roman"/>
                <a:sym typeface="Times New Roman"/>
              </a:rPr>
              <a:t>^n</a:t>
            </a:r>
            <a:r>
              <a:rPr lang="en-US">
                <a:latin typeface="Times New Roman"/>
                <a:ea typeface="Times New Roman"/>
                <a:cs typeface="Times New Roman"/>
                <a:sym typeface="Times New Roman"/>
              </a:rPr>
              <a:t>/</a:t>
            </a:r>
            <a:r>
              <a:rPr i="1" lang="en-US">
                <a:latin typeface="Times New Roman"/>
                <a:ea typeface="Times New Roman"/>
                <a:cs typeface="Times New Roman"/>
                <a:sym typeface="Times New Roman"/>
              </a:rPr>
              <a:t>K </a:t>
            </a:r>
            <a:r>
              <a:rPr lang="en-US">
                <a:latin typeface="Times New Roman"/>
                <a:ea typeface="Times New Roman"/>
                <a:cs typeface="Times New Roman"/>
                <a:sym typeface="Times New Roman"/>
              </a:rPr>
              <a:t>blocks in main memory.</a:t>
            </a:r>
            <a:endParaRPr/>
          </a:p>
          <a:p>
            <a:pPr indent="-215900" lvl="0" marL="342900" rtl="0" algn="just">
              <a:spcBef>
                <a:spcPts val="0"/>
              </a:spcBef>
              <a:spcAft>
                <a:spcPts val="0"/>
              </a:spcAft>
              <a:buClr>
                <a:schemeClr val="dk1"/>
              </a:buClr>
              <a:buSzPts val="2000"/>
              <a:buFont typeface="Arial"/>
              <a:buNone/>
            </a:pPr>
            <a:r>
              <a:t/>
            </a:r>
            <a:endParaRPr>
              <a:latin typeface="Times New Roman"/>
              <a:ea typeface="Times New Roman"/>
              <a:cs typeface="Times New Roman"/>
              <a:sym typeface="Times New Roman"/>
            </a:endParaRPr>
          </a:p>
          <a:p>
            <a:pPr indent="-215900" lvl="0" marL="342900" rtl="0" algn="just">
              <a:spcBef>
                <a:spcPts val="0"/>
              </a:spcBef>
              <a:spcAft>
                <a:spcPts val="0"/>
              </a:spcAft>
              <a:buClr>
                <a:schemeClr val="dk1"/>
              </a:buClr>
              <a:buSzPts val="2000"/>
              <a:buFont typeface="Arial"/>
              <a:buNone/>
            </a:pPr>
            <a:r>
              <a:t/>
            </a:r>
            <a:endParaRPr>
              <a:latin typeface="Times New Roman"/>
              <a:ea typeface="Times New Roman"/>
              <a:cs typeface="Times New Roman"/>
              <a:sym typeface="Times New Roman"/>
            </a:endParaRPr>
          </a:p>
          <a:p>
            <a:pPr indent="0" lvl="0" marL="0" rtl="0" algn="just">
              <a:spcBef>
                <a:spcPts val="0"/>
              </a:spcBef>
              <a:spcAft>
                <a:spcPts val="0"/>
              </a:spcAft>
              <a:buNone/>
            </a:pPr>
            <a:r>
              <a:t/>
            </a:r>
            <a:endParaRPr>
              <a:latin typeface="Times New Roman"/>
              <a:ea typeface="Times New Roman"/>
              <a:cs typeface="Times New Roman"/>
              <a:sym typeface="Times New Roman"/>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The cache consists of </a:t>
            </a:r>
            <a:r>
              <a:rPr i="1" lang="en-US">
                <a:latin typeface="Times New Roman"/>
                <a:ea typeface="Times New Roman"/>
                <a:cs typeface="Times New Roman"/>
                <a:sym typeface="Times New Roman"/>
              </a:rPr>
              <a:t>m </a:t>
            </a:r>
            <a:r>
              <a:rPr lang="en-US">
                <a:latin typeface="Times New Roman"/>
                <a:ea typeface="Times New Roman"/>
                <a:cs typeface="Times New Roman"/>
                <a:sym typeface="Times New Roman"/>
              </a:rPr>
              <a:t>blocks, called </a:t>
            </a:r>
            <a:r>
              <a:rPr b="1" lang="en-US">
                <a:latin typeface="Times New Roman"/>
                <a:ea typeface="Times New Roman"/>
                <a:cs typeface="Times New Roman"/>
                <a:sym typeface="Times New Roman"/>
              </a:rPr>
              <a:t>lines</a:t>
            </a:r>
            <a:r>
              <a:rPr lang="en-US">
                <a:latin typeface="Times New Roman"/>
                <a:ea typeface="Times New Roman"/>
                <a:cs typeface="Times New Roman"/>
                <a:sym typeface="Times New Roman"/>
              </a:rPr>
              <a:t>.</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 Each line contains </a:t>
            </a:r>
            <a:r>
              <a:rPr i="1" lang="en-US">
                <a:latin typeface="Times New Roman"/>
                <a:ea typeface="Times New Roman"/>
                <a:cs typeface="Times New Roman"/>
                <a:sym typeface="Times New Roman"/>
              </a:rPr>
              <a:t>K </a:t>
            </a:r>
            <a:r>
              <a:rPr lang="en-US">
                <a:latin typeface="Times New Roman"/>
                <a:ea typeface="Times New Roman"/>
                <a:cs typeface="Times New Roman"/>
                <a:sym typeface="Times New Roman"/>
              </a:rPr>
              <a:t>words plus a tag of a few bits</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The number of lines is considerably less than the number of main memory blocks (m &lt;&lt;M).</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each line includes a tag that identifies which particular block is currently being stored.</a:t>
            </a:r>
            <a:endParaRPr/>
          </a:p>
          <a:p>
            <a:pPr indent="-215900" lvl="0" marL="342900" rtl="0" algn="l">
              <a:spcBef>
                <a:spcPts val="0"/>
              </a:spcBef>
              <a:spcAft>
                <a:spcPts val="0"/>
              </a:spcAft>
              <a:buClr>
                <a:schemeClr val="dk1"/>
              </a:buClr>
              <a:buSzPts val="2000"/>
              <a:buFont typeface="Arial"/>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4"/>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395" name="Google Shape;395;p54"/>
          <p:cNvSpPr txBox="1"/>
          <p:nvPr>
            <p:ph idx="1" type="body"/>
          </p:nvPr>
        </p:nvSpPr>
        <p:spPr>
          <a:xfrm>
            <a:off x="525144" y="1188465"/>
            <a:ext cx="8093710" cy="371538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396" name="Google Shape;396;p54"/>
          <p:cNvPicPr preferRelativeResize="0"/>
          <p:nvPr/>
        </p:nvPicPr>
        <p:blipFill rotWithShape="1">
          <a:blip r:embed="rId3">
            <a:alphaModFix/>
          </a:blip>
          <a:srcRect b="0" l="0" r="0" t="0"/>
          <a:stretch/>
        </p:blipFill>
        <p:spPr>
          <a:xfrm>
            <a:off x="0" y="0"/>
            <a:ext cx="9143999" cy="6250326"/>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5"/>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402" name="Google Shape;402;p55"/>
          <p:cNvSpPr txBox="1"/>
          <p:nvPr>
            <p:ph idx="1" type="body"/>
          </p:nvPr>
        </p:nvSpPr>
        <p:spPr>
          <a:xfrm>
            <a:off x="525144" y="1188465"/>
            <a:ext cx="8093710" cy="1538883"/>
          </a:xfrm>
          <a:prstGeom prst="rect">
            <a:avLst/>
          </a:prstGeom>
          <a:noFill/>
          <a:ln>
            <a:noFill/>
          </a:ln>
        </p:spPr>
        <p:txBody>
          <a:bodyPr anchorCtr="0" anchor="t" bIns="0" lIns="0" spcFirstLastPara="1" rIns="0" wrap="square" tIns="0">
            <a:spAutoFit/>
          </a:bodyPr>
          <a:lstStyle/>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The processor generates the read address (RA) of a word to be read. If the word is contained in the cache, it is delivered to the processor. </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Otherwise, the block containing that word is loaded into the cache, and the word is delivered to the processor.</a:t>
            </a:r>
            <a:endParaRPr/>
          </a:p>
          <a:p>
            <a:pPr indent="-215900" lvl="0" marL="342900" rtl="0" algn="just">
              <a:spcBef>
                <a:spcPts val="0"/>
              </a:spcBef>
              <a:spcAft>
                <a:spcPts val="0"/>
              </a:spcAft>
              <a:buClr>
                <a:schemeClr val="dk1"/>
              </a:buClr>
              <a:buSzPts val="2000"/>
              <a:buFont typeface="Arial"/>
              <a:buNone/>
            </a:pPr>
            <a:r>
              <a:t/>
            </a:r>
            <a:endParaRPr>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56"/>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408" name="Google Shape;408;p56"/>
          <p:cNvSpPr txBox="1"/>
          <p:nvPr>
            <p:ph idx="1" type="body"/>
          </p:nvPr>
        </p:nvSpPr>
        <p:spPr>
          <a:xfrm>
            <a:off x="525144" y="1188465"/>
            <a:ext cx="4580256" cy="371538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409" name="Google Shape;409;p56"/>
          <p:cNvPicPr preferRelativeResize="0"/>
          <p:nvPr/>
        </p:nvPicPr>
        <p:blipFill rotWithShape="1">
          <a:blip r:embed="rId3">
            <a:alphaModFix/>
          </a:blip>
          <a:srcRect b="0" l="0" r="0" t="0"/>
          <a:stretch/>
        </p:blipFill>
        <p:spPr>
          <a:xfrm>
            <a:off x="304800" y="1323985"/>
            <a:ext cx="4495800" cy="3359150"/>
          </a:xfrm>
          <a:prstGeom prst="rect">
            <a:avLst/>
          </a:prstGeom>
          <a:noFill/>
          <a:ln>
            <a:noFill/>
          </a:ln>
        </p:spPr>
      </p:pic>
      <p:sp>
        <p:nvSpPr>
          <p:cNvPr id="410" name="Google Shape;410;p56"/>
          <p:cNvSpPr txBox="1"/>
          <p:nvPr/>
        </p:nvSpPr>
        <p:spPr>
          <a:xfrm>
            <a:off x="5257800" y="1295400"/>
            <a:ext cx="3886200" cy="341632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the cacheconnects to the processor via data, control, and address lines.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When a cache hit occurs, the data and address buffers are disabled and communication is only between processor and cache, with no system bus traffic.</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 When a cache miss occurs, the desired address is loaded onto the system bus and the data are returned through the data buffer to both the cache and the processor.</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7"/>
          <p:cNvSpPr txBox="1"/>
          <p:nvPr/>
        </p:nvSpPr>
        <p:spPr>
          <a:xfrm>
            <a:off x="485342" y="484073"/>
            <a:ext cx="6525057" cy="5980483"/>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2800">
                <a:solidFill>
                  <a:schemeClr val="dk1"/>
                </a:solidFill>
                <a:latin typeface="Arial Black"/>
                <a:ea typeface="Arial Black"/>
                <a:cs typeface="Arial Black"/>
                <a:sym typeface="Arial Black"/>
              </a:rPr>
              <a:t>Elements of Cache Design</a:t>
            </a:r>
            <a:endParaRPr sz="2800">
              <a:solidFill>
                <a:schemeClr val="dk1"/>
              </a:solidFill>
              <a:latin typeface="Arial Black"/>
              <a:ea typeface="Arial Black"/>
              <a:cs typeface="Arial Black"/>
              <a:sym typeface="Arial Black"/>
            </a:endParaRPr>
          </a:p>
          <a:p>
            <a:pPr indent="0" lvl="0" marL="0" marR="0" rtl="0" algn="l">
              <a:lnSpc>
                <a:spcPct val="100000"/>
              </a:lnSpc>
              <a:spcBef>
                <a:spcPts val="65"/>
              </a:spcBef>
              <a:spcAft>
                <a:spcPts val="0"/>
              </a:spcAft>
              <a:buNone/>
            </a:pPr>
            <a:r>
              <a:t/>
            </a:r>
            <a:endParaRPr sz="2600">
              <a:solidFill>
                <a:schemeClr val="dk1"/>
              </a:solidFill>
              <a:latin typeface="Arial Black"/>
              <a:ea typeface="Arial Black"/>
              <a:cs typeface="Arial Black"/>
              <a:sym typeface="Arial Black"/>
            </a:endParaRPr>
          </a:p>
          <a:p>
            <a:pPr indent="-344170" lvl="0" marL="406400" marR="0" rtl="0" algn="l">
              <a:lnSpc>
                <a:spcPct val="100000"/>
              </a:lnSpc>
              <a:spcBef>
                <a:spcPts val="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Cache address &amp; Size</a:t>
            </a:r>
            <a:endParaRPr sz="2800">
              <a:solidFill>
                <a:schemeClr val="dk1"/>
              </a:solidFill>
              <a:latin typeface="Verdana"/>
              <a:ea typeface="Verdana"/>
              <a:cs typeface="Verdana"/>
              <a:sym typeface="Verdana"/>
            </a:endParaRPr>
          </a:p>
          <a:p>
            <a:pPr indent="0" lvl="0" marL="0" marR="0" rtl="0" algn="l">
              <a:lnSpc>
                <a:spcPct val="100000"/>
              </a:lnSpc>
              <a:spcBef>
                <a:spcPts val="25"/>
              </a:spcBef>
              <a:spcAft>
                <a:spcPts val="0"/>
              </a:spcAft>
              <a:buClr>
                <a:srgbClr val="FF0000"/>
              </a:buClr>
              <a:buSzPts val="3300"/>
              <a:buFont typeface="Verdana"/>
              <a:buNone/>
            </a:pPr>
            <a:r>
              <a:t/>
            </a:r>
            <a:endParaRPr sz="3300">
              <a:solidFill>
                <a:schemeClr val="dk1"/>
              </a:solidFill>
              <a:latin typeface="Verdana"/>
              <a:ea typeface="Verdana"/>
              <a:cs typeface="Verdana"/>
              <a:sym typeface="Verdana"/>
            </a:endParaRPr>
          </a:p>
          <a:p>
            <a:pPr indent="-344170" lvl="0" marL="406400" marR="0" rtl="0" algn="l">
              <a:lnSpc>
                <a:spcPct val="100000"/>
              </a:lnSpc>
              <a:spcBef>
                <a:spcPts val="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Mapping Function</a:t>
            </a:r>
            <a:endParaRPr sz="2800">
              <a:solidFill>
                <a:schemeClr val="dk1"/>
              </a:solidFill>
              <a:latin typeface="Verdana"/>
              <a:ea typeface="Verdana"/>
              <a:cs typeface="Verdana"/>
              <a:sym typeface="Verdana"/>
            </a:endParaRPr>
          </a:p>
          <a:p>
            <a:pPr indent="0" lvl="0" marL="0" marR="0" rtl="0" algn="l">
              <a:lnSpc>
                <a:spcPct val="100000"/>
              </a:lnSpc>
              <a:spcBef>
                <a:spcPts val="25"/>
              </a:spcBef>
              <a:spcAft>
                <a:spcPts val="0"/>
              </a:spcAft>
              <a:buClr>
                <a:srgbClr val="FF0000"/>
              </a:buClr>
              <a:buSzPts val="3300"/>
              <a:buFont typeface="Verdana"/>
              <a:buNone/>
            </a:pPr>
            <a:r>
              <a:t/>
            </a:r>
            <a:endParaRPr sz="3300">
              <a:solidFill>
                <a:schemeClr val="dk1"/>
              </a:solidFill>
              <a:latin typeface="Verdana"/>
              <a:ea typeface="Verdana"/>
              <a:cs typeface="Verdana"/>
              <a:sym typeface="Verdana"/>
            </a:endParaRPr>
          </a:p>
          <a:p>
            <a:pPr indent="-344170" lvl="0" marL="406400" marR="0" rtl="0" algn="l">
              <a:lnSpc>
                <a:spcPct val="100000"/>
              </a:lnSpc>
              <a:spcBef>
                <a:spcPts val="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Replacement Algorithm</a:t>
            </a:r>
            <a:endParaRPr sz="2800">
              <a:solidFill>
                <a:schemeClr val="dk1"/>
              </a:solidFill>
              <a:latin typeface="Verdana"/>
              <a:ea typeface="Verdana"/>
              <a:cs typeface="Verdana"/>
              <a:sym typeface="Verdana"/>
            </a:endParaRPr>
          </a:p>
          <a:p>
            <a:pPr indent="0" lvl="0" marL="0" marR="0" rtl="0" algn="l">
              <a:lnSpc>
                <a:spcPct val="100000"/>
              </a:lnSpc>
              <a:spcBef>
                <a:spcPts val="25"/>
              </a:spcBef>
              <a:spcAft>
                <a:spcPts val="0"/>
              </a:spcAft>
              <a:buClr>
                <a:srgbClr val="FF0000"/>
              </a:buClr>
              <a:buSzPts val="3300"/>
              <a:buFont typeface="Verdana"/>
              <a:buNone/>
            </a:pPr>
            <a:r>
              <a:t/>
            </a:r>
            <a:endParaRPr sz="3300">
              <a:solidFill>
                <a:schemeClr val="dk1"/>
              </a:solidFill>
              <a:latin typeface="Verdana"/>
              <a:ea typeface="Verdana"/>
              <a:cs typeface="Verdana"/>
              <a:sym typeface="Verdana"/>
            </a:endParaRPr>
          </a:p>
          <a:p>
            <a:pPr indent="-344170" lvl="0" marL="406400" marR="0" rtl="0" algn="l">
              <a:lnSpc>
                <a:spcPct val="100000"/>
              </a:lnSpc>
              <a:spcBef>
                <a:spcPts val="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Write Policy</a:t>
            </a:r>
            <a:endParaRPr sz="2800">
              <a:solidFill>
                <a:schemeClr val="dk1"/>
              </a:solidFill>
              <a:latin typeface="Verdana"/>
              <a:ea typeface="Verdana"/>
              <a:cs typeface="Verdana"/>
              <a:sym typeface="Verdana"/>
            </a:endParaRPr>
          </a:p>
          <a:p>
            <a:pPr indent="0" lvl="0" marL="0" marR="0" rtl="0" algn="l">
              <a:lnSpc>
                <a:spcPct val="100000"/>
              </a:lnSpc>
              <a:spcBef>
                <a:spcPts val="20"/>
              </a:spcBef>
              <a:spcAft>
                <a:spcPts val="0"/>
              </a:spcAft>
              <a:buClr>
                <a:srgbClr val="FF0000"/>
              </a:buClr>
              <a:buSzPts val="3300"/>
              <a:buFont typeface="Verdana"/>
              <a:buNone/>
            </a:pPr>
            <a:r>
              <a:t/>
            </a:r>
            <a:endParaRPr sz="3300">
              <a:solidFill>
                <a:schemeClr val="dk1"/>
              </a:solidFill>
              <a:latin typeface="Verdana"/>
              <a:ea typeface="Verdana"/>
              <a:cs typeface="Verdana"/>
              <a:sym typeface="Verdana"/>
            </a:endParaRPr>
          </a:p>
          <a:p>
            <a:pPr indent="-344170" lvl="0" marL="406400" marR="0" rtl="0" algn="l">
              <a:lnSpc>
                <a:spcPct val="100000"/>
              </a:lnSpc>
              <a:spcBef>
                <a:spcPts val="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Block Size</a:t>
            </a:r>
            <a:endParaRPr sz="2800">
              <a:solidFill>
                <a:schemeClr val="dk1"/>
              </a:solidFill>
              <a:latin typeface="Verdana"/>
              <a:ea typeface="Verdana"/>
              <a:cs typeface="Verdana"/>
              <a:sym typeface="Verdana"/>
            </a:endParaRPr>
          </a:p>
          <a:p>
            <a:pPr indent="0" lvl="0" marL="0" marR="0" rtl="0" algn="l">
              <a:lnSpc>
                <a:spcPct val="100000"/>
              </a:lnSpc>
              <a:spcBef>
                <a:spcPts val="25"/>
              </a:spcBef>
              <a:spcAft>
                <a:spcPts val="0"/>
              </a:spcAft>
              <a:buClr>
                <a:srgbClr val="FF0000"/>
              </a:buClr>
              <a:buSzPts val="3300"/>
              <a:buFont typeface="Verdana"/>
              <a:buNone/>
            </a:pPr>
            <a:r>
              <a:t/>
            </a:r>
            <a:endParaRPr sz="3300">
              <a:solidFill>
                <a:schemeClr val="dk1"/>
              </a:solidFill>
              <a:latin typeface="Verdana"/>
              <a:ea typeface="Verdana"/>
              <a:cs typeface="Verdana"/>
              <a:sym typeface="Verdana"/>
            </a:endParaRPr>
          </a:p>
          <a:p>
            <a:pPr indent="-344170" lvl="0" marL="406400" marR="0" rtl="0" algn="l">
              <a:lnSpc>
                <a:spcPct val="100000"/>
              </a:lnSpc>
              <a:spcBef>
                <a:spcPts val="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Number of Caches</a:t>
            </a:r>
            <a:endParaRPr sz="2800">
              <a:solidFill>
                <a:schemeClr val="dk1"/>
              </a:solidFill>
              <a:latin typeface="Verdana"/>
              <a:ea typeface="Verdana"/>
              <a:cs typeface="Verdana"/>
              <a:sym typeface="Verdana"/>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58"/>
          <p:cNvSpPr txBox="1"/>
          <p:nvPr>
            <p:ph type="title"/>
          </p:nvPr>
        </p:nvSpPr>
        <p:spPr>
          <a:xfrm>
            <a:off x="485343" y="57404"/>
            <a:ext cx="8173313" cy="430887"/>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Cache Address</a:t>
            </a:r>
            <a:endParaRPr/>
          </a:p>
        </p:txBody>
      </p:sp>
      <p:sp>
        <p:nvSpPr>
          <p:cNvPr id="421" name="Google Shape;421;p58"/>
          <p:cNvSpPr txBox="1"/>
          <p:nvPr>
            <p:ph idx="1" type="body"/>
          </p:nvPr>
        </p:nvSpPr>
        <p:spPr>
          <a:xfrm>
            <a:off x="525144" y="1188465"/>
            <a:ext cx="4580256" cy="371538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422" name="Google Shape;422;p58"/>
          <p:cNvPicPr preferRelativeResize="0"/>
          <p:nvPr/>
        </p:nvPicPr>
        <p:blipFill rotWithShape="1">
          <a:blip r:embed="rId3">
            <a:alphaModFix/>
          </a:blip>
          <a:srcRect b="0" l="0" r="0" t="0"/>
          <a:stretch/>
        </p:blipFill>
        <p:spPr>
          <a:xfrm>
            <a:off x="533400" y="1371600"/>
            <a:ext cx="4806950" cy="2832100"/>
          </a:xfrm>
          <a:prstGeom prst="rect">
            <a:avLst/>
          </a:prstGeom>
          <a:noFill/>
          <a:ln>
            <a:noFill/>
          </a:ln>
        </p:spPr>
      </p:pic>
      <p:sp>
        <p:nvSpPr>
          <p:cNvPr id="423" name="Google Shape;423;p58"/>
          <p:cNvSpPr txBox="1"/>
          <p:nvPr/>
        </p:nvSpPr>
        <p:spPr>
          <a:xfrm>
            <a:off x="5638800" y="1905000"/>
            <a:ext cx="3200400" cy="3970318"/>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Cache addresses</a:t>
            </a:r>
            <a:endParaRPr/>
          </a:p>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virtual memory is a facility</a:t>
            </a:r>
            <a:endParaRPr/>
          </a:p>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that </a:t>
            </a:r>
            <a:r>
              <a:rPr lang="en-US" sz="1800">
                <a:solidFill>
                  <a:srgbClr val="FF0000"/>
                </a:solidFill>
                <a:latin typeface="Times New Roman"/>
                <a:ea typeface="Times New Roman"/>
                <a:cs typeface="Times New Roman"/>
                <a:sym typeface="Times New Roman"/>
              </a:rPr>
              <a:t>allows programs to address memory from a logical point of view, without regard to the  amount of main memory physically available</a:t>
            </a:r>
            <a:endParaRPr/>
          </a:p>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a hardware memory management unit (MMU) translates each virtual address into a physical address in main memory</a:t>
            </a:r>
            <a:endParaRPr/>
          </a:p>
          <a:p>
            <a:pPr indent="-171450" lvl="0" marL="285750" marR="0" rtl="0" algn="just">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a:p>
            <a:pPr indent="-171450" lvl="0" marL="285750" marR="0" rtl="0" algn="just">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9"/>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429" name="Google Shape;429;p59"/>
          <p:cNvSpPr txBox="1"/>
          <p:nvPr>
            <p:ph idx="1" type="body"/>
          </p:nvPr>
        </p:nvSpPr>
        <p:spPr>
          <a:xfrm>
            <a:off x="525144" y="1188465"/>
            <a:ext cx="6485256" cy="371538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430" name="Google Shape;430;p59"/>
          <p:cNvPicPr preferRelativeResize="0"/>
          <p:nvPr/>
        </p:nvPicPr>
        <p:blipFill rotWithShape="1">
          <a:blip r:embed="rId3">
            <a:alphaModFix/>
          </a:blip>
          <a:srcRect b="0" l="0" r="0" t="0"/>
          <a:stretch/>
        </p:blipFill>
        <p:spPr>
          <a:xfrm>
            <a:off x="304800" y="1600200"/>
            <a:ext cx="7169150" cy="2851150"/>
          </a:xfrm>
          <a:prstGeom prst="rect">
            <a:avLst/>
          </a:prstGeom>
          <a:noFill/>
          <a:ln>
            <a:noFill/>
          </a:ln>
        </p:spPr>
      </p:pic>
      <p:sp>
        <p:nvSpPr>
          <p:cNvPr id="431" name="Google Shape;431;p59"/>
          <p:cNvSpPr txBox="1"/>
          <p:nvPr/>
        </p:nvSpPr>
        <p:spPr>
          <a:xfrm>
            <a:off x="457200" y="5257800"/>
            <a:ext cx="8534400" cy="101566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000">
                <a:solidFill>
                  <a:schemeClr val="dk1"/>
                </a:solidFill>
                <a:latin typeface="Times New Roman"/>
                <a:ea typeface="Times New Roman"/>
                <a:cs typeface="Times New Roman"/>
                <a:sym typeface="Times New Roman"/>
              </a:rPr>
              <a:t>A </a:t>
            </a:r>
            <a:r>
              <a:rPr b="1" lang="en-US" sz="2000">
                <a:solidFill>
                  <a:schemeClr val="dk1"/>
                </a:solidFill>
                <a:latin typeface="Times New Roman"/>
                <a:ea typeface="Times New Roman"/>
                <a:cs typeface="Times New Roman"/>
                <a:sym typeface="Times New Roman"/>
              </a:rPr>
              <a:t>logical cache</a:t>
            </a:r>
            <a:r>
              <a:rPr lang="en-US" sz="2000">
                <a:solidFill>
                  <a:schemeClr val="dk1"/>
                </a:solidFill>
                <a:latin typeface="Times New Roman"/>
                <a:ea typeface="Times New Roman"/>
                <a:cs typeface="Times New Roman"/>
                <a:sym typeface="Times New Roman"/>
              </a:rPr>
              <a:t>, also known as a </a:t>
            </a:r>
            <a:r>
              <a:rPr b="1" lang="en-US" sz="2000">
                <a:solidFill>
                  <a:schemeClr val="dk1"/>
                </a:solidFill>
                <a:latin typeface="Times New Roman"/>
                <a:ea typeface="Times New Roman"/>
                <a:cs typeface="Times New Roman"/>
                <a:sym typeface="Times New Roman"/>
              </a:rPr>
              <a:t>virtual cache</a:t>
            </a:r>
            <a:r>
              <a:rPr lang="en-US" sz="2000">
                <a:solidFill>
                  <a:schemeClr val="dk1"/>
                </a:solidFill>
                <a:latin typeface="Times New Roman"/>
                <a:ea typeface="Times New Roman"/>
                <a:cs typeface="Times New Roman"/>
                <a:sym typeface="Times New Roman"/>
              </a:rPr>
              <a:t>, stores data using </a:t>
            </a:r>
            <a:r>
              <a:rPr b="1" lang="en-US" sz="2000">
                <a:solidFill>
                  <a:schemeClr val="dk1"/>
                </a:solidFill>
                <a:latin typeface="Times New Roman"/>
                <a:ea typeface="Times New Roman"/>
                <a:cs typeface="Times New Roman"/>
                <a:sym typeface="Times New Roman"/>
              </a:rPr>
              <a:t>virtual addresses</a:t>
            </a:r>
            <a:r>
              <a:rPr lang="en-US" sz="2000">
                <a:solidFill>
                  <a:schemeClr val="dk1"/>
                </a:solidFill>
                <a:latin typeface="Times New Roman"/>
                <a:ea typeface="Times New Roman"/>
                <a:cs typeface="Times New Roman"/>
                <a:sym typeface="Times New Roman"/>
              </a:rPr>
              <a:t>. </a:t>
            </a:r>
            <a:endParaRPr/>
          </a:p>
          <a:p>
            <a:pPr indent="0" lvl="0" marL="0" marR="0" rtl="0" algn="just">
              <a:spcBef>
                <a:spcPts val="0"/>
              </a:spcBef>
              <a:spcAft>
                <a:spcPts val="0"/>
              </a:spcAft>
              <a:buNone/>
            </a:pPr>
            <a:r>
              <a:rPr lang="en-US" sz="2000">
                <a:solidFill>
                  <a:schemeClr val="dk1"/>
                </a:solidFill>
                <a:latin typeface="Times New Roman"/>
                <a:ea typeface="Times New Roman"/>
                <a:cs typeface="Times New Roman"/>
                <a:sym typeface="Times New Roman"/>
              </a:rPr>
              <a:t>The processor accesses the cache directly, without going through the MMU.</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60"/>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437" name="Google Shape;437;p60"/>
          <p:cNvSpPr txBox="1"/>
          <p:nvPr>
            <p:ph idx="1" type="body"/>
          </p:nvPr>
        </p:nvSpPr>
        <p:spPr>
          <a:xfrm>
            <a:off x="762000" y="4419600"/>
            <a:ext cx="7543800" cy="615553"/>
          </a:xfrm>
          <a:prstGeom prst="rect">
            <a:avLst/>
          </a:prstGeom>
          <a:noFill/>
          <a:ln>
            <a:noFill/>
          </a:ln>
        </p:spPr>
        <p:txBody>
          <a:bodyPr anchorCtr="0" anchor="t" bIns="0" lIns="0" spcFirstLastPara="1" rIns="0" wrap="square" tIns="0">
            <a:spAutoFit/>
          </a:bodyPr>
          <a:lstStyle/>
          <a:p>
            <a:pPr indent="-342900" lvl="0" marL="342900" rtl="0" algn="l">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A </a:t>
            </a:r>
            <a:r>
              <a:rPr b="1" lang="en-US">
                <a:latin typeface="Times New Roman"/>
                <a:ea typeface="Times New Roman"/>
                <a:cs typeface="Times New Roman"/>
                <a:sym typeface="Times New Roman"/>
              </a:rPr>
              <a:t>physical cache </a:t>
            </a:r>
            <a:r>
              <a:rPr lang="en-US">
                <a:latin typeface="Times New Roman"/>
                <a:ea typeface="Times New Roman"/>
                <a:cs typeface="Times New Roman"/>
                <a:sym typeface="Times New Roman"/>
              </a:rPr>
              <a:t>stores data using main memory </a:t>
            </a:r>
            <a:r>
              <a:rPr b="1" lang="en-US">
                <a:latin typeface="Times New Roman"/>
                <a:ea typeface="Times New Roman"/>
                <a:cs typeface="Times New Roman"/>
                <a:sym typeface="Times New Roman"/>
              </a:rPr>
              <a:t>physical addresses</a:t>
            </a:r>
            <a:r>
              <a:rPr lang="en-US">
                <a:latin typeface="Times New Roman"/>
                <a:ea typeface="Times New Roman"/>
                <a:cs typeface="Times New Roman"/>
                <a:sym typeface="Times New Roman"/>
              </a:rPr>
              <a:t>.</a:t>
            </a:r>
            <a:endParaRPr/>
          </a:p>
          <a:p>
            <a:pPr indent="-342900" lvl="0" marL="342900" rtl="0" algn="l">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Advantage &amp; disadvantage-refer text</a:t>
            </a:r>
            <a:endParaRPr>
              <a:latin typeface="Times New Roman"/>
              <a:ea typeface="Times New Roman"/>
              <a:cs typeface="Times New Roman"/>
              <a:sym typeface="Times New Roman"/>
            </a:endParaRPr>
          </a:p>
        </p:txBody>
      </p:sp>
      <p:pic>
        <p:nvPicPr>
          <p:cNvPr id="438" name="Google Shape;438;p60"/>
          <p:cNvPicPr preferRelativeResize="0"/>
          <p:nvPr/>
        </p:nvPicPr>
        <p:blipFill rotWithShape="1">
          <a:blip r:embed="rId3">
            <a:alphaModFix/>
          </a:blip>
          <a:srcRect b="0" l="0" r="0" t="0"/>
          <a:stretch/>
        </p:blipFill>
        <p:spPr>
          <a:xfrm>
            <a:off x="1027766" y="1219200"/>
            <a:ext cx="7016750" cy="273685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61"/>
          <p:cNvSpPr txBox="1"/>
          <p:nvPr>
            <p:ph type="title"/>
          </p:nvPr>
        </p:nvSpPr>
        <p:spPr>
          <a:xfrm>
            <a:off x="485343" y="484073"/>
            <a:ext cx="3301365"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Size does matter</a:t>
            </a:r>
            <a:endParaRPr/>
          </a:p>
        </p:txBody>
      </p:sp>
      <p:sp>
        <p:nvSpPr>
          <p:cNvPr id="444" name="Google Shape;444;p61"/>
          <p:cNvSpPr txBox="1"/>
          <p:nvPr/>
        </p:nvSpPr>
        <p:spPr>
          <a:xfrm>
            <a:off x="535940" y="1012617"/>
            <a:ext cx="8150860" cy="3497111"/>
          </a:xfrm>
          <a:prstGeom prst="rect">
            <a:avLst/>
          </a:prstGeom>
          <a:noFill/>
          <a:ln>
            <a:noFill/>
          </a:ln>
        </p:spPr>
        <p:txBody>
          <a:bodyPr anchorCtr="0" anchor="t" bIns="0" lIns="0" spcFirstLastPara="1" rIns="0" wrap="square" tIns="97775">
            <a:spAutoFit/>
          </a:bodyPr>
          <a:lstStyle/>
          <a:p>
            <a:pPr indent="-343535" lvl="0" marL="355600" marR="0" rtl="0" algn="just">
              <a:lnSpc>
                <a:spcPct val="100000"/>
              </a:lnSpc>
              <a:spcBef>
                <a:spcPts val="0"/>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Cost</a:t>
            </a:r>
            <a:endParaRPr sz="2000">
              <a:solidFill>
                <a:schemeClr val="dk1"/>
              </a:solidFill>
              <a:latin typeface="Times New Roman"/>
              <a:ea typeface="Times New Roman"/>
              <a:cs typeface="Times New Roman"/>
              <a:sym typeface="Times New Roman"/>
            </a:endParaRPr>
          </a:p>
          <a:p>
            <a:pPr indent="0" lvl="0" marL="469900" marR="0" rtl="0" algn="just">
              <a:lnSpc>
                <a:spcPct val="100000"/>
              </a:lnSpc>
              <a:spcBef>
                <a:spcPts val="580"/>
              </a:spcBef>
              <a:spcAft>
                <a:spcPts val="0"/>
              </a:spcAft>
              <a:buNone/>
            </a:pPr>
            <a:r>
              <a:rPr lang="en-US" sz="2000">
                <a:solidFill>
                  <a:schemeClr val="dk1"/>
                </a:solidFill>
                <a:latin typeface="Times New Roman"/>
                <a:ea typeface="Times New Roman"/>
                <a:cs typeface="Times New Roman"/>
                <a:sym typeface="Times New Roman"/>
              </a:rPr>
              <a:t>—More cache is expensive</a:t>
            </a:r>
            <a:endParaRPr sz="2000">
              <a:solidFill>
                <a:schemeClr val="dk1"/>
              </a:solidFill>
              <a:latin typeface="Times New Roman"/>
              <a:ea typeface="Times New Roman"/>
              <a:cs typeface="Times New Roman"/>
              <a:sym typeface="Times New Roman"/>
            </a:endParaRPr>
          </a:p>
          <a:p>
            <a:pPr indent="0" lvl="0" marL="469900" marR="0" rtl="0" algn="just">
              <a:lnSpc>
                <a:spcPct val="100000"/>
              </a:lnSpc>
              <a:spcBef>
                <a:spcPts val="580"/>
              </a:spcBef>
              <a:spcAft>
                <a:spcPts val="0"/>
              </a:spcAft>
              <a:buNone/>
            </a:pPr>
            <a:r>
              <a:t/>
            </a:r>
            <a:endParaRPr sz="2000">
              <a:solidFill>
                <a:schemeClr val="dk1"/>
              </a:solidFill>
              <a:latin typeface="Times New Roman"/>
              <a:ea typeface="Times New Roman"/>
              <a:cs typeface="Times New Roman"/>
              <a:sym typeface="Times New Roman"/>
            </a:endParaRPr>
          </a:p>
          <a:p>
            <a:pPr indent="-343535" lvl="0" marL="355600" marR="0" rtl="0" algn="just">
              <a:lnSpc>
                <a:spcPct val="100000"/>
              </a:lnSpc>
              <a:spcBef>
                <a:spcPts val="670"/>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Speed</a:t>
            </a:r>
            <a:endParaRPr sz="2000">
              <a:solidFill>
                <a:schemeClr val="dk1"/>
              </a:solidFill>
              <a:latin typeface="Times New Roman"/>
              <a:ea typeface="Times New Roman"/>
              <a:cs typeface="Times New Roman"/>
              <a:sym typeface="Times New Roman"/>
            </a:endParaRPr>
          </a:p>
          <a:p>
            <a:pPr indent="0" lvl="0" marL="469900" marR="0" rtl="0" algn="just">
              <a:lnSpc>
                <a:spcPct val="100000"/>
              </a:lnSpc>
              <a:spcBef>
                <a:spcPts val="580"/>
              </a:spcBef>
              <a:spcAft>
                <a:spcPts val="0"/>
              </a:spcAft>
              <a:buNone/>
            </a:pPr>
            <a:r>
              <a:rPr lang="en-US" sz="2000">
                <a:solidFill>
                  <a:schemeClr val="dk1"/>
                </a:solidFill>
                <a:latin typeface="Times New Roman"/>
                <a:ea typeface="Times New Roman"/>
                <a:cs typeface="Times New Roman"/>
                <a:sym typeface="Times New Roman"/>
              </a:rPr>
              <a:t>—The larger the cache, the larger the number of gates involved in addressing the cache. </a:t>
            </a:r>
            <a:endParaRPr/>
          </a:p>
          <a:p>
            <a:pPr indent="0" lvl="0" marL="469900" marR="0" rtl="0" algn="just">
              <a:lnSpc>
                <a:spcPct val="100000"/>
              </a:lnSpc>
              <a:spcBef>
                <a:spcPts val="580"/>
              </a:spcBef>
              <a:spcAft>
                <a:spcPts val="0"/>
              </a:spcAft>
              <a:buNone/>
            </a:pPr>
            <a:r>
              <a:rPr lang="en-US" sz="2000">
                <a:solidFill>
                  <a:schemeClr val="dk1"/>
                </a:solidFill>
                <a:latin typeface="Times New Roman"/>
                <a:ea typeface="Times New Roman"/>
                <a:cs typeface="Times New Roman"/>
                <a:sym typeface="Times New Roman"/>
              </a:rPr>
              <a:t>The result is that </a:t>
            </a:r>
            <a:r>
              <a:rPr lang="en-US" sz="2000">
                <a:solidFill>
                  <a:srgbClr val="FF0000"/>
                </a:solidFill>
                <a:latin typeface="Times New Roman"/>
                <a:ea typeface="Times New Roman"/>
                <a:cs typeface="Times New Roman"/>
                <a:sym typeface="Times New Roman"/>
              </a:rPr>
              <a:t>large caches tend to be slightly slower than small ones</a:t>
            </a:r>
            <a:r>
              <a:rPr lang="en-US" sz="2000">
                <a:solidFill>
                  <a:schemeClr val="dk1"/>
                </a:solidFill>
                <a:latin typeface="Times New Roman"/>
                <a:ea typeface="Times New Roman"/>
                <a:cs typeface="Times New Roman"/>
                <a:sym typeface="Times New Roman"/>
              </a:rPr>
              <a:t>—</a:t>
            </a:r>
            <a:endParaRPr/>
          </a:p>
          <a:p>
            <a:pPr indent="0" lvl="0" marL="469900" marR="0" rtl="0" algn="just">
              <a:lnSpc>
                <a:spcPct val="100000"/>
              </a:lnSpc>
              <a:spcBef>
                <a:spcPts val="580"/>
              </a:spcBef>
              <a:spcAft>
                <a:spcPts val="0"/>
              </a:spcAft>
              <a:buNone/>
            </a:pPr>
            <a:r>
              <a:rPr lang="en-US" sz="2000">
                <a:solidFill>
                  <a:schemeClr val="dk1"/>
                </a:solidFill>
                <a:latin typeface="Times New Roman"/>
                <a:ea typeface="Times New Roman"/>
                <a:cs typeface="Times New Roman"/>
                <a:sym typeface="Times New Roman"/>
              </a:rPr>
              <a:t>More cache is faster (up to a point)</a:t>
            </a:r>
            <a:endParaRPr/>
          </a:p>
          <a:p>
            <a:pPr indent="0" lvl="0" marL="469900" marR="0" rtl="0" algn="just">
              <a:lnSpc>
                <a:spcPct val="100000"/>
              </a:lnSpc>
              <a:spcBef>
                <a:spcPts val="580"/>
              </a:spcBef>
              <a:spcAft>
                <a:spcPts val="0"/>
              </a:spcAft>
              <a:buNone/>
            </a:pPr>
            <a:r>
              <a:rPr lang="en-US" sz="2000">
                <a:solidFill>
                  <a:schemeClr val="dk1"/>
                </a:solidFill>
                <a:latin typeface="Times New Roman"/>
                <a:ea typeface="Times New Roman"/>
                <a:cs typeface="Times New Roman"/>
                <a:sym typeface="Times New Roman"/>
              </a:rPr>
              <a:t>—Checking cache for data takes time</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62"/>
          <p:cNvSpPr txBox="1"/>
          <p:nvPr>
            <p:ph type="title"/>
          </p:nvPr>
        </p:nvSpPr>
        <p:spPr>
          <a:xfrm>
            <a:off x="485343" y="57404"/>
            <a:ext cx="8173313" cy="430887"/>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Line size</a:t>
            </a:r>
            <a:endParaRPr/>
          </a:p>
        </p:txBody>
      </p:sp>
      <p:sp>
        <p:nvSpPr>
          <p:cNvPr id="450" name="Google Shape;450;p62"/>
          <p:cNvSpPr txBox="1"/>
          <p:nvPr>
            <p:ph idx="1" type="body"/>
          </p:nvPr>
        </p:nvSpPr>
        <p:spPr>
          <a:xfrm>
            <a:off x="525144" y="1295399"/>
            <a:ext cx="8093710" cy="5786199"/>
          </a:xfrm>
          <a:prstGeom prst="rect">
            <a:avLst/>
          </a:prstGeom>
          <a:noFill/>
          <a:ln>
            <a:noFill/>
          </a:ln>
        </p:spPr>
        <p:txBody>
          <a:bodyPr anchorCtr="0" anchor="t" bIns="0" lIns="0" spcFirstLastPara="1" rIns="0" wrap="square" tIns="0">
            <a:spAutoFit/>
          </a:bodyPr>
          <a:lstStyle/>
          <a:p>
            <a:pPr indent="-285750" lvl="0" marL="285750" rtl="0" algn="just">
              <a:spcBef>
                <a:spcPts val="0"/>
              </a:spcBef>
              <a:spcAft>
                <a:spcPts val="0"/>
              </a:spcAft>
              <a:buClr>
                <a:srgbClr val="242021"/>
              </a:buClr>
              <a:buSzPts val="1800"/>
              <a:buFont typeface="Arial"/>
              <a:buChar char="•"/>
            </a:pPr>
            <a:r>
              <a:rPr b="0" i="0" lang="en-US" sz="1800">
                <a:solidFill>
                  <a:srgbClr val="242021"/>
                </a:solidFill>
                <a:latin typeface="Times New Roman"/>
                <a:ea typeface="Times New Roman"/>
                <a:cs typeface="Times New Roman"/>
                <a:sym typeface="Times New Roman"/>
              </a:rPr>
              <a:t>When a block of data is retrieved and placed in the cache, not only the desired word but also </a:t>
            </a:r>
            <a:r>
              <a:rPr b="0" i="0" lang="en-US" sz="1800">
                <a:solidFill>
                  <a:srgbClr val="FF0000"/>
                </a:solidFill>
                <a:latin typeface="Times New Roman"/>
                <a:ea typeface="Times New Roman"/>
                <a:cs typeface="Times New Roman"/>
                <a:sym typeface="Times New Roman"/>
              </a:rPr>
              <a:t>some number of adjacent words are retrieved</a:t>
            </a:r>
            <a:r>
              <a:rPr b="0" i="0" lang="en-US" sz="1800">
                <a:solidFill>
                  <a:srgbClr val="242021"/>
                </a:solidFill>
                <a:latin typeface="Times New Roman"/>
                <a:ea typeface="Times New Roman"/>
                <a:cs typeface="Times New Roman"/>
                <a:sym typeface="Times New Roman"/>
              </a:rPr>
              <a:t>. </a:t>
            </a:r>
            <a:endParaRPr b="0" i="0" sz="1800">
              <a:solidFill>
                <a:srgbClr val="242021"/>
              </a:solidFill>
              <a:latin typeface="Times New Roman"/>
              <a:ea typeface="Times New Roman"/>
              <a:cs typeface="Times New Roman"/>
              <a:sym typeface="Times New Roman"/>
            </a:endParaRPr>
          </a:p>
          <a:p>
            <a:pPr indent="0" lvl="0" marL="0" rtl="0" algn="just">
              <a:spcBef>
                <a:spcPts val="0"/>
              </a:spcBef>
              <a:spcAft>
                <a:spcPts val="0"/>
              </a:spcAft>
              <a:buNone/>
            </a:pPr>
            <a:r>
              <a:t/>
            </a:r>
            <a:endParaRPr b="0" i="0" sz="1800">
              <a:solidFill>
                <a:srgbClr val="242021"/>
              </a:solidFill>
              <a:latin typeface="Times New Roman"/>
              <a:ea typeface="Times New Roman"/>
              <a:cs typeface="Times New Roman"/>
              <a:sym typeface="Times New Roman"/>
            </a:endParaRPr>
          </a:p>
          <a:p>
            <a:pPr indent="-285750" lvl="0" marL="285750" rtl="0" algn="just">
              <a:spcBef>
                <a:spcPts val="0"/>
              </a:spcBef>
              <a:spcAft>
                <a:spcPts val="0"/>
              </a:spcAft>
              <a:buClr>
                <a:srgbClr val="242021"/>
              </a:buClr>
              <a:buSzPts val="1800"/>
              <a:buFont typeface="Arial"/>
              <a:buChar char="•"/>
            </a:pPr>
            <a:r>
              <a:rPr b="0" i="0" lang="en-US" sz="1800">
                <a:solidFill>
                  <a:srgbClr val="242021"/>
                </a:solidFill>
                <a:latin typeface="Times New Roman"/>
                <a:ea typeface="Times New Roman"/>
                <a:cs typeface="Times New Roman"/>
                <a:sym typeface="Times New Roman"/>
              </a:rPr>
              <a:t>the </a:t>
            </a:r>
            <a:r>
              <a:rPr b="0" i="0" lang="en-US" sz="1800">
                <a:solidFill>
                  <a:srgbClr val="FF0000"/>
                </a:solidFill>
                <a:latin typeface="Times New Roman"/>
                <a:ea typeface="Times New Roman"/>
                <a:cs typeface="Times New Roman"/>
                <a:sym typeface="Times New Roman"/>
              </a:rPr>
              <a:t>hit ratio will at first increase </a:t>
            </a:r>
            <a:r>
              <a:rPr b="0" i="0" lang="en-US" sz="1800">
                <a:solidFill>
                  <a:srgbClr val="242021"/>
                </a:solidFill>
                <a:latin typeface="Times New Roman"/>
                <a:ea typeface="Times New Roman"/>
                <a:cs typeface="Times New Roman"/>
                <a:sym typeface="Times New Roman"/>
              </a:rPr>
              <a:t>because of the principle of locality</a:t>
            </a:r>
            <a:endParaRPr/>
          </a:p>
          <a:p>
            <a:pPr indent="0" lvl="0" marL="0" rtl="0" algn="just">
              <a:spcBef>
                <a:spcPts val="0"/>
              </a:spcBef>
              <a:spcAft>
                <a:spcPts val="0"/>
              </a:spcAft>
              <a:buNone/>
            </a:pPr>
            <a:r>
              <a:t/>
            </a:r>
            <a:endParaRPr b="0" i="0" sz="1800">
              <a:solidFill>
                <a:srgbClr val="242021"/>
              </a:solidFill>
              <a:latin typeface="Times New Roman"/>
              <a:ea typeface="Times New Roman"/>
              <a:cs typeface="Times New Roman"/>
              <a:sym typeface="Times New Roman"/>
            </a:endParaRPr>
          </a:p>
          <a:p>
            <a:pPr indent="-285750" lvl="0" marL="285750" rtl="0" algn="just">
              <a:spcBef>
                <a:spcPts val="0"/>
              </a:spcBef>
              <a:spcAft>
                <a:spcPts val="0"/>
              </a:spcAft>
              <a:buClr>
                <a:srgbClr val="242021"/>
              </a:buClr>
              <a:buSzPts val="1800"/>
              <a:buFont typeface="Arial"/>
              <a:buChar char="•"/>
            </a:pPr>
            <a:r>
              <a:rPr b="0" i="0" lang="en-US" sz="1800">
                <a:solidFill>
                  <a:srgbClr val="242021"/>
                </a:solidFill>
                <a:latin typeface="Times New Roman"/>
                <a:ea typeface="Times New Roman"/>
                <a:cs typeface="Times New Roman"/>
                <a:sym typeface="Times New Roman"/>
              </a:rPr>
              <a:t>As the </a:t>
            </a:r>
            <a:r>
              <a:rPr b="1" i="0" lang="en-US" sz="1800">
                <a:solidFill>
                  <a:srgbClr val="242021"/>
                </a:solidFill>
                <a:latin typeface="Times New Roman"/>
                <a:ea typeface="Times New Roman"/>
                <a:cs typeface="Times New Roman"/>
                <a:sym typeface="Times New Roman"/>
              </a:rPr>
              <a:t>block size increases, more useful data are brought into the cache, hit ratio will begin to decrease</a:t>
            </a:r>
            <a:r>
              <a:rPr b="1" lang="en-US">
                <a:latin typeface="Times New Roman"/>
                <a:ea typeface="Times New Roman"/>
                <a:cs typeface="Times New Roman"/>
                <a:sym typeface="Times New Roman"/>
              </a:rPr>
              <a:t> </a:t>
            </a:r>
            <a:endParaRPr b="1">
              <a:latin typeface="Times New Roman"/>
              <a:ea typeface="Times New Roman"/>
              <a:cs typeface="Times New Roman"/>
              <a:sym typeface="Times New Roman"/>
            </a:endParaRPr>
          </a:p>
          <a:p>
            <a:pPr indent="0" lvl="0" marL="0" rtl="0" algn="just">
              <a:spcBef>
                <a:spcPts val="0"/>
              </a:spcBef>
              <a:spcAft>
                <a:spcPts val="0"/>
              </a:spcAft>
              <a:buNone/>
            </a:pPr>
            <a:r>
              <a:t/>
            </a:r>
            <a:endParaRPr>
              <a:latin typeface="Times New Roman"/>
              <a:ea typeface="Times New Roman"/>
              <a:cs typeface="Times New Roman"/>
              <a:sym typeface="Times New Roman"/>
            </a:endParaRPr>
          </a:p>
          <a:p>
            <a:pPr indent="-285750" lvl="0" marL="285750" rtl="0" algn="just">
              <a:spcBef>
                <a:spcPts val="0"/>
              </a:spcBef>
              <a:spcAft>
                <a:spcPts val="0"/>
              </a:spcAft>
              <a:buClr>
                <a:srgbClr val="FF0000"/>
              </a:buClr>
              <a:buSzPts val="1800"/>
              <a:buFont typeface="Arial"/>
              <a:buChar char="•"/>
            </a:pPr>
            <a:r>
              <a:rPr b="0" i="0" lang="en-US" sz="1800">
                <a:solidFill>
                  <a:srgbClr val="FF0000"/>
                </a:solidFill>
                <a:latin typeface="Times New Roman"/>
                <a:ea typeface="Times New Roman"/>
                <a:cs typeface="Times New Roman"/>
                <a:sym typeface="Times New Roman"/>
              </a:rPr>
              <a:t>probability of using the newly fetched information </a:t>
            </a:r>
            <a:r>
              <a:rPr b="0" i="0" lang="en-US" sz="1800">
                <a:solidFill>
                  <a:srgbClr val="242021"/>
                </a:solidFill>
                <a:latin typeface="Times New Roman"/>
                <a:ea typeface="Times New Roman"/>
                <a:cs typeface="Times New Roman"/>
                <a:sym typeface="Times New Roman"/>
              </a:rPr>
              <a:t>becomes </a:t>
            </a:r>
            <a:r>
              <a:rPr b="1" i="0" lang="en-US" sz="1800">
                <a:solidFill>
                  <a:srgbClr val="242021"/>
                </a:solidFill>
                <a:latin typeface="Times New Roman"/>
                <a:ea typeface="Times New Roman"/>
                <a:cs typeface="Times New Roman"/>
                <a:sym typeface="Times New Roman"/>
              </a:rPr>
              <a:t>less</a:t>
            </a:r>
            <a:r>
              <a:rPr b="0" i="0" lang="en-US" sz="1800">
                <a:solidFill>
                  <a:srgbClr val="242021"/>
                </a:solidFill>
                <a:latin typeface="Times New Roman"/>
                <a:ea typeface="Times New Roman"/>
                <a:cs typeface="Times New Roman"/>
                <a:sym typeface="Times New Roman"/>
              </a:rPr>
              <a:t> than the probability of reusing the information that has to be replaced. </a:t>
            </a:r>
            <a:endParaRPr b="0" i="0" sz="1800">
              <a:solidFill>
                <a:srgbClr val="242021"/>
              </a:solidFill>
              <a:latin typeface="Times New Roman"/>
              <a:ea typeface="Times New Roman"/>
              <a:cs typeface="Times New Roman"/>
              <a:sym typeface="Times New Roman"/>
            </a:endParaRPr>
          </a:p>
          <a:p>
            <a:pPr indent="0" lvl="0" marL="0" rtl="0" algn="just">
              <a:spcBef>
                <a:spcPts val="0"/>
              </a:spcBef>
              <a:spcAft>
                <a:spcPts val="0"/>
              </a:spcAft>
              <a:buNone/>
            </a:pPr>
            <a:r>
              <a:t/>
            </a:r>
            <a:endParaRPr b="0" i="0" sz="1800">
              <a:solidFill>
                <a:srgbClr val="242021"/>
              </a:solidFill>
              <a:latin typeface="Times New Roman"/>
              <a:ea typeface="Times New Roman"/>
              <a:cs typeface="Times New Roman"/>
              <a:sym typeface="Times New Roman"/>
            </a:endParaRPr>
          </a:p>
          <a:p>
            <a:pPr indent="-285750" lvl="0" marL="285750" rtl="0" algn="just">
              <a:spcBef>
                <a:spcPts val="0"/>
              </a:spcBef>
              <a:spcAft>
                <a:spcPts val="0"/>
              </a:spcAft>
              <a:buClr>
                <a:srgbClr val="242021"/>
              </a:buClr>
              <a:buSzPts val="1800"/>
              <a:buFont typeface="Arial"/>
              <a:buChar char="•"/>
            </a:pPr>
            <a:r>
              <a:rPr b="0" i="0" lang="en-US" sz="1800">
                <a:solidFill>
                  <a:srgbClr val="242021"/>
                </a:solidFill>
                <a:latin typeface="Times New Roman"/>
                <a:ea typeface="Times New Roman"/>
                <a:cs typeface="Times New Roman"/>
                <a:sym typeface="Times New Roman"/>
              </a:rPr>
              <a:t>Larger blocks reduce the number of blocks that fit into a cache</a:t>
            </a:r>
            <a:endParaRPr/>
          </a:p>
          <a:p>
            <a:pPr indent="0" lvl="0" marL="0" rtl="0" algn="just">
              <a:spcBef>
                <a:spcPts val="0"/>
              </a:spcBef>
              <a:spcAft>
                <a:spcPts val="0"/>
              </a:spcAft>
              <a:buNone/>
            </a:pPr>
            <a:r>
              <a:t/>
            </a:r>
            <a:endParaRPr b="0" i="0" sz="1800">
              <a:solidFill>
                <a:srgbClr val="242021"/>
              </a:solidFill>
              <a:latin typeface="Times New Roman"/>
              <a:ea typeface="Times New Roman"/>
              <a:cs typeface="Times New Roman"/>
              <a:sym typeface="Times New Roman"/>
            </a:endParaRPr>
          </a:p>
          <a:p>
            <a:pPr indent="-285750" lvl="0" marL="285750" rtl="0" algn="just">
              <a:spcBef>
                <a:spcPts val="0"/>
              </a:spcBef>
              <a:spcAft>
                <a:spcPts val="0"/>
              </a:spcAft>
              <a:buClr>
                <a:srgbClr val="242021"/>
              </a:buClr>
              <a:buSzPts val="1800"/>
              <a:buFont typeface="Arial"/>
              <a:buChar char="•"/>
            </a:pPr>
            <a:r>
              <a:rPr b="0" i="0" lang="en-US" sz="1800">
                <a:solidFill>
                  <a:srgbClr val="242021"/>
                </a:solidFill>
                <a:latin typeface="Times New Roman"/>
                <a:ea typeface="Times New Roman"/>
                <a:cs typeface="Times New Roman"/>
                <a:sym typeface="Times New Roman"/>
              </a:rPr>
              <a:t>As a block becomes larger, each additional word is farther from the requestedword </a:t>
            </a:r>
            <a:br>
              <a:rPr lang="en-US">
                <a:latin typeface="Times New Roman"/>
                <a:ea typeface="Times New Roman"/>
                <a:cs typeface="Times New Roman"/>
                <a:sym typeface="Times New Roman"/>
              </a:rPr>
            </a:br>
            <a:br>
              <a:rPr lang="en-US">
                <a:latin typeface="Times New Roman"/>
                <a:ea typeface="Times New Roman"/>
                <a:cs typeface="Times New Roman"/>
                <a:sym typeface="Times New Roman"/>
              </a:rPr>
            </a:br>
            <a:br>
              <a:rPr lang="en-US">
                <a:latin typeface="Times New Roman"/>
                <a:ea typeface="Times New Roman"/>
                <a:cs typeface="Times New Roman"/>
                <a:sym typeface="Times New Roman"/>
              </a:rPr>
            </a:br>
            <a:br>
              <a:rPr lang="en-US">
                <a:latin typeface="Times New Roman"/>
                <a:ea typeface="Times New Roman"/>
                <a:cs typeface="Times New Roman"/>
                <a:sym typeface="Times New Roman"/>
              </a:rPr>
            </a:br>
            <a:br>
              <a:rPr lang="en-US">
                <a:latin typeface="Times New Roman"/>
                <a:ea typeface="Times New Roman"/>
                <a:cs typeface="Times New Roman"/>
                <a:sym typeface="Times New Roman"/>
              </a:rPr>
            </a:b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63"/>
          <p:cNvSpPr txBox="1"/>
          <p:nvPr>
            <p:ph type="title"/>
          </p:nvPr>
        </p:nvSpPr>
        <p:spPr>
          <a:xfrm>
            <a:off x="485343" y="57404"/>
            <a:ext cx="8173313" cy="430887"/>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Number of caches</a:t>
            </a:r>
            <a:endParaRPr/>
          </a:p>
        </p:txBody>
      </p:sp>
      <p:sp>
        <p:nvSpPr>
          <p:cNvPr id="456" name="Google Shape;456;p63"/>
          <p:cNvSpPr txBox="1"/>
          <p:nvPr>
            <p:ph idx="1" type="body"/>
          </p:nvPr>
        </p:nvSpPr>
        <p:spPr>
          <a:xfrm>
            <a:off x="525144" y="1188465"/>
            <a:ext cx="8093710" cy="7909858"/>
          </a:xfrm>
          <a:prstGeom prst="rect">
            <a:avLst/>
          </a:prstGeom>
          <a:noFill/>
          <a:ln>
            <a:noFill/>
          </a:ln>
        </p:spPr>
        <p:txBody>
          <a:bodyPr anchorCtr="0" anchor="t" bIns="0" lIns="0" spcFirstLastPara="1" rIns="0" wrap="square" tIns="0">
            <a:spAutoFit/>
          </a:bodyPr>
          <a:lstStyle/>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Single cache vs multi-level caches</a:t>
            </a:r>
            <a:endParaRPr/>
          </a:p>
          <a:p>
            <a:pPr indent="-342900" lvl="0" marL="342900" rtl="0" algn="just">
              <a:spcBef>
                <a:spcPts val="0"/>
              </a:spcBef>
              <a:spcAft>
                <a:spcPts val="0"/>
              </a:spcAft>
              <a:buClr>
                <a:srgbClr val="242021"/>
              </a:buClr>
              <a:buSzPts val="1800"/>
              <a:buFont typeface="Arial"/>
              <a:buChar char="•"/>
            </a:pPr>
            <a:r>
              <a:rPr b="0" i="0" lang="en-US" sz="1800">
                <a:solidFill>
                  <a:srgbClr val="242021"/>
                </a:solidFill>
                <a:latin typeface="Times New Roman"/>
                <a:ea typeface="Times New Roman"/>
                <a:cs typeface="Times New Roman"/>
                <a:sym typeface="Times New Roman"/>
              </a:rPr>
              <a:t>two-level cache, with the </a:t>
            </a:r>
            <a:r>
              <a:rPr b="0" i="0" lang="en-US" sz="1800">
                <a:solidFill>
                  <a:srgbClr val="FF0000"/>
                </a:solidFill>
                <a:latin typeface="Times New Roman"/>
                <a:ea typeface="Times New Roman"/>
                <a:cs typeface="Times New Roman"/>
                <a:sym typeface="Times New Roman"/>
              </a:rPr>
              <a:t>internal level 1 (L1) and the external cache designated as level 2 (L2). </a:t>
            </a:r>
            <a:endParaRPr/>
          </a:p>
          <a:p>
            <a:pPr indent="-342900" lvl="1" marL="800100" rtl="0" algn="just">
              <a:spcBef>
                <a:spcPts val="0"/>
              </a:spcBef>
              <a:spcAft>
                <a:spcPts val="0"/>
              </a:spcAft>
              <a:buClr>
                <a:srgbClr val="242021"/>
              </a:buClr>
              <a:buSzPts val="1600"/>
              <a:buFont typeface="Arial"/>
              <a:buChar char="•"/>
            </a:pPr>
            <a:r>
              <a:rPr b="0" i="0" lang="en-US" sz="1600">
                <a:solidFill>
                  <a:srgbClr val="242021"/>
                </a:solidFill>
                <a:latin typeface="Times New Roman"/>
                <a:ea typeface="Times New Roman"/>
                <a:cs typeface="Times New Roman"/>
                <a:sym typeface="Times New Roman"/>
              </a:rPr>
              <a:t>If there is no L2 cache and the processor makes an access request for a memory location not in the L1 cache, then the processor must access DRAM or</a:t>
            </a:r>
            <a:r>
              <a:rPr lang="en-US">
                <a:latin typeface="Times New Roman"/>
                <a:ea typeface="Times New Roman"/>
                <a:cs typeface="Times New Roman"/>
                <a:sym typeface="Times New Roman"/>
              </a:rPr>
              <a:t> </a:t>
            </a:r>
            <a:r>
              <a:rPr b="0" i="0" lang="en-US" sz="1600">
                <a:solidFill>
                  <a:srgbClr val="242021"/>
                </a:solidFill>
                <a:latin typeface="Times New Roman"/>
                <a:ea typeface="Times New Roman"/>
                <a:cs typeface="Times New Roman"/>
                <a:sym typeface="Times New Roman"/>
              </a:rPr>
              <a:t>ROM memory across the bus. </a:t>
            </a:r>
            <a:endParaRPr/>
          </a:p>
          <a:p>
            <a:pPr indent="-342900" lvl="1" marL="800100" rtl="0" algn="just">
              <a:spcBef>
                <a:spcPts val="0"/>
              </a:spcBef>
              <a:spcAft>
                <a:spcPts val="0"/>
              </a:spcAft>
              <a:buClr>
                <a:srgbClr val="242021"/>
              </a:buClr>
              <a:buSzPts val="1600"/>
              <a:buFont typeface="Arial"/>
              <a:buChar char="•"/>
            </a:pPr>
            <a:r>
              <a:rPr b="0" i="0" lang="en-US" sz="1600">
                <a:solidFill>
                  <a:srgbClr val="242021"/>
                </a:solidFill>
                <a:latin typeface="Times New Roman"/>
                <a:ea typeface="Times New Roman"/>
                <a:cs typeface="Times New Roman"/>
                <a:sym typeface="Times New Roman"/>
              </a:rPr>
              <a:t>Due to the typically slow bus speed and slow memory access </a:t>
            </a:r>
            <a:r>
              <a:rPr b="0" i="0" lang="en-US" sz="1600">
                <a:solidFill>
                  <a:srgbClr val="FF0000"/>
                </a:solidFill>
                <a:latin typeface="Times New Roman"/>
                <a:ea typeface="Times New Roman"/>
                <a:cs typeface="Times New Roman"/>
                <a:sym typeface="Times New Roman"/>
              </a:rPr>
              <a:t>time-poor performance</a:t>
            </a:r>
            <a:r>
              <a:rPr lang="en-US">
                <a:solidFill>
                  <a:srgbClr val="FF0000"/>
                </a:solidFill>
                <a:latin typeface="Times New Roman"/>
                <a:ea typeface="Times New Roman"/>
                <a:cs typeface="Times New Roman"/>
                <a:sym typeface="Times New Roman"/>
              </a:rPr>
              <a:t> </a:t>
            </a:r>
            <a:endParaRPr>
              <a:solidFill>
                <a:srgbClr val="FF0000"/>
              </a:solidFill>
              <a:latin typeface="Times New Roman"/>
              <a:ea typeface="Times New Roman"/>
              <a:cs typeface="Times New Roman"/>
              <a:sym typeface="Times New Roman"/>
            </a:endParaRPr>
          </a:p>
          <a:p>
            <a:pPr indent="0" lvl="1" marL="457200" rtl="0" algn="just">
              <a:spcBef>
                <a:spcPts val="0"/>
              </a:spcBef>
              <a:spcAft>
                <a:spcPts val="0"/>
              </a:spcAft>
              <a:buNone/>
            </a:pPr>
            <a:r>
              <a:t/>
            </a:r>
            <a:endParaRPr>
              <a:solidFill>
                <a:srgbClr val="FF0000"/>
              </a:solidFill>
              <a:latin typeface="Times New Roman"/>
              <a:ea typeface="Times New Roman"/>
              <a:cs typeface="Times New Roman"/>
              <a:sym typeface="Times New Roman"/>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L1,L2 &amp; L3 caches</a:t>
            </a:r>
            <a:endParaRPr/>
          </a:p>
          <a:p>
            <a:pPr indent="0" lvl="0" marL="0" rtl="0" algn="just">
              <a:spcBef>
                <a:spcPts val="0"/>
              </a:spcBef>
              <a:spcAft>
                <a:spcPts val="0"/>
              </a:spcAft>
              <a:buNone/>
            </a:pPr>
            <a:r>
              <a:t/>
            </a:r>
            <a:endParaRPr>
              <a:latin typeface="Times New Roman"/>
              <a:ea typeface="Times New Roman"/>
              <a:cs typeface="Times New Roman"/>
              <a:sym typeface="Times New Roman"/>
            </a:endParaRPr>
          </a:p>
          <a:p>
            <a:pPr indent="-342900" lvl="0" marL="342900" rtl="0" algn="just">
              <a:spcBef>
                <a:spcPts val="0"/>
              </a:spcBef>
              <a:spcAft>
                <a:spcPts val="0"/>
              </a:spcAft>
              <a:buClr>
                <a:srgbClr val="242021"/>
              </a:buClr>
              <a:buSzPts val="1800"/>
              <a:buFont typeface="Arial"/>
              <a:buChar char="•"/>
            </a:pPr>
            <a:r>
              <a:rPr b="0" i="0" lang="en-US" sz="1800">
                <a:solidFill>
                  <a:srgbClr val="242021"/>
                </a:solidFill>
                <a:latin typeface="Times New Roman"/>
                <a:ea typeface="Times New Roman"/>
                <a:cs typeface="Times New Roman"/>
                <a:sym typeface="Times New Roman"/>
              </a:rPr>
              <a:t>Split the cache into two: one dedicated to instructions and one dedicated to data. These two caches both exist at the same level, typically as two L1 caches. </a:t>
            </a:r>
            <a:endParaRPr/>
          </a:p>
          <a:p>
            <a:pPr indent="-342900" lvl="0" marL="342900" rtl="0" algn="just">
              <a:spcBef>
                <a:spcPts val="0"/>
              </a:spcBef>
              <a:spcAft>
                <a:spcPts val="0"/>
              </a:spcAft>
              <a:buClr>
                <a:srgbClr val="242021"/>
              </a:buClr>
              <a:buSzPts val="1800"/>
              <a:buFont typeface="Arial"/>
              <a:buChar char="•"/>
            </a:pPr>
            <a:r>
              <a:rPr b="0" i="0" lang="en-US" sz="1800">
                <a:solidFill>
                  <a:srgbClr val="242021"/>
                </a:solidFill>
                <a:latin typeface="Times New Roman"/>
                <a:ea typeface="Times New Roman"/>
                <a:cs typeface="Times New Roman"/>
                <a:sym typeface="Times New Roman"/>
              </a:rPr>
              <a:t>When the processor attempts to fetch an instruction from main memory, it first consults the </a:t>
            </a:r>
            <a:r>
              <a:rPr b="0" i="0" lang="en-US" sz="1800">
                <a:solidFill>
                  <a:srgbClr val="FF0000"/>
                </a:solidFill>
                <a:latin typeface="Times New Roman"/>
                <a:ea typeface="Times New Roman"/>
                <a:cs typeface="Times New Roman"/>
                <a:sym typeface="Times New Roman"/>
              </a:rPr>
              <a:t>instruction L1 cache</a:t>
            </a:r>
            <a:r>
              <a:rPr b="0" i="0" lang="en-US" sz="1800">
                <a:solidFill>
                  <a:srgbClr val="242021"/>
                </a:solidFill>
                <a:latin typeface="Times New Roman"/>
                <a:ea typeface="Times New Roman"/>
                <a:cs typeface="Times New Roman"/>
                <a:sym typeface="Times New Roman"/>
              </a:rPr>
              <a:t>, and when the processor attempts to fetch data from main memory, it first consults the </a:t>
            </a:r>
            <a:r>
              <a:rPr b="0" i="0" lang="en-US" sz="1800">
                <a:solidFill>
                  <a:srgbClr val="FF0000"/>
                </a:solidFill>
                <a:latin typeface="Times New Roman"/>
                <a:ea typeface="Times New Roman"/>
                <a:cs typeface="Times New Roman"/>
                <a:sym typeface="Times New Roman"/>
              </a:rPr>
              <a:t>data L1 cache</a:t>
            </a:r>
            <a:r>
              <a:rPr lang="en-US">
                <a:solidFill>
                  <a:srgbClr val="FF0000"/>
                </a:solidFill>
                <a:latin typeface="Times New Roman"/>
                <a:ea typeface="Times New Roman"/>
                <a:cs typeface="Times New Roman"/>
                <a:sym typeface="Times New Roman"/>
              </a:rPr>
              <a:t> </a:t>
            </a:r>
            <a:endParaRPr>
              <a:solidFill>
                <a:srgbClr val="FF0000"/>
              </a:solidFill>
              <a:latin typeface="Times New Roman"/>
              <a:ea typeface="Times New Roman"/>
              <a:cs typeface="Times New Roman"/>
              <a:sym typeface="Times New Roman"/>
            </a:endParaRPr>
          </a:p>
          <a:p>
            <a:pPr indent="0" lvl="0" marL="0" rtl="0" algn="just">
              <a:spcBef>
                <a:spcPts val="0"/>
              </a:spcBef>
              <a:spcAft>
                <a:spcPts val="0"/>
              </a:spcAft>
              <a:buNone/>
            </a:pPr>
            <a:r>
              <a:t/>
            </a:r>
            <a:endParaRPr>
              <a:solidFill>
                <a:srgbClr val="FF0000"/>
              </a:solidFill>
              <a:latin typeface="Times New Roman"/>
              <a:ea typeface="Times New Roman"/>
              <a:cs typeface="Times New Roman"/>
              <a:sym typeface="Times New Roman"/>
            </a:endParaRPr>
          </a:p>
          <a:p>
            <a:pPr indent="-342900" lvl="0" marL="342900" rtl="0" algn="just">
              <a:spcBef>
                <a:spcPts val="0"/>
              </a:spcBef>
              <a:spcAft>
                <a:spcPts val="0"/>
              </a:spcAft>
              <a:buClr>
                <a:srgbClr val="242021"/>
              </a:buClr>
              <a:buSzPts val="1800"/>
              <a:buFont typeface="Arial"/>
              <a:buChar char="•"/>
            </a:pPr>
            <a:r>
              <a:rPr b="0" i="0" lang="en-US" sz="1800">
                <a:solidFill>
                  <a:srgbClr val="242021"/>
                </a:solidFill>
                <a:latin typeface="Times New Roman"/>
                <a:ea typeface="Times New Roman"/>
                <a:cs typeface="Times New Roman"/>
                <a:sym typeface="Times New Roman"/>
              </a:rPr>
              <a:t>unified cache has a higher hit rate than split caches</a:t>
            </a:r>
            <a:r>
              <a:rPr lang="en-US">
                <a:latin typeface="Times New Roman"/>
                <a:ea typeface="Times New Roman"/>
                <a:cs typeface="Times New Roman"/>
                <a:sym typeface="Times New Roman"/>
              </a:rPr>
              <a:t> </a:t>
            </a:r>
            <a:endParaRPr/>
          </a:p>
          <a:p>
            <a:pPr indent="-342900" lvl="0" marL="342900" rtl="0" algn="just">
              <a:spcBef>
                <a:spcPts val="0"/>
              </a:spcBef>
              <a:spcAft>
                <a:spcPts val="0"/>
              </a:spcAft>
              <a:buClr>
                <a:srgbClr val="242021"/>
              </a:buClr>
              <a:buSzPts val="1800"/>
              <a:buFont typeface="Arial"/>
              <a:buChar char="•"/>
            </a:pPr>
            <a:r>
              <a:rPr b="0" i="0" lang="en-US" sz="1800">
                <a:solidFill>
                  <a:srgbClr val="242021"/>
                </a:solidFill>
                <a:latin typeface="Times New Roman"/>
                <a:ea typeface="Times New Roman"/>
                <a:cs typeface="Times New Roman"/>
                <a:sym typeface="Times New Roman"/>
              </a:rPr>
              <a:t>Only one cache needs to be designed and implemented</a:t>
            </a:r>
            <a:r>
              <a:rPr lang="en-US">
                <a:latin typeface="Times New Roman"/>
                <a:ea typeface="Times New Roman"/>
                <a:cs typeface="Times New Roman"/>
                <a:sym typeface="Times New Roman"/>
              </a:rPr>
              <a:t> </a:t>
            </a:r>
            <a:br>
              <a:rPr lang="en-US">
                <a:latin typeface="Times New Roman"/>
                <a:ea typeface="Times New Roman"/>
                <a:cs typeface="Times New Roman"/>
                <a:sym typeface="Times New Roman"/>
              </a:rPr>
            </a:br>
            <a:br>
              <a:rPr lang="en-US">
                <a:latin typeface="Times New Roman"/>
                <a:ea typeface="Times New Roman"/>
                <a:cs typeface="Times New Roman"/>
                <a:sym typeface="Times New Roman"/>
              </a:rPr>
            </a:br>
            <a:br>
              <a:rPr lang="en-US">
                <a:latin typeface="Times New Roman"/>
                <a:ea typeface="Times New Roman"/>
                <a:cs typeface="Times New Roman"/>
                <a:sym typeface="Times New Roman"/>
              </a:rPr>
            </a:br>
            <a:br>
              <a:rPr lang="en-US">
                <a:latin typeface="Times New Roman"/>
                <a:ea typeface="Times New Roman"/>
                <a:cs typeface="Times New Roman"/>
                <a:sym typeface="Times New Roman"/>
              </a:rPr>
            </a:br>
            <a:br>
              <a:rPr lang="en-US">
                <a:latin typeface="Times New Roman"/>
                <a:ea typeface="Times New Roman"/>
                <a:cs typeface="Times New Roman"/>
                <a:sym typeface="Times New Roman"/>
              </a:rPr>
            </a:br>
            <a:br>
              <a:rPr lang="en-US">
                <a:latin typeface="Times New Roman"/>
                <a:ea typeface="Times New Roman"/>
                <a:cs typeface="Times New Roman"/>
                <a:sym typeface="Times New Roman"/>
              </a:rPr>
            </a:b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a:p>
            <a:pPr indent="0" lvl="0" marL="0" rtl="0" algn="just">
              <a:spcBef>
                <a:spcPts val="0"/>
              </a:spcBef>
              <a:spcAft>
                <a:spcPts val="0"/>
              </a:spcAft>
              <a:buNone/>
            </a:pPr>
            <a:r>
              <a:t/>
            </a:r>
            <a:endParaRPr>
              <a:latin typeface="Times New Roman"/>
              <a:ea typeface="Times New Roman"/>
              <a:cs typeface="Times New Roman"/>
              <a:sym typeface="Times New Roman"/>
            </a:endParaRPr>
          </a:p>
          <a:p>
            <a:pPr indent="-215900" lvl="0" marL="342900" rtl="0" algn="just">
              <a:spcBef>
                <a:spcPts val="0"/>
              </a:spcBef>
              <a:spcAft>
                <a:spcPts val="0"/>
              </a:spcAft>
              <a:buClr>
                <a:schemeClr val="dk1"/>
              </a:buClr>
              <a:buSzPts val="2000"/>
              <a:buFont typeface="Arial"/>
              <a:buNone/>
            </a:pPr>
            <a:r>
              <a:t/>
            </a:r>
            <a:endParaRPr>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64"/>
          <p:cNvSpPr txBox="1"/>
          <p:nvPr>
            <p:ph idx="1" type="body"/>
          </p:nvPr>
        </p:nvSpPr>
        <p:spPr>
          <a:xfrm>
            <a:off x="533400" y="2286000"/>
            <a:ext cx="8093710" cy="2462213"/>
          </a:xfrm>
          <a:prstGeom prst="rect">
            <a:avLst/>
          </a:prstGeom>
          <a:noFill/>
          <a:ln>
            <a:noFill/>
          </a:ln>
        </p:spPr>
        <p:txBody>
          <a:bodyPr anchorCtr="0" anchor="t" bIns="0" lIns="0" spcFirstLastPara="1" rIns="0" wrap="square" tIns="0">
            <a:spAutoFit/>
          </a:bodyPr>
          <a:lstStyle/>
          <a:p>
            <a:pPr indent="-342900" lvl="0" marL="342900" rtl="0" algn="just">
              <a:spcBef>
                <a:spcPts val="0"/>
              </a:spcBef>
              <a:spcAft>
                <a:spcPts val="0"/>
              </a:spcAft>
              <a:buClr>
                <a:schemeClr val="dk1"/>
              </a:buClr>
              <a:buSzPts val="2000"/>
              <a:buFont typeface="Arial"/>
              <a:buChar char="•"/>
            </a:pPr>
            <a:r>
              <a:rPr lang="en-US"/>
              <a:t>An algorithm is needed for mapping main memory blocks into cache lines because </a:t>
            </a:r>
            <a:r>
              <a:rPr b="1" lang="en-US"/>
              <a:t>there are fewer cache lines than main memory blocks</a:t>
            </a:r>
            <a:endParaRPr/>
          </a:p>
          <a:p>
            <a:pPr indent="-342900" lvl="0" marL="342900" rtl="0" algn="just">
              <a:spcBef>
                <a:spcPts val="0"/>
              </a:spcBef>
              <a:spcAft>
                <a:spcPts val="0"/>
              </a:spcAft>
              <a:buClr>
                <a:schemeClr val="dk1"/>
              </a:buClr>
              <a:buSzPts val="2000"/>
              <a:buFont typeface="Arial"/>
              <a:buChar char="•"/>
            </a:pPr>
            <a:r>
              <a:rPr lang="en-US"/>
              <a:t>Technique using which we bring the main memory into the cache memory.</a:t>
            </a:r>
            <a:endParaRPr b="1"/>
          </a:p>
          <a:p>
            <a:pPr indent="-342900" lvl="0" marL="342900" rtl="0" algn="just">
              <a:spcBef>
                <a:spcPts val="0"/>
              </a:spcBef>
              <a:spcAft>
                <a:spcPts val="0"/>
              </a:spcAft>
              <a:buClr>
                <a:schemeClr val="dk1"/>
              </a:buClr>
              <a:buSzPts val="2000"/>
              <a:buFont typeface="Arial"/>
              <a:buChar char="•"/>
            </a:pPr>
            <a:r>
              <a:rPr lang="en-US"/>
              <a:t>Determine </a:t>
            </a:r>
            <a:r>
              <a:rPr lang="en-US">
                <a:solidFill>
                  <a:srgbClr val="FF0000"/>
                </a:solidFill>
              </a:rPr>
              <a:t>which main memory block currently occupies a cache line.</a:t>
            </a:r>
            <a:endParaRPr/>
          </a:p>
          <a:p>
            <a:pPr indent="-215900" lvl="0" marL="342900" rtl="0" algn="just">
              <a:spcBef>
                <a:spcPts val="0"/>
              </a:spcBef>
              <a:spcAft>
                <a:spcPts val="0"/>
              </a:spcAft>
              <a:buClr>
                <a:schemeClr val="dk1"/>
              </a:buClr>
              <a:buSzPts val="2000"/>
              <a:buFont typeface="Arial"/>
              <a:buNone/>
            </a:pPr>
            <a:r>
              <a:t/>
            </a:r>
            <a:endParaRPr/>
          </a:p>
        </p:txBody>
      </p:sp>
      <p:sp>
        <p:nvSpPr>
          <p:cNvPr id="462" name="Google Shape;462;p64"/>
          <p:cNvSpPr txBox="1"/>
          <p:nvPr>
            <p:ph type="title"/>
          </p:nvPr>
        </p:nvSpPr>
        <p:spPr>
          <a:xfrm>
            <a:off x="457200" y="304800"/>
            <a:ext cx="8173313" cy="8788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MAPPING TECHNIQUES</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65"/>
          <p:cNvSpPr txBox="1"/>
          <p:nvPr>
            <p:ph type="title"/>
          </p:nvPr>
        </p:nvSpPr>
        <p:spPr>
          <a:xfrm>
            <a:off x="485343" y="484073"/>
            <a:ext cx="4624705"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MAPPING TECHNIQUES</a:t>
            </a:r>
            <a:endParaRPr/>
          </a:p>
        </p:txBody>
      </p:sp>
      <p:sp>
        <p:nvSpPr>
          <p:cNvPr id="468" name="Google Shape;468;p65"/>
          <p:cNvSpPr txBox="1"/>
          <p:nvPr/>
        </p:nvSpPr>
        <p:spPr>
          <a:xfrm>
            <a:off x="535940" y="1545462"/>
            <a:ext cx="6273165" cy="4458970"/>
          </a:xfrm>
          <a:prstGeom prst="rect">
            <a:avLst/>
          </a:prstGeom>
          <a:noFill/>
          <a:ln>
            <a:noFill/>
          </a:ln>
        </p:spPr>
        <p:txBody>
          <a:bodyPr anchorCtr="0" anchor="t" bIns="0" lIns="0" spcFirstLastPara="1" rIns="0" wrap="square" tIns="12050">
            <a:spAutoFit/>
          </a:bodyPr>
          <a:lstStyle/>
          <a:p>
            <a:pPr indent="-343535" lvl="0" marL="355600" marR="0" rtl="0" algn="l">
              <a:lnSpc>
                <a:spcPct val="100000"/>
              </a:lnSpc>
              <a:spcBef>
                <a:spcPts val="0"/>
              </a:spcBef>
              <a:spcAft>
                <a:spcPts val="0"/>
              </a:spcAft>
              <a:buClr>
                <a:srgbClr val="FF0000"/>
              </a:buClr>
              <a:buSzPts val="2800"/>
              <a:buFont typeface="Verdana"/>
              <a:buChar char="•"/>
            </a:pPr>
            <a:r>
              <a:rPr b="1" lang="en-US" sz="2800">
                <a:solidFill>
                  <a:srgbClr val="FF0000"/>
                </a:solidFill>
                <a:latin typeface="Verdana"/>
                <a:ea typeface="Verdana"/>
                <a:cs typeface="Verdana"/>
                <a:sym typeface="Verdana"/>
              </a:rPr>
              <a:t>DIRECT MAPPING</a:t>
            </a:r>
            <a:endParaRPr sz="2800">
              <a:solidFill>
                <a:schemeClr val="dk1"/>
              </a:solidFill>
              <a:latin typeface="Verdana"/>
              <a:ea typeface="Verdana"/>
              <a:cs typeface="Verdana"/>
              <a:sym typeface="Verdana"/>
            </a:endParaRPr>
          </a:p>
          <a:p>
            <a:pPr indent="0" lvl="0" marL="0" marR="0" rtl="0" algn="l">
              <a:lnSpc>
                <a:spcPct val="100000"/>
              </a:lnSpc>
              <a:spcBef>
                <a:spcPts val="0"/>
              </a:spcBef>
              <a:spcAft>
                <a:spcPts val="0"/>
              </a:spcAft>
              <a:buClr>
                <a:srgbClr val="FF0000"/>
              </a:buClr>
              <a:buSzPts val="4700"/>
              <a:buFont typeface="Verdana"/>
              <a:buNone/>
            </a:pPr>
            <a:r>
              <a:t/>
            </a:r>
            <a:endParaRPr sz="4700">
              <a:solidFill>
                <a:schemeClr val="dk1"/>
              </a:solidFill>
              <a:latin typeface="Verdana"/>
              <a:ea typeface="Verdana"/>
              <a:cs typeface="Verdana"/>
              <a:sym typeface="Verdana"/>
            </a:endParaRPr>
          </a:p>
          <a:p>
            <a:pPr indent="-343535" lvl="0" marL="355600" marR="0" rtl="0" algn="l">
              <a:lnSpc>
                <a:spcPct val="100000"/>
              </a:lnSpc>
              <a:spcBef>
                <a:spcPts val="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ASSOCIATIVE MAPPING</a:t>
            </a:r>
            <a:endParaRPr sz="2800">
              <a:solidFill>
                <a:schemeClr val="dk1"/>
              </a:solidFill>
              <a:latin typeface="Verdana"/>
              <a:ea typeface="Verdana"/>
              <a:cs typeface="Verdana"/>
              <a:sym typeface="Verdana"/>
            </a:endParaRPr>
          </a:p>
          <a:p>
            <a:pPr indent="0" lvl="0" marL="0" marR="0" rtl="0" algn="l">
              <a:lnSpc>
                <a:spcPct val="100000"/>
              </a:lnSpc>
              <a:spcBef>
                <a:spcPts val="10"/>
              </a:spcBef>
              <a:spcAft>
                <a:spcPts val="0"/>
              </a:spcAft>
              <a:buNone/>
            </a:pPr>
            <a:r>
              <a:t/>
            </a:r>
            <a:endParaRPr sz="4200">
              <a:solidFill>
                <a:schemeClr val="dk1"/>
              </a:solidFill>
              <a:latin typeface="Verdana"/>
              <a:ea typeface="Verdana"/>
              <a:cs typeface="Verdana"/>
              <a:sym typeface="Verdana"/>
            </a:endParaRPr>
          </a:p>
          <a:p>
            <a:pPr indent="0" lvl="0" marL="469900" marR="0" rtl="0" algn="l">
              <a:lnSpc>
                <a:spcPct val="100000"/>
              </a:lnSpc>
              <a:spcBef>
                <a:spcPts val="5"/>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FULLY ASSOCIATIVE MAPPING</a:t>
            </a:r>
            <a:endParaRPr sz="2400">
              <a:solidFill>
                <a:schemeClr val="dk1"/>
              </a:solidFill>
              <a:latin typeface="Verdana"/>
              <a:ea typeface="Verdana"/>
              <a:cs typeface="Verdana"/>
              <a:sym typeface="Verdana"/>
            </a:endParaRPr>
          </a:p>
          <a:p>
            <a:pPr indent="0" lvl="0" marL="0" marR="0" rtl="0" algn="l">
              <a:lnSpc>
                <a:spcPct val="100000"/>
              </a:lnSpc>
              <a:spcBef>
                <a:spcPts val="35"/>
              </a:spcBef>
              <a:spcAft>
                <a:spcPts val="0"/>
              </a:spcAft>
              <a:buNone/>
            </a:pPr>
            <a:r>
              <a:t/>
            </a:r>
            <a:endParaRPr sz="4000">
              <a:solidFill>
                <a:schemeClr val="dk1"/>
              </a:solidFill>
              <a:latin typeface="Verdana"/>
              <a:ea typeface="Verdana"/>
              <a:cs typeface="Verdana"/>
              <a:sym typeface="Verdana"/>
            </a:endParaRPr>
          </a:p>
          <a:p>
            <a:pPr indent="0" lvl="0" marL="469900" marR="0" rtl="0" algn="l">
              <a:lnSpc>
                <a:spcPct val="100000"/>
              </a:lnSpc>
              <a:spcBef>
                <a:spcPts val="0"/>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SET ASSOCIATIVE MAPPING</a:t>
            </a:r>
            <a:endParaRPr sz="2400">
              <a:solidFill>
                <a:schemeClr val="dk1"/>
              </a:solidFill>
              <a:latin typeface="Verdana"/>
              <a:ea typeface="Verdana"/>
              <a:cs typeface="Verdana"/>
              <a:sym typeface="Verdana"/>
            </a:endParaRPr>
          </a:p>
          <a:p>
            <a:pPr indent="0" lvl="0" marL="0" marR="0" rtl="0" algn="l">
              <a:lnSpc>
                <a:spcPct val="100000"/>
              </a:lnSpc>
              <a:spcBef>
                <a:spcPts val="50"/>
              </a:spcBef>
              <a:spcAft>
                <a:spcPts val="0"/>
              </a:spcAft>
              <a:buNone/>
            </a:pPr>
            <a:r>
              <a:t/>
            </a:r>
            <a:endParaRPr sz="3500">
              <a:solidFill>
                <a:schemeClr val="dk1"/>
              </a:solidFill>
              <a:latin typeface="Verdana"/>
              <a:ea typeface="Verdana"/>
              <a:cs typeface="Verdana"/>
              <a:sym typeface="Verdana"/>
            </a:endParaRPr>
          </a:p>
          <a:p>
            <a:pPr indent="0" lvl="0" marL="927100" marR="0" rtl="0" algn="l">
              <a:lnSpc>
                <a:spcPct val="100000"/>
              </a:lnSpc>
              <a:spcBef>
                <a:spcPts val="0"/>
              </a:spcBef>
              <a:spcAft>
                <a:spcPts val="0"/>
              </a:spcAft>
              <a:buNone/>
            </a:pPr>
            <a:r>
              <a:rPr lang="en-US" sz="2000">
                <a:solidFill>
                  <a:srgbClr val="FF0000"/>
                </a:solidFill>
                <a:latin typeface="Verdana"/>
                <a:ea typeface="Verdana"/>
                <a:cs typeface="Verdana"/>
                <a:sym typeface="Verdana"/>
              </a:rPr>
              <a:t>– </a:t>
            </a:r>
            <a:r>
              <a:rPr b="1" lang="en-US" sz="2000">
                <a:solidFill>
                  <a:srgbClr val="FF0000"/>
                </a:solidFill>
                <a:latin typeface="Verdana"/>
                <a:ea typeface="Verdana"/>
                <a:cs typeface="Verdana"/>
                <a:sym typeface="Verdana"/>
              </a:rPr>
              <a:t>2-WAY SET ASSOCIATIVE MAPPING</a:t>
            </a:r>
            <a:endParaRPr sz="2000">
              <a:solidFill>
                <a:schemeClr val="dk1"/>
              </a:solidFill>
              <a:latin typeface="Verdana"/>
              <a:ea typeface="Verdana"/>
              <a:cs typeface="Verdana"/>
              <a:sym typeface="Verdana"/>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66"/>
          <p:cNvSpPr txBox="1"/>
          <p:nvPr>
            <p:ph type="title"/>
          </p:nvPr>
        </p:nvSpPr>
        <p:spPr>
          <a:xfrm>
            <a:off x="381000" y="381000"/>
            <a:ext cx="8173313" cy="430887"/>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Direct Mapping</a:t>
            </a:r>
            <a:endParaRPr/>
          </a:p>
        </p:txBody>
      </p:sp>
      <p:sp>
        <p:nvSpPr>
          <p:cNvPr id="474" name="Google Shape;474;p66"/>
          <p:cNvSpPr txBox="1"/>
          <p:nvPr>
            <p:ph idx="1" type="body"/>
          </p:nvPr>
        </p:nvSpPr>
        <p:spPr>
          <a:xfrm>
            <a:off x="525144" y="1188465"/>
            <a:ext cx="8093710" cy="5170646"/>
          </a:xfrm>
          <a:prstGeom prst="rect">
            <a:avLst/>
          </a:prstGeom>
          <a:noFill/>
          <a:ln>
            <a:noFill/>
          </a:ln>
        </p:spPr>
        <p:txBody>
          <a:bodyPr anchorCtr="0" anchor="t" bIns="0" lIns="0" spcFirstLastPara="1" rIns="0" wrap="square" tIns="0">
            <a:spAutoFit/>
          </a:bodyPr>
          <a:lstStyle/>
          <a:p>
            <a:pPr indent="-342900" lvl="0" marL="34290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Assign each memory block to a </a:t>
            </a:r>
            <a:r>
              <a:rPr b="1" lang="en-US" sz="2400">
                <a:latin typeface="Times New Roman"/>
                <a:ea typeface="Times New Roman"/>
                <a:cs typeface="Times New Roman"/>
                <a:sym typeface="Times New Roman"/>
              </a:rPr>
              <a:t>specific line in the cache</a:t>
            </a:r>
            <a:r>
              <a:rPr lang="en-US" sz="240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a:p>
            <a:pPr indent="-342900" lvl="0" marL="34290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If a line is previously taken up by a memory block when a new block needs to be loaded, the old block is trashed.</a:t>
            </a:r>
            <a:endParaRPr/>
          </a:p>
          <a:p>
            <a:pPr indent="-342900" lvl="0" marL="34290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 An address space is split into two parts </a:t>
            </a:r>
            <a:r>
              <a:rPr b="1" lang="en-US" sz="2400">
                <a:latin typeface="Times New Roman"/>
                <a:ea typeface="Times New Roman"/>
                <a:cs typeface="Times New Roman"/>
                <a:sym typeface="Times New Roman"/>
              </a:rPr>
              <a:t>index field and a tag field. </a:t>
            </a:r>
            <a:endParaRPr b="1" sz="2400">
              <a:latin typeface="Times New Roman"/>
              <a:ea typeface="Times New Roman"/>
              <a:cs typeface="Times New Roman"/>
              <a:sym typeface="Times New Roman"/>
            </a:endParaRPr>
          </a:p>
          <a:p>
            <a:pPr indent="-342900" lvl="0" marL="34290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The cache is used to store the tag field whereas the rest is stored in the main memory. </a:t>
            </a:r>
            <a:endParaRPr sz="2400">
              <a:latin typeface="Times New Roman"/>
              <a:ea typeface="Times New Roman"/>
              <a:cs typeface="Times New Roman"/>
              <a:sym typeface="Times New Roman"/>
            </a:endParaRPr>
          </a:p>
          <a:p>
            <a:pPr indent="-342900" lvl="0" marL="34290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Direct mapping`s performance is </a:t>
            </a:r>
            <a:r>
              <a:rPr lang="en-US" sz="2400">
                <a:solidFill>
                  <a:srgbClr val="FF0000"/>
                </a:solidFill>
                <a:latin typeface="Times New Roman"/>
                <a:ea typeface="Times New Roman"/>
                <a:cs typeface="Times New Roman"/>
                <a:sym typeface="Times New Roman"/>
              </a:rPr>
              <a:t>directly proportional to the Hit ratio.</a:t>
            </a:r>
            <a:endParaRPr/>
          </a:p>
          <a:p>
            <a:pPr indent="-190500" lvl="0" marL="342900" rtl="0" algn="just">
              <a:spcBef>
                <a:spcPts val="0"/>
              </a:spcBef>
              <a:spcAft>
                <a:spcPts val="0"/>
              </a:spcAft>
              <a:buClr>
                <a:schemeClr val="dk1"/>
              </a:buClr>
              <a:buSzPts val="2400"/>
              <a:buFont typeface="Arial"/>
              <a:buNone/>
            </a:pPr>
            <a:r>
              <a:t/>
            </a:r>
            <a:endParaRPr sz="2400">
              <a:latin typeface="Times New Roman"/>
              <a:ea typeface="Times New Roman"/>
              <a:cs typeface="Times New Roman"/>
              <a:sym typeface="Times New Roman"/>
            </a:endParaRPr>
          </a:p>
          <a:p>
            <a:pPr indent="-190500" lvl="0" marL="342900" rtl="0" algn="just">
              <a:spcBef>
                <a:spcPts val="0"/>
              </a:spcBef>
              <a:spcAft>
                <a:spcPts val="0"/>
              </a:spcAft>
              <a:buClr>
                <a:schemeClr val="dk1"/>
              </a:buClr>
              <a:buSzPts val="2400"/>
              <a:buFont typeface="Arial"/>
              <a:buNone/>
            </a:pPr>
            <a:r>
              <a:t/>
            </a:r>
            <a:endParaRPr sz="2400">
              <a:latin typeface="Times New Roman"/>
              <a:ea typeface="Times New Roman"/>
              <a:cs typeface="Times New Roman"/>
              <a:sym typeface="Times New Roman"/>
            </a:endParaRPr>
          </a:p>
          <a:p>
            <a:pPr indent="-342900" lvl="0" marL="34290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Direct mapping is the most efficient cache mapping scheme, but it is also the least effective in its utilization of the cache - that is, it may leave some cache lines unused.</a:t>
            </a:r>
            <a:endParaRPr sz="2400">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67"/>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480" name="Google Shape;480;p67"/>
          <p:cNvSpPr txBox="1"/>
          <p:nvPr>
            <p:ph idx="1" type="body"/>
          </p:nvPr>
        </p:nvSpPr>
        <p:spPr>
          <a:xfrm>
            <a:off x="525144" y="1188465"/>
            <a:ext cx="8093710" cy="371538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481" name="Google Shape;481;p67"/>
          <p:cNvPicPr preferRelativeResize="0"/>
          <p:nvPr/>
        </p:nvPicPr>
        <p:blipFill rotWithShape="1">
          <a:blip r:embed="rId3">
            <a:alphaModFix/>
          </a:blip>
          <a:srcRect b="0" l="0" r="0" t="0"/>
          <a:stretch/>
        </p:blipFill>
        <p:spPr>
          <a:xfrm>
            <a:off x="762000" y="1617662"/>
            <a:ext cx="7023100" cy="4021137"/>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68"/>
          <p:cNvSpPr txBox="1"/>
          <p:nvPr>
            <p:ph type="title"/>
          </p:nvPr>
        </p:nvSpPr>
        <p:spPr>
          <a:xfrm>
            <a:off x="485353" y="484075"/>
            <a:ext cx="7541700" cy="4431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Working of Direct Mapping</a:t>
            </a:r>
            <a:endParaRPr/>
          </a:p>
        </p:txBody>
      </p:sp>
      <p:sp>
        <p:nvSpPr>
          <p:cNvPr id="487" name="Google Shape;487;p68"/>
          <p:cNvSpPr txBox="1"/>
          <p:nvPr/>
        </p:nvSpPr>
        <p:spPr>
          <a:xfrm>
            <a:off x="459740" y="1112980"/>
            <a:ext cx="7966709" cy="4141470"/>
          </a:xfrm>
          <a:prstGeom prst="rect">
            <a:avLst/>
          </a:prstGeom>
          <a:noFill/>
          <a:ln>
            <a:noFill/>
          </a:ln>
        </p:spPr>
        <p:txBody>
          <a:bodyPr anchorCtr="0" anchor="t" bIns="0" lIns="0" spcFirstLastPara="1" rIns="0" wrap="square" tIns="164450">
            <a:spAutoFit/>
          </a:bodyPr>
          <a:lstStyle/>
          <a:p>
            <a:pPr indent="-343535" lvl="0" marL="355600" marR="0" rtl="0" algn="l">
              <a:lnSpc>
                <a:spcPct val="100000"/>
              </a:lnSpc>
              <a:spcBef>
                <a:spcPts val="0"/>
              </a:spcBef>
              <a:spcAft>
                <a:spcPts val="0"/>
              </a:spcAft>
              <a:buClr>
                <a:srgbClr val="FF0000"/>
              </a:buClr>
              <a:buSzPts val="2000"/>
              <a:buFont typeface="Verdana"/>
              <a:buChar char="•"/>
            </a:pPr>
            <a:r>
              <a:rPr b="1" lang="en-US" sz="2000">
                <a:solidFill>
                  <a:schemeClr val="dk1"/>
                </a:solidFill>
                <a:latin typeface="Verdana"/>
                <a:ea typeface="Verdana"/>
                <a:cs typeface="Verdana"/>
                <a:sym typeface="Verdana"/>
              </a:rPr>
              <a:t>Word</a:t>
            </a:r>
            <a:r>
              <a:rPr lang="en-US" sz="2000">
                <a:solidFill>
                  <a:schemeClr val="dk1"/>
                </a:solidFill>
                <a:latin typeface="Verdana"/>
                <a:ea typeface="Verdana"/>
                <a:cs typeface="Verdana"/>
                <a:sym typeface="Verdana"/>
              </a:rPr>
              <a:t>" field selects one from among the 16 addressable</a:t>
            </a:r>
            <a:endParaRPr sz="2000">
              <a:solidFill>
                <a:schemeClr val="dk1"/>
              </a:solidFill>
              <a:latin typeface="Verdana"/>
              <a:ea typeface="Verdana"/>
              <a:cs typeface="Verdana"/>
              <a:sym typeface="Verdana"/>
            </a:endParaRPr>
          </a:p>
          <a:p>
            <a:pPr indent="0" lvl="0" marL="355600" marR="0" rtl="0" algn="l">
              <a:lnSpc>
                <a:spcPct val="100000"/>
              </a:lnSpc>
              <a:spcBef>
                <a:spcPts val="1205"/>
              </a:spcBef>
              <a:spcAft>
                <a:spcPts val="0"/>
              </a:spcAft>
              <a:buNone/>
            </a:pPr>
            <a:r>
              <a:rPr lang="en-US" sz="2000">
                <a:solidFill>
                  <a:schemeClr val="dk1"/>
                </a:solidFill>
                <a:latin typeface="Verdana"/>
                <a:ea typeface="Verdana"/>
                <a:cs typeface="Verdana"/>
                <a:sym typeface="Verdana"/>
              </a:rPr>
              <a:t>words in a line.</a:t>
            </a:r>
            <a:endParaRPr sz="2000">
              <a:solidFill>
                <a:schemeClr val="dk1"/>
              </a:solidFill>
              <a:latin typeface="Verdana"/>
              <a:ea typeface="Verdana"/>
              <a:cs typeface="Verdana"/>
              <a:sym typeface="Verdana"/>
            </a:endParaRPr>
          </a:p>
          <a:p>
            <a:pPr indent="-343535" lvl="0" marL="355600" marR="167640" rtl="0" algn="l">
              <a:lnSpc>
                <a:spcPct val="150000"/>
              </a:lnSpc>
              <a:spcBef>
                <a:spcPts val="480"/>
              </a:spcBef>
              <a:spcAft>
                <a:spcPts val="0"/>
              </a:spcAft>
              <a:buClr>
                <a:srgbClr val="FF0000"/>
              </a:buClr>
              <a:buSzPts val="2000"/>
              <a:buFont typeface="Verdana"/>
              <a:buChar char="•"/>
            </a:pPr>
            <a:r>
              <a:rPr lang="en-US" sz="2000">
                <a:solidFill>
                  <a:schemeClr val="dk1"/>
                </a:solidFill>
                <a:latin typeface="Verdana"/>
                <a:ea typeface="Verdana"/>
                <a:cs typeface="Verdana"/>
                <a:sym typeface="Verdana"/>
              </a:rPr>
              <a:t>The "</a:t>
            </a:r>
            <a:r>
              <a:rPr b="1" lang="en-US" sz="2000">
                <a:solidFill>
                  <a:schemeClr val="dk1"/>
                </a:solidFill>
                <a:latin typeface="Verdana"/>
                <a:ea typeface="Verdana"/>
                <a:cs typeface="Verdana"/>
                <a:sym typeface="Verdana"/>
              </a:rPr>
              <a:t>Line</a:t>
            </a:r>
            <a:r>
              <a:rPr lang="en-US" sz="2000">
                <a:solidFill>
                  <a:schemeClr val="dk1"/>
                </a:solidFill>
                <a:latin typeface="Verdana"/>
                <a:ea typeface="Verdana"/>
                <a:cs typeface="Verdana"/>
                <a:sym typeface="Verdana"/>
              </a:rPr>
              <a:t>" field defines the cache line where this memory  line should reside.</a:t>
            </a:r>
            <a:endParaRPr sz="2000">
              <a:solidFill>
                <a:schemeClr val="dk1"/>
              </a:solidFill>
              <a:latin typeface="Verdana"/>
              <a:ea typeface="Verdana"/>
              <a:cs typeface="Verdana"/>
              <a:sym typeface="Verdana"/>
            </a:endParaRPr>
          </a:p>
          <a:p>
            <a:pPr indent="-343535" lvl="0" marL="355600" marR="22860" rtl="0" algn="l">
              <a:lnSpc>
                <a:spcPct val="150000"/>
              </a:lnSpc>
              <a:spcBef>
                <a:spcPts val="480"/>
              </a:spcBef>
              <a:spcAft>
                <a:spcPts val="0"/>
              </a:spcAft>
              <a:buClr>
                <a:srgbClr val="FF0000"/>
              </a:buClr>
              <a:buSzPts val="2000"/>
              <a:buFont typeface="Verdana"/>
              <a:buChar char="•"/>
            </a:pPr>
            <a:r>
              <a:rPr lang="en-US" sz="2000">
                <a:solidFill>
                  <a:schemeClr val="dk1"/>
                </a:solidFill>
                <a:latin typeface="Verdana"/>
                <a:ea typeface="Verdana"/>
                <a:cs typeface="Verdana"/>
                <a:sym typeface="Verdana"/>
              </a:rPr>
              <a:t>The "</a:t>
            </a:r>
            <a:r>
              <a:rPr b="1" lang="en-US" sz="2000">
                <a:solidFill>
                  <a:schemeClr val="dk1"/>
                </a:solidFill>
                <a:latin typeface="Verdana"/>
                <a:ea typeface="Verdana"/>
                <a:cs typeface="Verdana"/>
                <a:sym typeface="Verdana"/>
              </a:rPr>
              <a:t>Tag</a:t>
            </a:r>
            <a:r>
              <a:rPr lang="en-US" sz="2000">
                <a:solidFill>
                  <a:schemeClr val="dk1"/>
                </a:solidFill>
                <a:latin typeface="Verdana"/>
                <a:ea typeface="Verdana"/>
                <a:cs typeface="Verdana"/>
                <a:sym typeface="Verdana"/>
              </a:rPr>
              <a:t>" field of the address is then compared with that  cache line's 5-bit tag to determine whether there is a hit or  a miss.</a:t>
            </a:r>
            <a:endParaRPr/>
          </a:p>
          <a:p>
            <a:pPr indent="-287019" lvl="0" marL="756285" marR="5080" rtl="0" algn="l">
              <a:lnSpc>
                <a:spcPct val="150000"/>
              </a:lnSpc>
              <a:spcBef>
                <a:spcPts val="490"/>
              </a:spcBef>
              <a:spcAft>
                <a:spcPts val="0"/>
              </a:spcAft>
              <a:buNone/>
            </a:pPr>
            <a:r>
              <a:rPr lang="en-US" sz="1600">
                <a:solidFill>
                  <a:srgbClr val="FF0000"/>
                </a:solidFill>
                <a:latin typeface="Verdana"/>
                <a:ea typeface="Verdana"/>
                <a:cs typeface="Verdana"/>
                <a:sym typeface="Verdana"/>
              </a:rPr>
              <a:t>— </a:t>
            </a:r>
            <a:r>
              <a:rPr lang="en-US" sz="1600">
                <a:solidFill>
                  <a:schemeClr val="dk1"/>
                </a:solidFill>
                <a:latin typeface="Verdana"/>
                <a:ea typeface="Verdana"/>
                <a:cs typeface="Verdana"/>
                <a:sym typeface="Verdana"/>
              </a:rPr>
              <a:t>If there's a miss, we need to swap out the memory line that occupies  that position in the cache and replace it with the desired memory line.</a:t>
            </a:r>
            <a:endParaRPr sz="1600">
              <a:solidFill>
                <a:schemeClr val="dk1"/>
              </a:solidFill>
              <a:latin typeface="Verdana"/>
              <a:ea typeface="Verdana"/>
              <a:cs typeface="Verdana"/>
              <a:sym typeface="Verdana"/>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69"/>
          <p:cNvSpPr txBox="1"/>
          <p:nvPr>
            <p:ph type="title"/>
          </p:nvPr>
        </p:nvSpPr>
        <p:spPr>
          <a:xfrm>
            <a:off x="485343" y="484073"/>
            <a:ext cx="3480435"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DIRECT MAPPING</a:t>
            </a:r>
            <a:endParaRPr/>
          </a:p>
        </p:txBody>
      </p:sp>
      <p:sp>
        <p:nvSpPr>
          <p:cNvPr id="493" name="Google Shape;493;p69"/>
          <p:cNvSpPr txBox="1"/>
          <p:nvPr/>
        </p:nvSpPr>
        <p:spPr>
          <a:xfrm>
            <a:off x="78739" y="1012617"/>
            <a:ext cx="8154000" cy="3154200"/>
          </a:xfrm>
          <a:prstGeom prst="rect">
            <a:avLst/>
          </a:prstGeom>
          <a:noFill/>
          <a:ln>
            <a:noFill/>
          </a:ln>
        </p:spPr>
        <p:txBody>
          <a:bodyPr anchorCtr="0" anchor="t" bIns="0" lIns="0" spcFirstLastPara="1" rIns="0" wrap="square" tIns="97775">
            <a:spAutoFit/>
          </a:bodyPr>
          <a:lstStyle/>
          <a:p>
            <a:pPr indent="-342900" lvl="0" marL="355600" marR="0" rtl="0" algn="l">
              <a:lnSpc>
                <a:spcPct val="100000"/>
              </a:lnSpc>
              <a:spcBef>
                <a:spcPts val="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Cache- 128 blocks of 16 words each</a:t>
            </a:r>
            <a:endParaRPr sz="2800">
              <a:solidFill>
                <a:schemeClr val="dk1"/>
              </a:solidFill>
              <a:latin typeface="Verdana"/>
              <a:ea typeface="Verdana"/>
              <a:cs typeface="Verdana"/>
              <a:sym typeface="Verdana"/>
            </a:endParaRPr>
          </a:p>
          <a:p>
            <a:pPr indent="0" lvl="0" marL="469900" marR="0" rtl="0" algn="l">
              <a:lnSpc>
                <a:spcPct val="100000"/>
              </a:lnSpc>
              <a:spcBef>
                <a:spcPts val="580"/>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128 * 16 = 2048 </a:t>
            </a:r>
            <a:r>
              <a:rPr b="1" lang="en-US" sz="2400">
                <a:solidFill>
                  <a:srgbClr val="FF0000"/>
                </a:solidFill>
                <a:latin typeface="Verdana"/>
                <a:ea typeface="Verdana"/>
                <a:cs typeface="Verdana"/>
                <a:sym typeface="Verdana"/>
              </a:rPr>
              <a:t>approx 2 KB</a:t>
            </a:r>
            <a:endParaRPr sz="3850">
              <a:solidFill>
                <a:schemeClr val="dk1"/>
              </a:solidFill>
              <a:latin typeface="Verdana"/>
              <a:ea typeface="Verdana"/>
              <a:cs typeface="Verdana"/>
              <a:sym typeface="Verdana"/>
            </a:endParaRPr>
          </a:p>
          <a:p>
            <a:pPr indent="-342900" lvl="0" marL="355600" marR="0" rtl="0" algn="l">
              <a:lnSpc>
                <a:spcPct val="100000"/>
              </a:lnSpc>
              <a:spcBef>
                <a:spcPts val="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Main Memory – 4K blocks of 16 words each</a:t>
            </a:r>
            <a:endParaRPr sz="2800">
              <a:solidFill>
                <a:schemeClr val="dk1"/>
              </a:solidFill>
              <a:latin typeface="Verdana"/>
              <a:ea typeface="Verdana"/>
              <a:cs typeface="Verdana"/>
              <a:sym typeface="Verdana"/>
            </a:endParaRPr>
          </a:p>
          <a:p>
            <a:pPr indent="0" lvl="0" marL="469900" marR="0" rtl="0" algn="l">
              <a:lnSpc>
                <a:spcPct val="100000"/>
              </a:lnSpc>
              <a:spcBef>
                <a:spcPts val="580"/>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4K * 16 = 64000 </a:t>
            </a:r>
            <a:r>
              <a:rPr b="1" lang="en-US" sz="2400">
                <a:solidFill>
                  <a:srgbClr val="FF0000"/>
                </a:solidFill>
                <a:latin typeface="Verdana"/>
                <a:ea typeface="Verdana"/>
                <a:cs typeface="Verdana"/>
                <a:sym typeface="Verdana"/>
              </a:rPr>
              <a:t>approx 64 KB</a:t>
            </a:r>
            <a:endParaRPr b="1" sz="2400">
              <a:solidFill>
                <a:srgbClr val="FF0000"/>
              </a:solidFill>
              <a:latin typeface="Verdana"/>
              <a:ea typeface="Verdana"/>
              <a:cs typeface="Verdana"/>
              <a:sym typeface="Verdana"/>
            </a:endParaRPr>
          </a:p>
          <a:p>
            <a:pPr indent="0" lvl="0" marL="469900" marR="0" rtl="0" algn="l">
              <a:lnSpc>
                <a:spcPct val="100000"/>
              </a:lnSpc>
              <a:spcBef>
                <a:spcPts val="580"/>
              </a:spcBef>
              <a:spcAft>
                <a:spcPts val="0"/>
              </a:spcAft>
              <a:buNone/>
            </a:pPr>
            <a:r>
              <a:t/>
            </a:r>
            <a:endParaRPr b="1" sz="2400">
              <a:solidFill>
                <a:srgbClr val="FF0000"/>
              </a:solidFill>
              <a:latin typeface="Verdana"/>
              <a:ea typeface="Verdana"/>
              <a:cs typeface="Verdana"/>
              <a:sym typeface="Verdana"/>
            </a:endParaRPr>
          </a:p>
          <a:p>
            <a:pPr indent="-342900" lvl="0" marL="355600" marR="0" rtl="0" algn="l">
              <a:lnSpc>
                <a:spcPct val="100000"/>
              </a:lnSpc>
              <a:spcBef>
                <a:spcPts val="0"/>
              </a:spcBef>
              <a:spcAft>
                <a:spcPts val="0"/>
              </a:spcAft>
              <a:buClr>
                <a:srgbClr val="FF0000"/>
              </a:buClr>
              <a:buSzPts val="2800"/>
              <a:buFont typeface="Verdana"/>
              <a:buChar char="•"/>
            </a:pPr>
            <a:r>
              <a:rPr b="1" lang="en-US" sz="2800">
                <a:solidFill>
                  <a:srgbClr val="FF0000"/>
                </a:solidFill>
                <a:latin typeface="Verdana"/>
                <a:ea typeface="Verdana"/>
                <a:cs typeface="Verdana"/>
                <a:sym typeface="Verdana"/>
              </a:rPr>
              <a:t>TOTAL ADDRESS SIZE	16 bit</a:t>
            </a:r>
            <a:endParaRPr sz="2800">
              <a:solidFill>
                <a:schemeClr val="dk1"/>
              </a:solidFill>
              <a:latin typeface="Verdana"/>
              <a:ea typeface="Verdana"/>
              <a:cs typeface="Verdana"/>
              <a:sym typeface="Verdana"/>
            </a:endParaRPr>
          </a:p>
        </p:txBody>
      </p:sp>
      <p:sp>
        <p:nvSpPr>
          <p:cNvPr id="494" name="Google Shape;494;p69"/>
          <p:cNvSpPr txBox="1"/>
          <p:nvPr/>
        </p:nvSpPr>
        <p:spPr>
          <a:xfrm>
            <a:off x="322579" y="5488635"/>
            <a:ext cx="1735455" cy="4521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2800">
                <a:solidFill>
                  <a:srgbClr val="FF0000"/>
                </a:solidFill>
                <a:latin typeface="Verdana"/>
                <a:ea typeface="Verdana"/>
                <a:cs typeface="Verdana"/>
                <a:sym typeface="Verdana"/>
              </a:rPr>
              <a:t>5</a:t>
            </a:r>
            <a:r>
              <a:rPr b="1" lang="en-US" sz="1800">
                <a:solidFill>
                  <a:srgbClr val="FF0000"/>
                </a:solidFill>
                <a:latin typeface="Verdana"/>
                <a:ea typeface="Verdana"/>
                <a:cs typeface="Verdana"/>
                <a:sym typeface="Verdana"/>
              </a:rPr>
              <a:t>(16-(7+4))</a:t>
            </a:r>
            <a:endParaRPr sz="1800">
              <a:solidFill>
                <a:schemeClr val="dk1"/>
              </a:solidFill>
              <a:latin typeface="Verdana"/>
              <a:ea typeface="Verdana"/>
              <a:cs typeface="Verdana"/>
              <a:sym typeface="Verdana"/>
            </a:endParaRPr>
          </a:p>
        </p:txBody>
      </p:sp>
      <p:sp>
        <p:nvSpPr>
          <p:cNvPr id="495" name="Google Shape;495;p69"/>
          <p:cNvSpPr txBox="1"/>
          <p:nvPr/>
        </p:nvSpPr>
        <p:spPr>
          <a:xfrm>
            <a:off x="3530219" y="5488635"/>
            <a:ext cx="1260475" cy="452120"/>
          </a:xfrm>
          <a:prstGeom prst="rect">
            <a:avLst/>
          </a:prstGeom>
          <a:noFill/>
          <a:ln>
            <a:noFill/>
          </a:ln>
        </p:spPr>
        <p:txBody>
          <a:bodyPr anchorCtr="0" anchor="t" bIns="0" lIns="0" spcFirstLastPara="1" rIns="0" wrap="square" tIns="12050">
            <a:spAutoFit/>
          </a:bodyPr>
          <a:lstStyle/>
          <a:p>
            <a:pPr indent="0" lvl="0" marL="38100" marR="0" rtl="0" algn="l">
              <a:lnSpc>
                <a:spcPct val="100000"/>
              </a:lnSpc>
              <a:spcBef>
                <a:spcPts val="0"/>
              </a:spcBef>
              <a:spcAft>
                <a:spcPts val="0"/>
              </a:spcAft>
              <a:buNone/>
            </a:pPr>
            <a:r>
              <a:rPr b="1" lang="en-US" sz="2800">
                <a:solidFill>
                  <a:srgbClr val="FF0000"/>
                </a:solidFill>
                <a:latin typeface="Verdana"/>
                <a:ea typeface="Verdana"/>
                <a:cs typeface="Verdana"/>
                <a:sym typeface="Verdana"/>
              </a:rPr>
              <a:t>7(</a:t>
            </a:r>
            <a:r>
              <a:rPr b="1" lang="en-US" sz="2800">
                <a:solidFill>
                  <a:schemeClr val="dk1"/>
                </a:solidFill>
                <a:latin typeface="Verdana"/>
                <a:ea typeface="Verdana"/>
                <a:cs typeface="Verdana"/>
                <a:sym typeface="Verdana"/>
              </a:rPr>
              <a:t>2 </a:t>
            </a:r>
            <a:r>
              <a:rPr b="1" baseline="30000" lang="en-US" sz="2775">
                <a:solidFill>
                  <a:schemeClr val="dk1"/>
                </a:solidFill>
                <a:latin typeface="Verdana"/>
                <a:ea typeface="Verdana"/>
                <a:cs typeface="Verdana"/>
                <a:sym typeface="Verdana"/>
              </a:rPr>
              <a:t>7</a:t>
            </a:r>
            <a:r>
              <a:rPr b="1" lang="en-US" sz="2800">
                <a:solidFill>
                  <a:srgbClr val="FF0000"/>
                </a:solidFill>
                <a:latin typeface="Verdana"/>
                <a:ea typeface="Verdana"/>
                <a:cs typeface="Verdana"/>
                <a:sym typeface="Verdana"/>
              </a:rPr>
              <a:t>)</a:t>
            </a:r>
            <a:endParaRPr sz="2800">
              <a:solidFill>
                <a:schemeClr val="dk1"/>
              </a:solidFill>
              <a:latin typeface="Verdana"/>
              <a:ea typeface="Verdana"/>
              <a:cs typeface="Verdana"/>
              <a:sym typeface="Verdana"/>
            </a:endParaRPr>
          </a:p>
        </p:txBody>
      </p:sp>
      <p:sp>
        <p:nvSpPr>
          <p:cNvPr id="496" name="Google Shape;496;p69"/>
          <p:cNvSpPr txBox="1"/>
          <p:nvPr/>
        </p:nvSpPr>
        <p:spPr>
          <a:xfrm>
            <a:off x="6577330" y="5488635"/>
            <a:ext cx="1382395" cy="452120"/>
          </a:xfrm>
          <a:prstGeom prst="rect">
            <a:avLst/>
          </a:prstGeom>
          <a:noFill/>
          <a:ln>
            <a:noFill/>
          </a:ln>
        </p:spPr>
        <p:txBody>
          <a:bodyPr anchorCtr="0" anchor="t" bIns="0" lIns="0" spcFirstLastPara="1" rIns="0" wrap="square" tIns="12050">
            <a:spAutoFit/>
          </a:bodyPr>
          <a:lstStyle/>
          <a:p>
            <a:pPr indent="0" lvl="0" marL="38100" marR="0" rtl="0" algn="l">
              <a:lnSpc>
                <a:spcPct val="100000"/>
              </a:lnSpc>
              <a:spcBef>
                <a:spcPts val="0"/>
              </a:spcBef>
              <a:spcAft>
                <a:spcPts val="0"/>
              </a:spcAft>
              <a:buNone/>
            </a:pPr>
            <a:r>
              <a:rPr b="1" lang="en-US" sz="2800">
                <a:solidFill>
                  <a:srgbClr val="FF0000"/>
                </a:solidFill>
                <a:latin typeface="Verdana"/>
                <a:ea typeface="Verdana"/>
                <a:cs typeface="Verdana"/>
                <a:sym typeface="Verdana"/>
              </a:rPr>
              <a:t>4 (</a:t>
            </a:r>
            <a:r>
              <a:rPr b="1" lang="en-US" sz="2800">
                <a:solidFill>
                  <a:schemeClr val="dk1"/>
                </a:solidFill>
                <a:latin typeface="Verdana"/>
                <a:ea typeface="Verdana"/>
                <a:cs typeface="Verdana"/>
                <a:sym typeface="Verdana"/>
              </a:rPr>
              <a:t>2 </a:t>
            </a:r>
            <a:r>
              <a:rPr b="1" baseline="30000" lang="en-US" sz="2775">
                <a:solidFill>
                  <a:schemeClr val="dk1"/>
                </a:solidFill>
                <a:latin typeface="Verdana"/>
                <a:ea typeface="Verdana"/>
                <a:cs typeface="Verdana"/>
                <a:sym typeface="Verdana"/>
              </a:rPr>
              <a:t>4</a:t>
            </a:r>
            <a:r>
              <a:rPr b="1" lang="en-US" sz="2800">
                <a:solidFill>
                  <a:srgbClr val="FF0000"/>
                </a:solidFill>
                <a:latin typeface="Verdana"/>
                <a:ea typeface="Verdana"/>
                <a:cs typeface="Verdana"/>
                <a:sym typeface="Verdana"/>
              </a:rPr>
              <a:t>)</a:t>
            </a:r>
            <a:endParaRPr sz="2800">
              <a:solidFill>
                <a:schemeClr val="dk1"/>
              </a:solidFill>
              <a:latin typeface="Verdana"/>
              <a:ea typeface="Verdana"/>
              <a:cs typeface="Verdana"/>
              <a:sym typeface="Verdana"/>
            </a:endParaRPr>
          </a:p>
        </p:txBody>
      </p:sp>
      <p:graphicFrame>
        <p:nvGraphicFramePr>
          <p:cNvPr id="497" name="Google Shape;497;p69"/>
          <p:cNvGraphicFramePr/>
          <p:nvPr/>
        </p:nvGraphicFramePr>
        <p:xfrm>
          <a:off x="0" y="4489450"/>
          <a:ext cx="3000000" cy="3000000"/>
        </p:xfrm>
        <a:graphic>
          <a:graphicData uri="http://schemas.openxmlformats.org/drawingml/2006/table">
            <a:tbl>
              <a:tblPr bandRow="1" firstRow="1">
                <a:noFill/>
                <a:tableStyleId>{41BDAFC8-E8DF-4A75-9545-EAE88DFA4F55}</a:tableStyleId>
              </a:tblPr>
              <a:tblGrid>
                <a:gridCol w="2521150"/>
                <a:gridCol w="3499150"/>
                <a:gridCol w="2736325"/>
              </a:tblGrid>
              <a:tr h="685800">
                <a:tc>
                  <a:txBody>
                    <a:bodyPr/>
                    <a:lstStyle/>
                    <a:p>
                      <a:pPr indent="0" lvl="0" marL="90805" marR="0" rtl="0" algn="l">
                        <a:lnSpc>
                          <a:spcPct val="100000"/>
                        </a:lnSpc>
                        <a:spcBef>
                          <a:spcPts val="0"/>
                        </a:spcBef>
                        <a:spcAft>
                          <a:spcPts val="0"/>
                        </a:spcAft>
                        <a:buNone/>
                      </a:pPr>
                      <a:r>
                        <a:rPr b="1" lang="en-US" sz="2400" u="none" cap="none" strike="noStrike">
                          <a:latin typeface="Verdana"/>
                          <a:ea typeface="Verdana"/>
                          <a:cs typeface="Verdana"/>
                          <a:sym typeface="Verdana"/>
                        </a:rPr>
                        <a:t>Tag</a:t>
                      </a:r>
                      <a:endParaRPr sz="2400" u="none" cap="none" strike="noStrike">
                        <a:latin typeface="Verdana"/>
                        <a:ea typeface="Verdana"/>
                        <a:cs typeface="Verdana"/>
                        <a:sym typeface="Verdana"/>
                      </a:endParaRPr>
                    </a:p>
                  </a:txBody>
                  <a:tcPr marT="450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F6600"/>
                    </a:solidFill>
                  </a:tcPr>
                </a:tc>
                <a:tc>
                  <a:txBody>
                    <a:bodyPr/>
                    <a:lstStyle/>
                    <a:p>
                      <a:pPr indent="0" lvl="0" marL="91440" marR="0" rtl="0" algn="l">
                        <a:lnSpc>
                          <a:spcPct val="100000"/>
                        </a:lnSpc>
                        <a:spcBef>
                          <a:spcPts val="0"/>
                        </a:spcBef>
                        <a:spcAft>
                          <a:spcPts val="0"/>
                        </a:spcAft>
                        <a:buNone/>
                      </a:pPr>
                      <a:r>
                        <a:rPr b="1" lang="en-US" sz="2400" u="none" cap="none" strike="noStrike">
                          <a:latin typeface="Verdana"/>
                          <a:ea typeface="Verdana"/>
                          <a:cs typeface="Verdana"/>
                          <a:sym typeface="Verdana"/>
                        </a:rPr>
                        <a:t>Block/Line(128)</a:t>
                      </a:r>
                      <a:endParaRPr sz="2400" u="none" cap="none" strike="noStrike">
                        <a:latin typeface="Verdana"/>
                        <a:ea typeface="Verdana"/>
                        <a:cs typeface="Verdana"/>
                        <a:sym typeface="Verdana"/>
                      </a:endParaRPr>
                    </a:p>
                  </a:txBody>
                  <a:tcPr marT="450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F6600"/>
                    </a:solidFill>
                  </a:tcPr>
                </a:tc>
                <a:tc>
                  <a:txBody>
                    <a:bodyPr/>
                    <a:lstStyle/>
                    <a:p>
                      <a:pPr indent="0" lvl="0" marL="92710" marR="0" rtl="0" algn="l">
                        <a:lnSpc>
                          <a:spcPct val="100000"/>
                        </a:lnSpc>
                        <a:spcBef>
                          <a:spcPts val="0"/>
                        </a:spcBef>
                        <a:spcAft>
                          <a:spcPts val="0"/>
                        </a:spcAft>
                        <a:buNone/>
                      </a:pPr>
                      <a:r>
                        <a:rPr b="1" lang="en-US" sz="2400" u="none" cap="none" strike="noStrike">
                          <a:latin typeface="Verdana"/>
                          <a:ea typeface="Verdana"/>
                          <a:cs typeface="Verdana"/>
                          <a:sym typeface="Verdana"/>
                        </a:rPr>
                        <a:t>Word(16)</a:t>
                      </a:r>
                      <a:endParaRPr sz="2400" u="none" cap="none" strike="noStrike">
                        <a:latin typeface="Verdana"/>
                        <a:ea typeface="Verdana"/>
                        <a:cs typeface="Verdana"/>
                        <a:sym typeface="Verdana"/>
                      </a:endParaRPr>
                    </a:p>
                  </a:txBody>
                  <a:tcPr marT="450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F6600"/>
                    </a:solidFill>
                  </a:tcPr>
                </a:tc>
              </a:tr>
            </a:tbl>
          </a:graphicData>
        </a:graphic>
      </p:graphicFrame>
      <p:graphicFrame>
        <p:nvGraphicFramePr>
          <p:cNvPr id="498" name="Google Shape;498;p69"/>
          <p:cNvGraphicFramePr/>
          <p:nvPr/>
        </p:nvGraphicFramePr>
        <p:xfrm>
          <a:off x="7308850" y="1060450"/>
          <a:ext cx="3000000" cy="3000000"/>
        </p:xfrm>
        <a:graphic>
          <a:graphicData uri="http://schemas.openxmlformats.org/drawingml/2006/table">
            <a:tbl>
              <a:tblPr bandRow="1" firstRow="1">
                <a:noFill/>
                <a:tableStyleId>{41BDAFC8-E8DF-4A75-9545-EAE88DFA4F55}</a:tableStyleId>
              </a:tblPr>
              <a:tblGrid>
                <a:gridCol w="457200"/>
                <a:gridCol w="990600"/>
              </a:tblGrid>
              <a:tr h="266700">
                <a:tc>
                  <a:txBody>
                    <a:bodyPr/>
                    <a:lstStyle/>
                    <a:p>
                      <a:pPr indent="0" lvl="0" marL="69850" marR="0" rtl="0" algn="l">
                        <a:lnSpc>
                          <a:spcPct val="100000"/>
                        </a:lnSpc>
                        <a:spcBef>
                          <a:spcPts val="0"/>
                        </a:spcBef>
                        <a:spcAft>
                          <a:spcPts val="0"/>
                        </a:spcAft>
                        <a:buNone/>
                      </a:pPr>
                      <a:r>
                        <a:rPr lang="en-US" sz="11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507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69850" marR="0" rtl="0" algn="l">
                        <a:lnSpc>
                          <a:spcPct val="100000"/>
                        </a:lnSpc>
                        <a:spcBef>
                          <a:spcPts val="0"/>
                        </a:spcBef>
                        <a:spcAft>
                          <a:spcPts val="0"/>
                        </a:spcAft>
                        <a:buNone/>
                      </a:pPr>
                      <a:r>
                        <a:rPr lang="en-US" sz="1100" u="none" cap="none" strike="noStrike">
                          <a:solidFill>
                            <a:srgbClr val="0000FF"/>
                          </a:solidFill>
                          <a:latin typeface="Calibri"/>
                          <a:ea typeface="Calibri"/>
                          <a:cs typeface="Calibri"/>
                          <a:sym typeface="Calibri"/>
                        </a:rPr>
                        <a:t>16 words</a:t>
                      </a:r>
                      <a:endParaRPr sz="1100" u="none" cap="none" strike="noStrike">
                        <a:latin typeface="Calibri"/>
                        <a:ea typeface="Calibri"/>
                        <a:cs typeface="Calibri"/>
                        <a:sym typeface="Calibri"/>
                      </a:endParaRPr>
                    </a:p>
                  </a:txBody>
                  <a:tcPr marT="507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66700">
                <a:tc>
                  <a:txBody>
                    <a:bodyPr/>
                    <a:lstStyle/>
                    <a:p>
                      <a:pPr indent="0" lvl="0" marL="69850" marR="0" rtl="0" algn="l">
                        <a:lnSpc>
                          <a:spcPct val="100000"/>
                        </a:lnSpc>
                        <a:spcBef>
                          <a:spcPts val="0"/>
                        </a:spcBef>
                        <a:spcAft>
                          <a:spcPts val="0"/>
                        </a:spcAft>
                        <a:buNone/>
                      </a:pPr>
                      <a:r>
                        <a:rPr lang="en-US" sz="11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507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69850" marR="0" rtl="0" algn="l">
                        <a:lnSpc>
                          <a:spcPct val="100000"/>
                        </a:lnSpc>
                        <a:spcBef>
                          <a:spcPts val="0"/>
                        </a:spcBef>
                        <a:spcAft>
                          <a:spcPts val="0"/>
                        </a:spcAft>
                        <a:buNone/>
                      </a:pPr>
                      <a:r>
                        <a:rPr lang="en-US" sz="1100" u="none" cap="none" strike="noStrike">
                          <a:solidFill>
                            <a:srgbClr val="0000FF"/>
                          </a:solidFill>
                          <a:latin typeface="Calibri"/>
                          <a:ea typeface="Calibri"/>
                          <a:cs typeface="Calibri"/>
                          <a:sym typeface="Calibri"/>
                        </a:rPr>
                        <a:t>16 words</a:t>
                      </a:r>
                      <a:endParaRPr sz="1100" u="none" cap="none" strike="noStrike">
                        <a:latin typeface="Calibri"/>
                        <a:ea typeface="Calibri"/>
                        <a:cs typeface="Calibri"/>
                        <a:sym typeface="Calibri"/>
                      </a:endParaRPr>
                    </a:p>
                  </a:txBody>
                  <a:tcPr marT="507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66700">
                <a:tc>
                  <a:txBody>
                    <a:bodyPr/>
                    <a:lstStyle/>
                    <a:p>
                      <a:pPr indent="0" lvl="0" marL="69850" marR="0" rtl="0" algn="l">
                        <a:lnSpc>
                          <a:spcPct val="100000"/>
                        </a:lnSpc>
                        <a:spcBef>
                          <a:spcPts val="0"/>
                        </a:spcBef>
                        <a:spcAft>
                          <a:spcPts val="0"/>
                        </a:spcAft>
                        <a:buNone/>
                      </a:pPr>
                      <a:r>
                        <a:rPr lang="en-US" sz="1100" u="none" cap="none" strike="noStrike">
                          <a:latin typeface="Calibri"/>
                          <a:ea typeface="Calibri"/>
                          <a:cs typeface="Calibri"/>
                          <a:sym typeface="Calibri"/>
                        </a:rPr>
                        <a:t>…</a:t>
                      </a:r>
                      <a:endParaRPr sz="1100" u="none" cap="none" strike="noStrike">
                        <a:latin typeface="Calibri"/>
                        <a:ea typeface="Calibri"/>
                        <a:cs typeface="Calibri"/>
                        <a:sym typeface="Calibri"/>
                      </a:endParaRPr>
                    </a:p>
                  </a:txBody>
                  <a:tcPr marT="507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69850" marR="0" rtl="0" algn="l">
                        <a:lnSpc>
                          <a:spcPct val="100000"/>
                        </a:lnSpc>
                        <a:spcBef>
                          <a:spcPts val="0"/>
                        </a:spcBef>
                        <a:spcAft>
                          <a:spcPts val="0"/>
                        </a:spcAft>
                        <a:buNone/>
                      </a:pPr>
                      <a:r>
                        <a:rPr lang="en-US" sz="1100" u="none" cap="none" strike="noStrike">
                          <a:solidFill>
                            <a:srgbClr val="0000FF"/>
                          </a:solidFill>
                          <a:latin typeface="Calibri"/>
                          <a:ea typeface="Calibri"/>
                          <a:cs typeface="Calibri"/>
                          <a:sym typeface="Calibri"/>
                        </a:rPr>
                        <a:t>16 words</a:t>
                      </a:r>
                      <a:endParaRPr sz="1100" u="none" cap="none" strike="noStrike">
                        <a:latin typeface="Calibri"/>
                        <a:ea typeface="Calibri"/>
                        <a:cs typeface="Calibri"/>
                        <a:sym typeface="Calibri"/>
                      </a:endParaRPr>
                    </a:p>
                  </a:txBody>
                  <a:tcPr marT="507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66700">
                <a:tc>
                  <a:txBody>
                    <a:bodyPr/>
                    <a:lstStyle/>
                    <a:p>
                      <a:pPr indent="0" lvl="0" marL="69850" marR="0" rtl="0" algn="l">
                        <a:lnSpc>
                          <a:spcPct val="100000"/>
                        </a:lnSpc>
                        <a:spcBef>
                          <a:spcPts val="0"/>
                        </a:spcBef>
                        <a:spcAft>
                          <a:spcPts val="0"/>
                        </a:spcAft>
                        <a:buNone/>
                      </a:pPr>
                      <a:r>
                        <a:rPr lang="en-US" sz="1100" u="none" cap="none" strike="noStrike">
                          <a:latin typeface="Calibri"/>
                          <a:ea typeface="Calibri"/>
                          <a:cs typeface="Calibri"/>
                          <a:sym typeface="Calibri"/>
                        </a:rPr>
                        <a:t>127</a:t>
                      </a:r>
                      <a:endParaRPr sz="1100" u="none" cap="none" strike="noStrike">
                        <a:latin typeface="Calibri"/>
                        <a:ea typeface="Calibri"/>
                        <a:cs typeface="Calibri"/>
                        <a:sym typeface="Calibri"/>
                      </a:endParaRPr>
                    </a:p>
                  </a:txBody>
                  <a:tcPr marT="57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69850" marR="0" rtl="0" algn="l">
                        <a:lnSpc>
                          <a:spcPct val="100000"/>
                        </a:lnSpc>
                        <a:spcBef>
                          <a:spcPts val="0"/>
                        </a:spcBef>
                        <a:spcAft>
                          <a:spcPts val="0"/>
                        </a:spcAft>
                        <a:buNone/>
                      </a:pPr>
                      <a:r>
                        <a:rPr lang="en-US" sz="1100" u="none" cap="none" strike="noStrike">
                          <a:solidFill>
                            <a:srgbClr val="0000FF"/>
                          </a:solidFill>
                          <a:latin typeface="Calibri"/>
                          <a:ea typeface="Calibri"/>
                          <a:cs typeface="Calibri"/>
                          <a:sym typeface="Calibri"/>
                        </a:rPr>
                        <a:t>16 words</a:t>
                      </a:r>
                      <a:endParaRPr sz="1100" u="none" cap="none" strike="noStrike">
                        <a:latin typeface="Calibri"/>
                        <a:ea typeface="Calibri"/>
                        <a:cs typeface="Calibri"/>
                        <a:sym typeface="Calibri"/>
                      </a:endParaRPr>
                    </a:p>
                  </a:txBody>
                  <a:tcPr marT="57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pic>
        <p:nvPicPr>
          <p:cNvPr id="503" name="Google Shape;503;p70"/>
          <p:cNvPicPr preferRelativeResize="0"/>
          <p:nvPr/>
        </p:nvPicPr>
        <p:blipFill rotWithShape="1">
          <a:blip r:embed="rId3">
            <a:alphaModFix/>
          </a:blip>
          <a:srcRect b="0" l="0" r="0" t="0"/>
          <a:stretch/>
        </p:blipFill>
        <p:spPr>
          <a:xfrm>
            <a:off x="833437" y="990599"/>
            <a:ext cx="7958074" cy="5867396"/>
          </a:xfrm>
          <a:prstGeom prst="rect">
            <a:avLst/>
          </a:prstGeom>
          <a:noFill/>
          <a:ln>
            <a:noFill/>
          </a:ln>
        </p:spPr>
      </p:pic>
      <p:sp>
        <p:nvSpPr>
          <p:cNvPr id="504" name="Google Shape;504;p70"/>
          <p:cNvSpPr txBox="1"/>
          <p:nvPr>
            <p:ph type="title"/>
          </p:nvPr>
        </p:nvSpPr>
        <p:spPr>
          <a:xfrm>
            <a:off x="485343" y="484073"/>
            <a:ext cx="5514975"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DIRECT MAPPING CONCEPT</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graphicFrame>
        <p:nvGraphicFramePr>
          <p:cNvPr id="509" name="Google Shape;509;p71"/>
          <p:cNvGraphicFramePr/>
          <p:nvPr/>
        </p:nvGraphicFramePr>
        <p:xfrm>
          <a:off x="695325" y="1665351"/>
          <a:ext cx="3000000" cy="3000000"/>
        </p:xfrm>
        <a:graphic>
          <a:graphicData uri="http://schemas.openxmlformats.org/drawingml/2006/table">
            <a:tbl>
              <a:tblPr bandRow="1" firstRow="1">
                <a:noFill/>
                <a:tableStyleId>{41BDAFC8-E8DF-4A75-9545-EAE88DFA4F55}</a:tableStyleId>
              </a:tblPr>
              <a:tblGrid>
                <a:gridCol w="1127125"/>
              </a:tblGrid>
              <a:tr h="406775">
                <a:tc>
                  <a:txBody>
                    <a:bodyPr/>
                    <a:lstStyle/>
                    <a:p>
                      <a:pPr indent="0" lvl="0" marL="0" marR="0" rtl="0" algn="ctr">
                        <a:lnSpc>
                          <a:spcPct val="100000"/>
                        </a:lnSpc>
                        <a:spcBef>
                          <a:spcPts val="0"/>
                        </a:spcBef>
                        <a:spcAft>
                          <a:spcPts val="0"/>
                        </a:spcAft>
                        <a:buNone/>
                      </a:pPr>
                      <a:r>
                        <a:rPr b="1" lang="en-US" sz="1600" u="none" cap="none" strike="noStrike">
                          <a:latin typeface="Verdana"/>
                          <a:ea typeface="Verdana"/>
                          <a:cs typeface="Verdana"/>
                          <a:sym typeface="Verdana"/>
                        </a:rPr>
                        <a:t>0ABCCE</a:t>
                      </a:r>
                      <a:endParaRPr sz="1600" u="none" cap="none" strike="noStrike">
                        <a:latin typeface="Verdana"/>
                        <a:ea typeface="Verdana"/>
                        <a:cs typeface="Verdana"/>
                        <a:sym typeface="Verdana"/>
                      </a:endParaRPr>
                    </a:p>
                  </a:txBody>
                  <a:tcPr marT="76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006FC0"/>
                    </a:solidFill>
                  </a:tcPr>
                </a:tc>
              </a:tr>
              <a:tr h="406775">
                <a:tc>
                  <a:txBody>
                    <a:bodyPr/>
                    <a:lstStyle/>
                    <a:p>
                      <a:pPr indent="0" lvl="0" marL="0" marR="0" rtl="0" algn="ctr">
                        <a:lnSpc>
                          <a:spcPct val="100000"/>
                        </a:lnSpc>
                        <a:spcBef>
                          <a:spcPts val="0"/>
                        </a:spcBef>
                        <a:spcAft>
                          <a:spcPts val="0"/>
                        </a:spcAft>
                        <a:buNone/>
                      </a:pPr>
                      <a:r>
                        <a:rPr b="1" lang="en-US" sz="1600" u="none" cap="none" strike="noStrike">
                          <a:latin typeface="Verdana"/>
                          <a:ea typeface="Verdana"/>
                          <a:cs typeface="Verdana"/>
                          <a:sym typeface="Verdana"/>
                        </a:rPr>
                        <a:t>1</a:t>
                      </a:r>
                      <a:endParaRPr sz="1600" u="none" cap="none" strike="noStrike">
                        <a:latin typeface="Verdana"/>
                        <a:ea typeface="Verdana"/>
                        <a:cs typeface="Verdana"/>
                        <a:sym typeface="Verdana"/>
                      </a:endParaRPr>
                    </a:p>
                  </a:txBody>
                  <a:tcPr marT="76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6FC0"/>
                    </a:solidFill>
                  </a:tcPr>
                </a:tc>
              </a:tr>
              <a:tr h="406775">
                <a:tc>
                  <a:txBody>
                    <a:bodyPr/>
                    <a:lstStyle/>
                    <a:p>
                      <a:pPr indent="0" lvl="0" marL="0" marR="0" rtl="0" algn="ctr">
                        <a:lnSpc>
                          <a:spcPct val="100000"/>
                        </a:lnSpc>
                        <a:spcBef>
                          <a:spcPts val="0"/>
                        </a:spcBef>
                        <a:spcAft>
                          <a:spcPts val="0"/>
                        </a:spcAft>
                        <a:buNone/>
                      </a:pPr>
                      <a:r>
                        <a:rPr b="1" lang="en-US" sz="1600" u="none" cap="none" strike="noStrike">
                          <a:latin typeface="Verdana"/>
                          <a:ea typeface="Verdana"/>
                          <a:cs typeface="Verdana"/>
                          <a:sym typeface="Verdana"/>
                        </a:rPr>
                        <a:t>2</a:t>
                      </a:r>
                      <a:endParaRPr sz="1600" u="none" cap="none" strike="noStrike">
                        <a:latin typeface="Verdana"/>
                        <a:ea typeface="Verdana"/>
                        <a:cs typeface="Verdana"/>
                        <a:sym typeface="Verdana"/>
                      </a:endParaRPr>
                    </a:p>
                  </a:txBody>
                  <a:tcPr marT="76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6FC0"/>
                    </a:solidFill>
                  </a:tcPr>
                </a:tc>
              </a:tr>
              <a:tr h="406775">
                <a:tc>
                  <a:txBody>
                    <a:bodyPr/>
                    <a:lstStyle/>
                    <a:p>
                      <a:pPr indent="0" lvl="0" marL="0" marR="0" rtl="0" algn="ctr">
                        <a:lnSpc>
                          <a:spcPct val="100000"/>
                        </a:lnSpc>
                        <a:spcBef>
                          <a:spcPts val="0"/>
                        </a:spcBef>
                        <a:spcAft>
                          <a:spcPts val="0"/>
                        </a:spcAft>
                        <a:buNone/>
                      </a:pPr>
                      <a:r>
                        <a:rPr b="1" lang="en-US" sz="1600" u="none" cap="none" strike="noStrike">
                          <a:latin typeface="Verdana"/>
                          <a:ea typeface="Verdana"/>
                          <a:cs typeface="Verdana"/>
                          <a:sym typeface="Verdana"/>
                        </a:rPr>
                        <a:t>3</a:t>
                      </a:r>
                      <a:endParaRPr sz="1600" u="none" cap="none" strike="noStrike">
                        <a:latin typeface="Verdana"/>
                        <a:ea typeface="Verdana"/>
                        <a:cs typeface="Verdana"/>
                        <a:sym typeface="Verdana"/>
                      </a:endParaRPr>
                    </a:p>
                  </a:txBody>
                  <a:tcPr marT="76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6FC0"/>
                    </a:solidFill>
                  </a:tcPr>
                </a:tc>
              </a:tr>
              <a:tr h="406775">
                <a:tc>
                  <a:txBody>
                    <a:bodyPr/>
                    <a:lstStyle/>
                    <a:p>
                      <a:pPr indent="0" lvl="0" marL="0" marR="0" rtl="0" algn="ctr">
                        <a:lnSpc>
                          <a:spcPct val="100000"/>
                        </a:lnSpc>
                        <a:spcBef>
                          <a:spcPts val="0"/>
                        </a:spcBef>
                        <a:spcAft>
                          <a:spcPts val="0"/>
                        </a:spcAft>
                        <a:buNone/>
                      </a:pPr>
                      <a:r>
                        <a:rPr b="1" lang="en-US" sz="1600" u="none" cap="none" strike="noStrike">
                          <a:latin typeface="Verdana"/>
                          <a:ea typeface="Verdana"/>
                          <a:cs typeface="Verdana"/>
                          <a:sym typeface="Verdana"/>
                        </a:rPr>
                        <a:t>4FFFFE</a:t>
                      </a:r>
                      <a:endParaRPr sz="1600" u="none" cap="none" strike="noStrike">
                        <a:latin typeface="Verdana"/>
                        <a:ea typeface="Verdana"/>
                        <a:cs typeface="Verdana"/>
                        <a:sym typeface="Verdana"/>
                      </a:endParaRPr>
                    </a:p>
                  </a:txBody>
                  <a:tcPr marT="76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6600"/>
                    </a:solidFill>
                  </a:tcPr>
                </a:tc>
              </a:tr>
              <a:tr h="406775">
                <a:tc>
                  <a:txBody>
                    <a:bodyPr/>
                    <a:lstStyle/>
                    <a:p>
                      <a:pPr indent="0" lvl="0" marL="0" marR="0" rtl="0" algn="ctr">
                        <a:lnSpc>
                          <a:spcPct val="100000"/>
                        </a:lnSpc>
                        <a:spcBef>
                          <a:spcPts val="0"/>
                        </a:spcBef>
                        <a:spcAft>
                          <a:spcPts val="0"/>
                        </a:spcAft>
                        <a:buNone/>
                      </a:pPr>
                      <a:r>
                        <a:rPr b="1" lang="en-US" sz="1600" u="none" cap="none" strike="noStrike">
                          <a:latin typeface="Verdana"/>
                          <a:ea typeface="Verdana"/>
                          <a:cs typeface="Verdana"/>
                          <a:sym typeface="Verdana"/>
                        </a:rPr>
                        <a:t>5</a:t>
                      </a:r>
                      <a:endParaRPr sz="1600" u="none" cap="none" strike="noStrike">
                        <a:latin typeface="Verdana"/>
                        <a:ea typeface="Verdana"/>
                        <a:cs typeface="Verdana"/>
                        <a:sym typeface="Verdana"/>
                      </a:endParaRPr>
                    </a:p>
                  </a:txBody>
                  <a:tcPr marT="76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6600"/>
                    </a:solidFill>
                  </a:tcPr>
                </a:tc>
              </a:tr>
              <a:tr h="406775">
                <a:tc>
                  <a:txBody>
                    <a:bodyPr/>
                    <a:lstStyle/>
                    <a:p>
                      <a:pPr indent="0" lvl="0" marL="0" marR="0" rtl="0" algn="ctr">
                        <a:lnSpc>
                          <a:spcPct val="100000"/>
                        </a:lnSpc>
                        <a:spcBef>
                          <a:spcPts val="0"/>
                        </a:spcBef>
                        <a:spcAft>
                          <a:spcPts val="0"/>
                        </a:spcAft>
                        <a:buNone/>
                      </a:pPr>
                      <a:r>
                        <a:rPr b="1" lang="en-US" sz="1600" u="none" cap="none" strike="noStrike">
                          <a:latin typeface="Verdana"/>
                          <a:ea typeface="Verdana"/>
                          <a:cs typeface="Verdana"/>
                          <a:sym typeface="Verdana"/>
                        </a:rPr>
                        <a:t>6</a:t>
                      </a:r>
                      <a:endParaRPr sz="1600" u="none" cap="none" strike="noStrike">
                        <a:latin typeface="Verdana"/>
                        <a:ea typeface="Verdana"/>
                        <a:cs typeface="Verdana"/>
                        <a:sym typeface="Verdana"/>
                      </a:endParaRPr>
                    </a:p>
                  </a:txBody>
                  <a:tcPr marT="82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6600"/>
                    </a:solidFill>
                  </a:tcPr>
                </a:tc>
              </a:tr>
              <a:tr h="406900">
                <a:tc>
                  <a:txBody>
                    <a:bodyPr/>
                    <a:lstStyle/>
                    <a:p>
                      <a:pPr indent="0" lvl="0" marL="0" marR="0" rtl="0" algn="ctr">
                        <a:lnSpc>
                          <a:spcPct val="100000"/>
                        </a:lnSpc>
                        <a:spcBef>
                          <a:spcPts val="0"/>
                        </a:spcBef>
                        <a:spcAft>
                          <a:spcPts val="0"/>
                        </a:spcAft>
                        <a:buNone/>
                      </a:pPr>
                      <a:r>
                        <a:rPr b="1" lang="en-US" sz="1600" u="none" cap="none" strike="noStrike">
                          <a:latin typeface="Verdana"/>
                          <a:ea typeface="Verdana"/>
                          <a:cs typeface="Verdana"/>
                          <a:sym typeface="Verdana"/>
                        </a:rPr>
                        <a:t>7</a:t>
                      </a:r>
                      <a:endParaRPr sz="1600" u="none" cap="none" strike="noStrike">
                        <a:latin typeface="Verdana"/>
                        <a:ea typeface="Verdana"/>
                        <a:cs typeface="Verdana"/>
                        <a:sym typeface="Verdana"/>
                      </a:endParaRPr>
                    </a:p>
                  </a:txBody>
                  <a:tcPr marT="82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6600"/>
                    </a:solidFill>
                  </a:tcPr>
                </a:tc>
              </a:tr>
              <a:tr h="406775">
                <a:tc>
                  <a:txBody>
                    <a:bodyPr/>
                    <a:lstStyle/>
                    <a:p>
                      <a:pPr indent="0" lvl="0" marL="0" marR="0" rtl="0" algn="ctr">
                        <a:lnSpc>
                          <a:spcPct val="100000"/>
                        </a:lnSpc>
                        <a:spcBef>
                          <a:spcPts val="0"/>
                        </a:spcBef>
                        <a:spcAft>
                          <a:spcPts val="0"/>
                        </a:spcAft>
                        <a:buNone/>
                      </a:pPr>
                      <a:r>
                        <a:rPr b="1" lang="en-US" sz="1600" u="none" cap="none" strike="noStrike">
                          <a:latin typeface="Verdana"/>
                          <a:ea typeface="Verdana"/>
                          <a:cs typeface="Verdana"/>
                          <a:sym typeface="Verdana"/>
                        </a:rPr>
                        <a:t>8</a:t>
                      </a:r>
                      <a:endParaRPr sz="1600" u="none" cap="none" strike="noStrike">
                        <a:latin typeface="Verdana"/>
                        <a:ea typeface="Verdana"/>
                        <a:cs typeface="Verdana"/>
                        <a:sym typeface="Verdana"/>
                      </a:endParaRPr>
                    </a:p>
                  </a:txBody>
                  <a:tcPr marT="82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6F2F9F"/>
                    </a:solidFill>
                  </a:tcPr>
                </a:tc>
              </a:tr>
              <a:tr h="406750">
                <a:tc>
                  <a:txBody>
                    <a:bodyPr/>
                    <a:lstStyle/>
                    <a:p>
                      <a:pPr indent="0" lvl="0" marL="0" marR="0" rtl="0" algn="ctr">
                        <a:lnSpc>
                          <a:spcPct val="100000"/>
                        </a:lnSpc>
                        <a:spcBef>
                          <a:spcPts val="0"/>
                        </a:spcBef>
                        <a:spcAft>
                          <a:spcPts val="0"/>
                        </a:spcAft>
                        <a:buNone/>
                      </a:pPr>
                      <a:r>
                        <a:rPr b="1" lang="en-US" sz="1600" u="none" cap="none" strike="noStrike">
                          <a:latin typeface="Verdana"/>
                          <a:ea typeface="Verdana"/>
                          <a:cs typeface="Verdana"/>
                          <a:sym typeface="Verdana"/>
                        </a:rPr>
                        <a:t>9</a:t>
                      </a:r>
                      <a:endParaRPr sz="1600" u="none" cap="none" strike="noStrike">
                        <a:latin typeface="Verdana"/>
                        <a:ea typeface="Verdana"/>
                        <a:cs typeface="Verdana"/>
                        <a:sym typeface="Verdana"/>
                      </a:endParaRPr>
                    </a:p>
                  </a:txBody>
                  <a:tcPr marT="82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6F2F9F"/>
                    </a:solidFill>
                  </a:tcPr>
                </a:tc>
              </a:tr>
              <a:tr h="406800">
                <a:tc>
                  <a:txBody>
                    <a:bodyPr/>
                    <a:lstStyle/>
                    <a:p>
                      <a:pPr indent="0" lvl="0" marL="0" marR="0" rtl="0" algn="ctr">
                        <a:lnSpc>
                          <a:spcPct val="100000"/>
                        </a:lnSpc>
                        <a:spcBef>
                          <a:spcPts val="0"/>
                        </a:spcBef>
                        <a:spcAft>
                          <a:spcPts val="0"/>
                        </a:spcAft>
                        <a:buNone/>
                      </a:pPr>
                      <a:r>
                        <a:rPr b="1" lang="en-US" sz="1600" u="none" cap="none" strike="noStrike">
                          <a:latin typeface="Verdana"/>
                          <a:ea typeface="Verdana"/>
                          <a:cs typeface="Verdana"/>
                          <a:sym typeface="Verdana"/>
                        </a:rPr>
                        <a:t>10</a:t>
                      </a:r>
                      <a:endParaRPr sz="1600" u="none" cap="none" strike="noStrike">
                        <a:latin typeface="Verdana"/>
                        <a:ea typeface="Verdana"/>
                        <a:cs typeface="Verdana"/>
                        <a:sym typeface="Verdana"/>
                      </a:endParaRPr>
                    </a:p>
                  </a:txBody>
                  <a:tcPr marT="82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6F2F9F"/>
                    </a:solidFill>
                  </a:tcPr>
                </a:tc>
              </a:tr>
              <a:tr h="406800">
                <a:tc>
                  <a:txBody>
                    <a:bodyPr/>
                    <a:lstStyle/>
                    <a:p>
                      <a:pPr indent="0" lvl="0" marL="0" marR="0" rtl="0" algn="ctr">
                        <a:lnSpc>
                          <a:spcPct val="100000"/>
                        </a:lnSpc>
                        <a:spcBef>
                          <a:spcPts val="0"/>
                        </a:spcBef>
                        <a:spcAft>
                          <a:spcPts val="0"/>
                        </a:spcAft>
                        <a:buNone/>
                      </a:pPr>
                      <a:r>
                        <a:rPr b="1" lang="en-US" sz="1600" u="none" cap="none" strike="noStrike">
                          <a:latin typeface="Verdana"/>
                          <a:ea typeface="Verdana"/>
                          <a:cs typeface="Verdana"/>
                          <a:sym typeface="Verdana"/>
                        </a:rPr>
                        <a:t>11</a:t>
                      </a:r>
                      <a:endParaRPr sz="1600" u="none" cap="none" strike="noStrike">
                        <a:latin typeface="Verdana"/>
                        <a:ea typeface="Verdana"/>
                        <a:cs typeface="Verdana"/>
                        <a:sym typeface="Verdana"/>
                      </a:endParaRPr>
                    </a:p>
                  </a:txBody>
                  <a:tcPr marT="82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6F2F9F"/>
                    </a:solidFill>
                  </a:tcPr>
                </a:tc>
              </a:tr>
            </a:tbl>
          </a:graphicData>
        </a:graphic>
      </p:graphicFrame>
      <p:graphicFrame>
        <p:nvGraphicFramePr>
          <p:cNvPr id="510" name="Google Shape;510;p71"/>
          <p:cNvGraphicFramePr/>
          <p:nvPr/>
        </p:nvGraphicFramePr>
        <p:xfrm>
          <a:off x="4184650" y="2127250"/>
          <a:ext cx="3000000" cy="3000000"/>
        </p:xfrm>
        <a:graphic>
          <a:graphicData uri="http://schemas.openxmlformats.org/drawingml/2006/table">
            <a:tbl>
              <a:tblPr bandRow="1" firstRow="1">
                <a:noFill/>
                <a:tableStyleId>{41BDAFC8-E8DF-4A75-9545-EAE88DFA4F55}</a:tableStyleId>
              </a:tblPr>
              <a:tblGrid>
                <a:gridCol w="1676400"/>
              </a:tblGrid>
              <a:tr h="590550">
                <a:tc>
                  <a:txBody>
                    <a:bodyPr/>
                    <a:lstStyle/>
                    <a:p>
                      <a:pPr indent="0" lvl="0" marL="342265" marR="0" rtl="0" algn="l">
                        <a:lnSpc>
                          <a:spcPct val="100000"/>
                        </a:lnSpc>
                        <a:spcBef>
                          <a:spcPts val="0"/>
                        </a:spcBef>
                        <a:spcAft>
                          <a:spcPts val="0"/>
                        </a:spcAft>
                        <a:buNone/>
                      </a:pPr>
                      <a:r>
                        <a:rPr b="1" lang="en-US" sz="1600" u="none" cap="none" strike="noStrike">
                          <a:latin typeface="Verdana"/>
                          <a:ea typeface="Verdana"/>
                          <a:cs typeface="Verdana"/>
                          <a:sym typeface="Verdana"/>
                        </a:rPr>
                        <a:t>0 / 4 / 8</a:t>
                      </a:r>
                      <a:endParaRPr sz="1600" u="none" cap="none" strike="noStrike">
                        <a:latin typeface="Verdana"/>
                        <a:ea typeface="Verdana"/>
                        <a:cs typeface="Verdana"/>
                        <a:sym typeface="Verdana"/>
                      </a:endParaRPr>
                    </a:p>
                    <a:p>
                      <a:pPr indent="0" lvl="0" marL="252095" marR="0" rtl="0" algn="l">
                        <a:lnSpc>
                          <a:spcPct val="100000"/>
                        </a:lnSpc>
                        <a:spcBef>
                          <a:spcPts val="290"/>
                        </a:spcBef>
                        <a:spcAft>
                          <a:spcPts val="0"/>
                        </a:spcAft>
                        <a:buNone/>
                      </a:pPr>
                      <a:r>
                        <a:rPr b="1" lang="en-US" sz="1600" u="none" cap="none" strike="noStrike">
                          <a:latin typeface="Verdana"/>
                          <a:ea typeface="Verdana"/>
                          <a:cs typeface="Verdana"/>
                          <a:sym typeface="Verdana"/>
                        </a:rPr>
                        <a:t>[4FFFFEE]</a:t>
                      </a:r>
                      <a:endParaRPr sz="1600" u="none" cap="none" strike="noStrike">
                        <a:latin typeface="Verdana"/>
                        <a:ea typeface="Verdana"/>
                        <a:cs typeface="Verdana"/>
                        <a:sym typeface="Verdana"/>
                      </a:endParaRPr>
                    </a:p>
                  </a:txBody>
                  <a:tcPr marT="76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r>
              <a:tr h="590550">
                <a:tc>
                  <a:txBody>
                    <a:bodyPr/>
                    <a:lstStyle/>
                    <a:p>
                      <a:pPr indent="0" lvl="0" marL="90805" marR="0" rtl="0" algn="l">
                        <a:lnSpc>
                          <a:spcPct val="100000"/>
                        </a:lnSpc>
                        <a:spcBef>
                          <a:spcPts val="0"/>
                        </a:spcBef>
                        <a:spcAft>
                          <a:spcPts val="0"/>
                        </a:spcAft>
                        <a:buNone/>
                      </a:pPr>
                      <a:r>
                        <a:rPr b="1" lang="en-US" sz="1600" u="none" cap="none" strike="noStrike">
                          <a:latin typeface="Verdana"/>
                          <a:ea typeface="Verdana"/>
                          <a:cs typeface="Verdana"/>
                          <a:sym typeface="Verdana"/>
                        </a:rPr>
                        <a:t>1 /5 / 9	[9]</a:t>
                      </a:r>
                      <a:endParaRPr sz="1600" u="none" cap="none" strike="noStrike">
                        <a:latin typeface="Verdana"/>
                        <a:ea typeface="Verdana"/>
                        <a:cs typeface="Verdana"/>
                        <a:sym typeface="Verdana"/>
                      </a:endParaRPr>
                    </a:p>
                  </a:txBody>
                  <a:tcPr marT="76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r>
              <a:tr h="590550">
                <a:tc>
                  <a:txBody>
                    <a:bodyPr/>
                    <a:lstStyle/>
                    <a:p>
                      <a:pPr indent="0" lvl="0" marL="87630" marR="0" rtl="0" algn="l">
                        <a:lnSpc>
                          <a:spcPct val="100000"/>
                        </a:lnSpc>
                        <a:spcBef>
                          <a:spcPts val="0"/>
                        </a:spcBef>
                        <a:spcAft>
                          <a:spcPts val="0"/>
                        </a:spcAft>
                        <a:buNone/>
                      </a:pPr>
                      <a:r>
                        <a:rPr b="1" lang="en-US" sz="1600" u="none" cap="none" strike="noStrike">
                          <a:latin typeface="Verdana"/>
                          <a:ea typeface="Verdana"/>
                          <a:cs typeface="Verdana"/>
                          <a:sym typeface="Verdana"/>
                        </a:rPr>
                        <a:t>2 /6 / 10 [2]</a:t>
                      </a:r>
                      <a:endParaRPr sz="1600" u="none" cap="none" strike="noStrike">
                        <a:latin typeface="Verdana"/>
                        <a:ea typeface="Verdana"/>
                        <a:cs typeface="Verdana"/>
                        <a:sym typeface="Verdana"/>
                      </a:endParaRPr>
                    </a:p>
                  </a:txBody>
                  <a:tcPr marT="76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r>
              <a:tr h="590550">
                <a:tc>
                  <a:txBody>
                    <a:bodyPr/>
                    <a:lstStyle/>
                    <a:p>
                      <a:pPr indent="0" lvl="0" marL="87630" marR="0" rtl="0" algn="l">
                        <a:lnSpc>
                          <a:spcPct val="100000"/>
                        </a:lnSpc>
                        <a:spcBef>
                          <a:spcPts val="0"/>
                        </a:spcBef>
                        <a:spcAft>
                          <a:spcPts val="0"/>
                        </a:spcAft>
                        <a:buNone/>
                      </a:pPr>
                      <a:r>
                        <a:rPr b="1" lang="en-US" sz="1600" u="none" cap="none" strike="noStrike">
                          <a:latin typeface="Verdana"/>
                          <a:ea typeface="Verdana"/>
                          <a:cs typeface="Verdana"/>
                          <a:sym typeface="Verdana"/>
                        </a:rPr>
                        <a:t>3 /7/ 11	[7]</a:t>
                      </a:r>
                      <a:endParaRPr sz="1600" u="none" cap="none" strike="noStrike">
                        <a:latin typeface="Verdana"/>
                        <a:ea typeface="Verdana"/>
                        <a:cs typeface="Verdana"/>
                        <a:sym typeface="Verdana"/>
                      </a:endParaRPr>
                    </a:p>
                  </a:txBody>
                  <a:tcPr marT="76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r>
            </a:tbl>
          </a:graphicData>
        </a:graphic>
      </p:graphicFrame>
      <p:sp>
        <p:nvSpPr>
          <p:cNvPr id="511" name="Google Shape;511;p71"/>
          <p:cNvSpPr txBox="1"/>
          <p:nvPr>
            <p:ph type="title"/>
          </p:nvPr>
        </p:nvSpPr>
        <p:spPr>
          <a:xfrm>
            <a:off x="399389" y="1223264"/>
            <a:ext cx="2261870" cy="3911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400"/>
              <a:t>Main Memory</a:t>
            </a:r>
            <a:endParaRPr sz="2400"/>
          </a:p>
        </p:txBody>
      </p:sp>
      <p:sp>
        <p:nvSpPr>
          <p:cNvPr id="512" name="Google Shape;512;p71"/>
          <p:cNvSpPr txBox="1"/>
          <p:nvPr/>
        </p:nvSpPr>
        <p:spPr>
          <a:xfrm>
            <a:off x="4499228" y="1420114"/>
            <a:ext cx="1071245"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chemeClr val="dk1"/>
                </a:solidFill>
                <a:latin typeface="Arial Black"/>
                <a:ea typeface="Arial Black"/>
                <a:cs typeface="Arial Black"/>
                <a:sym typeface="Arial Black"/>
              </a:rPr>
              <a:t>Cache</a:t>
            </a:r>
            <a:endParaRPr sz="2400">
              <a:solidFill>
                <a:schemeClr val="dk1"/>
              </a:solidFill>
              <a:latin typeface="Arial Black"/>
              <a:ea typeface="Arial Black"/>
              <a:cs typeface="Arial Black"/>
              <a:sym typeface="Arial Black"/>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72"/>
          <p:cNvSpPr txBox="1"/>
          <p:nvPr>
            <p:ph type="title"/>
          </p:nvPr>
        </p:nvSpPr>
        <p:spPr>
          <a:xfrm>
            <a:off x="485343" y="484073"/>
            <a:ext cx="6106795"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FULLY ASSOCIATIVE MAPPING</a:t>
            </a:r>
            <a:endParaRPr/>
          </a:p>
        </p:txBody>
      </p:sp>
      <p:pic>
        <p:nvPicPr>
          <p:cNvPr id="518" name="Google Shape;518;p72"/>
          <p:cNvPicPr preferRelativeResize="0"/>
          <p:nvPr/>
        </p:nvPicPr>
        <p:blipFill rotWithShape="1">
          <a:blip r:embed="rId3">
            <a:alphaModFix/>
          </a:blip>
          <a:srcRect b="0" l="0" r="0" t="0"/>
          <a:stretch/>
        </p:blipFill>
        <p:spPr>
          <a:xfrm>
            <a:off x="1181544" y="1149679"/>
            <a:ext cx="5536422" cy="5679631"/>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73"/>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524" name="Google Shape;524;p73"/>
          <p:cNvSpPr txBox="1"/>
          <p:nvPr>
            <p:ph idx="1" type="body"/>
          </p:nvPr>
        </p:nvSpPr>
        <p:spPr>
          <a:xfrm>
            <a:off x="525144" y="1188465"/>
            <a:ext cx="8093710" cy="1231106"/>
          </a:xfrm>
          <a:prstGeom prst="rect">
            <a:avLst/>
          </a:prstGeom>
          <a:noFill/>
          <a:ln>
            <a:noFill/>
          </a:ln>
        </p:spPr>
        <p:txBody>
          <a:bodyPr anchorCtr="0" anchor="t" bIns="0" lIns="0" spcFirstLastPara="1" rIns="0" wrap="square" tIns="0">
            <a:spAutoFit/>
          </a:bodyPr>
          <a:lstStyle/>
          <a:p>
            <a:pPr indent="-342900" lvl="0" marL="342900" rtl="0" algn="l">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store the content and addresses of the memory word. </a:t>
            </a:r>
            <a:endParaRPr>
              <a:latin typeface="Times New Roman"/>
              <a:ea typeface="Times New Roman"/>
              <a:cs typeface="Times New Roman"/>
              <a:sym typeface="Times New Roman"/>
            </a:endParaRPr>
          </a:p>
          <a:p>
            <a:pPr indent="-342900" lvl="0" marL="342900" rtl="0" algn="l">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Any block can go into any line of the cache</a:t>
            </a:r>
            <a:endParaRPr/>
          </a:p>
          <a:p>
            <a:pPr indent="-342900" lvl="0" marL="342900" rtl="0" algn="l">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placement of any word at any place in the cache memory.</a:t>
            </a:r>
            <a:endParaRPr/>
          </a:p>
          <a:p>
            <a:pPr indent="-342900" lvl="0" marL="342900" rtl="0" algn="l">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 It is considered to be the fastest and most flexible mapping form.</a:t>
            </a:r>
            <a:endParaRPr>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74"/>
          <p:cNvSpPr txBox="1"/>
          <p:nvPr/>
        </p:nvSpPr>
        <p:spPr>
          <a:xfrm>
            <a:off x="78739" y="295911"/>
            <a:ext cx="8154034" cy="3815715"/>
          </a:xfrm>
          <a:prstGeom prst="rect">
            <a:avLst/>
          </a:prstGeom>
          <a:noFill/>
          <a:ln>
            <a:noFill/>
          </a:ln>
        </p:spPr>
        <p:txBody>
          <a:bodyPr anchorCtr="0" anchor="t" bIns="0" lIns="0" spcFirstLastPara="1" rIns="0" wrap="square" tIns="200650">
            <a:spAutoFit/>
          </a:bodyPr>
          <a:lstStyle/>
          <a:p>
            <a:pPr indent="0" lvl="0" marL="419100" marR="0" rtl="0" algn="l">
              <a:lnSpc>
                <a:spcPct val="100000"/>
              </a:lnSpc>
              <a:spcBef>
                <a:spcPts val="0"/>
              </a:spcBef>
              <a:spcAft>
                <a:spcPts val="0"/>
              </a:spcAft>
              <a:buNone/>
            </a:pPr>
            <a:r>
              <a:rPr lang="en-US" sz="2800">
                <a:solidFill>
                  <a:schemeClr val="dk1"/>
                </a:solidFill>
                <a:latin typeface="Arial Black"/>
                <a:ea typeface="Arial Black"/>
                <a:cs typeface="Arial Black"/>
                <a:sym typeface="Arial Black"/>
              </a:rPr>
              <a:t>ASSOCIATIVE MAPPING</a:t>
            </a:r>
            <a:endParaRPr sz="2800">
              <a:solidFill>
                <a:schemeClr val="dk1"/>
              </a:solidFill>
              <a:latin typeface="Arial Black"/>
              <a:ea typeface="Arial Black"/>
              <a:cs typeface="Arial Black"/>
              <a:sym typeface="Arial Black"/>
            </a:endParaRPr>
          </a:p>
          <a:p>
            <a:pPr indent="-342900" lvl="0" marL="355600" marR="0" rtl="0" algn="l">
              <a:lnSpc>
                <a:spcPct val="100000"/>
              </a:lnSpc>
              <a:spcBef>
                <a:spcPts val="147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Cache- 128 blocks of 16 words each</a:t>
            </a:r>
            <a:endParaRPr sz="2800">
              <a:solidFill>
                <a:schemeClr val="dk1"/>
              </a:solidFill>
              <a:latin typeface="Verdana"/>
              <a:ea typeface="Verdana"/>
              <a:cs typeface="Verdana"/>
              <a:sym typeface="Verdana"/>
            </a:endParaRPr>
          </a:p>
          <a:p>
            <a:pPr indent="-342900" lvl="0" marL="355600" marR="0" rtl="0" algn="l">
              <a:lnSpc>
                <a:spcPct val="100000"/>
              </a:lnSpc>
              <a:spcBef>
                <a:spcPts val="67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128 * 16 = 2048 </a:t>
            </a:r>
            <a:r>
              <a:rPr b="1" lang="en-US" sz="2800">
                <a:solidFill>
                  <a:srgbClr val="FF0000"/>
                </a:solidFill>
                <a:latin typeface="Verdana"/>
                <a:ea typeface="Verdana"/>
                <a:cs typeface="Verdana"/>
                <a:sym typeface="Verdana"/>
              </a:rPr>
              <a:t>approx 2 KB</a:t>
            </a:r>
            <a:endParaRPr sz="2800">
              <a:solidFill>
                <a:schemeClr val="dk1"/>
              </a:solidFill>
              <a:latin typeface="Verdana"/>
              <a:ea typeface="Verdana"/>
              <a:cs typeface="Verdana"/>
              <a:sym typeface="Verdana"/>
            </a:endParaRPr>
          </a:p>
          <a:p>
            <a:pPr indent="0" lvl="0" marL="0" marR="0" rtl="0" algn="l">
              <a:lnSpc>
                <a:spcPct val="100000"/>
              </a:lnSpc>
              <a:spcBef>
                <a:spcPts val="25"/>
              </a:spcBef>
              <a:spcAft>
                <a:spcPts val="0"/>
              </a:spcAft>
              <a:buClr>
                <a:srgbClr val="FF0000"/>
              </a:buClr>
              <a:buSzPts val="3850"/>
              <a:buFont typeface="Verdana"/>
              <a:buNone/>
            </a:pPr>
            <a:r>
              <a:t/>
            </a:r>
            <a:endParaRPr sz="3850">
              <a:solidFill>
                <a:schemeClr val="dk1"/>
              </a:solidFill>
              <a:latin typeface="Verdana"/>
              <a:ea typeface="Verdana"/>
              <a:cs typeface="Verdana"/>
              <a:sym typeface="Verdana"/>
            </a:endParaRPr>
          </a:p>
          <a:p>
            <a:pPr indent="-342900" lvl="0" marL="355600" marR="0" rtl="0" algn="l">
              <a:lnSpc>
                <a:spcPct val="100000"/>
              </a:lnSpc>
              <a:spcBef>
                <a:spcPts val="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Main Memory – 4K blocks of 16 words each</a:t>
            </a:r>
            <a:endParaRPr sz="2800">
              <a:solidFill>
                <a:schemeClr val="dk1"/>
              </a:solidFill>
              <a:latin typeface="Verdana"/>
              <a:ea typeface="Verdana"/>
              <a:cs typeface="Verdana"/>
              <a:sym typeface="Verdana"/>
            </a:endParaRPr>
          </a:p>
          <a:p>
            <a:pPr indent="-342900" lvl="0" marL="355600" marR="0" rtl="0" algn="l">
              <a:lnSpc>
                <a:spcPct val="100000"/>
              </a:lnSpc>
              <a:spcBef>
                <a:spcPts val="67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4K * 16 = 64000 </a:t>
            </a:r>
            <a:r>
              <a:rPr b="1" lang="en-US" sz="2800">
                <a:solidFill>
                  <a:srgbClr val="FF0000"/>
                </a:solidFill>
                <a:latin typeface="Verdana"/>
                <a:ea typeface="Verdana"/>
                <a:cs typeface="Verdana"/>
                <a:sym typeface="Verdana"/>
              </a:rPr>
              <a:t>approx 64 KB</a:t>
            </a:r>
            <a:endParaRPr sz="2800">
              <a:solidFill>
                <a:schemeClr val="dk1"/>
              </a:solidFill>
              <a:latin typeface="Verdana"/>
              <a:ea typeface="Verdana"/>
              <a:cs typeface="Verdana"/>
              <a:sym typeface="Verdana"/>
            </a:endParaRPr>
          </a:p>
          <a:p>
            <a:pPr indent="-342900" lvl="0" marL="355600" marR="0" rtl="0" algn="l">
              <a:lnSpc>
                <a:spcPct val="100000"/>
              </a:lnSpc>
              <a:spcBef>
                <a:spcPts val="670"/>
              </a:spcBef>
              <a:spcAft>
                <a:spcPts val="0"/>
              </a:spcAft>
              <a:buClr>
                <a:srgbClr val="FF0000"/>
              </a:buClr>
              <a:buSzPts val="2800"/>
              <a:buFont typeface="Verdana"/>
              <a:buChar char="•"/>
            </a:pPr>
            <a:r>
              <a:rPr b="1" lang="en-US" sz="2800">
                <a:solidFill>
                  <a:srgbClr val="FF0000"/>
                </a:solidFill>
                <a:latin typeface="Verdana"/>
                <a:ea typeface="Verdana"/>
                <a:cs typeface="Verdana"/>
                <a:sym typeface="Verdana"/>
              </a:rPr>
              <a:t>TOTAL ADDRESS SIZE	16 bit</a:t>
            </a:r>
            <a:endParaRPr sz="2800">
              <a:solidFill>
                <a:schemeClr val="dk1"/>
              </a:solidFill>
              <a:latin typeface="Verdana"/>
              <a:ea typeface="Verdana"/>
              <a:cs typeface="Verdana"/>
              <a:sym typeface="Verdana"/>
            </a:endParaRPr>
          </a:p>
        </p:txBody>
      </p:sp>
      <p:sp>
        <p:nvSpPr>
          <p:cNvPr id="530" name="Google Shape;530;p74"/>
          <p:cNvSpPr txBox="1"/>
          <p:nvPr/>
        </p:nvSpPr>
        <p:spPr>
          <a:xfrm>
            <a:off x="78739" y="5708091"/>
            <a:ext cx="1584325" cy="4521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2800">
                <a:solidFill>
                  <a:srgbClr val="FF0000"/>
                </a:solidFill>
                <a:latin typeface="Verdana"/>
                <a:ea typeface="Verdana"/>
                <a:cs typeface="Verdana"/>
                <a:sym typeface="Verdana"/>
              </a:rPr>
              <a:t>12(</a:t>
            </a:r>
            <a:r>
              <a:rPr b="1" lang="en-US" sz="2000">
                <a:solidFill>
                  <a:srgbClr val="FF0000"/>
                </a:solidFill>
                <a:latin typeface="Verdana"/>
                <a:ea typeface="Verdana"/>
                <a:cs typeface="Verdana"/>
                <a:sym typeface="Verdana"/>
              </a:rPr>
              <a:t>16-4</a:t>
            </a:r>
            <a:r>
              <a:rPr b="1" lang="en-US" sz="2800">
                <a:solidFill>
                  <a:srgbClr val="FF0000"/>
                </a:solidFill>
                <a:latin typeface="Verdana"/>
                <a:ea typeface="Verdana"/>
                <a:cs typeface="Verdana"/>
                <a:sym typeface="Verdana"/>
              </a:rPr>
              <a:t>)</a:t>
            </a:r>
            <a:endParaRPr sz="2800">
              <a:solidFill>
                <a:schemeClr val="dk1"/>
              </a:solidFill>
              <a:latin typeface="Verdana"/>
              <a:ea typeface="Verdana"/>
              <a:cs typeface="Verdana"/>
              <a:sym typeface="Verdana"/>
            </a:endParaRPr>
          </a:p>
        </p:txBody>
      </p:sp>
      <p:sp>
        <p:nvSpPr>
          <p:cNvPr id="531" name="Google Shape;531;p74"/>
          <p:cNvSpPr txBox="1"/>
          <p:nvPr/>
        </p:nvSpPr>
        <p:spPr>
          <a:xfrm>
            <a:off x="3530219" y="5708091"/>
            <a:ext cx="1382395" cy="452120"/>
          </a:xfrm>
          <a:prstGeom prst="rect">
            <a:avLst/>
          </a:prstGeom>
          <a:noFill/>
          <a:ln>
            <a:noFill/>
          </a:ln>
        </p:spPr>
        <p:txBody>
          <a:bodyPr anchorCtr="0" anchor="t" bIns="0" lIns="0" spcFirstLastPara="1" rIns="0" wrap="square" tIns="12050">
            <a:spAutoFit/>
          </a:bodyPr>
          <a:lstStyle/>
          <a:p>
            <a:pPr indent="0" lvl="0" marL="38100" marR="0" rtl="0" algn="l">
              <a:lnSpc>
                <a:spcPct val="100000"/>
              </a:lnSpc>
              <a:spcBef>
                <a:spcPts val="0"/>
              </a:spcBef>
              <a:spcAft>
                <a:spcPts val="0"/>
              </a:spcAft>
              <a:buNone/>
            </a:pPr>
            <a:r>
              <a:rPr b="1" lang="en-US" sz="2800">
                <a:solidFill>
                  <a:srgbClr val="FF0000"/>
                </a:solidFill>
                <a:latin typeface="Verdana"/>
                <a:ea typeface="Verdana"/>
                <a:cs typeface="Verdana"/>
                <a:sym typeface="Verdana"/>
              </a:rPr>
              <a:t>4 (2 </a:t>
            </a:r>
            <a:r>
              <a:rPr b="1" baseline="30000" lang="en-US" sz="2775">
                <a:solidFill>
                  <a:schemeClr val="dk1"/>
                </a:solidFill>
                <a:latin typeface="Verdana"/>
                <a:ea typeface="Verdana"/>
                <a:cs typeface="Verdana"/>
                <a:sym typeface="Verdana"/>
              </a:rPr>
              <a:t>4</a:t>
            </a:r>
            <a:r>
              <a:rPr b="1" lang="en-US" sz="2800">
                <a:solidFill>
                  <a:srgbClr val="FF0000"/>
                </a:solidFill>
                <a:latin typeface="Verdana"/>
                <a:ea typeface="Verdana"/>
                <a:cs typeface="Verdana"/>
                <a:sym typeface="Verdana"/>
              </a:rPr>
              <a:t>)</a:t>
            </a:r>
            <a:endParaRPr sz="2800">
              <a:solidFill>
                <a:schemeClr val="dk1"/>
              </a:solidFill>
              <a:latin typeface="Verdana"/>
              <a:ea typeface="Verdana"/>
              <a:cs typeface="Verdana"/>
              <a:sym typeface="Verdana"/>
            </a:endParaRPr>
          </a:p>
        </p:txBody>
      </p:sp>
      <p:graphicFrame>
        <p:nvGraphicFramePr>
          <p:cNvPr id="532" name="Google Shape;532;p74"/>
          <p:cNvGraphicFramePr/>
          <p:nvPr/>
        </p:nvGraphicFramePr>
        <p:xfrm>
          <a:off x="22225" y="4641850"/>
          <a:ext cx="3000000" cy="3000000"/>
        </p:xfrm>
        <a:graphic>
          <a:graphicData uri="http://schemas.openxmlformats.org/drawingml/2006/table">
            <a:tbl>
              <a:tblPr bandRow="1" firstRow="1">
                <a:noFill/>
                <a:tableStyleId>{41BDAFC8-E8DF-4A75-9545-EAE88DFA4F55}</a:tableStyleId>
              </a:tblPr>
              <a:tblGrid>
                <a:gridCol w="3048000"/>
                <a:gridCol w="3048000"/>
              </a:tblGrid>
              <a:tr h="701675">
                <a:tc>
                  <a:txBody>
                    <a:bodyPr/>
                    <a:lstStyle/>
                    <a:p>
                      <a:pPr indent="0" lvl="0" marL="91440" marR="0" rtl="0" algn="l">
                        <a:lnSpc>
                          <a:spcPct val="100000"/>
                        </a:lnSpc>
                        <a:spcBef>
                          <a:spcPts val="0"/>
                        </a:spcBef>
                        <a:spcAft>
                          <a:spcPts val="0"/>
                        </a:spcAft>
                        <a:buNone/>
                      </a:pPr>
                      <a:r>
                        <a:rPr b="1" lang="en-US" sz="4000" u="none" cap="none" strike="noStrike">
                          <a:latin typeface="Verdana"/>
                          <a:ea typeface="Verdana"/>
                          <a:cs typeface="Verdana"/>
                          <a:sym typeface="Verdana"/>
                        </a:rPr>
                        <a:t>Tag</a:t>
                      </a:r>
                      <a:endParaRPr sz="4000" u="none" cap="none" strike="noStrike">
                        <a:latin typeface="Verdana"/>
                        <a:ea typeface="Verdana"/>
                        <a:cs typeface="Verdana"/>
                        <a:sym typeface="Verdana"/>
                      </a:endParaRPr>
                    </a:p>
                  </a:txBody>
                  <a:tcPr marT="431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F6600"/>
                    </a:solidFill>
                  </a:tcPr>
                </a:tc>
                <a:tc>
                  <a:txBody>
                    <a:bodyPr/>
                    <a:lstStyle/>
                    <a:p>
                      <a:pPr indent="0" lvl="0" marL="92075" marR="0" rtl="0" algn="l">
                        <a:lnSpc>
                          <a:spcPct val="100000"/>
                        </a:lnSpc>
                        <a:spcBef>
                          <a:spcPts val="0"/>
                        </a:spcBef>
                        <a:spcAft>
                          <a:spcPts val="0"/>
                        </a:spcAft>
                        <a:buNone/>
                      </a:pPr>
                      <a:r>
                        <a:rPr b="1" lang="en-US" sz="4000" u="none" cap="none" strike="noStrike">
                          <a:latin typeface="Verdana"/>
                          <a:ea typeface="Verdana"/>
                          <a:cs typeface="Verdana"/>
                          <a:sym typeface="Verdana"/>
                        </a:rPr>
                        <a:t>Word</a:t>
                      </a:r>
                      <a:endParaRPr sz="4000" u="none" cap="none" strike="noStrike">
                        <a:latin typeface="Verdana"/>
                        <a:ea typeface="Verdana"/>
                        <a:cs typeface="Verdana"/>
                        <a:sym typeface="Verdana"/>
                      </a:endParaRPr>
                    </a:p>
                  </a:txBody>
                  <a:tcPr marT="431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F6600"/>
                    </a:solidFill>
                  </a:tcPr>
                </a:tc>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75"/>
          <p:cNvSpPr txBox="1"/>
          <p:nvPr>
            <p:ph type="title"/>
          </p:nvPr>
        </p:nvSpPr>
        <p:spPr>
          <a:xfrm>
            <a:off x="485343" y="484073"/>
            <a:ext cx="7291070"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Working of Fully Associative Mapping</a:t>
            </a:r>
            <a:endParaRPr/>
          </a:p>
        </p:txBody>
      </p:sp>
      <p:sp>
        <p:nvSpPr>
          <p:cNvPr id="538" name="Google Shape;538;p75"/>
          <p:cNvSpPr txBox="1"/>
          <p:nvPr>
            <p:ph idx="1" type="body"/>
          </p:nvPr>
        </p:nvSpPr>
        <p:spPr>
          <a:xfrm>
            <a:off x="525144" y="1188465"/>
            <a:ext cx="8093710" cy="3715385"/>
          </a:xfrm>
          <a:prstGeom prst="rect">
            <a:avLst/>
          </a:prstGeom>
          <a:noFill/>
          <a:ln>
            <a:noFill/>
          </a:ln>
        </p:spPr>
        <p:txBody>
          <a:bodyPr anchorCtr="0" anchor="t" bIns="0" lIns="0" spcFirstLastPara="1" rIns="0" wrap="square" tIns="13325">
            <a:spAutoFit/>
          </a:bodyPr>
          <a:lstStyle/>
          <a:p>
            <a:pPr indent="-431800" lvl="0" marL="530860" rtl="0" algn="l">
              <a:lnSpc>
                <a:spcPct val="100000"/>
              </a:lnSpc>
              <a:spcBef>
                <a:spcPts val="0"/>
              </a:spcBef>
              <a:spcAft>
                <a:spcPts val="0"/>
              </a:spcAft>
              <a:buClr>
                <a:srgbClr val="FF0000"/>
              </a:buClr>
              <a:buSzPts val="2000"/>
              <a:buFont typeface="Verdana"/>
              <a:buChar char="•"/>
            </a:pPr>
            <a:r>
              <a:rPr lang="en-US"/>
              <a:t>"Tag" field identifies one of the 2 </a:t>
            </a:r>
            <a:r>
              <a:rPr baseline="30000" lang="en-US" sz="1950"/>
              <a:t>12 </a:t>
            </a:r>
            <a:r>
              <a:rPr lang="en-US" sz="2000"/>
              <a:t>= 4096 memory lines;</a:t>
            </a:r>
            <a:endParaRPr sz="2000"/>
          </a:p>
          <a:p>
            <a:pPr indent="-343535" lvl="0" marL="442594" marR="252095" rtl="0" algn="l">
              <a:lnSpc>
                <a:spcPct val="150000"/>
              </a:lnSpc>
              <a:spcBef>
                <a:spcPts val="480"/>
              </a:spcBef>
              <a:spcAft>
                <a:spcPts val="0"/>
              </a:spcAft>
              <a:buClr>
                <a:srgbClr val="FF0000"/>
              </a:buClr>
              <a:buSzPts val="2000"/>
              <a:buFont typeface="Verdana"/>
              <a:buChar char="•"/>
            </a:pPr>
            <a:r>
              <a:rPr lang="en-US"/>
              <a:t>All the cache tags are searched to find out whether or not  the Tag field matches one of the cache tags.</a:t>
            </a:r>
            <a:endParaRPr/>
          </a:p>
          <a:p>
            <a:pPr indent="-343535" lvl="0" marL="442594" marR="68580" rtl="0" algn="l">
              <a:lnSpc>
                <a:spcPct val="150000"/>
              </a:lnSpc>
              <a:spcBef>
                <a:spcPts val="480"/>
              </a:spcBef>
              <a:spcAft>
                <a:spcPts val="0"/>
              </a:spcAft>
              <a:buClr>
                <a:srgbClr val="FF0000"/>
              </a:buClr>
              <a:buSzPts val="2000"/>
              <a:buFont typeface="Verdana"/>
              <a:buChar char="•"/>
            </a:pPr>
            <a:r>
              <a:rPr lang="en-US"/>
              <a:t>If so, we have a hit, and if not there's a miss and we need  to replace one of the cache lines by this line before reading  or writing into the cache.</a:t>
            </a:r>
            <a:endParaRPr/>
          </a:p>
          <a:p>
            <a:pPr indent="-343535" lvl="0" marL="442594" marR="1085215" rtl="0" algn="l">
              <a:lnSpc>
                <a:spcPct val="150100"/>
              </a:lnSpc>
              <a:spcBef>
                <a:spcPts val="480"/>
              </a:spcBef>
              <a:spcAft>
                <a:spcPts val="0"/>
              </a:spcAft>
              <a:buClr>
                <a:srgbClr val="FF0000"/>
              </a:buClr>
              <a:buSzPts val="2000"/>
              <a:buFont typeface="Verdana"/>
              <a:buChar char="•"/>
            </a:pPr>
            <a:r>
              <a:rPr lang="en-US"/>
              <a:t>(The "Word" field again selects one from among 16  addressable words (bytes) within the line.)</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76"/>
          <p:cNvSpPr txBox="1"/>
          <p:nvPr>
            <p:ph type="title"/>
          </p:nvPr>
        </p:nvSpPr>
        <p:spPr>
          <a:xfrm>
            <a:off x="485343" y="484073"/>
            <a:ext cx="6617334"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Two way set associative mapping</a:t>
            </a:r>
            <a:endParaRPr/>
          </a:p>
        </p:txBody>
      </p:sp>
      <p:pic>
        <p:nvPicPr>
          <p:cNvPr id="544" name="Google Shape;544;p76"/>
          <p:cNvPicPr preferRelativeResize="0"/>
          <p:nvPr/>
        </p:nvPicPr>
        <p:blipFill rotWithShape="1">
          <a:blip r:embed="rId3">
            <a:alphaModFix/>
          </a:blip>
          <a:srcRect b="0" l="0" r="0" t="0"/>
          <a:stretch/>
        </p:blipFill>
        <p:spPr>
          <a:xfrm>
            <a:off x="22225" y="304798"/>
            <a:ext cx="8969375" cy="6553198"/>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77"/>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550" name="Google Shape;550;p77"/>
          <p:cNvSpPr txBox="1"/>
          <p:nvPr>
            <p:ph idx="1" type="body"/>
          </p:nvPr>
        </p:nvSpPr>
        <p:spPr>
          <a:xfrm>
            <a:off x="525144" y="1188465"/>
            <a:ext cx="8093710" cy="2769989"/>
          </a:xfrm>
          <a:prstGeom prst="rect">
            <a:avLst/>
          </a:prstGeom>
          <a:noFill/>
          <a:ln>
            <a:noFill/>
          </a:ln>
        </p:spPr>
        <p:txBody>
          <a:bodyPr anchorCtr="0" anchor="t" bIns="0" lIns="0" spcFirstLastPara="1" rIns="0" wrap="square" tIns="0">
            <a:spAutoFit/>
          </a:bodyPr>
          <a:lstStyle/>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Cache miss &amp; time of searching-more in previous</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instead of having exactly one line that a block can map to in the cache, we will </a:t>
            </a:r>
            <a:r>
              <a:rPr lang="en-US">
                <a:solidFill>
                  <a:srgbClr val="FF0000"/>
                </a:solidFill>
                <a:latin typeface="Times New Roman"/>
                <a:ea typeface="Times New Roman"/>
                <a:cs typeface="Times New Roman"/>
                <a:sym typeface="Times New Roman"/>
              </a:rPr>
              <a:t>group a few lines together creating a </a:t>
            </a:r>
            <a:r>
              <a:rPr b="1" i="1" lang="en-US">
                <a:solidFill>
                  <a:srgbClr val="FF0000"/>
                </a:solidFill>
                <a:latin typeface="Times New Roman"/>
                <a:ea typeface="Times New Roman"/>
                <a:cs typeface="Times New Roman"/>
                <a:sym typeface="Times New Roman"/>
              </a:rPr>
              <a:t>set</a:t>
            </a:r>
            <a:r>
              <a:rPr lang="en-US">
                <a:latin typeface="Times New Roman"/>
                <a:ea typeface="Times New Roman"/>
                <a:cs typeface="Times New Roman"/>
                <a:sym typeface="Times New Roman"/>
              </a:rPr>
              <a:t>.</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 Then a </a:t>
            </a:r>
            <a:r>
              <a:rPr lang="en-US">
                <a:solidFill>
                  <a:srgbClr val="FF0000"/>
                </a:solidFill>
                <a:latin typeface="Times New Roman"/>
                <a:ea typeface="Times New Roman"/>
                <a:cs typeface="Times New Roman"/>
                <a:sym typeface="Times New Roman"/>
              </a:rPr>
              <a:t>block in memory can map to any one of the lines of a specific set</a:t>
            </a:r>
            <a:r>
              <a:rPr lang="en-US">
                <a:latin typeface="Times New Roman"/>
                <a:ea typeface="Times New Roman"/>
                <a:cs typeface="Times New Roman"/>
                <a:sym typeface="Times New Roman"/>
              </a:rPr>
              <a:t>. </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the cache lines get grouped into various sets where all the individual sets consist of k number of lines. </a:t>
            </a:r>
            <a:endParaRPr>
              <a:latin typeface="Times New Roman"/>
              <a:ea typeface="Times New Roman"/>
              <a:cs typeface="Times New Roman"/>
              <a:sym typeface="Times New Roman"/>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Here, a certain main memory block can map to only a particular cache set. </a:t>
            </a:r>
            <a:endParaRPr>
              <a:latin typeface="Times New Roman"/>
              <a:ea typeface="Times New Roman"/>
              <a:cs typeface="Times New Roman"/>
              <a:sym typeface="Times New Roman"/>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However, within this very set, the memory block can be mapped to a freely available line of cache.</a:t>
            </a:r>
            <a:endParaRPr>
              <a:latin typeface="Times New Roman"/>
              <a:ea typeface="Times New Roman"/>
              <a:cs typeface="Times New Roman"/>
              <a:sym typeface="Times New Roman"/>
            </a:endParaRPr>
          </a:p>
        </p:txBody>
      </p:sp>
      <p:pic>
        <p:nvPicPr>
          <p:cNvPr id="551" name="Google Shape;551;p77"/>
          <p:cNvPicPr preferRelativeResize="0"/>
          <p:nvPr/>
        </p:nvPicPr>
        <p:blipFill rotWithShape="1">
          <a:blip r:embed="rId3">
            <a:alphaModFix/>
          </a:blip>
          <a:srcRect b="0" l="0" r="0" t="0"/>
          <a:stretch/>
        </p:blipFill>
        <p:spPr>
          <a:xfrm>
            <a:off x="1549428" y="4038600"/>
            <a:ext cx="6076950" cy="207010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78"/>
          <p:cNvSpPr txBox="1"/>
          <p:nvPr/>
        </p:nvSpPr>
        <p:spPr>
          <a:xfrm>
            <a:off x="78739" y="295911"/>
            <a:ext cx="8154034" cy="3303270"/>
          </a:xfrm>
          <a:prstGeom prst="rect">
            <a:avLst/>
          </a:prstGeom>
          <a:noFill/>
          <a:ln>
            <a:noFill/>
          </a:ln>
        </p:spPr>
        <p:txBody>
          <a:bodyPr anchorCtr="0" anchor="t" bIns="0" lIns="0" spcFirstLastPara="1" rIns="0" wrap="square" tIns="200650">
            <a:spAutoFit/>
          </a:bodyPr>
          <a:lstStyle/>
          <a:p>
            <a:pPr indent="0" lvl="0" marL="419100" marR="0" rtl="0" algn="l">
              <a:lnSpc>
                <a:spcPct val="100000"/>
              </a:lnSpc>
              <a:spcBef>
                <a:spcPts val="0"/>
              </a:spcBef>
              <a:spcAft>
                <a:spcPts val="0"/>
              </a:spcAft>
              <a:buNone/>
            </a:pPr>
            <a:r>
              <a:rPr lang="en-US" sz="2800">
                <a:solidFill>
                  <a:schemeClr val="dk1"/>
                </a:solidFill>
                <a:latin typeface="Arial Black"/>
                <a:ea typeface="Arial Black"/>
                <a:cs typeface="Arial Black"/>
                <a:sym typeface="Arial Black"/>
              </a:rPr>
              <a:t>SET ASSOCIATIVE MAPPING(2-way)</a:t>
            </a:r>
            <a:endParaRPr sz="2800">
              <a:solidFill>
                <a:schemeClr val="dk1"/>
              </a:solidFill>
              <a:latin typeface="Arial Black"/>
              <a:ea typeface="Arial Black"/>
              <a:cs typeface="Arial Black"/>
              <a:sym typeface="Arial Black"/>
            </a:endParaRPr>
          </a:p>
          <a:p>
            <a:pPr indent="-342900" lvl="0" marL="355600" marR="0" rtl="0" algn="l">
              <a:lnSpc>
                <a:spcPct val="100000"/>
              </a:lnSpc>
              <a:spcBef>
                <a:spcPts val="147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Cache- 128 blocks of 16 words each</a:t>
            </a:r>
            <a:endParaRPr sz="2800">
              <a:solidFill>
                <a:schemeClr val="dk1"/>
              </a:solidFill>
              <a:latin typeface="Verdana"/>
              <a:ea typeface="Verdana"/>
              <a:cs typeface="Verdana"/>
              <a:sym typeface="Verdana"/>
            </a:endParaRPr>
          </a:p>
          <a:p>
            <a:pPr indent="-342900" lvl="0" marL="355600" marR="0" rtl="0" algn="l">
              <a:lnSpc>
                <a:spcPct val="100000"/>
              </a:lnSpc>
              <a:spcBef>
                <a:spcPts val="67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128 * 16 = 2048 </a:t>
            </a:r>
            <a:r>
              <a:rPr b="1" lang="en-US" sz="2800">
                <a:solidFill>
                  <a:srgbClr val="FF0000"/>
                </a:solidFill>
                <a:latin typeface="Verdana"/>
                <a:ea typeface="Verdana"/>
                <a:cs typeface="Verdana"/>
                <a:sym typeface="Verdana"/>
              </a:rPr>
              <a:t>approx 2 KB</a:t>
            </a:r>
            <a:endParaRPr sz="2800">
              <a:solidFill>
                <a:schemeClr val="dk1"/>
              </a:solidFill>
              <a:latin typeface="Verdana"/>
              <a:ea typeface="Verdana"/>
              <a:cs typeface="Verdana"/>
              <a:sym typeface="Verdana"/>
            </a:endParaRPr>
          </a:p>
          <a:p>
            <a:pPr indent="-342900" lvl="0" marL="355600" marR="0" rtl="0" algn="l">
              <a:lnSpc>
                <a:spcPct val="100000"/>
              </a:lnSpc>
              <a:spcBef>
                <a:spcPts val="67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Set divided into 2 ( 128 /2 )	=64</a:t>
            </a:r>
            <a:endParaRPr sz="2800">
              <a:solidFill>
                <a:schemeClr val="dk1"/>
              </a:solidFill>
              <a:latin typeface="Verdana"/>
              <a:ea typeface="Verdana"/>
              <a:cs typeface="Verdana"/>
              <a:sym typeface="Verdana"/>
            </a:endParaRPr>
          </a:p>
          <a:p>
            <a:pPr indent="-342900" lvl="0" marL="355600" marR="0" rtl="0" algn="l">
              <a:lnSpc>
                <a:spcPct val="100000"/>
              </a:lnSpc>
              <a:spcBef>
                <a:spcPts val="67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Main Memory – 4K blocks of 16 words each</a:t>
            </a:r>
            <a:endParaRPr sz="2800">
              <a:solidFill>
                <a:schemeClr val="dk1"/>
              </a:solidFill>
              <a:latin typeface="Verdana"/>
              <a:ea typeface="Verdana"/>
              <a:cs typeface="Verdana"/>
              <a:sym typeface="Verdana"/>
            </a:endParaRPr>
          </a:p>
          <a:p>
            <a:pPr indent="-342900" lvl="0" marL="355600" marR="0" rtl="0" algn="l">
              <a:lnSpc>
                <a:spcPct val="100000"/>
              </a:lnSpc>
              <a:spcBef>
                <a:spcPts val="67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4K * 16 = 64000 </a:t>
            </a:r>
            <a:r>
              <a:rPr b="1" lang="en-US" sz="2800">
                <a:solidFill>
                  <a:srgbClr val="FF0000"/>
                </a:solidFill>
                <a:latin typeface="Verdana"/>
                <a:ea typeface="Verdana"/>
                <a:cs typeface="Verdana"/>
                <a:sym typeface="Verdana"/>
              </a:rPr>
              <a:t>approx 64 KB</a:t>
            </a:r>
            <a:endParaRPr sz="2800">
              <a:solidFill>
                <a:schemeClr val="dk1"/>
              </a:solidFill>
              <a:latin typeface="Verdana"/>
              <a:ea typeface="Verdana"/>
              <a:cs typeface="Verdana"/>
              <a:sym typeface="Verdana"/>
            </a:endParaRPr>
          </a:p>
        </p:txBody>
      </p:sp>
      <p:sp>
        <p:nvSpPr>
          <p:cNvPr id="557" name="Google Shape;557;p78"/>
          <p:cNvSpPr txBox="1"/>
          <p:nvPr/>
        </p:nvSpPr>
        <p:spPr>
          <a:xfrm>
            <a:off x="78739" y="5708091"/>
            <a:ext cx="2011045" cy="4521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2800">
                <a:solidFill>
                  <a:srgbClr val="FF0000"/>
                </a:solidFill>
                <a:latin typeface="Verdana"/>
                <a:ea typeface="Verdana"/>
                <a:cs typeface="Verdana"/>
                <a:sym typeface="Verdana"/>
              </a:rPr>
              <a:t>6(</a:t>
            </a:r>
            <a:r>
              <a:rPr b="1" lang="en-US" sz="2000">
                <a:solidFill>
                  <a:srgbClr val="FF0000"/>
                </a:solidFill>
                <a:latin typeface="Verdana"/>
                <a:ea typeface="Verdana"/>
                <a:cs typeface="Verdana"/>
                <a:sym typeface="Verdana"/>
              </a:rPr>
              <a:t>16-(4+6)</a:t>
            </a:r>
            <a:r>
              <a:rPr b="1" lang="en-US" sz="2800">
                <a:solidFill>
                  <a:srgbClr val="FF0000"/>
                </a:solidFill>
                <a:latin typeface="Verdana"/>
                <a:ea typeface="Verdana"/>
                <a:cs typeface="Verdana"/>
                <a:sym typeface="Verdana"/>
              </a:rPr>
              <a:t>)</a:t>
            </a:r>
            <a:endParaRPr sz="2800">
              <a:solidFill>
                <a:schemeClr val="dk1"/>
              </a:solidFill>
              <a:latin typeface="Verdana"/>
              <a:ea typeface="Verdana"/>
              <a:cs typeface="Verdana"/>
              <a:sym typeface="Verdana"/>
            </a:endParaRPr>
          </a:p>
        </p:txBody>
      </p:sp>
      <p:sp>
        <p:nvSpPr>
          <p:cNvPr id="558" name="Google Shape;558;p78"/>
          <p:cNvSpPr txBox="1"/>
          <p:nvPr/>
        </p:nvSpPr>
        <p:spPr>
          <a:xfrm>
            <a:off x="3408298" y="5708091"/>
            <a:ext cx="1260475" cy="452120"/>
          </a:xfrm>
          <a:prstGeom prst="rect">
            <a:avLst/>
          </a:prstGeom>
          <a:noFill/>
          <a:ln>
            <a:noFill/>
          </a:ln>
        </p:spPr>
        <p:txBody>
          <a:bodyPr anchorCtr="0" anchor="t" bIns="0" lIns="0" spcFirstLastPara="1" rIns="0" wrap="square" tIns="12050">
            <a:spAutoFit/>
          </a:bodyPr>
          <a:lstStyle/>
          <a:p>
            <a:pPr indent="0" lvl="0" marL="38100" marR="0" rtl="0" algn="l">
              <a:lnSpc>
                <a:spcPct val="100000"/>
              </a:lnSpc>
              <a:spcBef>
                <a:spcPts val="0"/>
              </a:spcBef>
              <a:spcAft>
                <a:spcPts val="0"/>
              </a:spcAft>
              <a:buNone/>
            </a:pPr>
            <a:r>
              <a:rPr b="1" lang="en-US" sz="2800">
                <a:solidFill>
                  <a:srgbClr val="FF0000"/>
                </a:solidFill>
                <a:latin typeface="Verdana"/>
                <a:ea typeface="Verdana"/>
                <a:cs typeface="Verdana"/>
                <a:sym typeface="Verdana"/>
              </a:rPr>
              <a:t>6(2 </a:t>
            </a:r>
            <a:r>
              <a:rPr b="1" baseline="30000" lang="en-US" sz="2775">
                <a:solidFill>
                  <a:schemeClr val="dk1"/>
                </a:solidFill>
                <a:latin typeface="Verdana"/>
                <a:ea typeface="Verdana"/>
                <a:cs typeface="Verdana"/>
                <a:sym typeface="Verdana"/>
              </a:rPr>
              <a:t>6</a:t>
            </a:r>
            <a:r>
              <a:rPr b="1" lang="en-US" sz="2800">
                <a:solidFill>
                  <a:srgbClr val="FF0000"/>
                </a:solidFill>
                <a:latin typeface="Verdana"/>
                <a:ea typeface="Verdana"/>
                <a:cs typeface="Verdana"/>
                <a:sym typeface="Verdana"/>
              </a:rPr>
              <a:t>)</a:t>
            </a:r>
            <a:endParaRPr sz="2800">
              <a:solidFill>
                <a:schemeClr val="dk1"/>
              </a:solidFill>
              <a:latin typeface="Verdana"/>
              <a:ea typeface="Verdana"/>
              <a:cs typeface="Verdana"/>
              <a:sym typeface="Verdana"/>
            </a:endParaRPr>
          </a:p>
        </p:txBody>
      </p:sp>
      <p:sp>
        <p:nvSpPr>
          <p:cNvPr id="559" name="Google Shape;559;p78"/>
          <p:cNvSpPr txBox="1"/>
          <p:nvPr/>
        </p:nvSpPr>
        <p:spPr>
          <a:xfrm>
            <a:off x="6178107" y="5708091"/>
            <a:ext cx="1384935" cy="452120"/>
          </a:xfrm>
          <a:prstGeom prst="rect">
            <a:avLst/>
          </a:prstGeom>
          <a:noFill/>
          <a:ln>
            <a:noFill/>
          </a:ln>
        </p:spPr>
        <p:txBody>
          <a:bodyPr anchorCtr="0" anchor="t" bIns="0" lIns="0" spcFirstLastPara="1" rIns="0" wrap="square" tIns="12050">
            <a:spAutoFit/>
          </a:bodyPr>
          <a:lstStyle/>
          <a:p>
            <a:pPr indent="0" lvl="0" marL="38100" marR="0" rtl="0" algn="l">
              <a:lnSpc>
                <a:spcPct val="100000"/>
              </a:lnSpc>
              <a:spcBef>
                <a:spcPts val="0"/>
              </a:spcBef>
              <a:spcAft>
                <a:spcPts val="0"/>
              </a:spcAft>
              <a:buNone/>
            </a:pPr>
            <a:r>
              <a:rPr b="1" lang="en-US" sz="2800">
                <a:solidFill>
                  <a:srgbClr val="FF0000"/>
                </a:solidFill>
                <a:latin typeface="Verdana"/>
                <a:ea typeface="Verdana"/>
                <a:cs typeface="Verdana"/>
                <a:sym typeface="Verdana"/>
              </a:rPr>
              <a:t>4 (2 </a:t>
            </a:r>
            <a:r>
              <a:rPr b="1" baseline="30000" lang="en-US" sz="2775">
                <a:solidFill>
                  <a:schemeClr val="dk1"/>
                </a:solidFill>
                <a:latin typeface="Verdana"/>
                <a:ea typeface="Verdana"/>
                <a:cs typeface="Verdana"/>
                <a:sym typeface="Verdana"/>
              </a:rPr>
              <a:t>4</a:t>
            </a:r>
            <a:r>
              <a:rPr b="1" lang="en-US" sz="2800">
                <a:solidFill>
                  <a:srgbClr val="FF0000"/>
                </a:solidFill>
                <a:latin typeface="Verdana"/>
                <a:ea typeface="Verdana"/>
                <a:cs typeface="Verdana"/>
                <a:sym typeface="Verdana"/>
              </a:rPr>
              <a:t>)</a:t>
            </a:r>
            <a:endParaRPr sz="2800">
              <a:solidFill>
                <a:schemeClr val="dk1"/>
              </a:solidFill>
              <a:latin typeface="Verdana"/>
              <a:ea typeface="Verdana"/>
              <a:cs typeface="Verdana"/>
              <a:sym typeface="Verdana"/>
            </a:endParaRPr>
          </a:p>
        </p:txBody>
      </p:sp>
      <p:graphicFrame>
        <p:nvGraphicFramePr>
          <p:cNvPr id="560" name="Google Shape;560;p78"/>
          <p:cNvGraphicFramePr/>
          <p:nvPr/>
        </p:nvGraphicFramePr>
        <p:xfrm>
          <a:off x="0" y="4337050"/>
          <a:ext cx="3000000" cy="3000000"/>
        </p:xfrm>
        <a:graphic>
          <a:graphicData uri="http://schemas.openxmlformats.org/drawingml/2006/table">
            <a:tbl>
              <a:tblPr bandRow="1" firstRow="1">
                <a:noFill/>
                <a:tableStyleId>{41BDAFC8-E8DF-4A75-9545-EAE88DFA4F55}</a:tableStyleId>
              </a:tblPr>
              <a:tblGrid>
                <a:gridCol w="2811150"/>
                <a:gridCol w="2844800"/>
                <a:gridCol w="2844800"/>
              </a:tblGrid>
              <a:tr h="1066800">
                <a:tc>
                  <a:txBody>
                    <a:bodyPr/>
                    <a:lstStyle/>
                    <a:p>
                      <a:pPr indent="0" lvl="0" marL="57785" marR="0" rtl="0" algn="l">
                        <a:lnSpc>
                          <a:spcPct val="100000"/>
                        </a:lnSpc>
                        <a:spcBef>
                          <a:spcPts val="0"/>
                        </a:spcBef>
                        <a:spcAft>
                          <a:spcPts val="0"/>
                        </a:spcAft>
                        <a:buNone/>
                      </a:pPr>
                      <a:r>
                        <a:rPr b="1" lang="en-US" sz="3200" u="none" cap="none" strike="noStrike">
                          <a:latin typeface="Verdana"/>
                          <a:ea typeface="Verdana"/>
                          <a:cs typeface="Verdana"/>
                          <a:sym typeface="Verdana"/>
                        </a:rPr>
                        <a:t>Tag</a:t>
                      </a:r>
                      <a:endParaRPr sz="3200" u="none" cap="none" strike="noStrike">
                        <a:latin typeface="Verdana"/>
                        <a:ea typeface="Verdana"/>
                        <a:cs typeface="Verdana"/>
                        <a:sym typeface="Verdana"/>
                      </a:endParaRPr>
                    </a:p>
                  </a:txBody>
                  <a:tcPr marT="44450" marB="0" marR="0" marL="0">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F6600"/>
                    </a:solidFill>
                  </a:tcPr>
                </a:tc>
                <a:tc>
                  <a:txBody>
                    <a:bodyPr/>
                    <a:lstStyle/>
                    <a:p>
                      <a:pPr indent="0" lvl="0" marL="92075" marR="0" rtl="0" algn="l">
                        <a:lnSpc>
                          <a:spcPct val="100000"/>
                        </a:lnSpc>
                        <a:spcBef>
                          <a:spcPts val="0"/>
                        </a:spcBef>
                        <a:spcAft>
                          <a:spcPts val="0"/>
                        </a:spcAft>
                        <a:buNone/>
                      </a:pPr>
                      <a:r>
                        <a:rPr b="1" lang="en-US" sz="3200" u="none" cap="none" strike="noStrike">
                          <a:latin typeface="Verdana"/>
                          <a:ea typeface="Verdana"/>
                          <a:cs typeface="Verdana"/>
                          <a:sym typeface="Verdana"/>
                        </a:rPr>
                        <a:t>Set</a:t>
                      </a:r>
                      <a:endParaRPr sz="3200" u="none" cap="none" strike="noStrike">
                        <a:latin typeface="Verdana"/>
                        <a:ea typeface="Verdana"/>
                        <a:cs typeface="Verdana"/>
                        <a:sym typeface="Verdana"/>
                      </a:endParaRPr>
                    </a:p>
                  </a:txBody>
                  <a:tcPr marT="444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F6600"/>
                    </a:solidFill>
                  </a:tcPr>
                </a:tc>
                <a:tc>
                  <a:txBody>
                    <a:bodyPr/>
                    <a:lstStyle/>
                    <a:p>
                      <a:pPr indent="0" lvl="0" marL="92075" marR="0" rtl="0" algn="l">
                        <a:lnSpc>
                          <a:spcPct val="100000"/>
                        </a:lnSpc>
                        <a:spcBef>
                          <a:spcPts val="0"/>
                        </a:spcBef>
                        <a:spcAft>
                          <a:spcPts val="0"/>
                        </a:spcAft>
                        <a:buNone/>
                      </a:pPr>
                      <a:r>
                        <a:rPr b="1" lang="en-US" sz="3200" u="none" cap="none" strike="noStrike">
                          <a:latin typeface="Verdana"/>
                          <a:ea typeface="Verdana"/>
                          <a:cs typeface="Verdana"/>
                          <a:sym typeface="Verdana"/>
                        </a:rPr>
                        <a:t>Word</a:t>
                      </a:r>
                      <a:endParaRPr sz="3200" u="none" cap="none" strike="noStrike">
                        <a:latin typeface="Verdana"/>
                        <a:ea typeface="Verdana"/>
                        <a:cs typeface="Verdana"/>
                        <a:sym typeface="Verdana"/>
                      </a:endParaRPr>
                    </a:p>
                  </a:txBody>
                  <a:tcPr marT="444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F6600"/>
                    </a:solidFill>
                  </a:tcPr>
                </a:tc>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79"/>
          <p:cNvSpPr txBox="1"/>
          <p:nvPr>
            <p:ph type="title"/>
          </p:nvPr>
        </p:nvSpPr>
        <p:spPr>
          <a:xfrm>
            <a:off x="485343" y="484073"/>
            <a:ext cx="1602740"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Working</a:t>
            </a:r>
            <a:endParaRPr/>
          </a:p>
        </p:txBody>
      </p:sp>
      <p:sp>
        <p:nvSpPr>
          <p:cNvPr id="566" name="Google Shape;566;p79"/>
          <p:cNvSpPr txBox="1"/>
          <p:nvPr/>
        </p:nvSpPr>
        <p:spPr>
          <a:xfrm>
            <a:off x="281940" y="1097026"/>
            <a:ext cx="8392795" cy="4538345"/>
          </a:xfrm>
          <a:prstGeom prst="rect">
            <a:avLst/>
          </a:prstGeom>
          <a:noFill/>
          <a:ln>
            <a:noFill/>
          </a:ln>
        </p:spPr>
        <p:txBody>
          <a:bodyPr anchorCtr="0" anchor="t" bIns="0" lIns="0" spcFirstLastPara="1" rIns="0" wrap="square" tIns="13325">
            <a:spAutoFit/>
          </a:bodyPr>
          <a:lstStyle/>
          <a:p>
            <a:pPr indent="-342900" lvl="0" marL="457200" marR="120650" rtl="0" algn="just">
              <a:lnSpc>
                <a:spcPct val="100000"/>
              </a:lnSpc>
              <a:spcBef>
                <a:spcPts val="0"/>
              </a:spcBef>
              <a:spcAft>
                <a:spcPts val="0"/>
              </a:spcAft>
              <a:buClr>
                <a:srgbClr val="FF0000"/>
              </a:buClr>
              <a:buSzPts val="2000"/>
              <a:buFont typeface="Verdana"/>
              <a:buChar char="•"/>
            </a:pPr>
            <a:r>
              <a:rPr lang="en-US" sz="2000">
                <a:solidFill>
                  <a:schemeClr val="dk1"/>
                </a:solidFill>
                <a:latin typeface="Verdana"/>
                <a:ea typeface="Verdana"/>
                <a:cs typeface="Verdana"/>
                <a:sym typeface="Verdana"/>
              </a:rPr>
              <a:t>"Tag" field identifies one of the 2</a:t>
            </a:r>
            <a:r>
              <a:rPr baseline="30000" lang="en-US" sz="1950">
                <a:solidFill>
                  <a:schemeClr val="dk1"/>
                </a:solidFill>
                <a:latin typeface="Verdana"/>
                <a:ea typeface="Verdana"/>
                <a:cs typeface="Verdana"/>
                <a:sym typeface="Verdana"/>
              </a:rPr>
              <a:t>6 </a:t>
            </a:r>
            <a:r>
              <a:rPr lang="en-US" sz="2000">
                <a:solidFill>
                  <a:schemeClr val="dk1"/>
                </a:solidFill>
                <a:latin typeface="Verdana"/>
                <a:ea typeface="Verdana"/>
                <a:cs typeface="Verdana"/>
                <a:sym typeface="Verdana"/>
              </a:rPr>
              <a:t>= 64 different memory  lines in each of the 2</a:t>
            </a:r>
            <a:r>
              <a:rPr baseline="30000" lang="en-US" sz="1950">
                <a:solidFill>
                  <a:schemeClr val="dk1"/>
                </a:solidFill>
                <a:latin typeface="Verdana"/>
                <a:ea typeface="Verdana"/>
                <a:cs typeface="Verdana"/>
                <a:sym typeface="Verdana"/>
              </a:rPr>
              <a:t>6 </a:t>
            </a:r>
            <a:r>
              <a:rPr lang="en-US" sz="2000">
                <a:solidFill>
                  <a:schemeClr val="dk1"/>
                </a:solidFill>
                <a:latin typeface="Verdana"/>
                <a:ea typeface="Verdana"/>
                <a:cs typeface="Verdana"/>
                <a:sym typeface="Verdana"/>
              </a:rPr>
              <a:t>= 64 different "Set" values.</a:t>
            </a:r>
            <a:endParaRPr sz="2000">
              <a:solidFill>
                <a:schemeClr val="dk1"/>
              </a:solidFill>
              <a:latin typeface="Verdana"/>
              <a:ea typeface="Verdana"/>
              <a:cs typeface="Verdana"/>
              <a:sym typeface="Verdana"/>
            </a:endParaRPr>
          </a:p>
          <a:p>
            <a:pPr indent="-342900" lvl="0" marL="457200" marR="119379" rtl="0" algn="just">
              <a:lnSpc>
                <a:spcPct val="100000"/>
              </a:lnSpc>
              <a:spcBef>
                <a:spcPts val="480"/>
              </a:spcBef>
              <a:spcAft>
                <a:spcPts val="0"/>
              </a:spcAft>
              <a:buClr>
                <a:srgbClr val="FF0000"/>
              </a:buClr>
              <a:buSzPts val="2000"/>
              <a:buFont typeface="Verdana"/>
              <a:buChar char="•"/>
            </a:pPr>
            <a:r>
              <a:rPr lang="en-US" sz="2000">
                <a:solidFill>
                  <a:schemeClr val="dk1"/>
                </a:solidFill>
                <a:latin typeface="Verdana"/>
                <a:ea typeface="Verdana"/>
                <a:cs typeface="Verdana"/>
                <a:sym typeface="Verdana"/>
              </a:rPr>
              <a:t>Since each cache set has room for only two lines at a time,  the search for a match is limited to those two lines (rather  than the entire cache).</a:t>
            </a:r>
            <a:endParaRPr sz="2000">
              <a:solidFill>
                <a:schemeClr val="dk1"/>
              </a:solidFill>
              <a:latin typeface="Verdana"/>
              <a:ea typeface="Verdana"/>
              <a:cs typeface="Verdana"/>
              <a:sym typeface="Verdana"/>
            </a:endParaRPr>
          </a:p>
          <a:p>
            <a:pPr indent="-342900" lvl="0" marL="457200" marR="0" rtl="0" algn="just">
              <a:lnSpc>
                <a:spcPct val="100000"/>
              </a:lnSpc>
              <a:spcBef>
                <a:spcPts val="480"/>
              </a:spcBef>
              <a:spcAft>
                <a:spcPts val="0"/>
              </a:spcAft>
              <a:buClr>
                <a:srgbClr val="FF0000"/>
              </a:buClr>
              <a:buSzPts val="2000"/>
              <a:buFont typeface="Verdana"/>
              <a:buChar char="•"/>
            </a:pPr>
            <a:r>
              <a:rPr lang="en-US" sz="2000">
                <a:solidFill>
                  <a:schemeClr val="dk1"/>
                </a:solidFill>
                <a:latin typeface="Verdana"/>
                <a:ea typeface="Verdana"/>
                <a:cs typeface="Verdana"/>
                <a:sym typeface="Verdana"/>
              </a:rPr>
              <a:t>If there's a match, we have a hit and the read or write can</a:t>
            </a:r>
            <a:endParaRPr sz="2000">
              <a:solidFill>
                <a:schemeClr val="dk1"/>
              </a:solidFill>
              <a:latin typeface="Verdana"/>
              <a:ea typeface="Verdana"/>
              <a:cs typeface="Verdana"/>
              <a:sym typeface="Verdana"/>
            </a:endParaRPr>
          </a:p>
          <a:p>
            <a:pPr indent="0" lvl="0" marL="457200" marR="0" rtl="0" algn="just">
              <a:lnSpc>
                <a:spcPct val="100000"/>
              </a:lnSpc>
              <a:spcBef>
                <a:spcPts val="0"/>
              </a:spcBef>
              <a:spcAft>
                <a:spcPts val="0"/>
              </a:spcAft>
              <a:buNone/>
            </a:pPr>
            <a:r>
              <a:rPr lang="en-US" sz="2000">
                <a:solidFill>
                  <a:schemeClr val="dk1"/>
                </a:solidFill>
                <a:latin typeface="Verdana"/>
                <a:ea typeface="Verdana"/>
                <a:cs typeface="Verdana"/>
                <a:sym typeface="Verdana"/>
              </a:rPr>
              <a:t>proceed immediately.</a:t>
            </a:r>
            <a:endParaRPr sz="2000">
              <a:solidFill>
                <a:schemeClr val="dk1"/>
              </a:solidFill>
              <a:latin typeface="Verdana"/>
              <a:ea typeface="Verdana"/>
              <a:cs typeface="Verdana"/>
              <a:sym typeface="Verdana"/>
            </a:endParaRPr>
          </a:p>
          <a:p>
            <a:pPr indent="-342900" lvl="0" marL="457200" marR="119379" rtl="0" algn="just">
              <a:lnSpc>
                <a:spcPct val="100000"/>
              </a:lnSpc>
              <a:spcBef>
                <a:spcPts val="480"/>
              </a:spcBef>
              <a:spcAft>
                <a:spcPts val="0"/>
              </a:spcAft>
              <a:buClr>
                <a:srgbClr val="FF0000"/>
              </a:buClr>
              <a:buSzPts val="1800"/>
              <a:buFont typeface="Verdana"/>
              <a:buChar char="•"/>
            </a:pPr>
            <a:r>
              <a:rPr lang="en-US" sz="1800">
                <a:solidFill>
                  <a:schemeClr val="dk1"/>
                </a:solidFill>
                <a:latin typeface="Calibri"/>
                <a:ea typeface="Calibri"/>
                <a:cs typeface="Calibri"/>
                <a:sym typeface="Calibri"/>
              </a:rPr>
              <a:t>	</a:t>
            </a:r>
            <a:r>
              <a:rPr lang="en-US" sz="2000">
                <a:solidFill>
                  <a:schemeClr val="dk1"/>
                </a:solidFill>
                <a:latin typeface="Verdana"/>
                <a:ea typeface="Verdana"/>
                <a:cs typeface="Verdana"/>
                <a:sym typeface="Verdana"/>
              </a:rPr>
              <a:t>Otherwise, there's a miss and we need to replace one of the  two cache lines by this line before reading or writing into the  cache. (The "Word" field again select one from among 16  addressable words inside the line.)</a:t>
            </a:r>
            <a:endParaRPr sz="2000">
              <a:solidFill>
                <a:schemeClr val="dk1"/>
              </a:solidFill>
              <a:latin typeface="Verdana"/>
              <a:ea typeface="Verdana"/>
              <a:cs typeface="Verdana"/>
              <a:sym typeface="Verdana"/>
            </a:endParaRPr>
          </a:p>
          <a:p>
            <a:pPr indent="-342900" lvl="0" marL="457200" marR="118745" rtl="0" algn="just">
              <a:lnSpc>
                <a:spcPct val="100000"/>
              </a:lnSpc>
              <a:spcBef>
                <a:spcPts val="484"/>
              </a:spcBef>
              <a:spcAft>
                <a:spcPts val="0"/>
              </a:spcAft>
              <a:buClr>
                <a:srgbClr val="FF0000"/>
              </a:buClr>
              <a:buSzPts val="2000"/>
              <a:buFont typeface="Verdana"/>
              <a:buChar char="•"/>
            </a:pPr>
            <a:r>
              <a:rPr lang="en-US" sz="2000">
                <a:solidFill>
                  <a:schemeClr val="dk1"/>
                </a:solidFill>
                <a:latin typeface="Verdana"/>
                <a:ea typeface="Verdana"/>
                <a:cs typeface="Verdana"/>
                <a:sym typeface="Verdana"/>
              </a:rPr>
              <a:t>In set-associative mapping, when the number of lines per  set is </a:t>
            </a:r>
            <a:r>
              <a:rPr i="1" lang="en-US" sz="2000">
                <a:solidFill>
                  <a:schemeClr val="dk1"/>
                </a:solidFill>
                <a:latin typeface="Verdana"/>
                <a:ea typeface="Verdana"/>
                <a:cs typeface="Verdana"/>
                <a:sym typeface="Verdana"/>
              </a:rPr>
              <a:t>n</a:t>
            </a:r>
            <a:r>
              <a:rPr lang="en-US" sz="2000">
                <a:solidFill>
                  <a:schemeClr val="dk1"/>
                </a:solidFill>
                <a:latin typeface="Verdana"/>
                <a:ea typeface="Verdana"/>
                <a:cs typeface="Verdana"/>
                <a:sym typeface="Verdana"/>
              </a:rPr>
              <a:t>, the mapping is called </a:t>
            </a:r>
            <a:r>
              <a:rPr i="1" lang="en-US" sz="2000">
                <a:solidFill>
                  <a:schemeClr val="dk1"/>
                </a:solidFill>
                <a:latin typeface="Verdana"/>
                <a:ea typeface="Verdana"/>
                <a:cs typeface="Verdana"/>
                <a:sym typeface="Verdana"/>
              </a:rPr>
              <a:t>n</a:t>
            </a:r>
            <a:r>
              <a:rPr lang="en-US" sz="2000">
                <a:solidFill>
                  <a:schemeClr val="dk1"/>
                </a:solidFill>
                <a:latin typeface="Verdana"/>
                <a:ea typeface="Verdana"/>
                <a:cs typeface="Verdana"/>
                <a:sym typeface="Verdana"/>
              </a:rPr>
              <a:t>-way associative. For  instance, the above example is 2-way associative.</a:t>
            </a:r>
            <a:endParaRPr sz="2000">
              <a:solidFill>
                <a:schemeClr val="dk1"/>
              </a:solidFill>
              <a:latin typeface="Verdana"/>
              <a:ea typeface="Verdana"/>
              <a:cs typeface="Verdana"/>
              <a:sym typeface="Verdana"/>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80"/>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572" name="Google Shape;572;p80"/>
          <p:cNvSpPr txBox="1"/>
          <p:nvPr>
            <p:ph idx="1" type="body"/>
          </p:nvPr>
        </p:nvSpPr>
        <p:spPr>
          <a:xfrm>
            <a:off x="525144" y="1188465"/>
            <a:ext cx="8093710" cy="371538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573" name="Google Shape;573;p80"/>
          <p:cNvPicPr preferRelativeResize="0"/>
          <p:nvPr/>
        </p:nvPicPr>
        <p:blipFill rotWithShape="1">
          <a:blip r:embed="rId3">
            <a:alphaModFix/>
          </a:blip>
          <a:srcRect b="0" l="0" r="0" t="0"/>
          <a:stretch/>
        </p:blipFill>
        <p:spPr>
          <a:xfrm>
            <a:off x="1635125" y="1785938"/>
            <a:ext cx="5873750" cy="3289300"/>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81"/>
          <p:cNvSpPr txBox="1"/>
          <p:nvPr>
            <p:ph type="title"/>
          </p:nvPr>
        </p:nvSpPr>
        <p:spPr>
          <a:xfrm>
            <a:off x="535949" y="349950"/>
            <a:ext cx="7107600" cy="44310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a:t>Direct Mapping  Cache Line Table</a:t>
            </a:r>
            <a:endParaRPr/>
          </a:p>
        </p:txBody>
      </p:sp>
      <p:sp>
        <p:nvSpPr>
          <p:cNvPr id="579" name="Google Shape;579;p81"/>
          <p:cNvSpPr txBox="1"/>
          <p:nvPr/>
        </p:nvSpPr>
        <p:spPr>
          <a:xfrm>
            <a:off x="535940" y="1025398"/>
            <a:ext cx="1942464" cy="1343025"/>
          </a:xfrm>
          <a:prstGeom prst="rect">
            <a:avLst/>
          </a:prstGeom>
          <a:noFill/>
          <a:ln>
            <a:noFill/>
          </a:ln>
        </p:spPr>
        <p:txBody>
          <a:bodyPr anchorCtr="0" anchor="t" bIns="0" lIns="0" spcFirstLastPara="1" rIns="0" wrap="square" tIns="85725">
            <a:spAutoFit/>
          </a:bodyPr>
          <a:lstStyle/>
          <a:p>
            <a:pPr indent="-343535" lvl="0" marL="355600" marR="0" rtl="0" algn="l">
              <a:lnSpc>
                <a:spcPct val="100000"/>
              </a:lnSpc>
              <a:spcBef>
                <a:spcPts val="0"/>
              </a:spcBef>
              <a:spcAft>
                <a:spcPts val="0"/>
              </a:spcAft>
              <a:buClr>
                <a:srgbClr val="FF0000"/>
              </a:buClr>
              <a:buSzPts val="2400"/>
              <a:buFont typeface="Verdana"/>
              <a:buChar char="•"/>
            </a:pPr>
            <a:r>
              <a:rPr lang="en-US" sz="2400">
                <a:solidFill>
                  <a:schemeClr val="dk1"/>
                </a:solidFill>
                <a:latin typeface="Verdana"/>
                <a:ea typeface="Verdana"/>
                <a:cs typeface="Verdana"/>
                <a:sym typeface="Verdana"/>
              </a:rPr>
              <a:t>Cache line</a:t>
            </a:r>
            <a:endParaRPr sz="2400">
              <a:solidFill>
                <a:schemeClr val="dk1"/>
              </a:solidFill>
              <a:latin typeface="Verdana"/>
              <a:ea typeface="Verdana"/>
              <a:cs typeface="Verdana"/>
              <a:sym typeface="Verdana"/>
            </a:endParaRPr>
          </a:p>
          <a:p>
            <a:pPr indent="-343535" lvl="0" marL="355600" marR="0" rtl="0" algn="l">
              <a:lnSpc>
                <a:spcPct val="100000"/>
              </a:lnSpc>
              <a:spcBef>
                <a:spcPts val="575"/>
              </a:spcBef>
              <a:spcAft>
                <a:spcPts val="0"/>
              </a:spcAft>
              <a:buClr>
                <a:srgbClr val="FF0000"/>
              </a:buClr>
              <a:buSzPts val="2400"/>
              <a:buFont typeface="Verdana"/>
              <a:buChar char="•"/>
            </a:pPr>
            <a:r>
              <a:rPr lang="en-US" sz="2400">
                <a:solidFill>
                  <a:schemeClr val="dk1"/>
                </a:solidFill>
                <a:latin typeface="Verdana"/>
                <a:ea typeface="Verdana"/>
                <a:cs typeface="Verdana"/>
                <a:sym typeface="Verdana"/>
              </a:rPr>
              <a:t>0</a:t>
            </a:r>
            <a:endParaRPr sz="2400">
              <a:solidFill>
                <a:schemeClr val="dk1"/>
              </a:solidFill>
              <a:latin typeface="Verdana"/>
              <a:ea typeface="Verdana"/>
              <a:cs typeface="Verdana"/>
              <a:sym typeface="Verdana"/>
            </a:endParaRPr>
          </a:p>
          <a:p>
            <a:pPr indent="-343535" lvl="0" marL="355600" marR="0" rtl="0" algn="l">
              <a:lnSpc>
                <a:spcPct val="100000"/>
              </a:lnSpc>
              <a:spcBef>
                <a:spcPts val="580"/>
              </a:spcBef>
              <a:spcAft>
                <a:spcPts val="0"/>
              </a:spcAft>
              <a:buClr>
                <a:srgbClr val="FF0000"/>
              </a:buClr>
              <a:buSzPts val="2400"/>
              <a:buFont typeface="Verdana"/>
              <a:buChar char="•"/>
            </a:pPr>
            <a:r>
              <a:rPr lang="en-US" sz="2400">
                <a:solidFill>
                  <a:schemeClr val="dk1"/>
                </a:solidFill>
                <a:latin typeface="Verdana"/>
                <a:ea typeface="Verdana"/>
                <a:cs typeface="Verdana"/>
                <a:sym typeface="Verdana"/>
              </a:rPr>
              <a:t>1</a:t>
            </a:r>
            <a:endParaRPr sz="2400">
              <a:solidFill>
                <a:schemeClr val="dk1"/>
              </a:solidFill>
              <a:latin typeface="Verdana"/>
              <a:ea typeface="Verdana"/>
              <a:cs typeface="Verdana"/>
              <a:sym typeface="Verdana"/>
            </a:endParaRPr>
          </a:p>
        </p:txBody>
      </p:sp>
      <p:sp>
        <p:nvSpPr>
          <p:cNvPr id="580" name="Google Shape;580;p81"/>
          <p:cNvSpPr txBox="1"/>
          <p:nvPr/>
        </p:nvSpPr>
        <p:spPr>
          <a:xfrm>
            <a:off x="4194428" y="1025398"/>
            <a:ext cx="3907154" cy="1343025"/>
          </a:xfrm>
          <a:prstGeom prst="rect">
            <a:avLst/>
          </a:prstGeom>
          <a:noFill/>
          <a:ln>
            <a:noFill/>
          </a:ln>
        </p:spPr>
        <p:txBody>
          <a:bodyPr anchorCtr="0" anchor="t" bIns="0" lIns="0" spcFirstLastPara="1" rIns="0" wrap="square" tIns="12050">
            <a:spAutoFit/>
          </a:bodyPr>
          <a:lstStyle/>
          <a:p>
            <a:pPr indent="0" lvl="0" marL="12700" marR="5080" rtl="0" algn="l">
              <a:lnSpc>
                <a:spcPct val="120100"/>
              </a:lnSpc>
              <a:spcBef>
                <a:spcPts val="0"/>
              </a:spcBef>
              <a:spcAft>
                <a:spcPts val="0"/>
              </a:spcAft>
              <a:buNone/>
            </a:pPr>
            <a:r>
              <a:rPr lang="en-US" sz="2400">
                <a:solidFill>
                  <a:schemeClr val="dk1"/>
                </a:solidFill>
                <a:latin typeface="Verdana"/>
                <a:ea typeface="Verdana"/>
                <a:cs typeface="Verdana"/>
                <a:sym typeface="Verdana"/>
              </a:rPr>
              <a:t>Main Memory blocks held  0, m, 2m, 3m…2s-m  1,m+1, 2m+1…2s-m+1</a:t>
            </a:r>
            <a:endParaRPr sz="2400">
              <a:solidFill>
                <a:schemeClr val="dk1"/>
              </a:solidFill>
              <a:latin typeface="Verdana"/>
              <a:ea typeface="Verdana"/>
              <a:cs typeface="Verdana"/>
              <a:sym typeface="Verdana"/>
            </a:endParaRPr>
          </a:p>
        </p:txBody>
      </p:sp>
      <p:sp>
        <p:nvSpPr>
          <p:cNvPr id="581" name="Google Shape;581;p81"/>
          <p:cNvSpPr txBox="1"/>
          <p:nvPr/>
        </p:nvSpPr>
        <p:spPr>
          <a:xfrm>
            <a:off x="535940" y="2854578"/>
            <a:ext cx="998219" cy="391160"/>
          </a:xfrm>
          <a:prstGeom prst="rect">
            <a:avLst/>
          </a:prstGeom>
          <a:noFill/>
          <a:ln>
            <a:noFill/>
          </a:ln>
        </p:spPr>
        <p:txBody>
          <a:bodyPr anchorCtr="0" anchor="t" bIns="0" lIns="0" spcFirstLastPara="1" rIns="0" wrap="square" tIns="12700">
            <a:spAutoFit/>
          </a:bodyPr>
          <a:lstStyle/>
          <a:p>
            <a:pPr indent="-343535" lvl="0" marL="355600" marR="0" rtl="0" algn="l">
              <a:lnSpc>
                <a:spcPct val="100000"/>
              </a:lnSpc>
              <a:spcBef>
                <a:spcPts val="0"/>
              </a:spcBef>
              <a:spcAft>
                <a:spcPts val="0"/>
              </a:spcAft>
              <a:buClr>
                <a:srgbClr val="FF0000"/>
              </a:buClr>
              <a:buSzPts val="2400"/>
              <a:buFont typeface="Verdana"/>
              <a:buChar char="•"/>
            </a:pPr>
            <a:r>
              <a:rPr lang="en-US" sz="2400">
                <a:solidFill>
                  <a:schemeClr val="dk1"/>
                </a:solidFill>
                <a:latin typeface="Verdana"/>
                <a:ea typeface="Verdana"/>
                <a:cs typeface="Verdana"/>
                <a:sym typeface="Verdana"/>
              </a:rPr>
              <a:t>m-1</a:t>
            </a:r>
            <a:endParaRPr sz="2400">
              <a:solidFill>
                <a:schemeClr val="dk1"/>
              </a:solidFill>
              <a:latin typeface="Verdana"/>
              <a:ea typeface="Verdana"/>
              <a:cs typeface="Verdana"/>
              <a:sym typeface="Verdana"/>
            </a:endParaRPr>
          </a:p>
        </p:txBody>
      </p:sp>
      <p:sp>
        <p:nvSpPr>
          <p:cNvPr id="582" name="Google Shape;582;p81"/>
          <p:cNvSpPr txBox="1"/>
          <p:nvPr/>
        </p:nvSpPr>
        <p:spPr>
          <a:xfrm>
            <a:off x="4194428" y="2854578"/>
            <a:ext cx="3565525"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chemeClr val="dk1"/>
                </a:solidFill>
                <a:latin typeface="Verdana"/>
                <a:ea typeface="Verdana"/>
                <a:cs typeface="Verdana"/>
                <a:sym typeface="Verdana"/>
              </a:rPr>
              <a:t>m-1, 2m-1,3m-1…2s-1</a:t>
            </a:r>
            <a:endParaRPr sz="2400">
              <a:solidFill>
                <a:schemeClr val="dk1"/>
              </a:solidFill>
              <a:latin typeface="Verdana"/>
              <a:ea typeface="Verdana"/>
              <a:cs typeface="Verdana"/>
              <a:sym typeface="Verdana"/>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82"/>
          <p:cNvSpPr txBox="1"/>
          <p:nvPr>
            <p:ph type="title"/>
          </p:nvPr>
        </p:nvSpPr>
        <p:spPr>
          <a:xfrm>
            <a:off x="485352" y="484075"/>
            <a:ext cx="6916500" cy="4431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Direct Mapping pros &amp; cons</a:t>
            </a:r>
            <a:endParaRPr/>
          </a:p>
        </p:txBody>
      </p:sp>
      <p:sp>
        <p:nvSpPr>
          <p:cNvPr id="588" name="Google Shape;588;p82"/>
          <p:cNvSpPr txBox="1"/>
          <p:nvPr/>
        </p:nvSpPr>
        <p:spPr>
          <a:xfrm>
            <a:off x="535940" y="1385061"/>
            <a:ext cx="7460615" cy="4618990"/>
          </a:xfrm>
          <a:prstGeom prst="rect">
            <a:avLst/>
          </a:prstGeom>
          <a:noFill/>
          <a:ln>
            <a:noFill/>
          </a:ln>
        </p:spPr>
        <p:txBody>
          <a:bodyPr anchorCtr="0" anchor="t" bIns="0" lIns="0" spcFirstLastPara="1" rIns="0" wrap="square" tIns="12050">
            <a:spAutoFit/>
          </a:bodyPr>
          <a:lstStyle/>
          <a:p>
            <a:pPr indent="-343535" lvl="0" marL="355600" marR="0" rtl="0" algn="l">
              <a:lnSpc>
                <a:spcPct val="100000"/>
              </a:lnSpc>
              <a:spcBef>
                <a:spcPts val="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Simple</a:t>
            </a:r>
            <a:endParaRPr sz="2800">
              <a:solidFill>
                <a:schemeClr val="dk1"/>
              </a:solidFill>
              <a:latin typeface="Verdana"/>
              <a:ea typeface="Verdana"/>
              <a:cs typeface="Verdana"/>
              <a:sym typeface="Verdana"/>
            </a:endParaRPr>
          </a:p>
          <a:p>
            <a:pPr indent="0" lvl="0" marL="0" marR="0" rtl="0" algn="l">
              <a:lnSpc>
                <a:spcPct val="100000"/>
              </a:lnSpc>
              <a:spcBef>
                <a:spcPts val="25"/>
              </a:spcBef>
              <a:spcAft>
                <a:spcPts val="0"/>
              </a:spcAft>
              <a:buClr>
                <a:srgbClr val="FF0000"/>
              </a:buClr>
              <a:buSzPts val="3300"/>
              <a:buFont typeface="Verdana"/>
              <a:buNone/>
            </a:pPr>
            <a:r>
              <a:t/>
            </a:r>
            <a:endParaRPr sz="3300">
              <a:solidFill>
                <a:schemeClr val="dk1"/>
              </a:solidFill>
              <a:latin typeface="Verdana"/>
              <a:ea typeface="Verdana"/>
              <a:cs typeface="Verdana"/>
              <a:sym typeface="Verdana"/>
            </a:endParaRPr>
          </a:p>
          <a:p>
            <a:pPr indent="-343535" lvl="0" marL="355600" marR="0" rtl="0" algn="l">
              <a:lnSpc>
                <a:spcPct val="100000"/>
              </a:lnSpc>
              <a:spcBef>
                <a:spcPts val="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Inexpensive</a:t>
            </a:r>
            <a:endParaRPr sz="2800">
              <a:solidFill>
                <a:schemeClr val="dk1"/>
              </a:solidFill>
              <a:latin typeface="Verdana"/>
              <a:ea typeface="Verdana"/>
              <a:cs typeface="Verdana"/>
              <a:sym typeface="Verdana"/>
            </a:endParaRPr>
          </a:p>
          <a:p>
            <a:pPr indent="0" lvl="0" marL="0" marR="0" rtl="0" algn="l">
              <a:lnSpc>
                <a:spcPct val="100000"/>
              </a:lnSpc>
              <a:spcBef>
                <a:spcPts val="20"/>
              </a:spcBef>
              <a:spcAft>
                <a:spcPts val="0"/>
              </a:spcAft>
              <a:buClr>
                <a:srgbClr val="FF0000"/>
              </a:buClr>
              <a:buSzPts val="3300"/>
              <a:buFont typeface="Verdana"/>
              <a:buNone/>
            </a:pPr>
            <a:r>
              <a:t/>
            </a:r>
            <a:endParaRPr sz="3300">
              <a:solidFill>
                <a:schemeClr val="dk1"/>
              </a:solidFill>
              <a:latin typeface="Verdana"/>
              <a:ea typeface="Verdana"/>
              <a:cs typeface="Verdana"/>
              <a:sym typeface="Verdana"/>
            </a:endParaRPr>
          </a:p>
          <a:p>
            <a:pPr indent="-343535" lvl="0" marL="355600" marR="0" rtl="0" algn="just">
              <a:lnSpc>
                <a:spcPct val="100000"/>
              </a:lnSpc>
              <a:spcBef>
                <a:spcPts val="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Fixed location for given block</a:t>
            </a:r>
            <a:endParaRPr sz="2800">
              <a:solidFill>
                <a:schemeClr val="dk1"/>
              </a:solidFill>
              <a:latin typeface="Verdana"/>
              <a:ea typeface="Verdana"/>
              <a:cs typeface="Verdana"/>
              <a:sym typeface="Verdana"/>
            </a:endParaRPr>
          </a:p>
          <a:p>
            <a:pPr indent="-287019" lvl="0" marL="756285" marR="5080" rtl="0" algn="just">
              <a:lnSpc>
                <a:spcPct val="200100"/>
              </a:lnSpc>
              <a:spcBef>
                <a:spcPts val="735"/>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If a program accesses 2 blocks that map to  the same line repeatedly, cache misses are  very high</a:t>
            </a:r>
            <a:endParaRPr sz="2400">
              <a:solidFill>
                <a:schemeClr val="dk1"/>
              </a:solidFill>
              <a:latin typeface="Verdana"/>
              <a:ea typeface="Verdana"/>
              <a:cs typeface="Verdana"/>
              <a:sym typeface="Verdana"/>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83"/>
          <p:cNvSpPr txBox="1"/>
          <p:nvPr/>
        </p:nvSpPr>
        <p:spPr>
          <a:xfrm>
            <a:off x="485343" y="484073"/>
            <a:ext cx="7903845" cy="537591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2800">
                <a:solidFill>
                  <a:schemeClr val="dk1"/>
                </a:solidFill>
                <a:latin typeface="Arial Black"/>
                <a:ea typeface="Arial Black"/>
                <a:cs typeface="Arial Black"/>
                <a:sym typeface="Arial Black"/>
              </a:rPr>
              <a:t>Associative Mapping</a:t>
            </a:r>
            <a:endParaRPr sz="2800">
              <a:solidFill>
                <a:schemeClr val="dk1"/>
              </a:solidFill>
              <a:latin typeface="Arial Black"/>
              <a:ea typeface="Arial Black"/>
              <a:cs typeface="Arial Black"/>
              <a:sym typeface="Arial Black"/>
            </a:endParaRPr>
          </a:p>
          <a:p>
            <a:pPr indent="-343535" lvl="0" marL="406400" marR="370205" rtl="0" algn="l">
              <a:lnSpc>
                <a:spcPct val="150100"/>
              </a:lnSpc>
              <a:spcBef>
                <a:spcPts val="79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A main memory block can load into any  line of cache</a:t>
            </a:r>
            <a:endParaRPr sz="2800">
              <a:solidFill>
                <a:schemeClr val="dk1"/>
              </a:solidFill>
              <a:latin typeface="Verdana"/>
              <a:ea typeface="Verdana"/>
              <a:cs typeface="Verdana"/>
              <a:sym typeface="Verdana"/>
            </a:endParaRPr>
          </a:p>
          <a:p>
            <a:pPr indent="-343535" lvl="0" marL="406400" marR="5080" rtl="0" algn="l">
              <a:lnSpc>
                <a:spcPct val="150100"/>
              </a:lnSpc>
              <a:spcBef>
                <a:spcPts val="67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Memory address is interpreted as tag and  word</a:t>
            </a:r>
            <a:endParaRPr sz="2800">
              <a:solidFill>
                <a:schemeClr val="dk1"/>
              </a:solidFill>
              <a:latin typeface="Verdana"/>
              <a:ea typeface="Verdana"/>
              <a:cs typeface="Verdana"/>
              <a:sym typeface="Verdana"/>
            </a:endParaRPr>
          </a:p>
          <a:p>
            <a:pPr indent="-344170" lvl="0" marL="406400" marR="0" rtl="0" algn="l">
              <a:lnSpc>
                <a:spcPct val="100000"/>
              </a:lnSpc>
              <a:spcBef>
                <a:spcPts val="235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Tag uniquely identifies block of memory</a:t>
            </a:r>
            <a:endParaRPr sz="2800">
              <a:solidFill>
                <a:schemeClr val="dk1"/>
              </a:solidFill>
              <a:latin typeface="Verdana"/>
              <a:ea typeface="Verdana"/>
              <a:cs typeface="Verdana"/>
              <a:sym typeface="Verdana"/>
            </a:endParaRPr>
          </a:p>
          <a:p>
            <a:pPr indent="-344170" lvl="0" marL="406400" marR="0" rtl="0" algn="l">
              <a:lnSpc>
                <a:spcPct val="100000"/>
              </a:lnSpc>
              <a:spcBef>
                <a:spcPts val="235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Every line’s tag is examined for a match</a:t>
            </a:r>
            <a:endParaRPr sz="2800">
              <a:solidFill>
                <a:schemeClr val="dk1"/>
              </a:solidFill>
              <a:latin typeface="Verdana"/>
              <a:ea typeface="Verdana"/>
              <a:cs typeface="Verdana"/>
              <a:sym typeface="Verdana"/>
            </a:endParaRPr>
          </a:p>
          <a:p>
            <a:pPr indent="-344170" lvl="0" marL="406400" marR="0" rtl="0" algn="l">
              <a:lnSpc>
                <a:spcPct val="100000"/>
              </a:lnSpc>
              <a:spcBef>
                <a:spcPts val="235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Cache searching gets expensive</a:t>
            </a:r>
            <a:endParaRPr sz="2800">
              <a:solidFill>
                <a:schemeClr val="dk1"/>
              </a:solidFill>
              <a:latin typeface="Verdana"/>
              <a:ea typeface="Verdana"/>
              <a:cs typeface="Verdana"/>
              <a:sym typeface="Verdana"/>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84"/>
          <p:cNvSpPr txBox="1"/>
          <p:nvPr>
            <p:ph type="title"/>
          </p:nvPr>
        </p:nvSpPr>
        <p:spPr>
          <a:xfrm>
            <a:off x="485343" y="484073"/>
            <a:ext cx="4820920"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Set Associative Mapping</a:t>
            </a:r>
            <a:endParaRPr/>
          </a:p>
        </p:txBody>
      </p:sp>
      <p:sp>
        <p:nvSpPr>
          <p:cNvPr id="599" name="Google Shape;599;p84"/>
          <p:cNvSpPr txBox="1"/>
          <p:nvPr/>
        </p:nvSpPr>
        <p:spPr>
          <a:xfrm>
            <a:off x="78739" y="1225042"/>
            <a:ext cx="8896985" cy="4507230"/>
          </a:xfrm>
          <a:prstGeom prst="rect">
            <a:avLst/>
          </a:prstGeom>
          <a:noFill/>
          <a:ln>
            <a:noFill/>
          </a:ln>
        </p:spPr>
        <p:txBody>
          <a:bodyPr anchorCtr="0" anchor="t" bIns="0" lIns="0" spcFirstLastPara="1" rIns="0" wrap="square" tIns="12050">
            <a:spAutoFit/>
          </a:bodyPr>
          <a:lstStyle/>
          <a:p>
            <a:pPr indent="-342900" lvl="0" marL="355600" marR="0" rtl="0" algn="l">
              <a:lnSpc>
                <a:spcPct val="100000"/>
              </a:lnSpc>
              <a:spcBef>
                <a:spcPts val="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Cache is divided into a number of sets</a:t>
            </a:r>
            <a:endParaRPr sz="2800">
              <a:solidFill>
                <a:schemeClr val="dk1"/>
              </a:solidFill>
              <a:latin typeface="Verdana"/>
              <a:ea typeface="Verdana"/>
              <a:cs typeface="Verdana"/>
              <a:sym typeface="Verdana"/>
            </a:endParaRPr>
          </a:p>
          <a:p>
            <a:pPr indent="-342900" lvl="0" marL="355600" marR="0" rtl="0" algn="l">
              <a:lnSpc>
                <a:spcPct val="100000"/>
              </a:lnSpc>
              <a:spcBef>
                <a:spcPts val="235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Each set contains a number of lines</a:t>
            </a:r>
            <a:endParaRPr sz="2800">
              <a:solidFill>
                <a:schemeClr val="dk1"/>
              </a:solidFill>
              <a:latin typeface="Verdana"/>
              <a:ea typeface="Verdana"/>
              <a:cs typeface="Verdana"/>
              <a:sym typeface="Verdana"/>
            </a:endParaRPr>
          </a:p>
          <a:p>
            <a:pPr indent="-342900" lvl="0" marL="355600" marR="0" rtl="0" algn="l">
              <a:lnSpc>
                <a:spcPct val="100000"/>
              </a:lnSpc>
              <a:spcBef>
                <a:spcPts val="235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A given block maps to any line in a given set</a:t>
            </a:r>
            <a:endParaRPr sz="2800">
              <a:solidFill>
                <a:schemeClr val="dk1"/>
              </a:solidFill>
              <a:latin typeface="Verdana"/>
              <a:ea typeface="Verdana"/>
              <a:cs typeface="Verdana"/>
              <a:sym typeface="Verdana"/>
            </a:endParaRPr>
          </a:p>
          <a:p>
            <a:pPr indent="0" lvl="0" marL="469900" marR="0" rtl="0" algn="l">
              <a:lnSpc>
                <a:spcPct val="100000"/>
              </a:lnSpc>
              <a:spcBef>
                <a:spcPts val="2120"/>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e.g. Block B can be in any line of set i</a:t>
            </a:r>
            <a:endParaRPr sz="2400">
              <a:solidFill>
                <a:schemeClr val="dk1"/>
              </a:solidFill>
              <a:latin typeface="Verdana"/>
              <a:ea typeface="Verdana"/>
              <a:cs typeface="Verdana"/>
              <a:sym typeface="Verdana"/>
            </a:endParaRPr>
          </a:p>
          <a:p>
            <a:pPr indent="-342900" lvl="0" marL="355600" marR="0" rtl="0" algn="l">
              <a:lnSpc>
                <a:spcPct val="100000"/>
              </a:lnSpc>
              <a:spcBef>
                <a:spcPts val="225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e.g. 2 lines per set</a:t>
            </a:r>
            <a:endParaRPr sz="2800">
              <a:solidFill>
                <a:schemeClr val="dk1"/>
              </a:solidFill>
              <a:latin typeface="Verdana"/>
              <a:ea typeface="Verdana"/>
              <a:cs typeface="Verdana"/>
              <a:sym typeface="Verdana"/>
            </a:endParaRPr>
          </a:p>
          <a:p>
            <a:pPr indent="0" lvl="0" marL="469900" marR="0" rtl="0" algn="l">
              <a:lnSpc>
                <a:spcPct val="100000"/>
              </a:lnSpc>
              <a:spcBef>
                <a:spcPts val="2120"/>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2 way associative mapping</a:t>
            </a:r>
            <a:endParaRPr sz="2400">
              <a:solidFill>
                <a:schemeClr val="dk1"/>
              </a:solidFill>
              <a:latin typeface="Verdana"/>
              <a:ea typeface="Verdana"/>
              <a:cs typeface="Verdana"/>
              <a:sym typeface="Verdana"/>
            </a:endParaRPr>
          </a:p>
          <a:p>
            <a:pPr indent="0" lvl="0" marL="469900" marR="0" rtl="0" algn="l">
              <a:lnSpc>
                <a:spcPct val="100000"/>
              </a:lnSpc>
              <a:spcBef>
                <a:spcPts val="2014"/>
              </a:spcBef>
              <a:spcAft>
                <a:spcPts val="0"/>
              </a:spcAft>
              <a:buNone/>
            </a:pPr>
            <a:r>
              <a:rPr lang="en-US" sz="2400">
                <a:solidFill>
                  <a:srgbClr val="FF0000"/>
                </a:solidFill>
                <a:latin typeface="Verdana"/>
                <a:ea typeface="Verdana"/>
                <a:cs typeface="Verdana"/>
                <a:sym typeface="Verdana"/>
              </a:rPr>
              <a:t>—</a:t>
            </a:r>
            <a:r>
              <a:rPr lang="en-US" sz="2400">
                <a:solidFill>
                  <a:schemeClr val="dk1"/>
                </a:solidFill>
                <a:latin typeface="Verdana"/>
                <a:ea typeface="Verdana"/>
                <a:cs typeface="Verdana"/>
                <a:sym typeface="Verdana"/>
              </a:rPr>
              <a:t>A given block can be in one of 2 lines in only one set</a:t>
            </a:r>
            <a:endParaRPr sz="2400">
              <a:solidFill>
                <a:schemeClr val="dk1"/>
              </a:solidFill>
              <a:latin typeface="Verdana"/>
              <a:ea typeface="Verdana"/>
              <a:cs typeface="Verdana"/>
              <a:sym typeface="Verdana"/>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85"/>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605" name="Google Shape;605;p85"/>
          <p:cNvSpPr txBox="1"/>
          <p:nvPr>
            <p:ph idx="1" type="body"/>
          </p:nvPr>
        </p:nvSpPr>
        <p:spPr>
          <a:xfrm>
            <a:off x="525144" y="1188465"/>
            <a:ext cx="8093710" cy="92333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Refer problems from mapping</a:t>
            </a:r>
            <a:endParaRPr/>
          </a:p>
          <a:p>
            <a:pPr indent="0" lvl="0" marL="0" rtl="0" algn="l">
              <a:spcBef>
                <a:spcPts val="0"/>
              </a:spcBef>
              <a:spcAft>
                <a:spcPts val="0"/>
              </a:spcAft>
              <a:buNone/>
            </a:pPr>
            <a:r>
              <a:rPr lang="en-US"/>
              <a:t>Refer merits &amp; demerits of each mapping schemes</a:t>
            </a:r>
            <a:endParaRPr/>
          </a:p>
          <a:p>
            <a:pPr indent="0" lvl="0" marL="0" rtl="0" algn="l">
              <a:spcBef>
                <a:spcPts val="0"/>
              </a:spcBef>
              <a:spcAft>
                <a:spcPts val="0"/>
              </a:spcAft>
              <a:buNone/>
            </a:pPr>
            <a:r>
              <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86"/>
          <p:cNvSpPr txBox="1"/>
          <p:nvPr>
            <p:ph type="title"/>
          </p:nvPr>
        </p:nvSpPr>
        <p:spPr>
          <a:xfrm>
            <a:off x="485343" y="484073"/>
            <a:ext cx="3730625"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Problem statement</a:t>
            </a:r>
            <a:endParaRPr/>
          </a:p>
        </p:txBody>
      </p:sp>
      <p:sp>
        <p:nvSpPr>
          <p:cNvPr id="611" name="Google Shape;611;p86"/>
          <p:cNvSpPr txBox="1"/>
          <p:nvPr/>
        </p:nvSpPr>
        <p:spPr>
          <a:xfrm>
            <a:off x="78739" y="1343914"/>
            <a:ext cx="8928100" cy="485521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chemeClr val="dk1"/>
                </a:solidFill>
                <a:latin typeface="Verdana"/>
                <a:ea typeface="Verdana"/>
                <a:cs typeface="Verdana"/>
                <a:sym typeface="Verdana"/>
              </a:rPr>
              <a:t>Consider a cache consisting of 256 blocks of 16 words</a:t>
            </a:r>
            <a:endParaRPr sz="2400">
              <a:solidFill>
                <a:schemeClr val="dk1"/>
              </a:solidFill>
              <a:latin typeface="Verdana"/>
              <a:ea typeface="Verdana"/>
              <a:cs typeface="Verdana"/>
              <a:sym typeface="Verdana"/>
            </a:endParaRPr>
          </a:p>
          <a:p>
            <a:pPr indent="0" lvl="0" marL="12700" marR="87630" rtl="0" algn="l">
              <a:lnSpc>
                <a:spcPct val="200000"/>
              </a:lnSpc>
              <a:spcBef>
                <a:spcPts val="0"/>
              </a:spcBef>
              <a:spcAft>
                <a:spcPts val="0"/>
              </a:spcAft>
              <a:buNone/>
            </a:pPr>
            <a:r>
              <a:rPr lang="en-US" sz="2400">
                <a:solidFill>
                  <a:schemeClr val="dk1"/>
                </a:solidFill>
                <a:latin typeface="Verdana"/>
                <a:ea typeface="Verdana"/>
                <a:cs typeface="Verdana"/>
                <a:sym typeface="Verdana"/>
              </a:rPr>
              <a:t>each for a total of 4096(4KB) words and assume that the  main memory is addressable by a 16 bit address and it  consists of 4KB blocks of 16 words.</a:t>
            </a:r>
            <a:endParaRPr sz="2400">
              <a:solidFill>
                <a:schemeClr val="dk1"/>
              </a:solidFill>
              <a:latin typeface="Verdana"/>
              <a:ea typeface="Verdana"/>
              <a:cs typeface="Verdana"/>
              <a:sym typeface="Verdana"/>
            </a:endParaRPr>
          </a:p>
          <a:p>
            <a:pPr indent="0" lvl="0" marL="12700" marR="5080" rtl="0" algn="l">
              <a:lnSpc>
                <a:spcPct val="200000"/>
              </a:lnSpc>
              <a:spcBef>
                <a:spcPts val="580"/>
              </a:spcBef>
              <a:spcAft>
                <a:spcPts val="0"/>
              </a:spcAft>
              <a:buNone/>
            </a:pPr>
            <a:r>
              <a:rPr lang="en-US" sz="2400">
                <a:solidFill>
                  <a:schemeClr val="dk1"/>
                </a:solidFill>
                <a:latin typeface="Verdana"/>
                <a:ea typeface="Verdana"/>
                <a:cs typeface="Verdana"/>
                <a:sym typeface="Verdana"/>
              </a:rPr>
              <a:t>How many bits are there in each of the TAG,BLOCK/SET  and WORD field for Direct Mapping , Fully Associative and  2-way set associative techniques?</a:t>
            </a:r>
            <a:endParaRPr sz="2400">
              <a:solidFill>
                <a:schemeClr val="dk1"/>
              </a:solidFill>
              <a:latin typeface="Verdana"/>
              <a:ea typeface="Verdana"/>
              <a:cs typeface="Verdana"/>
              <a:sym typeface="Verdana"/>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87"/>
          <p:cNvSpPr txBox="1"/>
          <p:nvPr>
            <p:ph type="title"/>
          </p:nvPr>
        </p:nvSpPr>
        <p:spPr>
          <a:xfrm>
            <a:off x="485343" y="26923"/>
            <a:ext cx="3731260"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Problem statement</a:t>
            </a:r>
            <a:endParaRPr/>
          </a:p>
        </p:txBody>
      </p:sp>
      <p:sp>
        <p:nvSpPr>
          <p:cNvPr id="617" name="Google Shape;617;p87"/>
          <p:cNvSpPr txBox="1"/>
          <p:nvPr/>
        </p:nvSpPr>
        <p:spPr>
          <a:xfrm>
            <a:off x="485350" y="1296375"/>
            <a:ext cx="8445300" cy="5332800"/>
          </a:xfrm>
          <a:prstGeom prst="rect">
            <a:avLst/>
          </a:prstGeom>
          <a:noFill/>
          <a:ln>
            <a:noFill/>
          </a:ln>
        </p:spPr>
        <p:txBody>
          <a:bodyPr anchorCtr="0" anchor="t" bIns="0" lIns="0" spcFirstLastPara="1" rIns="0" wrap="square" tIns="12700">
            <a:spAutoFit/>
          </a:bodyPr>
          <a:lstStyle/>
          <a:p>
            <a:pPr indent="0" lvl="0" marL="12700" marR="473075" rtl="0" algn="l">
              <a:lnSpc>
                <a:spcPct val="150000"/>
              </a:lnSpc>
              <a:spcBef>
                <a:spcPts val="0"/>
              </a:spcBef>
              <a:spcAft>
                <a:spcPts val="0"/>
              </a:spcAft>
              <a:buNone/>
            </a:pPr>
            <a:r>
              <a:rPr lang="en-US" sz="2400">
                <a:solidFill>
                  <a:schemeClr val="dk1"/>
                </a:solidFill>
                <a:latin typeface="Verdana"/>
                <a:ea typeface="Verdana"/>
                <a:cs typeface="Verdana"/>
                <a:sym typeface="Verdana"/>
              </a:rPr>
              <a:t>A block set associative cache memory consists of 128  blocks	divided into four block sets. The main memory  consists of 16,384 blocks and each block contains 256  words.</a:t>
            </a:r>
            <a:endParaRPr sz="2400">
              <a:solidFill>
                <a:schemeClr val="dk1"/>
              </a:solidFill>
              <a:latin typeface="Verdana"/>
              <a:ea typeface="Verdana"/>
              <a:cs typeface="Verdana"/>
              <a:sym typeface="Verdana"/>
            </a:endParaRPr>
          </a:p>
          <a:p>
            <a:pPr indent="-571500" lvl="0" marL="584200" marR="0" rtl="0" algn="l">
              <a:lnSpc>
                <a:spcPct val="100000"/>
              </a:lnSpc>
              <a:spcBef>
                <a:spcPts val="2014"/>
              </a:spcBef>
              <a:spcAft>
                <a:spcPts val="0"/>
              </a:spcAft>
              <a:buClr>
                <a:srgbClr val="FF0000"/>
              </a:buClr>
              <a:buSzPts val="2400"/>
              <a:buFont typeface="Verdana"/>
              <a:buAutoNum type="romanLcParenR"/>
            </a:pPr>
            <a:r>
              <a:rPr lang="en-US" sz="2400">
                <a:solidFill>
                  <a:schemeClr val="dk1"/>
                </a:solidFill>
                <a:latin typeface="Verdana"/>
                <a:ea typeface="Verdana"/>
                <a:cs typeface="Verdana"/>
                <a:sym typeface="Verdana"/>
              </a:rPr>
              <a:t>How many bits are required for addressing the main</a:t>
            </a:r>
            <a:endParaRPr sz="2400">
              <a:solidFill>
                <a:schemeClr val="dk1"/>
              </a:solidFill>
              <a:latin typeface="Verdana"/>
              <a:ea typeface="Verdana"/>
              <a:cs typeface="Verdana"/>
              <a:sym typeface="Verdana"/>
            </a:endParaRPr>
          </a:p>
          <a:p>
            <a:pPr indent="0" lvl="0" marL="584200" marR="0" rtl="0" algn="l">
              <a:lnSpc>
                <a:spcPct val="100000"/>
              </a:lnSpc>
              <a:spcBef>
                <a:spcPts val="1440"/>
              </a:spcBef>
              <a:spcAft>
                <a:spcPts val="0"/>
              </a:spcAft>
              <a:buNone/>
            </a:pPr>
            <a:r>
              <a:rPr lang="en-US" sz="2400">
                <a:solidFill>
                  <a:schemeClr val="dk1"/>
                </a:solidFill>
                <a:latin typeface="Verdana"/>
                <a:ea typeface="Verdana"/>
                <a:cs typeface="Verdana"/>
                <a:sym typeface="Verdana"/>
              </a:rPr>
              <a:t>memory?</a:t>
            </a:r>
            <a:endParaRPr sz="2400">
              <a:solidFill>
                <a:schemeClr val="dk1"/>
              </a:solidFill>
              <a:latin typeface="Verdana"/>
              <a:ea typeface="Verdana"/>
              <a:cs typeface="Verdana"/>
              <a:sym typeface="Verdana"/>
            </a:endParaRPr>
          </a:p>
          <a:p>
            <a:pPr indent="-571500" lvl="0" marL="584200" marR="0" rtl="0" algn="l">
              <a:lnSpc>
                <a:spcPct val="100000"/>
              </a:lnSpc>
              <a:spcBef>
                <a:spcPts val="2020"/>
              </a:spcBef>
              <a:spcAft>
                <a:spcPts val="0"/>
              </a:spcAft>
              <a:buClr>
                <a:srgbClr val="FF0000"/>
              </a:buClr>
              <a:buSzPts val="2400"/>
              <a:buFont typeface="Verdana"/>
              <a:buAutoNum type="romanLcParenR" startAt="2"/>
            </a:pPr>
            <a:r>
              <a:rPr lang="en-US" sz="2400">
                <a:solidFill>
                  <a:schemeClr val="dk1"/>
                </a:solidFill>
                <a:latin typeface="Verdana"/>
                <a:ea typeface="Verdana"/>
                <a:cs typeface="Verdana"/>
                <a:sym typeface="Verdana"/>
              </a:rPr>
              <a:t>How many bits are needed to represent the TAG, SET</a:t>
            </a:r>
            <a:endParaRPr sz="2400">
              <a:solidFill>
                <a:schemeClr val="dk1"/>
              </a:solidFill>
              <a:latin typeface="Verdana"/>
              <a:ea typeface="Verdana"/>
              <a:cs typeface="Verdana"/>
              <a:sym typeface="Verdana"/>
            </a:endParaRPr>
          </a:p>
          <a:p>
            <a:pPr indent="0" lvl="0" marL="584200" marR="0" rtl="0" algn="l">
              <a:lnSpc>
                <a:spcPct val="100000"/>
              </a:lnSpc>
              <a:spcBef>
                <a:spcPts val="1440"/>
              </a:spcBef>
              <a:spcAft>
                <a:spcPts val="0"/>
              </a:spcAft>
              <a:buNone/>
            </a:pPr>
            <a:r>
              <a:rPr lang="en-US" sz="2400">
                <a:solidFill>
                  <a:schemeClr val="dk1"/>
                </a:solidFill>
                <a:latin typeface="Verdana"/>
                <a:ea typeface="Verdana"/>
                <a:cs typeface="Verdana"/>
                <a:sym typeface="Verdana"/>
              </a:rPr>
              <a:t>and WORD fields?</a:t>
            </a:r>
            <a:endParaRPr sz="2400">
              <a:solidFill>
                <a:schemeClr val="dk1"/>
              </a:solidFill>
              <a:latin typeface="Verdana"/>
              <a:ea typeface="Verdana"/>
              <a:cs typeface="Verdana"/>
              <a:sym typeface="Verdana"/>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88"/>
          <p:cNvSpPr txBox="1"/>
          <p:nvPr>
            <p:ph type="title"/>
          </p:nvPr>
        </p:nvSpPr>
        <p:spPr>
          <a:xfrm>
            <a:off x="485343" y="26923"/>
            <a:ext cx="3731260"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Problem statement</a:t>
            </a:r>
            <a:endParaRPr/>
          </a:p>
        </p:txBody>
      </p:sp>
      <p:sp>
        <p:nvSpPr>
          <p:cNvPr id="623" name="Google Shape;623;p88"/>
          <p:cNvSpPr txBox="1"/>
          <p:nvPr/>
        </p:nvSpPr>
        <p:spPr>
          <a:xfrm>
            <a:off x="485350" y="1115325"/>
            <a:ext cx="8444100" cy="45885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chemeClr val="dk1"/>
                </a:solidFill>
                <a:latin typeface="Verdana"/>
                <a:ea typeface="Verdana"/>
                <a:cs typeface="Verdana"/>
                <a:sym typeface="Verdana"/>
              </a:rPr>
              <a:t>A block set associative cache memory consists of 64</a:t>
            </a:r>
            <a:endParaRPr sz="2400">
              <a:solidFill>
                <a:schemeClr val="dk1"/>
              </a:solidFill>
              <a:latin typeface="Verdana"/>
              <a:ea typeface="Verdana"/>
              <a:cs typeface="Verdana"/>
              <a:sym typeface="Verdana"/>
            </a:endParaRPr>
          </a:p>
          <a:p>
            <a:pPr indent="0" lvl="0" marL="12700" marR="479425" rtl="0" algn="l">
              <a:lnSpc>
                <a:spcPct val="200000"/>
              </a:lnSpc>
              <a:spcBef>
                <a:spcPts val="0"/>
              </a:spcBef>
              <a:spcAft>
                <a:spcPts val="0"/>
              </a:spcAft>
              <a:buNone/>
            </a:pPr>
            <a:r>
              <a:rPr lang="en-US" sz="2400">
                <a:solidFill>
                  <a:schemeClr val="dk1"/>
                </a:solidFill>
                <a:latin typeface="Verdana"/>
                <a:ea typeface="Verdana"/>
                <a:cs typeface="Verdana"/>
                <a:sym typeface="Verdana"/>
              </a:rPr>
              <a:t>blocks	divided into four block sets. The main memory  consists of 4096 blocks and each block contains 128  words.</a:t>
            </a:r>
            <a:endParaRPr sz="2400">
              <a:solidFill>
                <a:schemeClr val="dk1"/>
              </a:solidFill>
              <a:latin typeface="Verdana"/>
              <a:ea typeface="Verdana"/>
              <a:cs typeface="Verdana"/>
              <a:sym typeface="Verdana"/>
            </a:endParaRPr>
          </a:p>
          <a:p>
            <a:pPr indent="0" lvl="0" marL="0" marR="0" rtl="0" algn="l">
              <a:lnSpc>
                <a:spcPct val="100000"/>
              </a:lnSpc>
              <a:spcBef>
                <a:spcPts val="55"/>
              </a:spcBef>
              <a:spcAft>
                <a:spcPts val="0"/>
              </a:spcAft>
              <a:buNone/>
            </a:pPr>
            <a:r>
              <a:t/>
            </a:r>
            <a:endParaRPr sz="2800">
              <a:solidFill>
                <a:schemeClr val="dk1"/>
              </a:solidFill>
              <a:latin typeface="Verdana"/>
              <a:ea typeface="Verdana"/>
              <a:cs typeface="Verdana"/>
              <a:sym typeface="Verdana"/>
            </a:endParaRPr>
          </a:p>
          <a:p>
            <a:pPr indent="-571500" lvl="0" marL="584200" marR="0" rtl="0" algn="l">
              <a:lnSpc>
                <a:spcPct val="100000"/>
              </a:lnSpc>
              <a:spcBef>
                <a:spcPts val="0"/>
              </a:spcBef>
              <a:spcAft>
                <a:spcPts val="0"/>
              </a:spcAft>
              <a:buClr>
                <a:srgbClr val="FF0000"/>
              </a:buClr>
              <a:buSzPts val="2400"/>
              <a:buFont typeface="Verdana"/>
              <a:buAutoNum type="romanLcParenR"/>
            </a:pPr>
            <a:r>
              <a:rPr lang="en-US" sz="2400">
                <a:solidFill>
                  <a:schemeClr val="dk1"/>
                </a:solidFill>
                <a:latin typeface="Verdana"/>
                <a:ea typeface="Verdana"/>
                <a:cs typeface="Verdana"/>
                <a:sym typeface="Verdana"/>
              </a:rPr>
              <a:t>How many bits are there in main memory?</a:t>
            </a:r>
            <a:endParaRPr sz="2400">
              <a:solidFill>
                <a:schemeClr val="dk1"/>
              </a:solidFill>
              <a:latin typeface="Verdana"/>
              <a:ea typeface="Verdana"/>
              <a:cs typeface="Verdana"/>
              <a:sym typeface="Verdana"/>
            </a:endParaRPr>
          </a:p>
          <a:p>
            <a:pPr indent="-571500" lvl="0" marL="584200" marR="5080" rtl="0" algn="l">
              <a:lnSpc>
                <a:spcPct val="200100"/>
              </a:lnSpc>
              <a:spcBef>
                <a:spcPts val="575"/>
              </a:spcBef>
              <a:spcAft>
                <a:spcPts val="0"/>
              </a:spcAft>
              <a:buClr>
                <a:srgbClr val="FF0000"/>
              </a:buClr>
              <a:buSzPts val="2400"/>
              <a:buFont typeface="Verdana"/>
              <a:buAutoNum type="romanLcParenR"/>
            </a:pPr>
            <a:r>
              <a:rPr lang="en-US" sz="2400">
                <a:solidFill>
                  <a:schemeClr val="dk1"/>
                </a:solidFill>
                <a:latin typeface="Verdana"/>
                <a:ea typeface="Verdana"/>
                <a:cs typeface="Verdana"/>
                <a:sym typeface="Verdana"/>
              </a:rPr>
              <a:t>How many bits are needed to represent the TAG, SET  and WORD fields?</a:t>
            </a:r>
            <a:endParaRPr sz="2400">
              <a:solidFill>
                <a:schemeClr val="dk1"/>
              </a:solidFill>
              <a:latin typeface="Verdana"/>
              <a:ea typeface="Verdana"/>
              <a:cs typeface="Verdana"/>
              <a:sym typeface="Verdana"/>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89"/>
          <p:cNvSpPr txBox="1"/>
          <p:nvPr>
            <p:ph type="title"/>
          </p:nvPr>
        </p:nvSpPr>
        <p:spPr>
          <a:xfrm>
            <a:off x="485343" y="484073"/>
            <a:ext cx="4011295"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CACHE COHERENCE</a:t>
            </a:r>
            <a:endParaRPr/>
          </a:p>
        </p:txBody>
      </p:sp>
      <p:pic>
        <p:nvPicPr>
          <p:cNvPr id="629" name="Google Shape;629;p89"/>
          <p:cNvPicPr preferRelativeResize="0"/>
          <p:nvPr/>
        </p:nvPicPr>
        <p:blipFill rotWithShape="1">
          <a:blip r:embed="rId3">
            <a:alphaModFix/>
          </a:blip>
          <a:srcRect b="0" l="0" r="0" t="0"/>
          <a:stretch/>
        </p:blipFill>
        <p:spPr>
          <a:xfrm>
            <a:off x="484094" y="1066800"/>
            <a:ext cx="7562850" cy="3114675"/>
          </a:xfrm>
          <a:prstGeom prst="rect">
            <a:avLst/>
          </a:prstGeom>
          <a:noFill/>
          <a:ln>
            <a:noFill/>
          </a:ln>
        </p:spPr>
      </p:pic>
      <p:sp>
        <p:nvSpPr>
          <p:cNvPr id="630" name="Google Shape;630;p89"/>
          <p:cNvSpPr txBox="1"/>
          <p:nvPr/>
        </p:nvSpPr>
        <p:spPr>
          <a:xfrm>
            <a:off x="555812" y="4343400"/>
            <a:ext cx="8305800" cy="2031325"/>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In a multiprocessor system, </a:t>
            </a:r>
            <a:r>
              <a:rPr b="1" lang="en-US" sz="1800">
                <a:solidFill>
                  <a:schemeClr val="dk1"/>
                </a:solidFill>
                <a:latin typeface="Times New Roman"/>
                <a:ea typeface="Times New Roman"/>
                <a:cs typeface="Times New Roman"/>
                <a:sym typeface="Times New Roman"/>
              </a:rPr>
              <a:t>data inconsistency </a:t>
            </a:r>
            <a:r>
              <a:rPr lang="en-US" sz="1800">
                <a:solidFill>
                  <a:schemeClr val="dk1"/>
                </a:solidFill>
                <a:latin typeface="Times New Roman"/>
                <a:ea typeface="Times New Roman"/>
                <a:cs typeface="Times New Roman"/>
                <a:sym typeface="Times New Roman"/>
              </a:rPr>
              <a:t>may occur among adjacent levels or within the same level of the memory hierarchy.</a:t>
            </a:r>
            <a:endParaRPr/>
          </a:p>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it is possible to have </a:t>
            </a:r>
            <a:r>
              <a:rPr b="1" lang="en-US" sz="1800">
                <a:solidFill>
                  <a:schemeClr val="dk1"/>
                </a:solidFill>
                <a:latin typeface="Times New Roman"/>
                <a:ea typeface="Times New Roman"/>
                <a:cs typeface="Times New Roman"/>
                <a:sym typeface="Times New Roman"/>
              </a:rPr>
              <a:t>many copies of any one instruction operand: one copy in the main memory and one in each cache memory</a:t>
            </a:r>
            <a:r>
              <a:rPr lang="en-US" sz="1800">
                <a:solidFill>
                  <a:schemeClr val="dk1"/>
                </a:solidFill>
                <a:latin typeface="Times New Roman"/>
                <a:ea typeface="Times New Roman"/>
                <a:cs typeface="Times New Roman"/>
                <a:sym typeface="Times New Roman"/>
              </a:rPr>
              <a:t>. </a:t>
            </a:r>
            <a:endParaRPr/>
          </a:p>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When one copy of an operand is changed, the other copies of the operand must be changed also. </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90"/>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636" name="Google Shape;636;p90"/>
          <p:cNvSpPr txBox="1"/>
          <p:nvPr>
            <p:ph idx="1" type="body"/>
          </p:nvPr>
        </p:nvSpPr>
        <p:spPr>
          <a:xfrm>
            <a:off x="533400" y="1752600"/>
            <a:ext cx="8093710" cy="2585323"/>
          </a:xfrm>
          <a:prstGeom prst="rect">
            <a:avLst/>
          </a:prstGeom>
          <a:noFill/>
          <a:ln>
            <a:noFill/>
          </a:ln>
        </p:spPr>
        <p:txBody>
          <a:bodyPr anchorCtr="0" anchor="t" bIns="0" lIns="0" spcFirstLastPara="1" rIns="0" wrap="square" tIns="0">
            <a:spAutoFit/>
          </a:bodyPr>
          <a:lstStyle/>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When a block that is resident in the cache is to be replaced, there are two cases to consider. </a:t>
            </a:r>
            <a:endParaRPr>
              <a:latin typeface="Times New Roman"/>
              <a:ea typeface="Times New Roman"/>
              <a:cs typeface="Times New Roman"/>
              <a:sym typeface="Times New Roman"/>
            </a:endParaRPr>
          </a:p>
          <a:p>
            <a:pPr indent="0" lvl="0" marL="0" rtl="0" algn="just">
              <a:spcBef>
                <a:spcPts val="0"/>
              </a:spcBef>
              <a:spcAft>
                <a:spcPts val="0"/>
              </a:spcAft>
              <a:buNone/>
            </a:pPr>
            <a:r>
              <a:t/>
            </a:r>
            <a:endParaRPr>
              <a:latin typeface="Times New Roman"/>
              <a:ea typeface="Times New Roman"/>
              <a:cs typeface="Times New Roman"/>
              <a:sym typeface="Times New Roman"/>
            </a:endParaRPr>
          </a:p>
          <a:p>
            <a:pPr indent="-342900" lvl="1" marL="800100" rtl="0" algn="just">
              <a:spcBef>
                <a:spcPts val="0"/>
              </a:spcBef>
              <a:spcAft>
                <a:spcPts val="0"/>
              </a:spcAft>
              <a:buSzPts val="1800"/>
              <a:buFont typeface="Arial"/>
              <a:buChar char="•"/>
            </a:pPr>
            <a:r>
              <a:rPr lang="en-US">
                <a:latin typeface="Times New Roman"/>
                <a:ea typeface="Times New Roman"/>
                <a:cs typeface="Times New Roman"/>
                <a:sym typeface="Times New Roman"/>
              </a:rPr>
              <a:t>If the old block in the cache has not been altered, then it may be overwritten with a new block without first writing out the old block. </a:t>
            </a:r>
            <a:endParaRPr>
              <a:latin typeface="Times New Roman"/>
              <a:ea typeface="Times New Roman"/>
              <a:cs typeface="Times New Roman"/>
              <a:sym typeface="Times New Roman"/>
            </a:endParaRPr>
          </a:p>
          <a:p>
            <a:pPr indent="0" lvl="1" marL="457200" rtl="0" algn="just">
              <a:spcBef>
                <a:spcPts val="0"/>
              </a:spcBef>
              <a:spcAft>
                <a:spcPts val="0"/>
              </a:spcAft>
              <a:buNone/>
            </a:pPr>
            <a:r>
              <a:t/>
            </a:r>
            <a:endParaRPr>
              <a:latin typeface="Times New Roman"/>
              <a:ea typeface="Times New Roman"/>
              <a:cs typeface="Times New Roman"/>
              <a:sym typeface="Times New Roman"/>
            </a:endParaRPr>
          </a:p>
          <a:p>
            <a:pPr indent="-342900" lvl="1" marL="800100" rtl="0" algn="just">
              <a:spcBef>
                <a:spcPts val="0"/>
              </a:spcBef>
              <a:spcAft>
                <a:spcPts val="0"/>
              </a:spcAft>
              <a:buSzPts val="1800"/>
              <a:buFont typeface="Arial"/>
              <a:buChar char="•"/>
            </a:pPr>
            <a:r>
              <a:rPr lang="en-US">
                <a:latin typeface="Times New Roman"/>
                <a:ea typeface="Times New Roman"/>
                <a:cs typeface="Times New Roman"/>
                <a:sym typeface="Times New Roman"/>
              </a:rPr>
              <a:t>If at least one write operation has been performed on a word in that line of the cache, then </a:t>
            </a:r>
            <a:r>
              <a:rPr b="1" lang="en-US">
                <a:latin typeface="Times New Roman"/>
                <a:ea typeface="Times New Roman"/>
                <a:cs typeface="Times New Roman"/>
                <a:sym typeface="Times New Roman"/>
              </a:rPr>
              <a:t>main memory must be updated by writing the line of cache out to the block of memory before bringing in the new block</a:t>
            </a:r>
            <a:r>
              <a:rPr lang="en-US">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91"/>
          <p:cNvSpPr txBox="1"/>
          <p:nvPr>
            <p:ph type="title"/>
          </p:nvPr>
        </p:nvSpPr>
        <p:spPr>
          <a:xfrm>
            <a:off x="485343" y="484073"/>
            <a:ext cx="3453129"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Cache Coherence</a:t>
            </a:r>
            <a:endParaRPr/>
          </a:p>
        </p:txBody>
      </p:sp>
      <p:sp>
        <p:nvSpPr>
          <p:cNvPr id="642" name="Google Shape;642;p91"/>
          <p:cNvSpPr txBox="1"/>
          <p:nvPr/>
        </p:nvSpPr>
        <p:spPr>
          <a:xfrm>
            <a:off x="78750" y="1132825"/>
            <a:ext cx="8784000" cy="5464800"/>
          </a:xfrm>
          <a:prstGeom prst="rect">
            <a:avLst/>
          </a:prstGeom>
          <a:noFill/>
          <a:ln>
            <a:noFill/>
          </a:ln>
        </p:spPr>
        <p:txBody>
          <a:bodyPr anchorCtr="0" anchor="t" bIns="0" lIns="0" spcFirstLastPara="1" rIns="0" wrap="square" tIns="12050">
            <a:spAutoFit/>
          </a:bodyPr>
          <a:lstStyle/>
          <a:p>
            <a:pPr indent="-342900" lvl="0" marL="355600" marR="0" rtl="0" algn="l">
              <a:lnSpc>
                <a:spcPct val="100000"/>
              </a:lnSpc>
              <a:spcBef>
                <a:spcPts val="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Problem - multiple copies of same data in</a:t>
            </a:r>
            <a:endParaRPr sz="2800">
              <a:solidFill>
                <a:schemeClr val="dk1"/>
              </a:solidFill>
              <a:latin typeface="Verdana"/>
              <a:ea typeface="Verdana"/>
              <a:cs typeface="Verdana"/>
              <a:sym typeface="Verdana"/>
            </a:endParaRPr>
          </a:p>
          <a:p>
            <a:pPr indent="0" lvl="0" marL="0" marR="0" rtl="0" algn="l">
              <a:lnSpc>
                <a:spcPct val="100000"/>
              </a:lnSpc>
              <a:spcBef>
                <a:spcPts val="20"/>
              </a:spcBef>
              <a:spcAft>
                <a:spcPts val="0"/>
              </a:spcAft>
              <a:buClr>
                <a:srgbClr val="FF0000"/>
              </a:buClr>
              <a:buSzPts val="2750"/>
              <a:buFont typeface="Verdana"/>
              <a:buNone/>
            </a:pPr>
            <a:r>
              <a:t/>
            </a:r>
            <a:endParaRPr sz="2750">
              <a:solidFill>
                <a:schemeClr val="dk1"/>
              </a:solidFill>
              <a:latin typeface="Verdana"/>
              <a:ea typeface="Verdana"/>
              <a:cs typeface="Verdana"/>
              <a:sym typeface="Verdana"/>
            </a:endParaRPr>
          </a:p>
          <a:p>
            <a:pPr indent="0" lvl="0" marL="355600" marR="0" rtl="0" algn="l">
              <a:lnSpc>
                <a:spcPct val="100000"/>
              </a:lnSpc>
              <a:spcBef>
                <a:spcPts val="0"/>
              </a:spcBef>
              <a:spcAft>
                <a:spcPts val="0"/>
              </a:spcAft>
              <a:buNone/>
            </a:pPr>
            <a:r>
              <a:rPr lang="en-US" sz="2800">
                <a:solidFill>
                  <a:schemeClr val="dk1"/>
                </a:solidFill>
                <a:latin typeface="Verdana"/>
                <a:ea typeface="Verdana"/>
                <a:cs typeface="Verdana"/>
                <a:sym typeface="Verdana"/>
              </a:rPr>
              <a:t>different caches</a:t>
            </a:r>
            <a:endParaRPr sz="2800">
              <a:solidFill>
                <a:schemeClr val="dk1"/>
              </a:solidFill>
              <a:latin typeface="Verdana"/>
              <a:ea typeface="Verdana"/>
              <a:cs typeface="Verdana"/>
              <a:sym typeface="Verdana"/>
            </a:endParaRPr>
          </a:p>
          <a:p>
            <a:pPr indent="0" lvl="0" marL="0" marR="0" rtl="0" algn="l">
              <a:lnSpc>
                <a:spcPct val="100000"/>
              </a:lnSpc>
              <a:spcBef>
                <a:spcPts val="25"/>
              </a:spcBef>
              <a:spcAft>
                <a:spcPts val="0"/>
              </a:spcAft>
              <a:buNone/>
            </a:pPr>
            <a:r>
              <a:t/>
            </a:r>
            <a:endParaRPr sz="3300">
              <a:solidFill>
                <a:schemeClr val="dk1"/>
              </a:solidFill>
              <a:latin typeface="Verdana"/>
              <a:ea typeface="Verdana"/>
              <a:cs typeface="Verdana"/>
              <a:sym typeface="Verdana"/>
            </a:endParaRPr>
          </a:p>
          <a:p>
            <a:pPr indent="-342900" lvl="0" marL="355600" marR="0" rtl="0" algn="l">
              <a:lnSpc>
                <a:spcPct val="100000"/>
              </a:lnSpc>
              <a:spcBef>
                <a:spcPts val="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Can result in an </a:t>
            </a:r>
            <a:r>
              <a:rPr b="1" lang="en-US" sz="2800">
                <a:solidFill>
                  <a:srgbClr val="FF0000"/>
                </a:solidFill>
                <a:latin typeface="Verdana"/>
                <a:ea typeface="Verdana"/>
                <a:cs typeface="Verdana"/>
                <a:sym typeface="Verdana"/>
              </a:rPr>
              <a:t>inconsistent </a:t>
            </a:r>
            <a:r>
              <a:rPr lang="en-US" sz="2800">
                <a:solidFill>
                  <a:schemeClr val="dk1"/>
                </a:solidFill>
                <a:latin typeface="Verdana"/>
                <a:ea typeface="Verdana"/>
                <a:cs typeface="Verdana"/>
                <a:sym typeface="Verdana"/>
              </a:rPr>
              <a:t>view of memory</a:t>
            </a:r>
            <a:endParaRPr sz="2950">
              <a:solidFill>
                <a:schemeClr val="dk1"/>
              </a:solidFill>
              <a:latin typeface="Verdana"/>
              <a:ea typeface="Verdana"/>
              <a:cs typeface="Verdana"/>
              <a:sym typeface="Verdana"/>
            </a:endParaRPr>
          </a:p>
          <a:p>
            <a:pPr indent="0" lvl="0" marL="469900" marR="0" rtl="0" algn="l">
              <a:lnSpc>
                <a:spcPct val="100000"/>
              </a:lnSpc>
              <a:spcBef>
                <a:spcPts val="0"/>
              </a:spcBef>
              <a:spcAft>
                <a:spcPts val="0"/>
              </a:spcAft>
              <a:buNone/>
            </a:pPr>
            <a:r>
              <a:rPr lang="en-US" sz="2400">
                <a:solidFill>
                  <a:srgbClr val="FF0000"/>
                </a:solidFill>
                <a:latin typeface="Verdana"/>
                <a:ea typeface="Verdana"/>
                <a:cs typeface="Verdana"/>
                <a:sym typeface="Verdana"/>
              </a:rPr>
              <a:t>—Write through</a:t>
            </a:r>
            <a:endParaRPr sz="2400">
              <a:solidFill>
                <a:schemeClr val="dk1"/>
              </a:solidFill>
              <a:latin typeface="Verdana"/>
              <a:ea typeface="Verdana"/>
              <a:cs typeface="Verdana"/>
              <a:sym typeface="Verdana"/>
            </a:endParaRPr>
          </a:p>
          <a:p>
            <a:pPr indent="0" lvl="0" marL="0" marR="0" rtl="0" algn="l">
              <a:lnSpc>
                <a:spcPct val="100000"/>
              </a:lnSpc>
              <a:spcBef>
                <a:spcPts val="55"/>
              </a:spcBef>
              <a:spcAft>
                <a:spcPts val="0"/>
              </a:spcAft>
              <a:buNone/>
            </a:pPr>
            <a:r>
              <a:t/>
            </a:r>
            <a:endParaRPr sz="2800">
              <a:solidFill>
                <a:schemeClr val="dk1"/>
              </a:solidFill>
              <a:latin typeface="Verdana"/>
              <a:ea typeface="Verdana"/>
              <a:cs typeface="Verdana"/>
              <a:sym typeface="Verdana"/>
            </a:endParaRPr>
          </a:p>
          <a:p>
            <a:pPr indent="0" lvl="0" marL="469900" marR="0" rtl="0" algn="l">
              <a:lnSpc>
                <a:spcPct val="100000"/>
              </a:lnSpc>
              <a:spcBef>
                <a:spcPts val="0"/>
              </a:spcBef>
              <a:spcAft>
                <a:spcPts val="0"/>
              </a:spcAft>
              <a:buNone/>
            </a:pPr>
            <a:r>
              <a:rPr lang="en-US" sz="2400">
                <a:solidFill>
                  <a:srgbClr val="FF0000"/>
                </a:solidFill>
                <a:latin typeface="Verdana"/>
                <a:ea typeface="Verdana"/>
                <a:cs typeface="Verdana"/>
                <a:sym typeface="Verdana"/>
              </a:rPr>
              <a:t>—Write back policy</a:t>
            </a:r>
            <a:endParaRPr sz="2400">
              <a:solidFill>
                <a:schemeClr val="dk1"/>
              </a:solidFill>
              <a:latin typeface="Verdana"/>
              <a:ea typeface="Verdana"/>
              <a:cs typeface="Verdana"/>
              <a:sym typeface="Verdana"/>
            </a:endParaRPr>
          </a:p>
          <a:p>
            <a:pPr indent="0" lvl="0" marL="0" marR="0" rtl="0" algn="l">
              <a:lnSpc>
                <a:spcPct val="100000"/>
              </a:lnSpc>
              <a:spcBef>
                <a:spcPts val="55"/>
              </a:spcBef>
              <a:spcAft>
                <a:spcPts val="0"/>
              </a:spcAft>
              <a:buNone/>
            </a:pPr>
            <a:r>
              <a:t/>
            </a:r>
            <a:endParaRPr sz="2800">
              <a:solidFill>
                <a:schemeClr val="dk1"/>
              </a:solidFill>
              <a:latin typeface="Verdana"/>
              <a:ea typeface="Verdana"/>
              <a:cs typeface="Verdana"/>
              <a:sym typeface="Verdana"/>
            </a:endParaRPr>
          </a:p>
          <a:p>
            <a:pPr indent="0" lvl="0" marL="469900" marR="0" rtl="0" algn="l">
              <a:lnSpc>
                <a:spcPct val="100000"/>
              </a:lnSpc>
              <a:spcBef>
                <a:spcPts val="0"/>
              </a:spcBef>
              <a:spcAft>
                <a:spcPts val="0"/>
              </a:spcAft>
              <a:buNone/>
            </a:pPr>
            <a:r>
              <a:rPr lang="en-US" sz="2400">
                <a:solidFill>
                  <a:srgbClr val="FF0000"/>
                </a:solidFill>
                <a:latin typeface="Verdana"/>
                <a:ea typeface="Verdana"/>
                <a:cs typeface="Verdana"/>
                <a:sym typeface="Verdana"/>
              </a:rPr>
              <a:t>—Write invalidate</a:t>
            </a:r>
            <a:endParaRPr sz="2400">
              <a:solidFill>
                <a:schemeClr val="dk1"/>
              </a:solidFill>
              <a:latin typeface="Verdana"/>
              <a:ea typeface="Verdana"/>
              <a:cs typeface="Verdana"/>
              <a:sym typeface="Verdana"/>
            </a:endParaRPr>
          </a:p>
          <a:p>
            <a:pPr indent="0" lvl="0" marL="0" marR="0" rtl="0" algn="l">
              <a:lnSpc>
                <a:spcPct val="100000"/>
              </a:lnSpc>
              <a:spcBef>
                <a:spcPts val="55"/>
              </a:spcBef>
              <a:spcAft>
                <a:spcPts val="0"/>
              </a:spcAft>
              <a:buNone/>
            </a:pPr>
            <a:r>
              <a:t/>
            </a:r>
            <a:endParaRPr sz="2800">
              <a:solidFill>
                <a:schemeClr val="dk1"/>
              </a:solidFill>
              <a:latin typeface="Verdana"/>
              <a:ea typeface="Verdana"/>
              <a:cs typeface="Verdana"/>
              <a:sym typeface="Verdana"/>
            </a:endParaRPr>
          </a:p>
          <a:p>
            <a:pPr indent="0" lvl="0" marL="469900" marR="0" rtl="0" algn="l">
              <a:lnSpc>
                <a:spcPct val="100000"/>
              </a:lnSpc>
              <a:spcBef>
                <a:spcPts val="0"/>
              </a:spcBef>
              <a:spcAft>
                <a:spcPts val="0"/>
              </a:spcAft>
              <a:buNone/>
            </a:pPr>
            <a:r>
              <a:rPr lang="en-US" sz="2400">
                <a:solidFill>
                  <a:srgbClr val="FF0000"/>
                </a:solidFill>
                <a:latin typeface="Verdana"/>
                <a:ea typeface="Verdana"/>
                <a:cs typeface="Verdana"/>
                <a:sym typeface="Verdana"/>
              </a:rPr>
              <a:t>—Write Update</a:t>
            </a:r>
            <a:endParaRPr sz="2400">
              <a:solidFill>
                <a:schemeClr val="dk1"/>
              </a:solidFill>
              <a:latin typeface="Verdana"/>
              <a:ea typeface="Verdana"/>
              <a:cs typeface="Verdana"/>
              <a:sym typeface="Verdana"/>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92"/>
          <p:cNvSpPr txBox="1"/>
          <p:nvPr>
            <p:ph type="title"/>
          </p:nvPr>
        </p:nvSpPr>
        <p:spPr>
          <a:xfrm>
            <a:off x="485343" y="57404"/>
            <a:ext cx="8173313" cy="399796"/>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648" name="Google Shape;648;p92"/>
          <p:cNvSpPr txBox="1"/>
          <p:nvPr>
            <p:ph idx="1" type="body"/>
          </p:nvPr>
        </p:nvSpPr>
        <p:spPr>
          <a:xfrm>
            <a:off x="560233" y="342900"/>
            <a:ext cx="8093710" cy="7694414"/>
          </a:xfrm>
          <a:prstGeom prst="rect">
            <a:avLst/>
          </a:prstGeom>
          <a:noFill/>
          <a:ln>
            <a:noFill/>
          </a:ln>
        </p:spPr>
        <p:txBody>
          <a:bodyPr anchorCtr="0" anchor="t" bIns="0" lIns="0" spcFirstLastPara="1" rIns="0" wrap="square" tIns="0">
            <a:spAutoFit/>
          </a:bodyPr>
          <a:lstStyle/>
          <a:p>
            <a:pPr indent="0" lvl="0" marL="0" rtl="0" algn="just">
              <a:spcBef>
                <a:spcPts val="0"/>
              </a:spcBef>
              <a:spcAft>
                <a:spcPts val="0"/>
              </a:spcAft>
              <a:buNone/>
            </a:pPr>
            <a:r>
              <a:rPr lang="en-US">
                <a:solidFill>
                  <a:srgbClr val="FF0000"/>
                </a:solidFill>
                <a:latin typeface="Times New Roman"/>
                <a:ea typeface="Times New Roman"/>
                <a:cs typeface="Times New Roman"/>
                <a:sym typeface="Times New Roman"/>
              </a:rPr>
              <a:t>Write through</a:t>
            </a:r>
            <a:endParaRPr>
              <a:latin typeface="Times New Roman"/>
              <a:ea typeface="Times New Roman"/>
              <a:cs typeface="Times New Roman"/>
              <a:sym typeface="Times New Roman"/>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Every memory write operation updates the main memory. </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If the word is present in the cache memory at the requested address, the cache memory is also updated simultaneously with the main memory.</a:t>
            </a:r>
            <a:endParaRPr/>
          </a:p>
          <a:p>
            <a:pPr indent="0" lvl="0" marL="0" rtl="0" algn="just">
              <a:spcBef>
                <a:spcPts val="0"/>
              </a:spcBef>
              <a:spcAft>
                <a:spcPts val="0"/>
              </a:spcAft>
              <a:buNone/>
            </a:pPr>
            <a:r>
              <a:rPr lang="en-US">
                <a:solidFill>
                  <a:srgbClr val="FF0000"/>
                </a:solidFill>
                <a:latin typeface="Times New Roman"/>
                <a:ea typeface="Times New Roman"/>
                <a:cs typeface="Times New Roman"/>
                <a:sym typeface="Times New Roman"/>
              </a:rPr>
              <a:t>Write back policy</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Write operations are usually made only to the cache. </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Main memory is only updated when the corresponding cache line is evicted from the cache.</a:t>
            </a:r>
            <a:endParaRPr/>
          </a:p>
          <a:p>
            <a:pPr indent="-342900" lvl="0" marL="342900" rtl="0" algn="just">
              <a:spcBef>
                <a:spcPts val="0"/>
              </a:spcBef>
              <a:spcAft>
                <a:spcPts val="0"/>
              </a:spcAft>
              <a:buClr>
                <a:srgbClr val="FF0000"/>
              </a:buClr>
              <a:buSzPts val="2000"/>
              <a:buFont typeface="Arial"/>
              <a:buChar char="•"/>
            </a:pPr>
            <a:r>
              <a:rPr lang="en-US">
                <a:solidFill>
                  <a:srgbClr val="FF0000"/>
                </a:solidFill>
              </a:rPr>
              <a:t>Write invalidate</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the immediate sending of the updated cache block to the other cache is not done.</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 Simply, an invalidate command is sent to all the other cache copies &amp; also to the original version in the shared memory so that all of their copies of data become invalid. It is denoted by ‘I’ and I specifies  invalid / dirty data</a:t>
            </a:r>
            <a:r>
              <a:rPr lang="en-US">
                <a:solidFill>
                  <a:srgbClr val="FF0000"/>
                </a:solidFill>
              </a:rPr>
              <a:t>. </a:t>
            </a:r>
            <a:endParaRPr>
              <a:solidFill>
                <a:srgbClr val="FF0000"/>
              </a:solidFill>
            </a:endParaRPr>
          </a:p>
          <a:p>
            <a:pPr indent="-342900" lvl="0" marL="342900" rtl="0" algn="just">
              <a:spcBef>
                <a:spcPts val="0"/>
              </a:spcBef>
              <a:spcAft>
                <a:spcPts val="0"/>
              </a:spcAft>
              <a:buClr>
                <a:srgbClr val="FF0000"/>
              </a:buClr>
              <a:buSzPts val="2000"/>
              <a:buFont typeface="Arial"/>
              <a:buChar char="•"/>
            </a:pPr>
            <a:r>
              <a:rPr lang="en-US">
                <a:solidFill>
                  <a:srgbClr val="FF0000"/>
                </a:solidFill>
              </a:rPr>
              <a:t>Write Update</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if a processor updates its cache data, it </a:t>
            </a:r>
            <a:r>
              <a:rPr b="1" lang="en-US">
                <a:latin typeface="Times New Roman"/>
                <a:ea typeface="Times New Roman"/>
                <a:cs typeface="Times New Roman"/>
                <a:sym typeface="Times New Roman"/>
              </a:rPr>
              <a:t>immediately updates all the other cached copies also. </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The broadcast mechanism is used to send the new data block to all the cache having the copies.</a:t>
            </a:r>
            <a:endParaRPr>
              <a:latin typeface="Times New Roman"/>
              <a:ea typeface="Times New Roman"/>
              <a:cs typeface="Times New Roman"/>
              <a:sym typeface="Times New Roman"/>
            </a:endParaRPr>
          </a:p>
          <a:p>
            <a:pPr indent="-215900" lvl="0" marL="342900" rtl="0" algn="just">
              <a:spcBef>
                <a:spcPts val="0"/>
              </a:spcBef>
              <a:spcAft>
                <a:spcPts val="0"/>
              </a:spcAft>
              <a:buClr>
                <a:schemeClr val="dk1"/>
              </a:buClr>
              <a:buSzPts val="2000"/>
              <a:buFont typeface="Arial"/>
              <a:buNone/>
            </a:pPr>
            <a:r>
              <a:t/>
            </a:r>
            <a:endParaRPr/>
          </a:p>
          <a:p>
            <a:pPr indent="-215900" lvl="0" marL="342900" rtl="0" algn="just">
              <a:spcBef>
                <a:spcPts val="0"/>
              </a:spcBef>
              <a:spcAft>
                <a:spcPts val="0"/>
              </a:spcAft>
              <a:buClr>
                <a:schemeClr val="dk1"/>
              </a:buClr>
              <a:buSzPts val="2000"/>
              <a:buFont typeface="Arial"/>
              <a:buNone/>
            </a:pPr>
            <a:r>
              <a:t/>
            </a:r>
            <a:endParaRPr>
              <a:latin typeface="Times New Roman"/>
              <a:ea typeface="Times New Roman"/>
              <a:cs typeface="Times New Roman"/>
              <a:sym typeface="Times New Roman"/>
            </a:endParaRPr>
          </a:p>
          <a:p>
            <a:pPr indent="0" lvl="0" marL="0" rtl="0" algn="just">
              <a:spcBef>
                <a:spcPts val="0"/>
              </a:spcBef>
              <a:spcAft>
                <a:spcPts val="0"/>
              </a:spcAft>
              <a:buNone/>
            </a:pPr>
            <a:r>
              <a:t/>
            </a:r>
            <a:endParaRPr>
              <a:latin typeface="Times New Roman"/>
              <a:ea typeface="Times New Roman"/>
              <a:cs typeface="Times New Roman"/>
              <a:sym typeface="Times New Roman"/>
            </a:endParaRPr>
          </a:p>
          <a:p>
            <a:pPr indent="0" lvl="0" marL="0" rtl="0" algn="just">
              <a:spcBef>
                <a:spcPts val="0"/>
              </a:spcBef>
              <a:spcAft>
                <a:spcPts val="0"/>
              </a:spcAft>
              <a:buNone/>
            </a:pPr>
            <a:r>
              <a:t/>
            </a:r>
            <a:endParaRPr>
              <a:latin typeface="Times New Roman"/>
              <a:ea typeface="Times New Roman"/>
              <a:cs typeface="Times New Roman"/>
              <a:sym typeface="Times New Roman"/>
            </a:endParaRPr>
          </a:p>
          <a:p>
            <a:pPr indent="0" lvl="0" marL="0" rtl="0" algn="just">
              <a:spcBef>
                <a:spcPts val="0"/>
              </a:spcBef>
              <a:spcAft>
                <a:spcPts val="0"/>
              </a:spcAft>
              <a:buNone/>
            </a:pPr>
            <a:r>
              <a:t/>
            </a:r>
            <a:endParaRPr>
              <a:latin typeface="Times New Roman"/>
              <a:ea typeface="Times New Roman"/>
              <a:cs typeface="Times New Roman"/>
              <a:sym typeface="Times New Roman"/>
            </a:endParaRPr>
          </a:p>
          <a:p>
            <a:pPr indent="0" lvl="0" marL="0" rtl="0" algn="just">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93"/>
          <p:cNvSpPr txBox="1"/>
          <p:nvPr>
            <p:ph type="title"/>
          </p:nvPr>
        </p:nvSpPr>
        <p:spPr>
          <a:xfrm>
            <a:off x="381000" y="304800"/>
            <a:ext cx="8077200" cy="44307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latin typeface="Times New Roman"/>
                <a:ea typeface="Times New Roman"/>
                <a:cs typeface="Times New Roman"/>
                <a:sym typeface="Times New Roman"/>
              </a:rPr>
              <a:t>Cache coherence approaches-Software Solutions</a:t>
            </a:r>
            <a:endParaRPr/>
          </a:p>
        </p:txBody>
      </p:sp>
      <p:sp>
        <p:nvSpPr>
          <p:cNvPr id="654" name="Google Shape;654;p93"/>
          <p:cNvSpPr txBox="1"/>
          <p:nvPr/>
        </p:nvSpPr>
        <p:spPr>
          <a:xfrm>
            <a:off x="228600" y="1524000"/>
            <a:ext cx="8585200" cy="2855718"/>
          </a:xfrm>
          <a:prstGeom prst="rect">
            <a:avLst/>
          </a:prstGeom>
          <a:noFill/>
          <a:ln>
            <a:noFill/>
          </a:ln>
        </p:spPr>
        <p:txBody>
          <a:bodyPr anchorCtr="0" anchor="t" bIns="0" lIns="0" spcFirstLastPara="1" rIns="0" wrap="square" tIns="12700">
            <a:spAutoFit/>
          </a:bodyPr>
          <a:lstStyle/>
          <a:p>
            <a:pPr indent="-342900" lvl="0" marL="355600" marR="0" rtl="0" algn="just">
              <a:lnSpc>
                <a:spcPct val="100000"/>
              </a:lnSpc>
              <a:spcBef>
                <a:spcPts val="0"/>
              </a:spcBef>
              <a:spcAft>
                <a:spcPts val="0"/>
              </a:spcAft>
              <a:buClr>
                <a:srgbClr val="FF0000"/>
              </a:buClr>
              <a:buSzPts val="2000"/>
              <a:buFont typeface="Verdana"/>
              <a:buChar char="•"/>
            </a:pPr>
            <a:r>
              <a:rPr b="1" lang="en-US" sz="2000">
                <a:solidFill>
                  <a:schemeClr val="dk1"/>
                </a:solidFill>
                <a:latin typeface="Times New Roman"/>
                <a:ea typeface="Times New Roman"/>
                <a:cs typeface="Times New Roman"/>
                <a:sym typeface="Times New Roman"/>
              </a:rPr>
              <a:t>Compiler and operating system </a:t>
            </a:r>
            <a:r>
              <a:rPr lang="en-US" sz="2000">
                <a:solidFill>
                  <a:schemeClr val="dk1"/>
                </a:solidFill>
                <a:latin typeface="Times New Roman"/>
                <a:ea typeface="Times New Roman"/>
                <a:cs typeface="Times New Roman"/>
                <a:sym typeface="Times New Roman"/>
              </a:rPr>
              <a:t>deal with problem</a:t>
            </a:r>
            <a:endParaRPr sz="2000">
              <a:solidFill>
                <a:schemeClr val="dk1"/>
              </a:solidFill>
              <a:latin typeface="Times New Roman"/>
              <a:ea typeface="Times New Roman"/>
              <a:cs typeface="Times New Roman"/>
              <a:sym typeface="Times New Roman"/>
            </a:endParaRPr>
          </a:p>
          <a:p>
            <a:pPr indent="0" lvl="0" marL="0" marR="0" rtl="0" algn="just">
              <a:lnSpc>
                <a:spcPct val="100000"/>
              </a:lnSpc>
              <a:spcBef>
                <a:spcPts val="55"/>
              </a:spcBef>
              <a:spcAft>
                <a:spcPts val="0"/>
              </a:spcAft>
              <a:buClr>
                <a:srgbClr val="FF0000"/>
              </a:buClr>
              <a:buSzPts val="2000"/>
              <a:buFont typeface="Verdana"/>
              <a:buNone/>
            </a:pPr>
            <a:r>
              <a:t/>
            </a:r>
            <a:endParaRPr sz="2000">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0"/>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Overhead of detecting potential problems transferred to compile time</a:t>
            </a:r>
            <a:endParaRPr sz="2000">
              <a:solidFill>
                <a:schemeClr val="dk1"/>
              </a:solidFill>
              <a:latin typeface="Times New Roman"/>
              <a:ea typeface="Times New Roman"/>
              <a:cs typeface="Times New Roman"/>
              <a:sym typeface="Times New Roman"/>
            </a:endParaRPr>
          </a:p>
          <a:p>
            <a:pPr indent="-342900" lvl="0" marL="355600" marR="589915" rtl="0" algn="just">
              <a:lnSpc>
                <a:spcPct val="200000"/>
              </a:lnSpc>
              <a:spcBef>
                <a:spcPts val="580"/>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Complier </a:t>
            </a:r>
            <a:r>
              <a:rPr lang="en-US" sz="2000">
                <a:solidFill>
                  <a:srgbClr val="FF0000"/>
                </a:solidFill>
                <a:latin typeface="Times New Roman"/>
                <a:ea typeface="Times New Roman"/>
                <a:cs typeface="Times New Roman"/>
                <a:sym typeface="Times New Roman"/>
              </a:rPr>
              <a:t>marks </a:t>
            </a:r>
            <a:r>
              <a:rPr lang="en-US" sz="2000">
                <a:solidFill>
                  <a:schemeClr val="dk1"/>
                </a:solidFill>
                <a:latin typeface="Times New Roman"/>
                <a:ea typeface="Times New Roman"/>
                <a:cs typeface="Times New Roman"/>
                <a:sym typeface="Times New Roman"/>
              </a:rPr>
              <a:t>data likely to be changed and OS  prevents such data from being cached</a:t>
            </a:r>
            <a:endParaRPr sz="2000">
              <a:solidFill>
                <a:schemeClr val="dk1"/>
              </a:solidFill>
              <a:latin typeface="Times New Roman"/>
              <a:ea typeface="Times New Roman"/>
              <a:cs typeface="Times New Roman"/>
              <a:sym typeface="Times New Roman"/>
            </a:endParaRPr>
          </a:p>
          <a:p>
            <a:pPr indent="-342900" lvl="0" marL="355600" marR="807720" rtl="0" algn="just">
              <a:lnSpc>
                <a:spcPct val="200000"/>
              </a:lnSpc>
              <a:spcBef>
                <a:spcPts val="575"/>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Design complexity transferred from hardware to  software</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94"/>
          <p:cNvSpPr txBox="1"/>
          <p:nvPr/>
        </p:nvSpPr>
        <p:spPr>
          <a:xfrm>
            <a:off x="209867" y="304800"/>
            <a:ext cx="8724265" cy="5380319"/>
          </a:xfrm>
          <a:prstGeom prst="rect">
            <a:avLst/>
          </a:prstGeom>
          <a:noFill/>
          <a:ln>
            <a:noFill/>
          </a:ln>
        </p:spPr>
        <p:txBody>
          <a:bodyPr anchorCtr="0" anchor="t" bIns="0" lIns="0" spcFirstLastPara="1" rIns="0" wrap="square" tIns="182225">
            <a:spAutoFit/>
          </a:bodyPr>
          <a:lstStyle/>
          <a:p>
            <a:pPr indent="0" lvl="0" marL="419100" marR="0" rtl="0" algn="l">
              <a:lnSpc>
                <a:spcPct val="100000"/>
              </a:lnSpc>
              <a:spcBef>
                <a:spcPts val="0"/>
              </a:spcBef>
              <a:spcAft>
                <a:spcPts val="0"/>
              </a:spcAft>
              <a:buNone/>
            </a:pPr>
            <a:r>
              <a:rPr lang="en-US" sz="2800">
                <a:solidFill>
                  <a:schemeClr val="dk1"/>
                </a:solidFill>
                <a:latin typeface="Times New Roman"/>
                <a:ea typeface="Times New Roman"/>
                <a:cs typeface="Times New Roman"/>
                <a:sym typeface="Times New Roman"/>
              </a:rPr>
              <a:t>Cache coherence approaches-Hardware Solution</a:t>
            </a:r>
            <a:endParaRPr sz="2800">
              <a:solidFill>
                <a:schemeClr val="dk1"/>
              </a:solidFill>
              <a:latin typeface="Times New Roman"/>
              <a:ea typeface="Times New Roman"/>
              <a:cs typeface="Times New Roman"/>
              <a:sym typeface="Times New Roman"/>
            </a:endParaRPr>
          </a:p>
          <a:p>
            <a:pPr indent="-190500" lvl="0" marL="355600" marR="0" rtl="0" algn="l">
              <a:lnSpc>
                <a:spcPct val="100000"/>
              </a:lnSpc>
              <a:spcBef>
                <a:spcPts val="1330"/>
              </a:spcBef>
              <a:spcAft>
                <a:spcPts val="0"/>
              </a:spcAft>
              <a:buClr>
                <a:srgbClr val="FF0000"/>
              </a:buClr>
              <a:buSzPts val="2400"/>
              <a:buFont typeface="Calibri"/>
              <a:buNone/>
            </a:pPr>
            <a:r>
              <a:t/>
            </a:r>
            <a:endParaRPr b="1" sz="2400">
              <a:solidFill>
                <a:schemeClr val="dk1"/>
              </a:solidFill>
              <a:latin typeface="Times New Roman"/>
              <a:ea typeface="Times New Roman"/>
              <a:cs typeface="Times New Roman"/>
              <a:sym typeface="Times New Roman"/>
            </a:endParaRPr>
          </a:p>
          <a:p>
            <a:pPr indent="-342900" lvl="0" marL="355600" marR="0" rtl="0" algn="l">
              <a:lnSpc>
                <a:spcPct val="100000"/>
              </a:lnSpc>
              <a:spcBef>
                <a:spcPts val="1330"/>
              </a:spcBef>
              <a:spcAft>
                <a:spcPts val="0"/>
              </a:spcAft>
              <a:buClr>
                <a:srgbClr val="FF0000"/>
              </a:buClr>
              <a:buSzPts val="2400"/>
              <a:buFont typeface="Times New Roman"/>
              <a:buChar char="•"/>
            </a:pPr>
            <a:r>
              <a:rPr b="1" lang="en-US" sz="2400">
                <a:solidFill>
                  <a:schemeClr val="dk1"/>
                </a:solidFill>
                <a:latin typeface="Times New Roman"/>
                <a:ea typeface="Times New Roman"/>
                <a:cs typeface="Times New Roman"/>
                <a:sym typeface="Times New Roman"/>
              </a:rPr>
              <a:t>Cache coherence protocols</a:t>
            </a:r>
            <a:endParaRPr b="1" sz="2400">
              <a:solidFill>
                <a:schemeClr val="dk1"/>
              </a:solidFill>
              <a:latin typeface="Times New Roman"/>
              <a:ea typeface="Times New Roman"/>
              <a:cs typeface="Times New Roman"/>
              <a:sym typeface="Times New Roman"/>
            </a:endParaRPr>
          </a:p>
          <a:p>
            <a:pPr indent="0" lvl="0" marL="0" marR="0" rtl="0" algn="l">
              <a:lnSpc>
                <a:spcPct val="100000"/>
              </a:lnSpc>
              <a:spcBef>
                <a:spcPts val="25"/>
              </a:spcBef>
              <a:spcAft>
                <a:spcPts val="0"/>
              </a:spcAft>
              <a:buClr>
                <a:srgbClr val="FF0000"/>
              </a:buClr>
              <a:buSzPts val="2400"/>
              <a:buFont typeface="Verdana"/>
              <a:buNone/>
            </a:pPr>
            <a:r>
              <a:t/>
            </a:r>
            <a:endParaRPr sz="2400">
              <a:solidFill>
                <a:schemeClr val="dk1"/>
              </a:solidFill>
              <a:latin typeface="Times New Roman"/>
              <a:ea typeface="Times New Roman"/>
              <a:cs typeface="Times New Roman"/>
              <a:sym typeface="Times New Roman"/>
            </a:endParaRPr>
          </a:p>
          <a:p>
            <a:pPr indent="-342900" lvl="0" marL="355600" marR="0" rtl="0" algn="l">
              <a:lnSpc>
                <a:spcPct val="100000"/>
              </a:lnSpc>
              <a:spcBef>
                <a:spcPts val="0"/>
              </a:spcBef>
              <a:spcAft>
                <a:spcPts val="0"/>
              </a:spcAft>
              <a:buClr>
                <a:srgbClr val="FF0000"/>
              </a:buClr>
              <a:buSzPts val="2400"/>
              <a:buFont typeface="Times New Roman"/>
              <a:buChar char="•"/>
            </a:pPr>
            <a:r>
              <a:rPr lang="en-US" sz="2400">
                <a:solidFill>
                  <a:schemeClr val="dk1"/>
                </a:solidFill>
                <a:latin typeface="Times New Roman"/>
                <a:ea typeface="Times New Roman"/>
                <a:cs typeface="Times New Roman"/>
                <a:sym typeface="Times New Roman"/>
              </a:rPr>
              <a:t>Dynamic recognition at run time  of potential problems</a:t>
            </a:r>
            <a:endParaRPr sz="2400">
              <a:solidFill>
                <a:schemeClr val="dk1"/>
              </a:solidFill>
              <a:latin typeface="Times New Roman"/>
              <a:ea typeface="Times New Roman"/>
              <a:cs typeface="Times New Roman"/>
              <a:sym typeface="Times New Roman"/>
            </a:endParaRPr>
          </a:p>
          <a:p>
            <a:pPr indent="0" lvl="0" marL="0" marR="0" rtl="0" algn="l">
              <a:lnSpc>
                <a:spcPct val="100000"/>
              </a:lnSpc>
              <a:spcBef>
                <a:spcPts val="20"/>
              </a:spcBef>
              <a:spcAft>
                <a:spcPts val="0"/>
              </a:spcAft>
              <a:buNone/>
            </a:pPr>
            <a:r>
              <a:t/>
            </a:r>
            <a:endParaRPr sz="2400">
              <a:solidFill>
                <a:schemeClr val="dk1"/>
              </a:solidFill>
              <a:latin typeface="Times New Roman"/>
              <a:ea typeface="Times New Roman"/>
              <a:cs typeface="Times New Roman"/>
              <a:sym typeface="Times New Roman"/>
            </a:endParaRPr>
          </a:p>
          <a:p>
            <a:pPr indent="-342900" lvl="0" marL="355600" marR="0" rtl="0" algn="l">
              <a:lnSpc>
                <a:spcPct val="100000"/>
              </a:lnSpc>
              <a:spcBef>
                <a:spcPts val="0"/>
              </a:spcBef>
              <a:spcAft>
                <a:spcPts val="0"/>
              </a:spcAft>
              <a:buClr>
                <a:srgbClr val="FF0000"/>
              </a:buClr>
              <a:buSzPts val="2400"/>
              <a:buFont typeface="Times New Roman"/>
              <a:buChar char="•"/>
            </a:pPr>
            <a:r>
              <a:rPr lang="en-US" sz="2400">
                <a:solidFill>
                  <a:schemeClr val="dk1"/>
                </a:solidFill>
                <a:latin typeface="Times New Roman"/>
                <a:ea typeface="Times New Roman"/>
                <a:cs typeface="Times New Roman"/>
                <a:sym typeface="Times New Roman"/>
              </a:rPr>
              <a:t>More </a:t>
            </a:r>
            <a:r>
              <a:rPr b="1" lang="en-US" sz="2400">
                <a:solidFill>
                  <a:schemeClr val="dk1"/>
                </a:solidFill>
                <a:latin typeface="Times New Roman"/>
                <a:ea typeface="Times New Roman"/>
                <a:cs typeface="Times New Roman"/>
                <a:sym typeface="Times New Roman"/>
              </a:rPr>
              <a:t>efficient </a:t>
            </a:r>
            <a:r>
              <a:rPr lang="en-US" sz="2400">
                <a:solidFill>
                  <a:schemeClr val="dk1"/>
                </a:solidFill>
                <a:latin typeface="Times New Roman"/>
                <a:ea typeface="Times New Roman"/>
                <a:cs typeface="Times New Roman"/>
                <a:sym typeface="Times New Roman"/>
              </a:rPr>
              <a:t>use of cache-improved performance</a:t>
            </a:r>
            <a:endParaRPr sz="2400">
              <a:solidFill>
                <a:schemeClr val="dk1"/>
              </a:solidFill>
              <a:latin typeface="Times New Roman"/>
              <a:ea typeface="Times New Roman"/>
              <a:cs typeface="Times New Roman"/>
              <a:sym typeface="Times New Roman"/>
            </a:endParaRPr>
          </a:p>
          <a:p>
            <a:pPr indent="0" lvl="0" marL="0" marR="0" rtl="0" algn="l">
              <a:lnSpc>
                <a:spcPct val="100000"/>
              </a:lnSpc>
              <a:spcBef>
                <a:spcPts val="25"/>
              </a:spcBef>
              <a:spcAft>
                <a:spcPts val="0"/>
              </a:spcAft>
              <a:buClr>
                <a:srgbClr val="FF0000"/>
              </a:buClr>
              <a:buSzPts val="2400"/>
              <a:buFont typeface="Verdana"/>
              <a:buNone/>
            </a:pPr>
            <a:r>
              <a:t/>
            </a:r>
            <a:endParaRPr sz="2400">
              <a:solidFill>
                <a:schemeClr val="dk1"/>
              </a:solidFill>
              <a:latin typeface="Times New Roman"/>
              <a:ea typeface="Times New Roman"/>
              <a:cs typeface="Times New Roman"/>
              <a:sym typeface="Times New Roman"/>
            </a:endParaRPr>
          </a:p>
          <a:p>
            <a:pPr indent="-342900" lvl="0" marL="355600" marR="0" rtl="0" algn="l">
              <a:lnSpc>
                <a:spcPct val="100000"/>
              </a:lnSpc>
              <a:spcBef>
                <a:spcPts val="0"/>
              </a:spcBef>
              <a:spcAft>
                <a:spcPts val="0"/>
              </a:spcAft>
              <a:buClr>
                <a:srgbClr val="FF0000"/>
              </a:buClr>
              <a:buSzPts val="2400"/>
              <a:buFont typeface="Verdana"/>
              <a:buChar char="•"/>
            </a:pPr>
            <a:r>
              <a:rPr b="1" lang="en-US" sz="2400">
                <a:solidFill>
                  <a:schemeClr val="dk1"/>
                </a:solidFill>
                <a:latin typeface="Times New Roman"/>
                <a:ea typeface="Times New Roman"/>
                <a:cs typeface="Times New Roman"/>
                <a:sym typeface="Times New Roman"/>
              </a:rPr>
              <a:t>Transparent </a:t>
            </a:r>
            <a:r>
              <a:rPr lang="en-US" sz="2400">
                <a:solidFill>
                  <a:schemeClr val="dk1"/>
                </a:solidFill>
                <a:latin typeface="Times New Roman"/>
                <a:ea typeface="Times New Roman"/>
                <a:cs typeface="Times New Roman"/>
                <a:sym typeface="Times New Roman"/>
              </a:rPr>
              <a:t>to programmer &amp; compiler-reducing the software development burden.</a:t>
            </a:r>
            <a:endParaRPr sz="2400">
              <a:solidFill>
                <a:schemeClr val="dk1"/>
              </a:solidFill>
              <a:latin typeface="Times New Roman"/>
              <a:ea typeface="Times New Roman"/>
              <a:cs typeface="Times New Roman"/>
              <a:sym typeface="Times New Roman"/>
            </a:endParaRPr>
          </a:p>
          <a:p>
            <a:pPr indent="0" lvl="0" marL="0" marR="0" rtl="0" algn="l">
              <a:lnSpc>
                <a:spcPct val="100000"/>
              </a:lnSpc>
              <a:spcBef>
                <a:spcPts val="20"/>
              </a:spcBef>
              <a:spcAft>
                <a:spcPts val="0"/>
              </a:spcAft>
              <a:buClr>
                <a:srgbClr val="FF0000"/>
              </a:buClr>
              <a:buSzPts val="2400"/>
              <a:buFont typeface="Verdana"/>
              <a:buNone/>
            </a:pPr>
            <a:r>
              <a:t/>
            </a:r>
            <a:endParaRPr sz="2400">
              <a:solidFill>
                <a:schemeClr val="dk1"/>
              </a:solidFill>
              <a:latin typeface="Times New Roman"/>
              <a:ea typeface="Times New Roman"/>
              <a:cs typeface="Times New Roman"/>
              <a:sym typeface="Times New Roman"/>
            </a:endParaRPr>
          </a:p>
          <a:p>
            <a:pPr indent="-342900" lvl="0" marL="355600" marR="0" rtl="0" algn="l">
              <a:lnSpc>
                <a:spcPct val="100000"/>
              </a:lnSpc>
              <a:spcBef>
                <a:spcPts val="5"/>
              </a:spcBef>
              <a:spcAft>
                <a:spcPts val="0"/>
              </a:spcAft>
              <a:buClr>
                <a:srgbClr val="FF0000"/>
              </a:buClr>
              <a:buSzPts val="2400"/>
              <a:buFont typeface="Verdana"/>
              <a:buChar char="•"/>
            </a:pPr>
            <a:r>
              <a:rPr b="1" lang="en-US" sz="2400">
                <a:solidFill>
                  <a:schemeClr val="dk1"/>
                </a:solidFill>
                <a:latin typeface="Times New Roman"/>
                <a:ea typeface="Times New Roman"/>
                <a:cs typeface="Times New Roman"/>
                <a:sym typeface="Times New Roman"/>
              </a:rPr>
              <a:t>Directory protocols &amp; Snoopy protocols</a:t>
            </a:r>
            <a:r>
              <a:rPr lang="en-US" sz="2400">
                <a:solidFill>
                  <a:schemeClr val="dk1"/>
                </a:solidFill>
                <a:latin typeface="Times New Roman"/>
                <a:ea typeface="Times New Roman"/>
                <a:cs typeface="Times New Roman"/>
                <a:sym typeface="Times New Roman"/>
              </a:rPr>
              <a:t>(to maintain cache consistency)</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95"/>
          <p:cNvSpPr txBox="1"/>
          <p:nvPr>
            <p:ph type="title"/>
          </p:nvPr>
        </p:nvSpPr>
        <p:spPr>
          <a:xfrm>
            <a:off x="533400" y="152400"/>
            <a:ext cx="8173313" cy="451643"/>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Directory Protocols</a:t>
            </a:r>
            <a:endParaRPr/>
          </a:p>
        </p:txBody>
      </p:sp>
      <p:sp>
        <p:nvSpPr>
          <p:cNvPr id="665" name="Google Shape;665;p95"/>
          <p:cNvSpPr txBox="1"/>
          <p:nvPr>
            <p:ph idx="1" type="body"/>
          </p:nvPr>
        </p:nvSpPr>
        <p:spPr>
          <a:xfrm>
            <a:off x="381000" y="685800"/>
            <a:ext cx="8093710" cy="5847755"/>
          </a:xfrm>
          <a:prstGeom prst="rect">
            <a:avLst/>
          </a:prstGeom>
          <a:noFill/>
          <a:ln>
            <a:noFill/>
          </a:ln>
        </p:spPr>
        <p:txBody>
          <a:bodyPr anchorCtr="0" anchor="t" bIns="0" lIns="0" spcFirstLastPara="1" rIns="0" wrap="square" tIns="0">
            <a:spAutoFit/>
          </a:bodyPr>
          <a:lstStyle/>
          <a:p>
            <a:pPr indent="-342900" lvl="0" marL="342900" rtl="0" algn="just">
              <a:spcBef>
                <a:spcPts val="0"/>
              </a:spcBef>
              <a:spcAft>
                <a:spcPts val="0"/>
              </a:spcAft>
              <a:buClr>
                <a:srgbClr val="242021"/>
              </a:buClr>
              <a:buSzPts val="2000"/>
              <a:buFont typeface="Arial"/>
              <a:buChar char="•"/>
            </a:pPr>
            <a:r>
              <a:rPr b="0" i="0" lang="en-US">
                <a:solidFill>
                  <a:srgbClr val="242021"/>
                </a:solidFill>
                <a:latin typeface="Times New Roman"/>
                <a:ea typeface="Times New Roman"/>
                <a:cs typeface="Times New Roman"/>
                <a:sym typeface="Times New Roman"/>
              </a:rPr>
              <a:t>Directory protocols </a:t>
            </a:r>
            <a:r>
              <a:rPr b="1" i="0" lang="en-US">
                <a:solidFill>
                  <a:srgbClr val="242021"/>
                </a:solidFill>
                <a:latin typeface="Times New Roman"/>
                <a:ea typeface="Times New Roman"/>
                <a:cs typeface="Times New Roman"/>
                <a:sym typeface="Times New Roman"/>
              </a:rPr>
              <a:t>collect and maintain information about where copies of lines reside. </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there is a </a:t>
            </a:r>
            <a:r>
              <a:rPr lang="en-US">
                <a:solidFill>
                  <a:srgbClr val="FF0000"/>
                </a:solidFill>
                <a:latin typeface="Times New Roman"/>
                <a:ea typeface="Times New Roman"/>
                <a:cs typeface="Times New Roman"/>
                <a:sym typeface="Times New Roman"/>
              </a:rPr>
              <a:t>centralized controller </a:t>
            </a:r>
            <a:r>
              <a:rPr lang="en-US">
                <a:latin typeface="Times New Roman"/>
                <a:ea typeface="Times New Roman"/>
                <a:cs typeface="Times New Roman"/>
                <a:sym typeface="Times New Roman"/>
              </a:rPr>
              <a:t>that is part of the main memory controller, and a </a:t>
            </a:r>
            <a:r>
              <a:rPr lang="en-US">
                <a:solidFill>
                  <a:srgbClr val="FF0000"/>
                </a:solidFill>
                <a:latin typeface="Times New Roman"/>
                <a:ea typeface="Times New Roman"/>
                <a:cs typeface="Times New Roman"/>
                <a:sym typeface="Times New Roman"/>
              </a:rPr>
              <a:t>directory</a:t>
            </a:r>
            <a:r>
              <a:rPr lang="en-US">
                <a:latin typeface="Times New Roman"/>
                <a:ea typeface="Times New Roman"/>
                <a:cs typeface="Times New Roman"/>
                <a:sym typeface="Times New Roman"/>
              </a:rPr>
              <a:t> that is stored in main memory.</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The directory contains </a:t>
            </a:r>
            <a:r>
              <a:rPr lang="en-US">
                <a:solidFill>
                  <a:srgbClr val="FF0000"/>
                </a:solidFill>
                <a:latin typeface="Times New Roman"/>
                <a:ea typeface="Times New Roman"/>
                <a:cs typeface="Times New Roman"/>
                <a:sym typeface="Times New Roman"/>
              </a:rPr>
              <a:t>global state information about the contents of the various local caches. </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When an individual cache controller (The cache controller is hardware that copies code or data from main memory to cache memory automatically) makes a request, the centralized controller checks and issues necessary commands for data transfer between memory and caches or between caches. </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Before a processor can write to a local copy of a line, it must request exclusive access to the line from the controller. </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Before granting this exclusive access, the controller sends a message to all processors with a cached copy of this line, forcing each processor to invalidate its copy.</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 After receiving acknowledgments back from each such processor, the controller grants exclusive access to the requesting processor. </a:t>
            </a: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96"/>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671" name="Google Shape;671;p96"/>
          <p:cNvSpPr txBox="1"/>
          <p:nvPr>
            <p:ph idx="1" type="body"/>
          </p:nvPr>
        </p:nvSpPr>
        <p:spPr>
          <a:xfrm>
            <a:off x="525144" y="1188465"/>
            <a:ext cx="8093710" cy="2154436"/>
          </a:xfrm>
          <a:prstGeom prst="rect">
            <a:avLst/>
          </a:prstGeom>
          <a:noFill/>
          <a:ln>
            <a:noFill/>
          </a:ln>
        </p:spPr>
        <p:txBody>
          <a:bodyPr anchorCtr="0" anchor="t" bIns="0" lIns="0" spcFirstLastPara="1" rIns="0" wrap="square" tIns="0">
            <a:spAutoFit/>
          </a:bodyPr>
          <a:lstStyle/>
          <a:p>
            <a:pPr indent="-342900" lvl="0" marL="342900" rtl="0" algn="l">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When another processor tries to read a line that is exclusively granted to another processor, it will send a miss notification to the controller. </a:t>
            </a:r>
            <a:endParaRPr/>
          </a:p>
          <a:p>
            <a:pPr indent="-342900" lvl="0" marL="342900" rtl="0" algn="l">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The controller then issues a command to the processor holding that line that requires the processor to do a write back to main memory. </a:t>
            </a:r>
            <a:endParaRPr/>
          </a:p>
          <a:p>
            <a:pPr indent="-215900" lvl="0" marL="342900" rtl="0" algn="l">
              <a:spcBef>
                <a:spcPts val="0"/>
              </a:spcBef>
              <a:spcAft>
                <a:spcPts val="0"/>
              </a:spcAft>
              <a:buClr>
                <a:schemeClr val="dk1"/>
              </a:buClr>
              <a:buSzPts val="2000"/>
              <a:buFont typeface="Arial"/>
              <a:buNone/>
            </a:pPr>
            <a:r>
              <a:t/>
            </a:r>
            <a:endParaRPr>
              <a:latin typeface="Times New Roman"/>
              <a:ea typeface="Times New Roman"/>
              <a:cs typeface="Times New Roman"/>
              <a:sym typeface="Times New Roman"/>
            </a:endParaRPr>
          </a:p>
          <a:p>
            <a:pPr indent="-342900" lvl="0" marL="342900" rtl="0" algn="l">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Demerits-Refer from text</a:t>
            </a:r>
            <a:endParaRPr/>
          </a:p>
          <a:p>
            <a:pPr indent="-215900" lvl="0" marL="342900" rtl="0" algn="l">
              <a:spcBef>
                <a:spcPts val="0"/>
              </a:spcBef>
              <a:spcAft>
                <a:spcPts val="0"/>
              </a:spcAft>
              <a:buClr>
                <a:schemeClr val="dk1"/>
              </a:buClr>
              <a:buSzPts val="2000"/>
              <a:buFont typeface="Arial"/>
              <a:buNone/>
            </a:pPr>
            <a:r>
              <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97"/>
          <p:cNvSpPr txBox="1"/>
          <p:nvPr/>
        </p:nvSpPr>
        <p:spPr>
          <a:xfrm>
            <a:off x="0" y="484075"/>
            <a:ext cx="8293200" cy="5536200"/>
          </a:xfrm>
          <a:prstGeom prst="rect">
            <a:avLst/>
          </a:prstGeom>
          <a:noFill/>
          <a:ln>
            <a:noFill/>
          </a:ln>
        </p:spPr>
        <p:txBody>
          <a:bodyPr anchorCtr="0" anchor="t" bIns="0" lIns="0" spcFirstLastPara="1" rIns="0" wrap="square" tIns="12050">
            <a:spAutoFit/>
          </a:bodyPr>
          <a:lstStyle/>
          <a:p>
            <a:pPr indent="444500" lvl="0" marL="12700" marR="0" rtl="0" algn="just">
              <a:lnSpc>
                <a:spcPct val="100000"/>
              </a:lnSpc>
              <a:spcBef>
                <a:spcPts val="0"/>
              </a:spcBef>
              <a:spcAft>
                <a:spcPts val="0"/>
              </a:spcAft>
              <a:buNone/>
            </a:pPr>
            <a:r>
              <a:rPr lang="en-US" sz="2200">
                <a:solidFill>
                  <a:schemeClr val="dk1"/>
                </a:solidFill>
                <a:latin typeface="Times New Roman"/>
                <a:ea typeface="Times New Roman"/>
                <a:cs typeface="Times New Roman"/>
                <a:sym typeface="Times New Roman"/>
              </a:rPr>
              <a:t>Snoopy Protocols</a:t>
            </a:r>
            <a:endParaRPr sz="2200">
              <a:solidFill>
                <a:schemeClr val="dk1"/>
              </a:solidFill>
              <a:latin typeface="Times New Roman"/>
              <a:ea typeface="Times New Roman"/>
              <a:cs typeface="Times New Roman"/>
              <a:sym typeface="Times New Roman"/>
            </a:endParaRPr>
          </a:p>
          <a:p>
            <a:pPr indent="0" lvl="0" marL="457200" marR="5080" rtl="0" algn="just">
              <a:lnSpc>
                <a:spcPct val="200100"/>
              </a:lnSpc>
              <a:spcBef>
                <a:spcPts val="370"/>
              </a:spcBef>
              <a:spcAft>
                <a:spcPts val="0"/>
              </a:spcAft>
              <a:buNone/>
            </a:pPr>
            <a:r>
              <a:t/>
            </a:r>
            <a:endParaRPr sz="2200">
              <a:solidFill>
                <a:schemeClr val="dk1"/>
              </a:solidFill>
              <a:latin typeface="Times New Roman"/>
              <a:ea typeface="Times New Roman"/>
              <a:cs typeface="Times New Roman"/>
              <a:sym typeface="Times New Roman"/>
            </a:endParaRPr>
          </a:p>
          <a:p>
            <a:pPr indent="-356235" lvl="0" marL="406400" marR="5080" rtl="0" algn="just">
              <a:lnSpc>
                <a:spcPct val="200100"/>
              </a:lnSpc>
              <a:spcBef>
                <a:spcPts val="370"/>
              </a:spcBef>
              <a:spcAft>
                <a:spcPts val="0"/>
              </a:spcAft>
              <a:buClr>
                <a:srgbClr val="FF0000"/>
              </a:buClr>
              <a:buSzPts val="2200"/>
              <a:buFont typeface="Times New Roman"/>
              <a:buChar char="•"/>
            </a:pPr>
            <a:r>
              <a:rPr lang="en-US" sz="2200">
                <a:solidFill>
                  <a:schemeClr val="dk1"/>
                </a:solidFill>
                <a:latin typeface="Times New Roman"/>
                <a:ea typeface="Times New Roman"/>
                <a:cs typeface="Times New Roman"/>
                <a:sym typeface="Times New Roman"/>
              </a:rPr>
              <a:t>Distribute cache coherence responsibility  among </a:t>
            </a:r>
            <a:r>
              <a:rPr b="1" lang="en-US" sz="2200">
                <a:solidFill>
                  <a:srgbClr val="FF0000"/>
                </a:solidFill>
                <a:latin typeface="Times New Roman"/>
                <a:ea typeface="Times New Roman"/>
                <a:cs typeface="Times New Roman"/>
                <a:sym typeface="Times New Roman"/>
              </a:rPr>
              <a:t>cache controller</a:t>
            </a:r>
            <a:r>
              <a:rPr b="1" lang="en-US" sz="2200">
                <a:solidFill>
                  <a:srgbClr val="FF0000"/>
                </a:solidFill>
                <a:latin typeface="Times New Roman"/>
                <a:ea typeface="Times New Roman"/>
                <a:cs typeface="Times New Roman"/>
                <a:sym typeface="Times New Roman"/>
              </a:rPr>
              <a:t>s</a:t>
            </a:r>
            <a:endParaRPr sz="2200">
              <a:solidFill>
                <a:schemeClr val="dk1"/>
              </a:solidFill>
              <a:latin typeface="Times New Roman"/>
              <a:ea typeface="Times New Roman"/>
              <a:cs typeface="Times New Roman"/>
              <a:sym typeface="Times New Roman"/>
            </a:endParaRPr>
          </a:p>
          <a:p>
            <a:pPr indent="-356870" lvl="0" marL="406400" marR="0" rtl="0" algn="just">
              <a:lnSpc>
                <a:spcPct val="100000"/>
              </a:lnSpc>
              <a:spcBef>
                <a:spcPts val="0"/>
              </a:spcBef>
              <a:spcAft>
                <a:spcPts val="0"/>
              </a:spcAft>
              <a:buClr>
                <a:srgbClr val="FF0000"/>
              </a:buClr>
              <a:buSzPts val="2200"/>
              <a:buFont typeface="Times New Roman"/>
              <a:buChar char="•"/>
            </a:pPr>
            <a:r>
              <a:rPr lang="en-US" sz="2200">
                <a:solidFill>
                  <a:schemeClr val="dk1"/>
                </a:solidFill>
                <a:latin typeface="Times New Roman"/>
                <a:ea typeface="Times New Roman"/>
                <a:cs typeface="Times New Roman"/>
                <a:sym typeface="Times New Roman"/>
              </a:rPr>
              <a:t>Cache recognizes that a line (that it holds) is shared</a:t>
            </a:r>
            <a:endParaRPr sz="2200">
              <a:solidFill>
                <a:schemeClr val="dk1"/>
              </a:solidFill>
              <a:latin typeface="Times New Roman"/>
              <a:ea typeface="Times New Roman"/>
              <a:cs typeface="Times New Roman"/>
              <a:sym typeface="Times New Roman"/>
            </a:endParaRPr>
          </a:p>
          <a:p>
            <a:pPr indent="0" lvl="0" marL="0" marR="0" rtl="0" algn="just">
              <a:lnSpc>
                <a:spcPct val="100000"/>
              </a:lnSpc>
              <a:spcBef>
                <a:spcPts val="20"/>
              </a:spcBef>
              <a:spcAft>
                <a:spcPts val="0"/>
              </a:spcAft>
              <a:buClr>
                <a:srgbClr val="FF0000"/>
              </a:buClr>
              <a:buSzPts val="2000"/>
              <a:buFont typeface="Verdana"/>
              <a:buNone/>
            </a:pPr>
            <a:r>
              <a:t/>
            </a:r>
            <a:endParaRPr sz="2200">
              <a:solidFill>
                <a:schemeClr val="dk1"/>
              </a:solidFill>
              <a:latin typeface="Times New Roman"/>
              <a:ea typeface="Times New Roman"/>
              <a:cs typeface="Times New Roman"/>
              <a:sym typeface="Times New Roman"/>
            </a:endParaRPr>
          </a:p>
          <a:p>
            <a:pPr indent="-356870" lvl="0" marL="406400" marR="0" rtl="0" algn="just">
              <a:lnSpc>
                <a:spcPct val="100000"/>
              </a:lnSpc>
              <a:spcBef>
                <a:spcPts val="5"/>
              </a:spcBef>
              <a:spcAft>
                <a:spcPts val="0"/>
              </a:spcAft>
              <a:buClr>
                <a:srgbClr val="FF0000"/>
              </a:buClr>
              <a:buSzPts val="2200"/>
              <a:buFont typeface="Times New Roman"/>
              <a:buChar char="•"/>
            </a:pPr>
            <a:r>
              <a:rPr lang="en-US" sz="2200">
                <a:solidFill>
                  <a:schemeClr val="dk1"/>
                </a:solidFill>
                <a:latin typeface="Times New Roman"/>
                <a:ea typeface="Times New Roman"/>
                <a:cs typeface="Times New Roman"/>
                <a:sym typeface="Times New Roman"/>
              </a:rPr>
              <a:t>Updates are announced to other caches also</a:t>
            </a:r>
            <a:endParaRPr sz="2200"/>
          </a:p>
          <a:p>
            <a:pPr indent="0" lvl="0" marL="62230" marR="0" rtl="0" algn="just">
              <a:lnSpc>
                <a:spcPct val="100000"/>
              </a:lnSpc>
              <a:spcBef>
                <a:spcPts val="5"/>
              </a:spcBef>
              <a:spcAft>
                <a:spcPts val="0"/>
              </a:spcAft>
              <a:buNone/>
            </a:pPr>
            <a:r>
              <a:t/>
            </a:r>
            <a:endParaRPr sz="2200">
              <a:solidFill>
                <a:schemeClr val="dk1"/>
              </a:solidFill>
              <a:latin typeface="Times New Roman"/>
              <a:ea typeface="Times New Roman"/>
              <a:cs typeface="Times New Roman"/>
              <a:sym typeface="Times New Roman"/>
            </a:endParaRPr>
          </a:p>
          <a:p>
            <a:pPr indent="-369570" lvl="0" marL="406400" marR="0" rtl="0" algn="just">
              <a:lnSpc>
                <a:spcPct val="100000"/>
              </a:lnSpc>
              <a:spcBef>
                <a:spcPts val="5"/>
              </a:spcBef>
              <a:spcAft>
                <a:spcPts val="0"/>
              </a:spcAft>
              <a:buClr>
                <a:srgbClr val="FF0000"/>
              </a:buClr>
              <a:buSzPts val="2200"/>
              <a:buFont typeface="Times New Roman"/>
              <a:buChar char="•"/>
            </a:pPr>
            <a:r>
              <a:rPr b="0" i="0" lang="en-US" sz="2200">
                <a:solidFill>
                  <a:srgbClr val="242021"/>
                </a:solidFill>
                <a:latin typeface="Times New Roman"/>
                <a:ea typeface="Times New Roman"/>
                <a:cs typeface="Times New Roman"/>
                <a:sym typeface="Times New Roman"/>
              </a:rPr>
              <a:t>Each cache controller is able to “snoop” on the network to observe these broadcasted notifications, and react accordingly.</a:t>
            </a:r>
            <a:r>
              <a:rPr lang="en-US" sz="2200">
                <a:solidFill>
                  <a:schemeClr val="dk1"/>
                </a:solidFill>
                <a:latin typeface="Times New Roman"/>
                <a:ea typeface="Times New Roman"/>
                <a:cs typeface="Times New Roman"/>
                <a:sym typeface="Times New Roman"/>
              </a:rPr>
              <a:t> </a:t>
            </a:r>
            <a:endParaRPr sz="2200">
              <a:solidFill>
                <a:schemeClr val="dk1"/>
              </a:solidFill>
              <a:latin typeface="Times New Roman"/>
              <a:ea typeface="Times New Roman"/>
              <a:cs typeface="Times New Roman"/>
              <a:sym typeface="Times New Roman"/>
            </a:endParaRPr>
          </a:p>
          <a:p>
            <a:pPr indent="0" lvl="0" marL="0" marR="0" rtl="0" algn="just">
              <a:lnSpc>
                <a:spcPct val="100000"/>
              </a:lnSpc>
              <a:spcBef>
                <a:spcPts val="20"/>
              </a:spcBef>
              <a:spcAft>
                <a:spcPts val="0"/>
              </a:spcAft>
              <a:buClr>
                <a:srgbClr val="FF0000"/>
              </a:buClr>
              <a:buSzPts val="2000"/>
              <a:buFont typeface="Verdana"/>
              <a:buNone/>
            </a:pPr>
            <a:r>
              <a:t/>
            </a:r>
            <a:endParaRPr sz="2200">
              <a:solidFill>
                <a:schemeClr val="dk1"/>
              </a:solidFill>
              <a:latin typeface="Times New Roman"/>
              <a:ea typeface="Times New Roman"/>
              <a:cs typeface="Times New Roman"/>
              <a:sym typeface="Times New Roman"/>
            </a:endParaRPr>
          </a:p>
          <a:p>
            <a:pPr indent="-356870" lvl="0" marL="406400" marR="0" rtl="0" algn="just">
              <a:lnSpc>
                <a:spcPct val="100000"/>
              </a:lnSpc>
              <a:spcBef>
                <a:spcPts val="0"/>
              </a:spcBef>
              <a:spcAft>
                <a:spcPts val="0"/>
              </a:spcAft>
              <a:buClr>
                <a:srgbClr val="FF0000"/>
              </a:buClr>
              <a:buSzPts val="2200"/>
              <a:buFont typeface="Times New Roman"/>
              <a:buChar char="•"/>
            </a:pPr>
            <a:r>
              <a:rPr lang="en-US" sz="2200">
                <a:solidFill>
                  <a:schemeClr val="dk1"/>
                </a:solidFill>
                <a:latin typeface="Times New Roman"/>
                <a:ea typeface="Times New Roman"/>
                <a:cs typeface="Times New Roman"/>
                <a:sym typeface="Times New Roman"/>
              </a:rPr>
              <a:t>Suited to bus based multiprocessor (</a:t>
            </a:r>
            <a:r>
              <a:rPr b="0" i="0" lang="en-US" sz="2200">
                <a:solidFill>
                  <a:srgbClr val="242021"/>
                </a:solidFill>
                <a:latin typeface="Times"/>
                <a:ea typeface="Times"/>
                <a:cs typeface="Times"/>
                <a:sym typeface="Times"/>
              </a:rPr>
              <a:t>shared bus provides a simple means for broadcasting and snooping</a:t>
            </a:r>
            <a:r>
              <a:rPr lang="en-US" sz="2200">
                <a:solidFill>
                  <a:schemeClr val="dk1"/>
                </a:solidFill>
                <a:latin typeface="Calibri"/>
                <a:ea typeface="Calibri"/>
                <a:cs typeface="Calibri"/>
                <a:sym typeface="Calibri"/>
              </a:rPr>
              <a:t> </a:t>
            </a:r>
            <a:r>
              <a:rPr lang="en-US" sz="2200">
                <a:solidFill>
                  <a:schemeClr val="dk1"/>
                </a:solidFill>
                <a:latin typeface="Times New Roman"/>
                <a:ea typeface="Times New Roman"/>
                <a:cs typeface="Times New Roman"/>
                <a:sym typeface="Times New Roman"/>
              </a:rPr>
              <a:t>)</a:t>
            </a:r>
            <a:endParaRPr sz="2200">
              <a:solidFill>
                <a:schemeClr val="dk1"/>
              </a:solidFill>
              <a:latin typeface="Times New Roman"/>
              <a:ea typeface="Times New Roman"/>
              <a:cs typeface="Times New Roman"/>
              <a:sym typeface="Times New Roman"/>
            </a:endParaRPr>
          </a:p>
          <a:p>
            <a:pPr indent="0" lvl="0" marL="0" marR="0" rtl="0" algn="just">
              <a:lnSpc>
                <a:spcPct val="100000"/>
              </a:lnSpc>
              <a:spcBef>
                <a:spcPts val="20"/>
              </a:spcBef>
              <a:spcAft>
                <a:spcPts val="0"/>
              </a:spcAft>
              <a:buClr>
                <a:srgbClr val="FF0000"/>
              </a:buClr>
              <a:buSzPts val="2000"/>
              <a:buFont typeface="Verdana"/>
              <a:buNone/>
            </a:pPr>
            <a:r>
              <a:t/>
            </a:r>
            <a:endParaRPr sz="2200">
              <a:solidFill>
                <a:schemeClr val="dk1"/>
              </a:solidFill>
              <a:latin typeface="Times New Roman"/>
              <a:ea typeface="Times New Roman"/>
              <a:cs typeface="Times New Roman"/>
              <a:sym typeface="Times New Roman"/>
            </a:endParaRPr>
          </a:p>
          <a:p>
            <a:pPr indent="-356870" lvl="0" marL="406400" marR="0" rtl="0" algn="just">
              <a:lnSpc>
                <a:spcPct val="100000"/>
              </a:lnSpc>
              <a:spcBef>
                <a:spcPts val="5"/>
              </a:spcBef>
              <a:spcAft>
                <a:spcPts val="0"/>
              </a:spcAft>
              <a:buClr>
                <a:srgbClr val="FF0000"/>
              </a:buClr>
              <a:buSzPts val="2200"/>
              <a:buFont typeface="Times New Roman"/>
              <a:buChar char="•"/>
            </a:pPr>
            <a:r>
              <a:rPr lang="en-US" sz="2200">
                <a:solidFill>
                  <a:schemeClr val="dk1"/>
                </a:solidFill>
                <a:latin typeface="Times New Roman"/>
                <a:ea typeface="Times New Roman"/>
                <a:cs typeface="Times New Roman"/>
                <a:sym typeface="Times New Roman"/>
              </a:rPr>
              <a:t>Increases bus traffic</a:t>
            </a: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98"/>
          <p:cNvSpPr txBox="1"/>
          <p:nvPr/>
        </p:nvSpPr>
        <p:spPr>
          <a:xfrm>
            <a:off x="485343" y="484073"/>
            <a:ext cx="7859395" cy="5290185"/>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2800">
                <a:solidFill>
                  <a:schemeClr val="dk1"/>
                </a:solidFill>
                <a:latin typeface="Arial Black"/>
                <a:ea typeface="Arial Black"/>
                <a:cs typeface="Arial Black"/>
                <a:sym typeface="Arial Black"/>
              </a:rPr>
              <a:t>Write through</a:t>
            </a:r>
            <a:endParaRPr sz="2800">
              <a:solidFill>
                <a:schemeClr val="dk1"/>
              </a:solidFill>
              <a:latin typeface="Arial Black"/>
              <a:ea typeface="Arial Black"/>
              <a:cs typeface="Arial Black"/>
              <a:sym typeface="Arial Black"/>
            </a:endParaRPr>
          </a:p>
          <a:p>
            <a:pPr indent="-343535" lvl="0" marL="406400" marR="5080" rtl="0" algn="just">
              <a:lnSpc>
                <a:spcPct val="150100"/>
              </a:lnSpc>
              <a:spcBef>
                <a:spcPts val="790"/>
              </a:spcBef>
              <a:spcAft>
                <a:spcPts val="0"/>
              </a:spcAft>
              <a:buClr>
                <a:srgbClr val="FF0000"/>
              </a:buClr>
              <a:buSzPts val="2800"/>
              <a:buFont typeface="Verdana"/>
              <a:buChar char="•"/>
            </a:pPr>
            <a:r>
              <a:rPr b="1" lang="en-US" sz="2800">
                <a:solidFill>
                  <a:srgbClr val="FF0000"/>
                </a:solidFill>
                <a:latin typeface="Verdana"/>
                <a:ea typeface="Verdana"/>
                <a:cs typeface="Verdana"/>
                <a:sym typeface="Verdana"/>
              </a:rPr>
              <a:t>All writes go to main memory as well  as cache</a:t>
            </a:r>
            <a:endParaRPr sz="2800">
              <a:solidFill>
                <a:schemeClr val="dk1"/>
              </a:solidFill>
              <a:latin typeface="Verdana"/>
              <a:ea typeface="Verdana"/>
              <a:cs typeface="Verdana"/>
              <a:sym typeface="Verdana"/>
            </a:endParaRPr>
          </a:p>
          <a:p>
            <a:pPr indent="-343535" lvl="0" marL="406400" marR="142875" rtl="0" algn="just">
              <a:lnSpc>
                <a:spcPct val="150000"/>
              </a:lnSpc>
              <a:spcBef>
                <a:spcPts val="67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Multiple CPUs can monitor main memory  traffic to keep local (to CPU) cache up to  date</a:t>
            </a:r>
            <a:endParaRPr sz="2800">
              <a:solidFill>
                <a:schemeClr val="dk1"/>
              </a:solidFill>
              <a:latin typeface="Verdana"/>
              <a:ea typeface="Verdana"/>
              <a:cs typeface="Verdana"/>
              <a:sym typeface="Verdana"/>
            </a:endParaRPr>
          </a:p>
          <a:p>
            <a:pPr indent="-344170" lvl="0" marL="406400" marR="0" rtl="0" algn="just">
              <a:lnSpc>
                <a:spcPct val="100000"/>
              </a:lnSpc>
              <a:spcBef>
                <a:spcPts val="235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Lots of traffic</a:t>
            </a:r>
            <a:endParaRPr sz="2800">
              <a:solidFill>
                <a:schemeClr val="dk1"/>
              </a:solidFill>
              <a:latin typeface="Verdana"/>
              <a:ea typeface="Verdana"/>
              <a:cs typeface="Verdana"/>
              <a:sym typeface="Verdana"/>
            </a:endParaRPr>
          </a:p>
          <a:p>
            <a:pPr indent="-344170" lvl="0" marL="406400" marR="0" rtl="0" algn="just">
              <a:lnSpc>
                <a:spcPct val="100000"/>
              </a:lnSpc>
              <a:spcBef>
                <a:spcPts val="235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Slows down writes</a:t>
            </a:r>
            <a:endParaRPr sz="2800">
              <a:solidFill>
                <a:schemeClr val="dk1"/>
              </a:solidFill>
              <a:latin typeface="Verdana"/>
              <a:ea typeface="Verdana"/>
              <a:cs typeface="Verdana"/>
              <a:sym typeface="Verdana"/>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99"/>
          <p:cNvSpPr txBox="1"/>
          <p:nvPr/>
        </p:nvSpPr>
        <p:spPr>
          <a:xfrm>
            <a:off x="485343" y="484073"/>
            <a:ext cx="7633200" cy="57549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2750">
                <a:solidFill>
                  <a:schemeClr val="dk1"/>
                </a:solidFill>
                <a:latin typeface="Arial Black"/>
                <a:ea typeface="Arial Black"/>
                <a:cs typeface="Arial Black"/>
                <a:sym typeface="Arial Black"/>
              </a:rPr>
              <a:t>Write back</a:t>
            </a:r>
            <a:endParaRPr sz="2750">
              <a:solidFill>
                <a:schemeClr val="dk1"/>
              </a:solidFill>
              <a:latin typeface="Arial Black"/>
              <a:ea typeface="Arial Black"/>
              <a:cs typeface="Arial Black"/>
              <a:sym typeface="Arial Black"/>
            </a:endParaRPr>
          </a:p>
          <a:p>
            <a:pPr indent="-340995" lvl="0" marL="406400" marR="0" rtl="0" algn="l">
              <a:lnSpc>
                <a:spcPct val="100000"/>
              </a:lnSpc>
              <a:spcBef>
                <a:spcPts val="2475"/>
              </a:spcBef>
              <a:spcAft>
                <a:spcPts val="0"/>
              </a:spcAft>
              <a:buClr>
                <a:srgbClr val="FF0000"/>
              </a:buClr>
              <a:buSzPts val="2750"/>
              <a:buFont typeface="Verdana"/>
              <a:buChar char="•"/>
            </a:pPr>
            <a:r>
              <a:rPr b="1" lang="en-US" sz="2750">
                <a:solidFill>
                  <a:srgbClr val="FF0000"/>
                </a:solidFill>
                <a:latin typeface="Verdana"/>
                <a:ea typeface="Verdana"/>
                <a:cs typeface="Verdana"/>
                <a:sym typeface="Verdana"/>
              </a:rPr>
              <a:t>Updates initially made in cache only</a:t>
            </a:r>
            <a:endParaRPr sz="2750">
              <a:solidFill>
                <a:schemeClr val="dk1"/>
              </a:solidFill>
              <a:latin typeface="Verdana"/>
              <a:ea typeface="Verdana"/>
              <a:cs typeface="Verdana"/>
              <a:sym typeface="Verdana"/>
            </a:endParaRPr>
          </a:p>
          <a:p>
            <a:pPr indent="-340360" lvl="0" marL="406400" marR="688975" rtl="0" algn="l">
              <a:lnSpc>
                <a:spcPct val="150000"/>
              </a:lnSpc>
              <a:spcBef>
                <a:spcPts val="675"/>
              </a:spcBef>
              <a:spcAft>
                <a:spcPts val="0"/>
              </a:spcAft>
              <a:buClr>
                <a:srgbClr val="FF0000"/>
              </a:buClr>
              <a:buSzPts val="2750"/>
              <a:buFont typeface="Verdana"/>
              <a:buChar char="•"/>
            </a:pPr>
            <a:r>
              <a:rPr lang="en-US" sz="2750">
                <a:solidFill>
                  <a:schemeClr val="dk1"/>
                </a:solidFill>
                <a:latin typeface="Verdana"/>
                <a:ea typeface="Verdana"/>
                <a:cs typeface="Verdana"/>
                <a:sym typeface="Verdana"/>
              </a:rPr>
              <a:t>Update bit for cache slot is set when  update occurs</a:t>
            </a:r>
            <a:endParaRPr sz="2750">
              <a:solidFill>
                <a:schemeClr val="dk1"/>
              </a:solidFill>
              <a:latin typeface="Verdana"/>
              <a:ea typeface="Verdana"/>
              <a:cs typeface="Verdana"/>
              <a:sym typeface="Verdana"/>
            </a:endParaRPr>
          </a:p>
          <a:p>
            <a:pPr indent="-340360" lvl="0" marL="406400" marR="166370" rtl="0" algn="l">
              <a:lnSpc>
                <a:spcPct val="150000"/>
              </a:lnSpc>
              <a:spcBef>
                <a:spcPts val="675"/>
              </a:spcBef>
              <a:spcAft>
                <a:spcPts val="0"/>
              </a:spcAft>
              <a:buClr>
                <a:srgbClr val="FF0000"/>
              </a:buClr>
              <a:buSzPts val="2750"/>
              <a:buFont typeface="Verdana"/>
              <a:buChar char="•"/>
            </a:pPr>
            <a:r>
              <a:rPr lang="en-US" sz="2750">
                <a:solidFill>
                  <a:schemeClr val="dk1"/>
                </a:solidFill>
                <a:latin typeface="Verdana"/>
                <a:ea typeface="Verdana"/>
                <a:cs typeface="Verdana"/>
                <a:sym typeface="Verdana"/>
              </a:rPr>
              <a:t>If block is to be replaced, write to main  memory only if </a:t>
            </a:r>
            <a:r>
              <a:rPr b="1" lang="en-US" sz="2750">
                <a:solidFill>
                  <a:schemeClr val="dk1"/>
                </a:solidFill>
                <a:latin typeface="Verdana"/>
                <a:ea typeface="Verdana"/>
                <a:cs typeface="Verdana"/>
                <a:sym typeface="Verdana"/>
              </a:rPr>
              <a:t>update bit is set</a:t>
            </a:r>
            <a:endParaRPr b="1" sz="2750">
              <a:solidFill>
                <a:schemeClr val="dk1"/>
              </a:solidFill>
              <a:latin typeface="Verdana"/>
              <a:ea typeface="Verdana"/>
              <a:cs typeface="Verdana"/>
              <a:sym typeface="Verdana"/>
            </a:endParaRPr>
          </a:p>
          <a:p>
            <a:pPr indent="-340360" lvl="0" marL="406400" marR="166370" rtl="0" algn="l">
              <a:lnSpc>
                <a:spcPct val="150000"/>
              </a:lnSpc>
              <a:spcBef>
                <a:spcPts val="675"/>
              </a:spcBef>
              <a:spcAft>
                <a:spcPts val="0"/>
              </a:spcAft>
              <a:buClr>
                <a:srgbClr val="FF0000"/>
              </a:buClr>
              <a:buSzPts val="2750"/>
              <a:buFont typeface="Verdana"/>
              <a:buChar char="•"/>
            </a:pPr>
            <a:r>
              <a:rPr lang="en-US" sz="2750">
                <a:solidFill>
                  <a:schemeClr val="dk1"/>
                </a:solidFill>
                <a:latin typeface="Verdana"/>
                <a:ea typeface="Verdana"/>
                <a:cs typeface="Verdana"/>
                <a:sym typeface="Verdana"/>
              </a:rPr>
              <a:t>Other caches get out of sync</a:t>
            </a:r>
            <a:endParaRPr sz="2750">
              <a:solidFill>
                <a:schemeClr val="dk1"/>
              </a:solidFill>
              <a:latin typeface="Verdana"/>
              <a:ea typeface="Verdana"/>
              <a:cs typeface="Verdana"/>
              <a:sym typeface="Verdana"/>
            </a:endParaRPr>
          </a:p>
          <a:p>
            <a:pPr indent="-340360" lvl="0" marL="406400" marR="168910" rtl="0" algn="l">
              <a:lnSpc>
                <a:spcPct val="150000"/>
              </a:lnSpc>
              <a:spcBef>
                <a:spcPts val="670"/>
              </a:spcBef>
              <a:spcAft>
                <a:spcPts val="0"/>
              </a:spcAft>
              <a:buClr>
                <a:srgbClr val="FF0000"/>
              </a:buClr>
              <a:buSzPts val="2750"/>
              <a:buFont typeface="Verdana"/>
              <a:buChar char="•"/>
            </a:pPr>
            <a:r>
              <a:rPr lang="en-US" sz="2750">
                <a:solidFill>
                  <a:schemeClr val="dk1"/>
                </a:solidFill>
                <a:latin typeface="Verdana"/>
                <a:ea typeface="Verdana"/>
                <a:cs typeface="Verdana"/>
                <a:sym typeface="Verdana"/>
              </a:rPr>
              <a:t>I/O must access main memory through  cache</a:t>
            </a:r>
            <a:endParaRPr sz="2750">
              <a:solidFill>
                <a:schemeClr val="dk1"/>
              </a:solidFill>
              <a:latin typeface="Verdana"/>
              <a:ea typeface="Verdana"/>
              <a:cs typeface="Verdana"/>
              <a:sym typeface="Verdana"/>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100"/>
          <p:cNvSpPr txBox="1"/>
          <p:nvPr/>
        </p:nvSpPr>
        <p:spPr>
          <a:xfrm>
            <a:off x="78739" y="484073"/>
            <a:ext cx="8607300" cy="5466900"/>
          </a:xfrm>
          <a:prstGeom prst="rect">
            <a:avLst/>
          </a:prstGeom>
          <a:noFill/>
          <a:ln>
            <a:noFill/>
          </a:ln>
        </p:spPr>
        <p:txBody>
          <a:bodyPr anchorCtr="0" anchor="t" bIns="0" lIns="0" spcFirstLastPara="1" rIns="0" wrap="square" tIns="12050">
            <a:spAutoFit/>
          </a:bodyPr>
          <a:lstStyle/>
          <a:p>
            <a:pPr indent="0" lvl="0" marL="419100" marR="0" rtl="0" algn="just">
              <a:lnSpc>
                <a:spcPct val="100000"/>
              </a:lnSpc>
              <a:spcBef>
                <a:spcPts val="0"/>
              </a:spcBef>
              <a:spcAft>
                <a:spcPts val="0"/>
              </a:spcAft>
              <a:buNone/>
            </a:pPr>
            <a:r>
              <a:rPr b="1" lang="en-US" sz="2000">
                <a:solidFill>
                  <a:schemeClr val="dk1"/>
                </a:solidFill>
                <a:latin typeface="Times New Roman"/>
                <a:ea typeface="Times New Roman"/>
                <a:cs typeface="Times New Roman"/>
                <a:sym typeface="Times New Roman"/>
              </a:rPr>
              <a:t>Write Invalidate-commonly used</a:t>
            </a:r>
            <a:endParaRPr b="1" sz="2000">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2475"/>
              </a:spcBef>
              <a:spcAft>
                <a:spcPts val="0"/>
              </a:spcAft>
              <a:buClr>
                <a:srgbClr val="FF0000"/>
              </a:buClr>
              <a:buSzPts val="2000"/>
              <a:buFont typeface="Verdana"/>
              <a:buChar char="•"/>
            </a:pPr>
            <a:r>
              <a:rPr b="1" lang="en-US" sz="2000">
                <a:solidFill>
                  <a:schemeClr val="dk1"/>
                </a:solidFill>
                <a:latin typeface="Times New Roman"/>
                <a:ea typeface="Times New Roman"/>
                <a:cs typeface="Times New Roman"/>
                <a:sym typeface="Times New Roman"/>
              </a:rPr>
              <a:t>Multiple readers, one writer</a:t>
            </a:r>
            <a:endParaRPr sz="2000">
              <a:solidFill>
                <a:schemeClr val="dk1"/>
              </a:solidFill>
              <a:latin typeface="Times New Roman"/>
              <a:ea typeface="Times New Roman"/>
              <a:cs typeface="Times New Roman"/>
              <a:sym typeface="Times New Roman"/>
            </a:endParaRPr>
          </a:p>
          <a:p>
            <a:pPr indent="-342900" lvl="0" marL="355600" marR="315595" rtl="0" algn="just">
              <a:lnSpc>
                <a:spcPct val="150000"/>
              </a:lnSpc>
              <a:spcBef>
                <a:spcPts val="675"/>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a line may be shared among several caches for reading purposes. </a:t>
            </a:r>
            <a:endParaRPr sz="2000">
              <a:solidFill>
                <a:schemeClr val="dk1"/>
              </a:solidFill>
              <a:latin typeface="Times New Roman"/>
              <a:ea typeface="Times New Roman"/>
              <a:cs typeface="Times New Roman"/>
              <a:sym typeface="Times New Roman"/>
            </a:endParaRPr>
          </a:p>
          <a:p>
            <a:pPr indent="-342900" lvl="0" marL="355600" marR="315595" rtl="0" algn="just">
              <a:lnSpc>
                <a:spcPct val="150000"/>
              </a:lnSpc>
              <a:spcBef>
                <a:spcPts val="675"/>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When a write is required, all other caches of  the line are invalidated</a:t>
            </a:r>
            <a:endParaRPr sz="2000">
              <a:solidFill>
                <a:schemeClr val="dk1"/>
              </a:solidFill>
              <a:latin typeface="Times New Roman"/>
              <a:ea typeface="Times New Roman"/>
              <a:cs typeface="Times New Roman"/>
              <a:sym typeface="Times New Roman"/>
            </a:endParaRPr>
          </a:p>
          <a:p>
            <a:pPr indent="-342900" lvl="0" marL="355600" marR="315595" rtl="0" algn="just">
              <a:lnSpc>
                <a:spcPct val="150000"/>
              </a:lnSpc>
              <a:spcBef>
                <a:spcPts val="675"/>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When one of the caches wants to perform a write to the line, it first issues a notice that invalidates that line in the other caches, making the line exclusive to the writing cache.</a:t>
            </a:r>
            <a:endParaRPr/>
          </a:p>
          <a:p>
            <a:pPr indent="-342900" lvl="0" marL="355600" marR="315595" rtl="0" algn="just">
              <a:lnSpc>
                <a:spcPct val="150000"/>
              </a:lnSpc>
              <a:spcBef>
                <a:spcPts val="675"/>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 Once the line is exclusive, the owning processor can make cheap local writes until some other processor requires the same line.</a:t>
            </a:r>
            <a:endParaRPr sz="2000">
              <a:solidFill>
                <a:schemeClr val="dk1"/>
              </a:solidFill>
              <a:latin typeface="Times New Roman"/>
              <a:ea typeface="Times New Roman"/>
              <a:cs typeface="Times New Roman"/>
              <a:sym typeface="Times New Roman"/>
            </a:endParaRPr>
          </a:p>
          <a:p>
            <a:pPr indent="-342900" lvl="0" marL="355600" marR="746125" rtl="0" algn="just">
              <a:lnSpc>
                <a:spcPct val="150000"/>
              </a:lnSpc>
              <a:spcBef>
                <a:spcPts val="675"/>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State of every line is marked as modified,  exclusive, shared or invalid</a:t>
            </a:r>
            <a:endParaRPr sz="2000">
              <a:solidFill>
                <a:schemeClr val="dk1"/>
              </a:solidFill>
              <a:latin typeface="Times New Roman"/>
              <a:ea typeface="Times New Roman"/>
              <a:cs typeface="Times New Roman"/>
              <a:sym typeface="Times New Roman"/>
            </a:endParaRPr>
          </a:p>
          <a:p>
            <a:pPr indent="-342900" lvl="0" marL="355600" marR="746125" rtl="0" algn="just">
              <a:lnSpc>
                <a:spcPct val="150000"/>
              </a:lnSpc>
              <a:spcBef>
                <a:spcPts val="675"/>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MESI protocol</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101"/>
          <p:cNvSpPr txBox="1"/>
          <p:nvPr/>
        </p:nvSpPr>
        <p:spPr>
          <a:xfrm>
            <a:off x="485343" y="484073"/>
            <a:ext cx="7974330" cy="2480615"/>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2800">
                <a:solidFill>
                  <a:schemeClr val="dk1"/>
                </a:solidFill>
                <a:latin typeface="Arial Black"/>
                <a:ea typeface="Arial Black"/>
                <a:cs typeface="Arial Black"/>
                <a:sym typeface="Arial Black"/>
              </a:rPr>
              <a:t>Write Update</a:t>
            </a:r>
            <a:endParaRPr sz="2800">
              <a:solidFill>
                <a:schemeClr val="dk1"/>
              </a:solidFill>
              <a:latin typeface="Arial Black"/>
              <a:ea typeface="Arial Black"/>
              <a:cs typeface="Arial Black"/>
              <a:sym typeface="Arial Black"/>
            </a:endParaRPr>
          </a:p>
          <a:p>
            <a:pPr indent="0" lvl="0" marL="0" marR="0" rtl="0" algn="l">
              <a:lnSpc>
                <a:spcPct val="100000"/>
              </a:lnSpc>
              <a:spcBef>
                <a:spcPts val="65"/>
              </a:spcBef>
              <a:spcAft>
                <a:spcPts val="0"/>
              </a:spcAft>
              <a:buNone/>
            </a:pPr>
            <a:r>
              <a:t/>
            </a:r>
            <a:endParaRPr sz="2600">
              <a:solidFill>
                <a:schemeClr val="dk1"/>
              </a:solidFill>
              <a:latin typeface="Arial Black"/>
              <a:ea typeface="Arial Black"/>
              <a:cs typeface="Arial Black"/>
              <a:sym typeface="Arial Black"/>
            </a:endParaRPr>
          </a:p>
          <a:p>
            <a:pPr indent="-344170" lvl="0" marL="406400" marR="0" rtl="0" algn="l">
              <a:lnSpc>
                <a:spcPct val="100000"/>
              </a:lnSpc>
              <a:spcBef>
                <a:spcPts val="0"/>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Multiple readers and writers</a:t>
            </a:r>
            <a:endParaRPr sz="2000">
              <a:solidFill>
                <a:schemeClr val="dk1"/>
              </a:solidFill>
              <a:latin typeface="Times New Roman"/>
              <a:ea typeface="Times New Roman"/>
              <a:cs typeface="Times New Roman"/>
              <a:sym typeface="Times New Roman"/>
            </a:endParaRPr>
          </a:p>
          <a:p>
            <a:pPr indent="-343535" lvl="0" marL="406400" marR="529590" rtl="0" algn="l">
              <a:lnSpc>
                <a:spcPct val="200100"/>
              </a:lnSpc>
              <a:spcBef>
                <a:spcPts val="675"/>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Updated word is distributed to all other  processors</a:t>
            </a:r>
            <a:endParaRPr sz="2000">
              <a:solidFill>
                <a:schemeClr val="dk1"/>
              </a:solidFill>
              <a:latin typeface="Times New Roman"/>
              <a:ea typeface="Times New Roman"/>
              <a:cs typeface="Times New Roman"/>
              <a:sym typeface="Times New Roman"/>
            </a:endParaRPr>
          </a:p>
          <a:p>
            <a:pPr indent="-343535" lvl="0" marL="406400" marR="5080" rtl="0" algn="l">
              <a:lnSpc>
                <a:spcPct val="200000"/>
              </a:lnSpc>
              <a:spcBef>
                <a:spcPts val="675"/>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Some systems use an adaptive mixture of  both solutions</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102"/>
          <p:cNvSpPr txBox="1"/>
          <p:nvPr/>
        </p:nvSpPr>
        <p:spPr>
          <a:xfrm>
            <a:off x="307340" y="484073"/>
            <a:ext cx="8514080" cy="5398135"/>
          </a:xfrm>
          <a:prstGeom prst="rect">
            <a:avLst/>
          </a:prstGeom>
          <a:noFill/>
          <a:ln>
            <a:noFill/>
          </a:ln>
        </p:spPr>
        <p:txBody>
          <a:bodyPr anchorCtr="0" anchor="t" bIns="0" lIns="0" spcFirstLastPara="1" rIns="0" wrap="square" tIns="12050">
            <a:spAutoFit/>
          </a:bodyPr>
          <a:lstStyle/>
          <a:p>
            <a:pPr indent="0" lvl="0" marL="190500" marR="0" rtl="0" algn="l">
              <a:lnSpc>
                <a:spcPct val="100000"/>
              </a:lnSpc>
              <a:spcBef>
                <a:spcPts val="0"/>
              </a:spcBef>
              <a:spcAft>
                <a:spcPts val="0"/>
              </a:spcAft>
              <a:buNone/>
            </a:pPr>
            <a:r>
              <a:rPr lang="en-US" sz="2800">
                <a:solidFill>
                  <a:schemeClr val="dk1"/>
                </a:solidFill>
                <a:latin typeface="Arial Black"/>
                <a:ea typeface="Arial Black"/>
                <a:cs typeface="Arial Black"/>
                <a:sym typeface="Arial Black"/>
              </a:rPr>
              <a:t>MESI Protocol</a:t>
            </a:r>
            <a:endParaRPr sz="2800">
              <a:solidFill>
                <a:schemeClr val="dk1"/>
              </a:solidFill>
              <a:latin typeface="Arial Black"/>
              <a:ea typeface="Arial Black"/>
              <a:cs typeface="Arial Black"/>
              <a:sym typeface="Arial Black"/>
            </a:endParaRPr>
          </a:p>
          <a:p>
            <a:pPr indent="33020" lvl="0" marL="355600" marR="5080" rtl="0" algn="l">
              <a:lnSpc>
                <a:spcPct val="150000"/>
              </a:lnSpc>
              <a:spcBef>
                <a:spcPts val="969"/>
              </a:spcBef>
              <a:spcAft>
                <a:spcPts val="0"/>
              </a:spcAft>
              <a:buNone/>
            </a:pPr>
            <a:r>
              <a:rPr lang="en-US" sz="2800">
                <a:solidFill>
                  <a:schemeClr val="dk1"/>
                </a:solidFill>
                <a:latin typeface="Verdana"/>
                <a:ea typeface="Verdana"/>
                <a:cs typeface="Verdana"/>
                <a:sym typeface="Verdana"/>
              </a:rPr>
              <a:t>Commonly implemented for Cache coherence  MESI protocol -four states that a cache line  may be in:</a:t>
            </a:r>
            <a:endParaRPr sz="2800">
              <a:solidFill>
                <a:schemeClr val="dk1"/>
              </a:solidFill>
              <a:latin typeface="Verdana"/>
              <a:ea typeface="Verdana"/>
              <a:cs typeface="Verdana"/>
              <a:sym typeface="Verdana"/>
            </a:endParaRPr>
          </a:p>
          <a:p>
            <a:pPr indent="-342900" lvl="0" marL="355600" marR="0" rtl="0" algn="l">
              <a:lnSpc>
                <a:spcPct val="100000"/>
              </a:lnSpc>
              <a:spcBef>
                <a:spcPts val="2355"/>
              </a:spcBef>
              <a:spcAft>
                <a:spcPts val="0"/>
              </a:spcAft>
              <a:buClr>
                <a:srgbClr val="FF0000"/>
              </a:buClr>
              <a:buSzPts val="2800"/>
              <a:buFont typeface="Verdana"/>
              <a:buChar char="•"/>
            </a:pPr>
            <a:r>
              <a:rPr b="1" lang="en-US" sz="2800">
                <a:solidFill>
                  <a:srgbClr val="FF0000"/>
                </a:solidFill>
                <a:latin typeface="Verdana"/>
                <a:ea typeface="Verdana"/>
                <a:cs typeface="Verdana"/>
                <a:sym typeface="Verdana"/>
              </a:rPr>
              <a:t>Modified</a:t>
            </a:r>
            <a:endParaRPr sz="2800">
              <a:solidFill>
                <a:schemeClr val="dk1"/>
              </a:solidFill>
              <a:latin typeface="Verdana"/>
              <a:ea typeface="Verdana"/>
              <a:cs typeface="Verdana"/>
              <a:sym typeface="Verdana"/>
            </a:endParaRPr>
          </a:p>
          <a:p>
            <a:pPr indent="-342900" lvl="0" marL="355600" marR="0" rtl="0" algn="l">
              <a:lnSpc>
                <a:spcPct val="100000"/>
              </a:lnSpc>
              <a:spcBef>
                <a:spcPts val="2350"/>
              </a:spcBef>
              <a:spcAft>
                <a:spcPts val="0"/>
              </a:spcAft>
              <a:buClr>
                <a:srgbClr val="FF0000"/>
              </a:buClr>
              <a:buSzPts val="2800"/>
              <a:buFont typeface="Verdana"/>
              <a:buChar char="•"/>
            </a:pPr>
            <a:r>
              <a:rPr b="1" lang="en-US" sz="2800">
                <a:solidFill>
                  <a:srgbClr val="FF0000"/>
                </a:solidFill>
                <a:latin typeface="Verdana"/>
                <a:ea typeface="Verdana"/>
                <a:cs typeface="Verdana"/>
                <a:sym typeface="Verdana"/>
              </a:rPr>
              <a:t>Exclusive</a:t>
            </a:r>
            <a:endParaRPr sz="2800">
              <a:solidFill>
                <a:schemeClr val="dk1"/>
              </a:solidFill>
              <a:latin typeface="Verdana"/>
              <a:ea typeface="Verdana"/>
              <a:cs typeface="Verdana"/>
              <a:sym typeface="Verdana"/>
            </a:endParaRPr>
          </a:p>
          <a:p>
            <a:pPr indent="-342900" lvl="0" marL="355600" marR="0" rtl="0" algn="l">
              <a:lnSpc>
                <a:spcPct val="100000"/>
              </a:lnSpc>
              <a:spcBef>
                <a:spcPts val="2355"/>
              </a:spcBef>
              <a:spcAft>
                <a:spcPts val="0"/>
              </a:spcAft>
              <a:buClr>
                <a:srgbClr val="FF0000"/>
              </a:buClr>
              <a:buSzPts val="2800"/>
              <a:buFont typeface="Verdana"/>
              <a:buChar char="•"/>
            </a:pPr>
            <a:r>
              <a:rPr b="1" lang="en-US" sz="2800">
                <a:solidFill>
                  <a:srgbClr val="FF0000"/>
                </a:solidFill>
                <a:latin typeface="Verdana"/>
                <a:ea typeface="Verdana"/>
                <a:cs typeface="Verdana"/>
                <a:sym typeface="Verdana"/>
              </a:rPr>
              <a:t>Shared</a:t>
            </a:r>
            <a:endParaRPr sz="2800">
              <a:solidFill>
                <a:schemeClr val="dk1"/>
              </a:solidFill>
              <a:latin typeface="Verdana"/>
              <a:ea typeface="Verdana"/>
              <a:cs typeface="Verdana"/>
              <a:sym typeface="Verdana"/>
            </a:endParaRPr>
          </a:p>
          <a:p>
            <a:pPr indent="-342900" lvl="0" marL="355600" marR="0" rtl="0" algn="l">
              <a:lnSpc>
                <a:spcPct val="100000"/>
              </a:lnSpc>
              <a:spcBef>
                <a:spcPts val="2355"/>
              </a:spcBef>
              <a:spcAft>
                <a:spcPts val="0"/>
              </a:spcAft>
              <a:buClr>
                <a:srgbClr val="FF0000"/>
              </a:buClr>
              <a:buSzPts val="2800"/>
              <a:buFont typeface="Verdana"/>
              <a:buChar char="•"/>
            </a:pPr>
            <a:r>
              <a:rPr b="1" lang="en-US" sz="2800">
                <a:solidFill>
                  <a:srgbClr val="FF0000"/>
                </a:solidFill>
                <a:latin typeface="Verdana"/>
                <a:ea typeface="Verdana"/>
                <a:cs typeface="Verdana"/>
                <a:sym typeface="Verdana"/>
              </a:rPr>
              <a:t>Invalid</a:t>
            </a:r>
            <a:endParaRPr sz="2800">
              <a:solidFill>
                <a:schemeClr val="dk1"/>
              </a:solidFill>
              <a:latin typeface="Verdana"/>
              <a:ea typeface="Verdana"/>
              <a:cs typeface="Verdana"/>
              <a:sym typeface="Verdana"/>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103"/>
          <p:cNvSpPr txBox="1"/>
          <p:nvPr/>
        </p:nvSpPr>
        <p:spPr>
          <a:xfrm>
            <a:off x="485343" y="484073"/>
            <a:ext cx="7965440" cy="4698081"/>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MESI protocol</a:t>
            </a:r>
            <a:endParaRPr sz="2400">
              <a:solidFill>
                <a:schemeClr val="dk1"/>
              </a:solidFill>
              <a:latin typeface="Times New Roman"/>
              <a:ea typeface="Times New Roman"/>
              <a:cs typeface="Times New Roman"/>
              <a:sym typeface="Times New Roman"/>
            </a:endParaRPr>
          </a:p>
          <a:p>
            <a:pPr indent="-344170" lvl="0" marL="406400" marR="0" rtl="0" algn="l">
              <a:lnSpc>
                <a:spcPct val="100000"/>
              </a:lnSpc>
              <a:spcBef>
                <a:spcPts val="2475"/>
              </a:spcBef>
              <a:spcAft>
                <a:spcPts val="0"/>
              </a:spcAft>
              <a:buClr>
                <a:srgbClr val="FF0000"/>
              </a:buClr>
              <a:buSzPts val="2400"/>
              <a:buFont typeface="Verdana"/>
              <a:buChar char="•"/>
            </a:pPr>
            <a:r>
              <a:rPr b="1" lang="en-US" sz="2400">
                <a:solidFill>
                  <a:schemeClr val="dk1"/>
                </a:solidFill>
                <a:latin typeface="Times New Roman"/>
                <a:ea typeface="Times New Roman"/>
                <a:cs typeface="Times New Roman"/>
                <a:sym typeface="Times New Roman"/>
              </a:rPr>
              <a:t>I</a:t>
            </a:r>
            <a:r>
              <a:rPr lang="en-US" sz="2400">
                <a:solidFill>
                  <a:schemeClr val="dk1"/>
                </a:solidFill>
                <a:latin typeface="Times New Roman"/>
                <a:ea typeface="Times New Roman"/>
                <a:cs typeface="Times New Roman"/>
                <a:sym typeface="Times New Roman"/>
              </a:rPr>
              <a:t>nvalid: This cache line is not valid</a:t>
            </a:r>
            <a:endParaRPr sz="2400">
              <a:solidFill>
                <a:schemeClr val="dk1"/>
              </a:solidFill>
              <a:latin typeface="Times New Roman"/>
              <a:ea typeface="Times New Roman"/>
              <a:cs typeface="Times New Roman"/>
              <a:sym typeface="Times New Roman"/>
            </a:endParaRPr>
          </a:p>
          <a:p>
            <a:pPr indent="-343535" lvl="0" marL="406400" marR="312420" rtl="0" algn="l">
              <a:lnSpc>
                <a:spcPct val="150000"/>
              </a:lnSpc>
              <a:spcBef>
                <a:spcPts val="675"/>
              </a:spcBef>
              <a:spcAft>
                <a:spcPts val="0"/>
              </a:spcAft>
              <a:buClr>
                <a:srgbClr val="FF0000"/>
              </a:buClr>
              <a:buSzPts val="2400"/>
              <a:buFont typeface="Verdana"/>
              <a:buChar char="•"/>
            </a:pPr>
            <a:r>
              <a:rPr b="1" lang="en-US" sz="2400">
                <a:solidFill>
                  <a:schemeClr val="dk1"/>
                </a:solidFill>
                <a:latin typeface="Times New Roman"/>
                <a:ea typeface="Times New Roman"/>
                <a:cs typeface="Times New Roman"/>
                <a:sym typeface="Times New Roman"/>
              </a:rPr>
              <a:t>E</a:t>
            </a:r>
            <a:r>
              <a:rPr lang="en-US" sz="2400">
                <a:solidFill>
                  <a:schemeClr val="dk1"/>
                </a:solidFill>
                <a:latin typeface="Times New Roman"/>
                <a:ea typeface="Times New Roman"/>
                <a:cs typeface="Times New Roman"/>
                <a:sym typeface="Times New Roman"/>
              </a:rPr>
              <a:t>xclusive: The line in the cache is the same as that in main memory and is not present in any other cache.</a:t>
            </a:r>
            <a:endParaRPr sz="2400">
              <a:solidFill>
                <a:schemeClr val="dk1"/>
              </a:solidFill>
              <a:latin typeface="Times New Roman"/>
              <a:ea typeface="Times New Roman"/>
              <a:cs typeface="Times New Roman"/>
              <a:sym typeface="Times New Roman"/>
            </a:endParaRPr>
          </a:p>
          <a:p>
            <a:pPr indent="-343535" lvl="0" marL="406400" marR="77470" rtl="0" algn="l">
              <a:lnSpc>
                <a:spcPct val="150000"/>
              </a:lnSpc>
              <a:spcBef>
                <a:spcPts val="675"/>
              </a:spcBef>
              <a:spcAft>
                <a:spcPts val="0"/>
              </a:spcAft>
              <a:buClr>
                <a:srgbClr val="FF0000"/>
              </a:buClr>
              <a:buSzPts val="2400"/>
              <a:buFont typeface="Verdana"/>
              <a:buChar char="•"/>
            </a:pPr>
            <a:r>
              <a:rPr b="1" lang="en-US" sz="2400">
                <a:solidFill>
                  <a:schemeClr val="dk1"/>
                </a:solidFill>
                <a:latin typeface="Times New Roman"/>
                <a:ea typeface="Times New Roman"/>
                <a:cs typeface="Times New Roman"/>
                <a:sym typeface="Times New Roman"/>
              </a:rPr>
              <a:t>S</a:t>
            </a:r>
            <a:r>
              <a:rPr lang="en-US" sz="2400">
                <a:solidFill>
                  <a:schemeClr val="dk1"/>
                </a:solidFill>
                <a:latin typeface="Times New Roman"/>
                <a:ea typeface="Times New Roman"/>
                <a:cs typeface="Times New Roman"/>
                <a:sym typeface="Times New Roman"/>
              </a:rPr>
              <a:t>hared: The line in the cache is the same as that in main memory and may be present in another cache.</a:t>
            </a:r>
            <a:endParaRPr/>
          </a:p>
          <a:p>
            <a:pPr indent="-343535" lvl="0" marL="406400" marR="77470" rtl="0" algn="l">
              <a:lnSpc>
                <a:spcPct val="150000"/>
              </a:lnSpc>
              <a:spcBef>
                <a:spcPts val="675"/>
              </a:spcBef>
              <a:spcAft>
                <a:spcPts val="0"/>
              </a:spcAft>
              <a:buClr>
                <a:srgbClr val="FF0000"/>
              </a:buClr>
              <a:buSzPts val="2400"/>
              <a:buFont typeface="Verdana"/>
              <a:buChar char="•"/>
            </a:pPr>
            <a:r>
              <a:rPr b="1" lang="en-US" sz="2400">
                <a:solidFill>
                  <a:schemeClr val="dk1"/>
                </a:solidFill>
                <a:latin typeface="Times New Roman"/>
                <a:ea typeface="Times New Roman"/>
                <a:cs typeface="Times New Roman"/>
                <a:sym typeface="Times New Roman"/>
              </a:rPr>
              <a:t>M</a:t>
            </a:r>
            <a:r>
              <a:rPr lang="en-US" sz="2400">
                <a:solidFill>
                  <a:schemeClr val="dk1"/>
                </a:solidFill>
                <a:latin typeface="Times New Roman"/>
                <a:ea typeface="Times New Roman"/>
                <a:cs typeface="Times New Roman"/>
                <a:sym typeface="Times New Roman"/>
              </a:rPr>
              <a:t>odified: The line has been modified. The</a:t>
            </a:r>
            <a:endParaRPr sz="2400">
              <a:solidFill>
                <a:schemeClr val="dk1"/>
              </a:solidFill>
              <a:latin typeface="Times New Roman"/>
              <a:ea typeface="Times New Roman"/>
              <a:cs typeface="Times New Roman"/>
              <a:sym typeface="Times New Roman"/>
            </a:endParaRPr>
          </a:p>
          <a:p>
            <a:pPr indent="0" lvl="0" marL="406400" marR="0" rtl="0" algn="l">
              <a:lnSpc>
                <a:spcPct val="100000"/>
              </a:lnSpc>
              <a:spcBef>
                <a:spcPts val="1680"/>
              </a:spcBef>
              <a:spcAft>
                <a:spcPts val="0"/>
              </a:spcAft>
              <a:buNone/>
            </a:pPr>
            <a:r>
              <a:rPr b="1" lang="en-US" sz="2400">
                <a:solidFill>
                  <a:schemeClr val="dk1"/>
                </a:solidFill>
                <a:latin typeface="Times New Roman"/>
                <a:ea typeface="Times New Roman"/>
                <a:cs typeface="Times New Roman"/>
                <a:sym typeface="Times New Roman"/>
              </a:rPr>
              <a:t>memory </a:t>
            </a:r>
            <a:r>
              <a:rPr lang="en-US" sz="2400">
                <a:solidFill>
                  <a:schemeClr val="dk1"/>
                </a:solidFill>
                <a:latin typeface="Times New Roman"/>
                <a:ea typeface="Times New Roman"/>
                <a:cs typeface="Times New Roman"/>
                <a:sym typeface="Times New Roman"/>
              </a:rPr>
              <a:t>copy is invalid.</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104"/>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712" name="Google Shape;712;p104"/>
          <p:cNvSpPr txBox="1"/>
          <p:nvPr>
            <p:ph idx="1" type="body"/>
          </p:nvPr>
        </p:nvSpPr>
        <p:spPr>
          <a:xfrm>
            <a:off x="525144" y="1188465"/>
            <a:ext cx="8093710" cy="371538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713" name="Google Shape;713;p104"/>
          <p:cNvPicPr preferRelativeResize="0"/>
          <p:nvPr/>
        </p:nvPicPr>
        <p:blipFill rotWithShape="1">
          <a:blip r:embed="rId3">
            <a:alphaModFix/>
          </a:blip>
          <a:srcRect b="0" l="0" r="0" t="0"/>
          <a:stretch/>
        </p:blipFill>
        <p:spPr>
          <a:xfrm>
            <a:off x="942975" y="2309813"/>
            <a:ext cx="7258050" cy="2241550"/>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105"/>
          <p:cNvSpPr txBox="1"/>
          <p:nvPr>
            <p:ph type="title"/>
          </p:nvPr>
        </p:nvSpPr>
        <p:spPr>
          <a:xfrm>
            <a:off x="485343" y="57404"/>
            <a:ext cx="8173313" cy="430887"/>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MESI State Transition Diagram</a:t>
            </a:r>
            <a:endParaRPr/>
          </a:p>
        </p:txBody>
      </p:sp>
      <p:sp>
        <p:nvSpPr>
          <p:cNvPr id="719" name="Google Shape;719;p105"/>
          <p:cNvSpPr txBox="1"/>
          <p:nvPr>
            <p:ph idx="1" type="body"/>
          </p:nvPr>
        </p:nvSpPr>
        <p:spPr>
          <a:xfrm>
            <a:off x="525144" y="1188465"/>
            <a:ext cx="8093710" cy="307777"/>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Refer Text</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106"/>
          <p:cNvSpPr txBox="1"/>
          <p:nvPr/>
        </p:nvSpPr>
        <p:spPr>
          <a:xfrm>
            <a:off x="474550" y="2459625"/>
            <a:ext cx="8513100" cy="1256400"/>
          </a:xfrm>
          <a:prstGeom prst="rect">
            <a:avLst/>
          </a:prstGeom>
          <a:noFill/>
          <a:ln>
            <a:noFill/>
          </a:ln>
        </p:spPr>
        <p:txBody>
          <a:bodyPr anchorCtr="0" anchor="t" bIns="0" lIns="0" spcFirstLastPara="1" rIns="0" wrap="square" tIns="12050">
            <a:spAutoFit/>
          </a:bodyPr>
          <a:lstStyle/>
          <a:p>
            <a:pPr indent="-966468" lvl="0" marL="979168" marR="5080" rtl="0" algn="l">
              <a:lnSpc>
                <a:spcPct val="120100"/>
              </a:lnSpc>
              <a:spcBef>
                <a:spcPts val="0"/>
              </a:spcBef>
              <a:spcAft>
                <a:spcPts val="0"/>
              </a:spcAft>
              <a:buNone/>
            </a:pPr>
            <a:r>
              <a:rPr lang="en-US" sz="3400">
                <a:solidFill>
                  <a:schemeClr val="dk1"/>
                </a:solidFill>
                <a:latin typeface="Verdana"/>
                <a:ea typeface="Verdana"/>
                <a:cs typeface="Verdana"/>
                <a:sym typeface="Verdana"/>
              </a:rPr>
              <a:t>Interleaved  And A</a:t>
            </a:r>
            <a:r>
              <a:rPr lang="en-US" sz="3400">
                <a:solidFill>
                  <a:schemeClr val="dk1"/>
                </a:solidFill>
                <a:latin typeface="Verdana"/>
                <a:ea typeface="Verdana"/>
                <a:cs typeface="Verdana"/>
                <a:sym typeface="Verdana"/>
              </a:rPr>
              <a:t>ssociative  Memory</a:t>
            </a:r>
            <a:endParaRPr sz="3400">
              <a:solidFill>
                <a:schemeClr val="dk1"/>
              </a:solidFill>
              <a:latin typeface="Verdana"/>
              <a:ea typeface="Verdana"/>
              <a:cs typeface="Verdana"/>
              <a:sym typeface="Verdana"/>
            </a:endParaRPr>
          </a:p>
          <a:p>
            <a:pPr indent="-966469" lvl="0" marL="979169" marR="5080" rtl="0" algn="l">
              <a:lnSpc>
                <a:spcPct val="120100"/>
              </a:lnSpc>
              <a:spcBef>
                <a:spcPts val="0"/>
              </a:spcBef>
              <a:spcAft>
                <a:spcPts val="0"/>
              </a:spcAft>
              <a:buNone/>
            </a:pPr>
            <a:r>
              <a:t/>
            </a:r>
            <a:endParaRPr sz="4000">
              <a:solidFill>
                <a:schemeClr val="dk1"/>
              </a:solidFill>
              <a:latin typeface="Verdana"/>
              <a:ea typeface="Verdana"/>
              <a:cs typeface="Verdana"/>
              <a:sym typeface="Verdana"/>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107"/>
          <p:cNvSpPr txBox="1"/>
          <p:nvPr>
            <p:ph type="title"/>
          </p:nvPr>
        </p:nvSpPr>
        <p:spPr>
          <a:xfrm>
            <a:off x="485352" y="484075"/>
            <a:ext cx="5197800" cy="4431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Interleaved Memory</a:t>
            </a:r>
            <a:endParaRPr/>
          </a:p>
        </p:txBody>
      </p:sp>
      <p:sp>
        <p:nvSpPr>
          <p:cNvPr id="730" name="Google Shape;730;p107"/>
          <p:cNvSpPr txBox="1"/>
          <p:nvPr/>
        </p:nvSpPr>
        <p:spPr>
          <a:xfrm>
            <a:off x="78739" y="1343914"/>
            <a:ext cx="8959850" cy="5270674"/>
          </a:xfrm>
          <a:prstGeom prst="rect">
            <a:avLst/>
          </a:prstGeom>
          <a:noFill/>
          <a:ln>
            <a:noFill/>
          </a:ln>
        </p:spPr>
        <p:txBody>
          <a:bodyPr anchorCtr="0" anchor="t" bIns="0" lIns="0" spcFirstLastPara="1" rIns="0" wrap="square" tIns="12700">
            <a:spAutoFit/>
          </a:bodyPr>
          <a:lstStyle/>
          <a:p>
            <a:pPr indent="-342900" lvl="0" marL="342900" marR="0" rtl="0" algn="just">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Main memory is composed of a collection of DRAM memory chips. </a:t>
            </a:r>
            <a:endParaRPr sz="2000">
              <a:solidFill>
                <a:schemeClr val="dk1"/>
              </a:solidFill>
              <a:latin typeface="Times New Roman"/>
              <a:ea typeface="Times New Roman"/>
              <a:cs typeface="Times New Roman"/>
              <a:sym typeface="Times New Roman"/>
            </a:endParaRPr>
          </a:p>
          <a:p>
            <a:pPr indent="-342900" lvl="0" marL="342900" marR="0" rtl="0" algn="just">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A number of chips can be grouped together to form a </a:t>
            </a:r>
            <a:r>
              <a:rPr b="1" i="1" lang="en-US" sz="2000">
                <a:solidFill>
                  <a:schemeClr val="dk1"/>
                </a:solidFill>
                <a:latin typeface="Times New Roman"/>
                <a:ea typeface="Times New Roman"/>
                <a:cs typeface="Times New Roman"/>
                <a:sym typeface="Times New Roman"/>
              </a:rPr>
              <a:t>memory bank</a:t>
            </a:r>
            <a:r>
              <a:rPr lang="en-US" sz="2000">
                <a:solidFill>
                  <a:schemeClr val="dk1"/>
                </a:solidFill>
                <a:latin typeface="Times New Roman"/>
                <a:ea typeface="Times New Roman"/>
                <a:cs typeface="Times New Roman"/>
                <a:sym typeface="Times New Roman"/>
              </a:rPr>
              <a:t>. </a:t>
            </a:r>
            <a:endParaRPr sz="2000">
              <a:solidFill>
                <a:schemeClr val="dk1"/>
              </a:solidFill>
              <a:latin typeface="Times New Roman"/>
              <a:ea typeface="Times New Roman"/>
              <a:cs typeface="Times New Roman"/>
              <a:sym typeface="Times New Roman"/>
            </a:endParaRPr>
          </a:p>
          <a:p>
            <a:pPr indent="-342900" lvl="0" marL="342900" marR="0" rtl="0" algn="just">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It is possible to organize the memory banks in a way known as interleaved memory.</a:t>
            </a:r>
            <a:endParaRPr/>
          </a:p>
          <a:p>
            <a:pPr indent="-342900" lvl="0" marL="342900" marR="0" rtl="0" algn="just">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 Each bank is independently able to service a memory read or write request, so that a system with </a:t>
            </a:r>
            <a:r>
              <a:rPr b="1" lang="en-US" sz="2000">
                <a:solidFill>
                  <a:schemeClr val="dk1"/>
                </a:solidFill>
                <a:latin typeface="Times New Roman"/>
                <a:ea typeface="Times New Roman"/>
                <a:cs typeface="Times New Roman"/>
                <a:sym typeface="Times New Roman"/>
              </a:rPr>
              <a:t>K banks can service K requests simultaneously, increasing memory read or write rates by a factor of K</a:t>
            </a:r>
            <a:r>
              <a:rPr lang="en-US" sz="2000">
                <a:solidFill>
                  <a:schemeClr val="dk1"/>
                </a:solidFill>
                <a:latin typeface="Times New Roman"/>
                <a:ea typeface="Times New Roman"/>
                <a:cs typeface="Times New Roman"/>
                <a:sym typeface="Times New Roman"/>
              </a:rPr>
              <a:t>.</a:t>
            </a:r>
            <a:endParaRPr/>
          </a:p>
          <a:p>
            <a:pPr indent="-342900" lvl="0" marL="342900" marR="0" rtl="0" algn="just">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 If consecutive words of memory are stored in different banks, then the transfer of a block of memory is </a:t>
            </a:r>
            <a:r>
              <a:rPr b="1" lang="en-US" sz="2000">
                <a:solidFill>
                  <a:schemeClr val="dk1"/>
                </a:solidFill>
                <a:latin typeface="Times New Roman"/>
                <a:ea typeface="Times New Roman"/>
                <a:cs typeface="Times New Roman"/>
                <a:sym typeface="Times New Roman"/>
              </a:rPr>
              <a:t>speeded up</a:t>
            </a:r>
            <a:endParaRPr/>
          </a:p>
          <a:p>
            <a:pPr indent="-342900" lvl="0" marL="342900" marR="0" rtl="0" algn="just">
              <a:spcBef>
                <a:spcPts val="0"/>
              </a:spcBef>
              <a:spcAft>
                <a:spcPts val="0"/>
              </a:spcAft>
              <a:buClr>
                <a:schemeClr val="dk1"/>
              </a:buClr>
              <a:buSzPts val="2000"/>
              <a:buFont typeface="Arial"/>
              <a:buChar char="•"/>
            </a:pPr>
            <a:r>
              <a:rPr b="1" lang="en-US" sz="2000">
                <a:solidFill>
                  <a:schemeClr val="dk1"/>
                </a:solidFill>
                <a:latin typeface="Times New Roman"/>
                <a:ea typeface="Times New Roman"/>
                <a:cs typeface="Times New Roman"/>
                <a:sym typeface="Times New Roman"/>
              </a:rPr>
              <a:t>Interleaved memory </a:t>
            </a:r>
            <a:r>
              <a:rPr lang="en-US" sz="2000">
                <a:solidFill>
                  <a:schemeClr val="dk1"/>
                </a:solidFill>
                <a:latin typeface="Times New Roman"/>
                <a:ea typeface="Times New Roman"/>
                <a:cs typeface="Times New Roman"/>
                <a:sym typeface="Times New Roman"/>
              </a:rPr>
              <a:t>is a design made to compensate for the relatively slow speed of DRAM</a:t>
            </a:r>
            <a:endParaRPr/>
          </a:p>
          <a:p>
            <a:pPr indent="-215900" lvl="0" marL="342900" marR="0" rtl="0" algn="just">
              <a:lnSpc>
                <a:spcPct val="100000"/>
              </a:lnSpc>
              <a:spcBef>
                <a:spcPts val="55"/>
              </a:spcBef>
              <a:spcAft>
                <a:spcPts val="0"/>
              </a:spcAft>
              <a:buClr>
                <a:schemeClr val="dk1"/>
              </a:buClr>
              <a:buSzPts val="2000"/>
              <a:buFont typeface="Arial"/>
              <a:buNone/>
            </a:pPr>
            <a:r>
              <a:t/>
            </a:r>
            <a:endParaRPr sz="2000">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0"/>
              </a:spcBef>
              <a:spcAft>
                <a:spcPts val="0"/>
              </a:spcAft>
              <a:buClr>
                <a:srgbClr val="FF0000"/>
              </a:buClr>
              <a:buSzPts val="2000"/>
              <a:buFont typeface="Verdana"/>
              <a:buChar char="•"/>
            </a:pPr>
            <a:r>
              <a:rPr b="1" lang="en-US" sz="2000">
                <a:solidFill>
                  <a:srgbClr val="FF0000"/>
                </a:solidFill>
                <a:latin typeface="Times New Roman"/>
                <a:ea typeface="Times New Roman"/>
                <a:cs typeface="Times New Roman"/>
                <a:sym typeface="Times New Roman"/>
              </a:rPr>
              <a:t>Spreads memory </a:t>
            </a:r>
            <a:r>
              <a:rPr lang="en-US" sz="2000">
                <a:solidFill>
                  <a:schemeClr val="dk1"/>
                </a:solidFill>
                <a:latin typeface="Times New Roman"/>
                <a:ea typeface="Times New Roman"/>
                <a:cs typeface="Times New Roman"/>
                <a:sym typeface="Times New Roman"/>
              </a:rPr>
              <a:t>addresses evenly across memory banks</a:t>
            </a:r>
            <a:endParaRPr sz="2000">
              <a:solidFill>
                <a:schemeClr val="dk1"/>
              </a:solidFill>
              <a:latin typeface="Times New Roman"/>
              <a:ea typeface="Times New Roman"/>
              <a:cs typeface="Times New Roman"/>
              <a:sym typeface="Times New Roman"/>
            </a:endParaRPr>
          </a:p>
          <a:p>
            <a:pPr indent="0" lvl="0" marL="0" marR="0" rtl="0" algn="just">
              <a:lnSpc>
                <a:spcPct val="100000"/>
              </a:lnSpc>
              <a:spcBef>
                <a:spcPts val="55"/>
              </a:spcBef>
              <a:spcAft>
                <a:spcPts val="0"/>
              </a:spcAft>
              <a:buClr>
                <a:srgbClr val="FF0000"/>
              </a:buClr>
              <a:buSzPts val="2000"/>
              <a:buFont typeface="Verdana"/>
              <a:buNone/>
            </a:pPr>
            <a:r>
              <a:t/>
            </a:r>
            <a:endParaRPr sz="2000">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0"/>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Contiguous memory reads and writes-Resulting in </a:t>
            </a:r>
            <a:r>
              <a:rPr b="1" lang="en-US" sz="2000">
                <a:solidFill>
                  <a:srgbClr val="FF0000"/>
                </a:solidFill>
                <a:latin typeface="Times New Roman"/>
                <a:ea typeface="Times New Roman"/>
                <a:cs typeface="Times New Roman"/>
                <a:sym typeface="Times New Roman"/>
              </a:rPr>
              <a:t>higher memory throughputs </a:t>
            </a:r>
            <a:r>
              <a:rPr lang="en-US" sz="2000">
                <a:solidFill>
                  <a:schemeClr val="dk1"/>
                </a:solidFill>
                <a:latin typeface="Times New Roman"/>
                <a:ea typeface="Times New Roman"/>
                <a:cs typeface="Times New Roman"/>
                <a:sym typeface="Times New Roman"/>
              </a:rPr>
              <a:t>due to  reduced waiting.</a:t>
            </a:r>
            <a:endParaRPr sz="2000">
              <a:solidFill>
                <a:schemeClr val="dk1"/>
              </a:solidFill>
              <a:latin typeface="Times New Roman"/>
              <a:ea typeface="Times New Roman"/>
              <a:cs typeface="Times New Roman"/>
              <a:sym typeface="Times New Roman"/>
            </a:endParaRPr>
          </a:p>
          <a:p>
            <a:pPr indent="-342900" lvl="0" marL="355600" marR="0" rtl="0" algn="just">
              <a:lnSpc>
                <a:spcPct val="100000"/>
              </a:lnSpc>
              <a:spcBef>
                <a:spcPts val="0"/>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Increase BW, performance</a:t>
            </a:r>
            <a:endParaRPr/>
          </a:p>
          <a:p>
            <a:pPr indent="-342900" lvl="0" marL="355600" marR="0" rtl="0" algn="just">
              <a:lnSpc>
                <a:spcPct val="100000"/>
              </a:lnSpc>
              <a:spcBef>
                <a:spcPts val="0"/>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2 way &amp; 4 way interleaving</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pic>
        <p:nvPicPr>
          <p:cNvPr id="735" name="Google Shape;735;p108"/>
          <p:cNvPicPr preferRelativeResize="0"/>
          <p:nvPr/>
        </p:nvPicPr>
        <p:blipFill rotWithShape="1">
          <a:blip r:embed="rId3">
            <a:alphaModFix/>
          </a:blip>
          <a:srcRect b="0" l="0" r="0" t="0"/>
          <a:stretch/>
        </p:blipFill>
        <p:spPr>
          <a:xfrm>
            <a:off x="14217" y="1981200"/>
            <a:ext cx="8956744" cy="2957580"/>
          </a:xfrm>
          <a:prstGeom prst="rect">
            <a:avLst/>
          </a:prstGeom>
          <a:noFill/>
          <a:ln>
            <a:noFill/>
          </a:ln>
        </p:spPr>
      </p:pic>
      <p:sp>
        <p:nvSpPr>
          <p:cNvPr id="736" name="Google Shape;736;p108"/>
          <p:cNvSpPr txBox="1"/>
          <p:nvPr/>
        </p:nvSpPr>
        <p:spPr>
          <a:xfrm>
            <a:off x="1600200" y="381000"/>
            <a:ext cx="4876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4 way interleaving</a:t>
            </a:r>
            <a:endParaRPr sz="1800">
              <a:solidFill>
                <a:schemeClr val="dk1"/>
              </a:solidFill>
              <a:latin typeface="Calibri"/>
              <a:ea typeface="Calibri"/>
              <a:cs typeface="Calibri"/>
              <a:sym typeface="Calibri"/>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109"/>
          <p:cNvSpPr txBox="1"/>
          <p:nvPr/>
        </p:nvSpPr>
        <p:spPr>
          <a:xfrm>
            <a:off x="0" y="966475"/>
            <a:ext cx="9144000" cy="5916900"/>
          </a:xfrm>
          <a:prstGeom prst="rect">
            <a:avLst/>
          </a:prstGeom>
          <a:noFill/>
          <a:ln>
            <a:noFill/>
          </a:ln>
        </p:spPr>
        <p:txBody>
          <a:bodyPr anchorCtr="0" anchor="t" bIns="0" lIns="0" spcFirstLastPara="1" rIns="0" wrap="square" tIns="12700">
            <a:spAutoFit/>
          </a:bodyPr>
          <a:lstStyle/>
          <a:p>
            <a:pPr indent="-342900" lvl="0" marL="355600" marR="302260" rtl="0" algn="l">
              <a:lnSpc>
                <a:spcPct val="150100"/>
              </a:lnSpc>
              <a:spcBef>
                <a:spcPts val="0"/>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An associative memory can be considered as a memory unit whose stored data can be identified for access by the </a:t>
            </a:r>
            <a:r>
              <a:rPr b="1" lang="en-US" sz="2000">
                <a:solidFill>
                  <a:schemeClr val="dk1"/>
                </a:solidFill>
                <a:latin typeface="Times New Roman"/>
                <a:ea typeface="Times New Roman"/>
                <a:cs typeface="Times New Roman"/>
                <a:sym typeface="Times New Roman"/>
              </a:rPr>
              <a:t>content of the data itself rather than by an address or memory location.</a:t>
            </a:r>
            <a:endParaRPr/>
          </a:p>
          <a:p>
            <a:pPr indent="-342900" lvl="0" marL="355600" marR="302260" rtl="0" algn="l">
              <a:lnSpc>
                <a:spcPct val="150100"/>
              </a:lnSpc>
              <a:spcBef>
                <a:spcPts val="100"/>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Associative memory is often referred to as </a:t>
            </a:r>
            <a:r>
              <a:rPr b="1" lang="en-US" sz="2000">
                <a:solidFill>
                  <a:schemeClr val="dk1"/>
                </a:solidFill>
                <a:latin typeface="Times New Roman"/>
                <a:ea typeface="Times New Roman"/>
                <a:cs typeface="Times New Roman"/>
                <a:sym typeface="Times New Roman"/>
              </a:rPr>
              <a:t>Content Addressable Memory (CAM).</a:t>
            </a:r>
            <a:endParaRPr/>
          </a:p>
          <a:p>
            <a:pPr indent="-342900" lvl="0" marL="355600" marR="302260" rtl="0" algn="l">
              <a:lnSpc>
                <a:spcPct val="150100"/>
              </a:lnSpc>
              <a:spcBef>
                <a:spcPts val="100"/>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Content-addressed or associative memory-memory is  </a:t>
            </a:r>
            <a:r>
              <a:rPr b="1" lang="en-US" sz="2000">
                <a:solidFill>
                  <a:srgbClr val="FF0000"/>
                </a:solidFill>
                <a:latin typeface="Times New Roman"/>
                <a:ea typeface="Times New Roman"/>
                <a:cs typeface="Times New Roman"/>
                <a:sym typeface="Times New Roman"/>
              </a:rPr>
              <a:t>accessed by its content </a:t>
            </a:r>
            <a:r>
              <a:rPr lang="en-US" sz="2000">
                <a:solidFill>
                  <a:schemeClr val="dk1"/>
                </a:solidFill>
                <a:latin typeface="Times New Roman"/>
                <a:ea typeface="Times New Roman"/>
                <a:cs typeface="Times New Roman"/>
                <a:sym typeface="Times New Roman"/>
              </a:rPr>
              <a:t>(as opposed to an explicit  address).</a:t>
            </a:r>
            <a:endParaRPr sz="2000">
              <a:solidFill>
                <a:schemeClr val="dk1"/>
              </a:solidFill>
              <a:latin typeface="Times New Roman"/>
              <a:ea typeface="Times New Roman"/>
              <a:cs typeface="Times New Roman"/>
              <a:sym typeface="Times New Roman"/>
            </a:endParaRPr>
          </a:p>
          <a:p>
            <a:pPr indent="-342900" lvl="0" marL="355600" marR="302260" rtl="0" algn="l">
              <a:lnSpc>
                <a:spcPct val="150100"/>
              </a:lnSpc>
              <a:spcBef>
                <a:spcPts val="100"/>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When a write operation is performed on associative memory, no address or memory location is given to the word. The </a:t>
            </a:r>
            <a:r>
              <a:rPr lang="en-US" sz="2000">
                <a:solidFill>
                  <a:srgbClr val="FF0000"/>
                </a:solidFill>
                <a:latin typeface="Times New Roman"/>
                <a:ea typeface="Times New Roman"/>
                <a:cs typeface="Times New Roman"/>
                <a:sym typeface="Times New Roman"/>
              </a:rPr>
              <a:t>memory itself is capable of finding an empty unused location to store the word.</a:t>
            </a:r>
            <a:endParaRPr/>
          </a:p>
          <a:p>
            <a:pPr indent="-342900" lvl="0" marL="355600" marR="302260" rtl="0" algn="l">
              <a:lnSpc>
                <a:spcPct val="150100"/>
              </a:lnSpc>
              <a:spcBef>
                <a:spcPts val="100"/>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when the word is to be read from an associative memory, the </a:t>
            </a:r>
            <a:r>
              <a:rPr lang="en-US" sz="2000">
                <a:solidFill>
                  <a:srgbClr val="953734"/>
                </a:solidFill>
                <a:latin typeface="Times New Roman"/>
                <a:ea typeface="Times New Roman"/>
                <a:cs typeface="Times New Roman"/>
                <a:sym typeface="Times New Roman"/>
              </a:rPr>
              <a:t>content of the word, or part of the word, is specified. The words which match the specified content are located by the memory and are marked for reading.</a:t>
            </a:r>
            <a:endParaRPr sz="2000">
              <a:solidFill>
                <a:srgbClr val="953734"/>
              </a:solidFill>
              <a:latin typeface="Times New Roman"/>
              <a:ea typeface="Times New Roman"/>
              <a:cs typeface="Times New Roman"/>
              <a:sym typeface="Times New Roman"/>
            </a:endParaRPr>
          </a:p>
        </p:txBody>
      </p:sp>
      <p:sp>
        <p:nvSpPr>
          <p:cNvPr id="742" name="Google Shape;742;p109"/>
          <p:cNvSpPr txBox="1"/>
          <p:nvPr>
            <p:ph type="title"/>
          </p:nvPr>
        </p:nvSpPr>
        <p:spPr>
          <a:xfrm>
            <a:off x="764844" y="412445"/>
            <a:ext cx="4133850"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a:solidFill>
                  <a:srgbClr val="FF0000"/>
                </a:solidFill>
                <a:latin typeface="Verdana"/>
                <a:ea typeface="Verdana"/>
                <a:cs typeface="Verdana"/>
                <a:sym typeface="Verdana"/>
              </a:rPr>
              <a:t>Associative	Memory</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110"/>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748" name="Google Shape;748;p110"/>
          <p:cNvSpPr txBox="1"/>
          <p:nvPr>
            <p:ph idx="1" type="body"/>
          </p:nvPr>
        </p:nvSpPr>
        <p:spPr>
          <a:xfrm>
            <a:off x="525144" y="1188465"/>
            <a:ext cx="8093710" cy="615553"/>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It takes very less time to find a particular word based on the content</a:t>
            </a:r>
            <a:endParaRPr/>
          </a:p>
        </p:txBody>
      </p:sp>
      <p:pic>
        <p:nvPicPr>
          <p:cNvPr id="749" name="Google Shape;749;p110"/>
          <p:cNvPicPr preferRelativeResize="0"/>
          <p:nvPr/>
        </p:nvPicPr>
        <p:blipFill rotWithShape="1">
          <a:blip r:embed="rId3">
            <a:alphaModFix/>
          </a:blip>
          <a:srcRect b="0" l="0" r="0" t="0"/>
          <a:stretch/>
        </p:blipFill>
        <p:spPr>
          <a:xfrm>
            <a:off x="533400" y="1905000"/>
            <a:ext cx="4572001" cy="3822700"/>
          </a:xfrm>
          <a:prstGeom prst="rect">
            <a:avLst/>
          </a:prstGeom>
          <a:noFill/>
          <a:ln>
            <a:noFill/>
          </a:ln>
        </p:spPr>
      </p:pic>
      <p:sp>
        <p:nvSpPr>
          <p:cNvPr id="750" name="Google Shape;750;p110"/>
          <p:cNvSpPr txBox="1"/>
          <p:nvPr/>
        </p:nvSpPr>
        <p:spPr>
          <a:xfrm>
            <a:off x="4846983" y="1676400"/>
            <a:ext cx="3962400" cy="4524315"/>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an associative memory consists of a memory array and logic for 'm' words with 'n' bits per word.</a:t>
            </a:r>
            <a:endParaRPr/>
          </a:p>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The functional registers like the argument register A (contains content) and key register K (for comparison) each have n bits, one for each bit of a word. </a:t>
            </a:r>
            <a:endParaRPr sz="1800">
              <a:solidFill>
                <a:schemeClr val="dk1"/>
              </a:solidFill>
              <a:latin typeface="Times New Roman"/>
              <a:ea typeface="Times New Roman"/>
              <a:cs typeface="Times New Roman"/>
              <a:sym typeface="Times New Roman"/>
            </a:endParaRPr>
          </a:p>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The match register M consists of m bits, one for each memory word-contains 1/0</a:t>
            </a:r>
            <a:endParaRPr/>
          </a:p>
          <a:p>
            <a:pPr indent="-171450" lvl="0" marL="285750" marR="0" rtl="0" algn="just">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The words which are kept in the memory are compared in parallel with the content of the argument register</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111"/>
          <p:cNvSpPr txBox="1"/>
          <p:nvPr>
            <p:ph idx="1" type="body"/>
          </p:nvPr>
        </p:nvSpPr>
        <p:spPr>
          <a:xfrm>
            <a:off x="0" y="1174825"/>
            <a:ext cx="9144000" cy="5094900"/>
          </a:xfrm>
          <a:prstGeom prst="rect">
            <a:avLst/>
          </a:prstGeom>
          <a:noFill/>
          <a:ln>
            <a:noFill/>
          </a:ln>
        </p:spPr>
        <p:txBody>
          <a:bodyPr anchorCtr="0" anchor="t" bIns="0" lIns="0" spcFirstLastPara="1" rIns="0" wrap="square" tIns="0">
            <a:spAutoFit/>
          </a:bodyPr>
          <a:lstStyle/>
          <a:p>
            <a:pPr indent="-342900" lvl="0" marL="355600" marR="85725" rtl="0" algn="just">
              <a:lnSpc>
                <a:spcPct val="150000"/>
              </a:lnSpc>
              <a:spcBef>
                <a:spcPts val="0"/>
              </a:spcBef>
              <a:spcAft>
                <a:spcPts val="0"/>
              </a:spcAft>
              <a:buClr>
                <a:schemeClr val="dk1"/>
              </a:buClr>
              <a:buSzPts val="2000"/>
              <a:buFont typeface="Verdana"/>
              <a:buChar char="•"/>
            </a:pPr>
            <a:r>
              <a:rPr lang="en-US">
                <a:latin typeface="Times New Roman"/>
                <a:ea typeface="Times New Roman"/>
                <a:cs typeface="Times New Roman"/>
                <a:sym typeface="Times New Roman"/>
              </a:rPr>
              <a:t>key register (K) provides a mask for choosing a particular field or key in the argument word</a:t>
            </a:r>
            <a:endParaRPr>
              <a:latin typeface="Times New Roman"/>
              <a:ea typeface="Times New Roman"/>
              <a:cs typeface="Times New Roman"/>
              <a:sym typeface="Times New Roman"/>
            </a:endParaRPr>
          </a:p>
          <a:p>
            <a:pPr indent="-342900" lvl="1" marL="812800" marR="85725" rtl="0" algn="just">
              <a:lnSpc>
                <a:spcPct val="150000"/>
              </a:lnSpc>
              <a:spcBef>
                <a:spcPts val="575"/>
              </a:spcBef>
              <a:spcAft>
                <a:spcPts val="0"/>
              </a:spcAft>
              <a:buSzPts val="1800"/>
              <a:buFont typeface="Verdana"/>
              <a:buChar char="•"/>
            </a:pPr>
            <a:r>
              <a:rPr lang="en-US">
                <a:latin typeface="Times New Roman"/>
                <a:ea typeface="Times New Roman"/>
                <a:cs typeface="Times New Roman"/>
                <a:sym typeface="Times New Roman"/>
              </a:rPr>
              <a:t>If the </a:t>
            </a:r>
            <a:r>
              <a:rPr b="1" lang="en-US">
                <a:latin typeface="Times New Roman"/>
                <a:ea typeface="Times New Roman"/>
                <a:cs typeface="Times New Roman"/>
                <a:sym typeface="Times New Roman"/>
              </a:rPr>
              <a:t>key register contains a binary value of all 1's</a:t>
            </a:r>
            <a:r>
              <a:rPr lang="en-US">
                <a:latin typeface="Times New Roman"/>
                <a:ea typeface="Times New Roman"/>
                <a:cs typeface="Times New Roman"/>
                <a:sym typeface="Times New Roman"/>
              </a:rPr>
              <a:t>, then the entire argument is compared with content of associative memory</a:t>
            </a:r>
            <a:endParaRPr>
              <a:latin typeface="Times New Roman"/>
              <a:ea typeface="Times New Roman"/>
              <a:cs typeface="Times New Roman"/>
              <a:sym typeface="Times New Roman"/>
            </a:endParaRPr>
          </a:p>
          <a:p>
            <a:pPr indent="-342900" lvl="1" marL="812800" marR="85725" rtl="0" algn="just">
              <a:lnSpc>
                <a:spcPct val="150000"/>
              </a:lnSpc>
              <a:spcBef>
                <a:spcPts val="575"/>
              </a:spcBef>
              <a:spcAft>
                <a:spcPts val="0"/>
              </a:spcAft>
              <a:buSzPts val="1800"/>
              <a:buFont typeface="Verdana"/>
              <a:buChar char="•"/>
            </a:pPr>
            <a:r>
              <a:rPr lang="en-US">
                <a:latin typeface="Times New Roman"/>
                <a:ea typeface="Times New Roman"/>
                <a:cs typeface="Times New Roman"/>
                <a:sym typeface="Times New Roman"/>
              </a:rPr>
              <a:t>When content of argument register is compared with content of associative memory, match is occurred (corresponding word in match register ,m value is 1)</a:t>
            </a:r>
            <a:endParaRPr/>
          </a:p>
          <a:p>
            <a:pPr indent="-342900" lvl="1" marL="812800" marR="85725" rtl="0" algn="just">
              <a:lnSpc>
                <a:spcPct val="150000"/>
              </a:lnSpc>
              <a:spcBef>
                <a:spcPts val="575"/>
              </a:spcBef>
              <a:spcAft>
                <a:spcPts val="0"/>
              </a:spcAft>
              <a:buSzPts val="1800"/>
              <a:buFont typeface="Verdana"/>
              <a:buChar char="•"/>
            </a:pPr>
            <a:r>
              <a:rPr lang="en-US">
                <a:latin typeface="Times New Roman"/>
                <a:ea typeface="Times New Roman"/>
                <a:cs typeface="Times New Roman"/>
                <a:sym typeface="Times New Roman"/>
              </a:rPr>
              <a:t>If </a:t>
            </a:r>
            <a:r>
              <a:rPr b="1" lang="en-US">
                <a:latin typeface="Times New Roman"/>
                <a:ea typeface="Times New Roman"/>
                <a:cs typeface="Times New Roman"/>
                <a:sym typeface="Times New Roman"/>
              </a:rPr>
              <a:t>key register value is 0, no comparison</a:t>
            </a:r>
            <a:r>
              <a:rPr lang="en-US">
                <a:latin typeface="Times New Roman"/>
                <a:ea typeface="Times New Roman"/>
                <a:cs typeface="Times New Roman"/>
                <a:sym typeface="Times New Roman"/>
              </a:rPr>
              <a:t>, match is not performed (m value is 0)</a:t>
            </a:r>
            <a:endParaRPr/>
          </a:p>
          <a:p>
            <a:pPr indent="-342900" lvl="0" marL="355600" marR="85725" rtl="0" algn="just">
              <a:lnSpc>
                <a:spcPct val="150000"/>
              </a:lnSpc>
              <a:spcBef>
                <a:spcPts val="575"/>
              </a:spcBef>
              <a:spcAft>
                <a:spcPts val="0"/>
              </a:spcAft>
              <a:buClr>
                <a:srgbClr val="FF0000"/>
              </a:buClr>
              <a:buSzPts val="2000"/>
              <a:buFont typeface="Verdana"/>
              <a:buChar char="•"/>
            </a:pPr>
            <a:r>
              <a:rPr b="1" lang="en-US">
                <a:solidFill>
                  <a:srgbClr val="FF0000"/>
                </a:solidFill>
                <a:latin typeface="Times New Roman"/>
                <a:ea typeface="Times New Roman"/>
                <a:cs typeface="Times New Roman"/>
                <a:sym typeface="Times New Roman"/>
              </a:rPr>
              <a:t>Reference clues </a:t>
            </a:r>
            <a:r>
              <a:rPr lang="en-US">
                <a:latin typeface="Times New Roman"/>
                <a:ea typeface="Times New Roman"/>
                <a:cs typeface="Times New Roman"/>
                <a:sym typeface="Times New Roman"/>
              </a:rPr>
              <a:t>are "associated" with actual memory  contents until a desirable match (or set of matches) is  found.</a:t>
            </a:r>
            <a:endParaRPr>
              <a:latin typeface="Times New Roman"/>
              <a:ea typeface="Times New Roman"/>
              <a:cs typeface="Times New Roman"/>
              <a:sym typeface="Times New Roman"/>
            </a:endParaRPr>
          </a:p>
          <a:p>
            <a:pPr indent="-342900" lvl="0" marL="355600" rtl="0" algn="just">
              <a:lnSpc>
                <a:spcPct val="100000"/>
              </a:lnSpc>
              <a:spcBef>
                <a:spcPts val="2020"/>
              </a:spcBef>
              <a:spcAft>
                <a:spcPts val="0"/>
              </a:spcAft>
              <a:buClr>
                <a:srgbClr val="FF0000"/>
              </a:buClr>
              <a:buSzPts val="2000"/>
              <a:buFont typeface="Times New Roman"/>
              <a:buChar char="•"/>
            </a:pPr>
            <a:r>
              <a:rPr lang="en-US">
                <a:latin typeface="Times New Roman"/>
                <a:ea typeface="Times New Roman"/>
                <a:cs typeface="Times New Roman"/>
                <a:sym typeface="Times New Roman"/>
              </a:rPr>
              <a:t>Humans retrieve information best when it can be linked to other related information.</a:t>
            </a:r>
            <a:endParaRPr>
              <a:latin typeface="Times New Roman"/>
              <a:ea typeface="Times New Roman"/>
              <a:cs typeface="Times New Roman"/>
              <a:sym typeface="Times New Roman"/>
            </a:endParaRPr>
          </a:p>
          <a:p>
            <a:pPr indent="-215900" lvl="0" marL="342900" rtl="0" algn="just">
              <a:spcBef>
                <a:spcPts val="0"/>
              </a:spcBef>
              <a:spcAft>
                <a:spcPts val="0"/>
              </a:spcAft>
              <a:buClr>
                <a:schemeClr val="dk1"/>
              </a:buClr>
              <a:buSzPts val="2000"/>
              <a:buFont typeface="Arial"/>
              <a:buNone/>
            </a:pPr>
            <a:r>
              <a:t/>
            </a:r>
            <a:endParaRPr/>
          </a:p>
        </p:txBody>
      </p:sp>
      <p:sp>
        <p:nvSpPr>
          <p:cNvPr id="756" name="Google Shape;756;p111"/>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112"/>
          <p:cNvSpPr txBox="1"/>
          <p:nvPr>
            <p:ph type="title"/>
          </p:nvPr>
        </p:nvSpPr>
        <p:spPr>
          <a:xfrm>
            <a:off x="485355" y="484075"/>
            <a:ext cx="5024100" cy="4431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Virtual Memory</a:t>
            </a:r>
            <a:endParaRPr/>
          </a:p>
        </p:txBody>
      </p:sp>
      <p:pic>
        <p:nvPicPr>
          <p:cNvPr id="762" name="Google Shape;762;p112"/>
          <p:cNvPicPr preferRelativeResize="0"/>
          <p:nvPr/>
        </p:nvPicPr>
        <p:blipFill rotWithShape="1">
          <a:blip r:embed="rId3">
            <a:alphaModFix/>
          </a:blip>
          <a:srcRect b="0" l="0" r="0" t="0"/>
          <a:stretch/>
        </p:blipFill>
        <p:spPr>
          <a:xfrm>
            <a:off x="144000" y="1371600"/>
            <a:ext cx="9000000" cy="3558377"/>
          </a:xfrm>
          <a:prstGeom prst="rect">
            <a:avLst/>
          </a:prstGeom>
          <a:noFill/>
          <a:ln>
            <a:noFill/>
          </a:ln>
        </p:spPr>
      </p:pic>
      <p:sp>
        <p:nvSpPr>
          <p:cNvPr id="763" name="Google Shape;763;p112"/>
          <p:cNvSpPr txBox="1"/>
          <p:nvPr/>
        </p:nvSpPr>
        <p:spPr>
          <a:xfrm>
            <a:off x="304800" y="5105400"/>
            <a:ext cx="8382000" cy="1323439"/>
          </a:xfrm>
          <a:prstGeom prst="rect">
            <a:avLst/>
          </a:prstGeom>
          <a:noFill/>
          <a:ln>
            <a:noFill/>
          </a:ln>
        </p:spPr>
        <p:txBody>
          <a:bodyPr anchorCtr="0" anchor="t" bIns="45700" lIns="91425" spcFirstLastPara="1" rIns="91425" wrap="square" tIns="45700">
            <a:spAutoFit/>
          </a:bodyPr>
          <a:lstStyle/>
          <a:p>
            <a:pPr indent="-127000" lvl="0" marL="0" marR="0" rtl="0" algn="just">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Memory management is a method in the operating system to </a:t>
            </a:r>
            <a:r>
              <a:rPr b="1" lang="en-US" sz="2000">
                <a:solidFill>
                  <a:schemeClr val="dk1"/>
                </a:solidFill>
                <a:latin typeface="Times New Roman"/>
                <a:ea typeface="Times New Roman"/>
                <a:cs typeface="Times New Roman"/>
                <a:sym typeface="Times New Roman"/>
              </a:rPr>
              <a:t>manage operations between main memory and disk during process execution. </a:t>
            </a:r>
            <a:endParaRPr/>
          </a:p>
          <a:p>
            <a:pPr indent="-127000" lvl="0" marL="0" marR="0" rtl="0" algn="just">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The main aim of memory management is to achieve </a:t>
            </a:r>
            <a:r>
              <a:rPr b="1" lang="en-US" sz="2000">
                <a:solidFill>
                  <a:schemeClr val="dk1"/>
                </a:solidFill>
                <a:latin typeface="Times New Roman"/>
                <a:ea typeface="Times New Roman"/>
                <a:cs typeface="Times New Roman"/>
                <a:sym typeface="Times New Roman"/>
              </a:rPr>
              <a:t>efficient utilization of memory. </a:t>
            </a:r>
            <a:r>
              <a:rPr b="1" lang="en-US" sz="1800">
                <a:solidFill>
                  <a:schemeClr val="dk1"/>
                </a:solidFill>
                <a:latin typeface="Calibri"/>
                <a:ea typeface="Calibri"/>
                <a:cs typeface="Calibri"/>
                <a:sym typeface="Calibri"/>
              </a:rPr>
              <a:t> </a:t>
            </a:r>
            <a:endParaRPr b="1" sz="1800">
              <a:solidFill>
                <a:schemeClr val="dk1"/>
              </a:solidFill>
              <a:latin typeface="Calibri"/>
              <a:ea typeface="Calibri"/>
              <a:cs typeface="Calibri"/>
              <a:sym typeface="Calibri"/>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113"/>
          <p:cNvSpPr txBox="1"/>
          <p:nvPr>
            <p:ph idx="1" type="body"/>
          </p:nvPr>
        </p:nvSpPr>
        <p:spPr>
          <a:xfrm>
            <a:off x="533400" y="1371600"/>
            <a:ext cx="8093710" cy="5047536"/>
          </a:xfrm>
          <a:prstGeom prst="rect">
            <a:avLst/>
          </a:prstGeom>
          <a:noFill/>
          <a:ln>
            <a:noFill/>
          </a:ln>
        </p:spPr>
        <p:txBody>
          <a:bodyPr anchorCtr="0" anchor="t" bIns="0" lIns="0" spcFirstLastPara="1" rIns="0" wrap="square" tIns="0">
            <a:spAutoFit/>
          </a:bodyPr>
          <a:lstStyle/>
          <a:p>
            <a:pPr indent="-152400" lvl="0" marL="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All modern CPUs have memory management units (MMUs) that support virtual memory. </a:t>
            </a:r>
            <a:endParaRPr/>
          </a:p>
          <a:p>
            <a:pPr indent="-152400" lvl="0" marL="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Virtual memory is a method that computers use to </a:t>
            </a:r>
            <a:r>
              <a:rPr b="1" lang="en-US" sz="2400">
                <a:latin typeface="Times New Roman"/>
                <a:ea typeface="Times New Roman"/>
                <a:cs typeface="Times New Roman"/>
                <a:sym typeface="Times New Roman"/>
              </a:rPr>
              <a:t>manage storage space to keep systems running quickly and efficiently.</a:t>
            </a:r>
            <a:r>
              <a:rPr lang="en-US" sz="2400">
                <a:latin typeface="Times New Roman"/>
                <a:ea typeface="Times New Roman"/>
                <a:cs typeface="Times New Roman"/>
                <a:sym typeface="Times New Roman"/>
              </a:rPr>
              <a:t> </a:t>
            </a:r>
            <a:endParaRPr/>
          </a:p>
          <a:p>
            <a:pPr indent="-152400" lvl="0" marL="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Virtual memory uses both the computer's software and hardware to work. </a:t>
            </a:r>
            <a:endParaRPr/>
          </a:p>
          <a:p>
            <a:pPr indent="-152400" lvl="0" marL="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It transfers processes between the computer's RAM and hard disk by copying any files from the computer's RAM that aren't currently in use and moving them to the hard disk. </a:t>
            </a:r>
            <a:endParaRPr/>
          </a:p>
          <a:p>
            <a:pPr indent="-152400" lvl="0" marL="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By </a:t>
            </a:r>
            <a:r>
              <a:rPr b="1" lang="en-US" sz="2400">
                <a:latin typeface="Times New Roman"/>
                <a:ea typeface="Times New Roman"/>
                <a:cs typeface="Times New Roman"/>
                <a:sym typeface="Times New Roman"/>
              </a:rPr>
              <a:t>moving unused files to the hard disk</a:t>
            </a:r>
            <a:r>
              <a:rPr lang="en-US" sz="2400">
                <a:latin typeface="Times New Roman"/>
                <a:ea typeface="Times New Roman"/>
                <a:cs typeface="Times New Roman"/>
                <a:sym typeface="Times New Roman"/>
              </a:rPr>
              <a:t>, a computer frees up space in its RAM to perform current tasks</a:t>
            </a:r>
            <a:endParaRPr/>
          </a:p>
          <a:p>
            <a:pPr indent="0" lvl="0" marL="0" rtl="0" algn="just">
              <a:spcBef>
                <a:spcPts val="0"/>
              </a:spcBef>
              <a:spcAft>
                <a:spcPts val="0"/>
              </a:spcAft>
              <a:buClr>
                <a:schemeClr val="dk1"/>
              </a:buClr>
              <a:buSzPts val="2400"/>
              <a:buFont typeface="Arial"/>
              <a:buNone/>
            </a:pPr>
            <a:r>
              <a:t/>
            </a:r>
            <a:endParaRPr sz="2400">
              <a:latin typeface="Times New Roman"/>
              <a:ea typeface="Times New Roman"/>
              <a:cs typeface="Times New Roman"/>
              <a:sym typeface="Times New Roman"/>
            </a:endParaRPr>
          </a:p>
          <a:p>
            <a:pPr indent="0" lvl="0" marL="0" rtl="0" algn="just">
              <a:spcBef>
                <a:spcPts val="0"/>
              </a:spcBef>
              <a:spcAft>
                <a:spcPts val="0"/>
              </a:spcAft>
              <a:buClr>
                <a:schemeClr val="dk1"/>
              </a:buClr>
              <a:buSzPts val="2000"/>
              <a:buFont typeface="Arial"/>
              <a:buNone/>
            </a:pPr>
            <a:r>
              <a:t/>
            </a:r>
            <a:endParaRPr>
              <a:latin typeface="Times New Roman"/>
              <a:ea typeface="Times New Roman"/>
              <a:cs typeface="Times New Roman"/>
              <a:sym typeface="Times New Roman"/>
            </a:endParaRPr>
          </a:p>
          <a:p>
            <a:pPr indent="0" lvl="0" marL="0" rtl="0" algn="just">
              <a:spcBef>
                <a:spcPts val="0"/>
              </a:spcBef>
              <a:spcAft>
                <a:spcPts val="0"/>
              </a:spcAft>
              <a:buClr>
                <a:schemeClr val="dk1"/>
              </a:buClr>
              <a:buSzPts val="2000"/>
              <a:buFont typeface="Arial"/>
              <a:buNone/>
            </a:pPr>
            <a:r>
              <a:t/>
            </a:r>
            <a:endParaRPr>
              <a:latin typeface="Times New Roman"/>
              <a:ea typeface="Times New Roman"/>
              <a:cs typeface="Times New Roman"/>
              <a:sym typeface="Times New Roman"/>
            </a:endParaRPr>
          </a:p>
        </p:txBody>
      </p:sp>
      <p:sp>
        <p:nvSpPr>
          <p:cNvPr id="769" name="Google Shape;769;p113"/>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114"/>
          <p:cNvSpPr txBox="1"/>
          <p:nvPr>
            <p:ph idx="1" type="body"/>
          </p:nvPr>
        </p:nvSpPr>
        <p:spPr>
          <a:xfrm>
            <a:off x="525144" y="1188465"/>
            <a:ext cx="8093710" cy="2954655"/>
          </a:xfrm>
          <a:prstGeom prst="rect">
            <a:avLst/>
          </a:prstGeom>
          <a:noFill/>
          <a:ln>
            <a:noFill/>
          </a:ln>
        </p:spPr>
        <p:txBody>
          <a:bodyPr anchorCtr="0" anchor="t" bIns="0" lIns="0" spcFirstLastPara="1" rIns="0" wrap="square" tIns="0">
            <a:spAutoFit/>
          </a:bodyPr>
          <a:lstStyle/>
          <a:p>
            <a:pPr indent="-152400" lvl="0" marL="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virtual memory increases the computer's capacity to do work.</a:t>
            </a:r>
            <a:endParaRPr/>
          </a:p>
          <a:p>
            <a:pPr indent="-152400" lvl="0" marL="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Installing more RAM chips can be expensive, so virtual memory allows the computer to move files between systems as needed to optimize its use of the available RAM.</a:t>
            </a:r>
            <a:endParaRPr/>
          </a:p>
          <a:p>
            <a:pPr indent="-152400" lvl="0" marL="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They provide "page tables" that are used to translate between the program's "virtual" addresses and the "real" addresses in RAM and storage</a:t>
            </a:r>
            <a:endParaRPr/>
          </a:p>
          <a:p>
            <a:pPr indent="0" lvl="0" marL="0" rtl="0" algn="l">
              <a:spcBef>
                <a:spcPts val="0"/>
              </a:spcBef>
              <a:spcAft>
                <a:spcPts val="0"/>
              </a:spcAft>
              <a:buClr>
                <a:schemeClr val="dk1"/>
              </a:buClr>
              <a:buSzPts val="2400"/>
              <a:buFont typeface="Arial"/>
              <a:buNone/>
            </a:pPr>
            <a:r>
              <a:t/>
            </a:r>
            <a:endParaRPr sz="2400"/>
          </a:p>
        </p:txBody>
      </p:sp>
      <p:sp>
        <p:nvSpPr>
          <p:cNvPr id="775" name="Google Shape;775;p114"/>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pic>
        <p:nvPicPr>
          <p:cNvPr id="780" name="Google Shape;780;p115"/>
          <p:cNvPicPr preferRelativeResize="0"/>
          <p:nvPr/>
        </p:nvPicPr>
        <p:blipFill rotWithShape="1">
          <a:blip r:embed="rId3">
            <a:alphaModFix/>
          </a:blip>
          <a:srcRect b="0" l="0" r="0" t="0"/>
          <a:stretch/>
        </p:blipFill>
        <p:spPr>
          <a:xfrm>
            <a:off x="214125" y="0"/>
            <a:ext cx="8733100" cy="685800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116"/>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786" name="Google Shape;786;p116"/>
          <p:cNvSpPr txBox="1"/>
          <p:nvPr>
            <p:ph idx="1" type="body"/>
          </p:nvPr>
        </p:nvSpPr>
        <p:spPr>
          <a:xfrm>
            <a:off x="525144" y="1188465"/>
            <a:ext cx="8093710" cy="2154436"/>
          </a:xfrm>
          <a:prstGeom prst="rect">
            <a:avLst/>
          </a:prstGeom>
          <a:noFill/>
          <a:ln>
            <a:noFill/>
          </a:ln>
        </p:spPr>
        <p:txBody>
          <a:bodyPr anchorCtr="0" anchor="t" bIns="0" lIns="0" spcFirstLastPara="1" rIns="0" wrap="square" tIns="0">
            <a:spAutoFit/>
          </a:bodyPr>
          <a:lstStyle/>
          <a:p>
            <a:pPr indent="-127000" lvl="0" marL="0" rtl="0" algn="just">
              <a:spcBef>
                <a:spcPts val="0"/>
              </a:spcBef>
              <a:spcAft>
                <a:spcPts val="0"/>
              </a:spcAft>
              <a:buClr>
                <a:schemeClr val="dk1"/>
              </a:buClr>
              <a:buSzPts val="2000"/>
              <a:buFont typeface="Arial"/>
              <a:buChar char="•"/>
            </a:pPr>
            <a:r>
              <a:rPr b="1" lang="en-US">
                <a:latin typeface="Times New Roman"/>
                <a:ea typeface="Times New Roman"/>
                <a:cs typeface="Times New Roman"/>
                <a:sym typeface="Times New Roman"/>
              </a:rPr>
              <a:t>Memory Is Extended to Storage</a:t>
            </a:r>
            <a:endParaRPr/>
          </a:p>
          <a:p>
            <a:pPr indent="-127000" lvl="0" marL="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The computer's RAM is divided into "pages," typically 4KB in size. </a:t>
            </a:r>
            <a:endParaRPr/>
          </a:p>
          <a:p>
            <a:pPr indent="-127000" lvl="0" marL="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When RAM fills up, pages not currently in use by open programs are written to storage in a "swap file." </a:t>
            </a:r>
            <a:endParaRPr/>
          </a:p>
          <a:p>
            <a:pPr indent="-127000" lvl="0" marL="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When instructions in a swapped out page are required again, some other page in RAM is written to storage to make room</a:t>
            </a:r>
            <a:endParaRPr/>
          </a:p>
          <a:p>
            <a:pPr indent="0" lvl="0" marL="0" rtl="0" algn="l">
              <a:spcBef>
                <a:spcPts val="0"/>
              </a:spcBef>
              <a:spcAft>
                <a:spcPts val="0"/>
              </a:spcAft>
              <a:buNone/>
            </a:pPr>
            <a:r>
              <a:t/>
            </a:r>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117"/>
          <p:cNvSpPr txBox="1"/>
          <p:nvPr/>
        </p:nvSpPr>
        <p:spPr>
          <a:xfrm>
            <a:off x="78739" y="14097"/>
            <a:ext cx="2974975" cy="3410549"/>
          </a:xfrm>
          <a:prstGeom prst="rect">
            <a:avLst/>
          </a:prstGeom>
          <a:noFill/>
          <a:ln>
            <a:noFill/>
          </a:ln>
        </p:spPr>
        <p:txBody>
          <a:bodyPr anchorCtr="0" anchor="t" bIns="0" lIns="0" spcFirstLastPara="1" rIns="0" wrap="square" tIns="12050">
            <a:spAutoFit/>
          </a:bodyPr>
          <a:lstStyle/>
          <a:p>
            <a:pPr indent="-342900" lvl="0" marL="355600" marR="1131570" rtl="0" algn="l">
              <a:lnSpc>
                <a:spcPct val="100000"/>
              </a:lnSpc>
              <a:spcBef>
                <a:spcPts val="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Virtual  memory</a:t>
            </a:r>
            <a:endParaRPr sz="2800">
              <a:solidFill>
                <a:schemeClr val="dk1"/>
              </a:solidFill>
              <a:latin typeface="Verdana"/>
              <a:ea typeface="Verdana"/>
              <a:cs typeface="Verdana"/>
              <a:sym typeface="Verdana"/>
            </a:endParaRPr>
          </a:p>
          <a:p>
            <a:pPr indent="0" lvl="0" marL="12700" marR="0" rtl="0" algn="just">
              <a:spcBef>
                <a:spcPts val="2515"/>
              </a:spcBef>
              <a:spcAft>
                <a:spcPts val="0"/>
              </a:spcAft>
              <a:buNone/>
            </a:pPr>
            <a:r>
              <a:rPr lang="en-US" sz="2400">
                <a:solidFill>
                  <a:schemeClr val="dk1"/>
                </a:solidFill>
                <a:latin typeface="Times New Roman"/>
                <a:ea typeface="Times New Roman"/>
                <a:cs typeface="Times New Roman"/>
                <a:sym typeface="Times New Roman"/>
              </a:rPr>
              <a:t>Allows more</a:t>
            </a:r>
            <a:endParaRPr sz="2400">
              <a:solidFill>
                <a:schemeClr val="dk1"/>
              </a:solidFill>
              <a:latin typeface="Times New Roman"/>
              <a:ea typeface="Times New Roman"/>
              <a:cs typeface="Times New Roman"/>
              <a:sym typeface="Times New Roman"/>
            </a:endParaRPr>
          </a:p>
          <a:p>
            <a:pPr indent="0" lvl="0" marL="12700" marR="5080" rtl="0" algn="just">
              <a:spcBef>
                <a:spcPts val="0"/>
              </a:spcBef>
              <a:spcAft>
                <a:spcPts val="0"/>
              </a:spcAft>
              <a:buNone/>
            </a:pPr>
            <a:r>
              <a:rPr lang="en-US" sz="2400">
                <a:solidFill>
                  <a:schemeClr val="dk1"/>
                </a:solidFill>
                <a:latin typeface="Times New Roman"/>
                <a:ea typeface="Times New Roman"/>
                <a:cs typeface="Times New Roman"/>
                <a:sym typeface="Times New Roman"/>
              </a:rPr>
              <a:t>programs to be  opened  simultaneously by  using the hard disk</a:t>
            </a:r>
            <a:endParaRPr sz="2400">
              <a:solidFill>
                <a:schemeClr val="dk1"/>
              </a:solidFill>
              <a:latin typeface="Times New Roman"/>
              <a:ea typeface="Times New Roman"/>
              <a:cs typeface="Times New Roman"/>
              <a:sym typeface="Times New Roman"/>
            </a:endParaRPr>
          </a:p>
          <a:p>
            <a:pPr indent="0" lvl="0" marL="12700" marR="23495" rtl="0" algn="just">
              <a:spcBef>
                <a:spcPts val="0"/>
              </a:spcBef>
              <a:spcAft>
                <a:spcPts val="0"/>
              </a:spcAft>
              <a:buNone/>
            </a:pPr>
            <a:r>
              <a:rPr lang="en-US" sz="2400">
                <a:solidFill>
                  <a:schemeClr val="dk1"/>
                </a:solidFill>
                <a:latin typeface="Times New Roman"/>
                <a:ea typeface="Times New Roman"/>
                <a:cs typeface="Times New Roman"/>
                <a:sym typeface="Times New Roman"/>
              </a:rPr>
              <a:t>as temporary  storage of memory  pages.</a:t>
            </a:r>
            <a:endParaRPr sz="2400">
              <a:solidFill>
                <a:schemeClr val="dk1"/>
              </a:solidFill>
              <a:latin typeface="Times New Roman"/>
              <a:ea typeface="Times New Roman"/>
              <a:cs typeface="Times New Roman"/>
              <a:sym typeface="Times New Roman"/>
            </a:endParaRPr>
          </a:p>
        </p:txBody>
      </p:sp>
      <p:pic>
        <p:nvPicPr>
          <p:cNvPr id="792" name="Google Shape;792;p117"/>
          <p:cNvPicPr preferRelativeResize="0"/>
          <p:nvPr/>
        </p:nvPicPr>
        <p:blipFill rotWithShape="1">
          <a:blip r:embed="rId3">
            <a:alphaModFix/>
          </a:blip>
          <a:srcRect b="0" l="0" r="0" t="0"/>
          <a:stretch/>
        </p:blipFill>
        <p:spPr>
          <a:xfrm>
            <a:off x="4267200" y="17462"/>
            <a:ext cx="4876799" cy="6840535"/>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18"/>
          <p:cNvSpPr txBox="1"/>
          <p:nvPr>
            <p:ph idx="1" type="body"/>
          </p:nvPr>
        </p:nvSpPr>
        <p:spPr>
          <a:xfrm>
            <a:off x="525144" y="1188465"/>
            <a:ext cx="8093710" cy="1846659"/>
          </a:xfrm>
          <a:prstGeom prst="rect">
            <a:avLst/>
          </a:prstGeom>
          <a:noFill/>
          <a:ln>
            <a:noFill/>
          </a:ln>
        </p:spPr>
        <p:txBody>
          <a:bodyPr anchorCtr="0" anchor="t" bIns="0" lIns="0" spcFirstLastPara="1" rIns="0" wrap="square" tIns="0">
            <a:spAutoFit/>
          </a:bodyPr>
          <a:lstStyle/>
          <a:p>
            <a:pPr indent="-127000" lvl="0" marL="0" rtl="0" algn="l">
              <a:spcBef>
                <a:spcPts val="0"/>
              </a:spcBef>
              <a:spcAft>
                <a:spcPts val="0"/>
              </a:spcAft>
              <a:buClr>
                <a:schemeClr val="dk1"/>
              </a:buClr>
              <a:buSzPts val="2000"/>
              <a:buFont typeface="Arial"/>
              <a:buChar char="•"/>
            </a:pPr>
            <a:r>
              <a:rPr b="1" lang="en-US">
                <a:latin typeface="Times New Roman"/>
                <a:ea typeface="Times New Roman"/>
                <a:cs typeface="Times New Roman"/>
                <a:sym typeface="Times New Roman"/>
              </a:rPr>
              <a:t>Page Out, Page In</a:t>
            </a:r>
            <a:endParaRPr/>
          </a:p>
          <a:p>
            <a:pPr indent="-127000" lvl="0" marL="0" rtl="0" algn="l">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When real memory (RAM) is full and the current program needs instructions that are not in RAM, pages are swapped. </a:t>
            </a:r>
            <a:endParaRPr/>
          </a:p>
          <a:p>
            <a:pPr indent="0" lvl="0" marL="0" rtl="0" algn="l">
              <a:spcBef>
                <a:spcPts val="0"/>
              </a:spcBef>
              <a:spcAft>
                <a:spcPts val="0"/>
              </a:spcAft>
              <a:buNone/>
            </a:pPr>
            <a:r>
              <a:t/>
            </a:r>
            <a:endParaRPr>
              <a:latin typeface="Times New Roman"/>
              <a:ea typeface="Times New Roman"/>
              <a:cs typeface="Times New Roman"/>
              <a:sym typeface="Times New Roman"/>
            </a:endParaRPr>
          </a:p>
          <a:p>
            <a:pPr indent="-127000" lvl="0" marL="0" rtl="0" algn="l">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In this example, program A needs a page from the disk, and a page from program C is swapped out to make room.</a:t>
            </a:r>
            <a:endParaRPr>
              <a:latin typeface="Times New Roman"/>
              <a:ea typeface="Times New Roman"/>
              <a:cs typeface="Times New Roman"/>
              <a:sym typeface="Times New Roman"/>
            </a:endParaRPr>
          </a:p>
        </p:txBody>
      </p:sp>
      <p:sp>
        <p:nvSpPr>
          <p:cNvPr id="798" name="Google Shape;798;p118"/>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119"/>
          <p:cNvSpPr txBox="1"/>
          <p:nvPr>
            <p:ph type="title"/>
          </p:nvPr>
        </p:nvSpPr>
        <p:spPr>
          <a:xfrm>
            <a:off x="485343" y="290525"/>
            <a:ext cx="5243830" cy="6350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4000"/>
              <a:t>VIRTUAL MEMORY</a:t>
            </a:r>
            <a:endParaRPr sz="4000"/>
          </a:p>
        </p:txBody>
      </p:sp>
      <p:sp>
        <p:nvSpPr>
          <p:cNvPr id="804" name="Google Shape;804;p119"/>
          <p:cNvSpPr txBox="1"/>
          <p:nvPr/>
        </p:nvSpPr>
        <p:spPr>
          <a:xfrm>
            <a:off x="78739" y="1115314"/>
            <a:ext cx="8985250" cy="5488682"/>
          </a:xfrm>
          <a:prstGeom prst="rect">
            <a:avLst/>
          </a:prstGeom>
          <a:noFill/>
          <a:ln>
            <a:noFill/>
          </a:ln>
        </p:spPr>
        <p:txBody>
          <a:bodyPr anchorCtr="0" anchor="t" bIns="0" lIns="0" spcFirstLastPara="1" rIns="0" wrap="square" tIns="12700">
            <a:spAutoFit/>
          </a:bodyPr>
          <a:lstStyle/>
          <a:p>
            <a:pPr indent="-342900" lvl="0" marL="355600" marR="0" rtl="0" algn="l">
              <a:lnSpc>
                <a:spcPct val="100000"/>
              </a:lnSpc>
              <a:spcBef>
                <a:spcPts val="0"/>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32 or 64MB of RAM available for CPU usage.</a:t>
            </a:r>
            <a:endParaRPr/>
          </a:p>
          <a:p>
            <a:pPr indent="0" lvl="0" marL="0" marR="0" rtl="0" algn="l">
              <a:lnSpc>
                <a:spcPct val="100000"/>
              </a:lnSpc>
              <a:spcBef>
                <a:spcPts val="55"/>
              </a:spcBef>
              <a:spcAft>
                <a:spcPts val="0"/>
              </a:spcAft>
              <a:buClr>
                <a:srgbClr val="FF0000"/>
              </a:buClr>
              <a:buSzPts val="2000"/>
              <a:buFont typeface="Verdana"/>
              <a:buNone/>
            </a:pPr>
            <a:r>
              <a:t/>
            </a:r>
            <a:endParaRPr sz="2000">
              <a:solidFill>
                <a:schemeClr val="dk1"/>
              </a:solidFill>
              <a:latin typeface="Times New Roman"/>
              <a:ea typeface="Times New Roman"/>
              <a:cs typeface="Times New Roman"/>
              <a:sym typeface="Times New Roman"/>
            </a:endParaRPr>
          </a:p>
          <a:p>
            <a:pPr indent="-342900" lvl="0" marL="355600" marR="0" rtl="0" algn="l">
              <a:lnSpc>
                <a:spcPct val="100000"/>
              </a:lnSpc>
              <a:spcBef>
                <a:spcPts val="0"/>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Users expect all their programs to run at once.</a:t>
            </a:r>
            <a:endParaRPr sz="2000">
              <a:solidFill>
                <a:schemeClr val="dk1"/>
              </a:solidFill>
              <a:latin typeface="Times New Roman"/>
              <a:ea typeface="Times New Roman"/>
              <a:cs typeface="Times New Roman"/>
              <a:sym typeface="Times New Roman"/>
            </a:endParaRPr>
          </a:p>
          <a:p>
            <a:pPr indent="-342900" lvl="0" marL="355600" marR="1943100" rtl="0" algn="l">
              <a:lnSpc>
                <a:spcPct val="200100"/>
              </a:lnSpc>
              <a:spcBef>
                <a:spcPts val="575"/>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Ex Email program,a Web browser and word  processor(all in RAM simultaneously)</a:t>
            </a:r>
            <a:endParaRPr sz="2000">
              <a:solidFill>
                <a:schemeClr val="dk1"/>
              </a:solidFill>
              <a:latin typeface="Times New Roman"/>
              <a:ea typeface="Times New Roman"/>
              <a:cs typeface="Times New Roman"/>
              <a:sym typeface="Times New Roman"/>
            </a:endParaRPr>
          </a:p>
          <a:p>
            <a:pPr indent="-342900" lvl="0" marL="355600" marR="5080" rtl="0" algn="l">
              <a:lnSpc>
                <a:spcPct val="200000"/>
              </a:lnSpc>
              <a:spcBef>
                <a:spcPts val="575"/>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Find	RAM	for	areas	that	have	not	been	used	recently  and copy them onto the hard disk</a:t>
            </a:r>
            <a:endParaRPr sz="2000">
              <a:solidFill>
                <a:schemeClr val="dk1"/>
              </a:solidFill>
              <a:latin typeface="Times New Roman"/>
              <a:ea typeface="Times New Roman"/>
              <a:cs typeface="Times New Roman"/>
              <a:sym typeface="Times New Roman"/>
            </a:endParaRPr>
          </a:p>
          <a:p>
            <a:pPr indent="-342900" lvl="0" marL="355600" marR="5080" rtl="0" algn="l">
              <a:lnSpc>
                <a:spcPct val="200000"/>
              </a:lnSpc>
              <a:spcBef>
                <a:spcPts val="575"/>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Virtual Memory is a storage scheme that provides user an illusion of having a very big main memory. This is done </a:t>
            </a:r>
            <a:r>
              <a:rPr lang="en-US" sz="2000">
                <a:solidFill>
                  <a:srgbClr val="FF0000"/>
                </a:solidFill>
                <a:latin typeface="Times New Roman"/>
                <a:ea typeface="Times New Roman"/>
                <a:cs typeface="Times New Roman"/>
                <a:sym typeface="Times New Roman"/>
              </a:rPr>
              <a:t>by treating a part of secondary memory as the main memory.</a:t>
            </a:r>
            <a:endParaRPr sz="2000">
              <a:solidFill>
                <a:srgbClr val="FF0000"/>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120"/>
          <p:cNvSpPr txBox="1"/>
          <p:nvPr/>
        </p:nvSpPr>
        <p:spPr>
          <a:xfrm>
            <a:off x="116839" y="1191514"/>
            <a:ext cx="8947150" cy="4681220"/>
          </a:xfrm>
          <a:prstGeom prst="rect">
            <a:avLst/>
          </a:prstGeom>
          <a:noFill/>
          <a:ln>
            <a:noFill/>
          </a:ln>
        </p:spPr>
        <p:txBody>
          <a:bodyPr anchorCtr="0" anchor="t" bIns="0" lIns="0" spcFirstLastPara="1" rIns="0" wrap="square" tIns="12700">
            <a:spAutoFit/>
          </a:bodyPr>
          <a:lstStyle/>
          <a:p>
            <a:pPr indent="-451483" lvl="0" marL="463550" marR="0" rtl="0" algn="l">
              <a:lnSpc>
                <a:spcPct val="100000"/>
              </a:lnSpc>
              <a:spcBef>
                <a:spcPts val="0"/>
              </a:spcBef>
              <a:spcAft>
                <a:spcPts val="0"/>
              </a:spcAft>
              <a:buClr>
                <a:srgbClr val="FF0000"/>
              </a:buClr>
              <a:buSzPts val="2400"/>
              <a:buFont typeface="Verdana"/>
              <a:buChar char="•"/>
            </a:pPr>
            <a:r>
              <a:rPr lang="en-US" sz="2400">
                <a:solidFill>
                  <a:schemeClr val="dk1"/>
                </a:solidFill>
                <a:latin typeface="Verdana"/>
                <a:ea typeface="Verdana"/>
                <a:cs typeface="Verdana"/>
                <a:sym typeface="Verdana"/>
              </a:rPr>
              <a:t>Frees up space in RAM to load the new application.</a:t>
            </a:r>
            <a:endParaRPr sz="2400">
              <a:solidFill>
                <a:schemeClr val="dk1"/>
              </a:solidFill>
              <a:latin typeface="Verdana"/>
              <a:ea typeface="Verdana"/>
              <a:cs typeface="Verdana"/>
              <a:sym typeface="Verdana"/>
            </a:endParaRPr>
          </a:p>
          <a:p>
            <a:pPr indent="0" lvl="0" marL="0" marR="0" rtl="0" algn="l">
              <a:lnSpc>
                <a:spcPct val="100000"/>
              </a:lnSpc>
              <a:spcBef>
                <a:spcPts val="55"/>
              </a:spcBef>
              <a:spcAft>
                <a:spcPts val="0"/>
              </a:spcAft>
              <a:buClr>
                <a:srgbClr val="FF0000"/>
              </a:buClr>
              <a:buSzPts val="2800"/>
              <a:buFont typeface="Verdana"/>
              <a:buNone/>
            </a:pPr>
            <a:r>
              <a:t/>
            </a:r>
            <a:endParaRPr sz="2800">
              <a:solidFill>
                <a:schemeClr val="dk1"/>
              </a:solidFill>
              <a:latin typeface="Verdana"/>
              <a:ea typeface="Verdana"/>
              <a:cs typeface="Verdana"/>
              <a:sym typeface="Verdana"/>
            </a:endParaRPr>
          </a:p>
          <a:p>
            <a:pPr indent="-342900" lvl="0" marL="355600" marR="0" rtl="0" algn="l">
              <a:lnSpc>
                <a:spcPct val="100000"/>
              </a:lnSpc>
              <a:spcBef>
                <a:spcPts val="0"/>
              </a:spcBef>
              <a:spcAft>
                <a:spcPts val="0"/>
              </a:spcAft>
              <a:buClr>
                <a:srgbClr val="FF0000"/>
              </a:buClr>
              <a:buSzPts val="2400"/>
              <a:buFont typeface="Verdana"/>
              <a:buChar char="•"/>
            </a:pPr>
            <a:r>
              <a:rPr b="1" lang="en-US" sz="2400">
                <a:solidFill>
                  <a:srgbClr val="FF0000"/>
                </a:solidFill>
                <a:latin typeface="Verdana"/>
                <a:ea typeface="Verdana"/>
                <a:cs typeface="Verdana"/>
                <a:sym typeface="Verdana"/>
              </a:rPr>
              <a:t>Copying	</a:t>
            </a:r>
            <a:r>
              <a:rPr lang="en-US" sz="2400">
                <a:solidFill>
                  <a:schemeClr val="dk1"/>
                </a:solidFill>
                <a:latin typeface="Verdana"/>
                <a:ea typeface="Verdana"/>
                <a:cs typeface="Verdana"/>
                <a:sym typeface="Verdana"/>
              </a:rPr>
              <a:t>happens	automatically(feels	like	unlimited</a:t>
            </a:r>
            <a:endParaRPr/>
          </a:p>
          <a:p>
            <a:pPr indent="0" lvl="0" marL="0" marR="0" rtl="0" algn="l">
              <a:lnSpc>
                <a:spcPct val="100000"/>
              </a:lnSpc>
              <a:spcBef>
                <a:spcPts val="25"/>
              </a:spcBef>
              <a:spcAft>
                <a:spcPts val="0"/>
              </a:spcAft>
              <a:buClr>
                <a:srgbClr val="FF0000"/>
              </a:buClr>
              <a:buSzPts val="2350"/>
              <a:buFont typeface="Verdana"/>
              <a:buNone/>
            </a:pPr>
            <a:r>
              <a:t/>
            </a:r>
            <a:endParaRPr sz="2350">
              <a:solidFill>
                <a:schemeClr val="dk1"/>
              </a:solidFill>
              <a:latin typeface="Verdana"/>
              <a:ea typeface="Verdana"/>
              <a:cs typeface="Verdana"/>
              <a:sym typeface="Verdana"/>
            </a:endParaRPr>
          </a:p>
          <a:p>
            <a:pPr indent="0" lvl="0" marL="355600" marR="0" rtl="0" algn="l">
              <a:lnSpc>
                <a:spcPct val="100000"/>
              </a:lnSpc>
              <a:spcBef>
                <a:spcPts val="0"/>
              </a:spcBef>
              <a:spcAft>
                <a:spcPts val="0"/>
              </a:spcAft>
              <a:buNone/>
            </a:pPr>
            <a:r>
              <a:rPr lang="en-US" sz="2400">
                <a:solidFill>
                  <a:schemeClr val="dk1"/>
                </a:solidFill>
                <a:latin typeface="Verdana"/>
                <a:ea typeface="Verdana"/>
                <a:cs typeface="Verdana"/>
                <a:sym typeface="Verdana"/>
              </a:rPr>
              <a:t>RAM space )</a:t>
            </a:r>
            <a:endParaRPr/>
          </a:p>
          <a:p>
            <a:pPr indent="-342900" lvl="0" marL="355600" marR="5080" rtl="0" algn="l">
              <a:lnSpc>
                <a:spcPct val="200100"/>
              </a:lnSpc>
              <a:spcBef>
                <a:spcPts val="575"/>
              </a:spcBef>
              <a:spcAft>
                <a:spcPts val="0"/>
              </a:spcAft>
              <a:buClr>
                <a:srgbClr val="FF0000"/>
              </a:buClr>
              <a:buSzPts val="2400"/>
              <a:buFont typeface="Verdana"/>
              <a:buChar char="•"/>
            </a:pPr>
            <a:r>
              <a:rPr lang="en-US" sz="2400">
                <a:solidFill>
                  <a:schemeClr val="dk1"/>
                </a:solidFill>
                <a:latin typeface="Verdana"/>
                <a:ea typeface="Verdana"/>
                <a:cs typeface="Verdana"/>
                <a:sym typeface="Verdana"/>
              </a:rPr>
              <a:t>Hard disk space is much cheaper than RAM chips, thus  has a economic benefit.</a:t>
            </a:r>
            <a:endParaRPr sz="2400">
              <a:solidFill>
                <a:schemeClr val="dk1"/>
              </a:solidFill>
              <a:latin typeface="Verdana"/>
              <a:ea typeface="Verdana"/>
              <a:cs typeface="Verdana"/>
              <a:sym typeface="Verdana"/>
            </a:endParaRPr>
          </a:p>
          <a:p>
            <a:pPr indent="-342900" lvl="0" marL="355600" marR="5080" rtl="0" algn="l">
              <a:lnSpc>
                <a:spcPct val="150100"/>
              </a:lnSpc>
              <a:spcBef>
                <a:spcPts val="930"/>
              </a:spcBef>
              <a:spcAft>
                <a:spcPts val="0"/>
              </a:spcAft>
              <a:buClr>
                <a:srgbClr val="FF0000"/>
              </a:buClr>
              <a:buSzPts val="2400"/>
              <a:buFont typeface="Verdana"/>
              <a:buChar char="•"/>
            </a:pPr>
            <a:r>
              <a:rPr lang="en-US" sz="2400">
                <a:solidFill>
                  <a:srgbClr val="FF0000"/>
                </a:solidFill>
                <a:latin typeface="Verdana"/>
                <a:ea typeface="Verdana"/>
                <a:cs typeface="Verdana"/>
                <a:sym typeface="Verdana"/>
              </a:rPr>
              <a:t>Read/write speed	of a hard drive	&amp; technology	</a:t>
            </a:r>
            <a:r>
              <a:rPr lang="en-US" sz="2400">
                <a:solidFill>
                  <a:schemeClr val="dk1"/>
                </a:solidFill>
                <a:latin typeface="Verdana"/>
                <a:ea typeface="Verdana"/>
                <a:cs typeface="Verdana"/>
                <a:sym typeface="Verdana"/>
              </a:rPr>
              <a:t>is not  geared toward accessing small pieces of data at a time.</a:t>
            </a:r>
            <a:endParaRPr sz="2400">
              <a:solidFill>
                <a:schemeClr val="dk1"/>
              </a:solidFill>
              <a:latin typeface="Verdana"/>
              <a:ea typeface="Verdana"/>
              <a:cs typeface="Verdana"/>
              <a:sym typeface="Verdana"/>
            </a:endParaRPr>
          </a:p>
        </p:txBody>
      </p:sp>
      <p:sp>
        <p:nvSpPr>
          <p:cNvPr id="810" name="Google Shape;810;p120"/>
          <p:cNvSpPr txBox="1"/>
          <p:nvPr>
            <p:ph type="title"/>
          </p:nvPr>
        </p:nvSpPr>
        <p:spPr>
          <a:xfrm>
            <a:off x="485343" y="290525"/>
            <a:ext cx="5243830" cy="6350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4000"/>
              <a:t>VIRTUAL MEMORY</a:t>
            </a:r>
            <a:endParaRPr sz="4000"/>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121"/>
          <p:cNvSpPr txBox="1"/>
          <p:nvPr/>
        </p:nvSpPr>
        <p:spPr>
          <a:xfrm>
            <a:off x="96113" y="1039114"/>
            <a:ext cx="8895715" cy="1927860"/>
          </a:xfrm>
          <a:prstGeom prst="rect">
            <a:avLst/>
          </a:prstGeom>
          <a:noFill/>
          <a:ln>
            <a:noFill/>
          </a:ln>
        </p:spPr>
        <p:txBody>
          <a:bodyPr anchorCtr="0" anchor="t" bIns="0" lIns="0" spcFirstLastPara="1" rIns="0" wrap="square" tIns="12700">
            <a:spAutoFit/>
          </a:bodyPr>
          <a:lstStyle/>
          <a:p>
            <a:pPr indent="-343535" lvl="0" marL="355600" marR="0" rtl="0" algn="l">
              <a:lnSpc>
                <a:spcPct val="100000"/>
              </a:lnSpc>
              <a:spcBef>
                <a:spcPts val="0"/>
              </a:spcBef>
              <a:spcAft>
                <a:spcPts val="0"/>
              </a:spcAft>
              <a:buClr>
                <a:srgbClr val="FF0000"/>
              </a:buClr>
              <a:buSzPts val="2400"/>
              <a:buFont typeface="Verdana"/>
              <a:buChar char="•"/>
            </a:pPr>
            <a:r>
              <a:rPr b="1" lang="en-US" sz="2400">
                <a:solidFill>
                  <a:srgbClr val="FF0000"/>
                </a:solidFill>
                <a:latin typeface="Verdana"/>
                <a:ea typeface="Verdana"/>
                <a:cs typeface="Verdana"/>
                <a:sym typeface="Verdana"/>
              </a:rPr>
              <a:t>Operating system </a:t>
            </a:r>
            <a:r>
              <a:rPr lang="en-US" sz="2400">
                <a:solidFill>
                  <a:schemeClr val="dk1"/>
                </a:solidFill>
                <a:latin typeface="Verdana"/>
                <a:ea typeface="Verdana"/>
                <a:cs typeface="Verdana"/>
                <a:sym typeface="Verdana"/>
              </a:rPr>
              <a:t>has to constantly swap information</a:t>
            </a:r>
            <a:endParaRPr sz="2400">
              <a:solidFill>
                <a:schemeClr val="dk1"/>
              </a:solidFill>
              <a:latin typeface="Verdana"/>
              <a:ea typeface="Verdana"/>
              <a:cs typeface="Verdana"/>
              <a:sym typeface="Verdana"/>
            </a:endParaRPr>
          </a:p>
          <a:p>
            <a:pPr indent="0" lvl="0" marL="0" marR="0" rtl="0" algn="l">
              <a:lnSpc>
                <a:spcPct val="100000"/>
              </a:lnSpc>
              <a:spcBef>
                <a:spcPts val="25"/>
              </a:spcBef>
              <a:spcAft>
                <a:spcPts val="0"/>
              </a:spcAft>
              <a:buClr>
                <a:srgbClr val="FF0000"/>
              </a:buClr>
              <a:buSzPts val="2350"/>
              <a:buFont typeface="Verdana"/>
              <a:buNone/>
            </a:pPr>
            <a:r>
              <a:t/>
            </a:r>
            <a:endParaRPr sz="2350">
              <a:solidFill>
                <a:schemeClr val="dk1"/>
              </a:solidFill>
              <a:latin typeface="Verdana"/>
              <a:ea typeface="Verdana"/>
              <a:cs typeface="Verdana"/>
              <a:sym typeface="Verdana"/>
            </a:endParaRPr>
          </a:p>
          <a:p>
            <a:pPr indent="0" lvl="0" marL="355600" marR="0" rtl="0" algn="l">
              <a:lnSpc>
                <a:spcPct val="100000"/>
              </a:lnSpc>
              <a:spcBef>
                <a:spcPts val="0"/>
              </a:spcBef>
              <a:spcAft>
                <a:spcPts val="0"/>
              </a:spcAft>
              <a:buNone/>
            </a:pPr>
            <a:r>
              <a:rPr lang="en-US" sz="2400">
                <a:solidFill>
                  <a:schemeClr val="dk1"/>
                </a:solidFill>
                <a:latin typeface="Verdana"/>
                <a:ea typeface="Verdana"/>
                <a:cs typeface="Verdana"/>
                <a:sym typeface="Verdana"/>
              </a:rPr>
              <a:t>back and forth between RAM and the hard disk.</a:t>
            </a:r>
            <a:endParaRPr sz="2400">
              <a:solidFill>
                <a:schemeClr val="dk1"/>
              </a:solidFill>
              <a:latin typeface="Verdana"/>
              <a:ea typeface="Verdana"/>
              <a:cs typeface="Verdana"/>
              <a:sym typeface="Verdana"/>
            </a:endParaRPr>
          </a:p>
          <a:p>
            <a:pPr indent="0" lvl="0" marL="0" marR="0" rtl="0" algn="l">
              <a:lnSpc>
                <a:spcPct val="100000"/>
              </a:lnSpc>
              <a:spcBef>
                <a:spcPts val="55"/>
              </a:spcBef>
              <a:spcAft>
                <a:spcPts val="0"/>
              </a:spcAft>
              <a:buNone/>
            </a:pPr>
            <a:r>
              <a:t/>
            </a:r>
            <a:endParaRPr sz="2800">
              <a:solidFill>
                <a:schemeClr val="dk1"/>
              </a:solidFill>
              <a:latin typeface="Verdana"/>
              <a:ea typeface="Verdana"/>
              <a:cs typeface="Verdana"/>
              <a:sym typeface="Verdana"/>
            </a:endParaRPr>
          </a:p>
          <a:p>
            <a:pPr indent="-343535" lvl="0" marL="355600" marR="0" rtl="0" algn="l">
              <a:lnSpc>
                <a:spcPct val="100000"/>
              </a:lnSpc>
              <a:spcBef>
                <a:spcPts val="0"/>
              </a:spcBef>
              <a:spcAft>
                <a:spcPts val="0"/>
              </a:spcAft>
              <a:buClr>
                <a:srgbClr val="FF0000"/>
              </a:buClr>
              <a:buSzPts val="2400"/>
              <a:buFont typeface="Verdana"/>
              <a:buChar char="•"/>
            </a:pPr>
            <a:r>
              <a:rPr b="1" lang="en-US" sz="2400">
                <a:solidFill>
                  <a:srgbClr val="FF0000"/>
                </a:solidFill>
                <a:latin typeface="Verdana"/>
                <a:ea typeface="Verdana"/>
                <a:cs typeface="Verdana"/>
                <a:sym typeface="Verdana"/>
              </a:rPr>
              <a:t>Thrashing</a:t>
            </a:r>
            <a:r>
              <a:rPr b="1" lang="en-US" sz="2400">
                <a:solidFill>
                  <a:schemeClr val="dk1"/>
                </a:solidFill>
                <a:latin typeface="Verdana"/>
                <a:ea typeface="Verdana"/>
                <a:cs typeface="Verdana"/>
                <a:sym typeface="Verdana"/>
              </a:rPr>
              <a:t>- </a:t>
            </a:r>
            <a:r>
              <a:rPr lang="en-US" sz="2400">
                <a:solidFill>
                  <a:schemeClr val="dk1"/>
                </a:solidFill>
                <a:latin typeface="Verdana"/>
                <a:ea typeface="Verdana"/>
                <a:cs typeface="Verdana"/>
                <a:sym typeface="Verdana"/>
              </a:rPr>
              <a:t>computer feels incredibly slow.</a:t>
            </a:r>
            <a:endParaRPr sz="2400">
              <a:solidFill>
                <a:schemeClr val="dk1"/>
              </a:solidFill>
              <a:latin typeface="Verdana"/>
              <a:ea typeface="Verdana"/>
              <a:cs typeface="Verdana"/>
              <a:sym typeface="Verdana"/>
            </a:endParaRPr>
          </a:p>
        </p:txBody>
      </p:sp>
      <p:sp>
        <p:nvSpPr>
          <p:cNvPr id="816" name="Google Shape;816;p121"/>
          <p:cNvSpPr txBox="1"/>
          <p:nvPr>
            <p:ph type="title"/>
          </p:nvPr>
        </p:nvSpPr>
        <p:spPr>
          <a:xfrm>
            <a:off x="688352" y="322525"/>
            <a:ext cx="54114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3600">
                <a:latin typeface="Times New Roman"/>
                <a:ea typeface="Times New Roman"/>
                <a:cs typeface="Times New Roman"/>
                <a:sym typeface="Times New Roman"/>
              </a:rPr>
              <a:t>VIRTUAL MEMORY</a:t>
            </a:r>
            <a:endParaRPr sz="3600">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122"/>
          <p:cNvSpPr txBox="1"/>
          <p:nvPr>
            <p:ph type="title"/>
          </p:nvPr>
        </p:nvSpPr>
        <p:spPr>
          <a:xfrm>
            <a:off x="485343" y="162509"/>
            <a:ext cx="2701290" cy="75755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800"/>
              <a:t>PAGING</a:t>
            </a:r>
            <a:endParaRPr sz="4800"/>
          </a:p>
        </p:txBody>
      </p:sp>
      <p:sp>
        <p:nvSpPr>
          <p:cNvPr id="822" name="Google Shape;822;p122"/>
          <p:cNvSpPr txBox="1"/>
          <p:nvPr/>
        </p:nvSpPr>
        <p:spPr>
          <a:xfrm>
            <a:off x="78739" y="1420114"/>
            <a:ext cx="8764270" cy="5074285"/>
          </a:xfrm>
          <a:prstGeom prst="rect">
            <a:avLst/>
          </a:prstGeom>
          <a:noFill/>
          <a:ln>
            <a:noFill/>
          </a:ln>
        </p:spPr>
        <p:txBody>
          <a:bodyPr anchorCtr="0" anchor="t" bIns="0" lIns="0" spcFirstLastPara="1" rIns="0" wrap="square" tIns="12700">
            <a:spAutoFit/>
          </a:bodyPr>
          <a:lstStyle/>
          <a:p>
            <a:pPr indent="-342900" lvl="0" marL="355600" marR="0" rtl="0" algn="l">
              <a:lnSpc>
                <a:spcPct val="100000"/>
              </a:lnSpc>
              <a:spcBef>
                <a:spcPts val="0"/>
              </a:spcBef>
              <a:spcAft>
                <a:spcPts val="0"/>
              </a:spcAft>
              <a:buClr>
                <a:srgbClr val="FF0000"/>
              </a:buClr>
              <a:buSzPts val="2400"/>
              <a:buFont typeface="Verdana"/>
              <a:buChar char="•"/>
            </a:pPr>
            <a:r>
              <a:rPr lang="en-US" sz="2400">
                <a:solidFill>
                  <a:schemeClr val="dk1"/>
                </a:solidFill>
                <a:latin typeface="Verdana"/>
                <a:ea typeface="Verdana"/>
                <a:cs typeface="Verdana"/>
                <a:sym typeface="Verdana"/>
              </a:rPr>
              <a:t>Unequal fixed size /Variable Size partitions(Inefficient)</a:t>
            </a:r>
            <a:endParaRPr sz="2400">
              <a:solidFill>
                <a:schemeClr val="dk1"/>
              </a:solidFill>
              <a:latin typeface="Verdana"/>
              <a:ea typeface="Verdana"/>
              <a:cs typeface="Verdana"/>
              <a:sym typeface="Verdana"/>
            </a:endParaRPr>
          </a:p>
          <a:p>
            <a:pPr indent="-342900" lvl="0" marL="355600" marR="24765" rtl="0" algn="l">
              <a:lnSpc>
                <a:spcPct val="200100"/>
              </a:lnSpc>
              <a:spcBef>
                <a:spcPts val="575"/>
              </a:spcBef>
              <a:spcAft>
                <a:spcPts val="0"/>
              </a:spcAft>
              <a:buClr>
                <a:srgbClr val="FF0000"/>
              </a:buClr>
              <a:buSzPts val="2400"/>
              <a:buFont typeface="Verdana"/>
              <a:buChar char="•"/>
            </a:pPr>
            <a:r>
              <a:rPr lang="en-US" sz="2400">
                <a:solidFill>
                  <a:schemeClr val="dk1"/>
                </a:solidFill>
                <a:latin typeface="Verdana"/>
                <a:ea typeface="Verdana"/>
                <a:cs typeface="Verdana"/>
                <a:sym typeface="Verdana"/>
              </a:rPr>
              <a:t>Primary memory is divided into </a:t>
            </a:r>
            <a:r>
              <a:rPr b="1" lang="en-US" sz="2400">
                <a:solidFill>
                  <a:schemeClr val="dk1"/>
                </a:solidFill>
                <a:latin typeface="Verdana"/>
                <a:ea typeface="Verdana"/>
                <a:cs typeface="Verdana"/>
                <a:sym typeface="Verdana"/>
              </a:rPr>
              <a:t>small equal fixed  sized partitions </a:t>
            </a:r>
            <a:r>
              <a:rPr lang="en-US" sz="2400">
                <a:solidFill>
                  <a:schemeClr val="dk1"/>
                </a:solidFill>
                <a:latin typeface="Verdana"/>
                <a:ea typeface="Verdana"/>
                <a:cs typeface="Verdana"/>
                <a:sym typeface="Verdana"/>
              </a:rPr>
              <a:t>(256, 512, 1K) called </a:t>
            </a:r>
            <a:r>
              <a:rPr b="1" lang="en-US" sz="2400">
                <a:solidFill>
                  <a:srgbClr val="FF0000"/>
                </a:solidFill>
                <a:latin typeface="Verdana"/>
                <a:ea typeface="Verdana"/>
                <a:cs typeface="Verdana"/>
                <a:sym typeface="Verdana"/>
              </a:rPr>
              <a:t>page frames</a:t>
            </a:r>
            <a:r>
              <a:rPr lang="en-US" sz="2400">
                <a:solidFill>
                  <a:schemeClr val="dk1"/>
                </a:solidFill>
                <a:latin typeface="Verdana"/>
                <a:ea typeface="Verdana"/>
                <a:cs typeface="Verdana"/>
                <a:sym typeface="Verdana"/>
              </a:rPr>
              <a:t>.</a:t>
            </a:r>
            <a:endParaRPr sz="2400">
              <a:solidFill>
                <a:schemeClr val="dk1"/>
              </a:solidFill>
              <a:latin typeface="Verdana"/>
              <a:ea typeface="Verdana"/>
              <a:cs typeface="Verdana"/>
              <a:sym typeface="Verdana"/>
            </a:endParaRPr>
          </a:p>
          <a:p>
            <a:pPr indent="0" lvl="0" marL="0" marR="0" rtl="0" algn="l">
              <a:lnSpc>
                <a:spcPct val="100000"/>
              </a:lnSpc>
              <a:spcBef>
                <a:spcPts val="50"/>
              </a:spcBef>
              <a:spcAft>
                <a:spcPts val="0"/>
              </a:spcAft>
              <a:buClr>
                <a:srgbClr val="FF0000"/>
              </a:buClr>
              <a:buSzPts val="2800"/>
              <a:buFont typeface="Verdana"/>
              <a:buNone/>
            </a:pPr>
            <a:r>
              <a:t/>
            </a:r>
            <a:endParaRPr sz="2800">
              <a:solidFill>
                <a:schemeClr val="dk1"/>
              </a:solidFill>
              <a:latin typeface="Verdana"/>
              <a:ea typeface="Verdana"/>
              <a:cs typeface="Verdana"/>
              <a:sym typeface="Verdana"/>
            </a:endParaRPr>
          </a:p>
          <a:p>
            <a:pPr indent="-342900" lvl="0" marL="355600" marR="0" rtl="0" algn="l">
              <a:lnSpc>
                <a:spcPct val="100000"/>
              </a:lnSpc>
              <a:spcBef>
                <a:spcPts val="5"/>
              </a:spcBef>
              <a:spcAft>
                <a:spcPts val="0"/>
              </a:spcAft>
              <a:buClr>
                <a:srgbClr val="FF0000"/>
              </a:buClr>
              <a:buSzPts val="2400"/>
              <a:buFont typeface="Verdana"/>
              <a:buChar char="•"/>
            </a:pPr>
            <a:r>
              <a:rPr lang="en-US" sz="2400">
                <a:solidFill>
                  <a:schemeClr val="dk1"/>
                </a:solidFill>
                <a:latin typeface="Verdana"/>
                <a:ea typeface="Verdana"/>
                <a:cs typeface="Verdana"/>
                <a:sym typeface="Verdana"/>
              </a:rPr>
              <a:t>Process are divided into </a:t>
            </a:r>
            <a:r>
              <a:rPr b="1" lang="en-US" sz="2400">
                <a:solidFill>
                  <a:srgbClr val="FF0000"/>
                </a:solidFill>
                <a:latin typeface="Verdana"/>
                <a:ea typeface="Verdana"/>
                <a:cs typeface="Verdana"/>
                <a:sym typeface="Verdana"/>
              </a:rPr>
              <a:t>same sized blocks(pages)</a:t>
            </a:r>
            <a:endParaRPr sz="2400">
              <a:solidFill>
                <a:schemeClr val="dk1"/>
              </a:solidFill>
              <a:latin typeface="Verdana"/>
              <a:ea typeface="Verdana"/>
              <a:cs typeface="Verdana"/>
              <a:sym typeface="Verdana"/>
            </a:endParaRPr>
          </a:p>
          <a:p>
            <a:pPr indent="0" lvl="0" marL="0" marR="0" rtl="0" algn="l">
              <a:lnSpc>
                <a:spcPct val="100000"/>
              </a:lnSpc>
              <a:spcBef>
                <a:spcPts val="25"/>
              </a:spcBef>
              <a:spcAft>
                <a:spcPts val="0"/>
              </a:spcAft>
              <a:buClr>
                <a:srgbClr val="FF0000"/>
              </a:buClr>
              <a:buSzPts val="2350"/>
              <a:buFont typeface="Verdana"/>
              <a:buNone/>
            </a:pPr>
            <a:r>
              <a:t/>
            </a:r>
            <a:endParaRPr sz="2350">
              <a:solidFill>
                <a:schemeClr val="dk1"/>
              </a:solidFill>
              <a:latin typeface="Verdana"/>
              <a:ea typeface="Verdana"/>
              <a:cs typeface="Verdana"/>
              <a:sym typeface="Verdana"/>
            </a:endParaRPr>
          </a:p>
          <a:p>
            <a:pPr indent="0" lvl="0" marL="355600" marR="0" rtl="0" algn="l">
              <a:lnSpc>
                <a:spcPct val="100000"/>
              </a:lnSpc>
              <a:spcBef>
                <a:spcPts val="0"/>
              </a:spcBef>
              <a:spcAft>
                <a:spcPts val="0"/>
              </a:spcAft>
              <a:buNone/>
            </a:pPr>
            <a:r>
              <a:rPr lang="en-US" sz="2400">
                <a:solidFill>
                  <a:schemeClr val="dk1"/>
                </a:solidFill>
                <a:latin typeface="Verdana"/>
                <a:ea typeface="Verdana"/>
                <a:cs typeface="Verdana"/>
                <a:sym typeface="Verdana"/>
              </a:rPr>
              <a:t>called </a:t>
            </a:r>
            <a:r>
              <a:rPr b="1" lang="en-US" sz="2400">
                <a:solidFill>
                  <a:srgbClr val="FF0000"/>
                </a:solidFill>
                <a:latin typeface="Verdana"/>
                <a:ea typeface="Verdana"/>
                <a:cs typeface="Verdana"/>
                <a:sym typeface="Verdana"/>
              </a:rPr>
              <a:t>paging.</a:t>
            </a:r>
            <a:endParaRPr sz="2400">
              <a:solidFill>
                <a:schemeClr val="dk1"/>
              </a:solidFill>
              <a:latin typeface="Verdana"/>
              <a:ea typeface="Verdana"/>
              <a:cs typeface="Verdana"/>
              <a:sym typeface="Verdana"/>
            </a:endParaRPr>
          </a:p>
          <a:p>
            <a:pPr indent="0" lvl="0" marL="0" marR="0" rtl="0" algn="l">
              <a:lnSpc>
                <a:spcPct val="100000"/>
              </a:lnSpc>
              <a:spcBef>
                <a:spcPts val="50"/>
              </a:spcBef>
              <a:spcAft>
                <a:spcPts val="0"/>
              </a:spcAft>
              <a:buNone/>
            </a:pPr>
            <a:r>
              <a:t/>
            </a:r>
            <a:endParaRPr sz="2800">
              <a:solidFill>
                <a:schemeClr val="dk1"/>
              </a:solidFill>
              <a:latin typeface="Verdana"/>
              <a:ea typeface="Verdana"/>
              <a:cs typeface="Verdana"/>
              <a:sym typeface="Verdana"/>
            </a:endParaRPr>
          </a:p>
          <a:p>
            <a:pPr indent="-342900" lvl="0" marL="355600" marR="0" rtl="0" algn="l">
              <a:lnSpc>
                <a:spcPct val="100000"/>
              </a:lnSpc>
              <a:spcBef>
                <a:spcPts val="0"/>
              </a:spcBef>
              <a:spcAft>
                <a:spcPts val="0"/>
              </a:spcAft>
              <a:buClr>
                <a:srgbClr val="FF0000"/>
              </a:buClr>
              <a:buSzPts val="2400"/>
              <a:buFont typeface="Verdana"/>
              <a:buChar char="•"/>
            </a:pPr>
            <a:r>
              <a:rPr lang="en-US" sz="2400">
                <a:solidFill>
                  <a:schemeClr val="dk1"/>
                </a:solidFill>
                <a:latin typeface="Verdana"/>
                <a:ea typeface="Verdana"/>
                <a:cs typeface="Verdana"/>
                <a:sym typeface="Verdana"/>
              </a:rPr>
              <a:t>Recently referenced pages in the memory.</a:t>
            </a:r>
            <a:endParaRPr sz="2400">
              <a:solidFill>
                <a:schemeClr val="dk1"/>
              </a:solidFill>
              <a:latin typeface="Verdana"/>
              <a:ea typeface="Verdana"/>
              <a:cs typeface="Verdana"/>
              <a:sym typeface="Verdana"/>
            </a:endParaRPr>
          </a:p>
          <a:p>
            <a:pPr indent="0" lvl="0" marL="0" marR="0" rtl="0" algn="l">
              <a:lnSpc>
                <a:spcPct val="100000"/>
              </a:lnSpc>
              <a:spcBef>
                <a:spcPts val="55"/>
              </a:spcBef>
              <a:spcAft>
                <a:spcPts val="0"/>
              </a:spcAft>
              <a:buClr>
                <a:srgbClr val="FF0000"/>
              </a:buClr>
              <a:buSzPts val="2800"/>
              <a:buFont typeface="Verdana"/>
              <a:buNone/>
            </a:pPr>
            <a:r>
              <a:t/>
            </a:r>
            <a:endParaRPr sz="2800">
              <a:solidFill>
                <a:schemeClr val="dk1"/>
              </a:solidFill>
              <a:latin typeface="Verdana"/>
              <a:ea typeface="Verdana"/>
              <a:cs typeface="Verdana"/>
              <a:sym typeface="Verdana"/>
            </a:endParaRPr>
          </a:p>
          <a:p>
            <a:pPr indent="-342900" lvl="0" marL="355600" marR="0" rtl="0" algn="l">
              <a:lnSpc>
                <a:spcPct val="100000"/>
              </a:lnSpc>
              <a:spcBef>
                <a:spcPts val="5"/>
              </a:spcBef>
              <a:spcAft>
                <a:spcPts val="0"/>
              </a:spcAft>
              <a:buClr>
                <a:srgbClr val="FF0000"/>
              </a:buClr>
              <a:buSzPts val="2400"/>
              <a:buFont typeface="Verdana"/>
              <a:buChar char="•"/>
            </a:pPr>
            <a:r>
              <a:rPr lang="en-US" sz="2400">
                <a:solidFill>
                  <a:schemeClr val="dk1"/>
                </a:solidFill>
                <a:latin typeface="Verdana"/>
                <a:ea typeface="Verdana"/>
                <a:cs typeface="Verdana"/>
                <a:sym typeface="Verdana"/>
              </a:rPr>
              <a:t>Need a </a:t>
            </a:r>
            <a:r>
              <a:rPr lang="en-US" sz="2400">
                <a:solidFill>
                  <a:srgbClr val="FF0000"/>
                </a:solidFill>
                <a:latin typeface="Verdana"/>
                <a:ea typeface="Verdana"/>
                <a:cs typeface="Verdana"/>
                <a:sym typeface="Verdana"/>
              </a:rPr>
              <a:t>page table </a:t>
            </a:r>
            <a:r>
              <a:rPr lang="en-US" sz="2400">
                <a:solidFill>
                  <a:schemeClr val="dk1"/>
                </a:solidFill>
                <a:latin typeface="Verdana"/>
                <a:ea typeface="Verdana"/>
                <a:cs typeface="Verdana"/>
                <a:sym typeface="Verdana"/>
              </a:rPr>
              <a:t>to this management.</a:t>
            </a:r>
            <a:endParaRPr sz="2400">
              <a:solidFill>
                <a:schemeClr val="dk1"/>
              </a:solidFill>
              <a:latin typeface="Verdana"/>
              <a:ea typeface="Verdana"/>
              <a:cs typeface="Verdana"/>
              <a:sym typeface="Verdana"/>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23"/>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828" name="Google Shape;828;p123"/>
          <p:cNvSpPr txBox="1"/>
          <p:nvPr>
            <p:ph idx="1" type="body"/>
          </p:nvPr>
        </p:nvSpPr>
        <p:spPr>
          <a:xfrm>
            <a:off x="525144" y="1188465"/>
            <a:ext cx="8093710" cy="3323987"/>
          </a:xfrm>
          <a:prstGeom prst="rect">
            <a:avLst/>
          </a:prstGeom>
          <a:noFill/>
          <a:ln>
            <a:noFill/>
          </a:ln>
        </p:spPr>
        <p:txBody>
          <a:bodyPr anchorCtr="0" anchor="t" bIns="0" lIns="0" spcFirstLastPara="1" rIns="0" wrap="square" tIns="0">
            <a:spAutoFit/>
          </a:bodyPr>
          <a:lstStyle/>
          <a:p>
            <a:pPr indent="-152400" lvl="0" marL="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Paging is a virtual memory technique </a:t>
            </a:r>
            <a:r>
              <a:rPr b="1" lang="en-US" sz="2400">
                <a:latin typeface="Times New Roman"/>
                <a:ea typeface="Times New Roman"/>
                <a:cs typeface="Times New Roman"/>
                <a:sym typeface="Times New Roman"/>
              </a:rPr>
              <a:t>that separates memory into sections called paging files. </a:t>
            </a:r>
            <a:endParaRPr/>
          </a:p>
          <a:p>
            <a:pPr indent="-152400" lvl="0" marL="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When a computer reaches its RAM limits, it transfers any </a:t>
            </a:r>
            <a:r>
              <a:rPr b="1" lang="en-US" sz="2400">
                <a:latin typeface="Times New Roman"/>
                <a:ea typeface="Times New Roman"/>
                <a:cs typeface="Times New Roman"/>
                <a:sym typeface="Times New Roman"/>
              </a:rPr>
              <a:t>currently unused pages into the part of its hard drive used for virtual memory</a:t>
            </a:r>
            <a:endParaRPr/>
          </a:p>
          <a:p>
            <a:pPr indent="-152400" lvl="0" marL="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The computer performs this process using a </a:t>
            </a:r>
            <a:r>
              <a:rPr b="1" lang="en-US" sz="2400">
                <a:latin typeface="Times New Roman"/>
                <a:ea typeface="Times New Roman"/>
                <a:cs typeface="Times New Roman"/>
                <a:sym typeface="Times New Roman"/>
              </a:rPr>
              <a:t>swap file, </a:t>
            </a:r>
            <a:r>
              <a:rPr lang="en-US" sz="2400">
                <a:latin typeface="Times New Roman"/>
                <a:ea typeface="Times New Roman"/>
                <a:cs typeface="Times New Roman"/>
                <a:sym typeface="Times New Roman"/>
              </a:rPr>
              <a:t>a designated space within its hard drive for extending the virtual memory of the computer's RAM-frees up space</a:t>
            </a:r>
            <a:endParaRPr/>
          </a:p>
          <a:p>
            <a:pPr indent="0" lvl="0" marL="0" rtl="0" algn="just">
              <a:spcBef>
                <a:spcPts val="0"/>
              </a:spcBef>
              <a:spcAft>
                <a:spcPts val="0"/>
              </a:spcAft>
              <a:buClr>
                <a:schemeClr val="dk1"/>
              </a:buClr>
              <a:buSzPts val="2400"/>
              <a:buFont typeface="Arial"/>
              <a:buNone/>
            </a:pPr>
            <a:r>
              <a:t/>
            </a:r>
            <a:endParaRPr sz="2400">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124"/>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834" name="Google Shape;834;p124"/>
          <p:cNvSpPr txBox="1"/>
          <p:nvPr>
            <p:ph idx="1" type="body"/>
          </p:nvPr>
        </p:nvSpPr>
        <p:spPr>
          <a:xfrm>
            <a:off x="525144" y="1188465"/>
            <a:ext cx="8093710" cy="4431983"/>
          </a:xfrm>
          <a:prstGeom prst="rect">
            <a:avLst/>
          </a:prstGeom>
          <a:noFill/>
          <a:ln>
            <a:noFill/>
          </a:ln>
        </p:spPr>
        <p:txBody>
          <a:bodyPr anchorCtr="0" anchor="t" bIns="0" lIns="0" spcFirstLastPara="1" rIns="0" wrap="square" tIns="0">
            <a:spAutoFit/>
          </a:bodyPr>
          <a:lstStyle/>
          <a:p>
            <a:pPr indent="-152400" lvl="0" marL="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As part of this process, the computer uses </a:t>
            </a:r>
            <a:r>
              <a:rPr b="1" lang="en-US" sz="2400">
                <a:latin typeface="Times New Roman"/>
                <a:ea typeface="Times New Roman"/>
                <a:cs typeface="Times New Roman"/>
                <a:sym typeface="Times New Roman"/>
              </a:rPr>
              <a:t>page tables</a:t>
            </a:r>
            <a:r>
              <a:rPr lang="en-US" sz="2400">
                <a:latin typeface="Times New Roman"/>
                <a:ea typeface="Times New Roman"/>
                <a:cs typeface="Times New Roman"/>
                <a:sym typeface="Times New Roman"/>
              </a:rPr>
              <a:t>, which translate </a:t>
            </a:r>
            <a:r>
              <a:rPr b="1" lang="en-US" sz="2400">
                <a:latin typeface="Times New Roman"/>
                <a:ea typeface="Times New Roman"/>
                <a:cs typeface="Times New Roman"/>
                <a:sym typeface="Times New Roman"/>
              </a:rPr>
              <a:t>virtual addresses into the physical addresses </a:t>
            </a:r>
            <a:r>
              <a:rPr lang="en-US" sz="2400">
                <a:latin typeface="Times New Roman"/>
                <a:ea typeface="Times New Roman"/>
                <a:cs typeface="Times New Roman"/>
                <a:sym typeface="Times New Roman"/>
              </a:rPr>
              <a:t>that the computer's memory management unit (MMU) uses to process instructions. </a:t>
            </a:r>
            <a:endParaRPr/>
          </a:p>
          <a:p>
            <a:pPr indent="-152400" lvl="0" marL="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The MMU communicates between the computer's OS and its page tables. </a:t>
            </a:r>
            <a:endParaRPr/>
          </a:p>
          <a:p>
            <a:pPr indent="-152400" lvl="0" marL="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When the user performs a task, the OS searches its RAM for the processes to conduct the task.</a:t>
            </a:r>
            <a:endParaRPr/>
          </a:p>
          <a:p>
            <a:pPr indent="-152400" lvl="0" marL="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 If it can't find the processes to complete the task in RAM, the MMU prompts the OS to move the required pages into RAM and uses a page table to note the new storage location of the pages.</a:t>
            </a:r>
            <a:endParaRPr sz="2400">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pic>
        <p:nvPicPr>
          <p:cNvPr id="839" name="Google Shape;839;p125"/>
          <p:cNvPicPr preferRelativeResize="0"/>
          <p:nvPr/>
        </p:nvPicPr>
        <p:blipFill rotWithShape="1">
          <a:blip r:embed="rId3">
            <a:alphaModFix/>
          </a:blip>
          <a:srcRect b="0" l="0" r="0" t="0"/>
          <a:stretch/>
        </p:blipFill>
        <p:spPr>
          <a:xfrm>
            <a:off x="0" y="61964"/>
            <a:ext cx="9119667" cy="6732532"/>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126"/>
          <p:cNvSpPr txBox="1"/>
          <p:nvPr>
            <p:ph type="title"/>
          </p:nvPr>
        </p:nvSpPr>
        <p:spPr>
          <a:xfrm>
            <a:off x="485343" y="484073"/>
            <a:ext cx="3754120"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Page Table Sample</a:t>
            </a:r>
            <a:endParaRPr/>
          </a:p>
        </p:txBody>
      </p:sp>
      <p:pic>
        <p:nvPicPr>
          <p:cNvPr id="845" name="Google Shape;845;p126"/>
          <p:cNvPicPr preferRelativeResize="0"/>
          <p:nvPr/>
        </p:nvPicPr>
        <p:blipFill rotWithShape="1">
          <a:blip r:embed="rId3">
            <a:alphaModFix/>
          </a:blip>
          <a:srcRect b="0" l="0" r="0" t="0"/>
          <a:stretch/>
        </p:blipFill>
        <p:spPr>
          <a:xfrm>
            <a:off x="295275" y="1156335"/>
            <a:ext cx="7560945" cy="1213485"/>
          </a:xfrm>
          <a:prstGeom prst="rect">
            <a:avLst/>
          </a:prstGeom>
          <a:noFill/>
          <a:ln>
            <a:noFill/>
          </a:ln>
        </p:spPr>
      </p:pic>
      <p:pic>
        <p:nvPicPr>
          <p:cNvPr id="846" name="Google Shape;846;p126"/>
          <p:cNvPicPr preferRelativeResize="0"/>
          <p:nvPr/>
        </p:nvPicPr>
        <p:blipFill rotWithShape="1">
          <a:blip r:embed="rId4">
            <a:alphaModFix/>
          </a:blip>
          <a:srcRect b="0" l="0" r="0" t="0"/>
          <a:stretch/>
        </p:blipFill>
        <p:spPr>
          <a:xfrm>
            <a:off x="187325" y="2757038"/>
            <a:ext cx="8451122" cy="3767322"/>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127"/>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852" name="Google Shape;852;p127"/>
          <p:cNvSpPr txBox="1"/>
          <p:nvPr>
            <p:ph idx="1" type="body"/>
          </p:nvPr>
        </p:nvSpPr>
        <p:spPr>
          <a:xfrm>
            <a:off x="525144" y="1188465"/>
            <a:ext cx="8093710" cy="5539978"/>
          </a:xfrm>
          <a:prstGeom prst="rect">
            <a:avLst/>
          </a:prstGeom>
          <a:noFill/>
          <a:ln>
            <a:noFill/>
          </a:ln>
        </p:spPr>
        <p:txBody>
          <a:bodyPr anchorCtr="0" anchor="t" bIns="0" lIns="0" spcFirstLastPara="1" rIns="0" wrap="square" tIns="0">
            <a:spAutoFit/>
          </a:bodyPr>
          <a:lstStyle/>
          <a:p>
            <a:pPr indent="-152400" lvl="0" marL="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A linear address refers indirectly to a physical address by specifying a page table, a page within that table, and an offset within that page</a:t>
            </a:r>
            <a:endParaRPr/>
          </a:p>
          <a:p>
            <a:pPr indent="0" lvl="0" marL="0" rtl="0" algn="just">
              <a:spcBef>
                <a:spcPts val="0"/>
              </a:spcBef>
              <a:spcAft>
                <a:spcPts val="0"/>
              </a:spcAft>
              <a:buClr>
                <a:schemeClr val="dk1"/>
              </a:buClr>
              <a:buSzPts val="2400"/>
              <a:buFont typeface="Arial"/>
              <a:buNone/>
            </a:pPr>
            <a:r>
              <a:t/>
            </a:r>
            <a:endParaRPr sz="2400">
              <a:latin typeface="Times New Roman"/>
              <a:ea typeface="Times New Roman"/>
              <a:cs typeface="Times New Roman"/>
              <a:sym typeface="Times New Roman"/>
            </a:endParaRPr>
          </a:p>
          <a:p>
            <a:pPr indent="-152400" lvl="0" marL="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how the processor converts the DIR, PAGE, and OFFSET fields of a linear address into the physical address by consulting two levels of page tables. </a:t>
            </a:r>
            <a:endParaRPr/>
          </a:p>
          <a:p>
            <a:pPr indent="-152400" lvl="0" marL="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The addressing mechanism uses the DIR field as an index into a page directory, uses the PAGE field as an index into the page table determined by the page directory, and uses the OFFSET field to address a byte within the page determined by the page table.</a:t>
            </a:r>
            <a:endParaRPr/>
          </a:p>
          <a:p>
            <a:pPr indent="-152400" lvl="0" marL="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A page table is simply an array of 32-bit page specifiers. A page table is itself a page, and therefore contains 4 Kilobytes of memory or at most 1K 32-bit entries.</a:t>
            </a:r>
            <a:endParaRPr sz="2400">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128"/>
          <p:cNvSpPr txBox="1"/>
          <p:nvPr>
            <p:ph type="title"/>
          </p:nvPr>
        </p:nvSpPr>
        <p:spPr>
          <a:xfrm>
            <a:off x="485343" y="162509"/>
            <a:ext cx="5546090" cy="75755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800"/>
              <a:t>SEGMENTATION</a:t>
            </a:r>
            <a:endParaRPr sz="4800"/>
          </a:p>
        </p:txBody>
      </p:sp>
      <p:sp>
        <p:nvSpPr>
          <p:cNvPr id="858" name="Google Shape;858;p128"/>
          <p:cNvSpPr txBox="1"/>
          <p:nvPr/>
        </p:nvSpPr>
        <p:spPr>
          <a:xfrm>
            <a:off x="78739" y="1225042"/>
            <a:ext cx="8303895" cy="5189855"/>
          </a:xfrm>
          <a:prstGeom prst="rect">
            <a:avLst/>
          </a:prstGeom>
          <a:noFill/>
          <a:ln>
            <a:noFill/>
          </a:ln>
        </p:spPr>
        <p:txBody>
          <a:bodyPr anchorCtr="0" anchor="t" bIns="0" lIns="0" spcFirstLastPara="1" rIns="0" wrap="square" tIns="12050">
            <a:spAutoFit/>
          </a:bodyPr>
          <a:lstStyle/>
          <a:p>
            <a:pPr indent="-342900" lvl="0" marL="355600" marR="0" rtl="0" algn="l">
              <a:lnSpc>
                <a:spcPct val="100000"/>
              </a:lnSpc>
              <a:spcBef>
                <a:spcPts val="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Paging </a:t>
            </a:r>
            <a:r>
              <a:rPr lang="en-US" sz="2800">
                <a:solidFill>
                  <a:schemeClr val="dk1"/>
                </a:solidFill>
                <a:latin typeface="Noto Sans Symbols"/>
                <a:ea typeface="Noto Sans Symbols"/>
                <a:cs typeface="Noto Sans Symbols"/>
                <a:sym typeface="Noto Sans Symbols"/>
              </a:rPr>
              <a:t>🡪</a:t>
            </a:r>
            <a:r>
              <a:rPr lang="en-US" sz="2800">
                <a:solidFill>
                  <a:schemeClr val="dk1"/>
                </a:solidFill>
                <a:latin typeface="Times New Roman"/>
                <a:ea typeface="Times New Roman"/>
                <a:cs typeface="Times New Roman"/>
                <a:sym typeface="Times New Roman"/>
              </a:rPr>
              <a:t> </a:t>
            </a:r>
            <a:r>
              <a:rPr b="1" lang="en-US" sz="2800">
                <a:solidFill>
                  <a:srgbClr val="FF0000"/>
                </a:solidFill>
                <a:latin typeface="Verdana"/>
                <a:ea typeface="Verdana"/>
                <a:cs typeface="Verdana"/>
                <a:sym typeface="Verdana"/>
              </a:rPr>
              <a:t>internal fragmentation</a:t>
            </a:r>
            <a:r>
              <a:rPr lang="en-US" sz="2800">
                <a:solidFill>
                  <a:schemeClr val="dk1"/>
                </a:solidFill>
                <a:latin typeface="Verdana"/>
                <a:ea typeface="Verdana"/>
                <a:cs typeface="Verdana"/>
                <a:sym typeface="Verdana"/>
              </a:rPr>
              <a:t>.</a:t>
            </a:r>
            <a:endParaRPr sz="2800">
              <a:solidFill>
                <a:schemeClr val="dk1"/>
              </a:solidFill>
              <a:latin typeface="Verdana"/>
              <a:ea typeface="Verdana"/>
              <a:cs typeface="Verdana"/>
              <a:sym typeface="Verdana"/>
            </a:endParaRPr>
          </a:p>
          <a:p>
            <a:pPr indent="-342900" lvl="0" marL="355600" marR="5080" rtl="0" algn="l">
              <a:lnSpc>
                <a:spcPct val="150000"/>
              </a:lnSpc>
              <a:spcBef>
                <a:spcPts val="67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Segmentation maps segments representing  data structures, modules, etc. into </a:t>
            </a:r>
            <a:r>
              <a:rPr b="1" lang="en-US" sz="2800">
                <a:solidFill>
                  <a:srgbClr val="FF0000"/>
                </a:solidFill>
                <a:latin typeface="Verdana"/>
                <a:ea typeface="Verdana"/>
                <a:cs typeface="Verdana"/>
                <a:sym typeface="Verdana"/>
              </a:rPr>
              <a:t>variable  partitions.</a:t>
            </a:r>
            <a:endParaRPr sz="2800">
              <a:solidFill>
                <a:schemeClr val="dk1"/>
              </a:solidFill>
              <a:latin typeface="Verdana"/>
              <a:ea typeface="Verdana"/>
              <a:cs typeface="Verdana"/>
              <a:sym typeface="Verdana"/>
            </a:endParaRPr>
          </a:p>
          <a:p>
            <a:pPr indent="-342900" lvl="0" marL="355600" marR="53339" rtl="0" algn="l">
              <a:lnSpc>
                <a:spcPct val="150100"/>
              </a:lnSpc>
              <a:spcBef>
                <a:spcPts val="67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Nor contiguous memory blocks neither	all  segments of a process are loaded at a time.</a:t>
            </a:r>
            <a:endParaRPr sz="2800">
              <a:solidFill>
                <a:schemeClr val="dk1"/>
              </a:solidFill>
              <a:latin typeface="Verdana"/>
              <a:ea typeface="Verdana"/>
              <a:cs typeface="Verdana"/>
              <a:sym typeface="Verdana"/>
            </a:endParaRPr>
          </a:p>
          <a:p>
            <a:pPr indent="-342900" lvl="0" marL="355600" marR="266065" rtl="0" algn="l">
              <a:lnSpc>
                <a:spcPct val="150100"/>
              </a:lnSpc>
              <a:spcBef>
                <a:spcPts val="66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We need a </a:t>
            </a:r>
            <a:r>
              <a:rPr lang="en-US" sz="2800">
                <a:solidFill>
                  <a:srgbClr val="FF0000"/>
                </a:solidFill>
                <a:latin typeface="Verdana"/>
                <a:ea typeface="Verdana"/>
                <a:cs typeface="Verdana"/>
                <a:sym typeface="Verdana"/>
              </a:rPr>
              <a:t>segment table </a:t>
            </a:r>
            <a:r>
              <a:rPr lang="en-US" sz="2800">
                <a:solidFill>
                  <a:schemeClr val="dk1"/>
                </a:solidFill>
                <a:latin typeface="Verdana"/>
                <a:ea typeface="Verdana"/>
                <a:cs typeface="Verdana"/>
                <a:sym typeface="Verdana"/>
              </a:rPr>
              <a:t>very much like a  page table.</a:t>
            </a:r>
            <a:endParaRPr sz="2800">
              <a:solidFill>
                <a:schemeClr val="dk1"/>
              </a:solidFill>
              <a:latin typeface="Verdana"/>
              <a:ea typeface="Verdana"/>
              <a:cs typeface="Verdana"/>
              <a:sym typeface="Verdana"/>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129"/>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864" name="Google Shape;864;p129"/>
          <p:cNvSpPr txBox="1"/>
          <p:nvPr>
            <p:ph idx="1" type="body"/>
          </p:nvPr>
        </p:nvSpPr>
        <p:spPr>
          <a:xfrm>
            <a:off x="525144" y="1188465"/>
            <a:ext cx="8093710" cy="3077766"/>
          </a:xfrm>
          <a:prstGeom prst="rect">
            <a:avLst/>
          </a:prstGeom>
          <a:noFill/>
          <a:ln>
            <a:noFill/>
          </a:ln>
        </p:spPr>
        <p:txBody>
          <a:bodyPr anchorCtr="0" anchor="t" bIns="0" lIns="0" spcFirstLastPara="1" rIns="0" wrap="square" tIns="0">
            <a:spAutoFit/>
          </a:bodyPr>
          <a:lstStyle/>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As processes are loaded and removed from memory, the free memory space is broken into little pieces. It may so happen after sometime that processes cannot be allocated to memory blocks considering their small size and memory blocks remain unused. This problem is known as </a:t>
            </a:r>
            <a:r>
              <a:rPr b="1" lang="en-US">
                <a:latin typeface="Times New Roman"/>
                <a:ea typeface="Times New Roman"/>
                <a:cs typeface="Times New Roman"/>
                <a:sym typeface="Times New Roman"/>
              </a:rPr>
              <a:t>Fragmentation</a:t>
            </a:r>
            <a:endParaRPr/>
          </a:p>
          <a:p>
            <a:pPr indent="-215900" lvl="0" marL="342900" rtl="0" algn="just">
              <a:spcBef>
                <a:spcPts val="0"/>
              </a:spcBef>
              <a:spcAft>
                <a:spcPts val="0"/>
              </a:spcAft>
              <a:buClr>
                <a:schemeClr val="dk1"/>
              </a:buClr>
              <a:buSzPts val="2000"/>
              <a:buFont typeface="Arial"/>
              <a:buNone/>
            </a:pPr>
            <a:r>
              <a:t/>
            </a:r>
            <a:endParaRPr b="1">
              <a:latin typeface="Times New Roman"/>
              <a:ea typeface="Times New Roman"/>
              <a:cs typeface="Times New Roman"/>
              <a:sym typeface="Times New Roman"/>
            </a:endParaRPr>
          </a:p>
          <a:p>
            <a:pPr indent="-342900" lvl="0" marL="342900" rtl="0" algn="just">
              <a:spcBef>
                <a:spcPts val="0"/>
              </a:spcBef>
              <a:spcAft>
                <a:spcPts val="0"/>
              </a:spcAft>
              <a:buClr>
                <a:schemeClr val="dk1"/>
              </a:buClr>
              <a:buSzPts val="2000"/>
              <a:buFont typeface="Arial"/>
              <a:buChar char="•"/>
            </a:pPr>
            <a:r>
              <a:rPr b="1" lang="en-US">
                <a:latin typeface="Times New Roman"/>
                <a:ea typeface="Times New Roman"/>
                <a:cs typeface="Times New Roman"/>
                <a:sym typeface="Times New Roman"/>
              </a:rPr>
              <a:t>Internal fragmentation</a:t>
            </a:r>
            <a:r>
              <a:rPr lang="en-US">
                <a:latin typeface="Times New Roman"/>
                <a:ea typeface="Times New Roman"/>
                <a:cs typeface="Times New Roman"/>
                <a:sym typeface="Times New Roman"/>
              </a:rPr>
              <a:t> is defined as the difference between memory allocated and the memory space required by a process</a:t>
            </a:r>
            <a:endParaRPr/>
          </a:p>
          <a:p>
            <a:pPr indent="-342900" lvl="0" marL="342900" rtl="0" algn="just">
              <a:spcBef>
                <a:spcPts val="0"/>
              </a:spcBef>
              <a:spcAft>
                <a:spcPts val="0"/>
              </a:spcAft>
              <a:buClr>
                <a:schemeClr val="dk1"/>
              </a:buClr>
              <a:buSzPts val="2000"/>
              <a:buFont typeface="Arial"/>
              <a:buChar char="•"/>
            </a:pPr>
            <a:r>
              <a:rPr b="1" lang="en-US">
                <a:latin typeface="Times New Roman"/>
                <a:ea typeface="Times New Roman"/>
                <a:cs typeface="Times New Roman"/>
                <a:sym typeface="Times New Roman"/>
              </a:rPr>
              <a:t>External fragmentation</a:t>
            </a:r>
            <a:r>
              <a:rPr lang="en-US">
                <a:latin typeface="Times New Roman"/>
                <a:ea typeface="Times New Roman"/>
                <a:cs typeface="Times New Roman"/>
                <a:sym typeface="Times New Roman"/>
              </a:rPr>
              <a:t>-When there are small and non-contiguous memory blocks which cannot be assigned to any process, the problem is termed as External Fragmentation.</a:t>
            </a:r>
            <a:endParaRPr>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130"/>
          <p:cNvSpPr txBox="1"/>
          <p:nvPr>
            <p:ph type="title"/>
          </p:nvPr>
        </p:nvSpPr>
        <p:spPr>
          <a:xfrm>
            <a:off x="485343" y="57404"/>
            <a:ext cx="8173313" cy="430887"/>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870" name="Google Shape;870;p130"/>
          <p:cNvSpPr txBox="1"/>
          <p:nvPr>
            <p:ph idx="1" type="body"/>
          </p:nvPr>
        </p:nvSpPr>
        <p:spPr>
          <a:xfrm>
            <a:off x="525144" y="1188465"/>
            <a:ext cx="8093710" cy="3693319"/>
          </a:xfrm>
          <a:prstGeom prst="rect">
            <a:avLst/>
          </a:prstGeom>
          <a:noFill/>
          <a:ln>
            <a:noFill/>
          </a:ln>
        </p:spPr>
        <p:txBody>
          <a:bodyPr anchorCtr="0" anchor="t" bIns="0" lIns="0" spcFirstLastPara="1" rIns="0" wrap="square" tIns="0">
            <a:spAutoFit/>
          </a:bodyPr>
          <a:lstStyle/>
          <a:p>
            <a:pPr indent="-342900" lvl="0" marL="34290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 Segmentation-divides virtual memory into </a:t>
            </a:r>
            <a:r>
              <a:rPr b="1" lang="en-US" sz="2400">
                <a:latin typeface="Times New Roman"/>
                <a:ea typeface="Times New Roman"/>
                <a:cs typeface="Times New Roman"/>
                <a:sym typeface="Times New Roman"/>
              </a:rPr>
              <a:t>varying lengths </a:t>
            </a:r>
            <a:r>
              <a:rPr lang="en-US" sz="2400">
                <a:latin typeface="Times New Roman"/>
                <a:ea typeface="Times New Roman"/>
                <a:cs typeface="Times New Roman"/>
                <a:sym typeface="Times New Roman"/>
              </a:rPr>
              <a:t>and moves any segments that aren't in use from the computer's virtual memory space to its hard drive. </a:t>
            </a:r>
            <a:endParaRPr/>
          </a:p>
          <a:p>
            <a:pPr indent="-342900" lvl="0" marL="34290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Like page tables, segment tables track whether the computer stores the segment in memory or a physical address</a:t>
            </a:r>
            <a:endParaRPr/>
          </a:p>
          <a:p>
            <a:pPr indent="-152400" lvl="0" marL="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Segmentation is often slower than paging, but it offers the user more control over how to divide memory and may make it easier to share data between processes. </a:t>
            </a:r>
            <a:endParaRPr sz="2400">
              <a:latin typeface="Times New Roman"/>
              <a:ea typeface="Times New Roman"/>
              <a:cs typeface="Times New Roman"/>
              <a:sym typeface="Times New Roman"/>
            </a:endParaRPr>
          </a:p>
          <a:p>
            <a:pPr indent="-152400" lvl="0" marL="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You can customize the segments based on the machine's purpose and usage</a:t>
            </a:r>
            <a:endParaRPr sz="2400">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pic>
        <p:nvPicPr>
          <p:cNvPr id="875" name="Google Shape;875;p131"/>
          <p:cNvPicPr preferRelativeResize="0"/>
          <p:nvPr/>
        </p:nvPicPr>
        <p:blipFill rotWithShape="1">
          <a:blip r:embed="rId3">
            <a:alphaModFix/>
          </a:blip>
          <a:srcRect b="0" l="0" r="0" t="0"/>
          <a:stretch/>
        </p:blipFill>
        <p:spPr>
          <a:xfrm>
            <a:off x="0" y="1462786"/>
            <a:ext cx="8379501" cy="4061205"/>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132"/>
          <p:cNvSpPr txBox="1"/>
          <p:nvPr/>
        </p:nvSpPr>
        <p:spPr>
          <a:xfrm>
            <a:off x="154939" y="484073"/>
            <a:ext cx="8686800" cy="5930900"/>
          </a:xfrm>
          <a:prstGeom prst="rect">
            <a:avLst/>
          </a:prstGeom>
          <a:noFill/>
          <a:ln>
            <a:noFill/>
          </a:ln>
        </p:spPr>
        <p:txBody>
          <a:bodyPr anchorCtr="0" anchor="t" bIns="0" lIns="0" spcFirstLastPara="1" rIns="0" wrap="square" tIns="12050">
            <a:spAutoFit/>
          </a:bodyPr>
          <a:lstStyle/>
          <a:p>
            <a:pPr indent="0" lvl="0" marL="342900" marR="0" rtl="0" algn="l">
              <a:lnSpc>
                <a:spcPct val="100000"/>
              </a:lnSpc>
              <a:spcBef>
                <a:spcPts val="0"/>
              </a:spcBef>
              <a:spcAft>
                <a:spcPts val="0"/>
              </a:spcAft>
              <a:buNone/>
            </a:pPr>
            <a:r>
              <a:rPr lang="en-US" sz="2800">
                <a:solidFill>
                  <a:schemeClr val="dk1"/>
                </a:solidFill>
                <a:latin typeface="Arial Black"/>
                <a:ea typeface="Arial Black"/>
                <a:cs typeface="Arial Black"/>
                <a:sym typeface="Arial Black"/>
              </a:rPr>
              <a:t>Main Memory Allocation</a:t>
            </a:r>
            <a:endParaRPr sz="2800">
              <a:solidFill>
                <a:schemeClr val="dk1"/>
              </a:solidFill>
              <a:latin typeface="Arial Black"/>
              <a:ea typeface="Arial Black"/>
              <a:cs typeface="Arial Black"/>
              <a:sym typeface="Arial Black"/>
            </a:endParaRPr>
          </a:p>
          <a:p>
            <a:pPr indent="-342900" lvl="0" marL="355600" marR="1063625" rtl="0" algn="l">
              <a:lnSpc>
                <a:spcPct val="150100"/>
              </a:lnSpc>
              <a:spcBef>
                <a:spcPts val="79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Memory is divided into set of contiguous  locations called regions/segments/pages</a:t>
            </a:r>
            <a:endParaRPr sz="2800">
              <a:solidFill>
                <a:schemeClr val="dk1"/>
              </a:solidFill>
              <a:latin typeface="Verdana"/>
              <a:ea typeface="Verdana"/>
              <a:cs typeface="Verdana"/>
              <a:sym typeface="Verdana"/>
            </a:endParaRPr>
          </a:p>
          <a:p>
            <a:pPr indent="-342900" lvl="0" marL="355600" marR="0" rtl="0" algn="l">
              <a:lnSpc>
                <a:spcPct val="100000"/>
              </a:lnSpc>
              <a:spcBef>
                <a:spcPts val="235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Store blocks of data</a:t>
            </a:r>
            <a:endParaRPr sz="2800">
              <a:solidFill>
                <a:schemeClr val="dk1"/>
              </a:solidFill>
              <a:latin typeface="Verdana"/>
              <a:ea typeface="Verdana"/>
              <a:cs typeface="Verdana"/>
              <a:sym typeface="Verdana"/>
            </a:endParaRPr>
          </a:p>
          <a:p>
            <a:pPr indent="-342900" lvl="0" marL="355600" marR="67310" rtl="0" algn="l">
              <a:lnSpc>
                <a:spcPct val="150000"/>
              </a:lnSpc>
              <a:spcBef>
                <a:spcPts val="67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Placement of blocks of information in memory  is called </a:t>
            </a:r>
            <a:r>
              <a:rPr b="1" lang="en-US" sz="2800">
                <a:solidFill>
                  <a:srgbClr val="FF0000"/>
                </a:solidFill>
                <a:latin typeface="Verdana"/>
                <a:ea typeface="Verdana"/>
                <a:cs typeface="Verdana"/>
                <a:sym typeface="Verdana"/>
              </a:rPr>
              <a:t>Memory Allocation</a:t>
            </a:r>
            <a:endParaRPr sz="2800">
              <a:solidFill>
                <a:schemeClr val="dk1"/>
              </a:solidFill>
              <a:latin typeface="Verdana"/>
              <a:ea typeface="Verdana"/>
              <a:cs typeface="Verdana"/>
              <a:sym typeface="Verdana"/>
            </a:endParaRPr>
          </a:p>
          <a:p>
            <a:pPr indent="-342900" lvl="0" marL="355600" marR="5080" rtl="0" algn="l">
              <a:lnSpc>
                <a:spcPct val="150000"/>
              </a:lnSpc>
              <a:spcBef>
                <a:spcPts val="675"/>
              </a:spcBef>
              <a:spcAft>
                <a:spcPts val="0"/>
              </a:spcAft>
              <a:buClr>
                <a:srgbClr val="FF0000"/>
              </a:buClr>
              <a:buSzPts val="2800"/>
              <a:buFont typeface="Verdana"/>
              <a:buChar char="•"/>
            </a:pPr>
            <a:r>
              <a:rPr b="1" lang="en-US" sz="2800">
                <a:solidFill>
                  <a:srgbClr val="FF0000"/>
                </a:solidFill>
                <a:latin typeface="Verdana"/>
                <a:ea typeface="Verdana"/>
                <a:cs typeface="Verdana"/>
                <a:sym typeface="Verdana"/>
              </a:rPr>
              <a:t>Memory Management Systems </a:t>
            </a:r>
            <a:r>
              <a:rPr lang="en-US" sz="2800">
                <a:solidFill>
                  <a:schemeClr val="dk1"/>
                </a:solidFill>
                <a:latin typeface="Verdana"/>
                <a:ea typeface="Verdana"/>
                <a:cs typeface="Verdana"/>
                <a:sym typeface="Verdana"/>
              </a:rPr>
              <a:t>keeps  information in a table containing available and  free slots</a:t>
            </a:r>
            <a:endParaRPr sz="2800">
              <a:solidFill>
                <a:schemeClr val="dk1"/>
              </a:solidFill>
              <a:latin typeface="Verdana"/>
              <a:ea typeface="Verdana"/>
              <a:cs typeface="Verdana"/>
              <a:sym typeface="Verdana"/>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133"/>
          <p:cNvSpPr txBox="1"/>
          <p:nvPr/>
        </p:nvSpPr>
        <p:spPr>
          <a:xfrm>
            <a:off x="231153" y="234450"/>
            <a:ext cx="8234700" cy="19086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2800">
                <a:solidFill>
                  <a:schemeClr val="dk1"/>
                </a:solidFill>
                <a:latin typeface="Verdana"/>
                <a:ea typeface="Verdana"/>
                <a:cs typeface="Verdana"/>
                <a:sym typeface="Verdana"/>
              </a:rPr>
              <a:t>Allocation is done only as per needs</a:t>
            </a:r>
            <a:endParaRPr sz="2800">
              <a:solidFill>
                <a:schemeClr val="dk1"/>
              </a:solidFill>
              <a:latin typeface="Verdana"/>
              <a:ea typeface="Verdana"/>
              <a:cs typeface="Verdana"/>
              <a:sym typeface="Verdana"/>
            </a:endParaRPr>
          </a:p>
          <a:p>
            <a:pPr indent="-342900" lvl="0" marL="355600" marR="0" rtl="0" algn="l">
              <a:lnSpc>
                <a:spcPct val="100000"/>
              </a:lnSpc>
              <a:spcBef>
                <a:spcPts val="235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First Fit</a:t>
            </a:r>
            <a:endParaRPr sz="2800">
              <a:solidFill>
                <a:schemeClr val="dk1"/>
              </a:solidFill>
              <a:latin typeface="Verdana"/>
              <a:ea typeface="Verdana"/>
              <a:cs typeface="Verdana"/>
              <a:sym typeface="Verdana"/>
            </a:endParaRPr>
          </a:p>
          <a:p>
            <a:pPr indent="-342900" lvl="0" marL="355600" marR="0" rtl="0" algn="l">
              <a:lnSpc>
                <a:spcPct val="100000"/>
              </a:lnSpc>
              <a:spcBef>
                <a:spcPts val="235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Best Fit</a:t>
            </a:r>
            <a:endParaRPr sz="2800">
              <a:solidFill>
                <a:schemeClr val="dk1"/>
              </a:solidFill>
              <a:latin typeface="Verdana"/>
              <a:ea typeface="Verdana"/>
              <a:cs typeface="Verdana"/>
              <a:sym typeface="Verdana"/>
            </a:endParaRPr>
          </a:p>
        </p:txBody>
      </p:sp>
      <p:pic>
        <p:nvPicPr>
          <p:cNvPr id="886" name="Google Shape;886;p133"/>
          <p:cNvPicPr preferRelativeResize="0"/>
          <p:nvPr/>
        </p:nvPicPr>
        <p:blipFill rotWithShape="1">
          <a:blip r:embed="rId3">
            <a:alphaModFix/>
          </a:blip>
          <a:srcRect b="0" l="0" r="0" t="0"/>
          <a:stretch/>
        </p:blipFill>
        <p:spPr>
          <a:xfrm>
            <a:off x="133152" y="2233646"/>
            <a:ext cx="8991300" cy="4435375"/>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p134"/>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892" name="Google Shape;892;p134"/>
          <p:cNvSpPr txBox="1"/>
          <p:nvPr>
            <p:ph idx="1" type="body"/>
          </p:nvPr>
        </p:nvSpPr>
        <p:spPr>
          <a:xfrm>
            <a:off x="525144" y="1188465"/>
            <a:ext cx="8093710" cy="4924425"/>
          </a:xfrm>
          <a:prstGeom prst="rect">
            <a:avLst/>
          </a:prstGeom>
          <a:noFill/>
          <a:ln>
            <a:noFill/>
          </a:ln>
        </p:spPr>
        <p:txBody>
          <a:bodyPr anchorCtr="0" anchor="t" bIns="0" lIns="0" spcFirstLastPara="1" rIns="0" wrap="square" tIns="0">
            <a:spAutoFit/>
          </a:bodyPr>
          <a:lstStyle/>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The best-fit algorithm searches for the </a:t>
            </a:r>
            <a:r>
              <a:rPr b="1" lang="en-US">
                <a:latin typeface="Times New Roman"/>
                <a:ea typeface="Times New Roman"/>
                <a:cs typeface="Times New Roman"/>
                <a:sym typeface="Times New Roman"/>
              </a:rPr>
              <a:t>smallest free partition </a:t>
            </a:r>
            <a:r>
              <a:rPr lang="en-US">
                <a:latin typeface="Times New Roman"/>
                <a:ea typeface="Times New Roman"/>
                <a:cs typeface="Times New Roman"/>
                <a:sym typeface="Times New Roman"/>
              </a:rPr>
              <a:t>that is large enough to accommodate the process. </a:t>
            </a:r>
            <a:endParaRPr>
              <a:latin typeface="Times New Roman"/>
              <a:ea typeface="Times New Roman"/>
              <a:cs typeface="Times New Roman"/>
              <a:sym typeface="Times New Roman"/>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The operating system searches the entire memory and selects the free partition that is closest in size to the process.</a:t>
            </a:r>
            <a:endParaRPr/>
          </a:p>
          <a:p>
            <a:pPr indent="-215900" lvl="0" marL="342900" rtl="0" algn="just">
              <a:spcBef>
                <a:spcPts val="0"/>
              </a:spcBef>
              <a:spcAft>
                <a:spcPts val="0"/>
              </a:spcAft>
              <a:buClr>
                <a:schemeClr val="dk1"/>
              </a:buClr>
              <a:buSzPts val="2000"/>
              <a:buFont typeface="Arial"/>
              <a:buNone/>
            </a:pPr>
            <a:r>
              <a:t/>
            </a:r>
            <a:endParaRPr>
              <a:latin typeface="Times New Roman"/>
              <a:ea typeface="Times New Roman"/>
              <a:cs typeface="Times New Roman"/>
              <a:sym typeface="Times New Roman"/>
            </a:endParaRPr>
          </a:p>
          <a:p>
            <a:pPr indent="-215900" lvl="0" marL="342900" rtl="0" algn="just">
              <a:spcBef>
                <a:spcPts val="0"/>
              </a:spcBef>
              <a:spcAft>
                <a:spcPts val="0"/>
              </a:spcAft>
              <a:buClr>
                <a:schemeClr val="dk1"/>
              </a:buClr>
              <a:buSzPts val="2000"/>
              <a:buFont typeface="Arial"/>
              <a:buNone/>
            </a:pPr>
            <a:r>
              <a:t/>
            </a:r>
            <a:endParaRPr>
              <a:latin typeface="Times New Roman"/>
              <a:ea typeface="Times New Roman"/>
              <a:cs typeface="Times New Roman"/>
              <a:sym typeface="Times New Roman"/>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The worst-fit algorithm searches for </a:t>
            </a:r>
            <a:r>
              <a:rPr b="1" lang="en-US">
                <a:latin typeface="Times New Roman"/>
                <a:ea typeface="Times New Roman"/>
                <a:cs typeface="Times New Roman"/>
                <a:sym typeface="Times New Roman"/>
              </a:rPr>
              <a:t>the largest free partition and allocates the process to it. </a:t>
            </a:r>
            <a:endParaRPr b="1">
              <a:latin typeface="Times New Roman"/>
              <a:ea typeface="Times New Roman"/>
              <a:cs typeface="Times New Roman"/>
              <a:sym typeface="Times New Roman"/>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This algorithm is designed to leave the largest possible free partition for future use.</a:t>
            </a:r>
            <a:endParaRPr/>
          </a:p>
          <a:p>
            <a:pPr indent="-215900" lvl="0" marL="342900" rtl="0" algn="just">
              <a:spcBef>
                <a:spcPts val="0"/>
              </a:spcBef>
              <a:spcAft>
                <a:spcPts val="0"/>
              </a:spcAft>
              <a:buClr>
                <a:schemeClr val="dk1"/>
              </a:buClr>
              <a:buSzPts val="2000"/>
              <a:buFont typeface="Arial"/>
              <a:buNone/>
            </a:pPr>
            <a:r>
              <a:t/>
            </a:r>
            <a:endParaRPr>
              <a:latin typeface="Times New Roman"/>
              <a:ea typeface="Times New Roman"/>
              <a:cs typeface="Times New Roman"/>
              <a:sym typeface="Times New Roman"/>
            </a:endParaRPr>
          </a:p>
          <a:p>
            <a:pPr indent="-215900" lvl="0" marL="342900" rtl="0" algn="just">
              <a:spcBef>
                <a:spcPts val="0"/>
              </a:spcBef>
              <a:spcAft>
                <a:spcPts val="0"/>
              </a:spcAft>
              <a:buClr>
                <a:schemeClr val="dk1"/>
              </a:buClr>
              <a:buSzPts val="2000"/>
              <a:buFont typeface="Arial"/>
              <a:buNone/>
            </a:pPr>
            <a:r>
              <a:t/>
            </a:r>
            <a:endParaRPr>
              <a:latin typeface="Times New Roman"/>
              <a:ea typeface="Times New Roman"/>
              <a:cs typeface="Times New Roman"/>
              <a:sym typeface="Times New Roman"/>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The first-fit algorithm searches for the </a:t>
            </a:r>
            <a:r>
              <a:rPr b="1" lang="en-US">
                <a:latin typeface="Times New Roman"/>
                <a:ea typeface="Times New Roman"/>
                <a:cs typeface="Times New Roman"/>
                <a:sym typeface="Times New Roman"/>
              </a:rPr>
              <a:t>first free partition that is large enough to accommodate the process.</a:t>
            </a:r>
            <a:r>
              <a:rPr lang="en-US">
                <a:latin typeface="Times New Roman"/>
                <a:ea typeface="Times New Roman"/>
                <a:cs typeface="Times New Roman"/>
                <a:sym typeface="Times New Roman"/>
              </a:rPr>
              <a:t> The operating system starts searching from the beginning of the memory and allocates the first free partition that is large enough to fit the process.</a:t>
            </a:r>
            <a:endParaRPr>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135"/>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898" name="Google Shape;898;p135"/>
          <p:cNvSpPr txBox="1"/>
          <p:nvPr>
            <p:ph idx="1" type="body"/>
          </p:nvPr>
        </p:nvSpPr>
        <p:spPr>
          <a:xfrm>
            <a:off x="525144" y="1188465"/>
            <a:ext cx="8093710" cy="738664"/>
          </a:xfrm>
          <a:prstGeom prst="rect">
            <a:avLst/>
          </a:prstGeom>
          <a:noFill/>
          <a:ln>
            <a:noFill/>
          </a:ln>
        </p:spPr>
        <p:txBody>
          <a:bodyPr anchorCtr="0" anchor="t" bIns="0" lIns="0" spcFirstLastPara="1" rIns="0" wrap="square" tIns="0">
            <a:spAutoFit/>
          </a:bodyPr>
          <a:lstStyle/>
          <a:p>
            <a:pPr indent="0" lvl="0" marL="0" rtl="0" algn="just">
              <a:spcBef>
                <a:spcPts val="0"/>
              </a:spcBef>
              <a:spcAft>
                <a:spcPts val="0"/>
              </a:spcAft>
              <a:buNone/>
            </a:pPr>
            <a:r>
              <a:rPr lang="en-US" sz="2400">
                <a:latin typeface="Times New Roman"/>
                <a:ea typeface="Times New Roman"/>
                <a:cs typeface="Times New Roman"/>
                <a:sym typeface="Times New Roman"/>
              </a:rPr>
              <a:t>Refer pros &amp; cons of all</a:t>
            </a:r>
            <a:endParaRPr/>
          </a:p>
          <a:p>
            <a:pPr indent="0" lvl="0" marL="0" rtl="0" algn="just">
              <a:spcBef>
                <a:spcPts val="0"/>
              </a:spcBef>
              <a:spcAft>
                <a:spcPts val="0"/>
              </a:spcAft>
              <a:buNone/>
            </a:pPr>
            <a:r>
              <a:rPr lang="en-US" sz="2400">
                <a:latin typeface="Times New Roman"/>
                <a:ea typeface="Times New Roman"/>
                <a:cs typeface="Times New Roman"/>
                <a:sym typeface="Times New Roman"/>
              </a:rPr>
              <a:t>Compare segmentation and paging</a:t>
            </a:r>
            <a:endParaRPr sz="2400">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sp>
        <p:nvSpPr>
          <p:cNvPr id="903" name="Google Shape;903;p136"/>
          <p:cNvSpPr txBox="1"/>
          <p:nvPr>
            <p:ph type="title"/>
          </p:nvPr>
        </p:nvSpPr>
        <p:spPr>
          <a:xfrm>
            <a:off x="609600" y="228600"/>
            <a:ext cx="8173313" cy="430887"/>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Replacement Algorithms</a:t>
            </a:r>
            <a:endParaRPr/>
          </a:p>
        </p:txBody>
      </p:sp>
      <p:sp>
        <p:nvSpPr>
          <p:cNvPr id="904" name="Google Shape;904;p136"/>
          <p:cNvSpPr txBox="1"/>
          <p:nvPr>
            <p:ph idx="1" type="body"/>
          </p:nvPr>
        </p:nvSpPr>
        <p:spPr>
          <a:xfrm>
            <a:off x="525144" y="1188465"/>
            <a:ext cx="8093710" cy="2154436"/>
          </a:xfrm>
          <a:prstGeom prst="rect">
            <a:avLst/>
          </a:prstGeom>
          <a:noFill/>
          <a:ln>
            <a:noFill/>
          </a:ln>
        </p:spPr>
        <p:txBody>
          <a:bodyPr anchorCtr="0" anchor="t" bIns="0" lIns="0" spcFirstLastPara="1" rIns="0" wrap="square" tIns="0">
            <a:spAutoFit/>
          </a:bodyPr>
          <a:lstStyle/>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Once the cache has been filled, when a new block is brought into the cache, one of the existing blocks must be replaced</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For direct mapping, there is only one possible line for any particular block, and no choice is possible.</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 For the associative and set- associative techniques, a replacement algorithm is needed. </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To achieve high speed, such an algorithm must be implemented in hardware</a:t>
            </a:r>
            <a:endParaRPr>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
        <p:nvSpPr>
          <p:cNvPr id="909" name="Google Shape;909;p137"/>
          <p:cNvSpPr txBox="1"/>
          <p:nvPr>
            <p:ph type="title"/>
          </p:nvPr>
        </p:nvSpPr>
        <p:spPr>
          <a:xfrm>
            <a:off x="485343" y="484073"/>
            <a:ext cx="4816475"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Replacement Algorithms</a:t>
            </a:r>
            <a:endParaRPr/>
          </a:p>
        </p:txBody>
      </p:sp>
      <p:sp>
        <p:nvSpPr>
          <p:cNvPr id="910" name="Google Shape;910;p137"/>
          <p:cNvSpPr txBox="1"/>
          <p:nvPr/>
        </p:nvSpPr>
        <p:spPr>
          <a:xfrm>
            <a:off x="535940" y="1012215"/>
            <a:ext cx="8303260" cy="4687822"/>
          </a:xfrm>
          <a:prstGeom prst="rect">
            <a:avLst/>
          </a:prstGeom>
          <a:noFill/>
          <a:ln>
            <a:noFill/>
          </a:ln>
        </p:spPr>
        <p:txBody>
          <a:bodyPr anchorCtr="0" anchor="t" bIns="0" lIns="0" spcFirstLastPara="1" rIns="0" wrap="square" tIns="98425">
            <a:spAutoFit/>
          </a:bodyPr>
          <a:lstStyle/>
          <a:p>
            <a:pPr indent="-343535" lvl="0" marL="355600" marR="0" rtl="0" algn="just">
              <a:lnSpc>
                <a:spcPct val="100000"/>
              </a:lnSpc>
              <a:spcBef>
                <a:spcPts val="0"/>
              </a:spcBef>
              <a:spcAft>
                <a:spcPts val="0"/>
              </a:spcAft>
              <a:buClr>
                <a:srgbClr val="FF0000"/>
              </a:buClr>
              <a:buSzPts val="2800"/>
              <a:buFont typeface="Times New Roman"/>
              <a:buChar char="•"/>
            </a:pPr>
            <a:r>
              <a:rPr lang="en-US" sz="2800">
                <a:solidFill>
                  <a:schemeClr val="dk1"/>
                </a:solidFill>
                <a:latin typeface="Times New Roman"/>
                <a:ea typeface="Times New Roman"/>
                <a:cs typeface="Times New Roman"/>
                <a:sym typeface="Times New Roman"/>
              </a:rPr>
              <a:t>Hardware implemented algorithm (speed)</a:t>
            </a:r>
            <a:endParaRPr sz="2800">
              <a:solidFill>
                <a:schemeClr val="dk1"/>
              </a:solidFill>
              <a:latin typeface="Times New Roman"/>
              <a:ea typeface="Times New Roman"/>
              <a:cs typeface="Times New Roman"/>
              <a:sym typeface="Times New Roman"/>
            </a:endParaRPr>
          </a:p>
          <a:p>
            <a:pPr indent="-343535" lvl="0" marL="355600" marR="0" rtl="0" algn="just">
              <a:lnSpc>
                <a:spcPct val="100000"/>
              </a:lnSpc>
              <a:spcBef>
                <a:spcPts val="675"/>
              </a:spcBef>
              <a:spcAft>
                <a:spcPts val="0"/>
              </a:spcAft>
              <a:buClr>
                <a:srgbClr val="FF0000"/>
              </a:buClr>
              <a:buSzPts val="2800"/>
              <a:buFont typeface="Times New Roman"/>
              <a:buChar char="•"/>
            </a:pPr>
            <a:r>
              <a:rPr lang="en-US" sz="2800">
                <a:solidFill>
                  <a:schemeClr val="dk1"/>
                </a:solidFill>
                <a:latin typeface="Times New Roman"/>
                <a:ea typeface="Times New Roman"/>
                <a:cs typeface="Times New Roman"/>
                <a:sym typeface="Times New Roman"/>
              </a:rPr>
              <a:t>Least Recently used (LRU)</a:t>
            </a:r>
            <a:endParaRPr sz="2800">
              <a:solidFill>
                <a:schemeClr val="dk1"/>
              </a:solidFill>
              <a:latin typeface="Times New Roman"/>
              <a:ea typeface="Times New Roman"/>
              <a:cs typeface="Times New Roman"/>
              <a:sym typeface="Times New Roman"/>
            </a:endParaRPr>
          </a:p>
          <a:p>
            <a:pPr indent="-287019" lvl="0" marL="756285" marR="773430" rtl="0" algn="just">
              <a:lnSpc>
                <a:spcPct val="100000"/>
              </a:lnSpc>
              <a:spcBef>
                <a:spcPts val="580"/>
              </a:spcBef>
              <a:spcAft>
                <a:spcPts val="0"/>
              </a:spcAft>
              <a:buNone/>
            </a:pPr>
            <a:r>
              <a:rPr lang="en-US" sz="2400">
                <a:solidFill>
                  <a:srgbClr val="FF0000"/>
                </a:solidFill>
                <a:latin typeface="Times New Roman"/>
                <a:ea typeface="Times New Roman"/>
                <a:cs typeface="Times New Roman"/>
                <a:sym typeface="Times New Roman"/>
              </a:rPr>
              <a:t>—</a:t>
            </a:r>
            <a:r>
              <a:rPr lang="en-US" sz="2400">
                <a:solidFill>
                  <a:schemeClr val="dk1"/>
                </a:solidFill>
                <a:latin typeface="Times New Roman"/>
                <a:ea typeface="Times New Roman"/>
                <a:cs typeface="Times New Roman"/>
                <a:sym typeface="Times New Roman"/>
              </a:rPr>
              <a:t>Pick the slot that hasn't been used in the  longest time.</a:t>
            </a:r>
            <a:endParaRPr sz="2400">
              <a:solidFill>
                <a:schemeClr val="dk1"/>
              </a:solidFill>
              <a:latin typeface="Times New Roman"/>
              <a:ea typeface="Times New Roman"/>
              <a:cs typeface="Times New Roman"/>
              <a:sym typeface="Times New Roman"/>
            </a:endParaRPr>
          </a:p>
          <a:p>
            <a:pPr indent="-287019" lvl="0" marL="756285" marR="773430" rtl="0" algn="just">
              <a:lnSpc>
                <a:spcPct val="100000"/>
              </a:lnSpc>
              <a:spcBef>
                <a:spcPts val="580"/>
              </a:spcBef>
              <a:spcAft>
                <a:spcPts val="0"/>
              </a:spcAft>
              <a:buNone/>
            </a:pPr>
            <a:r>
              <a:rPr lang="en-US" sz="2400">
                <a:solidFill>
                  <a:schemeClr val="dk1"/>
                </a:solidFill>
                <a:latin typeface="Times New Roman"/>
                <a:ea typeface="Times New Roman"/>
                <a:cs typeface="Times New Roman"/>
                <a:sym typeface="Times New Roman"/>
              </a:rPr>
              <a:t>-easy to implement for a fully associative cache</a:t>
            </a:r>
            <a:endParaRPr/>
          </a:p>
          <a:p>
            <a:pPr indent="-287019" lvl="0" marL="756285" marR="773430" rtl="0" algn="just">
              <a:lnSpc>
                <a:spcPct val="100000"/>
              </a:lnSpc>
              <a:spcBef>
                <a:spcPts val="580"/>
              </a:spcBef>
              <a:spcAft>
                <a:spcPts val="0"/>
              </a:spcAft>
              <a:buNone/>
            </a:pPr>
            <a:r>
              <a:rPr lang="en-US" sz="2400">
                <a:solidFill>
                  <a:schemeClr val="dk1"/>
                </a:solidFill>
                <a:latin typeface="Times New Roman"/>
                <a:ea typeface="Times New Roman"/>
                <a:cs typeface="Times New Roman"/>
                <a:sym typeface="Times New Roman"/>
              </a:rPr>
              <a:t>-For replacement, the line at the back of the list is used. </a:t>
            </a:r>
            <a:endParaRPr/>
          </a:p>
          <a:p>
            <a:pPr indent="-287019" lvl="0" marL="756285" marR="773430" rtl="0" algn="just">
              <a:lnSpc>
                <a:spcPct val="100000"/>
              </a:lnSpc>
              <a:spcBef>
                <a:spcPts val="580"/>
              </a:spcBef>
              <a:spcAft>
                <a:spcPts val="0"/>
              </a:spcAft>
              <a:buNone/>
            </a:pPr>
            <a:r>
              <a:rPr lang="en-US" sz="2400">
                <a:solidFill>
                  <a:schemeClr val="dk1"/>
                </a:solidFill>
                <a:latin typeface="Times New Roman"/>
                <a:ea typeface="Times New Roman"/>
                <a:cs typeface="Times New Roman"/>
                <a:sym typeface="Times New Roman"/>
              </a:rPr>
              <a:t>Because of its simplicity of implementation, LRU is the</a:t>
            </a:r>
            <a:endParaRPr/>
          </a:p>
          <a:p>
            <a:pPr indent="-287019" lvl="0" marL="756285" marR="773430" rtl="0" algn="just">
              <a:lnSpc>
                <a:spcPct val="100000"/>
              </a:lnSpc>
              <a:spcBef>
                <a:spcPts val="580"/>
              </a:spcBef>
              <a:spcAft>
                <a:spcPts val="0"/>
              </a:spcAft>
              <a:buNone/>
            </a:pPr>
            <a:r>
              <a:rPr lang="en-US" sz="2400">
                <a:solidFill>
                  <a:schemeClr val="dk1"/>
                </a:solidFill>
                <a:latin typeface="Times New Roman"/>
                <a:ea typeface="Times New Roman"/>
                <a:cs typeface="Times New Roman"/>
                <a:sym typeface="Times New Roman"/>
              </a:rPr>
              <a:t>most popular replacement algorithm.</a:t>
            </a:r>
            <a:endParaRPr sz="3350">
              <a:solidFill>
                <a:schemeClr val="dk1"/>
              </a:solidFill>
              <a:latin typeface="Times New Roman"/>
              <a:ea typeface="Times New Roman"/>
              <a:cs typeface="Times New Roman"/>
              <a:sym typeface="Times New Roman"/>
            </a:endParaRPr>
          </a:p>
          <a:p>
            <a:pPr indent="-343535" lvl="0" marL="355600" marR="0" rtl="0" algn="just">
              <a:lnSpc>
                <a:spcPct val="100000"/>
              </a:lnSpc>
              <a:spcBef>
                <a:spcPts val="0"/>
              </a:spcBef>
              <a:spcAft>
                <a:spcPts val="0"/>
              </a:spcAft>
              <a:buClr>
                <a:srgbClr val="FF0000"/>
              </a:buClr>
              <a:buSzPts val="2800"/>
              <a:buFont typeface="Times New Roman"/>
              <a:buChar char="•"/>
            </a:pPr>
            <a:r>
              <a:rPr lang="en-US" sz="2800">
                <a:solidFill>
                  <a:schemeClr val="dk1"/>
                </a:solidFill>
                <a:latin typeface="Times New Roman"/>
                <a:ea typeface="Times New Roman"/>
                <a:cs typeface="Times New Roman"/>
                <a:sym typeface="Times New Roman"/>
              </a:rPr>
              <a:t>First in first out (FIFO)</a:t>
            </a:r>
            <a:endParaRPr sz="2800">
              <a:solidFill>
                <a:schemeClr val="dk1"/>
              </a:solidFill>
              <a:latin typeface="Times New Roman"/>
              <a:ea typeface="Times New Roman"/>
              <a:cs typeface="Times New Roman"/>
              <a:sym typeface="Times New Roman"/>
            </a:endParaRPr>
          </a:p>
          <a:p>
            <a:pPr indent="0" lvl="0" marL="469900" marR="0" rtl="0" algn="just">
              <a:lnSpc>
                <a:spcPct val="100000"/>
              </a:lnSpc>
              <a:spcBef>
                <a:spcPts val="580"/>
              </a:spcBef>
              <a:spcAft>
                <a:spcPts val="0"/>
              </a:spcAft>
              <a:buNone/>
            </a:pPr>
            <a:r>
              <a:rPr lang="en-US" sz="2400">
                <a:solidFill>
                  <a:srgbClr val="FF0000"/>
                </a:solidFill>
                <a:latin typeface="Times New Roman"/>
                <a:ea typeface="Times New Roman"/>
                <a:cs typeface="Times New Roman"/>
                <a:sym typeface="Times New Roman"/>
              </a:rPr>
              <a:t>—</a:t>
            </a:r>
            <a:r>
              <a:rPr lang="en-US" sz="2400">
                <a:solidFill>
                  <a:schemeClr val="dk1"/>
                </a:solidFill>
                <a:latin typeface="Times New Roman"/>
                <a:ea typeface="Times New Roman"/>
                <a:cs typeface="Times New Roman"/>
                <a:sym typeface="Times New Roman"/>
              </a:rPr>
              <a:t>replace block that has come into cache first</a:t>
            </a:r>
            <a:endParaRPr sz="2400">
              <a:solidFill>
                <a:schemeClr val="dk1"/>
              </a:solidFill>
              <a:latin typeface="Times New Roman"/>
              <a:ea typeface="Times New Roman"/>
              <a:cs typeface="Times New Roman"/>
              <a:sym typeface="Times New Roman"/>
            </a:endParaRPr>
          </a:p>
          <a:p>
            <a:pPr indent="0" lvl="0" marL="0" marR="0" rtl="0" algn="just">
              <a:lnSpc>
                <a:spcPct val="100000"/>
              </a:lnSpc>
              <a:spcBef>
                <a:spcPts val="55"/>
              </a:spcBef>
              <a:spcAft>
                <a:spcPts val="0"/>
              </a:spcAft>
              <a:buNone/>
            </a:pPr>
            <a:r>
              <a:t/>
            </a:r>
            <a:endParaRPr sz="3350">
              <a:solidFill>
                <a:schemeClr val="dk1"/>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138"/>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916" name="Google Shape;916;p138"/>
          <p:cNvSpPr txBox="1"/>
          <p:nvPr>
            <p:ph idx="1" type="body"/>
          </p:nvPr>
        </p:nvSpPr>
        <p:spPr>
          <a:xfrm>
            <a:off x="525144" y="1188465"/>
            <a:ext cx="8093710" cy="1415772"/>
          </a:xfrm>
          <a:prstGeom prst="rect">
            <a:avLst/>
          </a:prstGeom>
          <a:noFill/>
          <a:ln>
            <a:noFill/>
          </a:ln>
        </p:spPr>
        <p:txBody>
          <a:bodyPr anchorCtr="0" anchor="t" bIns="0" lIns="0" spcFirstLastPara="1" rIns="0" wrap="square" tIns="0">
            <a:spAutoFit/>
          </a:bodyPr>
          <a:lstStyle/>
          <a:p>
            <a:pPr indent="-343535" lvl="0" marL="355600" rtl="0" algn="l">
              <a:lnSpc>
                <a:spcPct val="100000"/>
              </a:lnSpc>
              <a:spcBef>
                <a:spcPts val="0"/>
              </a:spcBef>
              <a:spcAft>
                <a:spcPts val="0"/>
              </a:spcAft>
              <a:buClr>
                <a:srgbClr val="FF0000"/>
              </a:buClr>
              <a:buSzPts val="2000"/>
              <a:buFont typeface="Verdana"/>
              <a:buChar char="•"/>
            </a:pPr>
            <a:r>
              <a:rPr lang="en-US"/>
              <a:t>Random</a:t>
            </a:r>
            <a:endParaRPr/>
          </a:p>
          <a:p>
            <a:pPr indent="0" lvl="0" marL="0" rtl="0" algn="l">
              <a:lnSpc>
                <a:spcPct val="100000"/>
              </a:lnSpc>
              <a:spcBef>
                <a:spcPts val="25"/>
              </a:spcBef>
              <a:spcAft>
                <a:spcPts val="0"/>
              </a:spcAft>
              <a:buClr>
                <a:srgbClr val="FF0000"/>
              </a:buClr>
              <a:buSzPts val="3200"/>
              <a:buFont typeface="Verdana"/>
              <a:buNone/>
            </a:pPr>
            <a:r>
              <a:t/>
            </a:r>
            <a:endParaRPr sz="3200"/>
          </a:p>
          <a:p>
            <a:pPr indent="-343535" lvl="0" marL="355600" rtl="0" algn="l">
              <a:lnSpc>
                <a:spcPct val="100000"/>
              </a:lnSpc>
              <a:spcBef>
                <a:spcPts val="0"/>
              </a:spcBef>
              <a:spcAft>
                <a:spcPts val="0"/>
              </a:spcAft>
              <a:buClr>
                <a:srgbClr val="FF0000"/>
              </a:buClr>
              <a:buSzPts val="2000"/>
              <a:buFont typeface="Verdana"/>
              <a:buChar char="•"/>
            </a:pPr>
            <a:r>
              <a:rPr lang="en-US"/>
              <a:t>OPT-Optimal(Future)</a:t>
            </a:r>
            <a:endParaRPr/>
          </a:p>
          <a:p>
            <a:pPr indent="0" lvl="0" marL="0" rtl="0" algn="l">
              <a:spcBef>
                <a:spcPts val="0"/>
              </a:spcBef>
              <a:spcAft>
                <a:spcPts val="0"/>
              </a:spcAft>
              <a:buNone/>
            </a:pPr>
            <a:r>
              <a:t/>
            </a:r>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140"/>
          <p:cNvSpPr txBox="1"/>
          <p:nvPr>
            <p:ph type="title"/>
          </p:nvPr>
        </p:nvSpPr>
        <p:spPr>
          <a:xfrm>
            <a:off x="535940" y="1098549"/>
            <a:ext cx="6984365"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latin typeface="Verdana"/>
                <a:ea typeface="Verdana"/>
                <a:cs typeface="Verdana"/>
                <a:sym typeface="Verdana"/>
              </a:rPr>
              <a:t>7,0,1,2,0,3,0,4,2,3,0,3,2,1,2,0,1,7,0,1</a:t>
            </a:r>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p141"/>
          <p:cNvSpPr txBox="1"/>
          <p:nvPr>
            <p:ph type="title"/>
          </p:nvPr>
        </p:nvSpPr>
        <p:spPr>
          <a:xfrm>
            <a:off x="485343" y="484073"/>
            <a:ext cx="2787015"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FIFO,LRU,OPT</a:t>
            </a:r>
            <a:endParaRPr/>
          </a:p>
        </p:txBody>
      </p:sp>
      <p:sp>
        <p:nvSpPr>
          <p:cNvPr id="927" name="Google Shape;927;p141"/>
          <p:cNvSpPr txBox="1"/>
          <p:nvPr/>
        </p:nvSpPr>
        <p:spPr>
          <a:xfrm>
            <a:off x="154939" y="1083910"/>
            <a:ext cx="8705850" cy="2945130"/>
          </a:xfrm>
          <a:prstGeom prst="rect">
            <a:avLst/>
          </a:prstGeom>
          <a:noFill/>
          <a:ln>
            <a:noFill/>
          </a:ln>
        </p:spPr>
        <p:txBody>
          <a:bodyPr anchorCtr="0" anchor="t" bIns="0" lIns="0" spcFirstLastPara="1" rIns="0" wrap="square" tIns="102225">
            <a:spAutoFit/>
          </a:bodyPr>
          <a:lstStyle/>
          <a:p>
            <a:pPr indent="0" lvl="0" marL="12700" marR="0" rtl="0" algn="l">
              <a:lnSpc>
                <a:spcPct val="100000"/>
              </a:lnSpc>
              <a:spcBef>
                <a:spcPts val="0"/>
              </a:spcBef>
              <a:spcAft>
                <a:spcPts val="0"/>
              </a:spcAft>
              <a:buNone/>
            </a:pPr>
            <a:r>
              <a:rPr lang="en-US" sz="3200">
                <a:solidFill>
                  <a:schemeClr val="dk1"/>
                </a:solidFill>
                <a:latin typeface="Verdana"/>
                <a:ea typeface="Verdana"/>
                <a:cs typeface="Verdana"/>
                <a:sym typeface="Verdana"/>
              </a:rPr>
              <a:t>1) 1 , 6	,4 , 5 , 1 ,4, 3, 2, 1, 2, 1, 4,6,7,4</a:t>
            </a:r>
            <a:endParaRPr sz="3200">
              <a:solidFill>
                <a:schemeClr val="dk1"/>
              </a:solidFill>
              <a:latin typeface="Verdana"/>
              <a:ea typeface="Verdana"/>
              <a:cs typeface="Verdana"/>
              <a:sym typeface="Verdana"/>
            </a:endParaRPr>
          </a:p>
          <a:p>
            <a:pPr indent="0" lvl="0" marL="12700" marR="0" rtl="0" algn="l">
              <a:lnSpc>
                <a:spcPct val="100000"/>
              </a:lnSpc>
              <a:spcBef>
                <a:spcPts val="710"/>
              </a:spcBef>
              <a:spcAft>
                <a:spcPts val="0"/>
              </a:spcAft>
              <a:buNone/>
            </a:pPr>
            <a:r>
              <a:rPr lang="en-US" sz="3200">
                <a:solidFill>
                  <a:srgbClr val="FF6600"/>
                </a:solidFill>
                <a:latin typeface="Verdana"/>
                <a:ea typeface="Verdana"/>
                <a:cs typeface="Verdana"/>
                <a:sym typeface="Verdana"/>
              </a:rPr>
              <a:t>FIFO</a:t>
            </a:r>
            <a:r>
              <a:rPr lang="en-US" sz="3200">
                <a:solidFill>
                  <a:schemeClr val="dk1"/>
                </a:solidFill>
                <a:latin typeface="Noto Sans Symbols"/>
                <a:ea typeface="Noto Sans Symbols"/>
                <a:cs typeface="Noto Sans Symbols"/>
                <a:sym typeface="Noto Sans Symbols"/>
              </a:rPr>
              <a:t>🡪</a:t>
            </a:r>
            <a:r>
              <a:rPr lang="en-US" sz="3200">
                <a:solidFill>
                  <a:schemeClr val="dk1"/>
                </a:solidFill>
                <a:latin typeface="Times New Roman"/>
                <a:ea typeface="Times New Roman"/>
                <a:cs typeface="Times New Roman"/>
                <a:sym typeface="Times New Roman"/>
              </a:rPr>
              <a:t> </a:t>
            </a:r>
            <a:r>
              <a:rPr lang="en-US" sz="3200">
                <a:solidFill>
                  <a:schemeClr val="dk1"/>
                </a:solidFill>
                <a:latin typeface="Verdana"/>
                <a:ea typeface="Verdana"/>
                <a:cs typeface="Verdana"/>
                <a:sym typeface="Verdana"/>
              </a:rPr>
              <a:t>7 – 4 – 6</a:t>
            </a:r>
            <a:endParaRPr sz="3200">
              <a:solidFill>
                <a:schemeClr val="dk1"/>
              </a:solidFill>
              <a:latin typeface="Verdana"/>
              <a:ea typeface="Verdana"/>
              <a:cs typeface="Verdana"/>
              <a:sym typeface="Verdana"/>
            </a:endParaRPr>
          </a:p>
          <a:p>
            <a:pPr indent="0" lvl="0" marL="12700" marR="0" rtl="0" algn="l">
              <a:lnSpc>
                <a:spcPct val="100000"/>
              </a:lnSpc>
              <a:spcBef>
                <a:spcPts val="770"/>
              </a:spcBef>
              <a:spcAft>
                <a:spcPts val="0"/>
              </a:spcAft>
              <a:buNone/>
            </a:pPr>
            <a:r>
              <a:rPr lang="en-US" sz="3200">
                <a:solidFill>
                  <a:srgbClr val="FF6600"/>
                </a:solidFill>
                <a:latin typeface="Verdana"/>
                <a:ea typeface="Verdana"/>
                <a:cs typeface="Verdana"/>
                <a:sym typeface="Verdana"/>
              </a:rPr>
              <a:t>LRU</a:t>
            </a:r>
            <a:r>
              <a:rPr lang="en-US" sz="3200">
                <a:solidFill>
                  <a:schemeClr val="dk1"/>
                </a:solidFill>
                <a:latin typeface="Noto Sans Symbols"/>
                <a:ea typeface="Noto Sans Symbols"/>
                <a:cs typeface="Noto Sans Symbols"/>
                <a:sym typeface="Noto Sans Symbols"/>
              </a:rPr>
              <a:t>🡪</a:t>
            </a:r>
            <a:r>
              <a:rPr lang="en-US" sz="3200">
                <a:solidFill>
                  <a:schemeClr val="dk1"/>
                </a:solidFill>
                <a:latin typeface="Times New Roman"/>
                <a:ea typeface="Times New Roman"/>
                <a:cs typeface="Times New Roman"/>
                <a:sym typeface="Times New Roman"/>
              </a:rPr>
              <a:t>	</a:t>
            </a:r>
            <a:r>
              <a:rPr lang="en-US" sz="3200">
                <a:solidFill>
                  <a:schemeClr val="dk1"/>
                </a:solidFill>
                <a:latin typeface="Verdana"/>
                <a:ea typeface="Verdana"/>
                <a:cs typeface="Verdana"/>
                <a:sym typeface="Verdana"/>
              </a:rPr>
              <a:t>4	- 6	-	7</a:t>
            </a:r>
            <a:endParaRPr sz="3200">
              <a:solidFill>
                <a:schemeClr val="dk1"/>
              </a:solidFill>
              <a:latin typeface="Verdana"/>
              <a:ea typeface="Verdana"/>
              <a:cs typeface="Verdana"/>
              <a:sym typeface="Verdana"/>
            </a:endParaRPr>
          </a:p>
          <a:p>
            <a:pPr indent="0" lvl="0" marL="12700" marR="0" rtl="0" algn="l">
              <a:lnSpc>
                <a:spcPct val="100000"/>
              </a:lnSpc>
              <a:spcBef>
                <a:spcPts val="770"/>
              </a:spcBef>
              <a:spcAft>
                <a:spcPts val="0"/>
              </a:spcAft>
              <a:buNone/>
            </a:pPr>
            <a:r>
              <a:rPr lang="en-US" sz="3200">
                <a:solidFill>
                  <a:srgbClr val="FF6600"/>
                </a:solidFill>
                <a:latin typeface="Verdana"/>
                <a:ea typeface="Verdana"/>
                <a:cs typeface="Verdana"/>
                <a:sym typeface="Verdana"/>
              </a:rPr>
              <a:t>OPT</a:t>
            </a:r>
            <a:r>
              <a:rPr lang="en-US" sz="3200">
                <a:solidFill>
                  <a:schemeClr val="dk1"/>
                </a:solidFill>
                <a:latin typeface="Noto Sans Symbols"/>
                <a:ea typeface="Noto Sans Symbols"/>
                <a:cs typeface="Noto Sans Symbols"/>
                <a:sym typeface="Noto Sans Symbols"/>
              </a:rPr>
              <a:t>🡪</a:t>
            </a:r>
            <a:r>
              <a:rPr lang="en-US" sz="3200">
                <a:solidFill>
                  <a:schemeClr val="dk1"/>
                </a:solidFill>
                <a:latin typeface="Times New Roman"/>
                <a:ea typeface="Times New Roman"/>
                <a:cs typeface="Times New Roman"/>
                <a:sym typeface="Times New Roman"/>
              </a:rPr>
              <a:t>	</a:t>
            </a:r>
            <a:r>
              <a:rPr lang="en-US" sz="3200">
                <a:solidFill>
                  <a:schemeClr val="dk1"/>
                </a:solidFill>
                <a:latin typeface="Verdana"/>
                <a:ea typeface="Verdana"/>
                <a:cs typeface="Verdana"/>
                <a:sym typeface="Verdana"/>
              </a:rPr>
              <a:t>7 – 6 -4 </a:t>
            </a:r>
            <a:r>
              <a:rPr lang="en-US" sz="2800">
                <a:solidFill>
                  <a:schemeClr val="dk1"/>
                </a:solidFill>
                <a:latin typeface="Verdana"/>
                <a:ea typeface="Verdana"/>
                <a:cs typeface="Verdana"/>
                <a:sym typeface="Verdana"/>
              </a:rPr>
              <a:t>(Conflict resolved using LRU)</a:t>
            </a:r>
            <a:endParaRPr sz="2800">
              <a:solidFill>
                <a:schemeClr val="dk1"/>
              </a:solidFill>
              <a:latin typeface="Verdana"/>
              <a:ea typeface="Verdana"/>
              <a:cs typeface="Verdana"/>
              <a:sym typeface="Verdana"/>
            </a:endParaRPr>
          </a:p>
          <a:p>
            <a:pPr indent="0" lvl="0" marL="12700" marR="0" rtl="0" algn="l">
              <a:lnSpc>
                <a:spcPct val="100000"/>
              </a:lnSpc>
              <a:spcBef>
                <a:spcPts val="830"/>
              </a:spcBef>
              <a:spcAft>
                <a:spcPts val="0"/>
              </a:spcAft>
              <a:buNone/>
            </a:pPr>
            <a:r>
              <a:rPr lang="en-US" sz="3200">
                <a:solidFill>
                  <a:schemeClr val="dk1"/>
                </a:solidFill>
                <a:latin typeface="Verdana"/>
                <a:ea typeface="Verdana"/>
                <a:cs typeface="Verdana"/>
                <a:sym typeface="Verdana"/>
              </a:rPr>
              <a:t>2)	2 , 3 , 2 , 1 , 5 , 2 , 4 , 5 , 3 , 2 , 5 , 2</a:t>
            </a:r>
            <a:endParaRPr sz="3200">
              <a:solidFill>
                <a:schemeClr val="dk1"/>
              </a:solidFill>
              <a:latin typeface="Verdana"/>
              <a:ea typeface="Verdana"/>
              <a:cs typeface="Verdana"/>
              <a:sym typeface="Verdana"/>
            </a:endParaRPr>
          </a:p>
        </p:txBody>
      </p:sp>
      <p:graphicFrame>
        <p:nvGraphicFramePr>
          <p:cNvPr id="928" name="Google Shape;928;p141"/>
          <p:cNvGraphicFramePr/>
          <p:nvPr/>
        </p:nvGraphicFramePr>
        <p:xfrm>
          <a:off x="135889" y="4103216"/>
          <a:ext cx="3000000" cy="3000000"/>
        </p:xfrm>
        <a:graphic>
          <a:graphicData uri="http://schemas.openxmlformats.org/drawingml/2006/table">
            <a:tbl>
              <a:tblPr bandRow="1" firstRow="1">
                <a:noFill/>
                <a:tableStyleId>{41BDAFC8-E8DF-4A75-9545-EAE88DFA4F55}</a:tableStyleId>
              </a:tblPr>
              <a:tblGrid>
                <a:gridCol w="1526550"/>
                <a:gridCol w="473075"/>
                <a:gridCol w="909325"/>
                <a:gridCol w="799475"/>
              </a:tblGrid>
              <a:tr h="540075">
                <a:tc>
                  <a:txBody>
                    <a:bodyPr/>
                    <a:lstStyle/>
                    <a:p>
                      <a:pPr indent="0" lvl="0" marL="31750" marR="0" rtl="0" algn="l">
                        <a:lnSpc>
                          <a:spcPct val="100000"/>
                        </a:lnSpc>
                        <a:spcBef>
                          <a:spcPts val="0"/>
                        </a:spcBef>
                        <a:spcAft>
                          <a:spcPts val="0"/>
                        </a:spcAft>
                        <a:buNone/>
                      </a:pPr>
                      <a:r>
                        <a:rPr lang="en-US" sz="3200" u="none" cap="none" strike="noStrike">
                          <a:latin typeface="Verdana"/>
                          <a:ea typeface="Verdana"/>
                          <a:cs typeface="Verdana"/>
                          <a:sym typeface="Verdana"/>
                        </a:rPr>
                        <a:t>FIFO</a:t>
                      </a:r>
                      <a:r>
                        <a:rPr lang="en-US" sz="3200" u="none" cap="none" strike="noStrike">
                          <a:latin typeface="Noto Sans Symbols"/>
                          <a:ea typeface="Noto Sans Symbols"/>
                          <a:cs typeface="Noto Sans Symbols"/>
                          <a:sym typeface="Noto Sans Symbols"/>
                        </a:rPr>
                        <a:t>🡪</a:t>
                      </a:r>
                      <a:endParaRPr sz="3200" u="none" cap="none" strike="noStrike">
                        <a:latin typeface="Noto Sans Symbols"/>
                        <a:ea typeface="Noto Sans Symbols"/>
                        <a:cs typeface="Noto Sans Symbols"/>
                        <a:sym typeface="Noto Sans Symbols"/>
                      </a:endParaRPr>
                    </a:p>
                  </a:txBody>
                  <a:tcPr marT="2550" marB="0" marR="0" marL="0"/>
                </a:tc>
                <a:tc>
                  <a:txBody>
                    <a:bodyPr/>
                    <a:lstStyle/>
                    <a:p>
                      <a:pPr indent="0" lvl="0" marL="0" marR="58419" rtl="0" algn="r">
                        <a:lnSpc>
                          <a:spcPct val="100000"/>
                        </a:lnSpc>
                        <a:spcBef>
                          <a:spcPts val="0"/>
                        </a:spcBef>
                        <a:spcAft>
                          <a:spcPts val="0"/>
                        </a:spcAft>
                        <a:buNone/>
                      </a:pPr>
                      <a:r>
                        <a:rPr lang="en-US" sz="3200" u="none" cap="none" strike="noStrike">
                          <a:latin typeface="Verdana"/>
                          <a:ea typeface="Verdana"/>
                          <a:cs typeface="Verdana"/>
                          <a:sym typeface="Verdana"/>
                        </a:rPr>
                        <a:t>3</a:t>
                      </a:r>
                      <a:endParaRPr sz="3200" u="none" cap="none" strike="noStrike">
                        <a:latin typeface="Verdana"/>
                        <a:ea typeface="Verdana"/>
                        <a:cs typeface="Verdana"/>
                        <a:sym typeface="Verdana"/>
                      </a:endParaRPr>
                    </a:p>
                  </a:txBody>
                  <a:tcPr marT="2550" marB="0" marR="0" marL="0"/>
                </a:tc>
                <a:tc>
                  <a:txBody>
                    <a:bodyPr/>
                    <a:lstStyle/>
                    <a:p>
                      <a:pPr indent="0" lvl="0" marL="218440" marR="0" rtl="0" algn="l">
                        <a:lnSpc>
                          <a:spcPct val="100000"/>
                        </a:lnSpc>
                        <a:spcBef>
                          <a:spcPts val="0"/>
                        </a:spcBef>
                        <a:spcAft>
                          <a:spcPts val="0"/>
                        </a:spcAft>
                        <a:buNone/>
                      </a:pPr>
                      <a:r>
                        <a:rPr lang="en-US" sz="3200" u="none" cap="none" strike="noStrike">
                          <a:latin typeface="Verdana"/>
                          <a:ea typeface="Verdana"/>
                          <a:cs typeface="Verdana"/>
                          <a:sym typeface="Verdana"/>
                        </a:rPr>
                        <a:t>- 2</a:t>
                      </a:r>
                      <a:endParaRPr sz="3200" u="none" cap="none" strike="noStrike">
                        <a:latin typeface="Verdana"/>
                        <a:ea typeface="Verdana"/>
                        <a:cs typeface="Verdana"/>
                        <a:sym typeface="Verdana"/>
                      </a:endParaRPr>
                    </a:p>
                  </a:txBody>
                  <a:tcPr marT="2550" marB="0" marR="0" marL="0"/>
                </a:tc>
                <a:tc>
                  <a:txBody>
                    <a:bodyPr/>
                    <a:lstStyle/>
                    <a:p>
                      <a:pPr indent="0" lvl="0" marL="0" marR="24130" rtl="0" algn="r">
                        <a:lnSpc>
                          <a:spcPct val="100000"/>
                        </a:lnSpc>
                        <a:spcBef>
                          <a:spcPts val="0"/>
                        </a:spcBef>
                        <a:spcAft>
                          <a:spcPts val="0"/>
                        </a:spcAft>
                        <a:buNone/>
                      </a:pPr>
                      <a:r>
                        <a:rPr lang="en-US" sz="3200" u="none" cap="none" strike="noStrike">
                          <a:latin typeface="Verdana"/>
                          <a:ea typeface="Verdana"/>
                          <a:cs typeface="Verdana"/>
                          <a:sym typeface="Verdana"/>
                        </a:rPr>
                        <a:t>-	5</a:t>
                      </a:r>
                      <a:endParaRPr sz="3200" u="none" cap="none" strike="noStrike">
                        <a:latin typeface="Verdana"/>
                        <a:ea typeface="Verdana"/>
                        <a:cs typeface="Verdana"/>
                        <a:sym typeface="Verdana"/>
                      </a:endParaRPr>
                    </a:p>
                  </a:txBody>
                  <a:tcPr marT="2550" marB="0" marR="0" marL="0"/>
                </a:tc>
              </a:tr>
              <a:tr h="585200">
                <a:tc>
                  <a:txBody>
                    <a:bodyPr/>
                    <a:lstStyle/>
                    <a:p>
                      <a:pPr indent="0" lvl="0" marL="31750" marR="0" rtl="0" algn="l">
                        <a:lnSpc>
                          <a:spcPct val="100000"/>
                        </a:lnSpc>
                        <a:spcBef>
                          <a:spcPts val="0"/>
                        </a:spcBef>
                        <a:spcAft>
                          <a:spcPts val="0"/>
                        </a:spcAft>
                        <a:buNone/>
                      </a:pPr>
                      <a:r>
                        <a:rPr lang="en-US" sz="3200" u="none" cap="none" strike="noStrike">
                          <a:latin typeface="Verdana"/>
                          <a:ea typeface="Verdana"/>
                          <a:cs typeface="Verdana"/>
                          <a:sym typeface="Verdana"/>
                        </a:rPr>
                        <a:t>LRU</a:t>
                      </a:r>
                      <a:r>
                        <a:rPr lang="en-US" sz="3200" u="none" cap="none" strike="noStrike">
                          <a:latin typeface="Noto Sans Symbols"/>
                          <a:ea typeface="Noto Sans Symbols"/>
                          <a:cs typeface="Noto Sans Symbols"/>
                          <a:sym typeface="Noto Sans Symbols"/>
                        </a:rPr>
                        <a:t>🡪</a:t>
                      </a:r>
                      <a:endParaRPr sz="3200" u="none" cap="none" strike="noStrike">
                        <a:latin typeface="Noto Sans Symbols"/>
                        <a:ea typeface="Noto Sans Symbols"/>
                        <a:cs typeface="Noto Sans Symbols"/>
                        <a:sym typeface="Noto Sans Symbols"/>
                      </a:endParaRPr>
                    </a:p>
                  </a:txBody>
                  <a:tcPr marT="47625" marB="0" marR="0" marL="0"/>
                </a:tc>
                <a:tc>
                  <a:txBody>
                    <a:bodyPr/>
                    <a:lstStyle/>
                    <a:p>
                      <a:pPr indent="0" lvl="0" marL="0" marR="67945" rtl="0" algn="r">
                        <a:lnSpc>
                          <a:spcPct val="100000"/>
                        </a:lnSpc>
                        <a:spcBef>
                          <a:spcPts val="0"/>
                        </a:spcBef>
                        <a:spcAft>
                          <a:spcPts val="0"/>
                        </a:spcAft>
                        <a:buNone/>
                      </a:pPr>
                      <a:r>
                        <a:rPr lang="en-US" sz="3200" u="none" cap="none" strike="noStrike">
                          <a:latin typeface="Verdana"/>
                          <a:ea typeface="Verdana"/>
                          <a:cs typeface="Verdana"/>
                          <a:sym typeface="Verdana"/>
                        </a:rPr>
                        <a:t>3</a:t>
                      </a:r>
                      <a:endParaRPr sz="3200" u="none" cap="none" strike="noStrike">
                        <a:latin typeface="Verdana"/>
                        <a:ea typeface="Verdana"/>
                        <a:cs typeface="Verdana"/>
                        <a:sym typeface="Verdana"/>
                      </a:endParaRPr>
                    </a:p>
                  </a:txBody>
                  <a:tcPr marT="47625" marB="0" marR="0" marL="0"/>
                </a:tc>
                <a:tc>
                  <a:txBody>
                    <a:bodyPr/>
                    <a:lstStyle/>
                    <a:p>
                      <a:pPr indent="0" lvl="0" marL="66040" marR="0" rtl="0" algn="l">
                        <a:lnSpc>
                          <a:spcPct val="100000"/>
                        </a:lnSpc>
                        <a:spcBef>
                          <a:spcPts val="0"/>
                        </a:spcBef>
                        <a:spcAft>
                          <a:spcPts val="0"/>
                        </a:spcAft>
                        <a:buNone/>
                      </a:pPr>
                      <a:r>
                        <a:rPr lang="en-US" sz="3200" u="none" cap="none" strike="noStrike">
                          <a:latin typeface="Verdana"/>
                          <a:ea typeface="Verdana"/>
                          <a:cs typeface="Verdana"/>
                          <a:sym typeface="Verdana"/>
                        </a:rPr>
                        <a:t>– 5</a:t>
                      </a:r>
                      <a:endParaRPr sz="3200" u="none" cap="none" strike="noStrike">
                        <a:latin typeface="Verdana"/>
                        <a:ea typeface="Verdana"/>
                        <a:cs typeface="Verdana"/>
                        <a:sym typeface="Verdana"/>
                      </a:endParaRPr>
                    </a:p>
                  </a:txBody>
                  <a:tcPr marT="47625" marB="0" marR="0" marL="0"/>
                </a:tc>
                <a:tc>
                  <a:txBody>
                    <a:bodyPr/>
                    <a:lstStyle/>
                    <a:p>
                      <a:pPr indent="0" lvl="0" marL="103504" marR="0" rtl="0" algn="l">
                        <a:lnSpc>
                          <a:spcPct val="100000"/>
                        </a:lnSpc>
                        <a:spcBef>
                          <a:spcPts val="0"/>
                        </a:spcBef>
                        <a:spcAft>
                          <a:spcPts val="0"/>
                        </a:spcAft>
                        <a:buNone/>
                      </a:pPr>
                      <a:r>
                        <a:rPr lang="en-US" sz="3200" u="none" cap="none" strike="noStrike">
                          <a:latin typeface="Verdana"/>
                          <a:ea typeface="Verdana"/>
                          <a:cs typeface="Verdana"/>
                          <a:sym typeface="Verdana"/>
                        </a:rPr>
                        <a:t>-	2</a:t>
                      </a:r>
                      <a:endParaRPr sz="3200" u="none" cap="none" strike="noStrike">
                        <a:latin typeface="Verdana"/>
                        <a:ea typeface="Verdana"/>
                        <a:cs typeface="Verdana"/>
                        <a:sym typeface="Verdana"/>
                      </a:endParaRPr>
                    </a:p>
                  </a:txBody>
                  <a:tcPr marT="47625" marB="0" marR="0" marL="0"/>
                </a:tc>
              </a:tr>
              <a:tr h="540050">
                <a:tc>
                  <a:txBody>
                    <a:bodyPr/>
                    <a:lstStyle/>
                    <a:p>
                      <a:pPr indent="0" lvl="0" marL="31750" marR="0" rtl="0" algn="l">
                        <a:lnSpc>
                          <a:spcPct val="117968"/>
                        </a:lnSpc>
                        <a:spcBef>
                          <a:spcPts val="0"/>
                        </a:spcBef>
                        <a:spcAft>
                          <a:spcPts val="0"/>
                        </a:spcAft>
                        <a:buNone/>
                      </a:pPr>
                      <a:r>
                        <a:rPr lang="en-US" sz="3200" u="none" cap="none" strike="noStrike">
                          <a:latin typeface="Verdana"/>
                          <a:ea typeface="Verdana"/>
                          <a:cs typeface="Verdana"/>
                          <a:sym typeface="Verdana"/>
                        </a:rPr>
                        <a:t>OPT</a:t>
                      </a:r>
                      <a:r>
                        <a:rPr lang="en-US" sz="3200" u="none" cap="none" strike="noStrike">
                          <a:latin typeface="Noto Sans Symbols"/>
                          <a:ea typeface="Noto Sans Symbols"/>
                          <a:cs typeface="Noto Sans Symbols"/>
                          <a:sym typeface="Noto Sans Symbols"/>
                        </a:rPr>
                        <a:t>🡪</a:t>
                      </a:r>
                      <a:endParaRPr sz="3200" u="none" cap="none" strike="noStrike">
                        <a:latin typeface="Noto Sans Symbols"/>
                        <a:ea typeface="Noto Sans Symbols"/>
                        <a:cs typeface="Noto Sans Symbols"/>
                        <a:sym typeface="Noto Sans Symbols"/>
                      </a:endParaRPr>
                    </a:p>
                  </a:txBody>
                  <a:tcPr marT="47625" marB="0" marR="0" marL="0"/>
                </a:tc>
                <a:tc>
                  <a:txBody>
                    <a:bodyPr/>
                    <a:lstStyle/>
                    <a:p>
                      <a:pPr indent="0" lvl="0" marL="0" marR="58419" rtl="0" algn="r">
                        <a:lnSpc>
                          <a:spcPct val="117968"/>
                        </a:lnSpc>
                        <a:spcBef>
                          <a:spcPts val="0"/>
                        </a:spcBef>
                        <a:spcAft>
                          <a:spcPts val="0"/>
                        </a:spcAft>
                        <a:buNone/>
                      </a:pPr>
                      <a:r>
                        <a:rPr lang="en-US" sz="3200" u="none" cap="none" strike="noStrike">
                          <a:latin typeface="Verdana"/>
                          <a:ea typeface="Verdana"/>
                          <a:cs typeface="Verdana"/>
                          <a:sym typeface="Verdana"/>
                        </a:rPr>
                        <a:t>2</a:t>
                      </a:r>
                      <a:endParaRPr sz="3200" u="none" cap="none" strike="noStrike">
                        <a:latin typeface="Verdana"/>
                        <a:ea typeface="Verdana"/>
                        <a:cs typeface="Verdana"/>
                        <a:sym typeface="Verdana"/>
                      </a:endParaRPr>
                    </a:p>
                  </a:txBody>
                  <a:tcPr marT="47625" marB="0" marR="0" marL="0"/>
                </a:tc>
                <a:tc>
                  <a:txBody>
                    <a:bodyPr/>
                    <a:lstStyle/>
                    <a:p>
                      <a:pPr indent="0" lvl="0" marL="76835" marR="0" rtl="0" algn="l">
                        <a:lnSpc>
                          <a:spcPct val="117968"/>
                        </a:lnSpc>
                        <a:spcBef>
                          <a:spcPts val="0"/>
                        </a:spcBef>
                        <a:spcAft>
                          <a:spcPts val="0"/>
                        </a:spcAft>
                        <a:buNone/>
                      </a:pPr>
                      <a:r>
                        <a:rPr lang="en-US" sz="3200" u="none" cap="none" strike="noStrike">
                          <a:latin typeface="Verdana"/>
                          <a:ea typeface="Verdana"/>
                          <a:cs typeface="Verdana"/>
                          <a:sym typeface="Verdana"/>
                        </a:rPr>
                        <a:t>-	3</a:t>
                      </a:r>
                      <a:endParaRPr sz="3200" u="none" cap="none" strike="noStrike">
                        <a:latin typeface="Verdana"/>
                        <a:ea typeface="Verdana"/>
                        <a:cs typeface="Verdana"/>
                        <a:sym typeface="Verdana"/>
                      </a:endParaRPr>
                    </a:p>
                  </a:txBody>
                  <a:tcPr marT="47625" marB="0" marR="0" marL="0"/>
                </a:tc>
                <a:tc>
                  <a:txBody>
                    <a:bodyPr/>
                    <a:lstStyle/>
                    <a:p>
                      <a:pPr indent="0" lvl="0" marL="0" marR="24130" rtl="0" algn="r">
                        <a:lnSpc>
                          <a:spcPct val="117968"/>
                        </a:lnSpc>
                        <a:spcBef>
                          <a:spcPts val="0"/>
                        </a:spcBef>
                        <a:spcAft>
                          <a:spcPts val="0"/>
                        </a:spcAft>
                        <a:buNone/>
                      </a:pPr>
                      <a:r>
                        <a:rPr lang="en-US" sz="3200" u="none" cap="none" strike="noStrike">
                          <a:latin typeface="Verdana"/>
                          <a:ea typeface="Verdana"/>
                          <a:cs typeface="Verdana"/>
                          <a:sym typeface="Verdana"/>
                        </a:rPr>
                        <a:t>-	5</a:t>
                      </a:r>
                      <a:endParaRPr sz="3200" u="none" cap="none" strike="noStrike">
                        <a:latin typeface="Verdana"/>
                        <a:ea typeface="Verdana"/>
                        <a:cs typeface="Verdana"/>
                        <a:sym typeface="Verdana"/>
                      </a:endParaRPr>
                    </a:p>
                  </a:txBody>
                  <a:tcPr marT="47625" marB="0" marR="0" marL="0"/>
                </a:tc>
              </a:tr>
            </a:tbl>
          </a:graphicData>
        </a:graphic>
      </p:graphicFrame>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142"/>
          <p:cNvSpPr txBox="1"/>
          <p:nvPr>
            <p:ph type="title"/>
          </p:nvPr>
        </p:nvSpPr>
        <p:spPr>
          <a:xfrm>
            <a:off x="307340" y="202133"/>
            <a:ext cx="6043930" cy="5746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FIFO Page Replacement</a:t>
            </a:r>
            <a:endParaRPr sz="3600"/>
          </a:p>
        </p:txBody>
      </p:sp>
      <p:pic>
        <p:nvPicPr>
          <p:cNvPr id="934" name="Google Shape;934;p142"/>
          <p:cNvPicPr preferRelativeResize="0"/>
          <p:nvPr/>
        </p:nvPicPr>
        <p:blipFill rotWithShape="1">
          <a:blip r:embed="rId3">
            <a:alphaModFix/>
          </a:blip>
          <a:srcRect b="0" l="0" r="0" t="0"/>
          <a:stretch/>
        </p:blipFill>
        <p:spPr>
          <a:xfrm>
            <a:off x="0" y="761998"/>
            <a:ext cx="9144000" cy="6019800"/>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143"/>
          <p:cNvSpPr txBox="1"/>
          <p:nvPr/>
        </p:nvSpPr>
        <p:spPr>
          <a:xfrm>
            <a:off x="3203575" y="6429247"/>
            <a:ext cx="1635125" cy="2393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400">
                <a:solidFill>
                  <a:schemeClr val="dk1"/>
                </a:solidFill>
                <a:latin typeface="Times New Roman"/>
                <a:ea typeface="Times New Roman"/>
                <a:cs typeface="Times New Roman"/>
                <a:sym typeface="Times New Roman"/>
              </a:rPr>
              <a:t>A. Frank - P. Weisberg</a:t>
            </a:r>
            <a:endParaRPr sz="1400">
              <a:solidFill>
                <a:schemeClr val="dk1"/>
              </a:solidFill>
              <a:latin typeface="Times New Roman"/>
              <a:ea typeface="Times New Roman"/>
              <a:cs typeface="Times New Roman"/>
              <a:sym typeface="Times New Roman"/>
            </a:endParaRPr>
          </a:p>
        </p:txBody>
      </p:sp>
      <p:sp>
        <p:nvSpPr>
          <p:cNvPr id="940" name="Google Shape;940;p143"/>
          <p:cNvSpPr txBox="1"/>
          <p:nvPr>
            <p:ph type="title"/>
          </p:nvPr>
        </p:nvSpPr>
        <p:spPr>
          <a:xfrm>
            <a:off x="459740" y="202133"/>
            <a:ext cx="5919470" cy="5746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LRU Page Replacement</a:t>
            </a:r>
            <a:endParaRPr sz="3600"/>
          </a:p>
        </p:txBody>
      </p:sp>
      <p:pic>
        <p:nvPicPr>
          <p:cNvPr id="941" name="Google Shape;941;p143"/>
          <p:cNvPicPr preferRelativeResize="0"/>
          <p:nvPr/>
        </p:nvPicPr>
        <p:blipFill rotWithShape="1">
          <a:blip r:embed="rId3">
            <a:alphaModFix/>
          </a:blip>
          <a:srcRect b="0" l="0" r="0" t="0"/>
          <a:stretch/>
        </p:blipFill>
        <p:spPr>
          <a:xfrm>
            <a:off x="76200" y="838198"/>
            <a:ext cx="9010650" cy="5943600"/>
          </a:xfrm>
          <a:prstGeom prst="rect">
            <a:avLst/>
          </a:prstGeom>
          <a:noFill/>
          <a:ln>
            <a:noFill/>
          </a:ln>
        </p:spPr>
      </p:pic>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pic>
        <p:nvPicPr>
          <p:cNvPr id="946" name="Google Shape;946;p144"/>
          <p:cNvPicPr preferRelativeResize="0"/>
          <p:nvPr/>
        </p:nvPicPr>
        <p:blipFill rotWithShape="1">
          <a:blip r:embed="rId3">
            <a:alphaModFix/>
          </a:blip>
          <a:srcRect b="0" l="0" r="0" t="0"/>
          <a:stretch/>
        </p:blipFill>
        <p:spPr>
          <a:xfrm>
            <a:off x="0" y="685800"/>
            <a:ext cx="9110599" cy="5638800"/>
          </a:xfrm>
          <a:prstGeom prst="rect">
            <a:avLst/>
          </a:prstGeom>
          <a:noFill/>
          <a:ln>
            <a:noFill/>
          </a:ln>
        </p:spPr>
      </p:pic>
      <p:sp>
        <p:nvSpPr>
          <p:cNvPr id="947" name="Google Shape;947;p144"/>
          <p:cNvSpPr txBox="1"/>
          <p:nvPr>
            <p:ph type="title"/>
          </p:nvPr>
        </p:nvSpPr>
        <p:spPr>
          <a:xfrm>
            <a:off x="612140" y="0"/>
            <a:ext cx="6836409" cy="936154"/>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2000">
                <a:latin typeface="Times New Roman"/>
                <a:ea typeface="Times New Roman"/>
                <a:cs typeface="Times New Roman"/>
                <a:sym typeface="Times New Roman"/>
              </a:rPr>
              <a:t>Optimal Page Replacement</a:t>
            </a:r>
            <a:br>
              <a:rPr lang="en-US" sz="2000">
                <a:latin typeface="Times New Roman"/>
                <a:ea typeface="Times New Roman"/>
                <a:cs typeface="Times New Roman"/>
                <a:sym typeface="Times New Roman"/>
              </a:rPr>
            </a:br>
            <a:r>
              <a:rPr lang="en-US" sz="2000">
                <a:latin typeface="Times New Roman"/>
                <a:ea typeface="Times New Roman"/>
                <a:cs typeface="Times New Roman"/>
                <a:sym typeface="Times New Roman"/>
              </a:rPr>
              <a:t>https://www.scaler.com/topics/optimal-page-replacement-algorithm/</a:t>
            </a:r>
            <a:endParaRPr sz="2000">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45"/>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953" name="Google Shape;953;p145"/>
          <p:cNvSpPr txBox="1"/>
          <p:nvPr>
            <p:ph idx="1" type="body"/>
          </p:nvPr>
        </p:nvSpPr>
        <p:spPr>
          <a:xfrm>
            <a:off x="525144" y="1188465"/>
            <a:ext cx="8093710" cy="3077766"/>
          </a:xfrm>
          <a:prstGeom prst="rect">
            <a:avLst/>
          </a:prstGeom>
          <a:noFill/>
          <a:ln>
            <a:noFill/>
          </a:ln>
        </p:spPr>
        <p:txBody>
          <a:bodyPr anchorCtr="0" anchor="t" bIns="0" lIns="0" spcFirstLastPara="1" rIns="0" wrap="square" tIns="0">
            <a:spAutoFit/>
          </a:bodyPr>
          <a:lstStyle/>
          <a:p>
            <a:pPr indent="0" lvl="0" marL="0" rtl="0" algn="just">
              <a:spcBef>
                <a:spcPts val="0"/>
              </a:spcBef>
              <a:spcAft>
                <a:spcPts val="0"/>
              </a:spcAft>
              <a:buNone/>
            </a:pPr>
            <a:r>
              <a:rPr lang="en-US"/>
              <a:t>The page replacement algorithm aims to reduce page faults as much as possible. </a:t>
            </a:r>
            <a:endParaRPr/>
          </a:p>
          <a:p>
            <a:pPr indent="0" lvl="0" marL="0" rtl="0" algn="just">
              <a:spcBef>
                <a:spcPts val="0"/>
              </a:spcBef>
              <a:spcAft>
                <a:spcPts val="0"/>
              </a:spcAft>
              <a:buNone/>
            </a:pPr>
            <a:r>
              <a:rPr lang="en-US"/>
              <a:t>To do this, this algorithm searches for the page from reference, which is not going to be used earliest</a:t>
            </a:r>
            <a:endParaRPr/>
          </a:p>
          <a:p>
            <a:pPr indent="0" lvl="0" marL="0" rtl="0" algn="just">
              <a:spcBef>
                <a:spcPts val="0"/>
              </a:spcBef>
              <a:spcAft>
                <a:spcPts val="0"/>
              </a:spcAft>
              <a:buNone/>
            </a:pPr>
            <a:r>
              <a:rPr lang="en-US"/>
              <a:t>And that page is replaced by the new page in the frame.</a:t>
            </a:r>
            <a:endParaRPr/>
          </a:p>
          <a:p>
            <a:pPr indent="0" lvl="0" marL="0" rtl="0" algn="just">
              <a:spcBef>
                <a:spcPts val="0"/>
              </a:spcBef>
              <a:spcAft>
                <a:spcPts val="0"/>
              </a:spcAft>
              <a:buNone/>
            </a:pPr>
            <a:r>
              <a:t/>
            </a:r>
            <a:endParaRPr/>
          </a:p>
          <a:p>
            <a:pPr indent="0" lvl="0" marL="0" rtl="0" algn="just">
              <a:spcBef>
                <a:spcPts val="0"/>
              </a:spcBef>
              <a:spcAft>
                <a:spcPts val="0"/>
              </a:spcAft>
              <a:buNone/>
            </a:pPr>
            <a:r>
              <a:rPr lang="en-US"/>
              <a:t>The 'optimal page replacement algorithm' is not practical because it cannot predict whether the page it is going to remove will not be used in the future.</a:t>
            </a:r>
            <a:endParaRPr/>
          </a:p>
          <a:p>
            <a:pPr indent="0" lvl="0" marL="0" rtl="0" algn="just">
              <a:spcBef>
                <a:spcPts val="0"/>
              </a:spcBef>
              <a:spcAft>
                <a:spcPts val="0"/>
              </a:spcAft>
              <a:buNone/>
            </a:pPr>
            <a:r>
              <a:t/>
            </a:r>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p146"/>
          <p:cNvSpPr txBox="1"/>
          <p:nvPr/>
        </p:nvSpPr>
        <p:spPr>
          <a:xfrm>
            <a:off x="485354" y="295900"/>
            <a:ext cx="5658900" cy="4358100"/>
          </a:xfrm>
          <a:prstGeom prst="rect">
            <a:avLst/>
          </a:prstGeom>
          <a:noFill/>
          <a:ln>
            <a:noFill/>
          </a:ln>
        </p:spPr>
        <p:txBody>
          <a:bodyPr anchorCtr="0" anchor="t" bIns="0" lIns="0" spcFirstLastPara="1" rIns="0" wrap="square" tIns="200650">
            <a:spAutoFit/>
          </a:bodyPr>
          <a:lstStyle/>
          <a:p>
            <a:pPr indent="0" lvl="0" marL="12700" marR="0" rtl="0" algn="l">
              <a:lnSpc>
                <a:spcPct val="100000"/>
              </a:lnSpc>
              <a:spcBef>
                <a:spcPts val="0"/>
              </a:spcBef>
              <a:spcAft>
                <a:spcPts val="0"/>
              </a:spcAft>
              <a:buNone/>
            </a:pPr>
            <a:r>
              <a:rPr lang="en-US" sz="2800">
                <a:solidFill>
                  <a:schemeClr val="dk1"/>
                </a:solidFill>
                <a:latin typeface="Arial Black"/>
                <a:ea typeface="Arial Black"/>
                <a:cs typeface="Arial Black"/>
                <a:sym typeface="Arial Black"/>
              </a:rPr>
              <a:t>Secondary Storage</a:t>
            </a:r>
            <a:endParaRPr sz="2800">
              <a:solidFill>
                <a:schemeClr val="dk1"/>
              </a:solidFill>
              <a:latin typeface="Arial Black"/>
              <a:ea typeface="Arial Black"/>
              <a:cs typeface="Arial Black"/>
              <a:sym typeface="Arial Black"/>
            </a:endParaRPr>
          </a:p>
          <a:p>
            <a:pPr indent="-344170" lvl="0" marL="406400" marR="0" rtl="0" algn="l">
              <a:lnSpc>
                <a:spcPct val="100000"/>
              </a:lnSpc>
              <a:spcBef>
                <a:spcPts val="147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Magnetic disks</a:t>
            </a:r>
            <a:endParaRPr sz="2800">
              <a:solidFill>
                <a:schemeClr val="dk1"/>
              </a:solidFill>
              <a:latin typeface="Verdana"/>
              <a:ea typeface="Verdana"/>
              <a:cs typeface="Verdana"/>
              <a:sym typeface="Verdana"/>
            </a:endParaRPr>
          </a:p>
          <a:p>
            <a:pPr indent="-344170" lvl="0" marL="406400" marR="0" rtl="0" algn="l">
              <a:lnSpc>
                <a:spcPct val="100000"/>
              </a:lnSpc>
              <a:spcBef>
                <a:spcPts val="67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Floppy disks</a:t>
            </a:r>
            <a:endParaRPr sz="2800">
              <a:solidFill>
                <a:schemeClr val="dk1"/>
              </a:solidFill>
              <a:latin typeface="Verdana"/>
              <a:ea typeface="Verdana"/>
              <a:cs typeface="Verdana"/>
              <a:sym typeface="Verdana"/>
            </a:endParaRPr>
          </a:p>
          <a:p>
            <a:pPr indent="-344170" lvl="0" marL="406400" marR="0" rtl="0" algn="l">
              <a:lnSpc>
                <a:spcPct val="100000"/>
              </a:lnSpc>
              <a:spcBef>
                <a:spcPts val="67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Magnetic Tape</a:t>
            </a:r>
            <a:endParaRPr sz="2800">
              <a:solidFill>
                <a:schemeClr val="dk1"/>
              </a:solidFill>
              <a:latin typeface="Verdana"/>
              <a:ea typeface="Verdana"/>
              <a:cs typeface="Verdana"/>
              <a:sym typeface="Verdana"/>
            </a:endParaRPr>
          </a:p>
          <a:p>
            <a:pPr indent="-344170" lvl="0" marL="406400" marR="0" rtl="0" algn="l">
              <a:lnSpc>
                <a:spcPct val="100000"/>
              </a:lnSpc>
              <a:spcBef>
                <a:spcPts val="67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RAID</a:t>
            </a:r>
            <a:endParaRPr sz="2800">
              <a:solidFill>
                <a:schemeClr val="dk1"/>
              </a:solidFill>
              <a:latin typeface="Verdana"/>
              <a:ea typeface="Verdana"/>
              <a:cs typeface="Verdana"/>
              <a:sym typeface="Verdana"/>
            </a:endParaRPr>
          </a:p>
          <a:p>
            <a:pPr indent="-344170" lvl="0" marL="406400" marR="0" rtl="0" algn="l">
              <a:lnSpc>
                <a:spcPct val="100000"/>
              </a:lnSpc>
              <a:spcBef>
                <a:spcPts val="67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Optical Memory</a:t>
            </a:r>
            <a:endParaRPr sz="2800">
              <a:solidFill>
                <a:schemeClr val="dk1"/>
              </a:solidFill>
              <a:latin typeface="Verdana"/>
              <a:ea typeface="Verdana"/>
              <a:cs typeface="Verdana"/>
              <a:sym typeface="Verdana"/>
            </a:endParaRPr>
          </a:p>
          <a:p>
            <a:pPr indent="-344170" lvl="0" marL="406400" marR="0" rtl="0" algn="l">
              <a:lnSpc>
                <a:spcPct val="100000"/>
              </a:lnSpc>
              <a:spcBef>
                <a:spcPts val="67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CD-ROM</a:t>
            </a:r>
            <a:endParaRPr sz="2800">
              <a:solidFill>
                <a:schemeClr val="dk1"/>
              </a:solidFill>
              <a:latin typeface="Verdana"/>
              <a:ea typeface="Verdana"/>
              <a:cs typeface="Verdana"/>
              <a:sym typeface="Verdana"/>
            </a:endParaRPr>
          </a:p>
          <a:p>
            <a:pPr indent="-344170" lvl="0" marL="406400" marR="0" rtl="0" algn="l">
              <a:lnSpc>
                <a:spcPct val="100000"/>
              </a:lnSpc>
              <a:spcBef>
                <a:spcPts val="675"/>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DVD</a:t>
            </a:r>
            <a:endParaRPr sz="2800">
              <a:solidFill>
                <a:schemeClr val="dk1"/>
              </a:solidFill>
              <a:latin typeface="Verdana"/>
              <a:ea typeface="Verdana"/>
              <a:cs typeface="Verdana"/>
              <a:sym typeface="Verdana"/>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147"/>
          <p:cNvSpPr txBox="1"/>
          <p:nvPr>
            <p:ph type="title"/>
          </p:nvPr>
        </p:nvSpPr>
        <p:spPr>
          <a:xfrm>
            <a:off x="485343" y="484073"/>
            <a:ext cx="3324860"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RAID Levels 0 - 6</a:t>
            </a:r>
            <a:endParaRPr/>
          </a:p>
        </p:txBody>
      </p:sp>
      <p:sp>
        <p:nvSpPr>
          <p:cNvPr id="964" name="Google Shape;964;p147"/>
          <p:cNvSpPr txBox="1"/>
          <p:nvPr/>
        </p:nvSpPr>
        <p:spPr>
          <a:xfrm>
            <a:off x="78739" y="1098550"/>
            <a:ext cx="9135110" cy="4103688"/>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2000">
                <a:solidFill>
                  <a:schemeClr val="dk1"/>
                </a:solidFill>
                <a:latin typeface="Times New Roman"/>
                <a:ea typeface="Times New Roman"/>
                <a:cs typeface="Times New Roman"/>
                <a:sym typeface="Times New Roman"/>
              </a:rPr>
              <a:t>REDUNDANT ARRAY OF INDEPENDENT DISKS</a:t>
            </a:r>
            <a:endParaRPr sz="2000">
              <a:solidFill>
                <a:schemeClr val="dk1"/>
              </a:solidFill>
              <a:latin typeface="Times New Roman"/>
              <a:ea typeface="Times New Roman"/>
              <a:cs typeface="Times New Roman"/>
              <a:sym typeface="Times New Roman"/>
            </a:endParaRPr>
          </a:p>
          <a:p>
            <a:pPr indent="-342900" lvl="0" marL="355600" marR="0" rtl="0" algn="l">
              <a:lnSpc>
                <a:spcPct val="100000"/>
              </a:lnSpc>
              <a:spcBef>
                <a:spcPts val="2095"/>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Storage is an important consideration when setting up a server.</a:t>
            </a:r>
            <a:endParaRPr sz="2000">
              <a:solidFill>
                <a:schemeClr val="dk1"/>
              </a:solidFill>
              <a:latin typeface="Times New Roman"/>
              <a:ea typeface="Times New Roman"/>
              <a:cs typeface="Times New Roman"/>
              <a:sym typeface="Times New Roman"/>
            </a:endParaRPr>
          </a:p>
          <a:p>
            <a:pPr indent="-342900" lvl="0" marL="355600" marR="5080" rtl="0" algn="l">
              <a:lnSpc>
                <a:spcPct val="200000"/>
              </a:lnSpc>
              <a:spcBef>
                <a:spcPts val="480"/>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Almost all of the important information that you and your users care  about will at one point be written to a storage device to save for  later retrieval.</a:t>
            </a:r>
            <a:endParaRPr sz="2000">
              <a:solidFill>
                <a:schemeClr val="dk1"/>
              </a:solidFill>
              <a:latin typeface="Times New Roman"/>
              <a:ea typeface="Times New Roman"/>
              <a:cs typeface="Times New Roman"/>
              <a:sym typeface="Times New Roman"/>
            </a:endParaRPr>
          </a:p>
          <a:p>
            <a:pPr indent="0" lvl="0" marL="0" marR="0" rtl="0" algn="l">
              <a:lnSpc>
                <a:spcPct val="100000"/>
              </a:lnSpc>
              <a:spcBef>
                <a:spcPts val="25"/>
              </a:spcBef>
              <a:spcAft>
                <a:spcPts val="0"/>
              </a:spcAft>
              <a:buClr>
                <a:srgbClr val="FF0000"/>
              </a:buClr>
              <a:buSzPts val="2000"/>
              <a:buFont typeface="Verdana"/>
              <a:buNone/>
            </a:pPr>
            <a:r>
              <a:t/>
            </a:r>
            <a:endParaRPr sz="2000">
              <a:solidFill>
                <a:schemeClr val="dk1"/>
              </a:solidFill>
              <a:latin typeface="Times New Roman"/>
              <a:ea typeface="Times New Roman"/>
              <a:cs typeface="Times New Roman"/>
              <a:sym typeface="Times New Roman"/>
            </a:endParaRPr>
          </a:p>
          <a:p>
            <a:pPr indent="-342900" lvl="0" marL="355600" marR="0" rtl="0" algn="l">
              <a:lnSpc>
                <a:spcPct val="100000"/>
              </a:lnSpc>
              <a:spcBef>
                <a:spcPts val="0"/>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Single disks can serve you well if your needs are straight forward.</a:t>
            </a:r>
            <a:endParaRPr sz="2000">
              <a:solidFill>
                <a:schemeClr val="dk1"/>
              </a:solidFill>
              <a:latin typeface="Times New Roman"/>
              <a:ea typeface="Times New Roman"/>
              <a:cs typeface="Times New Roman"/>
              <a:sym typeface="Times New Roman"/>
            </a:endParaRPr>
          </a:p>
          <a:p>
            <a:pPr indent="-342900" lvl="0" marL="355600" marR="526415" rtl="0" algn="l">
              <a:lnSpc>
                <a:spcPct val="200100"/>
              </a:lnSpc>
              <a:spcBef>
                <a:spcPts val="480"/>
              </a:spcBef>
              <a:spcAft>
                <a:spcPts val="0"/>
              </a:spcAft>
              <a:buClr>
                <a:srgbClr val="FF0000"/>
              </a:buClr>
              <a:buSzPts val="2000"/>
              <a:buFont typeface="Times New Roman"/>
              <a:buChar char="•"/>
            </a:pPr>
            <a:r>
              <a:rPr lang="en-US" sz="2000">
                <a:solidFill>
                  <a:schemeClr val="dk1"/>
                </a:solidFill>
                <a:latin typeface="Times New Roman"/>
                <a:ea typeface="Times New Roman"/>
                <a:cs typeface="Times New Roman"/>
                <a:sym typeface="Times New Roman"/>
              </a:rPr>
              <a:t>However, if you have more complex redundancy or performance  requirements, solutions like RAID can be helpful.</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148"/>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970" name="Google Shape;970;p148"/>
          <p:cNvSpPr txBox="1"/>
          <p:nvPr>
            <p:ph idx="1" type="body"/>
          </p:nvPr>
        </p:nvSpPr>
        <p:spPr>
          <a:xfrm>
            <a:off x="525144" y="1188465"/>
            <a:ext cx="8093710" cy="4431983"/>
          </a:xfrm>
          <a:prstGeom prst="rect">
            <a:avLst/>
          </a:prstGeom>
          <a:noFill/>
          <a:ln>
            <a:noFill/>
          </a:ln>
        </p:spPr>
        <p:txBody>
          <a:bodyPr anchorCtr="0" anchor="t" bIns="0" lIns="0" spcFirstLastPara="1" rIns="0" wrap="square" tIns="0">
            <a:spAutoFit/>
          </a:bodyPr>
          <a:lstStyle/>
          <a:p>
            <a:pPr indent="-342900" lvl="0" marL="34290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RAID is a technique that makes use of a combination of multiple disks instead of using a single disk for increased performance, data redundancy, or both.</a:t>
            </a:r>
            <a:endParaRPr/>
          </a:p>
          <a:p>
            <a:pPr indent="-342900" lvl="0" marL="34290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The RAID scheme consists of seven levels (0 to 6)</a:t>
            </a:r>
            <a:endParaRPr/>
          </a:p>
          <a:p>
            <a:pPr indent="-342900" lvl="0" marL="34290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different design architectures that share three common characteristics:</a:t>
            </a:r>
            <a:endParaRPr/>
          </a:p>
          <a:p>
            <a:pPr indent="-342900" lvl="0" marL="34290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1. RAID is a set of physical disk drives viewed by the operating system as a single logical drive.</a:t>
            </a:r>
            <a:endParaRPr/>
          </a:p>
          <a:p>
            <a:pPr indent="-342900" lvl="0" marL="34290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2. Data are distributed across the physical drives of an array in a scheme known as striping</a:t>
            </a:r>
            <a:endParaRPr/>
          </a:p>
          <a:p>
            <a:pPr indent="-342900" lvl="0" marL="34290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3. Redundant disk capacity is used to store parity information, which guarantees data recoverability in case of a disk failure.</a:t>
            </a:r>
            <a:endParaRPr sz="2400">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149"/>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976" name="Google Shape;976;p149"/>
          <p:cNvSpPr txBox="1"/>
          <p:nvPr>
            <p:ph idx="1" type="body"/>
          </p:nvPr>
        </p:nvSpPr>
        <p:spPr>
          <a:xfrm>
            <a:off x="525144" y="1188465"/>
            <a:ext cx="8093710" cy="371538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977" name="Google Shape;977;p149"/>
          <p:cNvPicPr preferRelativeResize="0"/>
          <p:nvPr/>
        </p:nvPicPr>
        <p:blipFill rotWithShape="1">
          <a:blip r:embed="rId3">
            <a:alphaModFix/>
          </a:blip>
          <a:srcRect b="0" l="0" r="0" t="0"/>
          <a:stretch/>
        </p:blipFill>
        <p:spPr>
          <a:xfrm>
            <a:off x="149225" y="1004888"/>
            <a:ext cx="8845550" cy="5003800"/>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150"/>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983" name="Google Shape;983;p150"/>
          <p:cNvSpPr txBox="1"/>
          <p:nvPr>
            <p:ph idx="1" type="body"/>
          </p:nvPr>
        </p:nvSpPr>
        <p:spPr>
          <a:xfrm>
            <a:off x="525144" y="1188465"/>
            <a:ext cx="8093710" cy="923330"/>
          </a:xfrm>
          <a:prstGeom prst="rect">
            <a:avLst/>
          </a:prstGeom>
          <a:noFill/>
          <a:ln>
            <a:noFill/>
          </a:ln>
        </p:spPr>
        <p:txBody>
          <a:bodyPr anchorCtr="0" anchor="t" bIns="0" lIns="0" spcFirstLastPara="1" rIns="0" wrap="square" tIns="0">
            <a:spAutoFit/>
          </a:bodyPr>
          <a:lstStyle/>
          <a:p>
            <a:pPr indent="0" lvl="0" marL="0" rtl="0" algn="just">
              <a:spcBef>
                <a:spcPts val="0"/>
              </a:spcBef>
              <a:spcAft>
                <a:spcPts val="0"/>
              </a:spcAft>
              <a:buNone/>
            </a:pPr>
            <a:r>
              <a:rPr lang="en-US">
                <a:latin typeface="Times New Roman"/>
                <a:ea typeface="Times New Roman"/>
                <a:cs typeface="Times New Roman"/>
                <a:sym typeface="Times New Roman"/>
              </a:rPr>
              <a:t>It employs multiple disk drives and distributes data in such a way as to enable simultaneous access to data from multiple drives, thereby improving I/O performance and allowing easier incremental increases in capacity</a:t>
            </a:r>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p151"/>
          <p:cNvSpPr txBox="1"/>
          <p:nvPr>
            <p:ph type="title"/>
          </p:nvPr>
        </p:nvSpPr>
        <p:spPr>
          <a:xfrm>
            <a:off x="485343" y="484073"/>
            <a:ext cx="5727700"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RAID Level 0- Non Redundant</a:t>
            </a:r>
            <a:endParaRPr/>
          </a:p>
        </p:txBody>
      </p:sp>
      <p:pic>
        <p:nvPicPr>
          <p:cNvPr id="989" name="Google Shape;989;p151"/>
          <p:cNvPicPr preferRelativeResize="0"/>
          <p:nvPr/>
        </p:nvPicPr>
        <p:blipFill rotWithShape="1">
          <a:blip r:embed="rId3">
            <a:alphaModFix/>
          </a:blip>
          <a:srcRect b="0" l="0" r="0" t="0"/>
          <a:stretch/>
        </p:blipFill>
        <p:spPr>
          <a:xfrm>
            <a:off x="883866" y="1852736"/>
            <a:ext cx="7111349" cy="3409180"/>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152"/>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995" name="Google Shape;995;p152"/>
          <p:cNvSpPr txBox="1"/>
          <p:nvPr>
            <p:ph idx="1" type="body"/>
          </p:nvPr>
        </p:nvSpPr>
        <p:spPr>
          <a:xfrm>
            <a:off x="525144" y="1188465"/>
            <a:ext cx="8093710" cy="3385542"/>
          </a:xfrm>
          <a:prstGeom prst="rect">
            <a:avLst/>
          </a:prstGeom>
          <a:noFill/>
          <a:ln>
            <a:noFill/>
          </a:ln>
        </p:spPr>
        <p:txBody>
          <a:bodyPr anchorCtr="0" anchor="t" bIns="0" lIns="0" spcFirstLastPara="1" rIns="0" wrap="square" tIns="0">
            <a:spAutoFit/>
          </a:bodyPr>
          <a:lstStyle/>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not a true member of the RAID family because it does not include redundancy to improve performance</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For RAID 0, the user and system data are distributed across all of the disks in the array.</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the two requests can be issued in parallel, reducing the I/O queuing time</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The logical disk is divided into strips; these strips may be physical blocks, sectors, or some other unit.</a:t>
            </a:r>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 The strips are mapped round robin to consecutive physical disks in the RAID</a:t>
            </a:r>
            <a:endParaRPr>
              <a:latin typeface="Times New Roman"/>
              <a:ea typeface="Times New Roman"/>
              <a:cs typeface="Times New Roman"/>
              <a:sym typeface="Times New Roman"/>
            </a:endParaRPr>
          </a:p>
          <a:p>
            <a:pPr indent="-342900" lvl="0" marL="342900" rtl="0" algn="just">
              <a:spcBef>
                <a:spcPts val="0"/>
              </a:spcBef>
              <a:spcAft>
                <a:spcPts val="0"/>
              </a:spcAft>
              <a:buClr>
                <a:schemeClr val="dk1"/>
              </a:buClr>
              <a:buSzPts val="2000"/>
              <a:buFont typeface="Arial"/>
              <a:buChar char="•"/>
            </a:pPr>
            <a:r>
              <a:rPr lang="en-US">
                <a:latin typeface="Times New Roman"/>
                <a:ea typeface="Times New Roman"/>
                <a:cs typeface="Times New Roman"/>
                <a:sym typeface="Times New Roman"/>
              </a:rPr>
              <a:t>A set of logically consecutive strips that maps exactly one strip to each array member is referred to as a stripe</a:t>
            </a:r>
            <a:endParaRPr>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153"/>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1001" name="Google Shape;1001;p153"/>
          <p:cNvSpPr txBox="1"/>
          <p:nvPr>
            <p:ph idx="1" type="body"/>
          </p:nvPr>
        </p:nvSpPr>
        <p:spPr>
          <a:xfrm>
            <a:off x="525144" y="1188465"/>
            <a:ext cx="8093710" cy="371538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1002" name="Google Shape;1002;p153"/>
          <p:cNvPicPr preferRelativeResize="0"/>
          <p:nvPr/>
        </p:nvPicPr>
        <p:blipFill rotWithShape="1">
          <a:blip r:embed="rId3">
            <a:alphaModFix/>
          </a:blip>
          <a:srcRect b="0" l="0" r="0" t="0"/>
          <a:stretch/>
        </p:blipFill>
        <p:spPr>
          <a:xfrm>
            <a:off x="1352550" y="1093788"/>
            <a:ext cx="6438900" cy="4673600"/>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p154"/>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1008" name="Google Shape;1008;p154"/>
          <p:cNvSpPr txBox="1"/>
          <p:nvPr>
            <p:ph idx="1" type="body"/>
          </p:nvPr>
        </p:nvSpPr>
        <p:spPr>
          <a:xfrm>
            <a:off x="525144" y="1340865"/>
            <a:ext cx="8093700" cy="1231500"/>
          </a:xfrm>
          <a:prstGeom prst="rect">
            <a:avLst/>
          </a:prstGeom>
          <a:noFill/>
          <a:ln>
            <a:noFill/>
          </a:ln>
        </p:spPr>
        <p:txBody>
          <a:bodyPr anchorCtr="0" anchor="t" bIns="0" lIns="0" spcFirstLastPara="1" rIns="0" wrap="square" tIns="0">
            <a:spAutoFit/>
          </a:bodyPr>
          <a:lstStyle/>
          <a:p>
            <a:pPr indent="-342900" lvl="0" marL="342900" rtl="0" algn="l">
              <a:spcBef>
                <a:spcPts val="0"/>
              </a:spcBef>
              <a:spcAft>
                <a:spcPts val="0"/>
              </a:spcAft>
              <a:buClr>
                <a:schemeClr val="dk1"/>
              </a:buClr>
              <a:buSzPts val="2000"/>
              <a:buFont typeface="Arial"/>
              <a:buChar char="•"/>
            </a:pPr>
            <a:r>
              <a:rPr lang="en-US"/>
              <a:t>use of array management software to map between logical and physical disk space</a:t>
            </a:r>
            <a:endParaRPr/>
          </a:p>
          <a:p>
            <a:pPr indent="-342900" lvl="0" marL="342900" rtl="0" algn="l">
              <a:spcBef>
                <a:spcPts val="0"/>
              </a:spcBef>
              <a:spcAft>
                <a:spcPts val="0"/>
              </a:spcAft>
              <a:buClr>
                <a:schemeClr val="dk1"/>
              </a:buClr>
              <a:buSzPts val="2000"/>
              <a:buFont typeface="Arial"/>
              <a:buChar char="•"/>
            </a:pPr>
            <a:r>
              <a:rPr lang="en-US"/>
              <a:t>Logical disk divided to 4 physical disks in round robin</a:t>
            </a:r>
            <a:endParaRPr/>
          </a:p>
          <a:p>
            <a:pPr indent="-342900" lvl="0" marL="342900" rtl="0" algn="l">
              <a:spcBef>
                <a:spcPts val="0"/>
              </a:spcBef>
              <a:spcAft>
                <a:spcPts val="0"/>
              </a:spcAft>
              <a:buClr>
                <a:schemeClr val="dk1"/>
              </a:buClr>
              <a:buSzPts val="2000"/>
              <a:buFont typeface="Arial"/>
              <a:buChar char="•"/>
            </a:pPr>
            <a:r>
              <a:rPr lang="en-US"/>
              <a:t>1</a:t>
            </a:r>
            <a:r>
              <a:rPr baseline="30000" lang="en-US"/>
              <a:t>st</a:t>
            </a:r>
            <a:r>
              <a:rPr lang="en-US"/>
              <a:t> strip (0) to disk 0, 2</a:t>
            </a:r>
            <a:r>
              <a:rPr baseline="30000" lang="en-US"/>
              <a:t>nd</a:t>
            </a:r>
            <a:r>
              <a:rPr lang="en-US"/>
              <a:t> to 1, etc until all are mapped</a:t>
            </a:r>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p155"/>
          <p:cNvSpPr txBox="1"/>
          <p:nvPr>
            <p:ph type="title"/>
          </p:nvPr>
        </p:nvSpPr>
        <p:spPr>
          <a:xfrm>
            <a:off x="485343" y="484073"/>
            <a:ext cx="4387215"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RAID Level -1 Mirrored</a:t>
            </a:r>
            <a:endParaRPr/>
          </a:p>
        </p:txBody>
      </p:sp>
      <p:pic>
        <p:nvPicPr>
          <p:cNvPr id="1014" name="Google Shape;1014;p155"/>
          <p:cNvPicPr preferRelativeResize="0"/>
          <p:nvPr/>
        </p:nvPicPr>
        <p:blipFill rotWithShape="1">
          <a:blip r:embed="rId3">
            <a:alphaModFix/>
          </a:blip>
          <a:srcRect b="0" l="0" r="0" t="0"/>
          <a:stretch/>
        </p:blipFill>
        <p:spPr>
          <a:xfrm>
            <a:off x="106187" y="2406650"/>
            <a:ext cx="8966957" cy="2078736"/>
          </a:xfrm>
          <a:prstGeom prst="rect">
            <a:avLst/>
          </a:prstGeom>
          <a:noFill/>
          <a:ln>
            <a:noFill/>
          </a:ln>
        </p:spPr>
      </p:pic>
      <p:sp>
        <p:nvSpPr>
          <p:cNvPr id="1015" name="Google Shape;1015;p155"/>
          <p:cNvSpPr txBox="1"/>
          <p:nvPr/>
        </p:nvSpPr>
        <p:spPr>
          <a:xfrm>
            <a:off x="533400" y="4800600"/>
            <a:ext cx="8539744" cy="1477328"/>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redundancy is achieved by the simple expedient of duplicating all the data</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data striping is used,</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each logical strip is mapped to two separate physical disks so that every disk in the array has a mirror disk that contains the same data</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p156"/>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1021" name="Google Shape;1021;p156"/>
          <p:cNvSpPr txBox="1"/>
          <p:nvPr>
            <p:ph idx="1" type="body"/>
          </p:nvPr>
        </p:nvSpPr>
        <p:spPr>
          <a:xfrm>
            <a:off x="525144" y="1188465"/>
            <a:ext cx="8093710" cy="3715385"/>
          </a:xfrm>
          <a:prstGeom prst="rect">
            <a:avLst/>
          </a:prstGeom>
          <a:noFill/>
          <a:ln cap="flat" cmpd="sng" w="9525">
            <a:solidFill>
              <a:schemeClr val="accent1"/>
            </a:solidFill>
            <a:prstDash val="solid"/>
            <a:round/>
            <a:headEnd len="sm" w="sm" type="none"/>
            <a:tailEnd len="sm" w="sm" type="none"/>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1022" name="Google Shape;1022;p156"/>
          <p:cNvPicPr preferRelativeResize="0"/>
          <p:nvPr/>
        </p:nvPicPr>
        <p:blipFill rotWithShape="1">
          <a:blip r:embed="rId3">
            <a:alphaModFix/>
          </a:blip>
          <a:srcRect b="0" l="0" r="0" t="0"/>
          <a:stretch/>
        </p:blipFill>
        <p:spPr>
          <a:xfrm>
            <a:off x="1295400" y="1371600"/>
            <a:ext cx="3733800" cy="2730500"/>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157"/>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1028" name="Google Shape;1028;p157"/>
          <p:cNvSpPr txBox="1"/>
          <p:nvPr>
            <p:ph idx="1" type="body"/>
          </p:nvPr>
        </p:nvSpPr>
        <p:spPr>
          <a:xfrm>
            <a:off x="525144" y="1188465"/>
            <a:ext cx="8093710" cy="371538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1029" name="Google Shape;1029;p157"/>
          <p:cNvPicPr preferRelativeResize="0"/>
          <p:nvPr/>
        </p:nvPicPr>
        <p:blipFill rotWithShape="1">
          <a:blip r:embed="rId3">
            <a:alphaModFix/>
          </a:blip>
          <a:srcRect b="0" l="0" r="0" t="0"/>
          <a:stretch/>
        </p:blipFill>
        <p:spPr>
          <a:xfrm>
            <a:off x="1384438" y="1447800"/>
            <a:ext cx="6921362" cy="3810000"/>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p158"/>
          <p:cNvSpPr txBox="1"/>
          <p:nvPr>
            <p:ph type="title"/>
          </p:nvPr>
        </p:nvSpPr>
        <p:spPr>
          <a:xfrm>
            <a:off x="485343" y="484073"/>
            <a:ext cx="5694045"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RAID Level 2- Hamming Code</a:t>
            </a:r>
            <a:endParaRPr/>
          </a:p>
        </p:txBody>
      </p:sp>
      <p:pic>
        <p:nvPicPr>
          <p:cNvPr id="1035" name="Google Shape;1035;p158"/>
          <p:cNvPicPr preferRelativeResize="0"/>
          <p:nvPr/>
        </p:nvPicPr>
        <p:blipFill rotWithShape="1">
          <a:blip r:embed="rId3">
            <a:alphaModFix/>
          </a:blip>
          <a:srcRect b="0" l="0" r="0" t="0"/>
          <a:stretch/>
        </p:blipFill>
        <p:spPr>
          <a:xfrm>
            <a:off x="216426" y="2915477"/>
            <a:ext cx="8927573" cy="2489195"/>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p159"/>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1041" name="Google Shape;1041;p159"/>
          <p:cNvSpPr txBox="1"/>
          <p:nvPr>
            <p:ph idx="1" type="body"/>
          </p:nvPr>
        </p:nvSpPr>
        <p:spPr>
          <a:xfrm>
            <a:off x="525144" y="1188465"/>
            <a:ext cx="8093710" cy="6155531"/>
          </a:xfrm>
          <a:prstGeom prst="rect">
            <a:avLst/>
          </a:prstGeom>
          <a:noFill/>
          <a:ln>
            <a:noFill/>
          </a:ln>
        </p:spPr>
        <p:txBody>
          <a:bodyPr anchorCtr="0" anchor="t" bIns="0" lIns="0" spcFirstLastPara="1" rIns="0" wrap="square" tIns="0">
            <a:spAutoFit/>
          </a:bodyPr>
          <a:lstStyle/>
          <a:p>
            <a:pPr indent="-342900" lvl="0" marL="342900" rtl="0" algn="just">
              <a:spcBef>
                <a:spcPts val="0"/>
              </a:spcBef>
              <a:spcAft>
                <a:spcPts val="0"/>
              </a:spcAft>
              <a:buClr>
                <a:schemeClr val="dk1"/>
              </a:buClr>
              <a:buSzPts val="2000"/>
              <a:buFont typeface="Arial"/>
              <a:buChar char="•"/>
            </a:pPr>
            <a:r>
              <a:rPr lang="en-US"/>
              <a:t>make use of a parallel access technique</a:t>
            </a:r>
            <a:endParaRPr/>
          </a:p>
          <a:p>
            <a:pPr indent="-342900" lvl="0" marL="342900" rtl="0" algn="just">
              <a:spcBef>
                <a:spcPts val="0"/>
              </a:spcBef>
              <a:spcAft>
                <a:spcPts val="0"/>
              </a:spcAft>
              <a:buClr>
                <a:schemeClr val="dk1"/>
              </a:buClr>
              <a:buSzPts val="2000"/>
              <a:buFont typeface="Arial"/>
              <a:buChar char="•"/>
            </a:pPr>
            <a:r>
              <a:rPr lang="en-US"/>
              <a:t>all member disks participate in the execution of every I/O request</a:t>
            </a:r>
            <a:endParaRPr/>
          </a:p>
          <a:p>
            <a:pPr indent="-342900" lvl="0" marL="342900" rtl="0" algn="just">
              <a:spcBef>
                <a:spcPts val="0"/>
              </a:spcBef>
              <a:spcAft>
                <a:spcPts val="0"/>
              </a:spcAft>
              <a:buClr>
                <a:schemeClr val="dk1"/>
              </a:buClr>
              <a:buSzPts val="2000"/>
              <a:buFont typeface="Arial"/>
              <a:buChar char="•"/>
            </a:pPr>
            <a:r>
              <a:rPr lang="en-US"/>
              <a:t>the strips are very small</a:t>
            </a:r>
            <a:endParaRPr/>
          </a:p>
          <a:p>
            <a:pPr indent="-342900" lvl="0" marL="342900" rtl="0" algn="just">
              <a:spcBef>
                <a:spcPts val="0"/>
              </a:spcBef>
              <a:spcAft>
                <a:spcPts val="0"/>
              </a:spcAft>
              <a:buClr>
                <a:schemeClr val="dk1"/>
              </a:buClr>
              <a:buSzPts val="2000"/>
              <a:buFont typeface="Arial"/>
              <a:buChar char="•"/>
            </a:pPr>
            <a:r>
              <a:rPr lang="en-US"/>
              <a:t>With RAID 2, an error-correcting code (Hamming code) is calculated across corresponding bits on each data disk, and the bits of the code are stored in the corresponding bit positions on multiple parity disks.</a:t>
            </a:r>
            <a:endParaRPr/>
          </a:p>
          <a:p>
            <a:pPr indent="-342900" lvl="0" marL="342900" rtl="0" algn="just">
              <a:spcBef>
                <a:spcPts val="0"/>
              </a:spcBef>
              <a:spcAft>
                <a:spcPts val="0"/>
              </a:spcAft>
              <a:buClr>
                <a:schemeClr val="dk1"/>
              </a:buClr>
              <a:buSzPts val="2000"/>
              <a:buFont typeface="Arial"/>
              <a:buChar char="•"/>
            </a:pPr>
            <a:r>
              <a:rPr lang="en-US"/>
              <a:t>B0, b1, b2 &amp; b3 are data disk, f0(b), f1(b), f2(b) are redundant disk</a:t>
            </a:r>
            <a:endParaRPr/>
          </a:p>
          <a:p>
            <a:pPr indent="-342900" lvl="0" marL="342900" rtl="0" algn="just">
              <a:spcBef>
                <a:spcPts val="0"/>
              </a:spcBef>
              <a:spcAft>
                <a:spcPts val="0"/>
              </a:spcAft>
              <a:buClr>
                <a:schemeClr val="dk1"/>
              </a:buClr>
              <a:buSzPts val="2000"/>
              <a:buFont typeface="Arial"/>
              <a:buChar char="•"/>
            </a:pPr>
            <a:r>
              <a:rPr lang="en-US"/>
              <a:t>Whatever be the value of bit b0b1b2&amp; b3 for the value I, hamming code will be found and placed in f0(b), f1(b), f2(b) </a:t>
            </a:r>
            <a:endParaRPr/>
          </a:p>
          <a:p>
            <a:pPr indent="-342900" lvl="0" marL="342900" rtl="0" algn="just">
              <a:spcBef>
                <a:spcPts val="0"/>
              </a:spcBef>
              <a:spcAft>
                <a:spcPts val="0"/>
              </a:spcAft>
              <a:buClr>
                <a:schemeClr val="dk1"/>
              </a:buClr>
              <a:buSzPts val="2000"/>
              <a:buFont typeface="Arial"/>
              <a:buChar char="•"/>
            </a:pPr>
            <a:r>
              <a:rPr lang="en-US"/>
              <a:t>Bit level stripping- For 4 bit data, First bit of data goes to b0, 2</a:t>
            </a:r>
            <a:r>
              <a:rPr baseline="30000" lang="en-US"/>
              <a:t>nd</a:t>
            </a:r>
            <a:r>
              <a:rPr lang="en-US"/>
              <a:t> bit to b1, 3</a:t>
            </a:r>
            <a:r>
              <a:rPr baseline="30000" lang="en-US"/>
              <a:t>rd</a:t>
            </a:r>
            <a:r>
              <a:rPr lang="en-US"/>
              <a:t> bit to b2 and 4</a:t>
            </a:r>
            <a:r>
              <a:rPr baseline="30000" lang="en-US"/>
              <a:t>th</a:t>
            </a:r>
            <a:r>
              <a:rPr lang="en-US"/>
              <a:t> bit to b3.</a:t>
            </a:r>
            <a:endParaRPr/>
          </a:p>
          <a:p>
            <a:pPr indent="-342900" lvl="0" marL="342900" rtl="0" algn="just">
              <a:spcBef>
                <a:spcPts val="0"/>
              </a:spcBef>
              <a:spcAft>
                <a:spcPts val="0"/>
              </a:spcAft>
              <a:buClr>
                <a:schemeClr val="dk1"/>
              </a:buClr>
              <a:buSzPts val="2000"/>
              <a:buFont typeface="Arial"/>
              <a:buChar char="•"/>
            </a:pPr>
            <a:r>
              <a:rPr lang="en-US"/>
              <a:t>Easily rectify data if a particular data is failed</a:t>
            </a:r>
            <a:endParaRPr/>
          </a:p>
          <a:p>
            <a:pPr indent="-342900" lvl="0" marL="342900" rtl="0" algn="just">
              <a:spcBef>
                <a:spcPts val="0"/>
              </a:spcBef>
              <a:spcAft>
                <a:spcPts val="0"/>
              </a:spcAft>
              <a:buClr>
                <a:schemeClr val="dk1"/>
              </a:buClr>
              <a:buSzPts val="2000"/>
              <a:buFont typeface="Arial"/>
              <a:buChar char="•"/>
            </a:pPr>
            <a:r>
              <a:rPr lang="en-US"/>
              <a:t>Costly</a:t>
            </a:r>
            <a:endParaRPr/>
          </a:p>
          <a:p>
            <a:pPr indent="-215900" lvl="0" marL="342900" rtl="0" algn="just">
              <a:spcBef>
                <a:spcPts val="0"/>
              </a:spcBef>
              <a:spcAft>
                <a:spcPts val="0"/>
              </a:spcAft>
              <a:buClr>
                <a:schemeClr val="dk1"/>
              </a:buClr>
              <a:buSzPts val="2000"/>
              <a:buFont typeface="Arial"/>
              <a:buNone/>
            </a:pPr>
            <a:r>
              <a:t/>
            </a:r>
            <a:endParaRPr/>
          </a:p>
          <a:p>
            <a:pPr indent="-215900" lvl="0" marL="342900" rtl="0" algn="just">
              <a:spcBef>
                <a:spcPts val="0"/>
              </a:spcBef>
              <a:spcAft>
                <a:spcPts val="0"/>
              </a:spcAft>
              <a:buClr>
                <a:schemeClr val="dk1"/>
              </a:buClr>
              <a:buSzPts val="2000"/>
              <a:buFont typeface="Arial"/>
              <a:buNone/>
            </a:pPr>
            <a:r>
              <a:t/>
            </a:r>
            <a:endParaRPr/>
          </a:p>
          <a:p>
            <a:pPr indent="-215900" lvl="0" marL="342900" rtl="0" algn="just">
              <a:spcBef>
                <a:spcPts val="0"/>
              </a:spcBef>
              <a:spcAft>
                <a:spcPts val="0"/>
              </a:spcAft>
              <a:buClr>
                <a:schemeClr val="dk1"/>
              </a:buClr>
              <a:buSzPts val="2000"/>
              <a:buFont typeface="Arial"/>
              <a:buNone/>
            </a:pPr>
            <a:r>
              <a:t/>
            </a:r>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pic>
        <p:nvPicPr>
          <p:cNvPr id="1046" name="Google Shape;1046;p160"/>
          <p:cNvPicPr preferRelativeResize="0"/>
          <p:nvPr/>
        </p:nvPicPr>
        <p:blipFill rotWithShape="1">
          <a:blip r:embed="rId3">
            <a:alphaModFix/>
          </a:blip>
          <a:srcRect b="0" l="0" r="0" t="0"/>
          <a:stretch/>
        </p:blipFill>
        <p:spPr>
          <a:xfrm>
            <a:off x="685800" y="1447800"/>
            <a:ext cx="8077200" cy="3276600"/>
          </a:xfrm>
          <a:prstGeom prst="rect">
            <a:avLst/>
          </a:prstGeom>
          <a:noFill/>
          <a:ln>
            <a:noFill/>
          </a:ln>
        </p:spPr>
      </p:pic>
      <p:sp>
        <p:nvSpPr>
          <p:cNvPr id="1047" name="Google Shape;1047;p160"/>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161"/>
          <p:cNvSpPr txBox="1"/>
          <p:nvPr>
            <p:ph type="title"/>
          </p:nvPr>
        </p:nvSpPr>
        <p:spPr>
          <a:xfrm>
            <a:off x="485343" y="484073"/>
            <a:ext cx="6951345"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RAID Level 3 –Bit Interleaved Parity</a:t>
            </a:r>
            <a:endParaRPr/>
          </a:p>
        </p:txBody>
      </p:sp>
      <p:pic>
        <p:nvPicPr>
          <p:cNvPr id="1053" name="Google Shape;1053;p161"/>
          <p:cNvPicPr preferRelativeResize="0"/>
          <p:nvPr/>
        </p:nvPicPr>
        <p:blipFill rotWithShape="1">
          <a:blip r:embed="rId3">
            <a:alphaModFix/>
          </a:blip>
          <a:srcRect b="0" l="0" r="0" t="0"/>
          <a:stretch/>
        </p:blipFill>
        <p:spPr>
          <a:xfrm>
            <a:off x="224941" y="2286063"/>
            <a:ext cx="8660258" cy="3374285"/>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162"/>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1059" name="Google Shape;1059;p162"/>
          <p:cNvSpPr txBox="1"/>
          <p:nvPr/>
        </p:nvSpPr>
        <p:spPr>
          <a:xfrm>
            <a:off x="685800" y="1295400"/>
            <a:ext cx="7772400" cy="1754326"/>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requires only a single redundant disk</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employs parallel access, with data distributed in small strips.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Instead of an error-correcting code, a simple parity bit is computed for the set of individual bits in the same position on all of the data disks.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Bit level stripping</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No of disks required to store parity data is low-Only one extra disk</a:t>
            </a:r>
            <a:endParaRPr sz="1800">
              <a:solidFill>
                <a:schemeClr val="dk1"/>
              </a:solidFill>
              <a:latin typeface="Calibri"/>
              <a:ea typeface="Calibri"/>
              <a:cs typeface="Calibri"/>
              <a:sym typeface="Calibri"/>
            </a:endParaRPr>
          </a:p>
        </p:txBody>
      </p:sp>
      <p:pic>
        <p:nvPicPr>
          <p:cNvPr id="1060" name="Google Shape;1060;p162"/>
          <p:cNvPicPr preferRelativeResize="0"/>
          <p:nvPr/>
        </p:nvPicPr>
        <p:blipFill rotWithShape="1">
          <a:blip r:embed="rId3">
            <a:alphaModFix/>
          </a:blip>
          <a:srcRect b="0" l="0" r="0" t="0"/>
          <a:stretch/>
        </p:blipFill>
        <p:spPr>
          <a:xfrm>
            <a:off x="685800" y="3467100"/>
            <a:ext cx="7848601" cy="1600200"/>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163"/>
          <p:cNvSpPr txBox="1"/>
          <p:nvPr>
            <p:ph type="title"/>
          </p:nvPr>
        </p:nvSpPr>
        <p:spPr>
          <a:xfrm>
            <a:off x="485343" y="484073"/>
            <a:ext cx="6144895"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RAID Level 4- Block level parity</a:t>
            </a:r>
            <a:endParaRPr/>
          </a:p>
        </p:txBody>
      </p:sp>
      <p:pic>
        <p:nvPicPr>
          <p:cNvPr id="1066" name="Google Shape;1066;p163"/>
          <p:cNvPicPr preferRelativeResize="0"/>
          <p:nvPr/>
        </p:nvPicPr>
        <p:blipFill rotWithShape="1">
          <a:blip r:embed="rId3">
            <a:alphaModFix/>
          </a:blip>
          <a:srcRect b="0" l="0" r="0" t="0"/>
          <a:stretch/>
        </p:blipFill>
        <p:spPr>
          <a:xfrm>
            <a:off x="57419" y="2668199"/>
            <a:ext cx="8842549" cy="3332100"/>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p164"/>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1072" name="Google Shape;1072;p164"/>
          <p:cNvSpPr txBox="1"/>
          <p:nvPr>
            <p:ph idx="1" type="body"/>
          </p:nvPr>
        </p:nvSpPr>
        <p:spPr>
          <a:xfrm>
            <a:off x="525144" y="1188465"/>
            <a:ext cx="8093710" cy="3693319"/>
          </a:xfrm>
          <a:prstGeom prst="rect">
            <a:avLst/>
          </a:prstGeom>
          <a:noFill/>
          <a:ln>
            <a:noFill/>
          </a:ln>
        </p:spPr>
        <p:txBody>
          <a:bodyPr anchorCtr="0" anchor="t" bIns="0" lIns="0" spcFirstLastPara="1" rIns="0" wrap="square" tIns="0">
            <a:spAutoFit/>
          </a:bodyPr>
          <a:lstStyle/>
          <a:p>
            <a:pPr indent="-342900" lvl="0" marL="342900" rtl="0" algn="just">
              <a:spcBef>
                <a:spcPts val="0"/>
              </a:spcBef>
              <a:spcAft>
                <a:spcPts val="0"/>
              </a:spcAft>
              <a:buClr>
                <a:schemeClr val="dk1"/>
              </a:buClr>
              <a:buSzPts val="2000"/>
              <a:buFont typeface="Arial"/>
              <a:buChar char="•"/>
            </a:pPr>
            <a:r>
              <a:rPr lang="en-US"/>
              <a:t>In the case of RAID 4 through 6, the strips are relatively large.</a:t>
            </a:r>
            <a:endParaRPr/>
          </a:p>
          <a:p>
            <a:pPr indent="-342900" lvl="0" marL="342900" rtl="0" algn="just">
              <a:spcBef>
                <a:spcPts val="0"/>
              </a:spcBef>
              <a:spcAft>
                <a:spcPts val="0"/>
              </a:spcAft>
              <a:buClr>
                <a:schemeClr val="dk1"/>
              </a:buClr>
              <a:buSzPts val="2000"/>
              <a:buFont typeface="Arial"/>
              <a:buChar char="•"/>
            </a:pPr>
            <a:r>
              <a:rPr lang="en-US"/>
              <a:t>With RAID 4, a bit-by-bit parity strip is calculated across corresponding strips on each data disk, and the parity bits are stored in the corresponding strip on the parity disk.</a:t>
            </a:r>
            <a:endParaRPr/>
          </a:p>
          <a:p>
            <a:pPr indent="-342900" lvl="0" marL="342900" rtl="0" algn="just">
              <a:spcBef>
                <a:spcPts val="0"/>
              </a:spcBef>
              <a:spcAft>
                <a:spcPts val="0"/>
              </a:spcAft>
              <a:buClr>
                <a:schemeClr val="dk1"/>
              </a:buClr>
              <a:buSzPts val="2000"/>
              <a:buFont typeface="Arial"/>
              <a:buChar char="•"/>
            </a:pPr>
            <a:r>
              <a:rPr lang="en-US"/>
              <a:t>Block level stripping</a:t>
            </a:r>
            <a:endParaRPr/>
          </a:p>
          <a:p>
            <a:pPr indent="-342900" lvl="0" marL="342900" rtl="0" algn="just">
              <a:spcBef>
                <a:spcPts val="0"/>
              </a:spcBef>
              <a:spcAft>
                <a:spcPts val="0"/>
              </a:spcAft>
              <a:buClr>
                <a:schemeClr val="dk1"/>
              </a:buClr>
              <a:buSzPts val="2000"/>
              <a:buFont typeface="Arial"/>
              <a:buChar char="•"/>
            </a:pPr>
            <a:r>
              <a:rPr lang="en-US"/>
              <a:t>Block is composed of 1/more words</a:t>
            </a:r>
            <a:endParaRPr/>
          </a:p>
          <a:p>
            <a:pPr indent="-342900" lvl="0" marL="342900" rtl="0" algn="just">
              <a:spcBef>
                <a:spcPts val="0"/>
              </a:spcBef>
              <a:spcAft>
                <a:spcPts val="0"/>
              </a:spcAft>
              <a:buClr>
                <a:schemeClr val="dk1"/>
              </a:buClr>
              <a:buSzPts val="2000"/>
              <a:buFont typeface="Arial"/>
              <a:buChar char="•"/>
            </a:pPr>
            <a:r>
              <a:rPr lang="en-US"/>
              <a:t>If one word, One complete word will come to one block and parity will be calculated based on blocks 0 to 3 </a:t>
            </a:r>
            <a:endParaRPr/>
          </a:p>
          <a:p>
            <a:pPr indent="-342900" lvl="0" marL="342900" rtl="0" algn="just">
              <a:spcBef>
                <a:spcPts val="0"/>
              </a:spcBef>
              <a:spcAft>
                <a:spcPts val="0"/>
              </a:spcAft>
              <a:buClr>
                <a:schemeClr val="dk1"/>
              </a:buClr>
              <a:buSzPts val="2000"/>
              <a:buFont typeface="Arial"/>
              <a:buChar char="•"/>
            </a:pPr>
            <a:r>
              <a:rPr lang="en-US"/>
              <a:t>One extra disk is required to maintain redundant data</a:t>
            </a:r>
            <a:endParaRPr/>
          </a:p>
          <a:p>
            <a:pPr indent="0" lvl="0" marL="0" rtl="0" algn="just">
              <a:spcBef>
                <a:spcPts val="0"/>
              </a:spcBef>
              <a:spcAft>
                <a:spcPts val="0"/>
              </a:spcAft>
              <a:buNone/>
            </a:pPr>
            <a:r>
              <a:t/>
            </a:r>
            <a:endParaRPr/>
          </a:p>
          <a:p>
            <a:pPr indent="-215900" lvl="0" marL="342900" rtl="0" algn="just">
              <a:spcBef>
                <a:spcPts val="0"/>
              </a:spcBef>
              <a:spcAft>
                <a:spcPts val="0"/>
              </a:spcAft>
              <a:buClr>
                <a:schemeClr val="dk1"/>
              </a:buClr>
              <a:buSzPts val="2000"/>
              <a:buFont typeface="Arial"/>
              <a:buNone/>
            </a:pPr>
            <a:r>
              <a:t/>
            </a:r>
            <a:endParaRPr/>
          </a:p>
        </p:txBody>
      </p:sp>
      <p:pic>
        <p:nvPicPr>
          <p:cNvPr id="1073" name="Google Shape;1073;p164"/>
          <p:cNvPicPr preferRelativeResize="0"/>
          <p:nvPr/>
        </p:nvPicPr>
        <p:blipFill rotWithShape="1">
          <a:blip r:embed="rId3">
            <a:alphaModFix/>
          </a:blip>
          <a:srcRect b="0" l="0" r="0" t="0"/>
          <a:stretch/>
        </p:blipFill>
        <p:spPr>
          <a:xfrm>
            <a:off x="1247692" y="4495800"/>
            <a:ext cx="6350000" cy="1543050"/>
          </a:xfrm>
          <a:prstGeom prst="rect">
            <a:avLst/>
          </a:prstGeom>
          <a:noFill/>
          <a:ln>
            <a:noFill/>
          </a:ln>
        </p:spPr>
      </p:pic>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p165"/>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1079" name="Google Shape;1079;p165"/>
          <p:cNvSpPr txBox="1"/>
          <p:nvPr>
            <p:ph idx="1" type="body"/>
          </p:nvPr>
        </p:nvSpPr>
        <p:spPr>
          <a:xfrm>
            <a:off x="525144" y="1188465"/>
            <a:ext cx="8093710" cy="371538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1080" name="Google Shape;1080;p165"/>
          <p:cNvPicPr preferRelativeResize="0"/>
          <p:nvPr/>
        </p:nvPicPr>
        <p:blipFill rotWithShape="1">
          <a:blip r:embed="rId3">
            <a:alphaModFix/>
          </a:blip>
          <a:srcRect b="0" l="0" r="0" t="0"/>
          <a:stretch/>
        </p:blipFill>
        <p:spPr>
          <a:xfrm>
            <a:off x="762000" y="1371600"/>
            <a:ext cx="7543800" cy="4343399"/>
          </a:xfrm>
          <a:prstGeom prst="rect">
            <a:avLst/>
          </a:prstGeom>
          <a:noFill/>
          <a:ln>
            <a:noFill/>
          </a:ln>
        </p:spPr>
      </p:pic>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p166"/>
          <p:cNvSpPr txBox="1"/>
          <p:nvPr>
            <p:ph type="title"/>
          </p:nvPr>
        </p:nvSpPr>
        <p:spPr>
          <a:xfrm>
            <a:off x="485343" y="57404"/>
            <a:ext cx="8173313" cy="87884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a:t>RAID Level 5- Block level Distributed  Parity</a:t>
            </a:r>
            <a:endParaRPr/>
          </a:p>
        </p:txBody>
      </p:sp>
      <p:pic>
        <p:nvPicPr>
          <p:cNvPr id="1086" name="Google Shape;1086;p166"/>
          <p:cNvPicPr preferRelativeResize="0"/>
          <p:nvPr/>
        </p:nvPicPr>
        <p:blipFill rotWithShape="1">
          <a:blip r:embed="rId3">
            <a:alphaModFix/>
          </a:blip>
          <a:srcRect b="0" l="0" r="0" t="0"/>
          <a:stretch/>
        </p:blipFill>
        <p:spPr>
          <a:xfrm>
            <a:off x="235594" y="2286063"/>
            <a:ext cx="8834782" cy="3827399"/>
          </a:xfrm>
          <a:prstGeom prst="rect">
            <a:avLst/>
          </a:prstGeom>
          <a:noFill/>
          <a:ln>
            <a:noFill/>
          </a:ln>
        </p:spPr>
      </p:pic>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sp>
        <p:nvSpPr>
          <p:cNvPr id="1091" name="Google Shape;1091;p167"/>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1092" name="Google Shape;1092;p167"/>
          <p:cNvSpPr txBox="1"/>
          <p:nvPr>
            <p:ph idx="1" type="body"/>
          </p:nvPr>
        </p:nvSpPr>
        <p:spPr>
          <a:xfrm>
            <a:off x="525144" y="1188465"/>
            <a:ext cx="8093710" cy="1231106"/>
          </a:xfrm>
          <a:prstGeom prst="rect">
            <a:avLst/>
          </a:prstGeom>
          <a:noFill/>
          <a:ln>
            <a:noFill/>
          </a:ln>
        </p:spPr>
        <p:txBody>
          <a:bodyPr anchorCtr="0" anchor="t" bIns="0" lIns="0" spcFirstLastPara="1" rIns="0" wrap="square" tIns="0">
            <a:spAutoFit/>
          </a:bodyPr>
          <a:lstStyle/>
          <a:p>
            <a:pPr indent="-342900" lvl="0" marL="342900" rtl="0" algn="just">
              <a:spcBef>
                <a:spcPts val="0"/>
              </a:spcBef>
              <a:spcAft>
                <a:spcPts val="0"/>
              </a:spcAft>
              <a:buClr>
                <a:schemeClr val="dk1"/>
              </a:buClr>
              <a:buSzPts val="2000"/>
              <a:buFont typeface="Arial"/>
              <a:buChar char="•"/>
            </a:pPr>
            <a:r>
              <a:rPr lang="en-US"/>
              <a:t>For an n-disk array, the parity strip is on a different disk for the first n stripes, and the pattern then repeats.</a:t>
            </a:r>
            <a:endParaRPr/>
          </a:p>
          <a:p>
            <a:pPr indent="-342900" lvl="0" marL="342900" rtl="0" algn="just">
              <a:spcBef>
                <a:spcPts val="0"/>
              </a:spcBef>
              <a:spcAft>
                <a:spcPts val="0"/>
              </a:spcAft>
              <a:buClr>
                <a:schemeClr val="dk1"/>
              </a:buClr>
              <a:buSzPts val="2000"/>
              <a:buFont typeface="Arial"/>
              <a:buChar char="•"/>
            </a:pPr>
            <a:r>
              <a:rPr lang="en-US"/>
              <a:t>The distribution of parity strips across all drives avoids the potential I/O bottleneck found in RAID 4.</a:t>
            </a:r>
            <a:endParaRPr/>
          </a:p>
        </p:txBody>
      </p:sp>
      <p:pic>
        <p:nvPicPr>
          <p:cNvPr id="1093" name="Google Shape;1093;p167"/>
          <p:cNvPicPr preferRelativeResize="0"/>
          <p:nvPr/>
        </p:nvPicPr>
        <p:blipFill rotWithShape="1">
          <a:blip r:embed="rId3">
            <a:alphaModFix/>
          </a:blip>
          <a:srcRect b="0" l="0" r="0" t="0"/>
          <a:stretch/>
        </p:blipFill>
        <p:spPr>
          <a:xfrm>
            <a:off x="1262270" y="2819400"/>
            <a:ext cx="6286500" cy="1244600"/>
          </a:xfrm>
          <a:prstGeom prst="rect">
            <a:avLst/>
          </a:prstGeom>
          <a:noFill/>
          <a:ln>
            <a:noFill/>
          </a:ln>
        </p:spPr>
      </p:pic>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168"/>
          <p:cNvSpPr txBox="1"/>
          <p:nvPr>
            <p:ph type="title"/>
          </p:nvPr>
        </p:nvSpPr>
        <p:spPr>
          <a:xfrm>
            <a:off x="485343" y="484073"/>
            <a:ext cx="6121400"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RAID Level 6- Dual Redundancy</a:t>
            </a:r>
            <a:endParaRPr/>
          </a:p>
        </p:txBody>
      </p:sp>
      <p:pic>
        <p:nvPicPr>
          <p:cNvPr id="1099" name="Google Shape;1099;p168"/>
          <p:cNvPicPr preferRelativeResize="0"/>
          <p:nvPr/>
        </p:nvPicPr>
        <p:blipFill rotWithShape="1">
          <a:blip r:embed="rId3">
            <a:alphaModFix/>
          </a:blip>
          <a:srcRect b="0" l="0" r="0" t="0"/>
          <a:stretch/>
        </p:blipFill>
        <p:spPr>
          <a:xfrm>
            <a:off x="163061" y="2105916"/>
            <a:ext cx="8980938" cy="2913294"/>
          </a:xfrm>
          <a:prstGeom prst="rect">
            <a:avLst/>
          </a:prstGeom>
          <a:noFill/>
          <a:ln>
            <a:noFill/>
          </a:ln>
        </p:spPr>
      </p:pic>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id="1104" name="Google Shape;1104;p169"/>
          <p:cNvSpPr txBox="1"/>
          <p:nvPr>
            <p:ph type="title"/>
          </p:nvPr>
        </p:nvSpPr>
        <p:spPr>
          <a:xfrm>
            <a:off x="485343" y="57404"/>
            <a:ext cx="8173313" cy="8788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1105" name="Google Shape;1105;p169"/>
          <p:cNvSpPr txBox="1"/>
          <p:nvPr>
            <p:ph idx="1" type="body"/>
          </p:nvPr>
        </p:nvSpPr>
        <p:spPr>
          <a:xfrm>
            <a:off x="639445" y="1219200"/>
            <a:ext cx="8093710" cy="1846659"/>
          </a:xfrm>
          <a:prstGeom prst="rect">
            <a:avLst/>
          </a:prstGeom>
          <a:noFill/>
          <a:ln>
            <a:noFill/>
          </a:ln>
        </p:spPr>
        <p:txBody>
          <a:bodyPr anchorCtr="0" anchor="t" bIns="0" lIns="0" spcFirstLastPara="1" rIns="0" wrap="square" tIns="0">
            <a:spAutoFit/>
          </a:bodyPr>
          <a:lstStyle/>
          <a:p>
            <a:pPr indent="-342900" lvl="0" marL="342900" rtl="0" algn="l">
              <a:spcBef>
                <a:spcPts val="0"/>
              </a:spcBef>
              <a:spcAft>
                <a:spcPts val="0"/>
              </a:spcAft>
              <a:buClr>
                <a:schemeClr val="dk1"/>
              </a:buClr>
              <a:buSzPts val="2000"/>
              <a:buFont typeface="Arial"/>
              <a:buChar char="•"/>
            </a:pPr>
            <a:r>
              <a:rPr lang="en-US"/>
              <a:t>Increasing the no: of redundant disk arrays (2)</a:t>
            </a:r>
            <a:endParaRPr/>
          </a:p>
          <a:p>
            <a:pPr indent="-342900" lvl="0" marL="342900" rtl="0" algn="l">
              <a:spcBef>
                <a:spcPts val="0"/>
              </a:spcBef>
              <a:spcAft>
                <a:spcPts val="0"/>
              </a:spcAft>
              <a:buClr>
                <a:schemeClr val="dk1"/>
              </a:buClr>
              <a:buSzPts val="2000"/>
              <a:buFont typeface="Arial"/>
              <a:buChar char="•"/>
            </a:pPr>
            <a:r>
              <a:rPr lang="en-US"/>
              <a:t>P and Q are two different data check algorithms.</a:t>
            </a:r>
            <a:endParaRPr/>
          </a:p>
          <a:p>
            <a:pPr indent="-342900" lvl="0" marL="342900" rtl="0" algn="l">
              <a:spcBef>
                <a:spcPts val="0"/>
              </a:spcBef>
              <a:spcAft>
                <a:spcPts val="0"/>
              </a:spcAft>
              <a:buClr>
                <a:schemeClr val="dk1"/>
              </a:buClr>
              <a:buSzPts val="2000"/>
              <a:buFont typeface="Arial"/>
              <a:buChar char="•"/>
            </a:pPr>
            <a:r>
              <a:rPr lang="en-US"/>
              <a:t>This makes it possible to regenerate data even if two disks containing user data fail.</a:t>
            </a:r>
            <a:endParaRPr/>
          </a:p>
          <a:p>
            <a:pPr indent="-342900" lvl="0" marL="342900" rtl="0" algn="l">
              <a:spcBef>
                <a:spcPts val="0"/>
              </a:spcBef>
              <a:spcAft>
                <a:spcPts val="0"/>
              </a:spcAft>
              <a:buClr>
                <a:schemeClr val="dk1"/>
              </a:buClr>
              <a:buSzPts val="2000"/>
              <a:buFont typeface="Arial"/>
              <a:buChar char="•"/>
            </a:pPr>
            <a:r>
              <a:rPr lang="en-US"/>
              <a:t>it provides extremely high data availability</a:t>
            </a:r>
            <a:endParaRPr/>
          </a:p>
          <a:p>
            <a:pPr indent="-215900" lvl="0" marL="342900" rtl="0" algn="l">
              <a:spcBef>
                <a:spcPts val="0"/>
              </a:spcBef>
              <a:spcAft>
                <a:spcPts val="0"/>
              </a:spcAft>
              <a:buClr>
                <a:schemeClr val="dk1"/>
              </a:buClr>
              <a:buSzPts val="2000"/>
              <a:buFont typeface="Arial"/>
              <a:buNone/>
            </a:pPr>
            <a:r>
              <a:t/>
            </a:r>
            <a:endParaRPr/>
          </a:p>
        </p:txBody>
      </p:sp>
      <p:pic>
        <p:nvPicPr>
          <p:cNvPr id="1106" name="Google Shape;1106;p169"/>
          <p:cNvPicPr preferRelativeResize="0"/>
          <p:nvPr/>
        </p:nvPicPr>
        <p:blipFill rotWithShape="1">
          <a:blip r:embed="rId3">
            <a:alphaModFix/>
          </a:blip>
          <a:srcRect b="0" l="0" r="0" t="0"/>
          <a:stretch/>
        </p:blipFill>
        <p:spPr>
          <a:xfrm>
            <a:off x="762000" y="3200400"/>
            <a:ext cx="7543800" cy="2755900"/>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sp>
        <p:nvSpPr>
          <p:cNvPr id="1111" name="Google Shape;1111;p170"/>
          <p:cNvSpPr txBox="1"/>
          <p:nvPr>
            <p:ph type="title"/>
          </p:nvPr>
        </p:nvSpPr>
        <p:spPr>
          <a:xfrm>
            <a:off x="485343" y="57404"/>
            <a:ext cx="7496809" cy="8788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RAID 0, 1, 2 –</a:t>
            </a:r>
            <a:endParaRPr/>
          </a:p>
          <a:p>
            <a:pPr indent="0" lvl="0" marL="12700" rtl="0" algn="l">
              <a:lnSpc>
                <a:spcPct val="100000"/>
              </a:lnSpc>
              <a:spcBef>
                <a:spcPts val="0"/>
              </a:spcBef>
              <a:spcAft>
                <a:spcPts val="0"/>
              </a:spcAft>
              <a:buNone/>
            </a:pPr>
            <a:r>
              <a:rPr lang="en-US"/>
              <a:t>Redundant Array of Independent Disks</a:t>
            </a:r>
            <a:endParaRPr/>
          </a:p>
        </p:txBody>
      </p:sp>
      <p:pic>
        <p:nvPicPr>
          <p:cNvPr id="1112" name="Google Shape;1112;p170"/>
          <p:cNvPicPr preferRelativeResize="0"/>
          <p:nvPr/>
        </p:nvPicPr>
        <p:blipFill rotWithShape="1">
          <a:blip r:embed="rId3">
            <a:alphaModFix/>
          </a:blip>
          <a:srcRect b="0" l="0" r="0" t="0"/>
          <a:stretch/>
        </p:blipFill>
        <p:spPr>
          <a:xfrm>
            <a:off x="1217385" y="1325327"/>
            <a:ext cx="7181850" cy="5388896"/>
          </a:xfrm>
          <a:prstGeom prst="rect">
            <a:avLst/>
          </a:prstGeom>
          <a:noFill/>
          <a:ln>
            <a:noFill/>
          </a:ln>
        </p:spPr>
      </p:pic>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p171"/>
          <p:cNvSpPr txBox="1"/>
          <p:nvPr>
            <p:ph type="title"/>
          </p:nvPr>
        </p:nvSpPr>
        <p:spPr>
          <a:xfrm>
            <a:off x="485343" y="484073"/>
            <a:ext cx="2138045"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RAID 3 &amp; 4</a:t>
            </a:r>
            <a:endParaRPr/>
          </a:p>
        </p:txBody>
      </p:sp>
      <p:pic>
        <p:nvPicPr>
          <p:cNvPr id="1118" name="Google Shape;1118;p171"/>
          <p:cNvPicPr preferRelativeResize="0"/>
          <p:nvPr/>
        </p:nvPicPr>
        <p:blipFill rotWithShape="1">
          <a:blip r:embed="rId3">
            <a:alphaModFix/>
          </a:blip>
          <a:srcRect b="0" l="0" r="0" t="0"/>
          <a:stretch/>
        </p:blipFill>
        <p:spPr>
          <a:xfrm>
            <a:off x="1529714" y="1513150"/>
            <a:ext cx="5795391" cy="4677437"/>
          </a:xfrm>
          <a:prstGeom prst="rect">
            <a:avLst/>
          </a:prstGeom>
          <a:noFill/>
          <a:ln>
            <a:noFill/>
          </a:ln>
        </p:spPr>
      </p:pic>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p172"/>
          <p:cNvSpPr txBox="1"/>
          <p:nvPr>
            <p:ph type="title"/>
          </p:nvPr>
        </p:nvSpPr>
        <p:spPr>
          <a:xfrm>
            <a:off x="485343" y="484073"/>
            <a:ext cx="2138045"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RAID 5 &amp; 6</a:t>
            </a:r>
            <a:endParaRPr/>
          </a:p>
        </p:txBody>
      </p:sp>
      <p:pic>
        <p:nvPicPr>
          <p:cNvPr id="1124" name="Google Shape;1124;p172"/>
          <p:cNvPicPr preferRelativeResize="0"/>
          <p:nvPr/>
        </p:nvPicPr>
        <p:blipFill rotWithShape="1">
          <a:blip r:embed="rId3">
            <a:alphaModFix/>
          </a:blip>
          <a:srcRect b="0" l="0" r="0" t="0"/>
          <a:stretch/>
        </p:blipFill>
        <p:spPr>
          <a:xfrm>
            <a:off x="1206371" y="1347094"/>
            <a:ext cx="6885821" cy="4887851"/>
          </a:xfrm>
          <a:prstGeom prst="rect">
            <a:avLst/>
          </a:prstGeom>
          <a:noFill/>
          <a:ln>
            <a:noFill/>
          </a:ln>
        </p:spPr>
      </p:pic>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8" name="Shape 1128"/>
        <p:cNvGrpSpPr/>
        <p:nvPr/>
      </p:nvGrpSpPr>
      <p:grpSpPr>
        <a:xfrm>
          <a:off x="0" y="0"/>
          <a:ext cx="0" cy="0"/>
          <a:chOff x="0" y="0"/>
          <a:chExt cx="0" cy="0"/>
        </a:xfrm>
      </p:grpSpPr>
      <p:sp>
        <p:nvSpPr>
          <p:cNvPr id="1129" name="Google Shape;1129;p173"/>
          <p:cNvSpPr txBox="1"/>
          <p:nvPr>
            <p:ph type="title"/>
          </p:nvPr>
        </p:nvSpPr>
        <p:spPr>
          <a:xfrm>
            <a:off x="485343" y="57404"/>
            <a:ext cx="8173313" cy="87884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a:t>Solve using FIFO , LRU and OPT page  replacement algorithms</a:t>
            </a:r>
            <a:endParaRPr/>
          </a:p>
        </p:txBody>
      </p:sp>
      <p:sp>
        <p:nvSpPr>
          <p:cNvPr id="1130" name="Google Shape;1130;p173"/>
          <p:cNvSpPr txBox="1"/>
          <p:nvPr/>
        </p:nvSpPr>
        <p:spPr>
          <a:xfrm>
            <a:off x="535940" y="1098549"/>
            <a:ext cx="7327265" cy="878840"/>
          </a:xfrm>
          <a:prstGeom prst="rect">
            <a:avLst/>
          </a:prstGeom>
          <a:noFill/>
          <a:ln>
            <a:noFill/>
          </a:ln>
        </p:spPr>
        <p:txBody>
          <a:bodyPr anchorCtr="0" anchor="t" bIns="0" lIns="0" spcFirstLastPara="1" rIns="0" wrap="square" tIns="12050">
            <a:spAutoFit/>
          </a:bodyPr>
          <a:lstStyle/>
          <a:p>
            <a:pPr indent="-343535" lvl="0" marL="355600" marR="5080" rtl="0" algn="l">
              <a:lnSpc>
                <a:spcPct val="100000"/>
              </a:lnSpc>
              <a:spcBef>
                <a:spcPts val="0"/>
              </a:spcBef>
              <a:spcAft>
                <a:spcPts val="0"/>
              </a:spcAft>
              <a:buClr>
                <a:srgbClr val="FF0000"/>
              </a:buClr>
              <a:buSzPts val="2800"/>
              <a:buFont typeface="Verdana"/>
              <a:buChar char="•"/>
            </a:pPr>
            <a:r>
              <a:rPr lang="en-US" sz="2800">
                <a:solidFill>
                  <a:schemeClr val="dk1"/>
                </a:solidFill>
                <a:latin typeface="Verdana"/>
                <a:ea typeface="Verdana"/>
                <a:cs typeface="Verdana"/>
                <a:sym typeface="Verdana"/>
              </a:rPr>
              <a:t>Given page reference string:  1,2,3,4,2,1,5,6,2,1,2,3,7,6,3,2,1,2,3,6</a:t>
            </a:r>
            <a:endParaRPr sz="2800">
              <a:solidFill>
                <a:schemeClr val="dk1"/>
              </a:solidFill>
              <a:latin typeface="Verdana"/>
              <a:ea typeface="Verdana"/>
              <a:cs typeface="Verdana"/>
              <a:sym typeface="Verdana"/>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4" name="Shape 1134"/>
        <p:cNvGrpSpPr/>
        <p:nvPr/>
      </p:nvGrpSpPr>
      <p:grpSpPr>
        <a:xfrm>
          <a:off x="0" y="0"/>
          <a:ext cx="0" cy="0"/>
          <a:chOff x="0" y="0"/>
          <a:chExt cx="0" cy="0"/>
        </a:xfrm>
      </p:grpSpPr>
      <p:sp>
        <p:nvSpPr>
          <p:cNvPr id="1135" name="Google Shape;1135;p174"/>
          <p:cNvSpPr txBox="1"/>
          <p:nvPr>
            <p:ph type="title"/>
          </p:nvPr>
        </p:nvSpPr>
        <p:spPr>
          <a:xfrm>
            <a:off x="485343" y="57404"/>
            <a:ext cx="8173313" cy="430887"/>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Virtual memory</a:t>
            </a:r>
            <a:endParaRPr/>
          </a:p>
        </p:txBody>
      </p:sp>
      <p:sp>
        <p:nvSpPr>
          <p:cNvPr id="1136" name="Google Shape;1136;p174"/>
          <p:cNvSpPr txBox="1"/>
          <p:nvPr>
            <p:ph idx="1" type="body"/>
          </p:nvPr>
        </p:nvSpPr>
        <p:spPr>
          <a:xfrm>
            <a:off x="525144" y="1188465"/>
            <a:ext cx="8093710" cy="2462213"/>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u="sng">
                <a:solidFill>
                  <a:schemeClr val="hlink"/>
                </a:solidFill>
                <a:hlinkClick r:id="rId3"/>
              </a:rPr>
              <a:t>https://pdos.csail.mit.edu/6.828/2011/readings/i386/s05_02.htm</a:t>
            </a:r>
            <a:endParaRPr/>
          </a:p>
          <a:p>
            <a:pPr indent="0" lvl="0" marL="0" rtl="0" algn="l">
              <a:spcBef>
                <a:spcPts val="0"/>
              </a:spcBef>
              <a:spcAft>
                <a:spcPts val="0"/>
              </a:spcAft>
              <a:buNone/>
            </a:pPr>
            <a:r>
              <a:rPr lang="en-US" u="sng">
                <a:solidFill>
                  <a:schemeClr val="hlink"/>
                </a:solidFill>
                <a:hlinkClick r:id="rId4"/>
              </a:rPr>
              <a:t>https://www.slideserve.com/ayasha/memory-management</a:t>
            </a:r>
            <a:endParaRPr/>
          </a:p>
          <a:p>
            <a:pPr indent="0" lvl="0" marL="0" rtl="0" algn="l">
              <a:spcBef>
                <a:spcPts val="0"/>
              </a:spcBef>
              <a:spcAft>
                <a:spcPts val="0"/>
              </a:spcAft>
              <a:buNone/>
            </a:pPr>
            <a:r>
              <a:rPr lang="en-US" u="sng">
                <a:solidFill>
                  <a:schemeClr val="hlink"/>
                </a:solidFill>
                <a:hlinkClick r:id="rId5"/>
              </a:rPr>
              <a:t>https://tildesites.bowdoin.edu/~allen/courses/cs220/lab7/notes.html#:~:text=Direct%20Mapping&amp;text=The%20%22Tag%22%20field%20of%20the,with%20the%20desired%20memory%20line</a:t>
            </a:r>
            <a:r>
              <a:rPr lang="en-US"/>
              <a:t>.</a:t>
            </a:r>
            <a:endParaRPr/>
          </a:p>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2023-09-15T10:13:44Z</dcterms:created>
  <dc:creator>Adrian J Pullin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2022-11-11T00:00:00Z</vt:filetime>
  </property>
  <property fmtid="{D5CDD505-2E9C-101B-9397-08002B2CF9AE}" pid="3" name="Creator">
    <vt:lpwstr>Microsoft® PowerPoint® 2010</vt:lpwstr>
  </property>
  <property fmtid="{D5CDD505-2E9C-101B-9397-08002B2CF9AE}" pid="4" name="LastSaved">
    <vt:filetime>2023-09-15T00:00:00Z</vt:filetime>
  </property>
</Properties>
</file>