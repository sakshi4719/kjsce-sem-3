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68580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46" roundtripDataSignature="AMtx7mhuiOmA6zJJDnkbFZLVIhvHVNsi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customschemas.google.com/relationships/presentationmetadata" Target="metadata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4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2"/>
          <p:cNvSpPr txBox="1"/>
          <p:nvPr>
            <p:ph type="ctrTitle"/>
          </p:nvPr>
        </p:nvSpPr>
        <p:spPr>
          <a:xfrm>
            <a:off x="2146045" y="1601799"/>
            <a:ext cx="4852670" cy="2464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2"/>
          <p:cNvSpPr txBox="1"/>
          <p:nvPr>
            <p:ph idx="1" type="subTitle"/>
          </p:nvPr>
        </p:nvSpPr>
        <p:spPr>
          <a:xfrm>
            <a:off x="3035045" y="3797270"/>
            <a:ext cx="3075940" cy="11963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2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2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2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3"/>
          <p:cNvSpPr txBox="1"/>
          <p:nvPr>
            <p:ph type="title"/>
          </p:nvPr>
        </p:nvSpPr>
        <p:spPr>
          <a:xfrm>
            <a:off x="632815" y="126314"/>
            <a:ext cx="7878368" cy="1367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3"/>
          <p:cNvSpPr txBox="1"/>
          <p:nvPr>
            <p:ph idx="1" type="body"/>
          </p:nvPr>
        </p:nvSpPr>
        <p:spPr>
          <a:xfrm>
            <a:off x="535940" y="1958162"/>
            <a:ext cx="8072119" cy="429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3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3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3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4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4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4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5"/>
          <p:cNvSpPr txBox="1"/>
          <p:nvPr>
            <p:ph type="title"/>
          </p:nvPr>
        </p:nvSpPr>
        <p:spPr>
          <a:xfrm>
            <a:off x="632815" y="126314"/>
            <a:ext cx="7878368" cy="1367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5"/>
          <p:cNvSpPr txBox="1"/>
          <p:nvPr>
            <p:ph idx="1" type="body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5"/>
          <p:cNvSpPr txBox="1"/>
          <p:nvPr>
            <p:ph idx="2" type="body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5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5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5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36809" y="2008353"/>
            <a:ext cx="4654318" cy="326940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6"/>
          <p:cNvSpPr txBox="1"/>
          <p:nvPr>
            <p:ph type="title"/>
          </p:nvPr>
        </p:nvSpPr>
        <p:spPr>
          <a:xfrm>
            <a:off x="632815" y="126314"/>
            <a:ext cx="7878368" cy="1367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6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6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6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1"/>
          <p:cNvSpPr txBox="1"/>
          <p:nvPr>
            <p:ph type="title"/>
          </p:nvPr>
        </p:nvSpPr>
        <p:spPr>
          <a:xfrm>
            <a:off x="632815" y="126314"/>
            <a:ext cx="7878368" cy="1367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1"/>
          <p:cNvSpPr txBox="1"/>
          <p:nvPr>
            <p:ph idx="1" type="body"/>
          </p:nvPr>
        </p:nvSpPr>
        <p:spPr>
          <a:xfrm>
            <a:off x="535940" y="1958162"/>
            <a:ext cx="8072119" cy="429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1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1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1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techtarget.com/whatis/definition/pipelining#:~:text=With%20pipelining%2C%20the%20next%20instructions,for%20each%20instruction%20is%20performed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/>
          <p:cNvSpPr txBox="1"/>
          <p:nvPr>
            <p:ph type="ctrTitle"/>
          </p:nvPr>
        </p:nvSpPr>
        <p:spPr>
          <a:xfrm>
            <a:off x="1600200" y="838200"/>
            <a:ext cx="6172200" cy="2464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270" lvl="0" marL="25400" marR="177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William Stallings  Computer Organization  and Architecture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/>
              <a:t>8</a:t>
            </a:r>
            <a:r>
              <a:rPr baseline="30000" lang="en-US" sz="3975"/>
              <a:t>th </a:t>
            </a:r>
            <a:r>
              <a:rPr lang="en-US" sz="4000"/>
              <a:t>Edition</a:t>
            </a:r>
            <a:endParaRPr sz="4000"/>
          </a:p>
        </p:txBody>
      </p:sp>
      <p:sp>
        <p:nvSpPr>
          <p:cNvPr id="45" name="Google Shape;45;p1"/>
          <p:cNvSpPr txBox="1"/>
          <p:nvPr>
            <p:ph idx="1" type="subTitle"/>
          </p:nvPr>
        </p:nvSpPr>
        <p:spPr>
          <a:xfrm>
            <a:off x="3035045" y="3797270"/>
            <a:ext cx="3075940" cy="11963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615315" lvl="0" marL="12700" marR="5080" rtl="0" algn="l">
              <a:lnSpc>
                <a:spcPct val="120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17  Parallel Processing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/>
          <p:cNvSpPr txBox="1"/>
          <p:nvPr>
            <p:ph type="title"/>
          </p:nvPr>
        </p:nvSpPr>
        <p:spPr>
          <a:xfrm>
            <a:off x="632815" y="126314"/>
            <a:ext cx="7878368" cy="1367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 txBox="1"/>
          <p:nvPr>
            <p:ph idx="1" type="body"/>
          </p:nvPr>
        </p:nvSpPr>
        <p:spPr>
          <a:xfrm>
            <a:off x="535940" y="1958162"/>
            <a:ext cx="8072119" cy="429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" name="Google Shape;52;p2"/>
          <p:cNvPicPr preferRelativeResize="0"/>
          <p:nvPr/>
        </p:nvPicPr>
        <p:blipFill rotWithShape="1">
          <a:blip r:embed="rId3">
            <a:alphaModFix/>
          </a:blip>
          <a:srcRect b="0" l="0" r="0" t="30083"/>
          <a:stretch/>
        </p:blipFill>
        <p:spPr>
          <a:xfrm>
            <a:off x="533400" y="2286000"/>
            <a:ext cx="7899400" cy="2575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3"/>
          <p:cNvGrpSpPr/>
          <p:nvPr/>
        </p:nvGrpSpPr>
        <p:grpSpPr>
          <a:xfrm>
            <a:off x="173037" y="254000"/>
            <a:ext cx="8869680" cy="4910455"/>
            <a:chOff x="173037" y="254000"/>
            <a:chExt cx="8869680" cy="4910455"/>
          </a:xfrm>
        </p:grpSpPr>
        <p:sp>
          <p:nvSpPr>
            <p:cNvPr id="58" name="Google Shape;58;p3"/>
            <p:cNvSpPr/>
            <p:nvPr/>
          </p:nvSpPr>
          <p:spPr>
            <a:xfrm>
              <a:off x="179387" y="260349"/>
              <a:ext cx="8856980" cy="4897755"/>
            </a:xfrm>
            <a:custGeom>
              <a:rect b="b" l="l" r="r" t="t"/>
              <a:pathLst>
                <a:path extrusionOk="0" h="4897755" w="8856980">
                  <a:moveTo>
                    <a:pt x="8856599" y="0"/>
                  </a:moveTo>
                  <a:lnTo>
                    <a:pt x="0" y="0"/>
                  </a:lnTo>
                  <a:lnTo>
                    <a:pt x="0" y="703453"/>
                  </a:lnTo>
                  <a:lnTo>
                    <a:pt x="0" y="703580"/>
                  </a:lnTo>
                  <a:lnTo>
                    <a:pt x="0" y="4897374"/>
                  </a:lnTo>
                  <a:lnTo>
                    <a:pt x="8856599" y="4897374"/>
                  </a:lnTo>
                  <a:lnTo>
                    <a:pt x="8856599" y="703580"/>
                  </a:lnTo>
                  <a:lnTo>
                    <a:pt x="8856599" y="703453"/>
                  </a:lnTo>
                  <a:lnTo>
                    <a:pt x="8856599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173037" y="944880"/>
              <a:ext cx="8869680" cy="38100"/>
            </a:xfrm>
            <a:custGeom>
              <a:rect b="b" l="l" r="r" t="t"/>
              <a:pathLst>
                <a:path extrusionOk="0" h="38100" w="8869680">
                  <a:moveTo>
                    <a:pt x="0" y="38100"/>
                  </a:moveTo>
                  <a:lnTo>
                    <a:pt x="8869362" y="38100"/>
                  </a:lnTo>
                  <a:lnTo>
                    <a:pt x="8869362" y="0"/>
                  </a:lnTo>
                  <a:lnTo>
                    <a:pt x="0" y="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173037" y="254000"/>
              <a:ext cx="8869680" cy="4910455"/>
            </a:xfrm>
            <a:custGeom>
              <a:rect b="b" l="l" r="r" t="t"/>
              <a:pathLst>
                <a:path extrusionOk="0" h="4910455" w="8869680">
                  <a:moveTo>
                    <a:pt x="6350" y="0"/>
                  </a:moveTo>
                  <a:lnTo>
                    <a:pt x="6350" y="4910074"/>
                  </a:lnTo>
                </a:path>
                <a:path extrusionOk="0" h="4910455" w="8869680">
                  <a:moveTo>
                    <a:pt x="8863012" y="0"/>
                  </a:moveTo>
                  <a:lnTo>
                    <a:pt x="8863012" y="4910074"/>
                  </a:lnTo>
                </a:path>
                <a:path extrusionOk="0" h="4910455" w="8869680">
                  <a:moveTo>
                    <a:pt x="0" y="6350"/>
                  </a:moveTo>
                  <a:lnTo>
                    <a:pt x="8869362" y="6350"/>
                  </a:lnTo>
                </a:path>
                <a:path extrusionOk="0" h="4910455" w="8869680">
                  <a:moveTo>
                    <a:pt x="0" y="4903724"/>
                  </a:moveTo>
                  <a:lnTo>
                    <a:pt x="8869362" y="4903724"/>
                  </a:lnTo>
                </a:path>
              </a:pathLst>
            </a:cu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" name="Google Shape;61;p3"/>
          <p:cNvSpPr txBox="1"/>
          <p:nvPr>
            <p:ph type="title"/>
          </p:nvPr>
        </p:nvSpPr>
        <p:spPr>
          <a:xfrm>
            <a:off x="235407" y="264363"/>
            <a:ext cx="5770880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Multiprocessor Configurations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235407" y="862308"/>
            <a:ext cx="7473315" cy="3867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6675">
            <a:spAutoFit/>
          </a:bodyPr>
          <a:lstStyle/>
          <a:p>
            <a:pPr indent="-515619" lvl="0" marL="5276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AutoNum type="arabicPeriod"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Flynn’s classification,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5619" lvl="0" marL="527685" marR="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AutoNum type="arabicPeriod"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Parallel processing concepts,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5619" lvl="0" marL="527685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AutoNum type="arabicPeriod"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 to pipeline processing and pipeline  hazards,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5619" lvl="0" marL="527685" marR="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AutoNum type="arabicPeriod"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design issues of pipeline architecture,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96265" lvl="0" marL="608330" marR="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AutoNum type="arabicPeriod"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Instruction pipelining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"/>
          <p:cNvSpPr txBox="1"/>
          <p:nvPr>
            <p:ph type="title"/>
          </p:nvPr>
        </p:nvSpPr>
        <p:spPr>
          <a:xfrm>
            <a:off x="1346072" y="461594"/>
            <a:ext cx="645477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Parallel Processing Concepts</a:t>
            </a:r>
            <a:endParaRPr/>
          </a:p>
        </p:txBody>
      </p:sp>
      <p:sp>
        <p:nvSpPr>
          <p:cNvPr id="68" name="Google Shape;68;p4"/>
          <p:cNvSpPr txBox="1"/>
          <p:nvPr/>
        </p:nvSpPr>
        <p:spPr>
          <a:xfrm>
            <a:off x="535940" y="1607642"/>
            <a:ext cx="7826375" cy="4194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3535" lvl="0" marL="355600" marR="115887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Executing multiple tasks concurrently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535" lvl="0" marL="355600" marR="1158875" rtl="0" algn="just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fulfil increasing demands for 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  performance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535" lvl="0" marL="355600" marR="8255" rtl="0" algn="just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to process data concurrently to achieve  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throughput</a:t>
            </a:r>
            <a:endParaRPr sz="24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535" lvl="0" marL="355600" marR="8255" rtl="0" algn="just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capable of concurrent data processing to achieve faster execution times.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535" lvl="0" marL="355600" marR="0" rtl="0" algn="just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Parallelism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just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functional units-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several ALU’s</a:t>
            </a:r>
            <a:endParaRPr b="0" i="0" sz="2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5080" rtl="0" algn="just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processors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-several processors operating  concurrently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/>
          <p:cNvSpPr txBox="1"/>
          <p:nvPr>
            <p:ph type="title"/>
          </p:nvPr>
        </p:nvSpPr>
        <p:spPr>
          <a:xfrm>
            <a:off x="579832" y="152400"/>
            <a:ext cx="7878368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 txBox="1"/>
          <p:nvPr>
            <p:ph idx="1" type="body"/>
          </p:nvPr>
        </p:nvSpPr>
        <p:spPr>
          <a:xfrm>
            <a:off x="533400" y="762000"/>
            <a:ext cx="8072119" cy="429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1600200"/>
            <a:ext cx="5581650" cy="372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"/>
          <p:cNvSpPr txBox="1"/>
          <p:nvPr/>
        </p:nvSpPr>
        <p:spPr>
          <a:xfrm>
            <a:off x="1143000" y="5410200"/>
            <a:ext cx="7315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these units will work concurrently and produce the required output.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 txBox="1"/>
          <p:nvPr>
            <p:ph type="title"/>
          </p:nvPr>
        </p:nvSpPr>
        <p:spPr>
          <a:xfrm>
            <a:off x="762000" y="461594"/>
            <a:ext cx="7467600" cy="998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Flynn’s Classification-Types of Parallel Processor Systems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6"/>
          <p:cNvSpPr txBox="1"/>
          <p:nvPr/>
        </p:nvSpPr>
        <p:spPr>
          <a:xfrm>
            <a:off x="535940" y="1507044"/>
            <a:ext cx="7846060" cy="368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3650">
            <a:spAutoFit/>
          </a:bodyPr>
          <a:lstStyle/>
          <a:p>
            <a:pPr indent="-343535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Based on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Internal organization of processors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1" marL="469900" marR="2242185" rtl="0" algn="l">
              <a:lnSpc>
                <a:spcPct val="143892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Interconnection Structures 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Stream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900" marR="67310" rtl="0" algn="l">
              <a:lnSpc>
                <a:spcPct val="143892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from main memory to processor 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900" marR="67310" rtl="0" algn="l">
              <a:lnSpc>
                <a:spcPct val="143892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Stream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Operands flowing to and from the processor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 txBox="1"/>
          <p:nvPr>
            <p:ph type="title"/>
          </p:nvPr>
        </p:nvSpPr>
        <p:spPr>
          <a:xfrm>
            <a:off x="1371600" y="381000"/>
            <a:ext cx="6611620" cy="12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FLYNN’s CLASSIFICATION</a:t>
            </a:r>
            <a:endParaRPr sz="4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Multiple Processor Organization</a:t>
            </a:r>
            <a:endParaRPr sz="4000"/>
          </a:p>
        </p:txBody>
      </p:sp>
      <p:sp>
        <p:nvSpPr>
          <p:cNvPr id="88" name="Google Shape;88;p7"/>
          <p:cNvSpPr txBox="1"/>
          <p:nvPr/>
        </p:nvSpPr>
        <p:spPr>
          <a:xfrm>
            <a:off x="457200" y="1981200"/>
            <a:ext cx="8035290" cy="2636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3535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instruction, single data stream -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SISD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535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instruction, multiple data stream -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535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instruction, single data stream -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535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instruction, multiple data stream-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MIMD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"/>
          <p:cNvSpPr txBox="1"/>
          <p:nvPr>
            <p:ph type="title"/>
          </p:nvPr>
        </p:nvSpPr>
        <p:spPr>
          <a:xfrm>
            <a:off x="632815" y="126314"/>
            <a:ext cx="7878368" cy="1367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8"/>
          <p:cNvSpPr txBox="1"/>
          <p:nvPr>
            <p:ph idx="1" type="body"/>
          </p:nvPr>
        </p:nvSpPr>
        <p:spPr>
          <a:xfrm>
            <a:off x="535940" y="1958162"/>
            <a:ext cx="8072119" cy="429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3850" y="1631950"/>
            <a:ext cx="5956300" cy="359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"/>
          <p:cNvSpPr txBox="1"/>
          <p:nvPr>
            <p:ph type="title"/>
          </p:nvPr>
        </p:nvSpPr>
        <p:spPr>
          <a:xfrm>
            <a:off x="571601" y="191846"/>
            <a:ext cx="8001000" cy="12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535679" lvl="0" marL="354774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Single Instruction, Single Data Stream -  SISD</a:t>
            </a:r>
            <a:endParaRPr sz="4000"/>
          </a:p>
        </p:txBody>
      </p:sp>
      <p:sp>
        <p:nvSpPr>
          <p:cNvPr id="101" name="Google Shape;101;p9"/>
          <p:cNvSpPr txBox="1"/>
          <p:nvPr/>
        </p:nvSpPr>
        <p:spPr>
          <a:xfrm>
            <a:off x="535940" y="1510703"/>
            <a:ext cx="8150860" cy="3374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475">
            <a:spAutoFit/>
          </a:bodyPr>
          <a:lstStyle/>
          <a:p>
            <a:pPr indent="-343535" lvl="0" marL="355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single processor executes a single instruction stream to operate on data stored in a single memory</a:t>
            </a:r>
            <a:endParaRPr/>
          </a:p>
          <a:p>
            <a:pPr indent="-343535" lvl="0" marL="355600" marR="0" rtl="0" algn="just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Uni-processor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535" lvl="0" marL="355600" marR="0" rtl="0" algn="just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"PU" (processing unit) does not necessarily correspond to a processor, just some functional unit that can perform processing.</a:t>
            </a:r>
            <a:endParaRPr/>
          </a:p>
          <a:p>
            <a:pPr indent="-343535" lvl="0" marL="355600" marR="0" rtl="0" algn="just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PU's are indicated as such to show relationship between instructions, data, and the processing of the data.</a:t>
            </a:r>
            <a:endParaRPr i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8856" y="580858"/>
            <a:ext cx="6238512" cy="6249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 txBox="1"/>
          <p:nvPr>
            <p:ph type="title"/>
          </p:nvPr>
        </p:nvSpPr>
        <p:spPr>
          <a:xfrm>
            <a:off x="632815" y="126314"/>
            <a:ext cx="7878368" cy="1367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7575">
            <a:spAutoFit/>
          </a:bodyPr>
          <a:lstStyle/>
          <a:p>
            <a:pPr indent="-1830704" lvl="0" marL="245364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Single Instruction, Multiple Data  Stream - SIMD</a:t>
            </a:r>
            <a:endParaRPr sz="4000"/>
          </a:p>
        </p:txBody>
      </p:sp>
      <p:sp>
        <p:nvSpPr>
          <p:cNvPr id="112" name="Google Shape;112;p11"/>
          <p:cNvSpPr txBox="1"/>
          <p:nvPr/>
        </p:nvSpPr>
        <p:spPr>
          <a:xfrm>
            <a:off x="535940" y="1510703"/>
            <a:ext cx="7757159" cy="25583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475">
            <a:spAutoFit/>
          </a:bodyPr>
          <a:lstStyle/>
          <a:p>
            <a:pPr indent="-343535" lvl="0" marL="355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single machine instruction controls the simultaneous execution of a number of processing elements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535" lvl="0" marL="355600" marR="0" rtl="0" algn="just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processing element has an associated data memory, so that each instruction is executed on a different set of data by the different processors.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535" lvl="0" marL="355600" marR="0" rtl="0" algn="just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 and array processors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1431" y="752016"/>
            <a:ext cx="5764535" cy="5715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>
            <p:ph type="title"/>
          </p:nvPr>
        </p:nvSpPr>
        <p:spPr>
          <a:xfrm>
            <a:off x="632815" y="126314"/>
            <a:ext cx="7878368" cy="1367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7575">
            <a:spAutoFit/>
          </a:bodyPr>
          <a:lstStyle/>
          <a:p>
            <a:pPr indent="-1830704" lvl="0" marL="245364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Multiple Instruction, Single Data  Stream - MISD</a:t>
            </a:r>
            <a:endParaRPr sz="4000"/>
          </a:p>
        </p:txBody>
      </p:sp>
      <p:sp>
        <p:nvSpPr>
          <p:cNvPr id="123" name="Google Shape;123;p13"/>
          <p:cNvSpPr txBox="1"/>
          <p:nvPr/>
        </p:nvSpPr>
        <p:spPr>
          <a:xfrm>
            <a:off x="535940" y="1510703"/>
            <a:ext cx="8379460" cy="2189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475">
            <a:spAutoFit/>
          </a:bodyPr>
          <a:lstStyle/>
          <a:p>
            <a:pPr indent="-343535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sequence of data is transmitted to a set of processors, each of which executes a different instruction sequence.</a:t>
            </a:r>
            <a:endParaRPr/>
          </a:p>
          <a:p>
            <a:pPr indent="-343535" lvl="0" marL="355600" marR="0" rtl="0" algn="l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processing unit operates on the data independently via separate instruction stream.</a:t>
            </a:r>
            <a:endParaRPr/>
          </a:p>
          <a:p>
            <a:pPr indent="-343535" lvl="0" marL="355600" marR="0" rtl="0" algn="l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structure is not commercially implemented.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8545" y="490280"/>
            <a:ext cx="6334277" cy="6312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"/>
          <p:cNvSpPr txBox="1"/>
          <p:nvPr>
            <p:ph type="title"/>
          </p:nvPr>
        </p:nvSpPr>
        <p:spPr>
          <a:xfrm>
            <a:off x="986434" y="191846"/>
            <a:ext cx="7169784" cy="12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045970" lvl="0" marL="205803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Multiple Instruction, Multiple Data  Stream- MIMD</a:t>
            </a:r>
            <a:endParaRPr sz="4000"/>
          </a:p>
        </p:txBody>
      </p:sp>
      <p:sp>
        <p:nvSpPr>
          <p:cNvPr id="134" name="Google Shape;134;p15"/>
          <p:cNvSpPr txBox="1"/>
          <p:nvPr/>
        </p:nvSpPr>
        <p:spPr>
          <a:xfrm>
            <a:off x="535940" y="1510703"/>
            <a:ext cx="7658100" cy="4215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475">
            <a:spAutoFit/>
          </a:bodyPr>
          <a:lstStyle/>
          <a:p>
            <a:pPr indent="-343535" lvl="0" marL="355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of processors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535" lvl="0" marL="355600" marR="5080" rtl="0" algn="just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Simultaneously execute different instruction  sequences on different sets of data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535" lvl="0" marL="355600" marR="0" rtl="0" algn="just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SMPs, NUMA systems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535" lvl="1" marL="812800" marR="0" rtl="0" algn="just">
              <a:spcBef>
                <a:spcPts val="77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SMP-Symmetric multiprocessing--multiple identical processors are interconnected to a single shared main memory, 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535" lvl="1" marL="812800" marR="0" rtl="0" algn="just">
              <a:spcBef>
                <a:spcPts val="77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Non-Uniform Memory Access-configuring a cluster of microprocessors in a multiprocessing system so they can share memory locally.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3685" y="746010"/>
            <a:ext cx="5234647" cy="5591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 txBox="1"/>
          <p:nvPr>
            <p:ph type="title"/>
          </p:nvPr>
        </p:nvSpPr>
        <p:spPr>
          <a:xfrm>
            <a:off x="632815" y="126314"/>
            <a:ext cx="7878368" cy="1367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 txBox="1"/>
          <p:nvPr>
            <p:ph idx="1" type="body"/>
          </p:nvPr>
        </p:nvSpPr>
        <p:spPr>
          <a:xfrm>
            <a:off x="535940" y="1958162"/>
            <a:ext cx="8072119" cy="429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6000" y="1254125"/>
            <a:ext cx="7112000" cy="434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"/>
          <p:cNvSpPr txBox="1"/>
          <p:nvPr>
            <p:ph type="title"/>
          </p:nvPr>
        </p:nvSpPr>
        <p:spPr>
          <a:xfrm>
            <a:off x="632815" y="126314"/>
            <a:ext cx="7878368" cy="998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1605279" lvl="0" marL="1627504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Introduction to pipeline processing  and pipeline hazards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457200" y="1219200"/>
            <a:ext cx="8456400" cy="51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3535" lvl="0" marL="355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Pipelining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Temporal overlapping of processing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535" lvl="0" marL="355600" marR="6985" rtl="0" algn="just">
              <a:lnSpc>
                <a:spcPct val="150100"/>
              </a:lnSpc>
              <a:spcBef>
                <a:spcPts val="76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Subdivide input task (process) into a sequence  of subtasks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535" lvl="0" marL="355600" marR="5080" rtl="0" algn="just">
              <a:lnSpc>
                <a:spcPct val="150000"/>
              </a:lnSpc>
              <a:spcBef>
                <a:spcPts val="77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executed by 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specialized hardware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 operates concurrently with other stages of  pipeline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535" lvl="0" marL="355600" marR="5080" rtl="0" algn="just">
              <a:lnSpc>
                <a:spcPct val="150000"/>
              </a:lnSpc>
              <a:spcBef>
                <a:spcPts val="77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Improvement of system throughput</a:t>
            </a:r>
            <a:endParaRPr/>
          </a:p>
          <a:p>
            <a:pPr indent="-343535" lvl="0" marL="355600" marR="5080" rtl="0" algn="just">
              <a:lnSpc>
                <a:spcPct val="150000"/>
              </a:lnSpc>
              <a:spcBef>
                <a:spcPts val="77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Pipelining, specialized hardware stages are also known as 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segments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,.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/>
          <p:nvPr>
            <p:ph type="title"/>
          </p:nvPr>
        </p:nvSpPr>
        <p:spPr>
          <a:xfrm>
            <a:off x="457200" y="304800"/>
            <a:ext cx="7878368" cy="5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9"/>
          <p:cNvSpPr txBox="1"/>
          <p:nvPr>
            <p:ph idx="1" type="body"/>
          </p:nvPr>
        </p:nvSpPr>
        <p:spPr>
          <a:xfrm>
            <a:off x="533400" y="1066800"/>
            <a:ext cx="8072119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5750" lvl="0" marL="2857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linearly connected to perform a fixed function over a stream of data flowing from one end to the other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processor supporting such a hardware architecture computation is known as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pipeline processor.</a:t>
            </a:r>
            <a:endParaRPr/>
          </a:p>
          <a:p>
            <a:pPr indent="-1714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59" name="Google Shape;15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2514600"/>
            <a:ext cx="686435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685800" y="5486400"/>
            <a:ext cx="770255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Pipeline processors are constructed with k processing stages. Data inputs such as operands are fed into the pipeline at the first stage S1. The processed results are passed from stage Si to stage Si+1, for all i = 1, 2, 3… k-1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type="title"/>
          </p:nvPr>
        </p:nvSpPr>
        <p:spPr>
          <a:xfrm>
            <a:off x="762000" y="228600"/>
            <a:ext cx="78783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0"/>
          <p:cNvSpPr txBox="1"/>
          <p:nvPr>
            <p:ph idx="1" type="body"/>
          </p:nvPr>
        </p:nvSpPr>
        <p:spPr>
          <a:xfrm>
            <a:off x="762001" y="990601"/>
            <a:ext cx="56388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066800"/>
            <a:ext cx="512445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6719" y="4191000"/>
            <a:ext cx="5035550" cy="231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/>
          <p:nvPr/>
        </p:nvSpPr>
        <p:spPr>
          <a:xfrm>
            <a:off x="78739" y="357886"/>
            <a:ext cx="8651240" cy="639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900" lvl="0" marL="355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Pipelining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allows the next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instructions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be fetched while the processor is performing arithmetic  operations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55600" marR="388620" rtl="0" algn="just">
              <a:lnSpc>
                <a:spcPct val="150000"/>
              </a:lnSpc>
              <a:spcBef>
                <a:spcPts val="77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Holds them in a buffer close to the processor until  each </a:t>
            </a: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 can be performed.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55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staging of </a:t>
            </a: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fetching is continuous.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55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each task is subdivided into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successive subtasks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55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pipeline phase is defined for each subtask to execute its operations.</a:t>
            </a:r>
            <a:endParaRPr/>
          </a:p>
          <a:p>
            <a:pPr indent="-342900" lvl="0" marL="355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process continues until the processor has executed all the instructions and all subtasks are completed.</a:t>
            </a:r>
            <a:endParaRPr/>
          </a:p>
          <a:p>
            <a:pPr indent="-190500" lvl="0" marL="355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55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https://www.techtarget.com/whatis/definition/pipelining#:~:text=With%20pipelining%2C%20the%20next%20instructions,for%20each%20instruction%20is%20performed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0" marL="355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Merits &amp; demerits</a:t>
            </a:r>
            <a:endParaRPr/>
          </a:p>
          <a:p>
            <a:pPr indent="-190500" lvl="0" marL="355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/>
          <p:nvPr>
            <p:ph type="title"/>
          </p:nvPr>
        </p:nvSpPr>
        <p:spPr>
          <a:xfrm>
            <a:off x="533400" y="304800"/>
            <a:ext cx="7878368" cy="635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2"/>
          <p:cNvSpPr txBox="1"/>
          <p:nvPr>
            <p:ph idx="1" type="body"/>
          </p:nvPr>
        </p:nvSpPr>
        <p:spPr>
          <a:xfrm>
            <a:off x="535940" y="1066800"/>
            <a:ext cx="8072119" cy="5539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There are two types of pipelining: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Arithmetic pipelining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Instruction pipelining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Arithmetic pipelining-The integer arithmetic and floating point arithmetic) are performed by 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separate units to introduce parallelism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 These units perform scalar operations involving one pair of operands at a time.</a:t>
            </a:r>
            <a:endParaRPr/>
          </a:p>
          <a:p>
            <a:pPr indent="-1905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Instruction pipelining- subcycles of instruction are performed simultaneously to reduce overall processing time-instruction pipelining. </a:t>
            </a:r>
            <a:endParaRPr/>
          </a:p>
          <a:p>
            <a:pPr indent="-1905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3350" lvl="0" marL="2857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/>
          <p:nvPr>
            <p:ph type="title"/>
          </p:nvPr>
        </p:nvSpPr>
        <p:spPr>
          <a:xfrm>
            <a:off x="632815" y="126314"/>
            <a:ext cx="7878368" cy="559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3"/>
          <p:cNvSpPr txBox="1"/>
          <p:nvPr>
            <p:ph idx="1" type="body"/>
          </p:nvPr>
        </p:nvSpPr>
        <p:spPr>
          <a:xfrm>
            <a:off x="533400" y="1066800"/>
            <a:ext cx="8072119" cy="48013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5750" lvl="0" marL="2857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As the instruction process is divided into four stages so it is also known as Four Stage Instruction Pipeline.</a:t>
            </a:r>
            <a:endParaRPr/>
          </a:p>
          <a:p>
            <a:pPr indent="-133350" lvl="0" marL="2857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Fetch: read the instruction from the memory.</a:t>
            </a:r>
            <a:endParaRPr/>
          </a:p>
          <a:p>
            <a:pPr indent="-285750" lvl="0" marL="2857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Decode: decode the opcode and fetch source operand if necessary.</a:t>
            </a:r>
            <a:endParaRPr/>
          </a:p>
          <a:p>
            <a:pPr indent="-285750" lvl="0" marL="2857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Execute: Perform the operation specified by the instruction.</a:t>
            </a:r>
            <a:endParaRPr/>
          </a:p>
          <a:p>
            <a:pPr indent="-285750" lvl="0" marL="2857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Store: store the result in the destination.</a:t>
            </a:r>
            <a:endParaRPr/>
          </a:p>
          <a:p>
            <a:pPr indent="-133350" lvl="0" marL="2857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four distinct hardware units are needed- capable of performing their tasks simultaneously and without interfering with one another. Information from one stage is passed to the next stage with the help of the buffers.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 txBox="1"/>
          <p:nvPr>
            <p:ph type="title"/>
          </p:nvPr>
        </p:nvSpPr>
        <p:spPr>
          <a:xfrm>
            <a:off x="533400" y="381000"/>
            <a:ext cx="787836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INSTRUCTION PIPELINING</a:t>
            </a:r>
            <a:endParaRPr/>
          </a:p>
        </p:txBody>
      </p:sp>
      <p:sp>
        <p:nvSpPr>
          <p:cNvPr id="191" name="Google Shape;191;p24"/>
          <p:cNvSpPr txBox="1"/>
          <p:nvPr>
            <p:ph idx="1" type="body"/>
          </p:nvPr>
        </p:nvSpPr>
        <p:spPr>
          <a:xfrm>
            <a:off x="609600" y="1066800"/>
            <a:ext cx="8072119" cy="4001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5750" lvl="0" marL="2857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New inputs are accepted at one end before previously accepted inputs appear as outputs at the other end.</a:t>
            </a:r>
            <a:endParaRPr/>
          </a:p>
          <a:p>
            <a:pPr indent="-285750" lvl="0" marL="2857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first stage fetches an instruction and buffers it.</a:t>
            </a:r>
            <a:endParaRPr/>
          </a:p>
          <a:p>
            <a:pPr indent="-285750" lvl="0" marL="2857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When the second stage is free, the first stage passes it the buffered instruction.</a:t>
            </a:r>
            <a:endParaRPr/>
          </a:p>
          <a:p>
            <a:pPr indent="-285750" lvl="0" marL="2857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While the second stage is executing the instruction, the first stage takes advantage of any unused memory cycles to fetch and buffer the next instruction- </a:t>
            </a:r>
            <a:r>
              <a:rPr i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prefetch 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</a:t>
            </a:r>
            <a:r>
              <a:rPr i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fetch overlap</a:t>
            </a:r>
            <a:endParaRPr sz="24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3350" lvl="0" marL="2857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8750" lvl="0" marL="2857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2" name="Google Shape;19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4343400"/>
            <a:ext cx="56896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"/>
          <p:cNvSpPr txBox="1"/>
          <p:nvPr>
            <p:ph type="title"/>
          </p:nvPr>
        </p:nvSpPr>
        <p:spPr>
          <a:xfrm>
            <a:off x="533400" y="152400"/>
            <a:ext cx="7878368" cy="579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5"/>
          <p:cNvSpPr txBox="1"/>
          <p:nvPr>
            <p:ph idx="1" type="body"/>
          </p:nvPr>
        </p:nvSpPr>
        <p:spPr>
          <a:xfrm>
            <a:off x="457200" y="914400"/>
            <a:ext cx="8305800" cy="62786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This  requires more registers to store data between stages</a:t>
            </a:r>
            <a:endParaRPr/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If the fetch and execute stages were of equal duration, the instruction cycle time would be halved.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Doubling of execution rate is due to </a:t>
            </a:r>
            <a:endParaRPr/>
          </a:p>
          <a:p>
            <a:pPr indent="-1333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Execution will involve reading and storing operands and the performance of some operation (waiting for fetch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stage-more time for execution)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conditional branch instruction makes the address of the next instruction to be fetched unknown</a:t>
            </a:r>
            <a:endParaRPr/>
          </a:p>
          <a:p>
            <a:pPr indent="-133350" lvl="1" marL="74295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3350" lvl="1" marL="74295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To gain further speedup, the pipeline must have more stages</a:t>
            </a:r>
            <a:endParaRPr/>
          </a:p>
          <a:p>
            <a:pPr indent="-133350" lvl="1" marL="74295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33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304800"/>
            <a:ext cx="8077199" cy="5627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878" y="37913"/>
            <a:ext cx="8435559" cy="6748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 txBox="1"/>
          <p:nvPr>
            <p:ph type="title"/>
          </p:nvPr>
        </p:nvSpPr>
        <p:spPr>
          <a:xfrm>
            <a:off x="609600" y="381000"/>
            <a:ext cx="787836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Timing diagram for 6 stage  instruction pipeline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28"/>
          <p:cNvSpPr txBox="1"/>
          <p:nvPr>
            <p:ph idx="1" type="body"/>
          </p:nvPr>
        </p:nvSpPr>
        <p:spPr>
          <a:xfrm>
            <a:off x="1066800" y="5105400"/>
            <a:ext cx="753871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5" name="Google Shape;21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914400"/>
            <a:ext cx="7162800" cy="4084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 txBox="1"/>
          <p:nvPr>
            <p:ph type="title"/>
          </p:nvPr>
        </p:nvSpPr>
        <p:spPr>
          <a:xfrm>
            <a:off x="533400" y="228600"/>
            <a:ext cx="7878368" cy="655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9"/>
          <p:cNvSpPr txBox="1"/>
          <p:nvPr>
            <p:ph idx="1" type="body"/>
          </p:nvPr>
        </p:nvSpPr>
        <p:spPr>
          <a:xfrm>
            <a:off x="609600" y="990600"/>
            <a:ext cx="8072119" cy="4431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six-stage pipeline can reduce the execution time for 9 instructions from 54 time units to 14 time units.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timing is set up assuming that each instruction requires all six stages (a load instruction does not need the WO stage)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Also, the diagram assumes that all of the stages can be performed in parallel</a:t>
            </a:r>
            <a:endParaRPr/>
          </a:p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Assumes no memory conflicts-memory access can occur simultaneously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Fig 12.11-Conditional branch in Instruction pipelining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/>
          <p:nvPr>
            <p:ph type="title"/>
          </p:nvPr>
        </p:nvSpPr>
        <p:spPr>
          <a:xfrm>
            <a:off x="2715005" y="461594"/>
            <a:ext cx="371411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Pipeline hazards</a:t>
            </a:r>
            <a:endParaRPr/>
          </a:p>
        </p:txBody>
      </p:sp>
      <p:sp>
        <p:nvSpPr>
          <p:cNvPr id="227" name="Google Shape;227;p30"/>
          <p:cNvSpPr txBox="1"/>
          <p:nvPr/>
        </p:nvSpPr>
        <p:spPr>
          <a:xfrm>
            <a:off x="535940" y="1295400"/>
            <a:ext cx="7776209" cy="4827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3535" lvl="0" marL="355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reason that causes the pipeline to stall is called hazard or conflict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pipeline hazard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occurs when the pipeline, or some portion of the pipeline, must stall because conditions do not permit continued execution-</a:t>
            </a:r>
            <a:r>
              <a:rPr b="1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pipeline bubble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535" lvl="0" marL="355600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 usage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55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inter instruction dependencies)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27685" lvl="0" marL="5397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Job scheduling problems (where different tasks get executed at pre-determined time or when the right event happens.)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/>
          <p:cNvSpPr txBox="1"/>
          <p:nvPr>
            <p:ph type="title"/>
          </p:nvPr>
        </p:nvSpPr>
        <p:spPr>
          <a:xfrm>
            <a:off x="2480310" y="461594"/>
            <a:ext cx="418528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types of Hazards</a:t>
            </a:r>
            <a:endParaRPr/>
          </a:p>
        </p:txBody>
      </p:sp>
      <p:sp>
        <p:nvSpPr>
          <p:cNvPr id="233" name="Google Shape;233;p31"/>
          <p:cNvSpPr txBox="1"/>
          <p:nvPr/>
        </p:nvSpPr>
        <p:spPr>
          <a:xfrm>
            <a:off x="474065" y="1443608"/>
            <a:ext cx="8147684" cy="5224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RESOURCE CONFLICTS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245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insufficient resources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258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or DATA DEPENDENCY	CONFLICTS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5080" rtl="0" algn="l">
              <a:lnSpc>
                <a:spcPct val="150000"/>
              </a:lnSpc>
              <a:spcBef>
                <a:spcPts val="77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 in pipeline depend on result of previous  instruction which still in pipeline yet to be  completed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972819" rtl="0" algn="l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BRANCH DIFFICULTIES-Contents of PC get  changed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2"/>
          <p:cNvSpPr txBox="1"/>
          <p:nvPr>
            <p:ph type="title"/>
          </p:nvPr>
        </p:nvSpPr>
        <p:spPr>
          <a:xfrm>
            <a:off x="2330957" y="461594"/>
            <a:ext cx="448246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RESOURCE HAZARD</a:t>
            </a:r>
            <a:endParaRPr/>
          </a:p>
        </p:txBody>
      </p:sp>
      <p:sp>
        <p:nvSpPr>
          <p:cNvPr id="239" name="Google Shape;239;p32"/>
          <p:cNvSpPr txBox="1"/>
          <p:nvPr/>
        </p:nvSpPr>
        <p:spPr>
          <a:xfrm>
            <a:off x="685800" y="1219200"/>
            <a:ext cx="7131050" cy="33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two (or more) instructions that are already in the pipeline need the same resource.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executed in serial rather than parallel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1135" lvl="0" marL="355600" marR="0" rtl="0" algn="just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535" lvl="0" marL="355600" marR="0" rtl="0" algn="just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Stalling pipeline causes 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Structural Hazard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535" lvl="0" marL="355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Commonly need Memory Access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Use separate cache for </a:t>
            </a:r>
            <a:r>
              <a:rPr b="1" lang="en-US" sz="2400">
                <a:solidFill>
                  <a:srgbClr val="006F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1" lang="en-US" sz="2400">
                <a:solidFill>
                  <a:srgbClr val="375F9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3"/>
          <p:cNvSpPr txBox="1"/>
          <p:nvPr>
            <p:ph type="title"/>
          </p:nvPr>
        </p:nvSpPr>
        <p:spPr>
          <a:xfrm>
            <a:off x="609600" y="304800"/>
            <a:ext cx="787836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Resource conflict</a:t>
            </a:r>
            <a:endParaRPr/>
          </a:p>
        </p:txBody>
      </p:sp>
      <p:sp>
        <p:nvSpPr>
          <p:cNvPr id="245" name="Google Shape;245;p33"/>
          <p:cNvSpPr txBox="1"/>
          <p:nvPr>
            <p:ph idx="1" type="body"/>
          </p:nvPr>
        </p:nvSpPr>
        <p:spPr>
          <a:xfrm>
            <a:off x="535941" y="1143000"/>
            <a:ext cx="4645660" cy="5105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6" name="Google Shape;24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0575" y="1587725"/>
            <a:ext cx="4216400" cy="42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3"/>
          <p:cNvSpPr txBox="1"/>
          <p:nvPr/>
        </p:nvSpPr>
        <p:spPr>
          <a:xfrm>
            <a:off x="5562600" y="1371600"/>
            <a:ext cx="2895600" cy="47089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a-each stage takes one clock cycle.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b- main memory has a single port and that all instruction fetches and data reads and writes must be performed one at a time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8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fetch instruction stage of the pipeline must idle for one cycle before beginning the instruction fetch for instruction I3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4"/>
          <p:cNvSpPr txBox="1"/>
          <p:nvPr>
            <p:ph type="title"/>
          </p:nvPr>
        </p:nvSpPr>
        <p:spPr>
          <a:xfrm>
            <a:off x="685800" y="685800"/>
            <a:ext cx="787836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Resource conflict</a:t>
            </a:r>
            <a:endParaRPr/>
          </a:p>
        </p:txBody>
      </p:sp>
      <p:sp>
        <p:nvSpPr>
          <p:cNvPr id="253" name="Google Shape;253;p34"/>
          <p:cNvSpPr txBox="1"/>
          <p:nvPr>
            <p:ph idx="1" type="body"/>
          </p:nvPr>
        </p:nvSpPr>
        <p:spPr>
          <a:xfrm>
            <a:off x="533400" y="2209800"/>
            <a:ext cx="8072119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5750" lvl="0" marL="2857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multiple instructions are ready to enter the execute instruction phase and there is a single ALU.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Solution- increase available resources, such as having multiple ports into main memory and multiple ALU units.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 txBox="1"/>
          <p:nvPr>
            <p:ph type="title"/>
          </p:nvPr>
        </p:nvSpPr>
        <p:spPr>
          <a:xfrm>
            <a:off x="609600" y="152400"/>
            <a:ext cx="787836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HAZARD</a:t>
            </a:r>
            <a:endParaRPr/>
          </a:p>
        </p:txBody>
      </p:sp>
      <p:sp>
        <p:nvSpPr>
          <p:cNvPr id="259" name="Google Shape;259;p35"/>
          <p:cNvSpPr txBox="1"/>
          <p:nvPr>
            <p:ph idx="1" type="body"/>
          </p:nvPr>
        </p:nvSpPr>
        <p:spPr>
          <a:xfrm>
            <a:off x="685800" y="1143000"/>
            <a:ext cx="8072119" cy="2954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5750" lvl="0" marL="2857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when there is a conflict in the access of an operand location.</a:t>
            </a:r>
            <a:endParaRPr/>
          </a:p>
          <a:p>
            <a:pPr indent="-285750" lvl="0" marL="2857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program produces an incorrect result because of the use of pipelining-</a:t>
            </a:r>
            <a:endParaRPr/>
          </a:p>
          <a:p>
            <a:pPr indent="-133350" lvl="0" marL="2857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3350" lvl="0" marL="2857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ADD EAX, EBX /* EAX = EAX + EBX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SUB ECX, EAX /* ECX = ECX - EAX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3350" lvl="0" marL="2857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0" name="Google Shape;26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600" y="4191000"/>
            <a:ext cx="4273550" cy="207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6"/>
          <p:cNvSpPr txBox="1"/>
          <p:nvPr>
            <p:ph type="title"/>
          </p:nvPr>
        </p:nvSpPr>
        <p:spPr>
          <a:xfrm>
            <a:off x="457200" y="304800"/>
            <a:ext cx="7878368" cy="732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6"/>
          <p:cNvSpPr txBox="1"/>
          <p:nvPr>
            <p:ph idx="1" type="body"/>
          </p:nvPr>
        </p:nvSpPr>
        <p:spPr>
          <a:xfrm>
            <a:off x="381000" y="1219200"/>
            <a:ext cx="8072119" cy="2215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ADD instruction does not update register EAX until the end of stage 5, which occurs at clock cycle 5.</a:t>
            </a:r>
            <a:endParaRPr/>
          </a:p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But the SUB instruction needs that value at the beginning of its stage 2, which occurs at clock cycle 4.</a:t>
            </a:r>
            <a:endParaRPr/>
          </a:p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To maintain correct operation, the pipeline must stall for two clocks cycles.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7"/>
          <p:cNvSpPr txBox="1"/>
          <p:nvPr>
            <p:ph type="title"/>
          </p:nvPr>
        </p:nvSpPr>
        <p:spPr>
          <a:xfrm>
            <a:off x="2960370" y="461594"/>
            <a:ext cx="322580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HAZARD</a:t>
            </a:r>
            <a:endParaRPr/>
          </a:p>
        </p:txBody>
      </p:sp>
      <p:sp>
        <p:nvSpPr>
          <p:cNvPr id="272" name="Google Shape;272;p37"/>
          <p:cNvSpPr txBox="1"/>
          <p:nvPr/>
        </p:nvSpPr>
        <p:spPr>
          <a:xfrm>
            <a:off x="887819" y="4876800"/>
            <a:ext cx="7516495" cy="1125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425">
            <a:spAutoFit/>
          </a:bodyPr>
          <a:lstStyle/>
          <a:p>
            <a:pPr indent="-287019" lvl="0" marL="756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2F9F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6F2F9F"/>
                </a:solidFill>
                <a:latin typeface="Calibri"/>
                <a:ea typeface="Calibri"/>
                <a:cs typeface="Calibri"/>
                <a:sym typeface="Calibri"/>
              </a:rPr>
              <a:t>RAR?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355600" marR="0" rtl="0" algn="l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Rearrange the pipeline- pipeline scheduling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143000"/>
            <a:ext cx="8153400" cy="37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8"/>
          <p:cNvSpPr txBox="1"/>
          <p:nvPr>
            <p:ph type="title"/>
          </p:nvPr>
        </p:nvSpPr>
        <p:spPr>
          <a:xfrm>
            <a:off x="2448305" y="461594"/>
            <a:ext cx="425005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BRANCH HAZARDS</a:t>
            </a:r>
            <a:endParaRPr/>
          </a:p>
        </p:txBody>
      </p:sp>
      <p:sp>
        <p:nvSpPr>
          <p:cNvPr id="279" name="Google Shape;279;p38"/>
          <p:cNvSpPr txBox="1"/>
          <p:nvPr/>
        </p:nvSpPr>
        <p:spPr>
          <a:xfrm>
            <a:off x="535940" y="1510703"/>
            <a:ext cx="4003675" cy="1781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475">
            <a:spAutoFit/>
          </a:bodyPr>
          <a:lstStyle/>
          <a:p>
            <a:pPr indent="-343535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Flush Pipeline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355600" marR="0" rtl="0" algn="l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Delayed branching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355600" marR="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Conditional branching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9"/>
          <p:cNvSpPr txBox="1"/>
          <p:nvPr>
            <p:ph type="title"/>
          </p:nvPr>
        </p:nvSpPr>
        <p:spPr>
          <a:xfrm>
            <a:off x="288125" y="366725"/>
            <a:ext cx="85887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Design issues of pipeline architecture</a:t>
            </a:r>
            <a:endParaRPr/>
          </a:p>
        </p:txBody>
      </p:sp>
      <p:sp>
        <p:nvSpPr>
          <p:cNvPr id="285" name="Google Shape;285;p39"/>
          <p:cNvSpPr txBox="1"/>
          <p:nvPr/>
        </p:nvSpPr>
        <p:spPr>
          <a:xfrm>
            <a:off x="535940" y="1958162"/>
            <a:ext cx="7929880" cy="429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3535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 Pipeline design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t/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 Issuing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2950"/>
              <a:buFont typeface="Arial"/>
              <a:buNone/>
            </a:pPr>
            <a:r>
              <a:t/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2" marL="1155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order issuing, out of order issuing or re order issuing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Arithmetic Pipeline design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t/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Fixed point , floating point , integer arithmetic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0"/>
          <p:cNvSpPr txBox="1"/>
          <p:nvPr>
            <p:ph type="title"/>
          </p:nvPr>
        </p:nvSpPr>
        <p:spPr>
          <a:xfrm>
            <a:off x="120200" y="221950"/>
            <a:ext cx="90237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0000"/>
                </a:solidFill>
              </a:rPr>
              <a:t>Principles of designing pipelined processors</a:t>
            </a:r>
            <a:endParaRPr sz="4000"/>
          </a:p>
        </p:txBody>
      </p:sp>
      <p:sp>
        <p:nvSpPr>
          <p:cNvPr id="291" name="Google Shape;291;p40"/>
          <p:cNvSpPr txBox="1"/>
          <p:nvPr/>
        </p:nvSpPr>
        <p:spPr>
          <a:xfrm>
            <a:off x="186650" y="960375"/>
            <a:ext cx="8957400" cy="57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Font typeface="Times New Roman"/>
              <a:buChar char="•"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Proper data buffering (Preloading data into a reserved area of memory) to avoid congestion and  smooth pipeline operations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Font typeface="Times New Roman"/>
              <a:buChar char="•"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Instruction dependence relationship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Font typeface="Times New Roman"/>
              <a:buChar char="•"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Logic hazards should be detected and resolved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Font typeface="Times New Roman"/>
              <a:buChar char="•"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Avoid Collisions and structural hazards by proper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sequencing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Font typeface="Times New Roman"/>
              <a:buChar char="•"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Reconfiguration of the pipeline should be possible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2023-10-10T11:27:19Z</dcterms:created>
  <dc:creator>Adrian J Pullin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2022-11-16T00:00:00Z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2023-10-10T00:00:00Z</vt:filetime>
  </property>
</Properties>
</file>