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6858000" cx="9144000"/>
  <p:notesSz cx="6858000" cy="9144000"/>
  <p:embeddedFontLst>
    <p:embeddedFont>
      <p:font typeface="Arial Black"/>
      <p:regular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5" roundtripDataSignature="AMtx7mhNzujWZzJiFLLUNH1t4x5x2+biA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ArialBlack-regular.fntdata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0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0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2" name="Google Shape;22;p2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1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1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2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2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2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2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3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3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2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4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4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24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24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4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2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5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7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7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5" name="Google Shape;65;p27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6" name="Google Shape;66;p2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8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8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28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3" name="Google Shape;73;p2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9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9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2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0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30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3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3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3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7.xml"/><Relationship Id="rId10" Type="http://schemas.openxmlformats.org/officeDocument/2006/relationships/slideLayout" Target="../slideLayouts/slideLayout6.xml"/><Relationship Id="rId13" Type="http://schemas.openxmlformats.org/officeDocument/2006/relationships/slideLayout" Target="../slideLayouts/slideLayout9.xml"/><Relationship Id="rId12" Type="http://schemas.openxmlformats.org/officeDocument/2006/relationships/slideLayout" Target="../slideLayouts/slideLayout8.xml"/><Relationship Id="rId1" Type="http://schemas.openxmlformats.org/officeDocument/2006/relationships/image" Target="../media/image3.jpg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9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0.xml"/><Relationship Id="rId16" Type="http://schemas.openxmlformats.org/officeDocument/2006/relationships/theme" Target="../theme/theme2.xml"/><Relationship Id="rId5" Type="http://schemas.openxmlformats.org/officeDocument/2006/relationships/slideLayout" Target="../slideLayouts/slideLayout1.xml"/><Relationship Id="rId6" Type="http://schemas.openxmlformats.org/officeDocument/2006/relationships/slideLayout" Target="../slideLayouts/slideLayout2.xml"/><Relationship Id="rId7" Type="http://schemas.openxmlformats.org/officeDocument/2006/relationships/slideLayout" Target="../slideLayouts/slideLayout3.xml"/><Relationship Id="rId8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9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descr="A picture containing drawing&#10;&#10;Description automatically generated" id="15" name="Google Shape;15;p19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185219"/>
            <a:ext cx="2434302" cy="8114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16" name="Google Shape;16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133347" y="332681"/>
            <a:ext cx="726409" cy="721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4204042" y="1938902"/>
            <a:ext cx="702416" cy="9177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5540361" y="2572804"/>
            <a:ext cx="207493" cy="6999786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5"/>
    <p:sldLayoutId id="2147483650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1" lang="en-IN"/>
              <a:t>Instruction set of 8086</a:t>
            </a:r>
            <a:endParaRPr/>
          </a:p>
        </p:txBody>
      </p:sp>
      <p:sp>
        <p:nvSpPr>
          <p:cNvPr id="93" name="Google Shape;93;p1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 txBox="1"/>
          <p:nvPr>
            <p:ph type="title"/>
          </p:nvPr>
        </p:nvSpPr>
        <p:spPr>
          <a:xfrm>
            <a:off x="381000" y="106680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br>
              <a:rPr lang="en-IN"/>
            </a:br>
            <a:r>
              <a:rPr b="1" lang="en-IN">
                <a:latin typeface="Arial Black"/>
                <a:ea typeface="Arial Black"/>
                <a:cs typeface="Arial Black"/>
                <a:sym typeface="Arial Black"/>
              </a:rPr>
              <a:t>The Instruction set of 8086:-</a:t>
            </a:r>
            <a:br>
              <a:rPr b="1" lang="en-IN"/>
            </a:br>
            <a:endParaRPr b="1"/>
          </a:p>
        </p:txBody>
      </p:sp>
      <p:sp>
        <p:nvSpPr>
          <p:cNvPr id="99" name="Google Shape;99;p2"/>
          <p:cNvSpPr txBox="1"/>
          <p:nvPr>
            <p:ph idx="1" type="body"/>
          </p:nvPr>
        </p:nvSpPr>
        <p:spPr>
          <a:xfrm>
            <a:off x="304800" y="2133600"/>
            <a:ext cx="8210550" cy="4043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0" marL="5143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IN"/>
              <a:t>Data transfer instructions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IN"/>
              <a:t> Arithmetic  instructions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IN"/>
              <a:t>Logical Instructions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IN">
                <a:latin typeface="Arial Black"/>
                <a:ea typeface="Arial Black"/>
                <a:cs typeface="Arial Black"/>
                <a:sym typeface="Arial Black"/>
              </a:rPr>
              <a:t>Data transfer instructions</a:t>
            </a:r>
            <a:br>
              <a:rPr lang="en-IN">
                <a:latin typeface="Arial Black"/>
                <a:ea typeface="Arial Black"/>
                <a:cs typeface="Arial Black"/>
                <a:sym typeface="Arial Black"/>
              </a:rPr>
            </a:br>
            <a:endParaRPr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05" name="Google Shape;105;p3"/>
          <p:cNvSpPr txBox="1"/>
          <p:nvPr>
            <p:ph idx="1" type="body"/>
          </p:nvPr>
        </p:nvSpPr>
        <p:spPr>
          <a:xfrm>
            <a:off x="304800" y="1219200"/>
            <a:ext cx="8382000" cy="4957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514350" lvl="0" marL="5143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lphaUcPeriod"/>
            </a:pPr>
            <a:r>
              <a:rPr b="1" lang="en-IN" u="sng"/>
              <a:t>General purpose instructions</a:t>
            </a:r>
            <a:r>
              <a:rPr lang="en-IN" u="sng"/>
              <a:t>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IN" sz="2600"/>
              <a:t>MOV</a:t>
            </a:r>
            <a:r>
              <a:rPr lang="en-IN" sz="2600"/>
              <a:t> − Used to copy the byte or word from the provided source to the provided destination.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600"/>
              <a:t>-syntax- MOV destination,source</a:t>
            </a:r>
            <a:endParaRPr sz="26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sz="2600"/>
              <a:t>Ex:-MOV AX,BX; </a:t>
            </a:r>
            <a:r>
              <a:rPr lang="en-IN" sz="2600">
                <a:solidFill>
                  <a:srgbClr val="FF0000"/>
                </a:solidFill>
              </a:rPr>
              <a:t>contents of bx moved to ax.</a:t>
            </a:r>
            <a:endParaRPr sz="2600">
              <a:solidFill>
                <a:srgbClr val="FF0000"/>
              </a:solidFill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IN" sz="2600"/>
              <a:t>PUSH</a:t>
            </a:r>
            <a:r>
              <a:rPr lang="en-IN" sz="2600"/>
              <a:t> − Used to put a word at the top of the stack.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sz="2600"/>
              <a:t>Ex:-push AX; </a:t>
            </a:r>
            <a:r>
              <a:rPr lang="en-IN" sz="2600">
                <a:solidFill>
                  <a:srgbClr val="FF0000"/>
                </a:solidFill>
              </a:rPr>
              <a:t>contents Ax reg moved to the stack.</a:t>
            </a:r>
            <a:endParaRPr sz="2600">
              <a:solidFill>
                <a:srgbClr val="FF0000"/>
              </a:solidFill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IN" sz="2600"/>
              <a:t>POP</a:t>
            </a:r>
            <a:r>
              <a:rPr lang="en-IN" sz="2600"/>
              <a:t> − Used to get a word from the top of the stack to the provided location.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sz="2600"/>
              <a:t>Eg:-pop Ax; </a:t>
            </a:r>
            <a:r>
              <a:rPr lang="en-IN" sz="2600">
                <a:solidFill>
                  <a:srgbClr val="FF0000"/>
                </a:solidFill>
              </a:rPr>
              <a:t>contents from top of stack moved to AX.</a:t>
            </a:r>
            <a:endParaRPr sz="2600">
              <a:solidFill>
                <a:srgbClr val="FF0000"/>
              </a:solidFill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IN" sz="2600"/>
              <a:t>XCHG</a:t>
            </a:r>
            <a:r>
              <a:rPr lang="en-IN" sz="2600"/>
              <a:t> − Used to exchange the data from two locations.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sz="2600"/>
              <a:t>Eg:-XCHG ax,bx</a:t>
            </a:r>
            <a:endParaRPr sz="26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/>
          <p:nvPr>
            <p:ph type="title"/>
          </p:nvPr>
        </p:nvSpPr>
        <p:spPr>
          <a:xfrm>
            <a:off x="628650" y="838200"/>
            <a:ext cx="78867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IN">
                <a:latin typeface="Arial Black"/>
                <a:ea typeface="Arial Black"/>
                <a:cs typeface="Arial Black"/>
                <a:sym typeface="Arial Black"/>
              </a:rPr>
              <a:t>Data transfer instructions..contd</a:t>
            </a:r>
            <a:endParaRPr/>
          </a:p>
        </p:txBody>
      </p:sp>
      <p:sp>
        <p:nvSpPr>
          <p:cNvPr id="111" name="Google Shape;111;p4"/>
          <p:cNvSpPr txBox="1"/>
          <p:nvPr>
            <p:ph idx="1" type="body"/>
          </p:nvPr>
        </p:nvSpPr>
        <p:spPr>
          <a:xfrm>
            <a:off x="76200" y="1447800"/>
            <a:ext cx="89916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</a:pPr>
            <a:r>
              <a:rPr b="1" lang="en-IN" sz="3000"/>
              <a:t>B. </a:t>
            </a:r>
            <a:r>
              <a:rPr b="1" lang="en-IN" sz="3000" u="sng"/>
              <a:t>Instructions for input and output port transfer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IN"/>
              <a:t>IN</a:t>
            </a:r>
            <a:r>
              <a:rPr lang="en-IN"/>
              <a:t> − Used to read a byte or word from the provided port to the accumulator(AX register).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IN"/>
              <a:t>OUT</a:t>
            </a:r>
            <a:r>
              <a:rPr lang="en-IN"/>
              <a:t> − Used to send out a byte or word from the accumulator to the provided port.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</a:pPr>
            <a:r>
              <a:rPr b="1" lang="en-IN" sz="3000"/>
              <a:t>C. </a:t>
            </a:r>
            <a:r>
              <a:rPr b="1" lang="en-IN" sz="3000" u="sng"/>
              <a:t>Instructions to transfer the address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IN"/>
              <a:t>LEA</a:t>
            </a:r>
            <a:r>
              <a:rPr lang="en-IN"/>
              <a:t> − Used to load the address of operand into the provided register.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IN"/>
              <a:t>LDS</a:t>
            </a:r>
            <a:r>
              <a:rPr lang="en-IN"/>
              <a:t> − Used to load DS register and other provided register from the memory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IN"/>
              <a:t>LES</a:t>
            </a:r>
            <a:r>
              <a:rPr lang="en-IN"/>
              <a:t> − Used to load ES register and other provided register from the memory.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IN">
                <a:latin typeface="Arial Black"/>
                <a:ea typeface="Arial Black"/>
                <a:cs typeface="Arial Black"/>
                <a:sym typeface="Arial Black"/>
              </a:rPr>
              <a:t>Data transfer instructions..contd</a:t>
            </a:r>
            <a:endParaRPr/>
          </a:p>
        </p:txBody>
      </p:sp>
      <p:sp>
        <p:nvSpPr>
          <p:cNvPr id="117" name="Google Shape;117;p5"/>
          <p:cNvSpPr txBox="1"/>
          <p:nvPr>
            <p:ph idx="1" type="body"/>
          </p:nvPr>
        </p:nvSpPr>
        <p:spPr>
          <a:xfrm>
            <a:off x="381000" y="1825625"/>
            <a:ext cx="813435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IN" sz="3200"/>
              <a:t>D</a:t>
            </a:r>
            <a:r>
              <a:rPr lang="en-IN" sz="3200"/>
              <a:t>. </a:t>
            </a:r>
            <a:r>
              <a:rPr b="1" lang="en-IN" sz="3200" u="sng"/>
              <a:t>Instructions to transfer flag registers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IN"/>
              <a:t>LAHF</a:t>
            </a:r>
            <a:r>
              <a:rPr lang="en-IN"/>
              <a:t> − Used to load AH with the low byte of the flag register.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IN"/>
              <a:t>SAHF</a:t>
            </a:r>
            <a:r>
              <a:rPr lang="en-IN"/>
              <a:t> − Used to store AH register to low byte of the flag register.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IN"/>
              <a:t>PUSHF</a:t>
            </a:r>
            <a:r>
              <a:rPr lang="en-IN"/>
              <a:t> − Used to copy the flag register at the top of the stack.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IN"/>
              <a:t>POPF</a:t>
            </a:r>
            <a:r>
              <a:rPr lang="en-IN"/>
              <a:t> − Used to copy a word at the top of the stack to the flag register.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IN" u="sng"/>
              <a:t>Instruction :POP Destination</a:t>
            </a:r>
            <a:endParaRPr b="1" u="sng"/>
          </a:p>
        </p:txBody>
      </p:sp>
      <p:sp>
        <p:nvSpPr>
          <p:cNvPr id="123" name="Google Shape;123;p6"/>
          <p:cNvSpPr txBox="1"/>
          <p:nvPr>
            <p:ph idx="1" type="body"/>
          </p:nvPr>
        </p:nvSpPr>
        <p:spPr>
          <a:xfrm>
            <a:off x="381000" y="1447800"/>
            <a:ext cx="8134350" cy="4729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IN" sz="2000">
                <a:latin typeface="Times New Roman"/>
                <a:ea typeface="Times New Roman"/>
                <a:cs typeface="Times New Roman"/>
                <a:sym typeface="Times New Roman"/>
              </a:rPr>
              <a:t>This instruction copies a word from memory location pointed by SS:SP to the destination-LIFO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IN" sz="2000">
                <a:latin typeface="Times New Roman"/>
                <a:ea typeface="Times New Roman"/>
                <a:cs typeface="Times New Roman"/>
                <a:sym typeface="Times New Roman"/>
              </a:rPr>
              <a:t>The segment register  used with SP is SS , and no segment override is possible (use some other </a:t>
            </a:r>
            <a:r>
              <a:rPr b="1" lang="en-IN" sz="2000">
                <a:latin typeface="Times New Roman"/>
                <a:ea typeface="Times New Roman"/>
                <a:cs typeface="Times New Roman"/>
                <a:sym typeface="Times New Roman"/>
              </a:rPr>
              <a:t>segment</a:t>
            </a:r>
            <a:r>
              <a:rPr lang="en-IN" sz="2000">
                <a:latin typeface="Times New Roman"/>
                <a:ea typeface="Times New Roman"/>
                <a:cs typeface="Times New Roman"/>
                <a:sym typeface="Times New Roman"/>
              </a:rPr>
              <a:t> register than the default </a:t>
            </a:r>
            <a:r>
              <a:rPr b="1" lang="en-IN" sz="2000">
                <a:latin typeface="Times New Roman"/>
                <a:ea typeface="Times New Roman"/>
                <a:cs typeface="Times New Roman"/>
                <a:sym typeface="Times New Roman"/>
              </a:rPr>
              <a:t>segment</a:t>
            </a:r>
            <a:r>
              <a:rPr lang="en-IN" sz="2000">
                <a:latin typeface="Times New Roman"/>
                <a:ea typeface="Times New Roman"/>
                <a:cs typeface="Times New Roman"/>
                <a:sym typeface="Times New Roman"/>
              </a:rPr>
              <a:t> for a particular code).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IN" sz="2000">
                <a:latin typeface="Times New Roman"/>
                <a:ea typeface="Times New Roman"/>
                <a:cs typeface="Times New Roman"/>
                <a:sym typeface="Times New Roman"/>
              </a:rPr>
              <a:t>When  it is executed:</a:t>
            </a:r>
            <a:endParaRPr/>
          </a:p>
          <a:p>
            <a:pPr indent="-571500" lvl="2" marL="14859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romanUcPeriod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Data from memory location (in stack segment)  SS:SP is first copied to the destination</a:t>
            </a:r>
            <a:endParaRPr/>
          </a:p>
          <a:p>
            <a:pPr indent="-571500" lvl="2" marL="14859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romanUcPeriod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And then SP is incremented by  2 (SP=SP+2)</a:t>
            </a:r>
            <a:endParaRPr/>
          </a:p>
          <a:p>
            <a:pPr indent="0" lvl="2" marL="9144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Note : destination can be a general purpose register, Flag register ,segment register or memory location .</a:t>
            </a:r>
            <a:endParaRPr/>
          </a:p>
          <a:p>
            <a:pPr indent="0" lvl="2" marL="9144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2" marL="9144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EX: POP AX (store the value of stack in AX)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2" marL="9144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POP DS</a:t>
            </a:r>
            <a:endParaRPr/>
          </a:p>
          <a:p>
            <a:pPr indent="0" lvl="3" marL="13716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IN" sz="2000"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"/>
          <p:cNvSpPr txBox="1"/>
          <p:nvPr>
            <p:ph type="title"/>
          </p:nvPr>
        </p:nvSpPr>
        <p:spPr>
          <a:xfrm>
            <a:off x="628650" y="685801"/>
            <a:ext cx="7886700" cy="609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IN" u="sng"/>
              <a:t>Instruction :PUSH Source</a:t>
            </a:r>
            <a:endParaRPr b="1" u="sng"/>
          </a:p>
        </p:txBody>
      </p:sp>
      <p:sp>
        <p:nvSpPr>
          <p:cNvPr id="129" name="Google Shape;129;p7"/>
          <p:cNvSpPr txBox="1"/>
          <p:nvPr>
            <p:ph idx="1" type="body"/>
          </p:nvPr>
        </p:nvSpPr>
        <p:spPr>
          <a:xfrm>
            <a:off x="457200" y="1143000"/>
            <a:ext cx="8058150" cy="4881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IN" sz="2000">
                <a:latin typeface="Times New Roman"/>
                <a:ea typeface="Times New Roman"/>
                <a:cs typeface="Times New Roman"/>
                <a:sym typeface="Times New Roman"/>
              </a:rPr>
              <a:t>When this instruction is executed:</a:t>
            </a:r>
            <a:endParaRPr/>
          </a:p>
          <a:p>
            <a:pPr indent="-571500" lvl="0" marL="5715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AutoNum type="romanLcParenR"/>
            </a:pPr>
            <a:r>
              <a:rPr lang="en-IN" sz="2000">
                <a:latin typeface="Times New Roman"/>
                <a:ea typeface="Times New Roman"/>
                <a:cs typeface="Times New Roman"/>
                <a:sym typeface="Times New Roman"/>
              </a:rPr>
              <a:t>SP=SP-2 (i.e.  First SP is decremented by 2 )</a:t>
            </a:r>
            <a:endParaRPr/>
          </a:p>
          <a:p>
            <a:pPr indent="-571500" lvl="0" marL="5715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AutoNum type="romanLcParenR"/>
            </a:pPr>
            <a:r>
              <a:rPr lang="en-IN" sz="2000">
                <a:latin typeface="Times New Roman"/>
                <a:ea typeface="Times New Roman"/>
                <a:cs typeface="Times New Roman"/>
                <a:sym typeface="Times New Roman"/>
              </a:rPr>
              <a:t>Copy the word from source register to the location in Stack Segment where SP points.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n-IN" sz="2000">
                <a:latin typeface="Times New Roman"/>
                <a:ea typeface="Times New Roman"/>
                <a:cs typeface="Times New Roman"/>
                <a:sym typeface="Times New Roman"/>
              </a:rPr>
              <a:t>Note :</a:t>
            </a:r>
            <a:r>
              <a:rPr lang="en-IN" sz="2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1" lang="en-IN" sz="20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lang="en-IN" sz="2000">
                <a:latin typeface="Times New Roman"/>
                <a:ea typeface="Times New Roman"/>
                <a:cs typeface="Times New Roman"/>
                <a:sym typeface="Times New Roman"/>
              </a:rPr>
              <a:t>Source operand (16-bit) can be a general purpose register, Flag register ,segment register or memory 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IN" sz="2000">
                <a:latin typeface="Times New Roman"/>
                <a:ea typeface="Times New Roman"/>
                <a:cs typeface="Times New Roman"/>
                <a:sym typeface="Times New Roman"/>
              </a:rPr>
              <a:t>2. Addressing mode – register Indirect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IN" sz="2000">
                <a:latin typeface="Times New Roman"/>
                <a:ea typeface="Times New Roman"/>
                <a:cs typeface="Times New Roman"/>
                <a:sym typeface="Times New Roman"/>
              </a:rPr>
              <a:t>EX: PUSH AX (content of AX is moved to stack)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IN" sz="2000">
                <a:latin typeface="Times New Roman"/>
                <a:ea typeface="Times New Roman"/>
                <a:cs typeface="Times New Roman"/>
                <a:sym typeface="Times New Roman"/>
              </a:rPr>
              <a:t>PUSH BX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IN" sz="2000">
                <a:latin typeface="Times New Roman"/>
                <a:ea typeface="Times New Roman"/>
                <a:cs typeface="Times New Roman"/>
                <a:sym typeface="Times New Roman"/>
              </a:rPr>
              <a:t>PUSH DS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IN"/>
              <a:t>                             </a:t>
            </a:r>
            <a:r>
              <a:rPr b="1" lang="en-IN" u="sng"/>
              <a:t>XCHG</a:t>
            </a:r>
            <a:endParaRPr b="1" u="sng"/>
          </a:p>
        </p:txBody>
      </p:sp>
      <p:sp>
        <p:nvSpPr>
          <p:cNvPr id="135" name="Google Shape;135;p8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XCHG Reg2,Reg1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Contents of Reg1 are exchanged with Reg2.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Both Reg’s should be of same size.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Both can be </a:t>
            </a:r>
            <a:r>
              <a:rPr lang="en-IN"/>
              <a:t>either</a:t>
            </a:r>
            <a:r>
              <a:rPr lang="en-IN"/>
              <a:t> 8 bit or 16 bit.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Eg:-XCHG AL,BL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XCHG [BX],AX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  BX-pointing register also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IN"/>
              <a:t>                 </a:t>
            </a:r>
            <a:r>
              <a:rPr b="1" lang="en-IN" u="sng"/>
              <a:t>ARITHMETIC INSTRUCTIONS</a:t>
            </a:r>
            <a:br>
              <a:rPr b="1" lang="en-IN" u="sng"/>
            </a:br>
            <a:r>
              <a:rPr b="1" lang="en-IN"/>
              <a:t>1.instructions to perform addition</a:t>
            </a:r>
            <a:endParaRPr b="1"/>
          </a:p>
        </p:txBody>
      </p:sp>
      <p:pic>
        <p:nvPicPr>
          <p:cNvPr id="141" name="Google Shape;141;p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1600200"/>
            <a:ext cx="7772400" cy="4419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"/>
          <p:cNvSpPr txBox="1"/>
          <p:nvPr>
            <p:ph type="title"/>
          </p:nvPr>
        </p:nvSpPr>
        <p:spPr>
          <a:xfrm>
            <a:off x="1447800" y="365127"/>
            <a:ext cx="6705600" cy="7778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IN"/>
              <a:t>       </a:t>
            </a:r>
            <a:r>
              <a:rPr b="1" lang="en-IN"/>
              <a:t>ADDITION instructions..cntd</a:t>
            </a:r>
            <a:endParaRPr b="1"/>
          </a:p>
        </p:txBody>
      </p:sp>
      <p:sp>
        <p:nvSpPr>
          <p:cNvPr id="147" name="Google Shape;147;p10"/>
          <p:cNvSpPr txBox="1"/>
          <p:nvPr>
            <p:ph idx="1" type="body"/>
          </p:nvPr>
        </p:nvSpPr>
        <p:spPr>
          <a:xfrm>
            <a:off x="228600" y="1143001"/>
            <a:ext cx="86106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IN"/>
              <a:t>ADD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Ex  ADD AX,BX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AX&lt;= AX+BX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IN"/>
              <a:t>ADC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Ex  ADD AX,BX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AX&lt;= AX+BX+CF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IN"/>
              <a:t>INC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IN"/>
              <a:t>Ex: INC CL (content of CL +1)</a:t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IN"/>
              <a:t>CL&lt;= CL+1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IN"/>
              <a:t> INC BX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IN"/>
              <a:t>BX&lt;= BX+1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IN"/>
              <a:t>AAA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IN"/>
              <a:t>DAA</a:t>
            </a:r>
            <a:endParaRPr b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1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IN" u="sng"/>
              <a:t>2.Instructions to perform subtraction</a:t>
            </a:r>
            <a:endParaRPr b="1" u="sng"/>
          </a:p>
        </p:txBody>
      </p:sp>
      <p:pic>
        <p:nvPicPr>
          <p:cNvPr id="153" name="Google Shape;153;p1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1524000"/>
            <a:ext cx="7848600" cy="472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IN"/>
              <a:t>               </a:t>
            </a:r>
            <a:r>
              <a:rPr b="1" lang="en-IN" u="sng"/>
              <a:t>SUBTRACT INSTRUCTIONS</a:t>
            </a:r>
            <a:endParaRPr b="1" u="sng"/>
          </a:p>
        </p:txBody>
      </p:sp>
      <p:sp>
        <p:nvSpPr>
          <p:cNvPr id="159" name="Google Shape;159;p12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1.SUB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Eg:-SUB ax, bx ;    </a:t>
            </a:r>
            <a:r>
              <a:rPr lang="en-IN">
                <a:solidFill>
                  <a:srgbClr val="FF0000"/>
                </a:solidFill>
              </a:rPr>
              <a:t>Subtracts bx from ax and stores result in ax.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2.SBB ax,bx  ; Subtracts bx and borrow(carry flag) from ax and stores result in ax.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3.CMP ax,bx ; comparison is done by subtracting bx from ax and checking the flags.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-If ax&lt;bx –carry flag set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-ax=bx, zero flag set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IN"/>
              <a:t> </a:t>
            </a:r>
            <a:r>
              <a:rPr b="1" lang="en-IN" u="sng"/>
              <a:t>SUBTRACT INSTRUCTIONS</a:t>
            </a:r>
            <a:endParaRPr/>
          </a:p>
        </p:txBody>
      </p:sp>
      <p:sp>
        <p:nvSpPr>
          <p:cNvPr id="165" name="Google Shape;165;p13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4.dec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Eg: DEC ax- Decrements the value of ax by 1.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4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IN" u="sng"/>
              <a:t>3.Instruction to perform Multiplication</a:t>
            </a:r>
            <a:endParaRPr b="1" u="sng"/>
          </a:p>
        </p:txBody>
      </p:sp>
      <p:pic>
        <p:nvPicPr>
          <p:cNvPr id="171" name="Google Shape;171;p1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1752600"/>
            <a:ext cx="8534399" cy="4190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5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IN"/>
              <a:t>                  </a:t>
            </a:r>
            <a:r>
              <a:rPr b="1" lang="en-IN" u="sng"/>
              <a:t>MULTIPLICATION </a:t>
            </a:r>
            <a:endParaRPr b="1" u="sng"/>
          </a:p>
        </p:txBody>
      </p:sp>
      <p:sp>
        <p:nvSpPr>
          <p:cNvPr id="177" name="Google Shape;177;p15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Eg:-1.Mul bl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lang="en-IN">
                <a:solidFill>
                  <a:srgbClr val="FF0000"/>
                </a:solidFill>
              </a:rPr>
              <a:t>Multiplies AL by BL and stores the result in AX</a:t>
            </a:r>
            <a:r>
              <a:rPr lang="en-IN"/>
              <a:t>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2.Mul bx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lang="en-IN">
                <a:solidFill>
                  <a:srgbClr val="FF0000"/>
                </a:solidFill>
              </a:rPr>
              <a:t>Multiplies ax with bx and stores the lower word of the result in Ax and higher word in DX.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6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IN"/>
              <a:t>4.Instrutions for Division</a:t>
            </a:r>
            <a:endParaRPr b="1"/>
          </a:p>
        </p:txBody>
      </p:sp>
      <p:pic>
        <p:nvPicPr>
          <p:cNvPr id="183" name="Google Shape;183;p1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5400" y="1752600"/>
            <a:ext cx="7010400" cy="320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7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IN"/>
              <a:t>                       </a:t>
            </a:r>
            <a:r>
              <a:rPr b="1" lang="en-IN" u="sng"/>
              <a:t>DIVISION</a:t>
            </a:r>
            <a:endParaRPr b="1" u="sng"/>
          </a:p>
        </p:txBody>
      </p:sp>
      <p:sp>
        <p:nvSpPr>
          <p:cNvPr id="189" name="Google Shape;189;p17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Eg:-Div BL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-AL is divided by BL and the quotient is stored in AL and the reminder in AH register.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Eg:-Div BX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-Ax is divided by BX and the Quotient is stored in AX and the reminder in DX.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8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IN"/>
              <a:t>                  </a:t>
            </a:r>
            <a:r>
              <a:rPr b="1" lang="en-IN" u="sng"/>
              <a:t>Logical Instructions</a:t>
            </a:r>
            <a:endParaRPr b="1" u="sng"/>
          </a:p>
        </p:txBody>
      </p:sp>
      <p:pic>
        <p:nvPicPr>
          <p:cNvPr id="195" name="Google Shape;195;p1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" y="1981200"/>
            <a:ext cx="8686800" cy="396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VU_KJSCE THEME TEMPLATE FOR PPT_WIDE SCREEN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SAVITA</dc:creator>
</cp:coreProperties>
</file>