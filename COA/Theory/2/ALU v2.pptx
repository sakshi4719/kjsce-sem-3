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90" roundtripDataSignature="AMtx7mhke1zG8RWKW/7KsiNoFbyivX3OL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42" Type="http://schemas.openxmlformats.org/officeDocument/2006/relationships/slide" Target="slides/slide37.xml"/><Relationship Id="rId86" Type="http://schemas.openxmlformats.org/officeDocument/2006/relationships/slide" Target="slides/slide81.xml"/><Relationship Id="rId41" Type="http://schemas.openxmlformats.org/officeDocument/2006/relationships/slide" Target="slides/slide36.xml"/><Relationship Id="rId85" Type="http://schemas.openxmlformats.org/officeDocument/2006/relationships/slide" Target="slides/slide80.xml"/><Relationship Id="rId44" Type="http://schemas.openxmlformats.org/officeDocument/2006/relationships/slide" Target="slides/slide39.xml"/><Relationship Id="rId88" Type="http://schemas.openxmlformats.org/officeDocument/2006/relationships/slide" Target="slides/slide83.xml"/><Relationship Id="rId43" Type="http://schemas.openxmlformats.org/officeDocument/2006/relationships/slide" Target="slides/slide38.xml"/><Relationship Id="rId87" Type="http://schemas.openxmlformats.org/officeDocument/2006/relationships/slide" Target="slides/slide82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31" Type="http://schemas.openxmlformats.org/officeDocument/2006/relationships/slide" Target="slides/slide26.xml"/><Relationship Id="rId75" Type="http://schemas.openxmlformats.org/officeDocument/2006/relationships/slide" Target="slides/slide70.xml"/><Relationship Id="rId30" Type="http://schemas.openxmlformats.org/officeDocument/2006/relationships/slide" Target="slides/slide25.xml"/><Relationship Id="rId74" Type="http://schemas.openxmlformats.org/officeDocument/2006/relationships/slide" Target="slides/slide69.xml"/><Relationship Id="rId33" Type="http://schemas.openxmlformats.org/officeDocument/2006/relationships/slide" Target="slides/slide28.xml"/><Relationship Id="rId77" Type="http://schemas.openxmlformats.org/officeDocument/2006/relationships/slide" Target="slides/slide72.xml"/><Relationship Id="rId32" Type="http://schemas.openxmlformats.org/officeDocument/2006/relationships/slide" Target="slides/slide27.xml"/><Relationship Id="rId76" Type="http://schemas.openxmlformats.org/officeDocument/2006/relationships/slide" Target="slides/slide71.xml"/><Relationship Id="rId35" Type="http://schemas.openxmlformats.org/officeDocument/2006/relationships/slide" Target="slides/slide30.xml"/><Relationship Id="rId79" Type="http://schemas.openxmlformats.org/officeDocument/2006/relationships/slide" Target="slides/slide74.xml"/><Relationship Id="rId34" Type="http://schemas.openxmlformats.org/officeDocument/2006/relationships/slide" Target="slides/slide29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90" Type="http://customschemas.google.com/relationships/presentationmetadata" Target="metadata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4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4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4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4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4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5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5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5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5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5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5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5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5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5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5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6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6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6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6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6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6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6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6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6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6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7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7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7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7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7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7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7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7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7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8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8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8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8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8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8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8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8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8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8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8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8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8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8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9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9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9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9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9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9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9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9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9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9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9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9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9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9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9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9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9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9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9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9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9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9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9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9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9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9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9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9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9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9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8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8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8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8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6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6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8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2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2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1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4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58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9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1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9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38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35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30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33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31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45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44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40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50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47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49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46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53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63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43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54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55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52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48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62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60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57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64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59.pn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56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MODULE_2</a:t>
            </a:r>
            <a:br>
              <a:rPr lang="en-US"/>
            </a:br>
            <a:r>
              <a:rPr lang="en-US"/>
              <a:t>ALU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91" name="Google Shape;91;p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5537" y="116632"/>
            <a:ext cx="8568952" cy="6480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97" name="Google Shape;97;p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116632"/>
            <a:ext cx="8892480" cy="6624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Computer Arithmetic</a:t>
            </a:r>
            <a:endParaRPr/>
          </a:p>
        </p:txBody>
      </p:sp>
      <p:sp>
        <p:nvSpPr>
          <p:cNvPr id="103" name="Google Shape;103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Computer arithmetic is commonly performed on two very different types of numbers: </a:t>
            </a:r>
            <a:r>
              <a:rPr b="1" lang="en-US"/>
              <a:t>integer and floating point</a:t>
            </a:r>
            <a:r>
              <a:rPr lang="en-US"/>
              <a:t>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FIXED and FLOATING POINT NUMBERS</a:t>
            </a:r>
            <a:endParaRPr/>
          </a:p>
        </p:txBody>
      </p:sp>
      <p:sp>
        <p:nvSpPr>
          <p:cNvPr id="109" name="Google Shape;109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There are two major approaches to store real numbers (i.e., numbers with fractional component) 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 These are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(i) Fixed Point Notation and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(ii) Floating Point Notation.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Fixed point Notation</a:t>
            </a:r>
            <a:endParaRPr/>
          </a:p>
        </p:txBody>
      </p:sp>
      <p:sp>
        <p:nvSpPr>
          <p:cNvPr id="115" name="Google Shape;115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 In </a:t>
            </a:r>
            <a:r>
              <a:rPr b="1" lang="en-US"/>
              <a:t>fixed point notation</a:t>
            </a:r>
            <a:r>
              <a:rPr lang="en-US"/>
              <a:t>, there are a fixed number of digits after the decimal point. 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        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        Whereas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 </a:t>
            </a:r>
            <a:r>
              <a:rPr b="1" lang="en-US"/>
              <a:t>floating point number </a:t>
            </a:r>
            <a:r>
              <a:rPr lang="en-US"/>
              <a:t>allows for a varying number of digits after the decimal point.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Integer Representation</a:t>
            </a:r>
            <a:endParaRPr/>
          </a:p>
        </p:txBody>
      </p:sp>
      <p:sp>
        <p:nvSpPr>
          <p:cNvPr id="121" name="Google Shape;121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For purposes of computer storage and processing, we do not have the minus sign.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Only binary digits (0 and 1) may be used to represent numbers(Signed &amp; Unsigned).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2’s complement representation is used for signed numbers.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Signed Integers Representation</a:t>
            </a:r>
            <a:endParaRPr/>
          </a:p>
        </p:txBody>
      </p:sp>
      <p:sp>
        <p:nvSpPr>
          <p:cNvPr id="127" name="Google Shape;12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2’s Complement Representation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Twos complement representation uses the most significant bit as a sign bit, making it easy to test whether an integer is positive or negative.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The range of 2’s complement numbers is from -2 power (n-1) to 2power(n-1) - 1.</a:t>
            </a:r>
            <a:endParaRPr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133" name="Google Shape;133;p1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260648"/>
            <a:ext cx="8964488" cy="6480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139" name="Google Shape;139;p1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504" y="116632"/>
            <a:ext cx="8784976" cy="65527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Binary Addition</a:t>
            </a:r>
            <a:endParaRPr/>
          </a:p>
        </p:txBody>
      </p:sp>
      <p:pic>
        <p:nvPicPr>
          <p:cNvPr id="145" name="Google Shape;145;p1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512" y="1484784"/>
            <a:ext cx="8712967" cy="53732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Integer Arithmetic</a:t>
            </a:r>
            <a:endParaRPr/>
          </a:p>
        </p:txBody>
      </p:sp>
      <p:sp>
        <p:nvSpPr>
          <p:cNvPr id="151" name="Google Shape;151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Addition and Subtraction(</a:t>
            </a:r>
            <a:r>
              <a:rPr lang="en-US"/>
              <a:t>Addition in twos complement)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 Addition proceeds as if the two numbers were unsigned integers .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If the result of the operation is positive(sign bit 0), we get a positive number in twos complement form, which is the same as in unsigned-integer form. 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Addition in twos complement </a:t>
            </a:r>
            <a:br>
              <a:rPr lang="en-US"/>
            </a:br>
            <a:endParaRPr/>
          </a:p>
        </p:txBody>
      </p:sp>
      <p:sp>
        <p:nvSpPr>
          <p:cNvPr id="157" name="Google Shape;157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Operation is negative(sign bit 1), we get a negative number in twos complement form.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In some instances, there is a carry bit beyond the end of the word , which is ignored.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158" name="Google Shape;15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520" y="3717032"/>
            <a:ext cx="7488832" cy="30243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Overflow in Addition</a:t>
            </a:r>
            <a:endParaRPr/>
          </a:p>
        </p:txBody>
      </p:sp>
      <p:sp>
        <p:nvSpPr>
          <p:cNvPr id="164" name="Google Shape;164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On any addition, the result may be larger than can be held in the word size being used 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This condition is called </a:t>
            </a:r>
            <a:r>
              <a:rPr b="1" lang="en-US"/>
              <a:t>overflow</a:t>
            </a:r>
            <a:r>
              <a:rPr lang="en-US"/>
              <a:t>.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Addition in twos complement</a:t>
            </a:r>
            <a:endParaRPr/>
          </a:p>
        </p:txBody>
      </p:sp>
      <p:sp>
        <p:nvSpPr>
          <p:cNvPr id="170" name="Google Shape;170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OVERFLOW RULE: </a:t>
            </a:r>
            <a:r>
              <a:rPr lang="en-US"/>
              <a:t>If two numbers are added, and they are both positive or both negative, then </a:t>
            </a:r>
            <a:r>
              <a:rPr b="1" i="1" lang="en-US"/>
              <a:t>overflow occurs if and only if the result has the opposite sign</a:t>
            </a:r>
            <a:r>
              <a:rPr lang="en-US"/>
              <a:t>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Eg:-</a:t>
            </a:r>
            <a:endParaRPr/>
          </a:p>
        </p:txBody>
      </p:sp>
      <p:pic>
        <p:nvPicPr>
          <p:cNvPr id="171" name="Google Shape;17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75656" y="3585980"/>
            <a:ext cx="7560840" cy="29523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2’s Complement Subtraction</a:t>
            </a:r>
            <a:endParaRPr/>
          </a:p>
        </p:txBody>
      </p:sp>
      <p:sp>
        <p:nvSpPr>
          <p:cNvPr id="177" name="Google Shape;177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SUBTRACTION RULE: </a:t>
            </a:r>
            <a:r>
              <a:rPr lang="en-US"/>
              <a:t>To subtract one number (subtrahend) from another (minuend), take the twos complement (negation) of the subtrahend and add it to the minuend.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183" name="Google Shape;183;p1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08520" y="0"/>
            <a:ext cx="9252520" cy="66693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189" name="Google Shape;189;p2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504" y="116632"/>
            <a:ext cx="8856983" cy="65527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195" name="Google Shape;195;p2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0"/>
            <a:ext cx="9036496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201" name="Google Shape;201;p2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08520" y="0"/>
            <a:ext cx="9252520" cy="67413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207" name="Google Shape;207;p2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521" y="260648"/>
            <a:ext cx="8568952" cy="62646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213" name="Google Shape;213;p2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88640"/>
            <a:ext cx="8820472" cy="65527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219" name="Google Shape;219;p2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5536" y="116632"/>
            <a:ext cx="8424935" cy="6480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Booths Recoding Algorithm</a:t>
            </a:r>
            <a:endParaRPr/>
          </a:p>
        </p:txBody>
      </p:sp>
      <p:pic>
        <p:nvPicPr>
          <p:cNvPr id="225" name="Google Shape;225;p2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9587" y="1877219"/>
            <a:ext cx="8124825" cy="397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231" name="Google Shape;231;p2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2"/>
            <a:ext cx="9144000" cy="64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237" name="Google Shape;237;p2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04664"/>
            <a:ext cx="9252520" cy="64533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243" name="Google Shape;243;p2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74638"/>
            <a:ext cx="9144000" cy="63947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249" name="Google Shape;249;p3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751" y="267638"/>
            <a:ext cx="9036600" cy="632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Division</a:t>
            </a:r>
            <a:endParaRPr/>
          </a:p>
        </p:txBody>
      </p:sp>
      <p:sp>
        <p:nvSpPr>
          <p:cNvPr id="255" name="Google Shape;255;p3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Division is somewhat more complex than multiplication.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 First, the bits of the dividend are examined from left to right, until the set of bits examined represents a number greater than or equal to the divisor.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This is   referred to as the divisor being able to divide the number.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Division</a:t>
            </a:r>
            <a:endParaRPr/>
          </a:p>
        </p:txBody>
      </p:sp>
      <p:sp>
        <p:nvSpPr>
          <p:cNvPr id="261" name="Google Shape;261;p3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 Until this event occurs, 0s are placed in the quotient from left to right.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When the event of divisibility occurs, a 1 is placed in the quotient and the divisor is subtracted from the partial dividend.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The result is referred to as a </a:t>
            </a:r>
            <a:r>
              <a:rPr i="1" lang="en-US"/>
              <a:t>partial remainder</a:t>
            </a:r>
            <a:r>
              <a:rPr lang="en-US"/>
              <a:t>. 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Division</a:t>
            </a:r>
            <a:endParaRPr/>
          </a:p>
        </p:txBody>
      </p:sp>
      <p:sp>
        <p:nvSpPr>
          <p:cNvPr id="267" name="Google Shape;267;p3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From this point on the division follows a cyclic pattern. 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At each cycle, additional bits from the dividend are appended to the partial remainder until the result is greater than or equal to the divisor.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As before, the divisor is subtracted from this number to produce a new partial remainder.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process continues until all the bits of the dividend are exhausted.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273" name="Google Shape;273;p3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512" y="260648"/>
            <a:ext cx="8640960" cy="62646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279" name="Google Shape;279;p3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32656"/>
            <a:ext cx="9144000" cy="6480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285" name="Google Shape;285;p3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504" y="260648"/>
            <a:ext cx="9036495" cy="64087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291" name="Google Shape;291;p3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1560" y="188640"/>
            <a:ext cx="8280920" cy="6480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297" name="Google Shape;297;p3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520" y="548680"/>
            <a:ext cx="8964488" cy="58655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303" name="Google Shape;303;p3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7544" y="260648"/>
            <a:ext cx="8424936" cy="61206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309" name="Google Shape;309;p4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5536" y="188640"/>
            <a:ext cx="8496944" cy="59766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315" name="Google Shape;315;p4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520" y="116632"/>
            <a:ext cx="8654244" cy="6624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321" name="Google Shape;321;p4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504" y="116632"/>
            <a:ext cx="8784976" cy="67413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327" name="Google Shape;327;p4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8811491" cy="67413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333" name="Google Shape;333;p4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520" y="404664"/>
            <a:ext cx="8640959" cy="5721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339" name="Google Shape;339;p4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2600"/>
            <a:ext cx="9036600" cy="663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345" name="Google Shape;345;p4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529" y="116632"/>
            <a:ext cx="8568952" cy="65527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351" name="Google Shape;351;p4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512" y="260648"/>
            <a:ext cx="8640960" cy="64087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357" name="Google Shape;357;p4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363" name="Google Shape;363;p4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512" y="260648"/>
            <a:ext cx="8856983" cy="6480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5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369" name="Google Shape;369;p5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16631"/>
            <a:ext cx="9144000" cy="65527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5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375" name="Google Shape;375;p5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6512" y="404664"/>
            <a:ext cx="9001000" cy="62646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381" name="Google Shape;381;p5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512" y="188640"/>
            <a:ext cx="8784976" cy="64087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5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387" name="Google Shape;387;p5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"/>
            <a:ext cx="8748600" cy="626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5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393" name="Google Shape;393;p5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" y="-10"/>
            <a:ext cx="8928900" cy="626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5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399" name="Google Shape;399;p5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" y="6"/>
            <a:ext cx="8784900" cy="633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5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405" name="Google Shape;405;p5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512" y="620688"/>
            <a:ext cx="8712968" cy="550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5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Floating Point representation(IEEE)</a:t>
            </a:r>
            <a:endParaRPr/>
          </a:p>
        </p:txBody>
      </p:sp>
      <p:sp>
        <p:nvSpPr>
          <p:cNvPr id="411" name="Google Shape;411;p5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5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417" name="Google Shape;417;p5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5536" y="332656"/>
            <a:ext cx="8568952" cy="65253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5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 Floating Point Representation</a:t>
            </a:r>
            <a:endParaRPr/>
          </a:p>
        </p:txBody>
      </p:sp>
      <p:sp>
        <p:nvSpPr>
          <p:cNvPr id="423" name="Google Shape;423;p5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To convert the floating point into decimal, we have 3 elements in an IEEE(32&amp; 64-bit ) floating point representation:</a:t>
            </a:r>
            <a:r>
              <a:rPr lang="en-US"/>
              <a:t> </a:t>
            </a:r>
            <a:br>
              <a:rPr lang="en-US"/>
            </a:br>
            <a:r>
              <a:rPr lang="en-US"/>
              <a:t>    i) Sign </a:t>
            </a:r>
            <a:br>
              <a:rPr lang="en-US"/>
            </a:br>
            <a:r>
              <a:rPr lang="en-US"/>
              <a:t>    ii) Exponent </a:t>
            </a:r>
            <a:br>
              <a:rPr lang="en-US"/>
            </a:br>
            <a:r>
              <a:rPr lang="en-US"/>
              <a:t>    iii) Mantissa 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6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IEEE-754-Floating Point Representation</a:t>
            </a:r>
            <a:endParaRPr/>
          </a:p>
        </p:txBody>
      </p:sp>
      <p:sp>
        <p:nvSpPr>
          <p:cNvPr id="429" name="Google Shape;429;p6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Sign</a:t>
            </a:r>
            <a:r>
              <a:rPr lang="en-US"/>
              <a:t> bit is the first bit of the binary representation. ‘1’ implies negative number and ‘0’ implies positive number. 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br>
              <a:rPr lang="en-US"/>
            </a:br>
            <a:r>
              <a:rPr b="1" lang="en-US"/>
              <a:t>Example:</a:t>
            </a:r>
            <a:r>
              <a:rPr lang="en-US"/>
              <a:t> 11000001110100000000000000000000 This is negative number.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6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Floating Point Representation</a:t>
            </a:r>
            <a:endParaRPr/>
          </a:p>
        </p:txBody>
      </p:sp>
      <p:sp>
        <p:nvSpPr>
          <p:cNvPr id="435" name="Google Shape;435;p6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To simplify the operations on floating point numbers , they need to be normalized.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 normalized number is one in which the MSB of the significand is one.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The first bit of the significand is made a 1 by normalization and is not stored in the significand or mantissa of(23 bits).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6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Floating Point Representation</a:t>
            </a:r>
            <a:endParaRPr/>
          </a:p>
        </p:txBody>
      </p:sp>
      <p:sp>
        <p:nvSpPr>
          <p:cNvPr id="441" name="Google Shape;441;p6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Exponent</a:t>
            </a:r>
            <a:r>
              <a:rPr lang="en-US"/>
              <a:t> is decided by the next 8 bits of binary representation. 127 is the unique number for 32 bit floating point representation.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It is known as bias.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It is determined by 2</a:t>
            </a:r>
            <a:r>
              <a:rPr baseline="30000" lang="en-US"/>
              <a:t>k-1</a:t>
            </a:r>
            <a:r>
              <a:rPr lang="en-US"/>
              <a:t> -1 where ‘k’ is the number of bits in exponent field. 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6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Floating Point Representation</a:t>
            </a:r>
            <a:endParaRPr/>
          </a:p>
        </p:txBody>
      </p:sp>
      <p:sp>
        <p:nvSpPr>
          <p:cNvPr id="447" name="Google Shape;447;p6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Next -  significand or mantissa is 23 bits.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 32-bits representation is also called single precision.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448" name="Google Shape;448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608" y="3645024"/>
            <a:ext cx="5994400" cy="236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6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IEEE-754-64 Bit</a:t>
            </a:r>
            <a:endParaRPr/>
          </a:p>
        </p:txBody>
      </p:sp>
      <p:pic>
        <p:nvPicPr>
          <p:cNvPr id="454" name="Google Shape;454;p6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552" y="1916832"/>
            <a:ext cx="8208912" cy="2905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6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460" name="Google Shape;460;p6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88640"/>
            <a:ext cx="9108504" cy="65527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6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Overflow &amp; Underflow</a:t>
            </a:r>
            <a:endParaRPr/>
          </a:p>
        </p:txBody>
      </p:sp>
      <p:sp>
        <p:nvSpPr>
          <p:cNvPr id="466" name="Google Shape;466;p6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Errors in floating point numbers-Exceptions.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Overflow-Overflow occurs when an arithmetic operation results in a magnitude greater than an exponent of 128.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Underflow occurs when fractional magnitude is too small. 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6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NAN &amp; De-Normalized Number</a:t>
            </a:r>
            <a:endParaRPr/>
          </a:p>
        </p:txBody>
      </p:sp>
      <p:sp>
        <p:nvSpPr>
          <p:cNvPr id="472" name="Google Shape;472;p6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An exponent of zero together with a non-zero fraction represents a </a:t>
            </a:r>
            <a:r>
              <a:rPr b="1" lang="en-US"/>
              <a:t>DE normalized </a:t>
            </a:r>
            <a:r>
              <a:rPr lang="en-US"/>
              <a:t>number.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An exponent of all ones together with a non-zero fraction is called </a:t>
            </a:r>
            <a:r>
              <a:rPr b="1" lang="en-US"/>
              <a:t>NAN</a:t>
            </a:r>
            <a:r>
              <a:rPr lang="en-US"/>
              <a:t>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NAN-Not a Number.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6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ZERO &amp; INFINITY</a:t>
            </a:r>
            <a:endParaRPr/>
          </a:p>
        </p:txBody>
      </p:sp>
      <p:sp>
        <p:nvSpPr>
          <p:cNvPr id="478" name="Google Shape;478;p6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An exponent of  zero together with a fraction of zero represents positive or negative zero depending on the sign bit.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An exponent of all ones together with a fraction of zero represents positive or negative infinity depending on sign bit.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6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484" name="Google Shape;484;p6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60648"/>
            <a:ext cx="9036496" cy="64087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7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490" name="Google Shape;490;p7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512" y="260648"/>
            <a:ext cx="8784976" cy="65973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7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496" name="Google Shape;496;p7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528" y="188640"/>
            <a:ext cx="8640960" cy="64087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7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502" name="Google Shape;502;p7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520" y="260648"/>
            <a:ext cx="8568952" cy="65973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7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508" name="Google Shape;508;p7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528" y="188640"/>
            <a:ext cx="8496943" cy="64087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7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514" name="Google Shape;514;p7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505" y="260648"/>
            <a:ext cx="8856984" cy="62646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7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520" name="Google Shape;520;p7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529" y="188640"/>
            <a:ext cx="8496944" cy="6480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7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526" name="Google Shape;526;p7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520" y="332656"/>
            <a:ext cx="8568952" cy="62646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7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532" name="Google Shape;532;p7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528" y="332656"/>
            <a:ext cx="8424935" cy="6192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7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Floating Point Arithmetic</a:t>
            </a:r>
            <a:endParaRPr/>
          </a:p>
        </p:txBody>
      </p:sp>
      <p:pic>
        <p:nvPicPr>
          <p:cNvPr id="538" name="Google Shape;538;p7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528" y="1340768"/>
            <a:ext cx="8568952" cy="4785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7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544" name="Google Shape;544;p7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260648"/>
            <a:ext cx="8964488" cy="64087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8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550" name="Google Shape;550;p8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504" y="0"/>
            <a:ext cx="8856984" cy="69573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8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556" name="Google Shape;556;p8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552" y="332656"/>
            <a:ext cx="8208911" cy="64087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8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562" name="Google Shape;562;p8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" y="0"/>
            <a:ext cx="92526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8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568" name="Google Shape;568;p8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512" y="188640"/>
            <a:ext cx="8856984" cy="64087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8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574" name="Google Shape;574;p8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99392"/>
            <a:ext cx="9144000" cy="69573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8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580" name="Google Shape;580;p8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93675"/>
            <a:ext cx="9036600" cy="693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8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586" name="Google Shape;586;p8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39950"/>
            <a:ext cx="86868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2023-08-08T03:51:12Z</dcterms:created>
  <dc:creator>Admin</dc:creator>
</cp:coreProperties>
</file>