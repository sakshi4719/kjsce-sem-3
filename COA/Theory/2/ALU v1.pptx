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</p:sldIdLst>
  <p:sldSz cy="6858000" cx="9144000"/>
  <p:notesSz cx="9144000" cy="6858000"/>
  <p:embeddedFontLst>
    <p:embeddedFont>
      <p:font typeface="Tahoma"/>
      <p:regular r:id="rId90"/>
      <p:bold r:id="rId91"/>
    </p:embeddedFont>
    <p:embeddedFont>
      <p:font typeface="Noto Sans Symbols"/>
      <p:regular r:id="rId92"/>
      <p:bold r:id="rId93"/>
    </p:embeddedFont>
    <p:embeddedFont>
      <p:font typeface="Arial Black"/>
      <p:regular r:id="rId9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95" roundtripDataSignature="AMtx7mhhyroWDwk1fFKqfNYGo7E5OmBB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E5F3444-4967-414A-8570-CF5EE48EE473}">
  <a:tblStyle styleId="{CE5F3444-4967-414A-8570-CF5EE48EE47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42" Type="http://schemas.openxmlformats.org/officeDocument/2006/relationships/slide" Target="slides/slide36.xml"/><Relationship Id="rId86" Type="http://schemas.openxmlformats.org/officeDocument/2006/relationships/slide" Target="slides/slide80.xml"/><Relationship Id="rId41" Type="http://schemas.openxmlformats.org/officeDocument/2006/relationships/slide" Target="slides/slide35.xml"/><Relationship Id="rId85" Type="http://schemas.openxmlformats.org/officeDocument/2006/relationships/slide" Target="slides/slide79.xml"/><Relationship Id="rId44" Type="http://schemas.openxmlformats.org/officeDocument/2006/relationships/slide" Target="slides/slide38.xml"/><Relationship Id="rId88" Type="http://schemas.openxmlformats.org/officeDocument/2006/relationships/slide" Target="slides/slide82.xml"/><Relationship Id="rId43" Type="http://schemas.openxmlformats.org/officeDocument/2006/relationships/slide" Target="slides/slide37.xml"/><Relationship Id="rId87" Type="http://schemas.openxmlformats.org/officeDocument/2006/relationships/slide" Target="slides/slide81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slide" Target="slides/slide73.xml"/><Relationship Id="rId34" Type="http://schemas.openxmlformats.org/officeDocument/2006/relationships/slide" Target="slides/slide28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95" Type="http://customschemas.google.com/relationships/presentationmetadata" Target="metadata"/><Relationship Id="rId50" Type="http://schemas.openxmlformats.org/officeDocument/2006/relationships/slide" Target="slides/slide44.xml"/><Relationship Id="rId94" Type="http://schemas.openxmlformats.org/officeDocument/2006/relationships/font" Target="fonts/ArialBlack-regular.fntdata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91" Type="http://schemas.openxmlformats.org/officeDocument/2006/relationships/font" Target="fonts/Tahoma-bold.fntdata"/><Relationship Id="rId90" Type="http://schemas.openxmlformats.org/officeDocument/2006/relationships/font" Target="fonts/Tahoma-regular.fntdata"/><Relationship Id="rId93" Type="http://schemas.openxmlformats.org/officeDocument/2006/relationships/font" Target="fonts/NotoSansSymbols-bold.fntdata"/><Relationship Id="rId92" Type="http://schemas.openxmlformats.org/officeDocument/2006/relationships/font" Target="fonts/NotoSansSymbols-regular.fntdata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3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3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3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4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4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4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4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4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4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4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4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4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4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5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5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5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5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5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5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5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5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5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5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6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6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6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6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6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6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6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6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6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6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6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6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6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6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6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6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6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6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7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7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7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7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7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7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7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7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7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7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7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7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7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7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7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7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7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7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7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8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8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8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8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8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8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8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8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8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8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86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6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6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87"/>
          <p:cNvSpPr txBox="1"/>
          <p:nvPr>
            <p:ph type="title"/>
          </p:nvPr>
        </p:nvSpPr>
        <p:spPr>
          <a:xfrm>
            <a:off x="869696" y="1098549"/>
            <a:ext cx="7404607" cy="878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87"/>
          <p:cNvSpPr txBox="1"/>
          <p:nvPr>
            <p:ph idx="1" type="body"/>
          </p:nvPr>
        </p:nvSpPr>
        <p:spPr>
          <a:xfrm>
            <a:off x="604837" y="1671637"/>
            <a:ext cx="8320405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7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7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7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8"/>
          <p:cNvSpPr txBox="1"/>
          <p:nvPr>
            <p:ph type="title"/>
          </p:nvPr>
        </p:nvSpPr>
        <p:spPr>
          <a:xfrm>
            <a:off x="869696" y="1098549"/>
            <a:ext cx="7404607" cy="878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88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8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8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9"/>
          <p:cNvSpPr txBox="1"/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9"/>
          <p:cNvSpPr txBox="1"/>
          <p:nvPr>
            <p:ph idx="1" type="subTitle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9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9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9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0"/>
          <p:cNvSpPr txBox="1"/>
          <p:nvPr>
            <p:ph type="title"/>
          </p:nvPr>
        </p:nvSpPr>
        <p:spPr>
          <a:xfrm>
            <a:off x="869696" y="1098549"/>
            <a:ext cx="7404607" cy="878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0"/>
          <p:cNvSpPr txBox="1"/>
          <p:nvPr>
            <p:ph idx="1" type="body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0"/>
          <p:cNvSpPr txBox="1"/>
          <p:nvPr>
            <p:ph idx="2" type="body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90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0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0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5"/>
          <p:cNvSpPr/>
          <p:nvPr/>
        </p:nvSpPr>
        <p:spPr>
          <a:xfrm>
            <a:off x="457200" y="990600"/>
            <a:ext cx="8153400" cy="0"/>
          </a:xfrm>
          <a:custGeom>
            <a:rect b="b" l="l" r="r" t="t"/>
            <a:pathLst>
              <a:path extrusionOk="0" h="120000" w="8153400">
                <a:moveTo>
                  <a:pt x="0" y="0"/>
                </a:moveTo>
                <a:lnTo>
                  <a:pt x="8153400" y="0"/>
                </a:lnTo>
              </a:path>
            </a:pathLst>
          </a:cu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85"/>
          <p:cNvSpPr txBox="1"/>
          <p:nvPr>
            <p:ph type="title"/>
          </p:nvPr>
        </p:nvSpPr>
        <p:spPr>
          <a:xfrm>
            <a:off x="869696" y="1098549"/>
            <a:ext cx="7404607" cy="878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85"/>
          <p:cNvSpPr txBox="1"/>
          <p:nvPr>
            <p:ph idx="1" type="body"/>
          </p:nvPr>
        </p:nvSpPr>
        <p:spPr>
          <a:xfrm>
            <a:off x="604837" y="1671637"/>
            <a:ext cx="8320405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5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5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85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8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8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8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8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8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8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8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8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8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jpg"/><Relationship Id="rId4" Type="http://schemas.openxmlformats.org/officeDocument/2006/relationships/image" Target="../media/image9.png"/><Relationship Id="rId5" Type="http://schemas.openxmlformats.org/officeDocument/2006/relationships/image" Target="../media/image1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2.jpg"/><Relationship Id="rId10" Type="http://schemas.openxmlformats.org/officeDocument/2006/relationships/image" Target="../media/image53.jpg"/><Relationship Id="rId13" Type="http://schemas.openxmlformats.org/officeDocument/2006/relationships/image" Target="../media/image23.jpg"/><Relationship Id="rId1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7.jpg"/><Relationship Id="rId4" Type="http://schemas.openxmlformats.org/officeDocument/2006/relationships/image" Target="../media/image16.jpg"/><Relationship Id="rId9" Type="http://schemas.openxmlformats.org/officeDocument/2006/relationships/image" Target="../media/image24.jpg"/><Relationship Id="rId5" Type="http://schemas.openxmlformats.org/officeDocument/2006/relationships/image" Target="../media/image21.jpg"/><Relationship Id="rId6" Type="http://schemas.openxmlformats.org/officeDocument/2006/relationships/image" Target="../media/image25.jpg"/><Relationship Id="rId7" Type="http://schemas.openxmlformats.org/officeDocument/2006/relationships/image" Target="../media/image19.jpg"/><Relationship Id="rId8" Type="http://schemas.openxmlformats.org/officeDocument/2006/relationships/image" Target="../media/image17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jpg"/><Relationship Id="rId4" Type="http://schemas.openxmlformats.org/officeDocument/2006/relationships/image" Target="../media/image30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2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5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6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9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7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3.jpg"/><Relationship Id="rId4" Type="http://schemas.openxmlformats.org/officeDocument/2006/relationships/image" Target="../media/image43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jpg"/><Relationship Id="rId4" Type="http://schemas.openxmlformats.org/officeDocument/2006/relationships/image" Target="../media/image44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1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5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0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2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7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9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0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8.png"/><Relationship Id="rId4" Type="http://schemas.openxmlformats.org/officeDocument/2006/relationships/image" Target="../media/image55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2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4.jpg"/><Relationship Id="rId4" Type="http://schemas.openxmlformats.org/officeDocument/2006/relationships/image" Target="../media/image60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6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7.jpg"/><Relationship Id="rId4" Type="http://schemas.openxmlformats.org/officeDocument/2006/relationships/image" Target="../media/image61.jpg"/><Relationship Id="rId5" Type="http://schemas.openxmlformats.org/officeDocument/2006/relationships/image" Target="../media/image59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58.jp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7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5.jpg"/><Relationship Id="rId4" Type="http://schemas.openxmlformats.org/officeDocument/2006/relationships/image" Target="../media/image63.jpg"/><Relationship Id="rId5" Type="http://schemas.openxmlformats.org/officeDocument/2006/relationships/image" Target="../media/image64.jp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70.jp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2.jp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71.jp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6.jpg"/><Relationship Id="rId4" Type="http://schemas.openxmlformats.org/officeDocument/2006/relationships/image" Target="../media/image68.jp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69.jp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73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72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74.jp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76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7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"/>
          <p:cNvSpPr/>
          <p:nvPr/>
        </p:nvSpPr>
        <p:spPr>
          <a:xfrm>
            <a:off x="457200" y="2514600"/>
            <a:ext cx="8153400" cy="0"/>
          </a:xfrm>
          <a:custGeom>
            <a:rect b="b" l="l" r="r" t="t"/>
            <a:pathLst>
              <a:path extrusionOk="0" h="120000" w="8153400">
                <a:moveTo>
                  <a:pt x="0" y="0"/>
                </a:moveTo>
                <a:lnTo>
                  <a:pt x="8153400" y="0"/>
                </a:lnTo>
              </a:path>
            </a:pathLst>
          </a:cu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/>
          <p:cNvSpPr txBox="1"/>
          <p:nvPr/>
        </p:nvSpPr>
        <p:spPr>
          <a:xfrm>
            <a:off x="955344" y="651713"/>
            <a:ext cx="4575810" cy="3353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50800" marR="431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William Stallings  Computer Organization  and Architecture</a:t>
            </a:r>
            <a:endParaRPr sz="2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6</a:t>
            </a:r>
            <a:r>
              <a:rPr baseline="30000" lang="en-US" sz="2775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th </a:t>
            </a:r>
            <a:r>
              <a:rPr lang="en-US" sz="2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Edition</a:t>
            </a:r>
            <a:endParaRPr sz="2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t/>
            </a:r>
            <a:endParaRPr sz="3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Chapter 9</a:t>
            </a:r>
            <a:endParaRPr sz="2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50800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Computer Arithmetic</a:t>
            </a:r>
            <a:endParaRPr sz="2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6" name="Google Shape;46;p1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"/>
          <p:cNvSpPr txBox="1"/>
          <p:nvPr/>
        </p:nvSpPr>
        <p:spPr>
          <a:xfrm>
            <a:off x="533400" y="54214"/>
            <a:ext cx="8277657" cy="5775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Arithmetic &amp; Logic Unit</a:t>
            </a:r>
            <a:endParaRPr sz="2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343535" lvl="0" marL="4057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ahoma"/>
              <a:buChar char="•"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Does the calculations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405765" marR="86360" rtl="0" algn="l">
              <a:lnSpc>
                <a:spcPct val="200000"/>
              </a:lnSpc>
              <a:spcBef>
                <a:spcPts val="675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ahoma"/>
              <a:buChar char="•"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Everything else in the computer is there to  service this unit</a:t>
            </a:r>
            <a:endParaRPr sz="3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3535" lvl="0" marL="405765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ahoma"/>
              <a:buChar char="•"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Handles integers</a:t>
            </a:r>
            <a:endParaRPr sz="3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3535" lvl="0" marL="4057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ahoma"/>
              <a:buChar char="•"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May handle floating point (real) numbers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>
                <a:srgbClr val="FF0000"/>
              </a:buClr>
              <a:buSzPts val="3300"/>
              <a:buFont typeface="Tahoma"/>
              <a:buNone/>
            </a:pPr>
            <a:r>
              <a:t/>
            </a:r>
            <a:endParaRPr sz="3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3535" lvl="0" marL="4057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ahoma"/>
              <a:buChar char="•"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May be separate FPU-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floating-point unit (FPU), which operates on floating point numbers.</a:t>
            </a: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(maths co-processor)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" name="Google Shape;52;p3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"/>
          <p:cNvSpPr txBox="1"/>
          <p:nvPr>
            <p:ph type="title"/>
          </p:nvPr>
        </p:nvSpPr>
        <p:spPr>
          <a:xfrm>
            <a:off x="485343" y="484073"/>
            <a:ext cx="465836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ALU Inputs and Outputs</a:t>
            </a:r>
            <a:endParaRPr/>
          </a:p>
        </p:txBody>
      </p:sp>
      <p:pic>
        <p:nvPicPr>
          <p:cNvPr id="58" name="Google Shape;5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126" y="2002534"/>
            <a:ext cx="8630352" cy="3146689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4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 txBox="1"/>
          <p:nvPr>
            <p:ph type="title"/>
          </p:nvPr>
        </p:nvSpPr>
        <p:spPr>
          <a:xfrm>
            <a:off x="1066800" y="152400"/>
            <a:ext cx="7404607" cy="878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 txBox="1"/>
          <p:nvPr>
            <p:ph idx="1" type="body"/>
          </p:nvPr>
        </p:nvSpPr>
        <p:spPr>
          <a:xfrm>
            <a:off x="533400" y="1219200"/>
            <a:ext cx="8320405" cy="3323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5240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Operands for arithmetic and logic operations are presented to the ALU in registers, and the results of an operation are stored in registers.</a:t>
            </a:r>
            <a:endParaRPr/>
          </a:p>
          <a:p>
            <a:pPr indent="-15240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These registers are temporary storage locations within the processor that are connected by signal paths to the ALU.</a:t>
            </a:r>
            <a:endParaRPr/>
          </a:p>
          <a:p>
            <a:pPr indent="-15240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ALU may also set flags as the result of an operation.</a:t>
            </a:r>
            <a:endParaRPr/>
          </a:p>
          <a:p>
            <a:pPr indent="-15240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flag values are also stored in registers within the processor.</a:t>
            </a:r>
            <a:endParaRPr/>
          </a:p>
          <a:p>
            <a:pPr indent="-15240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The processor provides signals that control the operation of the ALU and the movement of the data into and out of the ALU.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5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 txBox="1"/>
          <p:nvPr>
            <p:ph type="title"/>
          </p:nvPr>
        </p:nvSpPr>
        <p:spPr>
          <a:xfrm>
            <a:off x="762000" y="228600"/>
            <a:ext cx="7404607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Integer representation</a:t>
            </a:r>
            <a:endParaRPr/>
          </a:p>
        </p:txBody>
      </p:sp>
      <p:sp>
        <p:nvSpPr>
          <p:cNvPr id="72" name="Google Shape;72;p6"/>
          <p:cNvSpPr txBox="1"/>
          <p:nvPr>
            <p:ph idx="1" type="body"/>
          </p:nvPr>
        </p:nvSpPr>
        <p:spPr>
          <a:xfrm>
            <a:off x="604837" y="1219201"/>
            <a:ext cx="8320405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295400"/>
            <a:ext cx="7620000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6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"/>
          <p:cNvSpPr txBox="1"/>
          <p:nvPr>
            <p:ph type="title"/>
          </p:nvPr>
        </p:nvSpPr>
        <p:spPr>
          <a:xfrm>
            <a:off x="869696" y="1098549"/>
            <a:ext cx="7404607" cy="878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"/>
          <p:cNvSpPr txBox="1"/>
          <p:nvPr>
            <p:ph idx="1" type="body"/>
          </p:nvPr>
        </p:nvSpPr>
        <p:spPr>
          <a:xfrm>
            <a:off x="604837" y="1671637"/>
            <a:ext cx="8320405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858838"/>
            <a:ext cx="8381999" cy="554196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7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"/>
          <p:cNvSpPr txBox="1"/>
          <p:nvPr>
            <p:ph type="title"/>
          </p:nvPr>
        </p:nvSpPr>
        <p:spPr>
          <a:xfrm>
            <a:off x="914400" y="304800"/>
            <a:ext cx="7404607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Twos Complement Representation</a:t>
            </a:r>
            <a:endParaRPr/>
          </a:p>
        </p:txBody>
      </p:sp>
      <p:sp>
        <p:nvSpPr>
          <p:cNvPr id="88" name="Google Shape;88;p8"/>
          <p:cNvSpPr txBox="1"/>
          <p:nvPr>
            <p:ph idx="1" type="body"/>
          </p:nvPr>
        </p:nvSpPr>
        <p:spPr>
          <a:xfrm>
            <a:off x="457200" y="1143000"/>
            <a:ext cx="832040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Like sign magnitude,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twos complement representation uses the most significant bit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as a sign bit, making it easy to test whether an integer is positive or negative.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It differs from the use of the sign-magnitude representation in the way that the other bits are interpreted.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it facilitates the most important arithmetic operations, addition and subtraction. For this reason, it is almost universally used as the processor representation for integers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9" name="Google Shape;8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9529" y="3200400"/>
            <a:ext cx="6724650" cy="33591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/>
          <p:nvPr>
            <p:ph type="title"/>
          </p:nvPr>
        </p:nvSpPr>
        <p:spPr>
          <a:xfrm>
            <a:off x="838200" y="0"/>
            <a:ext cx="7404607" cy="878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9"/>
          <p:cNvSpPr txBox="1"/>
          <p:nvPr>
            <p:ph idx="1" type="body"/>
          </p:nvPr>
        </p:nvSpPr>
        <p:spPr>
          <a:xfrm>
            <a:off x="604837" y="1143001"/>
            <a:ext cx="8320405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219200"/>
            <a:ext cx="6858000" cy="988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2133600"/>
            <a:ext cx="6705600" cy="42545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9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 txBox="1"/>
          <p:nvPr>
            <p:ph type="title"/>
          </p:nvPr>
        </p:nvSpPr>
        <p:spPr>
          <a:xfrm>
            <a:off x="869696" y="1098549"/>
            <a:ext cx="7404607" cy="878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 txBox="1"/>
          <p:nvPr>
            <p:ph idx="1" type="body"/>
          </p:nvPr>
        </p:nvSpPr>
        <p:spPr>
          <a:xfrm>
            <a:off x="604837" y="1671637"/>
            <a:ext cx="8320405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1828800"/>
            <a:ext cx="6934200" cy="4260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0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1"/>
          <p:cNvSpPr txBox="1"/>
          <p:nvPr>
            <p:ph type="title"/>
          </p:nvPr>
        </p:nvSpPr>
        <p:spPr>
          <a:xfrm>
            <a:off x="533400" y="76200"/>
            <a:ext cx="7404607" cy="878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1"/>
          <p:cNvSpPr txBox="1"/>
          <p:nvPr>
            <p:ph idx="1" type="body"/>
          </p:nvPr>
        </p:nvSpPr>
        <p:spPr>
          <a:xfrm>
            <a:off x="381000" y="1219200"/>
            <a:ext cx="8320405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9325" y="1246188"/>
            <a:ext cx="7245350" cy="436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1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"/>
          <p:cNvSpPr txBox="1"/>
          <p:nvPr>
            <p:ph type="title"/>
          </p:nvPr>
        </p:nvSpPr>
        <p:spPr>
          <a:xfrm>
            <a:off x="869696" y="1098549"/>
            <a:ext cx="7404607" cy="878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2"/>
          <p:cNvSpPr txBox="1"/>
          <p:nvPr>
            <p:ph idx="1" type="body"/>
          </p:nvPr>
        </p:nvSpPr>
        <p:spPr>
          <a:xfrm>
            <a:off x="604837" y="1671637"/>
            <a:ext cx="8320405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382838"/>
            <a:ext cx="8305800" cy="317976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title"/>
          </p:nvPr>
        </p:nvSpPr>
        <p:spPr>
          <a:xfrm>
            <a:off x="381000" y="381001"/>
            <a:ext cx="7404607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Fixed point representation</a:t>
            </a:r>
            <a:endParaRPr/>
          </a:p>
        </p:txBody>
      </p:sp>
      <p:sp>
        <p:nvSpPr>
          <p:cNvPr id="129" name="Google Shape;129;p13"/>
          <p:cNvSpPr txBox="1"/>
          <p:nvPr>
            <p:ph idx="1" type="body"/>
          </p:nvPr>
        </p:nvSpPr>
        <p:spPr>
          <a:xfrm>
            <a:off x="604837" y="1671636"/>
            <a:ext cx="7777163" cy="20621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radix point (binary point) is fixed and assumed to be to the right of the rightmost digit.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programmer can use the same representation for binary fractions by scaling the numbers so that the binary point is implicitly positioned at some other location.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13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/>
          <p:nvPr>
            <p:ph type="title"/>
          </p:nvPr>
        </p:nvSpPr>
        <p:spPr>
          <a:xfrm>
            <a:off x="762000" y="228600"/>
            <a:ext cx="7404607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Addition and Subtraction</a:t>
            </a:r>
            <a:endParaRPr/>
          </a:p>
        </p:txBody>
      </p:sp>
      <p:sp>
        <p:nvSpPr>
          <p:cNvPr id="136" name="Google Shape;136;p14"/>
          <p:cNvSpPr txBox="1"/>
          <p:nvPr>
            <p:ph idx="1" type="body"/>
          </p:nvPr>
        </p:nvSpPr>
        <p:spPr>
          <a:xfrm>
            <a:off x="604837" y="1219201"/>
            <a:ext cx="8320405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375" y="1262063"/>
            <a:ext cx="5683250" cy="433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4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5"/>
          <p:cNvSpPr txBox="1"/>
          <p:nvPr>
            <p:ph type="title"/>
          </p:nvPr>
        </p:nvSpPr>
        <p:spPr>
          <a:xfrm>
            <a:off x="762000" y="228600"/>
            <a:ext cx="7404607" cy="878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5"/>
          <p:cNvSpPr txBox="1"/>
          <p:nvPr>
            <p:ph idx="1" type="body"/>
          </p:nvPr>
        </p:nvSpPr>
        <p:spPr>
          <a:xfrm>
            <a:off x="604837" y="1671637"/>
            <a:ext cx="8320405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/>
              <a:t>On any addition, the result may be larger than can be held in the word size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being used. This condition is called </a:t>
            </a:r>
            <a:r>
              <a:rPr b="1" lang="en-US"/>
              <a:t>overflow</a:t>
            </a:r>
            <a:endParaRPr/>
          </a:p>
          <a:p>
            <a:pPr indent="-1714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617158"/>
            <a:ext cx="7543800" cy="1345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5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869696" y="1098549"/>
            <a:ext cx="7404607" cy="878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6"/>
          <p:cNvSpPr txBox="1"/>
          <p:nvPr>
            <p:ph idx="1" type="body"/>
          </p:nvPr>
        </p:nvSpPr>
        <p:spPr>
          <a:xfrm>
            <a:off x="604837" y="1671637"/>
            <a:ext cx="8320405" cy="4652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684213"/>
            <a:ext cx="8610600" cy="5492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6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>
            <p:ph type="title"/>
          </p:nvPr>
        </p:nvSpPr>
        <p:spPr>
          <a:xfrm>
            <a:off x="485357" y="484075"/>
            <a:ext cx="96771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Addition and Subtraction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535940" y="1025398"/>
            <a:ext cx="7131050" cy="2879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72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ahoma"/>
              <a:buChar char="•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Normal binary addition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ahoma"/>
              <a:buChar char="•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Monitor sign bit for overflow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55600" marR="196215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ahoma"/>
              <a:buChar char="•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Take twos compliment of substahend and add to  minuend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489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— </a:t>
            </a: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i.e. a - b = a + (-b)</a:t>
            </a:r>
            <a:endParaRPr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t/>
            </a:r>
            <a:endParaRPr sz="28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ahoma"/>
              <a:buChar char="•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 we only need addition and complement circuits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161" name="Google Shape;161;p17"/>
          <p:cNvGraphicFramePr/>
          <p:nvPr/>
        </p:nvGraphicFramePr>
        <p:xfrm>
          <a:off x="677862" y="41433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{CE5F3444-4967-414A-8570-CF5EE48EE473}</a:tableStyleId>
              </a:tblPr>
              <a:tblGrid>
                <a:gridCol w="2016125"/>
                <a:gridCol w="2016125"/>
                <a:gridCol w="2016125"/>
              </a:tblGrid>
              <a:tr h="36575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</a:t>
                      </a:r>
                      <a:endParaRPr sz="1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0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B</a:t>
                      </a:r>
                      <a:endParaRPr sz="1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0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Sum</a:t>
                      </a:r>
                      <a:endParaRPr sz="1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0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6600"/>
                    </a:solidFill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 sz="1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0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 sz="1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0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 sz="1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0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CA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 sz="1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0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A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 sz="1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0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A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 sz="1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0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AE7"/>
                    </a:solidFill>
                  </a:tcPr>
                </a:tc>
              </a:tr>
              <a:tr h="36585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 sz="1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0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 sz="1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0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 sz="1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0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CA"/>
                    </a:solidFill>
                  </a:tcPr>
                </a:tc>
              </a:tr>
              <a:tr h="53122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 sz="1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0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A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 sz="1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0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A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0, Carry 1</a:t>
                      </a:r>
                      <a:endParaRPr sz="1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0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AE7"/>
                    </a:solidFill>
                  </a:tcPr>
                </a:tc>
              </a:tr>
              <a:tr h="53122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 sz="1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0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 sz="1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0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1,Carry 1</a:t>
                      </a:r>
                      <a:endParaRPr sz="1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0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CA"/>
                    </a:solidFill>
                  </a:tcPr>
                </a:tc>
              </a:tr>
            </a:tbl>
          </a:graphicData>
        </a:graphic>
      </p:graphicFrame>
      <p:sp>
        <p:nvSpPr>
          <p:cNvPr id="162" name="Google Shape;162;p17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81075"/>
            <a:ext cx="4741926" cy="194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>
            <p:ph type="title"/>
          </p:nvPr>
        </p:nvSpPr>
        <p:spPr>
          <a:xfrm>
            <a:off x="474065" y="312800"/>
            <a:ext cx="531368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Example of 2’s Compliment</a:t>
            </a:r>
            <a:endParaRPr/>
          </a:p>
        </p:txBody>
      </p:sp>
      <p:pic>
        <p:nvPicPr>
          <p:cNvPr id="169" name="Google Shape;16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95496" y="1265808"/>
            <a:ext cx="3948504" cy="2137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4473" y="3500373"/>
            <a:ext cx="4721837" cy="158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"/>
          <p:cNvSpPr txBox="1"/>
          <p:nvPr/>
        </p:nvSpPr>
        <p:spPr>
          <a:xfrm>
            <a:off x="485343" y="484073"/>
            <a:ext cx="3932554" cy="5109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Find 2’s compliment</a:t>
            </a:r>
            <a:endParaRPr sz="2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6286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1000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6286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0100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62864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111001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6286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101010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6286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100000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7" name="Google Shape;177;p19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1249"/>
            <a:ext cx="9144000" cy="6246747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>
            <p:ph type="title"/>
          </p:nvPr>
        </p:nvSpPr>
        <p:spPr>
          <a:xfrm>
            <a:off x="478942" y="114427"/>
            <a:ext cx="7515859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Hardware for Addition and Subtraction</a:t>
            </a:r>
            <a:endParaRPr/>
          </a:p>
        </p:txBody>
      </p:sp>
      <p:sp>
        <p:nvSpPr>
          <p:cNvPr id="184" name="Google Shape;184;p20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 txBox="1"/>
          <p:nvPr>
            <p:ph type="title"/>
          </p:nvPr>
        </p:nvSpPr>
        <p:spPr>
          <a:xfrm>
            <a:off x="838200" y="228600"/>
            <a:ext cx="7404607" cy="497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1"/>
          <p:cNvSpPr txBox="1"/>
          <p:nvPr>
            <p:ph idx="1" type="body"/>
          </p:nvPr>
        </p:nvSpPr>
        <p:spPr>
          <a:xfrm>
            <a:off x="152400" y="1143000"/>
            <a:ext cx="8915400" cy="3323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data paths and hardware elements needed to accomplish addition and subtraction.</a:t>
            </a:r>
            <a:endParaRPr/>
          </a:p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central element is a binary adder, which is presented two numbers for addition and produces a sum and an overflow indication.</a:t>
            </a:r>
            <a:endParaRPr/>
          </a:p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binary adder treats the two numbers as unsigned integers.</a:t>
            </a:r>
            <a:endParaRPr/>
          </a:p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For addition, the two numbers are presented to the adder from two registers, designated in this case as A and B registers. </a:t>
            </a:r>
            <a:endParaRPr/>
          </a:p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result may be stored in one of these registers or in a third.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overflow indication is stored in a 1-bit overflow flag. </a:t>
            </a:r>
            <a:endParaRPr/>
          </a:p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For subtraction, the subtrahend (B register) is passed through a twos complementer so that its twos complement is presented to the adder</a:t>
            </a:r>
            <a:endParaRPr/>
          </a:p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Control signals are needed to control whether or not the complementer is used, depending on whether the operation is addition or subtraction.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21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 txBox="1"/>
          <p:nvPr>
            <p:ph type="title"/>
          </p:nvPr>
        </p:nvSpPr>
        <p:spPr>
          <a:xfrm>
            <a:off x="474065" y="88773"/>
            <a:ext cx="3494404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Booth’s Algorithm</a:t>
            </a:r>
            <a:endParaRPr/>
          </a:p>
        </p:txBody>
      </p:sp>
      <p:pic>
        <p:nvPicPr>
          <p:cNvPr id="197" name="Google Shape;19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3149" y="1222556"/>
            <a:ext cx="3859615" cy="5167862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2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3"/>
          <p:cNvSpPr txBox="1"/>
          <p:nvPr/>
        </p:nvSpPr>
        <p:spPr>
          <a:xfrm>
            <a:off x="2364994" y="4330065"/>
            <a:ext cx="1927225" cy="2220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7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 =7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Q =3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20955" rtl="0" algn="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 = 0 1 1 1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39370" rtl="0" algn="r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Q = 0 0 1 1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5080" rtl="0" algn="r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 M = 1 0 0 1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204" name="Google Shape;204;p23"/>
          <p:cNvGraphicFramePr/>
          <p:nvPr/>
        </p:nvGraphicFramePr>
        <p:xfrm>
          <a:off x="820737" y="11906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{CE5F3444-4967-414A-8570-CF5EE48EE473}</a:tableStyleId>
              </a:tblPr>
              <a:tblGrid>
                <a:gridCol w="2568575"/>
                <a:gridCol w="2568575"/>
                <a:gridCol w="2568575"/>
              </a:tblGrid>
              <a:tr h="3658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Q0</a:t>
                      </a:r>
                      <a:endParaRPr sz="1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44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Q-1</a:t>
                      </a:r>
                      <a:endParaRPr sz="1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44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Result</a:t>
                      </a:r>
                      <a:endParaRPr sz="1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44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66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 sz="2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44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 sz="2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44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CA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Only shift</a:t>
                      </a:r>
                      <a:endParaRPr sz="1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44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CA"/>
                    </a:solidFill>
                  </a:tcPr>
                </a:tc>
              </a:tr>
              <a:tr h="45732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 sz="2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44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A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 sz="2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44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AE7"/>
                    </a:solidFill>
                  </a:tcPr>
                </a:tc>
                <a:tc vMerge="1"/>
              </a:tr>
              <a:tr h="53885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 sz="2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44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 sz="2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44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A=A + M ,then shift</a:t>
                      </a:r>
                      <a:endParaRPr sz="1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44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CA"/>
                    </a:solidFill>
                  </a:tcPr>
                </a:tc>
              </a:tr>
              <a:tr h="77000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 sz="2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44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A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 sz="2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44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A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A= A – M , then shift</a:t>
                      </a:r>
                      <a:endParaRPr sz="1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44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AE7"/>
                    </a:solidFill>
                  </a:tcPr>
                </a:tc>
              </a:tr>
            </a:tbl>
          </a:graphicData>
        </a:graphic>
      </p:graphicFrame>
      <p:sp>
        <p:nvSpPr>
          <p:cNvPr id="205" name="Google Shape;205;p23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4"/>
          <p:cNvSpPr txBox="1"/>
          <p:nvPr>
            <p:ph type="title"/>
          </p:nvPr>
        </p:nvSpPr>
        <p:spPr>
          <a:xfrm>
            <a:off x="485343" y="484073"/>
            <a:ext cx="7760334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Example of Booth’s Algorithm:7(M)*3(Q)</a:t>
            </a:r>
            <a:endParaRPr/>
          </a:p>
        </p:txBody>
      </p:sp>
      <p:pic>
        <p:nvPicPr>
          <p:cNvPr id="211" name="Google Shape;21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787" y="1312015"/>
            <a:ext cx="7764264" cy="6213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2" name="Google Shape;212;p24"/>
          <p:cNvGrpSpPr/>
          <p:nvPr/>
        </p:nvGrpSpPr>
        <p:grpSpPr>
          <a:xfrm>
            <a:off x="179387" y="2307367"/>
            <a:ext cx="7549864" cy="260191"/>
            <a:chOff x="179387" y="2307367"/>
            <a:chExt cx="7549864" cy="260191"/>
          </a:xfrm>
        </p:grpSpPr>
        <p:pic>
          <p:nvPicPr>
            <p:cNvPr id="213" name="Google Shape;213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79387" y="2307367"/>
              <a:ext cx="7549864" cy="2601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4" name="Google Shape;214;p24"/>
            <p:cNvSpPr/>
            <p:nvPr/>
          </p:nvSpPr>
          <p:spPr>
            <a:xfrm>
              <a:off x="6194425" y="2380741"/>
              <a:ext cx="211454" cy="139065"/>
            </a:xfrm>
            <a:custGeom>
              <a:rect b="b" l="l" r="r" t="t"/>
              <a:pathLst>
                <a:path extrusionOk="0" h="139064" w="211454">
                  <a:moveTo>
                    <a:pt x="211201" y="83439"/>
                  </a:moveTo>
                  <a:lnTo>
                    <a:pt x="0" y="83439"/>
                  </a:lnTo>
                  <a:lnTo>
                    <a:pt x="0" y="139065"/>
                  </a:lnTo>
                  <a:lnTo>
                    <a:pt x="211201" y="139065"/>
                  </a:lnTo>
                  <a:lnTo>
                    <a:pt x="211201" y="83439"/>
                  </a:lnTo>
                  <a:close/>
                </a:path>
                <a:path extrusionOk="0" h="139064" w="211454">
                  <a:moveTo>
                    <a:pt x="211201" y="0"/>
                  </a:moveTo>
                  <a:lnTo>
                    <a:pt x="0" y="0"/>
                  </a:lnTo>
                  <a:lnTo>
                    <a:pt x="0" y="55626"/>
                  </a:lnTo>
                  <a:lnTo>
                    <a:pt x="211201" y="55626"/>
                  </a:lnTo>
                  <a:lnTo>
                    <a:pt x="21120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24"/>
            <p:cNvSpPr/>
            <p:nvPr/>
          </p:nvSpPr>
          <p:spPr>
            <a:xfrm>
              <a:off x="6194425" y="2380741"/>
              <a:ext cx="211454" cy="139065"/>
            </a:xfrm>
            <a:custGeom>
              <a:rect b="b" l="l" r="r" t="t"/>
              <a:pathLst>
                <a:path extrusionOk="0" h="139064" w="211454">
                  <a:moveTo>
                    <a:pt x="0" y="0"/>
                  </a:moveTo>
                  <a:lnTo>
                    <a:pt x="211200" y="0"/>
                  </a:lnTo>
                  <a:lnTo>
                    <a:pt x="211200" y="55625"/>
                  </a:lnTo>
                  <a:lnTo>
                    <a:pt x="0" y="55625"/>
                  </a:lnTo>
                  <a:lnTo>
                    <a:pt x="0" y="0"/>
                  </a:lnTo>
                  <a:close/>
                </a:path>
                <a:path extrusionOk="0" h="139064" w="211454">
                  <a:moveTo>
                    <a:pt x="0" y="83438"/>
                  </a:moveTo>
                  <a:lnTo>
                    <a:pt x="211200" y="83438"/>
                  </a:lnTo>
                  <a:lnTo>
                    <a:pt x="211200" y="139065"/>
                  </a:lnTo>
                  <a:lnTo>
                    <a:pt x="0" y="139065"/>
                  </a:lnTo>
                  <a:lnTo>
                    <a:pt x="0" y="83438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16" name="Google Shape;21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9387" y="2942187"/>
            <a:ext cx="6578424" cy="226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2975" y="3593937"/>
            <a:ext cx="6510244" cy="200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67740" y="2367099"/>
            <a:ext cx="1221950" cy="589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41177" y="3422952"/>
            <a:ext cx="1234447" cy="5448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0" name="Google Shape;220;p24"/>
          <p:cNvGrpSpPr/>
          <p:nvPr/>
        </p:nvGrpSpPr>
        <p:grpSpPr>
          <a:xfrm>
            <a:off x="225341" y="4161249"/>
            <a:ext cx="7329591" cy="233246"/>
            <a:chOff x="225341" y="4161249"/>
            <a:chExt cx="7329591" cy="233246"/>
          </a:xfrm>
        </p:grpSpPr>
        <p:pic>
          <p:nvPicPr>
            <p:cNvPr id="221" name="Google Shape;221;p2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25341" y="4161249"/>
              <a:ext cx="7329591" cy="2332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2" name="Google Shape;222;p24"/>
            <p:cNvSpPr/>
            <p:nvPr/>
          </p:nvSpPr>
          <p:spPr>
            <a:xfrm>
              <a:off x="6030849" y="4193666"/>
              <a:ext cx="211454" cy="139065"/>
            </a:xfrm>
            <a:custGeom>
              <a:rect b="b" l="l" r="r" t="t"/>
              <a:pathLst>
                <a:path extrusionOk="0" h="139064" w="211454">
                  <a:moveTo>
                    <a:pt x="211201" y="83439"/>
                  </a:moveTo>
                  <a:lnTo>
                    <a:pt x="0" y="83439"/>
                  </a:lnTo>
                  <a:lnTo>
                    <a:pt x="0" y="139065"/>
                  </a:lnTo>
                  <a:lnTo>
                    <a:pt x="211201" y="139065"/>
                  </a:lnTo>
                  <a:lnTo>
                    <a:pt x="211201" y="83439"/>
                  </a:lnTo>
                  <a:close/>
                </a:path>
                <a:path extrusionOk="0" h="139064" w="211454">
                  <a:moveTo>
                    <a:pt x="211201" y="0"/>
                  </a:moveTo>
                  <a:lnTo>
                    <a:pt x="0" y="0"/>
                  </a:lnTo>
                  <a:lnTo>
                    <a:pt x="0" y="55626"/>
                  </a:lnTo>
                  <a:lnTo>
                    <a:pt x="211201" y="55626"/>
                  </a:lnTo>
                  <a:lnTo>
                    <a:pt x="21120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24"/>
            <p:cNvSpPr/>
            <p:nvPr/>
          </p:nvSpPr>
          <p:spPr>
            <a:xfrm>
              <a:off x="6030849" y="4193667"/>
              <a:ext cx="211454" cy="139065"/>
            </a:xfrm>
            <a:custGeom>
              <a:rect b="b" l="l" r="r" t="t"/>
              <a:pathLst>
                <a:path extrusionOk="0" h="139064" w="211454">
                  <a:moveTo>
                    <a:pt x="0" y="0"/>
                  </a:moveTo>
                  <a:lnTo>
                    <a:pt x="211200" y="0"/>
                  </a:lnTo>
                  <a:lnTo>
                    <a:pt x="211200" y="55625"/>
                  </a:lnTo>
                  <a:lnTo>
                    <a:pt x="0" y="55625"/>
                  </a:lnTo>
                  <a:lnTo>
                    <a:pt x="0" y="0"/>
                  </a:lnTo>
                  <a:close/>
                </a:path>
                <a:path extrusionOk="0" h="139064" w="211454">
                  <a:moveTo>
                    <a:pt x="0" y="83438"/>
                  </a:moveTo>
                  <a:lnTo>
                    <a:pt x="211200" y="83438"/>
                  </a:lnTo>
                  <a:lnTo>
                    <a:pt x="211200" y="139064"/>
                  </a:lnTo>
                  <a:lnTo>
                    <a:pt x="0" y="139064"/>
                  </a:lnTo>
                  <a:lnTo>
                    <a:pt x="0" y="83438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24" name="Google Shape;224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25163" y="4598380"/>
            <a:ext cx="6305677" cy="274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739126" y="4200525"/>
            <a:ext cx="1295400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15076" y="5156200"/>
            <a:ext cx="6554843" cy="273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677150" y="5010150"/>
            <a:ext cx="1466849" cy="6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4"/>
          <p:cNvSpPr txBox="1"/>
          <p:nvPr/>
        </p:nvSpPr>
        <p:spPr>
          <a:xfrm>
            <a:off x="581964" y="6063792"/>
            <a:ext cx="724027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Answer is in A and Q</a:t>
            </a:r>
            <a:r>
              <a:rPr lang="en-US" sz="2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🡪</a:t>
            </a:r>
            <a:r>
              <a:rPr lang="en-US" sz="2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0001 0101 =21</a:t>
            </a:r>
            <a:endParaRPr sz="2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29" name="Google Shape;229;p24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372" y="1278742"/>
            <a:ext cx="7943373" cy="4934273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5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6"/>
          <p:cNvSpPr txBox="1"/>
          <p:nvPr/>
        </p:nvSpPr>
        <p:spPr>
          <a:xfrm>
            <a:off x="485343" y="295911"/>
            <a:ext cx="7506334" cy="6376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Examples-size of n determines answer</a:t>
            </a:r>
            <a:endParaRPr sz="2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62864" marR="284861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Solve using Booths Algorithm  </a:t>
            </a:r>
            <a:r>
              <a:rPr lang="en-US" sz="28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A.	</a:t>
            </a: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 = 5 ,	Q = 5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9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6286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B.	</a:t>
            </a: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 = 12,	Q = 11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9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6286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C.	</a:t>
            </a: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 = 9,	Q = - 3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r>
              <a:t/>
            </a:r>
            <a:endParaRPr sz="38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62864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D.	</a:t>
            </a:r>
            <a:r>
              <a:rPr b="1" lang="en-US" sz="2800">
                <a:solidFill>
                  <a:srgbClr val="00AF50"/>
                </a:solidFill>
                <a:latin typeface="Tahoma"/>
                <a:ea typeface="Tahoma"/>
                <a:cs typeface="Tahoma"/>
                <a:sym typeface="Tahoma"/>
              </a:rPr>
              <a:t>M = -13 ( 0011 ) </a:t>
            </a: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	Q = 6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728980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-M=13 (1101)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r>
              <a:t/>
            </a:r>
            <a:endParaRPr sz="38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6286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A.	</a:t>
            </a: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 = -19	,	Q = -20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1" name="Google Shape;241;p26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7"/>
          <p:cNvSpPr txBox="1"/>
          <p:nvPr/>
        </p:nvSpPr>
        <p:spPr>
          <a:xfrm>
            <a:off x="485343" y="295911"/>
            <a:ext cx="5646420" cy="2279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Division</a:t>
            </a:r>
            <a:endParaRPr sz="2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343535" lvl="0" marL="405765" marR="0" rtl="0" algn="l">
              <a:lnSpc>
                <a:spcPct val="100000"/>
              </a:lnSpc>
              <a:spcBef>
                <a:spcPts val="1475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ahoma"/>
              <a:buChar char="•"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More complex than multiplication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3535" lvl="0" marL="405765" marR="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ahoma"/>
              <a:buChar char="•"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Negative numbers are really bad!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3535" lvl="0" marL="405765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ahoma"/>
              <a:buChar char="•"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Based on long division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7" name="Google Shape;247;p27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8"/>
          <p:cNvSpPr txBox="1"/>
          <p:nvPr/>
        </p:nvSpPr>
        <p:spPr>
          <a:xfrm>
            <a:off x="3864102" y="3808221"/>
            <a:ext cx="1141730" cy="1077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23495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001111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508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1011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5080" rtl="0" algn="r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3" name="Google Shape;253;p28"/>
          <p:cNvSpPr txBox="1"/>
          <p:nvPr>
            <p:ph type="title"/>
          </p:nvPr>
        </p:nvSpPr>
        <p:spPr>
          <a:xfrm>
            <a:off x="485343" y="484073"/>
            <a:ext cx="709104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Division of Unsigned Binary Integers</a:t>
            </a:r>
            <a:endParaRPr/>
          </a:p>
        </p:txBody>
      </p:sp>
      <p:sp>
        <p:nvSpPr>
          <p:cNvPr id="254" name="Google Shape;254;p28"/>
          <p:cNvSpPr txBox="1"/>
          <p:nvPr/>
        </p:nvSpPr>
        <p:spPr>
          <a:xfrm>
            <a:off x="2592451" y="1727707"/>
            <a:ext cx="2378075" cy="95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800100" lvl="0" marL="12700" marR="5080" rtl="0" algn="l">
              <a:lnSpc>
                <a:spcPct val="1270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00001101 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aseline="30000" lang="en-US" sz="3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1011 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10010011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5" name="Google Shape;255;p28"/>
          <p:cNvSpPr/>
          <p:nvPr/>
        </p:nvSpPr>
        <p:spPr>
          <a:xfrm>
            <a:off x="3405251" y="2209800"/>
            <a:ext cx="0" cy="609600"/>
          </a:xfrm>
          <a:custGeom>
            <a:rect b="b" l="l" r="r" t="t"/>
            <a:pathLst>
              <a:path extrusionOk="0" h="609600" w="120000">
                <a:moveTo>
                  <a:pt x="0" y="0"/>
                </a:moveTo>
                <a:lnTo>
                  <a:pt x="0" y="60960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8"/>
          <p:cNvSpPr txBox="1"/>
          <p:nvPr/>
        </p:nvSpPr>
        <p:spPr>
          <a:xfrm>
            <a:off x="3483102" y="2664663"/>
            <a:ext cx="1137920" cy="1077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7429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1011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20955" rtl="0" algn="r">
              <a:lnSpc>
                <a:spcPct val="110000"/>
              </a:lnSpc>
              <a:spcBef>
                <a:spcPts val="12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001110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508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1011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7" name="Google Shape;257;p28"/>
          <p:cNvSpPr/>
          <p:nvPr/>
        </p:nvSpPr>
        <p:spPr>
          <a:xfrm>
            <a:off x="4662423" y="2667000"/>
            <a:ext cx="76200" cy="1066800"/>
          </a:xfrm>
          <a:custGeom>
            <a:rect b="b" l="l" r="r" t="t"/>
            <a:pathLst>
              <a:path extrusionOk="0" h="1066800" w="76200">
                <a:moveTo>
                  <a:pt x="33400" y="990600"/>
                </a:moveTo>
                <a:lnTo>
                  <a:pt x="0" y="990600"/>
                </a:lnTo>
                <a:lnTo>
                  <a:pt x="38100" y="1066800"/>
                </a:lnTo>
                <a:lnTo>
                  <a:pt x="69850" y="1003300"/>
                </a:lnTo>
                <a:lnTo>
                  <a:pt x="33400" y="1003300"/>
                </a:lnTo>
                <a:lnTo>
                  <a:pt x="33400" y="990600"/>
                </a:lnTo>
                <a:close/>
              </a:path>
              <a:path extrusionOk="0" h="1066800" w="76200">
                <a:moveTo>
                  <a:pt x="42925" y="0"/>
                </a:moveTo>
                <a:lnTo>
                  <a:pt x="33400" y="0"/>
                </a:lnTo>
                <a:lnTo>
                  <a:pt x="33400" y="1003300"/>
                </a:lnTo>
                <a:lnTo>
                  <a:pt x="42925" y="1003300"/>
                </a:lnTo>
                <a:lnTo>
                  <a:pt x="42925" y="0"/>
                </a:lnTo>
                <a:close/>
              </a:path>
              <a:path extrusionOk="0" h="1066800" w="76200">
                <a:moveTo>
                  <a:pt x="76200" y="990600"/>
                </a:moveTo>
                <a:lnTo>
                  <a:pt x="42925" y="990600"/>
                </a:lnTo>
                <a:lnTo>
                  <a:pt x="42925" y="1003300"/>
                </a:lnTo>
                <a:lnTo>
                  <a:pt x="69850" y="1003300"/>
                </a:lnTo>
                <a:lnTo>
                  <a:pt x="76200" y="9906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8"/>
          <p:cNvSpPr/>
          <p:nvPr/>
        </p:nvSpPr>
        <p:spPr>
          <a:xfrm>
            <a:off x="4814823" y="2667000"/>
            <a:ext cx="76200" cy="1066800"/>
          </a:xfrm>
          <a:custGeom>
            <a:rect b="b" l="l" r="r" t="t"/>
            <a:pathLst>
              <a:path extrusionOk="0" h="1066800" w="76200">
                <a:moveTo>
                  <a:pt x="33400" y="990600"/>
                </a:moveTo>
                <a:lnTo>
                  <a:pt x="0" y="990600"/>
                </a:lnTo>
                <a:lnTo>
                  <a:pt x="38100" y="1066800"/>
                </a:lnTo>
                <a:lnTo>
                  <a:pt x="69850" y="1003300"/>
                </a:lnTo>
                <a:lnTo>
                  <a:pt x="33400" y="1003300"/>
                </a:lnTo>
                <a:lnTo>
                  <a:pt x="33400" y="990600"/>
                </a:lnTo>
                <a:close/>
              </a:path>
              <a:path extrusionOk="0" h="1066800" w="76200">
                <a:moveTo>
                  <a:pt x="42925" y="0"/>
                </a:moveTo>
                <a:lnTo>
                  <a:pt x="33400" y="0"/>
                </a:lnTo>
                <a:lnTo>
                  <a:pt x="33400" y="1003300"/>
                </a:lnTo>
                <a:lnTo>
                  <a:pt x="42925" y="1003300"/>
                </a:lnTo>
                <a:lnTo>
                  <a:pt x="42925" y="0"/>
                </a:lnTo>
                <a:close/>
              </a:path>
              <a:path extrusionOk="0" h="1066800" w="76200">
                <a:moveTo>
                  <a:pt x="76200" y="990600"/>
                </a:moveTo>
                <a:lnTo>
                  <a:pt x="42925" y="990600"/>
                </a:lnTo>
                <a:lnTo>
                  <a:pt x="42925" y="1003300"/>
                </a:lnTo>
                <a:lnTo>
                  <a:pt x="69850" y="1003300"/>
                </a:lnTo>
                <a:lnTo>
                  <a:pt x="76200" y="9906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8"/>
          <p:cNvSpPr txBox="1"/>
          <p:nvPr/>
        </p:nvSpPr>
        <p:spPr>
          <a:xfrm>
            <a:off x="6528307" y="1741423"/>
            <a:ext cx="1168400" cy="10013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Quotient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0320" marR="0" rtl="0" algn="l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Dividend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p28"/>
          <p:cNvSpPr txBox="1"/>
          <p:nvPr/>
        </p:nvSpPr>
        <p:spPr>
          <a:xfrm>
            <a:off x="6563359" y="4367606"/>
            <a:ext cx="1360805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Remainder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" name="Google Shape;261;p28"/>
          <p:cNvSpPr txBox="1"/>
          <p:nvPr/>
        </p:nvSpPr>
        <p:spPr>
          <a:xfrm>
            <a:off x="1144320" y="3224529"/>
            <a:ext cx="1480185" cy="75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Partial  Remainders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28"/>
          <p:cNvSpPr txBox="1"/>
          <p:nvPr/>
        </p:nvSpPr>
        <p:spPr>
          <a:xfrm>
            <a:off x="1144320" y="2309876"/>
            <a:ext cx="940435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Divisor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p28"/>
          <p:cNvSpPr/>
          <p:nvPr/>
        </p:nvSpPr>
        <p:spPr>
          <a:xfrm>
            <a:off x="5105400" y="1943100"/>
            <a:ext cx="1371600" cy="76200"/>
          </a:xfrm>
          <a:custGeom>
            <a:rect b="b" l="l" r="r" t="t"/>
            <a:pathLst>
              <a:path extrusionOk="0" h="76200" w="13716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2799"/>
                </a:lnTo>
                <a:lnTo>
                  <a:pt x="63500" y="42799"/>
                </a:lnTo>
                <a:lnTo>
                  <a:pt x="63500" y="33274"/>
                </a:lnTo>
                <a:lnTo>
                  <a:pt x="76200" y="33274"/>
                </a:lnTo>
                <a:lnTo>
                  <a:pt x="76200" y="0"/>
                </a:lnTo>
                <a:close/>
              </a:path>
              <a:path extrusionOk="0" h="76200" w="1371600">
                <a:moveTo>
                  <a:pt x="76200" y="33274"/>
                </a:moveTo>
                <a:lnTo>
                  <a:pt x="63500" y="33274"/>
                </a:lnTo>
                <a:lnTo>
                  <a:pt x="63500" y="42799"/>
                </a:lnTo>
                <a:lnTo>
                  <a:pt x="76200" y="42799"/>
                </a:lnTo>
                <a:lnTo>
                  <a:pt x="76200" y="33274"/>
                </a:lnTo>
                <a:close/>
              </a:path>
              <a:path extrusionOk="0" h="76200" w="1371600">
                <a:moveTo>
                  <a:pt x="1371600" y="33274"/>
                </a:moveTo>
                <a:lnTo>
                  <a:pt x="76200" y="33274"/>
                </a:lnTo>
                <a:lnTo>
                  <a:pt x="76200" y="42799"/>
                </a:lnTo>
                <a:lnTo>
                  <a:pt x="1371600" y="42799"/>
                </a:lnTo>
                <a:lnTo>
                  <a:pt x="1371600" y="3327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8"/>
          <p:cNvSpPr/>
          <p:nvPr/>
        </p:nvSpPr>
        <p:spPr>
          <a:xfrm>
            <a:off x="5105400" y="2476500"/>
            <a:ext cx="1371600" cy="76200"/>
          </a:xfrm>
          <a:custGeom>
            <a:rect b="b" l="l" r="r" t="t"/>
            <a:pathLst>
              <a:path extrusionOk="0" h="76200" w="13716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2799"/>
                </a:lnTo>
                <a:lnTo>
                  <a:pt x="63500" y="42799"/>
                </a:lnTo>
                <a:lnTo>
                  <a:pt x="63500" y="33274"/>
                </a:lnTo>
                <a:lnTo>
                  <a:pt x="76200" y="33274"/>
                </a:lnTo>
                <a:lnTo>
                  <a:pt x="76200" y="0"/>
                </a:lnTo>
                <a:close/>
              </a:path>
              <a:path extrusionOk="0" h="76200" w="1371600">
                <a:moveTo>
                  <a:pt x="76200" y="33274"/>
                </a:moveTo>
                <a:lnTo>
                  <a:pt x="63500" y="33274"/>
                </a:lnTo>
                <a:lnTo>
                  <a:pt x="63500" y="42799"/>
                </a:lnTo>
                <a:lnTo>
                  <a:pt x="76200" y="42799"/>
                </a:lnTo>
                <a:lnTo>
                  <a:pt x="76200" y="33274"/>
                </a:lnTo>
                <a:close/>
              </a:path>
              <a:path extrusionOk="0" h="76200" w="1371600">
                <a:moveTo>
                  <a:pt x="1371600" y="33274"/>
                </a:moveTo>
                <a:lnTo>
                  <a:pt x="76200" y="33274"/>
                </a:lnTo>
                <a:lnTo>
                  <a:pt x="76200" y="42799"/>
                </a:lnTo>
                <a:lnTo>
                  <a:pt x="1371600" y="42799"/>
                </a:lnTo>
                <a:lnTo>
                  <a:pt x="1371600" y="3327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8"/>
          <p:cNvSpPr/>
          <p:nvPr/>
        </p:nvSpPr>
        <p:spPr>
          <a:xfrm>
            <a:off x="5105400" y="4533900"/>
            <a:ext cx="1371600" cy="76200"/>
          </a:xfrm>
          <a:custGeom>
            <a:rect b="b" l="l" r="r" t="t"/>
            <a:pathLst>
              <a:path extrusionOk="0" h="76200" w="13716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2799"/>
                </a:lnTo>
                <a:lnTo>
                  <a:pt x="63500" y="42799"/>
                </a:lnTo>
                <a:lnTo>
                  <a:pt x="63500" y="33274"/>
                </a:lnTo>
                <a:lnTo>
                  <a:pt x="76200" y="33274"/>
                </a:lnTo>
                <a:lnTo>
                  <a:pt x="76200" y="0"/>
                </a:lnTo>
                <a:close/>
              </a:path>
              <a:path extrusionOk="0" h="76200" w="1371600">
                <a:moveTo>
                  <a:pt x="76200" y="33274"/>
                </a:moveTo>
                <a:lnTo>
                  <a:pt x="63500" y="33274"/>
                </a:lnTo>
                <a:lnTo>
                  <a:pt x="63500" y="42799"/>
                </a:lnTo>
                <a:lnTo>
                  <a:pt x="76200" y="42799"/>
                </a:lnTo>
                <a:lnTo>
                  <a:pt x="76200" y="33274"/>
                </a:lnTo>
                <a:close/>
              </a:path>
              <a:path extrusionOk="0" h="76200" w="1371600">
                <a:moveTo>
                  <a:pt x="1371600" y="33274"/>
                </a:moveTo>
                <a:lnTo>
                  <a:pt x="76200" y="33274"/>
                </a:lnTo>
                <a:lnTo>
                  <a:pt x="76200" y="42799"/>
                </a:lnTo>
                <a:lnTo>
                  <a:pt x="1371600" y="42799"/>
                </a:lnTo>
                <a:lnTo>
                  <a:pt x="1371600" y="3327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8"/>
          <p:cNvSpPr/>
          <p:nvPr/>
        </p:nvSpPr>
        <p:spPr>
          <a:xfrm>
            <a:off x="2665603" y="3338194"/>
            <a:ext cx="1068705" cy="563880"/>
          </a:xfrm>
          <a:custGeom>
            <a:rect b="b" l="l" r="r" t="t"/>
            <a:pathLst>
              <a:path extrusionOk="0" h="563879" w="1068704">
                <a:moveTo>
                  <a:pt x="1068197" y="548005"/>
                </a:moveTo>
                <a:lnTo>
                  <a:pt x="1054176" y="535178"/>
                </a:lnTo>
                <a:lnTo>
                  <a:pt x="1005332" y="490474"/>
                </a:lnTo>
                <a:lnTo>
                  <a:pt x="996213" y="522528"/>
                </a:lnTo>
                <a:lnTo>
                  <a:pt x="18338" y="243116"/>
                </a:lnTo>
                <a:lnTo>
                  <a:pt x="691807" y="41109"/>
                </a:lnTo>
                <a:lnTo>
                  <a:pt x="701421" y="73025"/>
                </a:lnTo>
                <a:lnTo>
                  <a:pt x="748842" y="28321"/>
                </a:lnTo>
                <a:lnTo>
                  <a:pt x="763397" y="14605"/>
                </a:lnTo>
                <a:lnTo>
                  <a:pt x="679450" y="0"/>
                </a:lnTo>
                <a:lnTo>
                  <a:pt x="689051" y="31953"/>
                </a:lnTo>
                <a:lnTo>
                  <a:pt x="0" y="238633"/>
                </a:lnTo>
                <a:lnTo>
                  <a:pt x="1397" y="243205"/>
                </a:lnTo>
                <a:lnTo>
                  <a:pt x="127" y="247777"/>
                </a:lnTo>
                <a:lnTo>
                  <a:pt x="993609" y="531685"/>
                </a:lnTo>
                <a:lnTo>
                  <a:pt x="984504" y="563753"/>
                </a:lnTo>
                <a:lnTo>
                  <a:pt x="1068197" y="54800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8"/>
          <p:cNvSpPr/>
          <p:nvPr/>
        </p:nvSpPr>
        <p:spPr>
          <a:xfrm>
            <a:off x="3886200" y="3810000"/>
            <a:ext cx="685800" cy="0"/>
          </a:xfrm>
          <a:custGeom>
            <a:rect b="b" l="l" r="r" t="t"/>
            <a:pathLst>
              <a:path extrusionOk="0" h="120000" w="685800">
                <a:moveTo>
                  <a:pt x="685800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8"/>
          <p:cNvSpPr/>
          <p:nvPr/>
        </p:nvSpPr>
        <p:spPr>
          <a:xfrm>
            <a:off x="2133600" y="2476500"/>
            <a:ext cx="381000" cy="76200"/>
          </a:xfrm>
          <a:custGeom>
            <a:rect b="b" l="l" r="r" t="t"/>
            <a:pathLst>
              <a:path extrusionOk="0" h="76200" w="381000">
                <a:moveTo>
                  <a:pt x="304800" y="0"/>
                </a:moveTo>
                <a:lnTo>
                  <a:pt x="304800" y="76200"/>
                </a:lnTo>
                <a:lnTo>
                  <a:pt x="371601" y="42799"/>
                </a:lnTo>
                <a:lnTo>
                  <a:pt x="317500" y="42799"/>
                </a:lnTo>
                <a:lnTo>
                  <a:pt x="317500" y="33274"/>
                </a:lnTo>
                <a:lnTo>
                  <a:pt x="371348" y="33274"/>
                </a:lnTo>
                <a:lnTo>
                  <a:pt x="304800" y="0"/>
                </a:lnTo>
                <a:close/>
              </a:path>
              <a:path extrusionOk="0" h="76200" w="381000">
                <a:moveTo>
                  <a:pt x="304800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304800" y="42799"/>
                </a:lnTo>
                <a:lnTo>
                  <a:pt x="304800" y="33274"/>
                </a:lnTo>
                <a:close/>
              </a:path>
              <a:path extrusionOk="0" h="76200" w="381000">
                <a:moveTo>
                  <a:pt x="371348" y="33274"/>
                </a:moveTo>
                <a:lnTo>
                  <a:pt x="317500" y="33274"/>
                </a:lnTo>
                <a:lnTo>
                  <a:pt x="317500" y="42799"/>
                </a:lnTo>
                <a:lnTo>
                  <a:pt x="371601" y="42799"/>
                </a:lnTo>
                <a:lnTo>
                  <a:pt x="381000" y="38100"/>
                </a:lnTo>
                <a:lnTo>
                  <a:pt x="371348" y="3327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8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/>
          <p:nvPr>
            <p:ph type="title"/>
          </p:nvPr>
        </p:nvSpPr>
        <p:spPr>
          <a:xfrm>
            <a:off x="329590" y="23875"/>
            <a:ext cx="639572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Flowchart for Restoring	Division</a:t>
            </a:r>
            <a:endParaRPr/>
          </a:p>
        </p:txBody>
      </p:sp>
      <p:pic>
        <p:nvPicPr>
          <p:cNvPr id="275" name="Google Shape;27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5212" y="862075"/>
            <a:ext cx="5976874" cy="579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9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1" name="Google Shape;281;p30"/>
          <p:cNvGrpSpPr/>
          <p:nvPr/>
        </p:nvGrpSpPr>
        <p:grpSpPr>
          <a:xfrm>
            <a:off x="0" y="0"/>
            <a:ext cx="9121775" cy="6837361"/>
            <a:chOff x="0" y="0"/>
            <a:chExt cx="9121775" cy="6837361"/>
          </a:xfrm>
        </p:grpSpPr>
        <p:pic>
          <p:nvPicPr>
            <p:cNvPr id="282" name="Google Shape;282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21775" cy="2781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3" name="Google Shape;283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5412" y="2401886"/>
              <a:ext cx="8870950" cy="44354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4" name="Google Shape;284;p30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1900"/>
            <a:ext cx="9143999" cy="4310126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1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76225"/>
            <a:ext cx="9143999" cy="529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2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950" y="860425"/>
            <a:ext cx="9036050" cy="523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33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13" y="1412875"/>
            <a:ext cx="9121775" cy="4032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4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98625"/>
            <a:ext cx="9144000" cy="4462399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35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7875" y="19049"/>
            <a:ext cx="6337300" cy="6838946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6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5" name="Google Shape;325;p37"/>
          <p:cNvGraphicFramePr/>
          <p:nvPr/>
        </p:nvGraphicFramePr>
        <p:xfrm>
          <a:off x="457200" y="99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{CE5F3444-4967-414A-8570-CF5EE48EE473}</a:tableStyleId>
              </a:tblPr>
              <a:tblGrid>
                <a:gridCol w="1915150"/>
                <a:gridCol w="275600"/>
                <a:gridCol w="5962025"/>
              </a:tblGrid>
              <a:tr h="8468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rgbClr val="FF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A.	</a:t>
                      </a:r>
                      <a:r>
                        <a:rPr lang="en-US" sz="2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M = 5 ,</a:t>
                      </a:r>
                      <a:endParaRPr sz="2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120025" marB="0" marR="0" marL="0">
                    <a:lnT cap="flat" cmpd="sng" w="762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T cap="flat" cmpd="sng" w="762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2508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Q = 5 , A=0000 , Q=0010</a:t>
                      </a:r>
                      <a:endParaRPr sz="2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120025" marB="0" marR="0" marL="0">
                    <a:lnT cap="flat" cmpd="sng" w="762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102450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rgbClr val="FF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B.	</a:t>
                      </a:r>
                      <a:r>
                        <a:rPr lang="en-US" sz="2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M = 12,</a:t>
                      </a:r>
                      <a:endParaRPr sz="2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97825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2216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Q = 26, A=00010 , Q= 00010</a:t>
                      </a:r>
                      <a:endParaRPr sz="2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97825" marB="0" marR="0" marL="0"/>
                </a:tc>
              </a:tr>
              <a:tr h="102422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rgbClr val="FF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C.	</a:t>
                      </a:r>
                      <a:r>
                        <a:rPr lang="en-US" sz="2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M = 9,</a:t>
                      </a:r>
                      <a:endParaRPr sz="2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97175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2501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Q = 19 , A=00001 , Q =00010</a:t>
                      </a:r>
                      <a:endParaRPr sz="2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97175" marB="0" marR="0" marL="0"/>
                </a:tc>
              </a:tr>
              <a:tr h="102430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rgbClr val="FF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D.	</a:t>
                      </a:r>
                      <a:r>
                        <a:rPr lang="en-US" sz="2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M = 32</a:t>
                      </a:r>
                      <a:endParaRPr sz="2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97175" marB="0" marR="0" marL="0"/>
                </a:tc>
                <a:tc>
                  <a:txBody>
                    <a:bodyPr/>
                    <a:lstStyle/>
                    <a:p>
                      <a:pPr indent="0" lvl="0" marL="5651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,</a:t>
                      </a:r>
                      <a:endParaRPr sz="2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97175" marB="0" marR="0" marL="0"/>
                </a:tc>
                <a:tc>
                  <a:txBody>
                    <a:bodyPr/>
                    <a:lstStyle/>
                    <a:p>
                      <a:pPr indent="0" lvl="0" marL="1111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Q = 59, A=011011, Q=000001</a:t>
                      </a:r>
                      <a:endParaRPr sz="2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97175" marB="0" marR="0" marL="0"/>
                </a:tc>
              </a:tr>
              <a:tr h="7267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171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rgbClr val="FF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E.	</a:t>
                      </a:r>
                      <a:r>
                        <a:rPr lang="en-US" sz="2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M = 17</a:t>
                      </a:r>
                      <a:endParaRPr sz="2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97825" marB="0" marR="0" marL="0"/>
                </a:tc>
                <a:tc>
                  <a:txBody>
                    <a:bodyPr/>
                    <a:lstStyle/>
                    <a:p>
                      <a:pPr indent="0" lvl="0" marL="56514" marR="0" rtl="0" algn="l">
                        <a:lnSpc>
                          <a:spcPct val="1171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,</a:t>
                      </a:r>
                      <a:endParaRPr sz="2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97825" marB="0" marR="0" marL="0"/>
                </a:tc>
                <a:tc>
                  <a:txBody>
                    <a:bodyPr/>
                    <a:lstStyle/>
                    <a:p>
                      <a:pPr indent="0" lvl="0" marL="111125" marR="0" rtl="0" algn="l">
                        <a:lnSpc>
                          <a:spcPct val="1171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Q = 42, A=001000 , Q=000010</a:t>
                      </a:r>
                      <a:endParaRPr sz="2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97825" marB="0" marR="0" marL="0"/>
                </a:tc>
              </a:tr>
            </a:tbl>
          </a:graphicData>
        </a:graphic>
      </p:graphicFrame>
      <p:sp>
        <p:nvSpPr>
          <p:cNvPr id="326" name="Google Shape;326;p37"/>
          <p:cNvSpPr txBox="1"/>
          <p:nvPr>
            <p:ph type="title"/>
          </p:nvPr>
        </p:nvSpPr>
        <p:spPr>
          <a:xfrm>
            <a:off x="485343" y="484073"/>
            <a:ext cx="590740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Solve using Restoring Division</a:t>
            </a:r>
            <a:endParaRPr/>
          </a:p>
        </p:txBody>
      </p:sp>
      <p:sp>
        <p:nvSpPr>
          <p:cNvPr id="327" name="Google Shape;327;p37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8820150" cy="6857997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8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7450" y="71373"/>
            <a:ext cx="6429375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212" y="2822511"/>
            <a:ext cx="9094787" cy="3630676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9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" name="Google Shape;345;p40"/>
          <p:cNvGrpSpPr/>
          <p:nvPr/>
        </p:nvGrpSpPr>
        <p:grpSpPr>
          <a:xfrm>
            <a:off x="0" y="260350"/>
            <a:ext cx="9143936" cy="6557961"/>
            <a:chOff x="0" y="260350"/>
            <a:chExt cx="9143936" cy="6557961"/>
          </a:xfrm>
        </p:grpSpPr>
        <p:pic>
          <p:nvPicPr>
            <p:cNvPr id="346" name="Google Shape;346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260350"/>
              <a:ext cx="9143936" cy="2914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7" name="Google Shape;347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7087" y="3175062"/>
              <a:ext cx="7885049" cy="36432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8" name="Google Shape;348;p40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3" name="Google Shape;353;p41"/>
          <p:cNvGraphicFramePr/>
          <p:nvPr/>
        </p:nvGraphicFramePr>
        <p:xfrm>
          <a:off x="457200" y="99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{CE5F3444-4967-414A-8570-CF5EE48EE473}</a:tableStyleId>
              </a:tblPr>
              <a:tblGrid>
                <a:gridCol w="1915150"/>
                <a:gridCol w="275600"/>
                <a:gridCol w="5962025"/>
              </a:tblGrid>
              <a:tr h="8468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rgbClr val="FF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A.	</a:t>
                      </a:r>
                      <a:r>
                        <a:rPr lang="en-US" sz="2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M = 5 ,</a:t>
                      </a:r>
                      <a:endParaRPr sz="2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120025" marB="0" marR="0" marL="0">
                    <a:lnT cap="flat" cmpd="sng" w="762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T cap="flat" cmpd="sng" w="762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2508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Q = 5,A=0000,Q=0001.</a:t>
                      </a:r>
                      <a:endParaRPr sz="2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120025" marB="0" marR="0" marL="0">
                    <a:lnT cap="flat" cmpd="sng" w="762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102450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rgbClr val="FF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B.	</a:t>
                      </a:r>
                      <a:r>
                        <a:rPr lang="en-US" sz="2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M = 12,</a:t>
                      </a:r>
                      <a:endParaRPr sz="2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97825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2216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Q = 26,A=000010, Q=000010.</a:t>
                      </a:r>
                      <a:endParaRPr sz="2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97825" marB="0" marR="0" marL="0"/>
                </a:tc>
              </a:tr>
              <a:tr h="102422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rgbClr val="FF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C.	</a:t>
                      </a:r>
                      <a:r>
                        <a:rPr lang="en-US" sz="2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M = 9,</a:t>
                      </a:r>
                      <a:endParaRPr sz="2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97175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2501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Q = 19,A=00001,Q=00010.</a:t>
                      </a:r>
                      <a:endParaRPr sz="2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97175" marB="0" marR="0" marL="0"/>
                </a:tc>
              </a:tr>
              <a:tr h="102430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rgbClr val="FF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D.	</a:t>
                      </a:r>
                      <a:r>
                        <a:rPr lang="en-US" sz="2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M = 32</a:t>
                      </a:r>
                      <a:endParaRPr sz="2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97175" marB="0" marR="0" marL="0"/>
                </a:tc>
                <a:tc>
                  <a:txBody>
                    <a:bodyPr/>
                    <a:lstStyle/>
                    <a:p>
                      <a:pPr indent="0" lvl="0" marL="5651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,</a:t>
                      </a:r>
                      <a:endParaRPr sz="2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97175" marB="0" marR="0" marL="0"/>
                </a:tc>
                <a:tc>
                  <a:txBody>
                    <a:bodyPr/>
                    <a:lstStyle/>
                    <a:p>
                      <a:pPr indent="0" lvl="0" marL="1111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Q = 59,A=011011,Q=000001.</a:t>
                      </a:r>
                      <a:endParaRPr sz="2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97175" marB="0" marR="0" marL="0"/>
                </a:tc>
              </a:tr>
              <a:tr h="7267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171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rgbClr val="FF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E.	</a:t>
                      </a:r>
                      <a:r>
                        <a:rPr lang="en-US" sz="2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M = 17</a:t>
                      </a:r>
                      <a:endParaRPr sz="2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97825" marB="0" marR="0" marL="0"/>
                </a:tc>
                <a:tc>
                  <a:txBody>
                    <a:bodyPr/>
                    <a:lstStyle/>
                    <a:p>
                      <a:pPr indent="0" lvl="0" marL="56514" marR="0" rtl="0" algn="l">
                        <a:lnSpc>
                          <a:spcPct val="1171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,</a:t>
                      </a:r>
                      <a:endParaRPr sz="2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97825" marB="0" marR="0" marL="0"/>
                </a:tc>
                <a:tc>
                  <a:txBody>
                    <a:bodyPr/>
                    <a:lstStyle/>
                    <a:p>
                      <a:pPr indent="0" lvl="0" marL="111125" marR="0" rtl="0" algn="l">
                        <a:lnSpc>
                          <a:spcPct val="1171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Q = 42,A=001000,Q=000010</a:t>
                      </a:r>
                      <a:endParaRPr sz="2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97825" marB="0" marR="0" marL="0"/>
                </a:tc>
              </a:tr>
            </a:tbl>
          </a:graphicData>
        </a:graphic>
      </p:graphicFrame>
      <p:sp>
        <p:nvSpPr>
          <p:cNvPr id="354" name="Google Shape;354;p41"/>
          <p:cNvSpPr txBox="1"/>
          <p:nvPr>
            <p:ph type="title"/>
          </p:nvPr>
        </p:nvSpPr>
        <p:spPr>
          <a:xfrm>
            <a:off x="485343" y="484073"/>
            <a:ext cx="513588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Solve using Non Restoring</a:t>
            </a:r>
            <a:endParaRPr/>
          </a:p>
        </p:txBody>
      </p:sp>
      <p:sp>
        <p:nvSpPr>
          <p:cNvPr id="355" name="Google Shape;355;p41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2"/>
          <p:cNvSpPr txBox="1"/>
          <p:nvPr>
            <p:ph type="title"/>
          </p:nvPr>
        </p:nvSpPr>
        <p:spPr>
          <a:xfrm>
            <a:off x="485343" y="57404"/>
            <a:ext cx="7045959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Booths Recoding / Bit pair recording</a:t>
            </a:r>
            <a:endParaRPr/>
          </a:p>
        </p:txBody>
      </p:sp>
      <p:sp>
        <p:nvSpPr>
          <p:cNvPr id="361" name="Google Shape;361;p42"/>
          <p:cNvSpPr txBox="1"/>
          <p:nvPr/>
        </p:nvSpPr>
        <p:spPr>
          <a:xfrm>
            <a:off x="535940" y="1098549"/>
            <a:ext cx="1023619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STEPS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2" name="Google Shape;362;p42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25625"/>
            <a:ext cx="9143935" cy="4392549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43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3" name="Google Shape;373;p44"/>
          <p:cNvGrpSpPr/>
          <p:nvPr/>
        </p:nvGrpSpPr>
        <p:grpSpPr>
          <a:xfrm>
            <a:off x="0" y="1263713"/>
            <a:ext cx="9144000" cy="4621530"/>
            <a:chOff x="0" y="1263713"/>
            <a:chExt cx="9144000" cy="4621530"/>
          </a:xfrm>
        </p:grpSpPr>
        <p:pic>
          <p:nvPicPr>
            <p:cNvPr id="374" name="Google Shape;374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268475"/>
              <a:ext cx="9143935" cy="46116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44"/>
            <p:cNvSpPr/>
            <p:nvPr/>
          </p:nvSpPr>
          <p:spPr>
            <a:xfrm>
              <a:off x="0" y="1263713"/>
              <a:ext cx="9144000" cy="4621530"/>
            </a:xfrm>
            <a:custGeom>
              <a:rect b="b" l="l" r="r" t="t"/>
              <a:pathLst>
                <a:path extrusionOk="0" h="4621530" w="9144000">
                  <a:moveTo>
                    <a:pt x="0" y="4621149"/>
                  </a:moveTo>
                  <a:lnTo>
                    <a:pt x="9143999" y="4621149"/>
                  </a:lnTo>
                </a:path>
                <a:path extrusionOk="0" h="4621530" w="9144000">
                  <a:moveTo>
                    <a:pt x="9143999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6" name="Google Shape;376;p44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950" y="1243012"/>
            <a:ext cx="8856599" cy="507365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45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825" y="62"/>
            <a:ext cx="8280400" cy="6824599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46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7"/>
          <p:cNvSpPr txBox="1"/>
          <p:nvPr/>
        </p:nvSpPr>
        <p:spPr>
          <a:xfrm>
            <a:off x="186639" y="484073"/>
            <a:ext cx="8179434" cy="4170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11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Solve using Booths Recoding</a:t>
            </a:r>
            <a:endParaRPr sz="2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1.	</a:t>
            </a: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M= 5 , Q = 4	(4 bits)= 00010100	(20)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2.	</a:t>
            </a: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M=9	, Q = -6	(5 bits)=11110 01010 (-54)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3.	</a:t>
            </a: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M=15 , Q=-10	(5 bits)=11011 01010(-150)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4.	</a:t>
            </a: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M= -13 ,Q = -20	(6 bits )=000100000100(260)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4" name="Google Shape;394;p47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8"/>
          <p:cNvSpPr txBox="1"/>
          <p:nvPr/>
        </p:nvSpPr>
        <p:spPr>
          <a:xfrm>
            <a:off x="186639" y="57404"/>
            <a:ext cx="8562340" cy="60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11150" marR="13131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Sample mix problems-Kindly refrain  referring to flowchart.</a:t>
            </a:r>
            <a:endParaRPr sz="2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1. Booth’s Algorithm = 000 100 000 100(260)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4333875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A= 110011	(Multiplicand )  B= 101100		(Multiplier)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2. Booth’s Recoding = 0110 1010/11011 01010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6904355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M= ( 15	)  Q= ( -10 )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43865" lvl="0" marL="455930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AutoNum type="arabicPeriod" startAt="3"/>
            </a:pPr>
            <a:r>
              <a:rPr b="1"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Non Restoring Division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M=11 , Q= 21 , A= 01010 , Q= 00001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43865" lvl="0" marL="455930" marR="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AutoNum type="arabicPeriod" startAt="4"/>
            </a:pPr>
            <a:r>
              <a:rPr b="1"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Restoring Division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M=14 , Q= 15, A=00001 , Q = 00001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0" name="Google Shape;400;p48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9"/>
          <p:cNvSpPr txBox="1"/>
          <p:nvPr>
            <p:ph type="title"/>
          </p:nvPr>
        </p:nvSpPr>
        <p:spPr>
          <a:xfrm>
            <a:off x="485343" y="484073"/>
            <a:ext cx="272859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Floating Point</a:t>
            </a:r>
            <a:endParaRPr/>
          </a:p>
        </p:txBody>
      </p:sp>
      <p:sp>
        <p:nvSpPr>
          <p:cNvPr id="406" name="Google Shape;406;p49"/>
          <p:cNvSpPr txBox="1"/>
          <p:nvPr/>
        </p:nvSpPr>
        <p:spPr>
          <a:xfrm>
            <a:off x="510540" y="3497414"/>
            <a:ext cx="7998459" cy="27488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425">
            <a:spAutoFit/>
          </a:bodyPr>
          <a:lstStyle/>
          <a:p>
            <a:pPr indent="0" lvl="0" marL="38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•	</a:t>
            </a:r>
            <a:r>
              <a:rPr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floating point number, is a positive or negative whole number with a decimal point. For example, 5.5, 0.25, and -103.342 are all floating point numbers, while 91, and 0 are not</a:t>
            </a:r>
            <a:endParaRPr/>
          </a:p>
          <a:p>
            <a:pPr indent="0" lvl="0" marL="38100" marR="0" rtl="0" algn="just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+/- .significand x 2</a:t>
            </a:r>
            <a:r>
              <a:rPr b="1" baseline="30000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exponent</a:t>
            </a:r>
            <a:endParaRPr b="1" baseline="30000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81000" marR="0" rtl="0" algn="just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Misnomer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81000" marR="30480" rtl="0" algn="just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Point is actually fixed between sign bit and body  of mantissa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81000" marR="0" rtl="0" algn="just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Exponent indicates place value (point position)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07" name="Google Shape;407;p49"/>
          <p:cNvGraphicFramePr/>
          <p:nvPr/>
        </p:nvGraphicFramePr>
        <p:xfrm>
          <a:off x="604837" y="16716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{CE5F3444-4967-414A-8570-CF5EE48EE473}</a:tableStyleId>
              </a:tblPr>
              <a:tblGrid>
                <a:gridCol w="457200"/>
                <a:gridCol w="1371600"/>
                <a:gridCol w="6477000"/>
              </a:tblGrid>
              <a:tr h="1371600">
                <a:tc>
                  <a:txBody>
                    <a:bodyPr/>
                    <a:lstStyle/>
                    <a:p>
                      <a:pPr indent="0" lvl="0" marL="1701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Sign bit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9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117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Biased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117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Exponent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3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21494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Significand or Mantissa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1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8" name="Google Shape;408;p49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0"/>
          <p:cNvSpPr txBox="1"/>
          <p:nvPr>
            <p:ph type="title"/>
          </p:nvPr>
        </p:nvSpPr>
        <p:spPr>
          <a:xfrm>
            <a:off x="869696" y="1098549"/>
            <a:ext cx="7404607" cy="878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50"/>
          <p:cNvSpPr txBox="1"/>
          <p:nvPr>
            <p:ph idx="1" type="body"/>
          </p:nvPr>
        </p:nvSpPr>
        <p:spPr>
          <a:xfrm>
            <a:off x="604837" y="1671637"/>
            <a:ext cx="8320405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5" name="Google Shape;415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0" y="2895600"/>
            <a:ext cx="52324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50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1"/>
          <p:cNvSpPr txBox="1"/>
          <p:nvPr>
            <p:ph type="title"/>
          </p:nvPr>
        </p:nvSpPr>
        <p:spPr>
          <a:xfrm>
            <a:off x="485343" y="484073"/>
            <a:ext cx="473964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Floating Point Examples</a:t>
            </a:r>
            <a:endParaRPr/>
          </a:p>
        </p:txBody>
      </p:sp>
      <p:pic>
        <p:nvPicPr>
          <p:cNvPr id="422" name="Google Shape;422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2" y="2433573"/>
            <a:ext cx="8934450" cy="15621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51"/>
          <p:cNvSpPr txBox="1"/>
          <p:nvPr/>
        </p:nvSpPr>
        <p:spPr>
          <a:xfrm>
            <a:off x="762000" y="4495800"/>
            <a:ext cx="7924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Typical 32-Bit Floating-Point Format</a:t>
            </a:r>
            <a:endParaRPr/>
          </a:p>
        </p:txBody>
      </p:sp>
      <p:sp>
        <p:nvSpPr>
          <p:cNvPr id="424" name="Google Shape;424;p51"/>
          <p:cNvSpPr txBox="1"/>
          <p:nvPr/>
        </p:nvSpPr>
        <p:spPr>
          <a:xfrm>
            <a:off x="762000" y="5105400"/>
            <a:ext cx="78486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leftmost bit stores the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exponent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value is stored in the next 8 bits.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representation used is known  as a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biased representation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fixed value, called the bias, is subtracted from the field to get the true exponent value.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51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2"/>
          <p:cNvSpPr txBox="1"/>
          <p:nvPr>
            <p:ph type="title"/>
          </p:nvPr>
        </p:nvSpPr>
        <p:spPr>
          <a:xfrm>
            <a:off x="762000" y="152400"/>
            <a:ext cx="7404607" cy="878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52"/>
          <p:cNvSpPr txBox="1"/>
          <p:nvPr>
            <p:ph idx="1" type="body"/>
          </p:nvPr>
        </p:nvSpPr>
        <p:spPr>
          <a:xfrm>
            <a:off x="381001" y="1143001"/>
            <a:ext cx="8544242" cy="2492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/>
              <a:t>A fixed value, called the bias, is subtracted from the field to get the true exponent value. Typically, the bias equals where k is the number of bits in the binary exponent.</a:t>
            </a:r>
            <a:endParaRPr/>
          </a:p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/>
              <a:t>In this case, the 8-bit field yields the numbers 0 through 255.</a:t>
            </a:r>
            <a:endParaRPr/>
          </a:p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/>
              <a:t>With a bias of 127 (2^7-1), true exponent values are in the range -127 to 128. In this example, the base is assumed to be 2. </a:t>
            </a:r>
            <a:endParaRPr/>
          </a:p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/>
              <a:t>A normalized number is one in which the most significant digit of the significand is nonzero. For base 2 representation, a normalized number is therefore one in which the most significant bit of the significand is one</a:t>
            </a:r>
            <a:endParaRPr/>
          </a:p>
          <a:p>
            <a:pPr indent="-1714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432" name="Google Shape;432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3740638"/>
            <a:ext cx="7239000" cy="1136162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52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3"/>
          <p:cNvSpPr txBox="1"/>
          <p:nvPr>
            <p:ph type="title"/>
          </p:nvPr>
        </p:nvSpPr>
        <p:spPr>
          <a:xfrm>
            <a:off x="485343" y="484073"/>
            <a:ext cx="456438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Signs for Floating Point</a:t>
            </a:r>
            <a:endParaRPr/>
          </a:p>
        </p:txBody>
      </p:sp>
      <p:sp>
        <p:nvSpPr>
          <p:cNvPr id="439" name="Google Shape;439;p53"/>
          <p:cNvSpPr txBox="1"/>
          <p:nvPr/>
        </p:nvSpPr>
        <p:spPr>
          <a:xfrm>
            <a:off x="535940" y="1012596"/>
            <a:ext cx="6675755" cy="3245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77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ahoma"/>
              <a:buChar char="•"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Mantissa is stored in 2s compliment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ahoma"/>
              <a:buChar char="•"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Exponent is in excess or biased notation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—</a:t>
            </a: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e.g. Excess (bias) 128 means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—</a:t>
            </a: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8 bit exponent field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—</a:t>
            </a: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Pure value range 0-255</a:t>
            </a:r>
            <a:endParaRPr/>
          </a:p>
          <a:p>
            <a:pPr indent="0" lvl="0" marL="469900" marR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—</a:t>
            </a: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Subtract 128 to get correct value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—</a:t>
            </a: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Range -128 to +127</a:t>
            </a:r>
            <a:endParaRPr/>
          </a:p>
        </p:txBody>
      </p:sp>
      <p:sp>
        <p:nvSpPr>
          <p:cNvPr id="440" name="Google Shape;440;p53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4"/>
          <p:cNvSpPr txBox="1"/>
          <p:nvPr>
            <p:ph type="title"/>
          </p:nvPr>
        </p:nvSpPr>
        <p:spPr>
          <a:xfrm>
            <a:off x="485343" y="484073"/>
            <a:ext cx="4148454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Expressible Numbers</a:t>
            </a:r>
            <a:endParaRPr/>
          </a:p>
        </p:txBody>
      </p:sp>
      <p:pic>
        <p:nvPicPr>
          <p:cNvPr id="446" name="Google Shape;446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1652588"/>
            <a:ext cx="7048500" cy="3556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54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5"/>
          <p:cNvSpPr txBox="1"/>
          <p:nvPr>
            <p:ph type="title"/>
          </p:nvPr>
        </p:nvSpPr>
        <p:spPr>
          <a:xfrm>
            <a:off x="838200" y="228600"/>
            <a:ext cx="7404607" cy="878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55"/>
          <p:cNvSpPr txBox="1"/>
          <p:nvPr>
            <p:ph idx="1" type="body"/>
          </p:nvPr>
        </p:nvSpPr>
        <p:spPr>
          <a:xfrm>
            <a:off x="411797" y="533400"/>
            <a:ext cx="8320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714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454" name="Google Shape;454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1496840"/>
            <a:ext cx="60198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0519" y="2133600"/>
            <a:ext cx="7772400" cy="28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55"/>
          <p:cNvSpPr txBox="1"/>
          <p:nvPr/>
        </p:nvSpPr>
        <p:spPr>
          <a:xfrm>
            <a:off x="457200" y="5029200"/>
            <a:ext cx="8382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Overflow occurs when an arithmetic operation results in a magnitude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greater than can be expressed with an exponent of 128.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Underflow occurs when the fractional magnitude is too small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55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6"/>
          <p:cNvSpPr txBox="1"/>
          <p:nvPr/>
        </p:nvSpPr>
        <p:spPr>
          <a:xfrm>
            <a:off x="485343" y="295911"/>
            <a:ext cx="8040370" cy="44217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IEEE 754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3535" lvl="0" marL="405765" marR="0" rtl="0" algn="l">
              <a:lnSpc>
                <a:spcPct val="100000"/>
              </a:lnSpc>
              <a:spcBef>
                <a:spcPts val="1475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 for floating point storage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3535" lvl="0" marL="405765" marR="0" rtl="0" algn="l">
              <a:lnSpc>
                <a:spcPct val="100000"/>
              </a:lnSpc>
              <a:spcBef>
                <a:spcPts val="1475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developed to facilitate the portability of programs from one processor to another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3535" lvl="0" marL="405765" marR="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Defines 32 and 64 bit standards with 8 and 11 bit exponent respectively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3535" lvl="0" marL="405765" marR="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standard defines two extended formats, single and double, whose exact format is implementation dependent.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3535" lvl="0" marL="405765" marR="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extended formats include additional bits in the exponent (extended range) and in the significand (extended precision).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3535" lvl="0" marL="405765" marR="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extended formats are to be used for intermediate calculations.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05765" marR="508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Extended formats (both mantissa and exponent)  for intermediate results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3" name="Google Shape;463;p56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7"/>
          <p:cNvSpPr txBox="1"/>
          <p:nvPr>
            <p:ph type="title"/>
          </p:nvPr>
        </p:nvSpPr>
        <p:spPr>
          <a:xfrm>
            <a:off x="485343" y="484073"/>
            <a:ext cx="347662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IEEE 754 Formats</a:t>
            </a:r>
            <a:endParaRPr/>
          </a:p>
        </p:txBody>
      </p:sp>
      <p:pic>
        <p:nvPicPr>
          <p:cNvPr id="469" name="Google Shape;469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" y="2059251"/>
            <a:ext cx="8900159" cy="335226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57"/>
          <p:cNvSpPr txBox="1"/>
          <p:nvPr/>
        </p:nvSpPr>
        <p:spPr>
          <a:xfrm>
            <a:off x="3498850" y="3023361"/>
            <a:ext cx="89789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 BIT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1" name="Google Shape;471;p57"/>
          <p:cNvSpPr txBox="1"/>
          <p:nvPr/>
        </p:nvSpPr>
        <p:spPr>
          <a:xfrm>
            <a:off x="3498850" y="5036566"/>
            <a:ext cx="89789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64 BIT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2" name="Google Shape;472;p57"/>
          <p:cNvSpPr txBox="1"/>
          <p:nvPr/>
        </p:nvSpPr>
        <p:spPr>
          <a:xfrm>
            <a:off x="6332854" y="2015185"/>
            <a:ext cx="1626870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(1.N)2</a:t>
            </a:r>
            <a:r>
              <a:rPr baseline="30000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E-127</a:t>
            </a:r>
            <a:endParaRPr baseline="30000"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3" name="Google Shape;473;p57"/>
          <p:cNvSpPr txBox="1"/>
          <p:nvPr/>
        </p:nvSpPr>
        <p:spPr>
          <a:xfrm>
            <a:off x="6526656" y="5876035"/>
            <a:ext cx="1778635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(1.N)2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E-1023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4" name="Google Shape;474;p57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8"/>
          <p:cNvSpPr txBox="1"/>
          <p:nvPr>
            <p:ph type="title"/>
          </p:nvPr>
        </p:nvSpPr>
        <p:spPr>
          <a:xfrm>
            <a:off x="485343" y="484073"/>
            <a:ext cx="112776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Steps</a:t>
            </a:r>
            <a:endParaRPr/>
          </a:p>
        </p:txBody>
      </p:sp>
      <p:sp>
        <p:nvSpPr>
          <p:cNvPr id="480" name="Google Shape;480;p58"/>
          <p:cNvSpPr txBox="1"/>
          <p:nvPr/>
        </p:nvSpPr>
        <p:spPr>
          <a:xfrm>
            <a:off x="258267" y="1120851"/>
            <a:ext cx="4386580" cy="154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ahoma"/>
              <a:buChar char="•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1. Convert Decimal to Binary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2014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ahoma"/>
              <a:buChar char="•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2. Normalization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178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— </a:t>
            </a: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Rewriting Step 1 into (1.N) form</a:t>
            </a:r>
            <a:endParaRPr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81" name="Google Shape;481;p58"/>
          <p:cNvSpPr txBox="1"/>
          <p:nvPr/>
        </p:nvSpPr>
        <p:spPr>
          <a:xfrm>
            <a:off x="690067" y="2913633"/>
            <a:ext cx="476694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— </a:t>
            </a: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Ex: 1 1 1 . 0 1 1	= </a:t>
            </a:r>
            <a:r>
              <a:rPr b="1" lang="en-US" sz="28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1 . </a:t>
            </a: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1 1 0 1 1 </a:t>
            </a:r>
            <a:r>
              <a:rPr lang="en-US"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 </a:t>
            </a: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 </a:t>
            </a:r>
            <a:r>
              <a:rPr b="1" baseline="30000" lang="en-US" sz="2775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aseline="30000" sz="2775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82" name="Google Shape;482;p58"/>
          <p:cNvSpPr txBox="1"/>
          <p:nvPr/>
        </p:nvSpPr>
        <p:spPr>
          <a:xfrm>
            <a:off x="6948551" y="3021076"/>
            <a:ext cx="1224280" cy="5048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0650">
            <a:spAutoFit/>
          </a:bodyPr>
          <a:lstStyle/>
          <a:p>
            <a:pPr indent="0" lvl="0" marL="146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Exponent</a:t>
            </a:r>
            <a:endParaRPr sz="1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83" name="Google Shape;483;p58"/>
          <p:cNvSpPr txBox="1"/>
          <p:nvPr/>
        </p:nvSpPr>
        <p:spPr>
          <a:xfrm>
            <a:off x="220167" y="3639058"/>
            <a:ext cx="8762365" cy="25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5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—	</a:t>
            </a: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Ex: 0 . 0 0 0 1 0	= 0 0 0 0 </a:t>
            </a:r>
            <a:r>
              <a:rPr b="1" lang="en-US" sz="24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1 . </a:t>
            </a: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0 </a:t>
            </a:r>
            <a:r>
              <a:rPr lang="en-US"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 </a:t>
            </a: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 </a:t>
            </a:r>
            <a:r>
              <a:rPr b="1" lang="en-US" sz="28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r>
              <a:rPr b="1" baseline="30000" lang="en-US" sz="2775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 baseline="30000" sz="2775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93700" marR="0" rtl="0" algn="l">
              <a:lnSpc>
                <a:spcPct val="100000"/>
              </a:lnSpc>
              <a:spcBef>
                <a:spcPts val="212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ahoma"/>
              <a:buChar char="•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3.Biasing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7019" lvl="0" marL="794385" marR="43180" rtl="0" algn="l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— </a:t>
            </a: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Applying Single Precision (E – 1 2 7) &amp; Double Precision ( E – 1 0 2 3 )  on exponent from Step 2</a:t>
            </a:r>
            <a:endParaRPr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93700" marR="0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ahoma"/>
              <a:buChar char="•"/>
            </a:pP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4. Representation in Single (32 bit )and Double Precision (64 bit ) Format</a:t>
            </a:r>
            <a:endParaRPr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84" name="Google Shape;484;p58"/>
          <p:cNvSpPr/>
          <p:nvPr/>
        </p:nvSpPr>
        <p:spPr>
          <a:xfrm>
            <a:off x="5499100" y="3258820"/>
            <a:ext cx="1449705" cy="616585"/>
          </a:xfrm>
          <a:custGeom>
            <a:rect b="b" l="l" r="r" t="t"/>
            <a:pathLst>
              <a:path extrusionOk="0" h="616585" w="1449704">
                <a:moveTo>
                  <a:pt x="1418844" y="0"/>
                </a:moveTo>
                <a:lnTo>
                  <a:pt x="108838" y="616330"/>
                </a:lnTo>
              </a:path>
              <a:path extrusionOk="0" h="616585" w="1449704">
                <a:moveTo>
                  <a:pt x="0" y="14604"/>
                </a:moveTo>
                <a:lnTo>
                  <a:pt x="1449451" y="14604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58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0" name="Google Shape;490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550" y="260350"/>
            <a:ext cx="3433826" cy="20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59"/>
          <p:cNvPicPr preferRelativeResize="0"/>
          <p:nvPr/>
        </p:nvPicPr>
        <p:blipFill rotWithShape="1">
          <a:blip r:embed="rId4">
            <a:alphaModFix/>
          </a:blip>
          <a:srcRect b="0" l="32455" r="0" t="14668"/>
          <a:stretch/>
        </p:blipFill>
        <p:spPr>
          <a:xfrm>
            <a:off x="1329150" y="2604800"/>
            <a:ext cx="6110349" cy="393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59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0"/>
          <p:cNvSpPr txBox="1"/>
          <p:nvPr>
            <p:ph type="title"/>
          </p:nvPr>
        </p:nvSpPr>
        <p:spPr>
          <a:xfrm>
            <a:off x="485343" y="484073"/>
            <a:ext cx="312293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Solved Example</a:t>
            </a:r>
            <a:endParaRPr/>
          </a:p>
        </p:txBody>
      </p:sp>
      <p:pic>
        <p:nvPicPr>
          <p:cNvPr id="498" name="Google Shape;498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387" y="908113"/>
            <a:ext cx="8945499" cy="5760974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60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4" name="Google Shape;504;p61"/>
          <p:cNvGrpSpPr/>
          <p:nvPr/>
        </p:nvGrpSpPr>
        <p:grpSpPr>
          <a:xfrm>
            <a:off x="0" y="404875"/>
            <a:ext cx="9036050" cy="6453121"/>
            <a:chOff x="0" y="404875"/>
            <a:chExt cx="9036050" cy="6453121"/>
          </a:xfrm>
        </p:grpSpPr>
        <p:pic>
          <p:nvPicPr>
            <p:cNvPr id="505" name="Google Shape;505;p6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404875"/>
              <a:ext cx="9036050" cy="14874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6" name="Google Shape;506;p6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619250" y="1892299"/>
              <a:ext cx="5938774" cy="49656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7" name="Google Shape;507;p6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202301" y="2781299"/>
              <a:ext cx="2371725" cy="5524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08" name="Google Shape;508;p61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825" y="811276"/>
            <a:ext cx="8362950" cy="5065649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62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" name="Google Shape;519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81075"/>
            <a:ext cx="9097899" cy="5229225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63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64"/>
          <p:cNvSpPr txBox="1"/>
          <p:nvPr>
            <p:ph type="title"/>
          </p:nvPr>
        </p:nvSpPr>
        <p:spPr>
          <a:xfrm>
            <a:off x="485343" y="484073"/>
            <a:ext cx="109029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Solve</a:t>
            </a:r>
            <a:endParaRPr/>
          </a:p>
        </p:txBody>
      </p:sp>
      <p:sp>
        <p:nvSpPr>
          <p:cNvPr id="526" name="Google Shape;526;p64"/>
          <p:cNvSpPr txBox="1"/>
          <p:nvPr/>
        </p:nvSpPr>
        <p:spPr>
          <a:xfrm>
            <a:off x="474065" y="1098550"/>
            <a:ext cx="65849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25.44</a:t>
            </a:r>
            <a:endParaRPr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7" name="Google Shape;527;p64"/>
          <p:cNvSpPr txBox="1"/>
          <p:nvPr/>
        </p:nvSpPr>
        <p:spPr>
          <a:xfrm>
            <a:off x="2141600" y="1008250"/>
            <a:ext cx="63186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6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SP- 0|10000011|1001 01</a:t>
            </a: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1 0000 1010 </a:t>
            </a: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0011 110</a:t>
            </a:r>
            <a:endParaRPr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90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DP- 0|10000000011|1001 0111 0000 1010 0011 110</a:t>
            </a:r>
            <a:endParaRPr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8" name="Google Shape;528;p64"/>
          <p:cNvSpPr txBox="1"/>
          <p:nvPr/>
        </p:nvSpPr>
        <p:spPr>
          <a:xfrm>
            <a:off x="474065" y="2195906"/>
            <a:ext cx="935990" cy="331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0.00635</a:t>
            </a:r>
            <a:endParaRPr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9" name="Google Shape;529;p64"/>
          <p:cNvSpPr txBox="1"/>
          <p:nvPr/>
        </p:nvSpPr>
        <p:spPr>
          <a:xfrm>
            <a:off x="2093639" y="2135544"/>
            <a:ext cx="4417060" cy="148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6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SP-	0|1110111|00000001101000…</a:t>
            </a:r>
            <a:endParaRPr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13969" lvl="0" marL="45720" marR="508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DP- 0|1111110111|00000001101000…  SP- 1 | 10000101| 1111 010001</a:t>
            </a:r>
            <a:endParaRPr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60325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DP- 1 | 10000000101| 1111 010001</a:t>
            </a:r>
            <a:endParaRPr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30" name="Google Shape;530;p64"/>
          <p:cNvSpPr txBox="1"/>
          <p:nvPr/>
        </p:nvSpPr>
        <p:spPr>
          <a:xfrm>
            <a:off x="474065" y="2927731"/>
            <a:ext cx="890269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-125.10</a:t>
            </a:r>
            <a:endParaRPr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31" name="Google Shape;531;p64"/>
          <p:cNvSpPr txBox="1"/>
          <p:nvPr/>
        </p:nvSpPr>
        <p:spPr>
          <a:xfrm>
            <a:off x="474065" y="4025265"/>
            <a:ext cx="75184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-13.54</a:t>
            </a:r>
            <a:endParaRPr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32" name="Google Shape;532;p64"/>
          <p:cNvSpPr txBox="1"/>
          <p:nvPr/>
        </p:nvSpPr>
        <p:spPr>
          <a:xfrm>
            <a:off x="2141601" y="3964914"/>
            <a:ext cx="3885565" cy="75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650">
            <a:spAutoFit/>
          </a:bodyPr>
          <a:lstStyle/>
          <a:p>
            <a:pPr indent="0" lvl="0" marL="184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SP- 1|10000010|10110001010</a:t>
            </a:r>
            <a:endParaRPr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DP- 1|10000000010|10110001010</a:t>
            </a:r>
            <a:endParaRPr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33" name="Google Shape;533;p64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65"/>
          <p:cNvSpPr txBox="1"/>
          <p:nvPr>
            <p:ph type="title"/>
          </p:nvPr>
        </p:nvSpPr>
        <p:spPr>
          <a:xfrm>
            <a:off x="485343" y="484073"/>
            <a:ext cx="509651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Sample Problems to Solve</a:t>
            </a:r>
            <a:endParaRPr/>
          </a:p>
        </p:txBody>
      </p:sp>
      <p:sp>
        <p:nvSpPr>
          <p:cNvPr id="539" name="Google Shape;539;p65"/>
          <p:cNvSpPr txBox="1"/>
          <p:nvPr/>
        </p:nvSpPr>
        <p:spPr>
          <a:xfrm>
            <a:off x="535940" y="1025398"/>
            <a:ext cx="6468110" cy="529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7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1)	</a:t>
            </a: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178.1875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245618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SP 0|10000110|01100100011  DP 0|10000000110|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1)	</a:t>
            </a: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309.175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195707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SP 0|10000111|01011101001011  DP 0|10000000111|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1)	</a:t>
            </a: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1259.125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508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SP 0|10001001|0011101011001000…(9 zeroes)  DP 0|10000001001|</a:t>
            </a:r>
            <a:r>
              <a:rPr b="1"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010100111100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1)	</a:t>
            </a: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0.0625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2781300" rtl="0" algn="l">
              <a:lnSpc>
                <a:spcPct val="12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SP 0|01111011|0000000….  DP 0|01111111|00000…..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40" name="Google Shape;540;p65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81075"/>
            <a:ext cx="9144000" cy="1584325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66"/>
          <p:cNvSpPr txBox="1"/>
          <p:nvPr>
            <p:ph type="title"/>
          </p:nvPr>
        </p:nvSpPr>
        <p:spPr>
          <a:xfrm>
            <a:off x="402742" y="445973"/>
            <a:ext cx="525462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Division of signed numbers</a:t>
            </a:r>
            <a:endParaRPr/>
          </a:p>
        </p:txBody>
      </p:sp>
      <p:pic>
        <p:nvPicPr>
          <p:cNvPr id="547" name="Google Shape;547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600" y="2743200"/>
            <a:ext cx="9029700" cy="205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4986401"/>
            <a:ext cx="9086850" cy="1611249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66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4" name="Google Shape;554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404875"/>
            <a:ext cx="9124950" cy="5040249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67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0" name="Google Shape;560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112" y="0"/>
            <a:ext cx="7056374" cy="6850062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68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69"/>
          <p:cNvSpPr txBox="1"/>
          <p:nvPr/>
        </p:nvSpPr>
        <p:spPr>
          <a:xfrm>
            <a:off x="535940" y="1098549"/>
            <a:ext cx="2836545" cy="3128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Solve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93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a)	</a:t>
            </a: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 / -3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b)	</a:t>
            </a: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-7 (Q) / 3 (M)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c)	</a:t>
            </a: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-7 (Q) / -3 (M)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67" name="Google Shape;567;p69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2" name="Google Shape;572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387" y="147699"/>
            <a:ext cx="8713724" cy="6656324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70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8" name="Google Shape;578;p71"/>
          <p:cNvGrpSpPr/>
          <p:nvPr/>
        </p:nvGrpSpPr>
        <p:grpSpPr>
          <a:xfrm>
            <a:off x="323850" y="62"/>
            <a:ext cx="8820149" cy="6773799"/>
            <a:chOff x="323850" y="62"/>
            <a:chExt cx="8820149" cy="6773799"/>
          </a:xfrm>
        </p:grpSpPr>
        <p:pic>
          <p:nvPicPr>
            <p:cNvPr id="579" name="Google Shape;579;p7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850" y="62"/>
              <a:ext cx="8496300" cy="67737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0" name="Google Shape;580;p7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092950" y="6296024"/>
              <a:ext cx="2051049" cy="47783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81" name="Google Shape;581;p71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6" name="Google Shape;586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387" y="0"/>
            <a:ext cx="8640699" cy="6857996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72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73"/>
          <p:cNvSpPr txBox="1"/>
          <p:nvPr/>
        </p:nvSpPr>
        <p:spPr>
          <a:xfrm>
            <a:off x="535940" y="1092454"/>
            <a:ext cx="610044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ahoma"/>
              <a:buChar char="•"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Dividend negative </a:t>
            </a:r>
            <a:r>
              <a:rPr lang="en-US" sz="2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🡪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Remainder –ve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93" name="Google Shape;593;p73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74"/>
          <p:cNvSpPr txBox="1"/>
          <p:nvPr>
            <p:ph type="title"/>
          </p:nvPr>
        </p:nvSpPr>
        <p:spPr>
          <a:xfrm>
            <a:off x="869696" y="1098549"/>
            <a:ext cx="7404607" cy="878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74"/>
          <p:cNvSpPr txBox="1"/>
          <p:nvPr>
            <p:ph idx="1" type="body"/>
          </p:nvPr>
        </p:nvSpPr>
        <p:spPr>
          <a:xfrm>
            <a:off x="604837" y="1671637"/>
            <a:ext cx="8320405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0" name="Google Shape;600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855788"/>
            <a:ext cx="8305800" cy="4011612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74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75"/>
          <p:cNvSpPr txBox="1"/>
          <p:nvPr>
            <p:ph type="title"/>
          </p:nvPr>
        </p:nvSpPr>
        <p:spPr>
          <a:xfrm>
            <a:off x="869696" y="1098549"/>
            <a:ext cx="7404607" cy="878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75"/>
          <p:cNvSpPr txBox="1"/>
          <p:nvPr>
            <p:ph idx="1" type="body"/>
          </p:nvPr>
        </p:nvSpPr>
        <p:spPr>
          <a:xfrm>
            <a:off x="604837" y="1671637"/>
            <a:ext cx="8320405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8" name="Google Shape;608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133600"/>
            <a:ext cx="8381999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75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76"/>
          <p:cNvSpPr txBox="1"/>
          <p:nvPr/>
        </p:nvSpPr>
        <p:spPr>
          <a:xfrm>
            <a:off x="485343" y="295911"/>
            <a:ext cx="6657340" cy="2790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4 phases of FP Arithmetic +/-</a:t>
            </a:r>
            <a:endParaRPr sz="2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343535" lvl="0" marL="405765" marR="0" rtl="0" algn="l">
              <a:lnSpc>
                <a:spcPct val="100000"/>
              </a:lnSpc>
              <a:spcBef>
                <a:spcPts val="1475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ahoma"/>
              <a:buChar char="•"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Check for zeros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3535" lvl="0" marL="405765" marR="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ahoma"/>
              <a:buChar char="•"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Align significands (adjusting exponents)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3535" lvl="0" marL="405765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ahoma"/>
              <a:buChar char="•"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Add or subtract significands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3535" lvl="0" marL="405765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ahoma"/>
              <a:buChar char="•"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Normalize result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15" name="Google Shape;615;p76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77"/>
          <p:cNvSpPr txBox="1"/>
          <p:nvPr/>
        </p:nvSpPr>
        <p:spPr>
          <a:xfrm>
            <a:off x="447243" y="57404"/>
            <a:ext cx="7350759" cy="5846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Floating Point Addition</a:t>
            </a:r>
            <a:endParaRPr sz="2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120650" lvl="0" marL="443865" marR="42227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Add the following two decimal numbers in  scientific notation: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r>
              <a:t/>
            </a:r>
            <a:endParaRPr sz="38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00965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8.70 × 10</a:t>
            </a:r>
            <a:r>
              <a:rPr baseline="30000" lang="en-US" sz="2775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-1 </a:t>
            </a: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with 9.95 × 10</a:t>
            </a:r>
            <a:r>
              <a:rPr baseline="30000" lang="en-US" sz="2775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aseline="30000" sz="2775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r>
              <a:t/>
            </a:r>
            <a:endParaRPr sz="38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9525" lvl="0" marL="443865" marR="304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Rewrite </a:t>
            </a: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smaller number such that its  exponent matches with the exponent of the  larger number.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9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009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8.70 × 10</a:t>
            </a:r>
            <a:r>
              <a:rPr baseline="30000" lang="en-US" sz="2775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-1 </a:t>
            </a: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0.087 </a:t>
            </a:r>
            <a:r>
              <a:rPr lang="en-US" sz="28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(Note ! ) </a:t>
            </a: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× 10</a:t>
            </a:r>
            <a:r>
              <a:rPr baseline="30000" lang="en-US" sz="2775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aseline="30000" sz="2775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21" name="Google Shape;621;p77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78"/>
          <p:cNvSpPr txBox="1"/>
          <p:nvPr/>
        </p:nvSpPr>
        <p:spPr>
          <a:xfrm>
            <a:off x="472440" y="1098549"/>
            <a:ext cx="5615940" cy="4975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873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Add </a:t>
            </a: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mantissas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76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9.95 + 0.087 = 10.037 and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r>
              <a:t/>
            </a:r>
            <a:endParaRPr sz="38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762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write the sum 10.037 × 10</a:t>
            </a:r>
            <a:r>
              <a:rPr baseline="30000" lang="en-US" sz="2775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aseline="30000" sz="2775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222250" lvl="0" marL="76200" marR="30480" rtl="0" algn="l">
              <a:lnSpc>
                <a:spcPct val="288214"/>
              </a:lnSpc>
              <a:spcBef>
                <a:spcPts val="105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Put the result in </a:t>
            </a:r>
            <a:r>
              <a:rPr lang="en-US" sz="28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Normalised Form  </a:t>
            </a: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10.037 × 10</a:t>
            </a:r>
            <a:r>
              <a:rPr baseline="30000" lang="en-US" sz="2775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 </a:t>
            </a: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1.0037 × 10</a:t>
            </a:r>
            <a:r>
              <a:rPr baseline="30000" lang="en-US" sz="2775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aseline="30000" sz="2775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762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(shift mantissa, adjust exponent)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27" name="Google Shape;627;p78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79"/>
          <p:cNvSpPr txBox="1"/>
          <p:nvPr>
            <p:ph type="title"/>
          </p:nvPr>
        </p:nvSpPr>
        <p:spPr>
          <a:xfrm>
            <a:off x="869696" y="1098549"/>
            <a:ext cx="7404607" cy="878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9525" lvl="0" marL="2159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Check for overflow/underflow of the exponent  after normalisation</a:t>
            </a:r>
            <a:endParaRPr/>
          </a:p>
        </p:txBody>
      </p:sp>
      <p:sp>
        <p:nvSpPr>
          <p:cNvPr id="633" name="Google Shape;633;p79"/>
          <p:cNvSpPr txBox="1"/>
          <p:nvPr/>
        </p:nvSpPr>
        <p:spPr>
          <a:xfrm>
            <a:off x="535940" y="2486454"/>
            <a:ext cx="7678420" cy="3417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555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ahoma"/>
              <a:buChar char="•"/>
            </a:pPr>
            <a:r>
              <a:rPr b="1"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Overflow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9525" lvl="0" marL="355600" marR="5080" rtl="0" algn="l">
              <a:lnSpc>
                <a:spcPct val="113898"/>
              </a:lnSpc>
              <a:spcBef>
                <a:spcPts val="78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exponent is too </a:t>
            </a:r>
            <a:r>
              <a:rPr lang="en-US" sz="29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large </a:t>
            </a: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to be represented in  the Exponent field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t/>
            </a:r>
            <a:endParaRPr sz="3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ahoma"/>
              <a:buChar char="•"/>
            </a:pPr>
            <a:r>
              <a:rPr b="1"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Underflow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9525" lvl="0" marL="355600" marR="228600" rtl="0" algn="l">
              <a:lnSpc>
                <a:spcPct val="113898"/>
              </a:lnSpc>
              <a:spcBef>
                <a:spcPts val="77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number is too </a:t>
            </a:r>
            <a:r>
              <a:rPr lang="en-US" sz="29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small </a:t>
            </a: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to be represented in  the Exponent field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4" name="Google Shape;634;p79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80"/>
          <p:cNvSpPr txBox="1"/>
          <p:nvPr/>
        </p:nvSpPr>
        <p:spPr>
          <a:xfrm>
            <a:off x="497840" y="1012596"/>
            <a:ext cx="6975475" cy="395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775">
            <a:sp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Round </a:t>
            </a: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result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4175" marR="318135" rtl="0" algn="ctr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If the mantissa does not fit in the space  reserved for it, it has to be rounded off.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r>
              <a:t/>
            </a:r>
            <a:endParaRPr sz="38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25400" marR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Example: If only 4 digits are allowed for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23247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mantissa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r>
              <a:t/>
            </a:r>
            <a:endParaRPr sz="38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1.0037 × 10</a:t>
            </a:r>
            <a:r>
              <a:rPr baseline="30000" lang="en-US" sz="2775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 </a:t>
            </a: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===&gt; 1.004 × 10</a:t>
            </a:r>
            <a:r>
              <a:rPr baseline="30000" lang="en-US" sz="2775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aseline="30000" sz="2775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40" name="Google Shape;640;p80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" name="Google Shape;645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49337"/>
            <a:ext cx="9143999" cy="6214999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81"/>
          <p:cNvSpPr txBox="1"/>
          <p:nvPr/>
        </p:nvSpPr>
        <p:spPr>
          <a:xfrm>
            <a:off x="396341" y="176021"/>
            <a:ext cx="46107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FP Addition &amp; Subtraction Flowchart</a:t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47" name="Google Shape;647;p81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82"/>
          <p:cNvSpPr txBox="1"/>
          <p:nvPr/>
        </p:nvSpPr>
        <p:spPr>
          <a:xfrm>
            <a:off x="485343" y="302009"/>
            <a:ext cx="7209790" cy="4236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74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FP Arithmetic 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x/</a:t>
            </a:r>
            <a:r>
              <a:rPr lang="en-US" sz="2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÷</a:t>
            </a:r>
            <a:endParaRPr sz="2800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43535" lvl="0" marL="405765" marR="0" rtl="0" algn="l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ahoma"/>
              <a:buChar char="•"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Check for zero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3535" lvl="0" marL="405765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ahoma"/>
              <a:buChar char="•"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Add/subtract exponents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3535" lvl="0" marL="405765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ahoma"/>
              <a:buChar char="•"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Multiply/divide significands (watch sign)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3535" lvl="0" marL="405765" marR="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ahoma"/>
              <a:buChar char="•"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Normalize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3535" lvl="0" marL="405765" marR="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ahoma"/>
              <a:buChar char="•"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Round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405765" marR="508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ahoma"/>
              <a:buChar char="•"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All intermediate results should be in double  length storage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53" name="Google Shape;653;p82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83"/>
          <p:cNvSpPr txBox="1"/>
          <p:nvPr>
            <p:ph type="title"/>
          </p:nvPr>
        </p:nvSpPr>
        <p:spPr>
          <a:xfrm>
            <a:off x="485343" y="484073"/>
            <a:ext cx="550926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Floating Point Multiplication</a:t>
            </a:r>
            <a:endParaRPr/>
          </a:p>
        </p:txBody>
      </p:sp>
      <p:pic>
        <p:nvPicPr>
          <p:cNvPr id="659" name="Google Shape;659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1200" y="1100208"/>
            <a:ext cx="5172075" cy="57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83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84"/>
          <p:cNvSpPr txBox="1"/>
          <p:nvPr>
            <p:ph type="title"/>
          </p:nvPr>
        </p:nvSpPr>
        <p:spPr>
          <a:xfrm>
            <a:off x="485343" y="484073"/>
            <a:ext cx="438658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Floating Point Division</a:t>
            </a:r>
            <a:endParaRPr/>
          </a:p>
        </p:txBody>
      </p:sp>
      <p:pic>
        <p:nvPicPr>
          <p:cNvPr id="666" name="Google Shape;666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0" y="1100207"/>
            <a:ext cx="5172075" cy="5681591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84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2023-07-10T11:37:07Z</dcterms:created>
  <dc:creator>Adrian &amp; Wendy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2020-09-09T00:00:00Z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2023-07-10T00:00:00Z</vt:filetime>
  </property>
</Properties>
</file>