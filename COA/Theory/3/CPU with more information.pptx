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Lst>
  <p:sldSz cy="6858000" cx="9144000"/>
  <p:notesSz cx="9144000" cy="6858000"/>
  <p:embeddedFontLst>
    <p:embeddedFont>
      <p:font typeface="Gill Sans"/>
      <p:regular r:id="rId177"/>
      <p:bold r:id="rId1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79" roundtripDataSignature="AMtx7mjrpHBalWWX1qHN/haEq706n751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6B1FCE-45E4-4398-A953-CAC12D197308}">
  <a:tblStyle styleId="{9E6B1FCE-45E4-4398-A953-CAC12D197308}" styleName="Table_0">
    <a:wholeTbl>
      <a:tcTxStyle b="off" i="off">
        <a:font>
          <a:latin typeface="Gill Sans MT"/>
          <a:ea typeface="Gill Sans MT"/>
          <a:cs typeface="Gill Sans MT"/>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customschemas.google.com/relationships/presentationmetadata" Target="metadata"/><Relationship Id="rId178" Type="http://schemas.openxmlformats.org/officeDocument/2006/relationships/font" Target="fonts/GillSans-bold.fntdata"/><Relationship Id="rId177" Type="http://schemas.openxmlformats.org/officeDocument/2006/relationships/font" Target="fonts/GillSans-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3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4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4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4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4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4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5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5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5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5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5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5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5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5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6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6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6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6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6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6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6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6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6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6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6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6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6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6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6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6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6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7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7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7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7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7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7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7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7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7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7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7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7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7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7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8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8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8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8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8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8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8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8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8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8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8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8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8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8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8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8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9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9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9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9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9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9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9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9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9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9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9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9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9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9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9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9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plus 1 for next instruction</a:t>
            </a:r>
            <a:endParaRPr/>
          </a:p>
        </p:txBody>
      </p:sp>
      <p:sp>
        <p:nvSpPr>
          <p:cNvPr id="750" name="Google Shape;750;p9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0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10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0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10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0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10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0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10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0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10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0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10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0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10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0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10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0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10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0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10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1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1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11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11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1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1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1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11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p1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1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p11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1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12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12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7" name="Google Shape;887;p1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12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p12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p1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1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 name="Google Shape;918;p1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12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12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p13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 name="Google Shape;942;p1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p13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1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13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1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1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1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1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4" name="Google Shape;974;p13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13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1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13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1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1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14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1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14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14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p1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144: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14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1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4" name="Google Shape;1034;p14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14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1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1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14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15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15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1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4" name="Google Shape;1064;p15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1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1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15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5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15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1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15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15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p15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5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4" name="Google Shape;1104;p15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0" name="Google Shape;1110;p1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6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16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6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16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16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p16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16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16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16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0" name="Google Shape;1140;p16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16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6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16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p16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16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8" name="Google Shape;1158;p16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16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4" name="Google Shape;1164;p16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16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0" name="Google Shape;1170;p16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17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17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 name="Shape 20"/>
        <p:cNvGrpSpPr/>
        <p:nvPr/>
      </p:nvGrpSpPr>
      <p:grpSpPr>
        <a:xfrm>
          <a:off x="0" y="0"/>
          <a:ext cx="0" cy="0"/>
          <a:chOff x="0" y="0"/>
          <a:chExt cx="0" cy="0"/>
        </a:xfrm>
      </p:grpSpPr>
      <p:sp>
        <p:nvSpPr>
          <p:cNvPr id="21" name="Google Shape;21;p172"/>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2" name="Google Shape;22;p17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7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25" name="Google Shape;25;p172"/>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7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7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9" name="Google Shape;29;p17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174"/>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7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175"/>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75"/>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40" name="Google Shape;40;p17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43" name="Google Shape;43;p175"/>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 name="Google Shape;44;p175"/>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5" name="Shape 45"/>
        <p:cNvGrpSpPr/>
        <p:nvPr/>
      </p:nvGrpSpPr>
      <p:grpSpPr>
        <a:xfrm>
          <a:off x="0" y="0"/>
          <a:ext cx="0" cy="0"/>
          <a:chOff x="0" y="0"/>
          <a:chExt cx="0" cy="0"/>
        </a:xfrm>
      </p:grpSpPr>
      <p:sp>
        <p:nvSpPr>
          <p:cNvPr id="46" name="Google Shape;46;p176"/>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7" name="Google Shape;47;p176"/>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76"/>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9" name="Google Shape;49;p17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7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52" name="Google Shape;52;p176"/>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3" name="Google Shape;53;p176"/>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 name="Google Shape;54;p176"/>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77"/>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77"/>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8" name="Google Shape;58;p177"/>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9" name="Google Shape;59;p17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62" name="Shape 62"/>
        <p:cNvGrpSpPr/>
        <p:nvPr/>
      </p:nvGrpSpPr>
      <p:grpSpPr>
        <a:xfrm>
          <a:off x="0" y="0"/>
          <a:ext cx="0" cy="0"/>
          <a:chOff x="0" y="0"/>
          <a:chExt cx="0" cy="0"/>
        </a:xfrm>
      </p:grpSpPr>
      <p:sp>
        <p:nvSpPr>
          <p:cNvPr id="63" name="Google Shape;63;p178"/>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78"/>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5" name="Google Shape;65;p178"/>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6" name="Google Shape;66;p178"/>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7" name="Google Shape;67;p178"/>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8" name="Google Shape;68;p17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7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179"/>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79"/>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179"/>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17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80"/>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8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
        <p:nvSpPr>
          <p:cNvPr id="83" name="Google Shape;83;p180"/>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rm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4" name="Google Shape;84;p180"/>
          <p:cNvSpPr/>
          <p:nvPr>
            <p:ph idx="2" type="pic"/>
          </p:nvPr>
        </p:nvSpPr>
        <p:spPr>
          <a:xfrm>
            <a:off x="838200" y="1143003"/>
            <a:ext cx="4419600" cy="3514531"/>
          </a:xfrm>
          <a:prstGeom prst="roundRect">
            <a:avLst>
              <a:gd fmla="val 783" name="adj"/>
            </a:avLst>
          </a:prstGeom>
          <a:solidFill>
            <a:schemeClr val="lt2"/>
          </a:solidFill>
          <a:ln>
            <a:noFill/>
          </a:ln>
        </p:spPr>
      </p:sp>
      <p:sp>
        <p:nvSpPr>
          <p:cNvPr id="85" name="Google Shape;85;p180"/>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80"/>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80"/>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8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81"/>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8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8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8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82"/>
          <p:cNvSpPr txBox="1"/>
          <p:nvPr>
            <p:ph type="title"/>
          </p:nvPr>
        </p:nvSpPr>
        <p:spPr>
          <a:xfrm rot="5400000">
            <a:off x="4846638"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82"/>
          <p:cNvSpPr txBox="1"/>
          <p:nvPr>
            <p:ph idx="1" type="body"/>
          </p:nvPr>
        </p:nvSpPr>
        <p:spPr>
          <a:xfrm rot="5400000">
            <a:off x="998538"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8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8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8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algn="ctr">
              <a:lnSpc>
                <a:spcPct val="117499"/>
              </a:lnSpc>
              <a:spcBef>
                <a:spcPts val="0"/>
              </a:spcBef>
              <a:buNone/>
              <a:defRPr/>
            </a:lvl1pPr>
            <a:lvl2pPr indent="0" lvl="1" marL="38100" algn="ctr">
              <a:lnSpc>
                <a:spcPct val="117499"/>
              </a:lnSpc>
              <a:spcBef>
                <a:spcPts val="0"/>
              </a:spcBef>
              <a:buNone/>
              <a:defRPr/>
            </a:lvl2pPr>
            <a:lvl3pPr indent="0" lvl="2" marL="38100" algn="ctr">
              <a:lnSpc>
                <a:spcPct val="117499"/>
              </a:lnSpc>
              <a:spcBef>
                <a:spcPts val="0"/>
              </a:spcBef>
              <a:buNone/>
              <a:defRPr/>
            </a:lvl3pPr>
            <a:lvl4pPr indent="0" lvl="3" marL="38100" algn="ctr">
              <a:lnSpc>
                <a:spcPct val="117499"/>
              </a:lnSpc>
              <a:spcBef>
                <a:spcPts val="0"/>
              </a:spcBef>
              <a:buNone/>
              <a:defRPr/>
            </a:lvl4pPr>
            <a:lvl5pPr indent="0" lvl="4" marL="38100" algn="ctr">
              <a:lnSpc>
                <a:spcPct val="117499"/>
              </a:lnSpc>
              <a:spcBef>
                <a:spcPts val="0"/>
              </a:spcBef>
              <a:buNone/>
              <a:defRPr/>
            </a:lvl5pPr>
            <a:lvl6pPr indent="0" lvl="5" marL="38100" algn="ctr">
              <a:lnSpc>
                <a:spcPct val="117499"/>
              </a:lnSpc>
              <a:spcBef>
                <a:spcPts val="0"/>
              </a:spcBef>
              <a:buNone/>
              <a:defRPr/>
            </a:lvl6pPr>
            <a:lvl7pPr indent="0" lvl="6" marL="38100" algn="ctr">
              <a:lnSpc>
                <a:spcPct val="117499"/>
              </a:lnSpc>
              <a:spcBef>
                <a:spcPts val="0"/>
              </a:spcBef>
              <a:buNone/>
              <a:defRPr/>
            </a:lvl7pPr>
            <a:lvl8pPr indent="0" lvl="7" marL="38100" algn="ctr">
              <a:lnSpc>
                <a:spcPct val="117499"/>
              </a:lnSpc>
              <a:spcBef>
                <a:spcPts val="0"/>
              </a:spcBef>
              <a:buNone/>
              <a:defRPr/>
            </a:lvl8pPr>
            <a:lvl9pPr indent="0" lvl="8" marL="38100" algn="ctr">
              <a:lnSpc>
                <a:spcPct val="117499"/>
              </a:lnSpc>
              <a:spcBef>
                <a:spcPts val="0"/>
              </a:spcBef>
              <a:buNone/>
              <a:defRPr/>
            </a:lvl9pPr>
          </a:lstStyle>
          <a:p>
            <a:pPr indent="0" lvl="0" marL="3810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7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7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7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7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7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7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7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7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7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1pPr>
            <a:lvl2pPr indent="0" lvl="1"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2pPr>
            <a:lvl3pPr indent="0" lvl="2"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3pPr>
            <a:lvl4pPr indent="0" lvl="3"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4pPr>
            <a:lvl5pPr indent="0" lvl="4"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5pPr>
            <a:lvl6pPr indent="0" lvl="5"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6pPr>
            <a:lvl7pPr indent="0" lvl="6"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7pPr>
            <a:lvl8pPr indent="0" lvl="7"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8pPr>
            <a:lvl9pPr indent="0" lvl="8" marL="38100" marR="0" rtl="0" algn="ctr">
              <a:lnSpc>
                <a:spcPct val="117499"/>
              </a:lnSpc>
              <a:spcBef>
                <a:spcPts val="0"/>
              </a:spcBef>
              <a:buNone/>
              <a:defRPr b="0" i="0" sz="1200" u="none" cap="none" strike="noStrike">
                <a:solidFill>
                  <a:srgbClr val="B3A787"/>
                </a:solidFill>
                <a:latin typeface="Gill Sans"/>
                <a:ea typeface="Gill Sans"/>
                <a:cs typeface="Gill Sans"/>
                <a:sym typeface="Gill Sans"/>
              </a:defRPr>
            </a:lvl9pPr>
          </a:lstStyle>
          <a:p>
            <a:pPr indent="0" lvl="0" marL="38100" rtl="0" algn="ctr">
              <a:spcBef>
                <a:spcPts val="0"/>
              </a:spcBef>
              <a:spcAft>
                <a:spcPts val="0"/>
              </a:spcAft>
              <a:buNone/>
            </a:pPr>
            <a:fld id="{00000000-1234-1234-1234-123412341234}" type="slidenum">
              <a:rPr lang="en-US"/>
              <a:t>‹#›</a:t>
            </a:fld>
            <a:endParaRPr/>
          </a:p>
        </p:txBody>
      </p:sp>
      <p:sp>
        <p:nvSpPr>
          <p:cNvPr id="19" name="Google Shape;19;p17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2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2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4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2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2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4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3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3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4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4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3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3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3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38.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4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4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5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40.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4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49.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image" Target="../media/image4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 name="Shape 103"/>
        <p:cNvGrpSpPr/>
        <p:nvPr/>
      </p:nvGrpSpPr>
      <p:grpSpPr>
        <a:xfrm>
          <a:off x="0" y="0"/>
          <a:ext cx="0" cy="0"/>
          <a:chOff x="0" y="0"/>
          <a:chExt cx="0" cy="0"/>
        </a:xfrm>
      </p:grpSpPr>
      <p:sp>
        <p:nvSpPr>
          <p:cNvPr id="104" name="Google Shape;104;p1"/>
          <p:cNvSpPr txBox="1"/>
          <p:nvPr/>
        </p:nvSpPr>
        <p:spPr>
          <a:xfrm>
            <a:off x="1815464" y="3797270"/>
            <a:ext cx="5510530" cy="1196340"/>
          </a:xfrm>
          <a:prstGeom prst="rect">
            <a:avLst/>
          </a:prstGeom>
          <a:noFill/>
          <a:ln>
            <a:noFill/>
          </a:ln>
        </p:spPr>
        <p:txBody>
          <a:bodyPr anchorCtr="0" anchor="t" bIns="0" lIns="0" spcFirstLastPara="1" rIns="0" wrap="square" tIns="109850">
            <a:spAutoFit/>
          </a:bodyPr>
          <a:lstStyle/>
          <a:p>
            <a:pPr indent="0" lvl="0" marL="4445" marR="0" rtl="0" algn="ctr">
              <a:lnSpc>
                <a:spcPct val="100000"/>
              </a:lnSpc>
              <a:spcBef>
                <a:spcPts val="0"/>
              </a:spcBef>
              <a:spcAft>
                <a:spcPts val="0"/>
              </a:spcAft>
              <a:buNone/>
            </a:pPr>
            <a:r>
              <a:rPr b="0" i="0" lang="en-US" sz="3200" u="none" cap="none" strike="noStrike">
                <a:solidFill>
                  <a:srgbClr val="888888"/>
                </a:solidFill>
                <a:latin typeface="Calibri"/>
                <a:ea typeface="Calibri"/>
                <a:cs typeface="Calibri"/>
                <a:sym typeface="Calibri"/>
              </a:rPr>
              <a:t>Chapter 12</a:t>
            </a:r>
            <a:endParaRPr b="0" i="0" sz="3200" u="none" cap="none" strike="noStrike">
              <a:solidFill>
                <a:schemeClr val="dk1"/>
              </a:solidFill>
              <a:latin typeface="Calibri"/>
              <a:ea typeface="Calibri"/>
              <a:cs typeface="Calibri"/>
              <a:sym typeface="Calibri"/>
            </a:endParaRPr>
          </a:p>
          <a:p>
            <a:pPr indent="0" lvl="0" marL="0" marR="0" rtl="0" algn="ctr">
              <a:lnSpc>
                <a:spcPct val="100000"/>
              </a:lnSpc>
              <a:spcBef>
                <a:spcPts val="770"/>
              </a:spcBef>
              <a:spcAft>
                <a:spcPts val="0"/>
              </a:spcAft>
              <a:buNone/>
            </a:pPr>
            <a:r>
              <a:rPr b="0" i="0" lang="en-US" sz="3200" u="none" cap="none" strike="noStrike">
                <a:solidFill>
                  <a:srgbClr val="888888"/>
                </a:solidFill>
                <a:latin typeface="Calibri"/>
                <a:ea typeface="Calibri"/>
                <a:cs typeface="Calibri"/>
                <a:sym typeface="Calibri"/>
              </a:rPr>
              <a:t>Processor Structure and Function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 name="Shape 108"/>
        <p:cNvGrpSpPr/>
        <p:nvPr/>
      </p:nvGrpSpPr>
      <p:grpSpPr>
        <a:xfrm>
          <a:off x="0" y="0"/>
          <a:ext cx="0" cy="0"/>
          <a:chOff x="0" y="0"/>
          <a:chExt cx="0" cy="0"/>
        </a:xfrm>
      </p:grpSpPr>
      <p:graphicFrame>
        <p:nvGraphicFramePr>
          <p:cNvPr id="109" name="Google Shape;109;p2"/>
          <p:cNvGraphicFramePr/>
          <p:nvPr/>
        </p:nvGraphicFramePr>
        <p:xfrm>
          <a:off x="101600" y="1478025"/>
          <a:ext cx="3000000" cy="3000000"/>
        </p:xfrm>
        <a:graphic>
          <a:graphicData uri="http://schemas.openxmlformats.org/drawingml/2006/table">
            <a:tbl>
              <a:tblPr bandRow="1" firstRow="1">
                <a:noFill/>
                <a:tableStyleId>{9E6B1FCE-45E4-4398-A953-CAC12D197308}</a:tableStyleId>
              </a:tblPr>
              <a:tblGrid>
                <a:gridCol w="1381125"/>
                <a:gridCol w="7044050"/>
              </a:tblGrid>
              <a:tr h="647700">
                <a:tc gridSpan="2">
                  <a:txBody>
                    <a:bodyPr/>
                    <a:lstStyle/>
                    <a:p>
                      <a:pPr indent="0" lvl="0" marL="0" marR="0" rtl="0" algn="l">
                        <a:lnSpc>
                          <a:spcPct val="100000"/>
                        </a:lnSpc>
                        <a:spcBef>
                          <a:spcPts val="0"/>
                        </a:spcBef>
                        <a:spcAft>
                          <a:spcPts val="0"/>
                        </a:spcAft>
                        <a:buNone/>
                      </a:pPr>
                      <a:r>
                        <a:t/>
                      </a:r>
                      <a:endParaRPr sz="1450" u="none" cap="none" strike="noStrike">
                        <a:latin typeface="Times New Roman"/>
                        <a:ea typeface="Times New Roman"/>
                        <a:cs typeface="Times New Roman"/>
                        <a:sym typeface="Times New Roman"/>
                      </a:endParaRPr>
                    </a:p>
                    <a:p>
                      <a:pPr indent="0" lvl="0" marL="135255"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Module 3- Central Processing Unit</a:t>
                      </a:r>
                      <a:endParaRPr sz="1600" u="none" cap="none" strike="noStrike">
                        <a:latin typeface="Times New Roman"/>
                        <a:ea typeface="Times New Roman"/>
                        <a:cs typeface="Times New Roman"/>
                        <a:sym typeface="Times New Roman"/>
                      </a:endParaRPr>
                    </a:p>
                  </a:txBody>
                  <a:tcPr marT="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1605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40"/>
                        </a:spcBef>
                        <a:spcAft>
                          <a:spcPts val="0"/>
                        </a:spcAft>
                        <a:buNone/>
                      </a:pPr>
                      <a:r>
                        <a:t/>
                      </a:r>
                      <a:endParaRPr sz="1500" u="none" cap="none" strike="noStrike">
                        <a:latin typeface="Times New Roman"/>
                        <a:ea typeface="Times New Roman"/>
                        <a:cs typeface="Times New Roman"/>
                        <a:sym typeface="Times New Roman"/>
                      </a:endParaRPr>
                    </a:p>
                    <a:p>
                      <a:pPr indent="0" lvl="0" marL="0" marR="458469" rtl="0" algn="r">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3.1</a:t>
                      </a:r>
                      <a:endParaRPr sz="16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40"/>
                        </a:spcBef>
                        <a:spcAft>
                          <a:spcPts val="0"/>
                        </a:spcAft>
                        <a:buNone/>
                      </a:pPr>
                      <a:r>
                        <a:t/>
                      </a:r>
                      <a:endParaRPr sz="1450" u="none" cap="none" strike="noStrike">
                        <a:latin typeface="Times New Roman"/>
                        <a:ea typeface="Times New Roman"/>
                        <a:cs typeface="Times New Roman"/>
                        <a:sym typeface="Times New Roman"/>
                      </a:endParaRPr>
                    </a:p>
                    <a:p>
                      <a:pPr indent="0" lvl="0" marL="135255" marR="61594" rtl="0" algn="just">
                        <a:lnSpc>
                          <a:spcPct val="99600"/>
                        </a:lnSpc>
                        <a:spcBef>
                          <a:spcPts val="0"/>
                        </a:spcBef>
                        <a:spcAft>
                          <a:spcPts val="0"/>
                        </a:spcAft>
                        <a:buNone/>
                      </a:pPr>
                      <a:r>
                        <a:rPr lang="en-US" sz="1600" u="none" cap="none" strike="noStrike">
                          <a:latin typeface="Times New Roman"/>
                          <a:ea typeface="Times New Roman"/>
                          <a:cs typeface="Times New Roman"/>
                          <a:sym typeface="Times New Roman"/>
                        </a:rPr>
                        <a:t>CPU architecture, Register organization, Instruction formats and addressing  modes(Intel processor).,Basic instruction cycle. Control unit Operation ,Micro  operations : Fetch, Indirect, Interrupt , Execute cycle Control of the processor,  Functioning of micro programmed control unit, Micro instruction Execution and  Sequencing, Applications of Micro programming</a:t>
                      </a:r>
                      <a:endParaRPr sz="16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30"/>
                        </a:spcBef>
                        <a:spcAft>
                          <a:spcPts val="0"/>
                        </a:spcAft>
                        <a:buNone/>
                      </a:pPr>
                      <a:r>
                        <a:t/>
                      </a:r>
                      <a:endParaRPr sz="1950" u="none" cap="none" strike="noStrike">
                        <a:latin typeface="Times New Roman"/>
                        <a:ea typeface="Times New Roman"/>
                        <a:cs typeface="Times New Roman"/>
                        <a:sym typeface="Times New Roman"/>
                      </a:endParaRPr>
                    </a:p>
                    <a:p>
                      <a:pPr indent="0" lvl="0" marL="0" marR="458469" rtl="0" algn="r">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3.2</a:t>
                      </a:r>
                      <a:endParaRPr sz="16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50" u="none" cap="none" strike="noStrike">
                        <a:latin typeface="Times New Roman"/>
                        <a:ea typeface="Times New Roman"/>
                        <a:cs typeface="Times New Roman"/>
                        <a:sym typeface="Times New Roman"/>
                      </a:endParaRPr>
                    </a:p>
                    <a:p>
                      <a:pPr indent="0" lvl="0" marL="135255" marR="367030" rtl="0" algn="l">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RISC v/s CISC processors, RISC and CISC Architecture, RISC pipelining, Case  study on SPARC</a:t>
                      </a:r>
                      <a:endParaRPr sz="1600" u="none" cap="none" strike="noStrike">
                        <a:latin typeface="Times New Roman"/>
                        <a:ea typeface="Times New Roman"/>
                        <a:cs typeface="Times New Roman"/>
                        <a:sym typeface="Times New Roman"/>
                      </a:endParaRPr>
                    </a:p>
                  </a:txBody>
                  <a:tcPr marT="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3"/>
          <p:cNvSpPr txBox="1"/>
          <p:nvPr>
            <p:ph type="title"/>
          </p:nvPr>
        </p:nvSpPr>
        <p:spPr>
          <a:xfrm>
            <a:off x="2971800" y="228600"/>
            <a:ext cx="321373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Structure</a:t>
            </a:r>
            <a:endParaRPr sz="4400">
              <a:latin typeface="Calibri"/>
              <a:ea typeface="Calibri"/>
              <a:cs typeface="Calibri"/>
              <a:sym typeface="Calibri"/>
            </a:endParaRPr>
          </a:p>
        </p:txBody>
      </p:sp>
      <p:sp>
        <p:nvSpPr>
          <p:cNvPr id="115" name="Google Shape;115;p3"/>
          <p:cNvSpPr txBox="1"/>
          <p:nvPr/>
        </p:nvSpPr>
        <p:spPr>
          <a:xfrm>
            <a:off x="304800" y="762000"/>
            <a:ext cx="8610599" cy="5983689"/>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3000"/>
              <a:buFont typeface="Arial"/>
              <a:buChar char="•"/>
            </a:pPr>
            <a:r>
              <a:rPr b="0" i="0" lang="en-US" sz="3000" u="none" cap="none" strike="noStrike">
                <a:solidFill>
                  <a:schemeClr val="dk1"/>
                </a:solidFill>
                <a:latin typeface="Calibri"/>
                <a:ea typeface="Calibri"/>
                <a:cs typeface="Calibri"/>
                <a:sym typeface="Calibri"/>
              </a:rPr>
              <a:t>CPU must:</a:t>
            </a:r>
            <a:endParaRPr b="0" i="0" sz="3000" u="none" cap="none" strike="noStrike">
              <a:solidFill>
                <a:schemeClr val="dk1"/>
              </a:solidFill>
              <a:latin typeface="Calibri"/>
              <a:ea typeface="Calibri"/>
              <a:cs typeface="Calibri"/>
              <a:sym typeface="Calibri"/>
            </a:endParaRPr>
          </a:p>
          <a:p>
            <a:pPr indent="-287019" lvl="1" marL="756285" marR="0" rtl="0" algn="l">
              <a:lnSpc>
                <a:spcPct val="100000"/>
              </a:lnSpc>
              <a:spcBef>
                <a:spcPts val="2355"/>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Fetch instructions-</a:t>
            </a:r>
            <a:r>
              <a:rPr b="0" i="0" lang="en-US" sz="2800" u="none" cap="none" strike="noStrike">
                <a:solidFill>
                  <a:schemeClr val="dk1"/>
                </a:solidFill>
                <a:latin typeface="Gill Sans"/>
                <a:ea typeface="Gill Sans"/>
                <a:cs typeface="Gill Sans"/>
                <a:sym typeface="Gill Sans"/>
              </a:rPr>
              <a:t>reads an instruction from memory</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10"/>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Interpret instructions-instruction is decoded to determine what action is required.</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10"/>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Fetch data-The execution of an instruction may require reading data from memory or an I/O module</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5"/>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5"/>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Process data-The execution of an instruction may require performing some arithmetic or logical operation on data</a:t>
            </a:r>
            <a:endParaRPr b="0" i="0" sz="2600" u="none" cap="none" strike="noStrike">
              <a:solidFill>
                <a:schemeClr val="dk1"/>
              </a:solidFill>
              <a:latin typeface="Calibri"/>
              <a:ea typeface="Calibri"/>
              <a:cs typeface="Calibri"/>
              <a:sym typeface="Calibri"/>
            </a:endParaRPr>
          </a:p>
          <a:p>
            <a:pPr indent="0" lvl="1" marL="457200" marR="0" rtl="0" algn="l">
              <a:lnSpc>
                <a:spcPct val="100000"/>
              </a:lnSpc>
              <a:spcBef>
                <a:spcPts val="5"/>
              </a:spcBef>
              <a:spcAft>
                <a:spcPts val="0"/>
              </a:spcAft>
              <a:buClr>
                <a:schemeClr val="dk1"/>
              </a:buClr>
              <a:buSzPts val="2550"/>
              <a:buFont typeface="Arial"/>
              <a:buNone/>
            </a:pPr>
            <a:r>
              <a:t/>
            </a:r>
            <a:endParaRPr b="0" i="0" sz="25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Write data-the results of an execution may require writing data to memory or an I/O module.</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4"/>
          <p:cNvSpPr txBox="1"/>
          <p:nvPr>
            <p:ph type="title"/>
          </p:nvPr>
        </p:nvSpPr>
        <p:spPr>
          <a:xfrm>
            <a:off x="2015108" y="461594"/>
            <a:ext cx="51149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With Systems Bus</a:t>
            </a:r>
            <a:endParaRPr sz="4400">
              <a:latin typeface="Calibri"/>
              <a:ea typeface="Calibri"/>
              <a:cs typeface="Calibri"/>
              <a:sym typeface="Calibri"/>
            </a:endParaRPr>
          </a:p>
        </p:txBody>
      </p:sp>
      <p:pic>
        <p:nvPicPr>
          <p:cNvPr id="121" name="Google Shape;121;p4"/>
          <p:cNvPicPr preferRelativeResize="0"/>
          <p:nvPr/>
        </p:nvPicPr>
        <p:blipFill rotWithShape="1">
          <a:blip r:embed="rId3">
            <a:alphaModFix/>
          </a:blip>
          <a:srcRect b="0" l="0" r="0" t="0"/>
          <a:stretch/>
        </p:blipFill>
        <p:spPr>
          <a:xfrm>
            <a:off x="1066800" y="1295400"/>
            <a:ext cx="6553200" cy="502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27" name="Google Shape;127;p5"/>
          <p:cNvSpPr txBox="1"/>
          <p:nvPr>
            <p:ph idx="1" type="body"/>
          </p:nvPr>
        </p:nvSpPr>
        <p:spPr>
          <a:xfrm>
            <a:off x="304800" y="14478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ALU does the actual computation or processing of data.</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control unit controls the movement of data and instructions into and out of the processor and controls the operation of the ALU.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addition, there is a minimal internal memory, consisting of a set of storage locations, called </a:t>
            </a:r>
            <a:r>
              <a:rPr i="1" lang="en-US" sz="2400">
                <a:latin typeface="Times New Roman"/>
                <a:ea typeface="Times New Roman"/>
                <a:cs typeface="Times New Roman"/>
                <a:sym typeface="Times New Roman"/>
              </a:rPr>
              <a:t>registers</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6"/>
          <p:cNvSpPr txBox="1"/>
          <p:nvPr>
            <p:ph type="title"/>
          </p:nvPr>
        </p:nvSpPr>
        <p:spPr>
          <a:xfrm>
            <a:off x="2012060" y="461594"/>
            <a:ext cx="512318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CPU Internal Structure</a:t>
            </a:r>
            <a:endParaRPr sz="4400">
              <a:latin typeface="Calibri"/>
              <a:ea typeface="Calibri"/>
              <a:cs typeface="Calibri"/>
              <a:sym typeface="Calibri"/>
            </a:endParaRPr>
          </a:p>
        </p:txBody>
      </p:sp>
      <p:pic>
        <p:nvPicPr>
          <p:cNvPr id="133" name="Google Shape;133;p6"/>
          <p:cNvPicPr preferRelativeResize="0"/>
          <p:nvPr/>
        </p:nvPicPr>
        <p:blipFill rotWithShape="1">
          <a:blip r:embed="rId3">
            <a:alphaModFix/>
          </a:blip>
          <a:srcRect b="0" l="0" r="0" t="0"/>
          <a:stretch/>
        </p:blipFill>
        <p:spPr>
          <a:xfrm>
            <a:off x="1219200" y="1066736"/>
            <a:ext cx="6858000" cy="5681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39" name="Google Shape;139;p7"/>
          <p:cNvSpPr txBox="1"/>
          <p:nvPr>
            <p:ph idx="1" type="body"/>
          </p:nvPr>
        </p:nvSpPr>
        <p:spPr>
          <a:xfrm>
            <a:off x="76200" y="1447800"/>
            <a:ext cx="8857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data transfer and logic control paths are indicated, including an element labeled internal processor bus.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This element is needed to </a:t>
            </a:r>
            <a:r>
              <a:rPr lang="en-US" sz="2400">
                <a:solidFill>
                  <a:srgbClr val="FF0000"/>
                </a:solidFill>
                <a:latin typeface="Times New Roman"/>
                <a:ea typeface="Times New Roman"/>
                <a:cs typeface="Times New Roman"/>
                <a:sym typeface="Times New Roman"/>
              </a:rPr>
              <a:t>transfer data between the various registers and the ALU</a:t>
            </a:r>
            <a:r>
              <a:rPr lang="en-US" sz="2400">
                <a:latin typeface="Times New Roman"/>
                <a:ea typeface="Times New Roman"/>
                <a:cs typeface="Times New Roman"/>
                <a:sym typeface="Times New Roman"/>
              </a:rPr>
              <a:t> because the ALU in fact operates only on data in the internal processor memory.</a:t>
            </a: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3" name="Shape 143"/>
        <p:cNvGrpSpPr/>
        <p:nvPr/>
      </p:nvGrpSpPr>
      <p:grpSpPr>
        <a:xfrm>
          <a:off x="0" y="0"/>
          <a:ext cx="0" cy="0"/>
          <a:chOff x="0" y="0"/>
          <a:chExt cx="0" cy="0"/>
        </a:xfrm>
      </p:grpSpPr>
      <p:sp>
        <p:nvSpPr>
          <p:cNvPr id="144" name="Google Shape;144;p8"/>
          <p:cNvSpPr txBox="1"/>
          <p:nvPr>
            <p:ph type="title"/>
          </p:nvPr>
        </p:nvSpPr>
        <p:spPr>
          <a:xfrm>
            <a:off x="2819400" y="228600"/>
            <a:ext cx="342900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Registers</a:t>
            </a:r>
            <a:endParaRPr sz="4400">
              <a:latin typeface="Calibri"/>
              <a:ea typeface="Calibri"/>
              <a:cs typeface="Calibri"/>
              <a:sym typeface="Calibri"/>
            </a:endParaRPr>
          </a:p>
        </p:txBody>
      </p:sp>
      <p:sp>
        <p:nvSpPr>
          <p:cNvPr id="145" name="Google Shape;145;p8"/>
          <p:cNvSpPr txBox="1"/>
          <p:nvPr/>
        </p:nvSpPr>
        <p:spPr>
          <a:xfrm>
            <a:off x="228600" y="838200"/>
            <a:ext cx="8610600" cy="5163593"/>
          </a:xfrm>
          <a:prstGeom prst="rect">
            <a:avLst/>
          </a:prstGeom>
          <a:noFill/>
          <a:ln>
            <a:noFill/>
          </a:ln>
        </p:spPr>
        <p:txBody>
          <a:bodyPr anchorCtr="0" anchor="t" bIns="0" lIns="0" spcFirstLastPara="1" rIns="0" wrap="square" tIns="13325">
            <a:spAutoFit/>
          </a:bodyPr>
          <a:lstStyle/>
          <a:p>
            <a:pPr indent="-342900" lvl="0" marL="355600" marR="166751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must have some working space  (temporary storage)-Called </a:t>
            </a:r>
            <a:r>
              <a:rPr b="0" i="0" lang="en-US" sz="2400" u="none" cap="none" strike="noStrike">
                <a:solidFill>
                  <a:srgbClr val="FF0000"/>
                </a:solidFill>
                <a:latin typeface="Times New Roman"/>
                <a:ea typeface="Times New Roman"/>
                <a:cs typeface="Times New Roman"/>
                <a:sym typeface="Times New Roman"/>
              </a:rPr>
              <a:t>registers</a:t>
            </a:r>
            <a:endParaRPr b="0" i="0" sz="2400" u="none" cap="none" strike="noStrike">
              <a:solidFill>
                <a:srgbClr val="FF0000"/>
              </a:solidFill>
              <a:latin typeface="Times New Roman"/>
              <a:ea typeface="Times New Roman"/>
              <a:cs typeface="Times New Roman"/>
              <a:sym typeface="Times New Roman"/>
            </a:endParaRPr>
          </a:p>
          <a:p>
            <a:pPr indent="-342900" lvl="0" marL="355600" marR="5080" rtl="0" algn="just">
              <a:lnSpc>
                <a:spcPct val="100000"/>
              </a:lnSpc>
              <a:spcBef>
                <a:spcPts val="77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Number and function vary between processor  designs</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7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One of the major design decisions</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Top level of memory hierarchy</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 registers in the processor perform two roles:</a:t>
            </a:r>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User-visible registers</a:t>
            </a:r>
            <a:r>
              <a:rPr b="0" i="0" lang="en-US" sz="2400" u="none" cap="none" strike="noStrike">
                <a:solidFill>
                  <a:schemeClr val="dk1"/>
                </a:solidFill>
                <a:latin typeface="Times New Roman"/>
                <a:ea typeface="Times New Roman"/>
                <a:cs typeface="Times New Roman"/>
                <a:sym typeface="Times New Roman"/>
              </a:rPr>
              <a:t>: Enable the machine- or assembly language programmer to </a:t>
            </a:r>
            <a:r>
              <a:rPr b="0" i="0" lang="en-US" sz="2400" u="none" cap="none" strike="noStrike">
                <a:solidFill>
                  <a:srgbClr val="FF0000"/>
                </a:solidFill>
                <a:latin typeface="Times New Roman"/>
                <a:ea typeface="Times New Roman"/>
                <a:cs typeface="Times New Roman"/>
                <a:sym typeface="Times New Roman"/>
              </a:rPr>
              <a:t>minimize main memory references </a:t>
            </a:r>
            <a:r>
              <a:rPr b="0" i="0" lang="en-US" sz="2400" u="none" cap="none" strike="noStrike">
                <a:solidFill>
                  <a:schemeClr val="dk1"/>
                </a:solidFill>
                <a:latin typeface="Times New Roman"/>
                <a:ea typeface="Times New Roman"/>
                <a:cs typeface="Times New Roman"/>
                <a:sym typeface="Times New Roman"/>
              </a:rPr>
              <a:t>by optimizing use of registers.</a:t>
            </a:r>
            <a:endParaRPr/>
          </a:p>
          <a:p>
            <a:pPr indent="-342900" lvl="0" marL="355600" marR="0" rtl="0" algn="just">
              <a:spcBef>
                <a:spcPts val="76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Control and status registers</a:t>
            </a:r>
            <a:r>
              <a:rPr b="0" i="0" lang="en-US" sz="2400" u="none" cap="none" strike="noStrike">
                <a:solidFill>
                  <a:schemeClr val="dk1"/>
                </a:solidFill>
                <a:latin typeface="Times New Roman"/>
                <a:ea typeface="Times New Roman"/>
                <a:cs typeface="Times New Roman"/>
                <a:sym typeface="Times New Roman"/>
              </a:rPr>
              <a:t>: Used by the control unit </a:t>
            </a:r>
            <a:r>
              <a:rPr b="0" i="0" lang="en-US" sz="2400" u="none" cap="none" strike="noStrike">
                <a:solidFill>
                  <a:srgbClr val="FF0000"/>
                </a:solidFill>
                <a:latin typeface="Times New Roman"/>
                <a:ea typeface="Times New Roman"/>
                <a:cs typeface="Times New Roman"/>
                <a:sym typeface="Times New Roman"/>
              </a:rPr>
              <a:t>to control the operation of the processor</a:t>
            </a:r>
            <a:r>
              <a:rPr b="0" i="0" lang="en-US" sz="2400" u="none" cap="none" strike="noStrike">
                <a:solidFill>
                  <a:schemeClr val="dk1"/>
                </a:solidFill>
                <a:latin typeface="Times New Roman"/>
                <a:ea typeface="Times New Roman"/>
                <a:cs typeface="Times New Roman"/>
                <a:sym typeface="Times New Roman"/>
              </a:rPr>
              <a:t> and by privileged, operating system programs to control the execution of programs.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9"/>
          <p:cNvSpPr txBox="1"/>
          <p:nvPr>
            <p:ph type="title"/>
          </p:nvPr>
        </p:nvSpPr>
        <p:spPr>
          <a:xfrm>
            <a:off x="2133600" y="0"/>
            <a:ext cx="486854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User Visible Registers</a:t>
            </a:r>
            <a:endParaRPr sz="4400">
              <a:latin typeface="Calibri"/>
              <a:ea typeface="Calibri"/>
              <a:cs typeface="Calibri"/>
              <a:sym typeface="Calibri"/>
            </a:endParaRPr>
          </a:p>
        </p:txBody>
      </p:sp>
      <p:sp>
        <p:nvSpPr>
          <p:cNvPr id="151" name="Google Shape;151;p9"/>
          <p:cNvSpPr txBox="1"/>
          <p:nvPr/>
        </p:nvSpPr>
        <p:spPr>
          <a:xfrm>
            <a:off x="533400" y="1678377"/>
            <a:ext cx="7772400" cy="4523033"/>
          </a:xfrm>
          <a:prstGeom prst="rect">
            <a:avLst/>
          </a:prstGeom>
          <a:noFill/>
          <a:ln>
            <a:noFill/>
          </a:ln>
        </p:spPr>
        <p:txBody>
          <a:bodyPr anchorCtr="0" anchor="t" bIns="0" lIns="0" spcFirstLastPara="1" rIns="0" wrap="square" tIns="110475">
            <a:spAutoFit/>
          </a:bodyPr>
          <a:lstStyle/>
          <a:p>
            <a:pPr indent="-342900" lvl="0" marL="3556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General Purpose-can be assigned to a variety of functions by the programmer</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7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Data-used only to hold data and cannot be employed in the calculation of an operand address</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spcBef>
                <a:spcPts val="76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Address-somewhat general purpose, or they may be devoted to a particular addressing mode.</a:t>
            </a:r>
            <a:endParaRPr/>
          </a:p>
          <a:p>
            <a:pPr indent="-342900" lvl="1" marL="812800" marR="0" rtl="0" algn="just">
              <a:spcBef>
                <a:spcPts val="765"/>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Segment pointers: In a machine with segmented addressing, a segment register holds the address of the base of the segment.</a:t>
            </a:r>
            <a:endParaRPr/>
          </a:p>
          <a:p>
            <a:pPr indent="-127000" lvl="2" marL="9144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Index registers: These are used for indexed addressing and may be auto indexed.</a:t>
            </a:r>
            <a:endParaRPr/>
          </a:p>
          <a:p>
            <a:pPr indent="-127000" lvl="2" marL="9144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Stack pointer-there is a dedicated register that points to the top of the stack.</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77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Condition Codes- (Refer next slides)</a:t>
            </a:r>
            <a:endParaRPr b="0" i="0" sz="2000" u="none" cap="none" strike="noStrike">
              <a:solidFill>
                <a:schemeClr val="dk1"/>
              </a:solidFill>
              <a:latin typeface="Times New Roman"/>
              <a:ea typeface="Times New Roman"/>
              <a:cs typeface="Times New Roman"/>
              <a:sym typeface="Times New Roman"/>
            </a:endParaRPr>
          </a:p>
        </p:txBody>
      </p:sp>
      <p:sp>
        <p:nvSpPr>
          <p:cNvPr id="152" name="Google Shape;152;p9"/>
          <p:cNvSpPr txBox="1"/>
          <p:nvPr/>
        </p:nvSpPr>
        <p:spPr>
          <a:xfrm>
            <a:off x="533400" y="762000"/>
            <a:ext cx="8077200" cy="830997"/>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may be referenced by means of the machine language that the processor executes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1006246" y="461594"/>
            <a:ext cx="71386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Example Register Organizations</a:t>
            </a:r>
            <a:endParaRPr sz="4400">
              <a:latin typeface="Calibri"/>
              <a:ea typeface="Calibri"/>
              <a:cs typeface="Calibri"/>
              <a:sym typeface="Calibri"/>
            </a:endParaRPr>
          </a:p>
        </p:txBody>
      </p:sp>
      <p:pic>
        <p:nvPicPr>
          <p:cNvPr id="158" name="Google Shape;158;p10"/>
          <p:cNvPicPr preferRelativeResize="0"/>
          <p:nvPr/>
        </p:nvPicPr>
        <p:blipFill rotWithShape="1">
          <a:blip r:embed="rId3">
            <a:alphaModFix/>
          </a:blip>
          <a:srcRect b="0" l="0" r="0" t="0"/>
          <a:stretch/>
        </p:blipFill>
        <p:spPr>
          <a:xfrm>
            <a:off x="58145" y="1266189"/>
            <a:ext cx="9085854" cy="5509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381000" y="274638"/>
            <a:ext cx="85526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64" name="Google Shape;164;p11"/>
          <p:cNvSpPr txBox="1"/>
          <p:nvPr>
            <p:ph idx="1" type="body"/>
          </p:nvPr>
        </p:nvSpPr>
        <p:spPr>
          <a:xfrm>
            <a:off x="0" y="838200"/>
            <a:ext cx="8839200"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MC68000 partitions its 32-bit registers into eight data registers and nine address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eight data registers are used primarily for data manipulation and are also used in addressing as index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address registers contain 32-bit addresses; two of these registers are also used as stack pointers, one for users and one for the operating system</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32-bit program counter and a 16-bit status register.</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0" y="274638"/>
            <a:ext cx="89336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70" name="Google Shape;170;p12"/>
          <p:cNvSpPr txBox="1"/>
          <p:nvPr>
            <p:ph idx="1" type="body"/>
          </p:nvPr>
        </p:nvSpPr>
        <p:spPr>
          <a:xfrm>
            <a:off x="228600" y="838200"/>
            <a:ext cx="8705088"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Intel-special purpose and general purpose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four 16-bit data registers that are addressable on a byte or 16-bit basis, and four 16-bit pointer and index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The data registers can be used as general purpose in some instructions.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four 16-bit segment registers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Compact encoding at the cost of reduced flexibility.</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8086 also includes an instruction pointer and a set of 1-bit status and control flags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457200" y="274638"/>
            <a:ext cx="84764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176" name="Google Shape;176;p13"/>
          <p:cNvSpPr txBox="1"/>
          <p:nvPr>
            <p:ph idx="1" type="body"/>
          </p:nvPr>
        </p:nvSpPr>
        <p:spPr>
          <a:xfrm>
            <a:off x="152400" y="1447800"/>
            <a:ext cx="8781288"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1920"/>
              <a:buChar char="⚫"/>
            </a:pPr>
            <a:r>
              <a:rPr lang="en-US" sz="2400">
                <a:latin typeface="Times New Roman"/>
                <a:ea typeface="Times New Roman"/>
                <a:cs typeface="Times New Roman"/>
                <a:sym typeface="Times New Roman"/>
              </a:rPr>
              <a:t>user-visible register organization for the Intel 80386,which is a 32-bit microprocessor designed as an extension of the 8086.</a:t>
            </a:r>
            <a:endParaRPr/>
          </a:p>
          <a:p>
            <a:pPr indent="-283464" lvl="0" marL="365760" rtl="0" algn="l">
              <a:lnSpc>
                <a:spcPct val="100000"/>
              </a:lnSpc>
              <a:spcBef>
                <a:spcPts val="600"/>
              </a:spcBef>
              <a:spcAft>
                <a:spcPts val="0"/>
              </a:spcAft>
              <a:buSzPts val="1920"/>
              <a:buChar char="⚫"/>
            </a:pPr>
            <a:r>
              <a:rPr lang="en-US" sz="2400">
                <a:latin typeface="Times New Roman"/>
                <a:ea typeface="Times New Roman"/>
                <a:cs typeface="Times New Roman"/>
                <a:sym typeface="Times New Roman"/>
              </a:rPr>
              <a:t> The 80386 uses 32-bit registers.</a:t>
            </a:r>
            <a:endParaRPr/>
          </a:p>
          <a:p>
            <a:pPr indent="-283464" lvl="0" marL="365760" rtl="0" algn="l">
              <a:lnSpc>
                <a:spcPct val="100000"/>
              </a:lnSpc>
              <a:spcBef>
                <a:spcPts val="600"/>
              </a:spcBef>
              <a:spcAft>
                <a:spcPts val="0"/>
              </a:spcAft>
              <a:buSzPts val="1920"/>
              <a:buChar char="⚫"/>
            </a:pPr>
            <a:r>
              <a:rPr lang="en-US" sz="2400">
                <a:latin typeface="Times New Roman"/>
                <a:ea typeface="Times New Roman"/>
                <a:cs typeface="Times New Roman"/>
                <a:sym typeface="Times New Roman"/>
              </a:rPr>
              <a:t> However, to provide upward compatibility for programs written on the earlier machine, the 80386 retains the original register organization embedded in the new organization</a:t>
            </a:r>
            <a:endParaRPr sz="2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2133092" y="530478"/>
            <a:ext cx="4878070" cy="57404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3600"/>
              <a:buFont typeface="Calibri"/>
              <a:buNone/>
            </a:pPr>
            <a:r>
              <a:rPr b="0" lang="en-US" sz="3600">
                <a:latin typeface="Calibri"/>
                <a:ea typeface="Calibri"/>
                <a:cs typeface="Calibri"/>
                <a:sym typeface="Calibri"/>
              </a:rPr>
              <a:t>General Purpose Registers</a:t>
            </a:r>
            <a:endParaRPr sz="3600">
              <a:latin typeface="Calibri"/>
              <a:ea typeface="Calibri"/>
              <a:cs typeface="Calibri"/>
              <a:sym typeface="Calibri"/>
            </a:endParaRPr>
          </a:p>
        </p:txBody>
      </p:sp>
      <p:sp>
        <p:nvSpPr>
          <p:cNvPr id="182" name="Google Shape;182;p14"/>
          <p:cNvSpPr txBox="1"/>
          <p:nvPr/>
        </p:nvSpPr>
        <p:spPr>
          <a:xfrm>
            <a:off x="509727" y="1247343"/>
            <a:ext cx="7872273" cy="425005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true general purpose</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restricted</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May be used for data or addressing</a:t>
            </a:r>
            <a:endParaRPr b="0" i="0" sz="2700" u="none" cap="none" strike="noStrike">
              <a:solidFill>
                <a:schemeClr val="dk1"/>
              </a:solidFill>
              <a:latin typeface="Calibri"/>
              <a:ea typeface="Calibri"/>
              <a:cs typeface="Calibri"/>
              <a:sym typeface="Calibri"/>
            </a:endParaRPr>
          </a:p>
          <a:p>
            <a:pPr indent="-342900" lvl="0" marL="355600" marR="0" rtl="0" algn="l">
              <a:lnSpc>
                <a:spcPct val="100000"/>
              </a:lnSpc>
              <a:spcBef>
                <a:spcPts val="194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Data</a:t>
            </a:r>
            <a:endParaRPr b="0" i="0" sz="2700" u="none" cap="none" strike="noStrike">
              <a:solidFill>
                <a:schemeClr val="dk1"/>
              </a:solidFill>
              <a:latin typeface="Calibri"/>
              <a:ea typeface="Calibri"/>
              <a:cs typeface="Calibri"/>
              <a:sym typeface="Calibri"/>
            </a:endParaRPr>
          </a:p>
          <a:p>
            <a:pPr indent="-287654"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Accumulator</a:t>
            </a:r>
            <a:endParaRPr b="0" i="0" sz="2400" u="none" cap="none" strike="noStrike">
              <a:solidFill>
                <a:schemeClr val="dk1"/>
              </a:solidFill>
              <a:latin typeface="Calibri"/>
              <a:ea typeface="Calibri"/>
              <a:cs typeface="Calibri"/>
              <a:sym typeface="Calibri"/>
            </a:endParaRPr>
          </a:p>
          <a:p>
            <a:pPr indent="-342900" lvl="0" marL="355600" marR="0" rtl="0" algn="l">
              <a:lnSpc>
                <a:spcPct val="100000"/>
              </a:lnSpc>
              <a:spcBef>
                <a:spcPts val="1885"/>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Addressing</a:t>
            </a:r>
            <a:endParaRPr b="0" i="0" sz="2700" u="none" cap="none" strike="noStrike">
              <a:solidFill>
                <a:schemeClr val="dk1"/>
              </a:solidFill>
              <a:latin typeface="Calibri"/>
              <a:ea typeface="Calibri"/>
              <a:cs typeface="Calibri"/>
              <a:sym typeface="Calibri"/>
            </a:endParaRPr>
          </a:p>
          <a:p>
            <a:pPr indent="-287654" lvl="1" marL="756285" marR="0" rtl="0" algn="l">
              <a:lnSpc>
                <a:spcPct val="100000"/>
              </a:lnSpc>
              <a:spcBef>
                <a:spcPts val="1789"/>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Segment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15"/>
          <p:cNvSpPr txBox="1"/>
          <p:nvPr/>
        </p:nvSpPr>
        <p:spPr>
          <a:xfrm>
            <a:off x="535025" y="1193114"/>
            <a:ext cx="7618375" cy="2398734"/>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Why make them general purpose?</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45"/>
              </a:spcBef>
              <a:spcAft>
                <a:spcPts val="0"/>
              </a:spcAft>
              <a:buClr>
                <a:schemeClr val="dk1"/>
              </a:buClr>
              <a:buSzPts val="3400"/>
              <a:buFont typeface="Arial"/>
              <a:buNone/>
            </a:pPr>
            <a:r>
              <a:t/>
            </a:r>
            <a:endParaRPr b="0" i="0" sz="34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Increase flexibility and programmer options</a:t>
            </a:r>
            <a:endParaRPr b="0" i="0" sz="28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3300"/>
              <a:buFont typeface="Arial"/>
              <a:buNone/>
            </a:pPr>
            <a:r>
              <a:t/>
            </a:r>
            <a:endParaRPr b="0" i="0" sz="33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Increase instruction size &amp; complexity</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3503421" y="461594"/>
            <a:ext cx="213804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How big?</a:t>
            </a:r>
            <a:endParaRPr sz="4400">
              <a:latin typeface="Calibri"/>
              <a:ea typeface="Calibri"/>
              <a:cs typeface="Calibri"/>
              <a:sym typeface="Calibri"/>
            </a:endParaRPr>
          </a:p>
        </p:txBody>
      </p:sp>
      <p:sp>
        <p:nvSpPr>
          <p:cNvPr id="193" name="Google Shape;193;p16"/>
          <p:cNvSpPr txBox="1"/>
          <p:nvPr/>
        </p:nvSpPr>
        <p:spPr>
          <a:xfrm>
            <a:off x="535024" y="1371600"/>
            <a:ext cx="7237375" cy="3949158"/>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Large enough to hold full address</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450"/>
              <a:buFont typeface="Arial"/>
              <a:buNone/>
            </a:pPr>
            <a:r>
              <a:t/>
            </a:r>
            <a:endParaRPr b="0" i="0" sz="24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Large enough to hold full word</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450"/>
              <a:buFont typeface="Arial"/>
              <a:buNone/>
            </a:pPr>
            <a:r>
              <a:t/>
            </a:r>
            <a:endParaRPr b="0" i="0" sz="24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500"/>
              <a:buFont typeface="Arial"/>
              <a:buChar char="•"/>
            </a:pPr>
            <a:r>
              <a:rPr b="0" i="0" lang="en-US" sz="2500" u="none" cap="none" strike="noStrike">
                <a:solidFill>
                  <a:schemeClr val="dk1"/>
                </a:solidFill>
                <a:latin typeface="Calibri"/>
                <a:ea typeface="Calibri"/>
                <a:cs typeface="Calibri"/>
                <a:sym typeface="Calibri"/>
              </a:rPr>
              <a:t>Often possible to combine two data registers</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C programming</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20"/>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double int a;</a:t>
            </a:r>
            <a:endParaRPr b="0" i="0" sz="2200" u="none" cap="none" strike="noStrike">
              <a:solidFill>
                <a:schemeClr val="dk1"/>
              </a:solidFill>
              <a:latin typeface="Calibri"/>
              <a:ea typeface="Calibri"/>
              <a:cs typeface="Calibri"/>
              <a:sym typeface="Calibri"/>
            </a:endParaRPr>
          </a:p>
          <a:p>
            <a:pPr indent="0" lvl="1" marL="457200" marR="0" rtl="0" algn="l">
              <a:lnSpc>
                <a:spcPct val="100000"/>
              </a:lnSpc>
              <a:spcBef>
                <a:spcPts val="15"/>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long int a;</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611835" y="461594"/>
            <a:ext cx="79222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4400"/>
              <a:buFont typeface="Calibri"/>
              <a:buNone/>
            </a:pPr>
            <a:r>
              <a:rPr b="0" lang="en-US" sz="4400">
                <a:solidFill>
                  <a:srgbClr val="FF0000"/>
                </a:solidFill>
                <a:latin typeface="Calibri"/>
                <a:ea typeface="Calibri"/>
                <a:cs typeface="Calibri"/>
                <a:sym typeface="Calibri"/>
              </a:rPr>
              <a:t>Condition Code Registers(Flag Reg)</a:t>
            </a:r>
            <a:endParaRPr sz="4400">
              <a:latin typeface="Calibri"/>
              <a:ea typeface="Calibri"/>
              <a:cs typeface="Calibri"/>
              <a:sym typeface="Calibri"/>
            </a:endParaRPr>
          </a:p>
        </p:txBody>
      </p:sp>
      <p:sp>
        <p:nvSpPr>
          <p:cNvPr id="199" name="Google Shape;199;p17"/>
          <p:cNvSpPr txBox="1"/>
          <p:nvPr/>
        </p:nvSpPr>
        <p:spPr>
          <a:xfrm>
            <a:off x="535024" y="1143001"/>
            <a:ext cx="8456576" cy="5053306"/>
          </a:xfrm>
          <a:prstGeom prst="rect">
            <a:avLst/>
          </a:prstGeom>
          <a:noFill/>
          <a:ln>
            <a:noFill/>
          </a:ln>
        </p:spPr>
        <p:txBody>
          <a:bodyPr anchorCtr="0" anchor="t" bIns="0" lIns="0" spcFirstLastPara="1" rIns="0" wrap="square" tIns="13325">
            <a:spAutoFit/>
          </a:bodyPr>
          <a:lstStyle/>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Condition codes are bits set by the processor hardware as the result of operations.</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 addition to the result itself being stored in a register or memory, a condition code is also set</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Condition code bits are collected into one or more registers</a:t>
            </a:r>
            <a:endParaRPr/>
          </a:p>
          <a:p>
            <a:pPr indent="-342900" lvl="0" marL="355600" marR="0" rtl="0" algn="l">
              <a:spcBef>
                <a:spcPts val="1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Sets of individual bits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245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e.g. result of last operation was zero</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259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Can be read (implicitly) by programs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245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e.g. Jump if zero</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258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Can not (usually) be set by programs</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205" name="Google Shape;205;p18"/>
          <p:cNvPicPr preferRelativeResize="0"/>
          <p:nvPr>
            <p:ph idx="1" type="body"/>
          </p:nvPr>
        </p:nvPicPr>
        <p:blipFill rotWithShape="1">
          <a:blip r:embed="rId3">
            <a:alphaModFix/>
          </a:blip>
          <a:srcRect b="23810" l="23116" r="18876" t="17460"/>
          <a:stretch/>
        </p:blipFill>
        <p:spPr>
          <a:xfrm>
            <a:off x="304800" y="1447800"/>
            <a:ext cx="8534400" cy="449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9" name="Shape 209"/>
        <p:cNvGrpSpPr/>
        <p:nvPr/>
      </p:nvGrpSpPr>
      <p:grpSpPr>
        <a:xfrm>
          <a:off x="0" y="0"/>
          <a:ext cx="0" cy="0"/>
          <a:chOff x="0" y="0"/>
          <a:chExt cx="0" cy="0"/>
        </a:xfrm>
      </p:grpSpPr>
      <p:sp>
        <p:nvSpPr>
          <p:cNvPr id="210" name="Google Shape;210;p19"/>
          <p:cNvSpPr txBox="1"/>
          <p:nvPr>
            <p:ph type="title"/>
          </p:nvPr>
        </p:nvSpPr>
        <p:spPr>
          <a:xfrm>
            <a:off x="1616455" y="461594"/>
            <a:ext cx="5911215" cy="444352"/>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2800"/>
              <a:buFont typeface="Times New Roman"/>
              <a:buNone/>
            </a:pPr>
            <a:r>
              <a:rPr b="0" lang="en-US" sz="2800">
                <a:solidFill>
                  <a:srgbClr val="FF0000"/>
                </a:solidFill>
                <a:latin typeface="Times New Roman"/>
                <a:ea typeface="Times New Roman"/>
                <a:cs typeface="Times New Roman"/>
                <a:sym typeface="Times New Roman"/>
              </a:rPr>
              <a:t>Control &amp; Status Registers</a:t>
            </a:r>
            <a:endParaRPr sz="2800">
              <a:latin typeface="Times New Roman"/>
              <a:ea typeface="Times New Roman"/>
              <a:cs typeface="Times New Roman"/>
              <a:sym typeface="Times New Roman"/>
            </a:endParaRPr>
          </a:p>
        </p:txBody>
      </p:sp>
      <p:sp>
        <p:nvSpPr>
          <p:cNvPr id="211" name="Google Shape;211;p19"/>
          <p:cNvSpPr txBox="1"/>
          <p:nvPr/>
        </p:nvSpPr>
        <p:spPr>
          <a:xfrm>
            <a:off x="228600" y="990600"/>
            <a:ext cx="8458199" cy="4076116"/>
          </a:xfrm>
          <a:prstGeom prst="rect">
            <a:avLst/>
          </a:prstGeom>
          <a:noFill/>
          <a:ln>
            <a:noFill/>
          </a:ln>
        </p:spPr>
        <p:txBody>
          <a:bodyPr anchorCtr="0" anchor="t" bIns="0" lIns="0" spcFirstLastPara="1" rIns="0" wrap="square" tIns="13325">
            <a:spAutoFit/>
          </a:bodyPr>
          <a:lstStyle/>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Program Counter (PC)-Contains the address of an instruction to be fetched</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Instruction Decoding Register(IR)-Contains the instruction most recently fetched</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Address Register(MAR)-Contains the address of a location in memory</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5"/>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Buffer Register(MBR)-Contains a word of data to be written to memory or the word most recently read</a:t>
            </a:r>
            <a:endParaRPr b="0" i="0" sz="2400" u="none" cap="none" strike="noStrike">
              <a:solidFill>
                <a:schemeClr val="dk1"/>
              </a:solidFill>
              <a:latin typeface="Times New Roman"/>
              <a:ea typeface="Times New Roman"/>
              <a:cs typeface="Times New Roman"/>
              <a:sym typeface="Times New Roman"/>
            </a:endParaRPr>
          </a:p>
        </p:txBody>
      </p:sp>
      <p:sp>
        <p:nvSpPr>
          <p:cNvPr id="212" name="Google Shape;212;p19"/>
          <p:cNvSpPr txBox="1"/>
          <p:nvPr/>
        </p:nvSpPr>
        <p:spPr>
          <a:xfrm>
            <a:off x="533400" y="5410200"/>
            <a:ext cx="8229600"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movement of data between the processor and memory</a:t>
            </a:r>
            <a:endParaRPr/>
          </a:p>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Within the processor, data must be presented to the ALU for processing.</a:t>
            </a:r>
            <a:endParaRPr/>
          </a:p>
          <a:p>
            <a:pPr indent="0" lvl="0" marL="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The ALU may have direct access to the MBR and user-visible registers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p20"/>
          <p:cNvSpPr txBox="1"/>
          <p:nvPr/>
        </p:nvSpPr>
        <p:spPr>
          <a:xfrm>
            <a:off x="293014" y="478274"/>
            <a:ext cx="8696325" cy="5872480"/>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Memory Address Register (MAR)</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Connected to address bus</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5"/>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Specifies address for read or write op</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Memory Buffer Register (MBR)</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Connected to data bus</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data to write or last data read</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5"/>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Program Counter (PC)</a:t>
            </a:r>
            <a:endParaRPr b="0" i="0" sz="3200" u="none" cap="none" strike="noStrike">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a:t>
            </a:r>
            <a:r>
              <a:rPr b="1" i="0" lang="en-US" sz="2800" u="none" cap="none" strike="noStrike">
                <a:solidFill>
                  <a:schemeClr val="dk1"/>
                </a:solidFill>
                <a:latin typeface="Calibri"/>
                <a:ea typeface="Calibri"/>
                <a:cs typeface="Calibri"/>
                <a:sym typeface="Calibri"/>
              </a:rPr>
              <a:t>address of next </a:t>
            </a:r>
            <a:r>
              <a:rPr b="0" i="0" lang="en-US" sz="2800" u="none" cap="none" strike="noStrike">
                <a:solidFill>
                  <a:schemeClr val="dk1"/>
                </a:solidFill>
                <a:latin typeface="Calibri"/>
                <a:ea typeface="Calibri"/>
                <a:cs typeface="Calibri"/>
                <a:sym typeface="Calibri"/>
              </a:rPr>
              <a:t>instruction to be fetched</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0"/>
              </a:spcBef>
              <a:spcAft>
                <a:spcPts val="0"/>
              </a:spcAft>
              <a:buClr>
                <a:srgbClr val="FF0000"/>
              </a:buClr>
              <a:buSzPts val="3200"/>
              <a:buFont typeface="Arial"/>
              <a:buChar char="•"/>
            </a:pPr>
            <a:r>
              <a:rPr b="1" i="0" lang="en-US" sz="3200" u="none" cap="none" strike="noStrike">
                <a:solidFill>
                  <a:srgbClr val="FF0000"/>
                </a:solidFill>
                <a:latin typeface="Calibri"/>
                <a:ea typeface="Calibri"/>
                <a:cs typeface="Calibri"/>
                <a:sym typeface="Calibri"/>
              </a:rPr>
              <a:t>Instruction Register (IR)</a:t>
            </a:r>
            <a:endParaRPr b="0" i="0" sz="3200" u="none" cap="none" strike="noStrike">
              <a:solidFill>
                <a:schemeClr val="dk1"/>
              </a:solidFill>
              <a:latin typeface="Calibri"/>
              <a:ea typeface="Calibri"/>
              <a:cs typeface="Calibri"/>
              <a:sym typeface="Calibri"/>
            </a:endParaRPr>
          </a:p>
          <a:p>
            <a:pPr indent="-287019" lvl="1" marL="756285" marR="508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Holds last instruction fetched/current instruction being  executed</a:t>
            </a:r>
            <a:endParaRPr b="0" i="0" sz="2800" u="none" cap="none" strike="noStrike">
              <a:solidFill>
                <a:schemeClr val="dk1"/>
              </a:solidFill>
              <a:latin typeface="Calibri"/>
              <a:ea typeface="Calibri"/>
              <a:cs typeface="Calibri"/>
              <a:sym typeface="Calibri"/>
            </a:endParaRPr>
          </a:p>
        </p:txBody>
      </p:sp>
      <p:sp>
        <p:nvSpPr>
          <p:cNvPr id="218" name="Google Shape;218;p2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2" name="Shape 222"/>
        <p:cNvGrpSpPr/>
        <p:nvPr/>
      </p:nvGrpSpPr>
      <p:grpSpPr>
        <a:xfrm>
          <a:off x="0" y="0"/>
          <a:ext cx="0" cy="0"/>
          <a:chOff x="0" y="0"/>
          <a:chExt cx="0" cy="0"/>
        </a:xfrm>
      </p:grpSpPr>
      <p:sp>
        <p:nvSpPr>
          <p:cNvPr id="223" name="Google Shape;223;p21"/>
          <p:cNvSpPr txBox="1"/>
          <p:nvPr>
            <p:ph type="title"/>
          </p:nvPr>
        </p:nvSpPr>
        <p:spPr>
          <a:xfrm>
            <a:off x="2138552" y="461594"/>
            <a:ext cx="48698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FF0000"/>
              </a:buClr>
              <a:buSzPts val="4400"/>
              <a:buFont typeface="Calibri"/>
              <a:buNone/>
            </a:pPr>
            <a:r>
              <a:rPr b="0" lang="en-US" sz="4400">
                <a:solidFill>
                  <a:srgbClr val="FF0000"/>
                </a:solidFill>
                <a:latin typeface="Calibri"/>
                <a:ea typeface="Calibri"/>
                <a:cs typeface="Calibri"/>
                <a:sym typeface="Calibri"/>
              </a:rPr>
              <a:t>Program Status Word</a:t>
            </a:r>
            <a:endParaRPr sz="4400">
              <a:latin typeface="Calibri"/>
              <a:ea typeface="Calibri"/>
              <a:cs typeface="Calibri"/>
              <a:sym typeface="Calibri"/>
            </a:endParaRPr>
          </a:p>
        </p:txBody>
      </p:sp>
      <p:sp>
        <p:nvSpPr>
          <p:cNvPr id="224" name="Google Shape;224;p21"/>
          <p:cNvSpPr txBox="1"/>
          <p:nvPr/>
        </p:nvSpPr>
        <p:spPr>
          <a:xfrm>
            <a:off x="457200" y="2438400"/>
            <a:ext cx="8305800" cy="3706143"/>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 set of bits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Includes Condition Codes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Sign of last result</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Zero-set when result is 0</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Carry</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Equal</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Overflow</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Interrupt enable/disable-</a:t>
            </a:r>
            <a:r>
              <a:rPr b="0" i="0" lang="en-US" sz="2400" u="none" cap="none" strike="noStrike">
                <a:solidFill>
                  <a:schemeClr val="dk1"/>
                </a:solidFill>
                <a:latin typeface="Gill Sans"/>
                <a:ea typeface="Gill Sans"/>
                <a:cs typeface="Gill Sans"/>
                <a:sym typeface="Gill Sans"/>
              </a:rPr>
              <a:t>enable or disable interrupts.</a:t>
            </a:r>
            <a:endParaRPr b="0" i="0" sz="2400" u="none" cap="none" strike="noStrike">
              <a:solidFill>
                <a:schemeClr val="dk1"/>
              </a:solidFill>
              <a:latin typeface="Times New Roman"/>
              <a:ea typeface="Times New Roman"/>
              <a:cs typeface="Times New Roman"/>
              <a:sym typeface="Times New Roman"/>
            </a:endParaRPr>
          </a:p>
          <a:p>
            <a:pPr indent="-343535" lvl="0" marL="3556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Supervisor-Indicates whether the processor is executing in supervisor or user mode.</a:t>
            </a:r>
            <a:endParaRPr b="0" i="0" sz="2400" u="none" cap="none" strike="noStrike">
              <a:solidFill>
                <a:schemeClr val="dk1"/>
              </a:solidFill>
              <a:latin typeface="Times New Roman"/>
              <a:ea typeface="Times New Roman"/>
              <a:cs typeface="Times New Roman"/>
              <a:sym typeface="Times New Roman"/>
            </a:endParaRPr>
          </a:p>
        </p:txBody>
      </p:sp>
      <p:sp>
        <p:nvSpPr>
          <p:cNvPr id="225" name="Google Shape;225;p21"/>
          <p:cNvSpPr txBox="1"/>
          <p:nvPr/>
        </p:nvSpPr>
        <p:spPr>
          <a:xfrm>
            <a:off x="457200" y="1295400"/>
            <a:ext cx="80772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chemeClr val="dk1"/>
                </a:solidFill>
                <a:latin typeface="Times New Roman"/>
                <a:ea typeface="Times New Roman"/>
                <a:cs typeface="Times New Roman"/>
                <a:sym typeface="Times New Roman"/>
              </a:rPr>
              <a:t>program status word (PSW) contain status information.</a:t>
            </a:r>
            <a:endParaRPr/>
          </a:p>
          <a:p>
            <a:pPr indent="0" lvl="0" marL="0" marR="0" rtl="0" algn="l">
              <a:spcBef>
                <a:spcPts val="0"/>
              </a:spcBef>
              <a:spcAft>
                <a:spcPts val="0"/>
              </a:spcAft>
              <a:buNone/>
            </a:pPr>
            <a:r>
              <a:rPr i="1" lang="en-US" sz="2000">
                <a:solidFill>
                  <a:schemeClr val="dk1"/>
                </a:solidFill>
                <a:latin typeface="Times New Roman"/>
                <a:ea typeface="Times New Roman"/>
                <a:cs typeface="Times New Roman"/>
                <a:sym typeface="Times New Roman"/>
              </a:rPr>
              <a:t>The PSW typically </a:t>
            </a:r>
            <a:r>
              <a:rPr lang="en-US" sz="2000">
                <a:solidFill>
                  <a:schemeClr val="dk1"/>
                </a:solidFill>
                <a:latin typeface="Times New Roman"/>
                <a:ea typeface="Times New Roman"/>
                <a:cs typeface="Times New Roman"/>
                <a:sym typeface="Times New Roman"/>
              </a:rPr>
              <a:t>contains condition codes plus other status information. Common fields or flags include the following: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231" name="Google Shape;231;p22"/>
          <p:cNvSpPr txBox="1"/>
          <p:nvPr>
            <p:ph idx="1" type="body"/>
          </p:nvPr>
        </p:nvSpPr>
        <p:spPr>
          <a:xfrm>
            <a:off x="304800" y="14478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user state is the default (normal) state of operation, in which user programs are executed.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supervisor state is a special mode of operation to which the user has no access.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When it is in the supervisor state, the processor and its actions are entirely controlled by the Operating System (OS).</a:t>
            </a:r>
            <a:endParaRPr sz="24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76200" y="152400"/>
            <a:ext cx="88574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237" name="Google Shape;237;p23"/>
          <p:cNvSpPr txBox="1"/>
          <p:nvPr>
            <p:ph idx="1" type="body"/>
          </p:nvPr>
        </p:nvSpPr>
        <p:spPr>
          <a:xfrm>
            <a:off x="228600" y="838200"/>
            <a:ext cx="8705088" cy="2895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latin typeface="Times New Roman"/>
                <a:ea typeface="Times New Roman"/>
                <a:cs typeface="Times New Roman"/>
                <a:sym typeface="Times New Roman"/>
              </a:rPr>
              <a:t>Processor operations mostly involve processing data.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This data can be stored in memory and accessed from thereon.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However, reading data from and storing data into memory slows down the processor</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To speed up the processor operations, the processor includes some internal memory storage locations, called </a:t>
            </a:r>
            <a:r>
              <a:rPr b="1" lang="en-US" sz="2000">
                <a:latin typeface="Times New Roman"/>
                <a:ea typeface="Times New Roman"/>
                <a:cs typeface="Times New Roman"/>
                <a:sym typeface="Times New Roman"/>
              </a:rPr>
              <a:t>registers</a:t>
            </a:r>
            <a:r>
              <a:rPr lang="en-US" sz="2000">
                <a:latin typeface="Times New Roman"/>
                <a:ea typeface="Times New Roman"/>
                <a:cs typeface="Times New Roman"/>
                <a:sym typeface="Times New Roman"/>
              </a:rPr>
              <a:t>.</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 registers store data elements for processing without having to access the memory. A limited number of registers are built into the processor chip.</a:t>
            </a:r>
            <a:endParaRPr/>
          </a:p>
          <a:p>
            <a:pPr indent="-181864" lvl="0" marL="365760" rtl="0" algn="just">
              <a:lnSpc>
                <a:spcPct val="100000"/>
              </a:lnSpc>
              <a:spcBef>
                <a:spcPts val="600"/>
              </a:spcBef>
              <a:spcAft>
                <a:spcPts val="0"/>
              </a:spcAft>
              <a:buSzPts val="1600"/>
              <a:buNone/>
            </a:pPr>
            <a:r>
              <a:t/>
            </a:r>
            <a:endParaRPr sz="2000">
              <a:latin typeface="Times New Roman"/>
              <a:ea typeface="Times New Roman"/>
              <a:cs typeface="Times New Roman"/>
              <a:sym typeface="Times New Roman"/>
            </a:endParaRPr>
          </a:p>
        </p:txBody>
      </p:sp>
      <p:sp>
        <p:nvSpPr>
          <p:cNvPr id="238" name="Google Shape;238;p23"/>
          <p:cNvSpPr txBox="1"/>
          <p:nvPr/>
        </p:nvSpPr>
        <p:spPr>
          <a:xfrm>
            <a:off x="609600" y="4114800"/>
            <a:ext cx="77724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registers are grouped into three categories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General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Control registers, and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Segment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general registers are further divided into the following groups −</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Data registers,</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Pointer registers, and</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Index registers.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3048000" y="304800"/>
            <a:ext cx="2532380" cy="45212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2800"/>
              <a:buFont typeface="Calibri"/>
              <a:buNone/>
            </a:pPr>
            <a:r>
              <a:rPr b="0" lang="en-US" sz="2800">
                <a:latin typeface="Calibri"/>
                <a:ea typeface="Calibri"/>
                <a:cs typeface="Calibri"/>
                <a:sym typeface="Calibri"/>
              </a:rPr>
              <a:t>General Registers</a:t>
            </a:r>
            <a:endParaRPr sz="2800">
              <a:latin typeface="Calibri"/>
              <a:ea typeface="Calibri"/>
              <a:cs typeface="Calibri"/>
              <a:sym typeface="Calibri"/>
            </a:endParaRPr>
          </a:p>
        </p:txBody>
      </p:sp>
      <p:sp>
        <p:nvSpPr>
          <p:cNvPr id="244" name="Google Shape;244;p24"/>
          <p:cNvSpPr txBox="1"/>
          <p:nvPr/>
        </p:nvSpPr>
        <p:spPr>
          <a:xfrm>
            <a:off x="157480" y="914400"/>
            <a:ext cx="8961120" cy="5462393"/>
          </a:xfrm>
          <a:prstGeom prst="rect">
            <a:avLst/>
          </a:prstGeom>
          <a:noFill/>
          <a:ln>
            <a:noFill/>
          </a:ln>
        </p:spPr>
        <p:txBody>
          <a:bodyPr anchorCtr="0" anchor="t" bIns="0" lIns="0" spcFirstLastPara="1" rIns="0" wrap="square" tIns="12050">
            <a:spAutoFit/>
          </a:bodyPr>
          <a:lstStyle/>
          <a:p>
            <a:pPr indent="-256540" lvl="0" marL="268605" marR="5080" rtl="0" algn="l">
              <a:lnSpc>
                <a:spcPct val="150100"/>
              </a:lnSpc>
              <a:spcBef>
                <a:spcPts val="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AX is the primary accumulator</a:t>
            </a:r>
            <a:r>
              <a:rPr lang="en-US" sz="2200">
                <a:solidFill>
                  <a:schemeClr val="dk1"/>
                </a:solidFill>
                <a:latin typeface="Times New Roman"/>
                <a:ea typeface="Times New Roman"/>
                <a:cs typeface="Times New Roman"/>
                <a:sym typeface="Times New Roman"/>
              </a:rPr>
              <a:t>; it is used in input/output and most  arithmetic instructions. For example, in multiplication operation, one operand  is stored in EAX or AX or AL register according to the size of the operand.</a:t>
            </a:r>
            <a:endParaRPr sz="2200">
              <a:solidFill>
                <a:schemeClr val="dk1"/>
              </a:solidFill>
              <a:latin typeface="Times New Roman"/>
              <a:ea typeface="Times New Roman"/>
              <a:cs typeface="Times New Roman"/>
              <a:sym typeface="Times New Roman"/>
            </a:endParaRPr>
          </a:p>
          <a:p>
            <a:pPr indent="-256540" lvl="0" marL="268605" marR="0" rtl="0" algn="l">
              <a:lnSpc>
                <a:spcPct val="100000"/>
              </a:lnSpc>
              <a:spcBef>
                <a:spcPts val="185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BX is known as the base register</a:t>
            </a:r>
            <a:r>
              <a:rPr lang="en-US" sz="2200">
                <a:solidFill>
                  <a:schemeClr val="dk1"/>
                </a:solidFill>
                <a:latin typeface="Times New Roman"/>
                <a:ea typeface="Times New Roman"/>
                <a:cs typeface="Times New Roman"/>
                <a:sym typeface="Times New Roman"/>
              </a:rPr>
              <a:t>, as it could be used in indexed addressing (the content of a given index register gets added to an instruction's address part so as to obtain the effective address.).</a:t>
            </a:r>
            <a:endParaRPr sz="2200">
              <a:solidFill>
                <a:schemeClr val="dk1"/>
              </a:solidFill>
              <a:latin typeface="Times New Roman"/>
              <a:ea typeface="Times New Roman"/>
              <a:cs typeface="Times New Roman"/>
              <a:sym typeface="Times New Roman"/>
            </a:endParaRPr>
          </a:p>
          <a:p>
            <a:pPr indent="-256540" lvl="0" marL="268605" marR="125729" rtl="0" algn="l">
              <a:lnSpc>
                <a:spcPct val="150000"/>
              </a:lnSpc>
              <a:spcBef>
                <a:spcPts val="53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CX is known as the count register</a:t>
            </a:r>
            <a:r>
              <a:rPr lang="en-US" sz="2200">
                <a:solidFill>
                  <a:schemeClr val="dk1"/>
                </a:solidFill>
                <a:latin typeface="Times New Roman"/>
                <a:ea typeface="Times New Roman"/>
                <a:cs typeface="Times New Roman"/>
                <a:sym typeface="Times New Roman"/>
              </a:rPr>
              <a:t>, as the ECX, CX registers store the loop  count in iterative operations.</a:t>
            </a:r>
            <a:endParaRPr sz="2200">
              <a:solidFill>
                <a:schemeClr val="dk1"/>
              </a:solidFill>
              <a:latin typeface="Times New Roman"/>
              <a:ea typeface="Times New Roman"/>
              <a:cs typeface="Times New Roman"/>
              <a:sym typeface="Times New Roman"/>
            </a:endParaRPr>
          </a:p>
          <a:p>
            <a:pPr indent="-256540" lvl="0" marL="268605" marR="116204" rtl="0" algn="l">
              <a:lnSpc>
                <a:spcPct val="150000"/>
              </a:lnSpc>
              <a:spcBef>
                <a:spcPts val="530"/>
              </a:spcBef>
              <a:spcAft>
                <a:spcPts val="0"/>
              </a:spcAft>
              <a:buClr>
                <a:schemeClr val="dk1"/>
              </a:buClr>
              <a:buSzPts val="2200"/>
              <a:buFont typeface="Helvetica Neue"/>
              <a:buChar char="●"/>
            </a:pPr>
            <a:r>
              <a:rPr b="1" lang="en-US" sz="2200">
                <a:solidFill>
                  <a:schemeClr val="dk1"/>
                </a:solidFill>
                <a:latin typeface="Times New Roman"/>
                <a:ea typeface="Times New Roman"/>
                <a:cs typeface="Times New Roman"/>
                <a:sym typeface="Times New Roman"/>
              </a:rPr>
              <a:t>DX is known as the data register</a:t>
            </a:r>
            <a:r>
              <a:rPr lang="en-US" sz="2200">
                <a:solidFill>
                  <a:schemeClr val="dk1"/>
                </a:solidFill>
                <a:latin typeface="Times New Roman"/>
                <a:ea typeface="Times New Roman"/>
                <a:cs typeface="Times New Roman"/>
                <a:sym typeface="Times New Roman"/>
              </a:rPr>
              <a:t>. It is also used in input/output operations.  It is also used with AX register along with DX for multiply and divide  operations involving large values.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8" name="Shape 248"/>
        <p:cNvGrpSpPr/>
        <p:nvPr/>
      </p:nvGrpSpPr>
      <p:grpSpPr>
        <a:xfrm>
          <a:off x="0" y="0"/>
          <a:ext cx="0" cy="0"/>
          <a:chOff x="0" y="0"/>
          <a:chExt cx="0" cy="0"/>
        </a:xfrm>
      </p:grpSpPr>
      <p:sp>
        <p:nvSpPr>
          <p:cNvPr id="249" name="Google Shape;249;p25"/>
          <p:cNvSpPr txBox="1"/>
          <p:nvPr>
            <p:ph type="title"/>
          </p:nvPr>
        </p:nvSpPr>
        <p:spPr>
          <a:xfrm>
            <a:off x="3360165" y="151256"/>
            <a:ext cx="2447290" cy="45212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2800"/>
              <a:buFont typeface="Calibri"/>
              <a:buNone/>
            </a:pPr>
            <a:r>
              <a:rPr b="0" lang="en-US" sz="2800">
                <a:latin typeface="Calibri"/>
                <a:ea typeface="Calibri"/>
                <a:cs typeface="Calibri"/>
                <a:sym typeface="Calibri"/>
              </a:rPr>
              <a:t>Pointer Registers</a:t>
            </a:r>
            <a:endParaRPr sz="2800">
              <a:latin typeface="Calibri"/>
              <a:ea typeface="Calibri"/>
              <a:cs typeface="Calibri"/>
              <a:sym typeface="Calibri"/>
            </a:endParaRPr>
          </a:p>
        </p:txBody>
      </p:sp>
      <p:sp>
        <p:nvSpPr>
          <p:cNvPr id="250" name="Google Shape;250;p25"/>
          <p:cNvSpPr txBox="1"/>
          <p:nvPr/>
        </p:nvSpPr>
        <p:spPr>
          <a:xfrm>
            <a:off x="112606" y="990600"/>
            <a:ext cx="8878994" cy="5282856"/>
          </a:xfrm>
          <a:prstGeom prst="rect">
            <a:avLst/>
          </a:prstGeom>
          <a:noFill/>
          <a:ln>
            <a:noFill/>
          </a:ln>
        </p:spPr>
        <p:txBody>
          <a:bodyPr anchorCtr="0" anchor="t" bIns="0" lIns="0" spcFirstLastPara="1" rIns="0" wrap="square" tIns="12050">
            <a:spAutoFit/>
          </a:bodyPr>
          <a:lstStyle/>
          <a:p>
            <a:pPr indent="-342900" lvl="0" marL="355600" marR="245109" rtl="0" algn="just">
              <a:lnSpc>
                <a:spcPct val="15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Instruction Pointer (IP) </a:t>
            </a:r>
            <a:r>
              <a:rPr lang="en-US" sz="2000">
                <a:solidFill>
                  <a:schemeClr val="dk1"/>
                </a:solidFill>
                <a:latin typeface="Times New Roman"/>
                <a:ea typeface="Times New Roman"/>
                <a:cs typeface="Times New Roman"/>
                <a:sym typeface="Times New Roman"/>
              </a:rPr>
              <a:t>− The 16-bit IP register stores the offset address (</a:t>
            </a:r>
            <a:r>
              <a:rPr i="1" lang="en-US" sz="2000">
                <a:solidFill>
                  <a:schemeClr val="dk1"/>
                </a:solidFill>
                <a:latin typeface="Times New Roman"/>
                <a:ea typeface="Times New Roman"/>
                <a:cs typeface="Times New Roman"/>
                <a:sym typeface="Times New Roman"/>
              </a:rPr>
              <a:t>The offset address, which is a part of the address, is added to the start of the segment to ad­dress a memory location within the memory segment</a:t>
            </a:r>
            <a:r>
              <a:rPr lang="en-US" sz="2000">
                <a:solidFill>
                  <a:schemeClr val="dk1"/>
                </a:solidFill>
                <a:latin typeface="Times New Roman"/>
                <a:ea typeface="Times New Roman"/>
                <a:cs typeface="Times New Roman"/>
                <a:sym typeface="Times New Roman"/>
              </a:rPr>
              <a:t>) of the  next instruction to be executed. IP in association with the CS register (as CS:IP)  gives the complete address of the current instruction in the code segment.</a:t>
            </a:r>
            <a:endParaRPr sz="2000">
              <a:solidFill>
                <a:schemeClr val="dk1"/>
              </a:solidFill>
              <a:latin typeface="Times New Roman"/>
              <a:ea typeface="Times New Roman"/>
              <a:cs typeface="Times New Roman"/>
              <a:sym typeface="Times New Roman"/>
            </a:endParaRPr>
          </a:p>
          <a:p>
            <a:pPr indent="-342900" lvl="0" marL="355600" marR="167005" rtl="0" algn="just">
              <a:lnSpc>
                <a:spcPct val="150100"/>
              </a:lnSpc>
              <a:spcBef>
                <a:spcPts val="48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Stack Pointer (SP) </a:t>
            </a:r>
            <a:r>
              <a:rPr lang="en-US" sz="2000">
                <a:solidFill>
                  <a:schemeClr val="dk1"/>
                </a:solidFill>
                <a:latin typeface="Times New Roman"/>
                <a:ea typeface="Times New Roman"/>
                <a:cs typeface="Times New Roman"/>
                <a:sym typeface="Times New Roman"/>
              </a:rPr>
              <a:t>− The 16-bit SP register provides the offset value within the  program stack. SP in association with the SS register (SS:SP) refers to be current  position of data or address within the program stack.</a:t>
            </a:r>
            <a:endParaRPr sz="2000">
              <a:solidFill>
                <a:schemeClr val="dk1"/>
              </a:solidFill>
              <a:latin typeface="Times New Roman"/>
              <a:ea typeface="Times New Roman"/>
              <a:cs typeface="Times New Roman"/>
              <a:sym typeface="Times New Roman"/>
            </a:endParaRPr>
          </a:p>
          <a:p>
            <a:pPr indent="-342900" lvl="1" marL="812800" marR="167005" rtl="0" algn="just">
              <a:lnSpc>
                <a:spcPct val="150100"/>
              </a:lnSpc>
              <a:spcBef>
                <a:spcPts val="4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stack is a block of memory that may be used for temporarily storing the contents of registers inside CPU. • Stack is accessed by using SP and SS</a:t>
            </a:r>
            <a:endParaRPr b="0" i="0" sz="2000" u="none" cap="none" strike="noStrike">
              <a:solidFill>
                <a:schemeClr val="dk1"/>
              </a:solidFill>
              <a:latin typeface="Times New Roman"/>
              <a:ea typeface="Times New Roman"/>
              <a:cs typeface="Times New Roman"/>
              <a:sym typeface="Times New Roman"/>
            </a:endParaRPr>
          </a:p>
          <a:p>
            <a:pPr indent="-215900" lvl="0" marL="355600" marR="5080" rtl="0" algn="l">
              <a:lnSpc>
                <a:spcPct val="150000"/>
              </a:lnSpc>
              <a:spcBef>
                <a:spcPts val="48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685800" y="274638"/>
            <a:ext cx="82478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256" name="Google Shape;256;p26"/>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b="1" lang="en-US" sz="2000">
                <a:latin typeface="Times New Roman"/>
                <a:ea typeface="Times New Roman"/>
                <a:cs typeface="Times New Roman"/>
                <a:sym typeface="Times New Roman"/>
              </a:rPr>
              <a:t>Base Pointer (BP) </a:t>
            </a:r>
            <a:r>
              <a:rPr lang="en-US" sz="2000">
                <a:latin typeface="Times New Roman"/>
                <a:ea typeface="Times New Roman"/>
                <a:cs typeface="Times New Roman"/>
                <a:sym typeface="Times New Roman"/>
              </a:rPr>
              <a:t>− The 16-bit BP register mainly helps in referencing the  parameter variables passed to a subroutine.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It is primarily used in accessing parameters passed by the stack .</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The address in SS (Stack) register is combined  with the offset in BP to get the location of the parameter.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BP can also be combined  with DI (Destination index-16 bit register) and SI (Source index-16 bit register) as base register for special addressing</a:t>
            </a:r>
            <a:r>
              <a:rPr lang="en-US"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0" name="Shape 260"/>
        <p:cNvGrpSpPr/>
        <p:nvPr/>
      </p:nvGrpSpPr>
      <p:grpSpPr>
        <a:xfrm>
          <a:off x="0" y="0"/>
          <a:ext cx="0" cy="0"/>
          <a:chOff x="0" y="0"/>
          <a:chExt cx="0" cy="0"/>
        </a:xfrm>
      </p:grpSpPr>
      <p:sp>
        <p:nvSpPr>
          <p:cNvPr id="261" name="Google Shape;261;p27"/>
          <p:cNvSpPr txBox="1"/>
          <p:nvPr>
            <p:ph type="title"/>
          </p:nvPr>
        </p:nvSpPr>
        <p:spPr>
          <a:xfrm>
            <a:off x="1828800" y="172395"/>
            <a:ext cx="4303395"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FF0000"/>
              </a:buClr>
              <a:buSzPts val="4300"/>
              <a:buFont typeface="Calibri"/>
              <a:buNone/>
            </a:pPr>
            <a:r>
              <a:rPr b="0" lang="en-US">
                <a:solidFill>
                  <a:srgbClr val="FF0000"/>
                </a:solidFill>
                <a:latin typeface="Calibri"/>
                <a:ea typeface="Calibri"/>
                <a:cs typeface="Calibri"/>
                <a:sym typeface="Calibri"/>
              </a:rPr>
              <a:t>Index Registers</a:t>
            </a:r>
            <a:endParaRPr/>
          </a:p>
        </p:txBody>
      </p:sp>
      <p:sp>
        <p:nvSpPr>
          <p:cNvPr id="262" name="Google Shape;262;p27"/>
          <p:cNvSpPr txBox="1"/>
          <p:nvPr/>
        </p:nvSpPr>
        <p:spPr>
          <a:xfrm>
            <a:off x="186267" y="1066800"/>
            <a:ext cx="8839200" cy="463380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SI and DI, are used for indexed addressing and sometimes used in</a:t>
            </a:r>
            <a:r>
              <a:rPr lang="en-US"/>
              <a:t> </a:t>
            </a:r>
            <a:r>
              <a:rPr lang="en-US" sz="2000">
                <a:solidFill>
                  <a:schemeClr val="dk1"/>
                </a:solidFill>
                <a:latin typeface="Times New Roman"/>
                <a:ea typeface="Times New Roman"/>
                <a:cs typeface="Times New Roman"/>
                <a:sym typeface="Times New Roman"/>
              </a:rPr>
              <a:t>addition and subtraction.</a:t>
            </a:r>
            <a:endParaRPr/>
          </a:p>
          <a:p>
            <a:pPr indent="0" lvl="0" marL="0" marR="0" rtl="0" algn="just">
              <a:lnSpc>
                <a:spcPct val="100000"/>
              </a:lnSpc>
              <a:spcBef>
                <a:spcPts val="5"/>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lnSpc>
                <a:spcPct val="100000"/>
              </a:lnSpc>
              <a:spcBef>
                <a:spcPts val="5"/>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lnSpc>
                <a:spcPct val="100000"/>
              </a:lnSpc>
              <a:spcBef>
                <a:spcPts val="5"/>
              </a:spcBef>
              <a:spcAft>
                <a:spcPts val="0"/>
              </a:spcAft>
              <a:buNone/>
            </a:pPr>
            <a:r>
              <a:t/>
            </a:r>
            <a:endParaRPr sz="2000">
              <a:solidFill>
                <a:schemeClr val="dk1"/>
              </a:solidFill>
              <a:latin typeface="Times New Roman"/>
              <a:ea typeface="Times New Roman"/>
              <a:cs typeface="Times New Roman"/>
              <a:sym typeface="Times New Roman"/>
            </a:endParaRPr>
          </a:p>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There are two sets of index pointers −</a:t>
            </a:r>
            <a:endParaRPr/>
          </a:p>
          <a:p>
            <a:pPr indent="0" lvl="0" marL="12700" marR="5080" rtl="0" algn="just">
              <a:lnSpc>
                <a:spcPct val="200000"/>
              </a:lnSpc>
              <a:spcBef>
                <a:spcPts val="5"/>
              </a:spcBef>
              <a:spcAft>
                <a:spcPts val="0"/>
              </a:spcAft>
              <a:buNone/>
            </a:pPr>
            <a:r>
              <a:rPr b="1" lang="en-US" sz="2000">
                <a:solidFill>
                  <a:schemeClr val="dk1"/>
                </a:solidFill>
                <a:latin typeface="Times New Roman"/>
                <a:ea typeface="Times New Roman"/>
                <a:cs typeface="Times New Roman"/>
                <a:sym typeface="Times New Roman"/>
              </a:rPr>
              <a:t>Source Index (SI) </a:t>
            </a:r>
            <a:r>
              <a:rPr lang="en-US" sz="2000">
                <a:solidFill>
                  <a:schemeClr val="dk1"/>
                </a:solidFill>
                <a:latin typeface="Times New Roman"/>
                <a:ea typeface="Times New Roman"/>
                <a:cs typeface="Times New Roman"/>
                <a:sym typeface="Times New Roman"/>
              </a:rPr>
              <a:t>− It is used as source index for string operations. It is used in the </a:t>
            </a:r>
            <a:r>
              <a:rPr b="1" lang="en-US" sz="2000">
                <a:solidFill>
                  <a:schemeClr val="dk1"/>
                </a:solidFill>
                <a:latin typeface="Times New Roman"/>
                <a:ea typeface="Times New Roman"/>
                <a:cs typeface="Times New Roman"/>
                <a:sym typeface="Times New Roman"/>
              </a:rPr>
              <a:t>pointer addressing of data </a:t>
            </a:r>
            <a:r>
              <a:rPr lang="en-US" sz="2000">
                <a:solidFill>
                  <a:schemeClr val="dk1"/>
                </a:solidFill>
                <a:latin typeface="Times New Roman"/>
                <a:ea typeface="Times New Roman"/>
                <a:cs typeface="Times New Roman"/>
                <a:sym typeface="Times New Roman"/>
              </a:rPr>
              <a:t>and as a source in some string-related operations</a:t>
            </a:r>
            <a:endParaRPr/>
          </a:p>
          <a:p>
            <a:pPr indent="0" lvl="0" marL="12700" marR="5080" rtl="0" algn="just">
              <a:lnSpc>
                <a:spcPct val="200000"/>
              </a:lnSpc>
              <a:spcBef>
                <a:spcPts val="5"/>
              </a:spcBef>
              <a:spcAft>
                <a:spcPts val="0"/>
              </a:spcAft>
              <a:buNone/>
            </a:pPr>
            <a:r>
              <a:rPr b="1" lang="en-US" sz="2000">
                <a:solidFill>
                  <a:schemeClr val="dk1"/>
                </a:solidFill>
                <a:latin typeface="Times New Roman"/>
                <a:ea typeface="Times New Roman"/>
                <a:cs typeface="Times New Roman"/>
                <a:sym typeface="Times New Roman"/>
              </a:rPr>
              <a:t>Destination Index (DI) </a:t>
            </a:r>
            <a:r>
              <a:rPr lang="en-US" sz="2000">
                <a:solidFill>
                  <a:schemeClr val="dk1"/>
                </a:solidFill>
                <a:latin typeface="Times New Roman"/>
                <a:ea typeface="Times New Roman"/>
                <a:cs typeface="Times New Roman"/>
                <a:sym typeface="Times New Roman"/>
              </a:rPr>
              <a:t>− It is used as destination index for string  operations. It is used in the </a:t>
            </a:r>
            <a:r>
              <a:rPr b="1" lang="en-US" sz="2000">
                <a:solidFill>
                  <a:schemeClr val="dk1"/>
                </a:solidFill>
                <a:latin typeface="Times New Roman"/>
                <a:ea typeface="Times New Roman"/>
                <a:cs typeface="Times New Roman"/>
                <a:sym typeface="Times New Roman"/>
              </a:rPr>
              <a:t>pointer addressing of data </a:t>
            </a:r>
            <a:r>
              <a:rPr lang="en-US" sz="2000">
                <a:solidFill>
                  <a:schemeClr val="dk1"/>
                </a:solidFill>
                <a:latin typeface="Times New Roman"/>
                <a:ea typeface="Times New Roman"/>
                <a:cs typeface="Times New Roman"/>
                <a:sym typeface="Times New Roman"/>
              </a:rPr>
              <a:t>and as a destination in some string-related operations.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2133600" y="172395"/>
            <a:ext cx="4196461"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Control Registers</a:t>
            </a:r>
            <a:endParaRPr/>
          </a:p>
        </p:txBody>
      </p:sp>
      <p:sp>
        <p:nvSpPr>
          <p:cNvPr id="268" name="Google Shape;268;p28"/>
          <p:cNvSpPr txBox="1"/>
          <p:nvPr/>
        </p:nvSpPr>
        <p:spPr>
          <a:xfrm>
            <a:off x="228600" y="1219200"/>
            <a:ext cx="8686801" cy="4670509"/>
          </a:xfrm>
          <a:prstGeom prst="rect">
            <a:avLst/>
          </a:prstGeom>
          <a:noFill/>
          <a:ln>
            <a:noFill/>
          </a:ln>
        </p:spPr>
        <p:txBody>
          <a:bodyPr anchorCtr="0" anchor="t" bIns="0" lIns="0" spcFirstLastPara="1" rIns="0" wrap="square" tIns="12700">
            <a:spAutoFit/>
          </a:bodyPr>
          <a:lstStyle/>
          <a:p>
            <a:pPr indent="-342900" lvl="0" marL="355600" marR="5080" rtl="0" algn="just">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32-bit instruction pointer register and the 32-bit flags register  combined</a:t>
            </a:r>
            <a:r>
              <a:rPr lang="en-US" sz="2400">
                <a:solidFill>
                  <a:schemeClr val="dk1"/>
                </a:solidFill>
                <a:latin typeface="Times New Roman"/>
                <a:ea typeface="Times New Roman"/>
                <a:cs typeface="Times New Roman"/>
                <a:sym typeface="Times New Roman"/>
              </a:rPr>
              <a:t> are considered as the </a:t>
            </a:r>
            <a:r>
              <a:rPr lang="en-US" sz="2400">
                <a:solidFill>
                  <a:srgbClr val="FF0000"/>
                </a:solidFill>
                <a:latin typeface="Times New Roman"/>
                <a:ea typeface="Times New Roman"/>
                <a:cs typeface="Times New Roman"/>
                <a:sym typeface="Times New Roman"/>
              </a:rPr>
              <a:t>control registers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42900" lvl="0" marL="355600" marR="5080" rtl="0" algn="just">
              <a:lnSpc>
                <a:spcPct val="15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Many instructions involve comparisons and mathematical  calculations and change the status of the flags and some other  conditional instructions test the value of these status flags to take  the control flow to other location.</a:t>
            </a:r>
            <a:endParaRPr sz="2400">
              <a:solidFill>
                <a:schemeClr val="dk1"/>
              </a:solidFill>
              <a:latin typeface="Times New Roman"/>
              <a:ea typeface="Times New Roman"/>
              <a:cs typeface="Times New Roman"/>
              <a:sym typeface="Times New Roman"/>
            </a:endParaRPr>
          </a:p>
          <a:p>
            <a:pPr indent="-342900" lvl="0" marL="355600" marR="5080" rtl="0" algn="just">
              <a:lnSpc>
                <a:spcPct val="15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Flags-Condition of the microprocessor and control its operation</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2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common flag bits are: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2" name="Shape 272"/>
        <p:cNvGrpSpPr/>
        <p:nvPr/>
      </p:nvGrpSpPr>
      <p:grpSpPr>
        <a:xfrm>
          <a:off x="0" y="0"/>
          <a:ext cx="0" cy="0"/>
          <a:chOff x="0" y="0"/>
          <a:chExt cx="0" cy="0"/>
        </a:xfrm>
      </p:grpSpPr>
      <p:sp>
        <p:nvSpPr>
          <p:cNvPr id="273" name="Google Shape;273;p29"/>
          <p:cNvSpPr txBox="1"/>
          <p:nvPr>
            <p:ph type="title"/>
          </p:nvPr>
        </p:nvSpPr>
        <p:spPr>
          <a:xfrm>
            <a:off x="2199513" y="461594"/>
            <a:ext cx="474853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FLAG REGISTER 8086</a:t>
            </a:r>
            <a:endParaRPr sz="4400">
              <a:latin typeface="Calibri"/>
              <a:ea typeface="Calibri"/>
              <a:cs typeface="Calibri"/>
              <a:sym typeface="Calibri"/>
            </a:endParaRPr>
          </a:p>
        </p:txBody>
      </p:sp>
      <p:pic>
        <p:nvPicPr>
          <p:cNvPr id="274" name="Google Shape;274;p29"/>
          <p:cNvPicPr preferRelativeResize="0"/>
          <p:nvPr/>
        </p:nvPicPr>
        <p:blipFill rotWithShape="1">
          <a:blip r:embed="rId3">
            <a:alphaModFix/>
          </a:blip>
          <a:srcRect b="0" l="0" r="0" t="0"/>
          <a:stretch/>
        </p:blipFill>
        <p:spPr>
          <a:xfrm>
            <a:off x="153987" y="1428686"/>
            <a:ext cx="8753475" cy="45006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8" name="Shape 278"/>
        <p:cNvGrpSpPr/>
        <p:nvPr/>
      </p:nvGrpSpPr>
      <p:grpSpPr>
        <a:xfrm>
          <a:off x="0" y="0"/>
          <a:ext cx="0" cy="0"/>
          <a:chOff x="0" y="0"/>
          <a:chExt cx="0" cy="0"/>
        </a:xfrm>
      </p:grpSpPr>
      <p:sp>
        <p:nvSpPr>
          <p:cNvPr id="279" name="Google Shape;279;p30"/>
          <p:cNvSpPr txBox="1"/>
          <p:nvPr/>
        </p:nvSpPr>
        <p:spPr>
          <a:xfrm>
            <a:off x="228600" y="990600"/>
            <a:ext cx="8686800" cy="4168800"/>
          </a:xfrm>
          <a:prstGeom prst="rect">
            <a:avLst/>
          </a:prstGeom>
          <a:noFill/>
          <a:ln>
            <a:noFill/>
          </a:ln>
        </p:spPr>
        <p:txBody>
          <a:bodyPr anchorCtr="0" anchor="t" bIns="0" lIns="0" spcFirstLastPara="1" rIns="0" wrap="square" tIns="12700">
            <a:spAutoFit/>
          </a:bodyPr>
          <a:lstStyle/>
          <a:p>
            <a:pPr indent="-400050" lvl="0" marL="457200" rtl="0" algn="l">
              <a:spcBef>
                <a:spcPts val="0"/>
              </a:spcBef>
              <a:spcAft>
                <a:spcPts val="0"/>
              </a:spcAft>
              <a:buSzPts val="2700"/>
              <a:buFont typeface="Times New Roman"/>
              <a:buChar char="•"/>
            </a:pPr>
            <a:r>
              <a:rPr b="1" lang="en-US" sz="2700">
                <a:latin typeface="Times New Roman"/>
                <a:ea typeface="Times New Roman"/>
                <a:cs typeface="Times New Roman"/>
                <a:sym typeface="Times New Roman"/>
              </a:rPr>
              <a:t>Overflow Flag (OF)</a:t>
            </a:r>
            <a:r>
              <a:rPr lang="en-US" sz="2700">
                <a:latin typeface="Times New Roman"/>
                <a:ea typeface="Times New Roman"/>
                <a:cs typeface="Times New Roman"/>
                <a:sym typeface="Times New Roman"/>
              </a:rPr>
              <a:t> − It indicates the overflow of a high-order bit (leftmost bit) of data after a signed arithmetic operation.</a:t>
            </a:r>
            <a:endParaRPr sz="2700">
              <a:latin typeface="Times New Roman"/>
              <a:ea typeface="Times New Roman"/>
              <a:cs typeface="Times New Roman"/>
              <a:sym typeface="Times New Roman"/>
            </a:endParaRPr>
          </a:p>
          <a:p>
            <a:pPr indent="0" lvl="0" marL="0" rtl="0" algn="l">
              <a:spcBef>
                <a:spcPts val="0"/>
              </a:spcBef>
              <a:spcAft>
                <a:spcPts val="0"/>
              </a:spcAft>
              <a:buNone/>
            </a:pPr>
            <a:r>
              <a:t/>
            </a:r>
            <a:endParaRPr sz="2700">
              <a:latin typeface="Times New Roman"/>
              <a:ea typeface="Times New Roman"/>
              <a:cs typeface="Times New Roman"/>
              <a:sym typeface="Times New Roman"/>
            </a:endParaRPr>
          </a:p>
          <a:p>
            <a:pPr indent="0" lvl="0" marL="0" rtl="0" algn="l">
              <a:spcBef>
                <a:spcPts val="0"/>
              </a:spcBef>
              <a:spcAft>
                <a:spcPts val="0"/>
              </a:spcAft>
              <a:buNone/>
            </a:pPr>
            <a:r>
              <a:t/>
            </a:r>
            <a:endParaRPr sz="2700">
              <a:latin typeface="Times New Roman"/>
              <a:ea typeface="Times New Roman"/>
              <a:cs typeface="Times New Roman"/>
              <a:sym typeface="Times New Roman"/>
            </a:endParaRPr>
          </a:p>
          <a:p>
            <a:pPr indent="-400050" lvl="0" marL="457200" rtl="0" algn="l">
              <a:spcBef>
                <a:spcPts val="0"/>
              </a:spcBef>
              <a:spcAft>
                <a:spcPts val="0"/>
              </a:spcAft>
              <a:buSzPts val="2700"/>
              <a:buFont typeface="Times New Roman"/>
              <a:buChar char="•"/>
            </a:pPr>
            <a:r>
              <a:rPr b="1" lang="en-US" sz="2700">
                <a:latin typeface="Times New Roman"/>
                <a:ea typeface="Times New Roman"/>
                <a:cs typeface="Times New Roman"/>
                <a:sym typeface="Times New Roman"/>
              </a:rPr>
              <a:t>Direction Flag (DF)</a:t>
            </a:r>
            <a:r>
              <a:rPr lang="en-US" sz="2700">
                <a:latin typeface="Times New Roman"/>
                <a:ea typeface="Times New Roman"/>
                <a:cs typeface="Times New Roman"/>
                <a:sym typeface="Times New Roman"/>
              </a:rPr>
              <a:t> − It determines left or right direction for  moving or comparing string data. When the DF value is 0, the  string operation takes left-to-right direction and when the value is  set to 1, the string operation takes right-to-left direction.</a:t>
            </a:r>
            <a:endParaRPr sz="27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31"/>
          <p:cNvSpPr txBox="1"/>
          <p:nvPr/>
        </p:nvSpPr>
        <p:spPr>
          <a:xfrm>
            <a:off x="120543" y="457200"/>
            <a:ext cx="8975700" cy="6217800"/>
          </a:xfrm>
          <a:prstGeom prst="rect">
            <a:avLst/>
          </a:prstGeom>
          <a:noFill/>
          <a:ln>
            <a:noFill/>
          </a:ln>
        </p:spPr>
        <p:txBody>
          <a:bodyPr anchorCtr="0" anchor="t" bIns="0" lIns="0" spcFirstLastPara="1" rIns="0" wrap="square" tIns="12700">
            <a:spAutoFit/>
          </a:bodyPr>
          <a:lstStyle/>
          <a:p>
            <a:pPr indent="-400050" lvl="0" marL="457200" rtl="0" algn="l">
              <a:spcBef>
                <a:spcPts val="0"/>
              </a:spcBef>
              <a:spcAft>
                <a:spcPts val="0"/>
              </a:spcAft>
              <a:buSzPts val="2700"/>
              <a:buFont typeface="Times New Roman"/>
              <a:buChar char="•"/>
            </a:pPr>
            <a:r>
              <a:rPr b="1" lang="en-US" sz="2700">
                <a:latin typeface="Times New Roman"/>
                <a:ea typeface="Times New Roman"/>
                <a:cs typeface="Times New Roman"/>
                <a:sym typeface="Times New Roman"/>
              </a:rPr>
              <a:t>Trap Flag (TF)</a:t>
            </a:r>
            <a:r>
              <a:rPr lang="en-US" sz="2700">
                <a:latin typeface="Times New Roman"/>
                <a:ea typeface="Times New Roman"/>
                <a:cs typeface="Times New Roman"/>
                <a:sym typeface="Times New Roman"/>
              </a:rPr>
              <a:t> − It allows setting the operation of the processor in single-step mode. The DEBUG program we used sets the trap flag, so we could step through the  execution one instruction at a time.</a:t>
            </a:r>
            <a:endParaRPr sz="2700">
              <a:latin typeface="Times New Roman"/>
              <a:ea typeface="Times New Roman"/>
              <a:cs typeface="Times New Roman"/>
              <a:sym typeface="Times New Roman"/>
            </a:endParaRPr>
          </a:p>
          <a:p>
            <a:pPr indent="0" lvl="0" marL="457200" rtl="0" algn="l">
              <a:spcBef>
                <a:spcPts val="0"/>
              </a:spcBef>
              <a:spcAft>
                <a:spcPts val="0"/>
              </a:spcAft>
              <a:buNone/>
            </a:pPr>
            <a:r>
              <a:t/>
            </a:r>
            <a:endParaRPr sz="2700">
              <a:latin typeface="Times New Roman"/>
              <a:ea typeface="Times New Roman"/>
              <a:cs typeface="Times New Roman"/>
              <a:sym typeface="Times New Roman"/>
            </a:endParaRPr>
          </a:p>
          <a:p>
            <a:pPr indent="-400050" lvl="0" marL="457200" rtl="0" algn="l">
              <a:spcBef>
                <a:spcPts val="0"/>
              </a:spcBef>
              <a:spcAft>
                <a:spcPts val="0"/>
              </a:spcAft>
              <a:buSzPts val="2700"/>
              <a:buFont typeface="Times New Roman"/>
              <a:buChar char="•"/>
            </a:pPr>
            <a:r>
              <a:rPr b="1" lang="en-US" sz="2700">
                <a:latin typeface="Times New Roman"/>
                <a:ea typeface="Times New Roman"/>
                <a:cs typeface="Times New Roman"/>
                <a:sym typeface="Times New Roman"/>
              </a:rPr>
              <a:t>Sign Flag (SF) </a:t>
            </a:r>
            <a:r>
              <a:rPr lang="en-US" sz="2700">
                <a:latin typeface="Times New Roman"/>
                <a:ea typeface="Times New Roman"/>
                <a:cs typeface="Times New Roman"/>
                <a:sym typeface="Times New Roman"/>
              </a:rPr>
              <a:t>− It shows the sign of the result of an arithmetic operation. This flag  is set according to the sign of a data item following the arithmetic operation. The  sign is indicated by the high-order of leftmost bit. </a:t>
            </a:r>
            <a:r>
              <a:rPr lang="en-US" sz="2700">
                <a:solidFill>
                  <a:srgbClr val="FF0000"/>
                </a:solidFill>
                <a:latin typeface="Times New Roman"/>
                <a:ea typeface="Times New Roman"/>
                <a:cs typeface="Times New Roman"/>
                <a:sym typeface="Times New Roman"/>
              </a:rPr>
              <a:t>A positive result clears the value  of SF to 0 and negative result sets it to 1.</a:t>
            </a:r>
            <a:endParaRPr sz="2700">
              <a:solidFill>
                <a:srgbClr val="FF0000"/>
              </a:solidFill>
              <a:latin typeface="Times New Roman"/>
              <a:ea typeface="Times New Roman"/>
              <a:cs typeface="Times New Roman"/>
              <a:sym typeface="Times New Roman"/>
            </a:endParaRPr>
          </a:p>
          <a:p>
            <a:pPr indent="0" lvl="0" marL="0" rtl="0" algn="l">
              <a:spcBef>
                <a:spcPts val="0"/>
              </a:spcBef>
              <a:spcAft>
                <a:spcPts val="0"/>
              </a:spcAft>
              <a:buNone/>
            </a:pPr>
            <a:r>
              <a:rPr b="1" lang="en-US" sz="2700">
                <a:latin typeface="Times New Roman"/>
                <a:ea typeface="Times New Roman"/>
                <a:cs typeface="Times New Roman"/>
                <a:sym typeface="Times New Roman"/>
              </a:rPr>
              <a:t>Zero Flag (ZF)</a:t>
            </a:r>
            <a:r>
              <a:rPr lang="en-US" sz="2700">
                <a:latin typeface="Times New Roman"/>
                <a:ea typeface="Times New Roman"/>
                <a:cs typeface="Times New Roman"/>
                <a:sym typeface="Times New Roman"/>
              </a:rPr>
              <a:t> − It indicates the result of an arithmetic or comparison operation. A nonzero result clears the zero flag to 0, and a zero result sets it to 1.</a:t>
            </a:r>
            <a:endParaRPr sz="27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8" name="Shape 288"/>
        <p:cNvGrpSpPr/>
        <p:nvPr/>
      </p:nvGrpSpPr>
      <p:grpSpPr>
        <a:xfrm>
          <a:off x="0" y="0"/>
          <a:ext cx="0" cy="0"/>
          <a:chOff x="0" y="0"/>
          <a:chExt cx="0" cy="0"/>
        </a:xfrm>
      </p:grpSpPr>
      <p:sp>
        <p:nvSpPr>
          <p:cNvPr id="289" name="Google Shape;289;p32"/>
          <p:cNvSpPr txBox="1"/>
          <p:nvPr/>
        </p:nvSpPr>
        <p:spPr>
          <a:xfrm>
            <a:off x="535940" y="1557228"/>
            <a:ext cx="7980680" cy="2221230"/>
          </a:xfrm>
          <a:prstGeom prst="rect">
            <a:avLst/>
          </a:prstGeom>
          <a:noFill/>
          <a:ln>
            <a:noFill/>
          </a:ln>
        </p:spPr>
        <p:txBody>
          <a:bodyPr anchorCtr="0" anchor="t" bIns="0" lIns="0" spcFirstLastPara="1" rIns="0" wrap="square" tIns="12700">
            <a:spAutoFit/>
          </a:bodyPr>
          <a:lstStyle/>
          <a:p>
            <a:pPr indent="-343535" lvl="0" marL="355600" marR="5080" rtl="0" algn="just">
              <a:lnSpc>
                <a:spcPct val="150000"/>
              </a:lnSpc>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Interrupt Flag (IF) </a:t>
            </a:r>
            <a:r>
              <a:rPr lang="en-US" sz="2400">
                <a:solidFill>
                  <a:schemeClr val="dk1"/>
                </a:solidFill>
                <a:latin typeface="Times New Roman"/>
                <a:ea typeface="Times New Roman"/>
                <a:cs typeface="Times New Roman"/>
                <a:sym typeface="Times New Roman"/>
              </a:rPr>
              <a:t>− It determines whether the external  interrupts like keyboard entry, etc., are to be ignored or  processed. It disables the external interrupt when the value is  0 and enables interrupts when set to 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3" name="Shape 293"/>
        <p:cNvGrpSpPr/>
        <p:nvPr/>
      </p:nvGrpSpPr>
      <p:grpSpPr>
        <a:xfrm>
          <a:off x="0" y="0"/>
          <a:ext cx="0" cy="0"/>
          <a:chOff x="0" y="0"/>
          <a:chExt cx="0" cy="0"/>
        </a:xfrm>
      </p:grpSpPr>
      <p:sp>
        <p:nvSpPr>
          <p:cNvPr id="294" name="Google Shape;294;p33"/>
          <p:cNvSpPr txBox="1"/>
          <p:nvPr/>
        </p:nvSpPr>
        <p:spPr>
          <a:xfrm>
            <a:off x="78750" y="466925"/>
            <a:ext cx="8387700" cy="6046500"/>
          </a:xfrm>
          <a:prstGeom prst="rect">
            <a:avLst/>
          </a:prstGeom>
          <a:noFill/>
          <a:ln>
            <a:noFill/>
          </a:ln>
        </p:spPr>
        <p:txBody>
          <a:bodyPr anchorCtr="0" anchor="t" bIns="0" lIns="0" spcFirstLastPara="1" rIns="0" wrap="square" tIns="12700">
            <a:spAutoFit/>
          </a:bodyPr>
          <a:lstStyle/>
          <a:p>
            <a:pPr indent="-406400" lvl="0" marL="457200" rtl="0" algn="l">
              <a:spcBef>
                <a:spcPts val="0"/>
              </a:spcBef>
              <a:spcAft>
                <a:spcPts val="0"/>
              </a:spcAft>
              <a:buSzPts val="2800"/>
              <a:buFont typeface="Times New Roman"/>
              <a:buChar char="•"/>
            </a:pPr>
            <a:r>
              <a:rPr b="1" lang="en-US" sz="2800">
                <a:latin typeface="Times New Roman"/>
                <a:ea typeface="Times New Roman"/>
                <a:cs typeface="Times New Roman"/>
                <a:sym typeface="Times New Roman"/>
              </a:rPr>
              <a:t>Auxiliary Carry Flag (AF)</a:t>
            </a:r>
            <a:r>
              <a:rPr lang="en-US" sz="2800">
                <a:latin typeface="Times New Roman"/>
                <a:ea typeface="Times New Roman"/>
                <a:cs typeface="Times New Roman"/>
                <a:sym typeface="Times New Roman"/>
              </a:rPr>
              <a:t> − It contains the carry from bit 3 to bit 4 following an arithmetic operation; used for specialized arithmetic. The AF is set when a 1-  byte arithmetic operation causes a carry from bit 3 into bit 4.</a:t>
            </a:r>
            <a:endParaRPr sz="2800">
              <a:latin typeface="Times New Roman"/>
              <a:ea typeface="Times New Roman"/>
              <a:cs typeface="Times New Roman"/>
              <a:sym typeface="Times New Roman"/>
            </a:endParaRPr>
          </a:p>
          <a:p>
            <a:pPr indent="-406400" lvl="0" marL="457200" rtl="0" algn="l">
              <a:spcBef>
                <a:spcPts val="0"/>
              </a:spcBef>
              <a:spcAft>
                <a:spcPts val="0"/>
              </a:spcAft>
              <a:buSzPts val="2800"/>
              <a:buFont typeface="Times New Roman"/>
              <a:buChar char="•"/>
            </a:pPr>
            <a:r>
              <a:rPr b="1" lang="en-US" sz="2800">
                <a:latin typeface="Times New Roman"/>
                <a:ea typeface="Times New Roman"/>
                <a:cs typeface="Times New Roman"/>
                <a:sym typeface="Times New Roman"/>
              </a:rPr>
              <a:t>Parity Flag (PF)</a:t>
            </a:r>
            <a:r>
              <a:rPr lang="en-US" sz="2800">
                <a:latin typeface="Times New Roman"/>
                <a:ea typeface="Times New Roman"/>
                <a:cs typeface="Times New Roman"/>
                <a:sym typeface="Times New Roman"/>
              </a:rPr>
              <a:t> − It indicates the total number of 1-bits in the result obtained  from an arithmetic operation. An even number of 1-bits clears the parity flag  to 0 and an odd number of 1-bits sets the parity flag to 1.</a:t>
            </a:r>
            <a:endParaRPr sz="2800">
              <a:latin typeface="Times New Roman"/>
              <a:ea typeface="Times New Roman"/>
              <a:cs typeface="Times New Roman"/>
              <a:sym typeface="Times New Roman"/>
            </a:endParaRPr>
          </a:p>
          <a:p>
            <a:pPr indent="-406400" lvl="0" marL="457200" rtl="0" algn="l">
              <a:spcBef>
                <a:spcPts val="0"/>
              </a:spcBef>
              <a:spcAft>
                <a:spcPts val="0"/>
              </a:spcAft>
              <a:buSzPts val="2800"/>
              <a:buFont typeface="Times New Roman"/>
              <a:buChar char="•"/>
            </a:pPr>
            <a:r>
              <a:rPr b="1" lang="en-US" sz="2800">
                <a:latin typeface="Times New Roman"/>
                <a:ea typeface="Times New Roman"/>
                <a:cs typeface="Times New Roman"/>
                <a:sym typeface="Times New Roman"/>
              </a:rPr>
              <a:t>Carry Flag (CF)</a:t>
            </a:r>
            <a:r>
              <a:rPr lang="en-US" sz="2800">
                <a:latin typeface="Times New Roman"/>
                <a:ea typeface="Times New Roman"/>
                <a:cs typeface="Times New Roman"/>
                <a:sym typeface="Times New Roman"/>
              </a:rPr>
              <a:t> − It contains the carry of 0 or 1 from a high-order bit (leftmost)  after an arithmetic operation. It also stores the contents of last bit of a shift or rotate operation.</a:t>
            </a:r>
            <a:endParaRPr sz="28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1676400" y="-19451"/>
            <a:ext cx="4569839"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FF0000"/>
              </a:buClr>
              <a:buSzPts val="4300"/>
              <a:buFont typeface="Calibri"/>
              <a:buNone/>
            </a:pPr>
            <a:r>
              <a:rPr b="0" lang="en-US">
                <a:solidFill>
                  <a:srgbClr val="FF0000"/>
                </a:solidFill>
                <a:latin typeface="Calibri"/>
                <a:ea typeface="Calibri"/>
                <a:cs typeface="Calibri"/>
                <a:sym typeface="Calibri"/>
              </a:rPr>
              <a:t>Segment Registers</a:t>
            </a:r>
            <a:endParaRPr/>
          </a:p>
        </p:txBody>
      </p:sp>
      <p:sp>
        <p:nvSpPr>
          <p:cNvPr id="300" name="Google Shape;300;p34"/>
          <p:cNvSpPr txBox="1"/>
          <p:nvPr/>
        </p:nvSpPr>
        <p:spPr>
          <a:xfrm>
            <a:off x="110438" y="914400"/>
            <a:ext cx="8805000" cy="5616300"/>
          </a:xfrm>
          <a:prstGeom prst="rect">
            <a:avLst/>
          </a:prstGeom>
          <a:noFill/>
          <a:ln>
            <a:noFill/>
          </a:ln>
        </p:spPr>
        <p:txBody>
          <a:bodyPr anchorCtr="0" anchor="t" bIns="0" lIns="0" spcFirstLastPara="1" rIns="0" wrap="square" tIns="13325">
            <a:spAutoFit/>
          </a:bodyPr>
          <a:lstStyle/>
          <a:p>
            <a:pPr indent="-393700" lvl="0" marL="457200" rtl="0" algn="l">
              <a:spcBef>
                <a:spcPts val="0"/>
              </a:spcBef>
              <a:spcAft>
                <a:spcPts val="0"/>
              </a:spcAft>
              <a:buSzPts val="2600"/>
              <a:buFont typeface="Times New Roman"/>
              <a:buChar char="•"/>
            </a:pPr>
            <a:r>
              <a:rPr lang="en-US" sz="2600">
                <a:latin typeface="Times New Roman"/>
                <a:ea typeface="Times New Roman"/>
                <a:cs typeface="Times New Roman"/>
                <a:sym typeface="Times New Roman"/>
              </a:rPr>
              <a:t>Segments are specific areas defined in a program for containing data, code and stack. There are three main segments −</a:t>
            </a:r>
            <a:endParaRPr sz="2600">
              <a:latin typeface="Times New Roman"/>
              <a:ea typeface="Times New Roman"/>
              <a:cs typeface="Times New Roman"/>
              <a:sym typeface="Times New Roman"/>
            </a:endParaRPr>
          </a:p>
          <a:p>
            <a:pPr indent="0" lvl="0" marL="0" rtl="0" algn="l">
              <a:spcBef>
                <a:spcPts val="0"/>
              </a:spcBef>
              <a:spcAft>
                <a:spcPts val="0"/>
              </a:spcAft>
              <a:buNone/>
            </a:pPr>
            <a:r>
              <a:t/>
            </a:r>
            <a:endParaRPr sz="2600">
              <a:latin typeface="Times New Roman"/>
              <a:ea typeface="Times New Roman"/>
              <a:cs typeface="Times New Roman"/>
              <a:sym typeface="Times New Roman"/>
            </a:endParaRPr>
          </a:p>
          <a:p>
            <a:pPr indent="-393700" lvl="0" marL="457200" rtl="0" algn="l">
              <a:spcBef>
                <a:spcPts val="0"/>
              </a:spcBef>
              <a:spcAft>
                <a:spcPts val="0"/>
              </a:spcAft>
              <a:buSzPts val="2600"/>
              <a:buFont typeface="Times New Roman"/>
              <a:buChar char="•"/>
            </a:pPr>
            <a:r>
              <a:rPr lang="en-US" sz="2600">
                <a:latin typeface="Times New Roman"/>
                <a:ea typeface="Times New Roman"/>
                <a:cs typeface="Times New Roman"/>
                <a:sym typeface="Times New Roman"/>
              </a:rPr>
              <a:t>Code Segment − It contains all the instructions to be executed. A 16-bit Code Segment register or CS register stores the starting address of the code segment.</a:t>
            </a:r>
            <a:endParaRPr sz="2600">
              <a:latin typeface="Times New Roman"/>
              <a:ea typeface="Times New Roman"/>
              <a:cs typeface="Times New Roman"/>
              <a:sym typeface="Times New Roman"/>
            </a:endParaRPr>
          </a:p>
          <a:p>
            <a:pPr indent="-393700" lvl="0" marL="457200" rtl="0" algn="l">
              <a:spcBef>
                <a:spcPts val="0"/>
              </a:spcBef>
              <a:spcAft>
                <a:spcPts val="0"/>
              </a:spcAft>
              <a:buSzPts val="2600"/>
              <a:buFont typeface="Times New Roman"/>
              <a:buChar char="•"/>
            </a:pPr>
            <a:r>
              <a:rPr lang="en-US" sz="2600">
                <a:latin typeface="Times New Roman"/>
                <a:ea typeface="Times New Roman"/>
                <a:cs typeface="Times New Roman"/>
                <a:sym typeface="Times New Roman"/>
              </a:rPr>
              <a:t>Data Segment(DS,ES) − It contains data, constants and work areas. A 16-bit Data Segment register or DS register stores the starting address of the data segment.</a:t>
            </a:r>
            <a:endParaRPr sz="2600">
              <a:latin typeface="Times New Roman"/>
              <a:ea typeface="Times New Roman"/>
              <a:cs typeface="Times New Roman"/>
              <a:sym typeface="Times New Roman"/>
            </a:endParaRPr>
          </a:p>
          <a:p>
            <a:pPr indent="-393700" lvl="0" marL="457200" rtl="0" algn="l">
              <a:spcBef>
                <a:spcPts val="0"/>
              </a:spcBef>
              <a:spcAft>
                <a:spcPts val="0"/>
              </a:spcAft>
              <a:buSzPts val="2600"/>
              <a:buFont typeface="Times New Roman"/>
              <a:buChar char="•"/>
            </a:pPr>
            <a:r>
              <a:rPr lang="en-US" sz="2600">
                <a:latin typeface="Times New Roman"/>
                <a:ea typeface="Times New Roman"/>
                <a:cs typeface="Times New Roman"/>
                <a:sym typeface="Times New Roman"/>
              </a:rPr>
              <a:t>Stack Segment − It contains data and return addresses of procedures or  subroutines. It is implemented as a 'stack' data structure. The Stack Segment  register or SS register stores the starting address of the stack.</a:t>
            </a:r>
            <a:endParaRPr sz="26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685800" y="311034"/>
            <a:ext cx="7391400" cy="998350"/>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562214"/>
              </a:buClr>
              <a:buSzPts val="3200"/>
              <a:buFont typeface="Gill Sans"/>
              <a:buNone/>
            </a:pPr>
            <a:r>
              <a:rPr lang="en-US" sz="3200"/>
              <a:t>INSTRUCTION FORMAT</a:t>
            </a:r>
            <a:endParaRPr sz="3200"/>
          </a:p>
          <a:p>
            <a:pPr indent="0" lvl="0" marL="2223135" rtl="0" algn="ctr">
              <a:lnSpc>
                <a:spcPct val="100000"/>
              </a:lnSpc>
              <a:spcBef>
                <a:spcPts val="0"/>
              </a:spcBef>
              <a:spcAft>
                <a:spcPts val="0"/>
              </a:spcAft>
              <a:buClr>
                <a:srgbClr val="562214"/>
              </a:buClr>
              <a:buSzPts val="3200"/>
              <a:buFont typeface="Gill Sans"/>
              <a:buNone/>
            </a:pPr>
            <a:r>
              <a:rPr lang="en-US" sz="3200"/>
              <a:t>(PENTIUM)</a:t>
            </a:r>
            <a:endParaRPr/>
          </a:p>
        </p:txBody>
      </p:sp>
      <p:sp>
        <p:nvSpPr>
          <p:cNvPr id="306" name="Google Shape;306;p35"/>
          <p:cNvSpPr txBox="1"/>
          <p:nvPr/>
        </p:nvSpPr>
        <p:spPr>
          <a:xfrm>
            <a:off x="228600" y="1524723"/>
            <a:ext cx="8534400" cy="5044200"/>
          </a:xfrm>
          <a:prstGeom prst="rect">
            <a:avLst/>
          </a:prstGeom>
          <a:noFill/>
          <a:ln>
            <a:noFill/>
          </a:ln>
        </p:spPr>
        <p:txBody>
          <a:bodyPr anchorCtr="0" anchor="t" bIns="0" lIns="0" spcFirstLastPara="1" rIns="0" wrap="square" tIns="98425">
            <a:spAutoFit/>
          </a:bodyPr>
          <a:lstStyle/>
          <a:p>
            <a:pPr indent="-343535"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An instruction format defines the </a:t>
            </a:r>
            <a:r>
              <a:rPr lang="en-US" sz="2800">
                <a:solidFill>
                  <a:srgbClr val="FF0000"/>
                </a:solidFill>
                <a:latin typeface="Times New Roman"/>
                <a:ea typeface="Times New Roman"/>
                <a:cs typeface="Times New Roman"/>
                <a:sym typeface="Times New Roman"/>
              </a:rPr>
              <a:t>layout of the bits of an instruction, in terms of its constituent fields</a:t>
            </a:r>
            <a:endParaRPr/>
          </a:p>
          <a:p>
            <a:pPr indent="-343535" lvl="0" marL="355600" marR="0" rtl="0" algn="l">
              <a:lnSpc>
                <a:spcPct val="100000"/>
              </a:lnSpc>
              <a:spcBef>
                <a:spcPts val="67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Opcodes-Operation Code</a:t>
            </a:r>
            <a:endParaRPr sz="2800">
              <a:solidFill>
                <a:schemeClr val="dk1"/>
              </a:solidFill>
              <a:latin typeface="Times New Roman"/>
              <a:ea typeface="Times New Roman"/>
              <a:cs typeface="Times New Roman"/>
              <a:sym typeface="Times New Roman"/>
            </a:endParaRPr>
          </a:p>
          <a:p>
            <a:pPr indent="-343535" lvl="0" marL="355600" marR="0" rtl="0" algn="l">
              <a:lnSpc>
                <a:spcPct val="100000"/>
              </a:lnSpc>
              <a:spcBef>
                <a:spcPts val="67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Operands-Data</a:t>
            </a:r>
            <a:endParaRPr sz="2800">
              <a:solidFill>
                <a:schemeClr val="dk1"/>
              </a:solidFill>
              <a:latin typeface="Times New Roman"/>
              <a:ea typeface="Times New Roman"/>
              <a:cs typeface="Times New Roman"/>
              <a:sym typeface="Times New Roman"/>
            </a:endParaRPr>
          </a:p>
          <a:p>
            <a:pPr indent="0" lvl="0" marL="12700" marR="0" rtl="0" algn="l">
              <a:lnSpc>
                <a:spcPct val="100000"/>
              </a:lnSpc>
              <a:spcBef>
                <a:spcPts val="700"/>
              </a:spcBef>
              <a:spcAft>
                <a:spcPts val="0"/>
              </a:spcAft>
              <a:buNone/>
            </a:pPr>
            <a:r>
              <a:rPr lang="en-US" sz="2800">
                <a:solidFill>
                  <a:schemeClr val="dk1"/>
                </a:solidFill>
                <a:latin typeface="Times New Roman"/>
                <a:ea typeface="Times New Roman"/>
                <a:cs typeface="Times New Roman"/>
                <a:sym typeface="Times New Roman"/>
              </a:rPr>
              <a:t></a:t>
            </a:r>
            <a:r>
              <a:rPr b="1" lang="en-US" sz="2800">
                <a:solidFill>
                  <a:schemeClr val="dk1"/>
                </a:solidFill>
                <a:latin typeface="Times New Roman"/>
                <a:ea typeface="Times New Roman"/>
                <a:cs typeface="Times New Roman"/>
                <a:sym typeface="Times New Roman"/>
              </a:rPr>
              <a:t>Instruction=Opcodes+Operands.</a:t>
            </a:r>
            <a:endParaRPr sz="2800">
              <a:solidFill>
                <a:srgbClr val="FF0000"/>
              </a:solidFill>
              <a:latin typeface="Times New Roman"/>
              <a:ea typeface="Times New Roman"/>
              <a:cs typeface="Times New Roman"/>
              <a:sym typeface="Times New Roman"/>
            </a:endParaRPr>
          </a:p>
          <a:p>
            <a:pPr indent="-343535" lvl="0" marL="355600" marR="0" rtl="0" algn="l">
              <a:lnSpc>
                <a:spcPct val="100000"/>
              </a:lnSpc>
              <a:spcBef>
                <a:spcPts val="77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Instruction :- MOV A (Destination),B(Source)</a:t>
            </a:r>
            <a:endParaRPr sz="2800">
              <a:solidFill>
                <a:schemeClr val="dk1"/>
              </a:solidFill>
              <a:latin typeface="Times New Roman"/>
              <a:ea typeface="Times New Roman"/>
              <a:cs typeface="Times New Roman"/>
              <a:sym typeface="Times New Roman"/>
            </a:endParaRPr>
          </a:p>
          <a:p>
            <a:pPr indent="0" lvl="0" marL="0" marR="0" rtl="0" algn="l">
              <a:lnSpc>
                <a:spcPct val="100000"/>
              </a:lnSpc>
              <a:spcBef>
                <a:spcPts val="670"/>
              </a:spcBef>
              <a:spcAft>
                <a:spcPts val="0"/>
              </a:spcAft>
              <a:buNone/>
            </a:pPr>
            <a:r>
              <a:rPr lang="en-US" sz="2800">
                <a:solidFill>
                  <a:schemeClr val="dk1"/>
                </a:solidFill>
                <a:latin typeface="Times New Roman"/>
                <a:ea typeface="Times New Roman"/>
                <a:cs typeface="Times New Roman"/>
                <a:sym typeface="Times New Roman"/>
              </a:rPr>
              <a:t>Examples:</a:t>
            </a:r>
            <a:endParaRPr sz="2800">
              <a:solidFill>
                <a:schemeClr val="dk1"/>
              </a:solidFill>
              <a:latin typeface="Times New Roman"/>
              <a:ea typeface="Times New Roman"/>
              <a:cs typeface="Times New Roman"/>
              <a:sym typeface="Times New Roman"/>
            </a:endParaRPr>
          </a:p>
          <a:p>
            <a:pPr indent="0" lvl="0" marL="12700" marR="5072380" rtl="0" algn="l">
              <a:lnSpc>
                <a:spcPct val="120000"/>
              </a:lnSpc>
              <a:spcBef>
                <a:spcPts val="0"/>
              </a:spcBef>
              <a:spcAft>
                <a:spcPts val="0"/>
              </a:spcAft>
              <a:buNone/>
            </a:pPr>
            <a:r>
              <a:rPr lang="en-US" sz="2800">
                <a:solidFill>
                  <a:schemeClr val="dk1"/>
                </a:solidFill>
                <a:latin typeface="Times New Roman"/>
                <a:ea typeface="Times New Roman"/>
                <a:cs typeface="Times New Roman"/>
                <a:sym typeface="Times New Roman"/>
              </a:rPr>
              <a:t>MOV AX,BX  Add AX,4  JMP</a:t>
            </a:r>
            <a:endParaRPr sz="2800">
              <a:solidFill>
                <a:schemeClr val="dk1"/>
              </a:solidFill>
              <a:latin typeface="Times New Roman"/>
              <a:ea typeface="Times New Roman"/>
              <a:cs typeface="Times New Roman"/>
              <a:sym typeface="Times New Roman"/>
            </a:endParaRPr>
          </a:p>
          <a:p>
            <a:pPr indent="0" lvl="0" marL="12700" marR="5072380" rtl="0" algn="l">
              <a:lnSpc>
                <a:spcPct val="120000"/>
              </a:lnSpc>
              <a:spcBef>
                <a:spcPts val="0"/>
              </a:spcBef>
              <a:spcAft>
                <a:spcPts val="0"/>
              </a:spcAft>
              <a:buNone/>
            </a:pPr>
            <a:r>
              <a:rPr lang="en-US" sz="2800">
                <a:solidFill>
                  <a:schemeClr val="dk1"/>
                </a:solidFill>
                <a:latin typeface="Times New Roman"/>
                <a:ea typeface="Times New Roman"/>
                <a:cs typeface="Times New Roman"/>
                <a:sym typeface="Times New Roman"/>
              </a:rPr>
              <a:t>MUL 3,5</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p36"/>
          <p:cNvSpPr txBox="1"/>
          <p:nvPr>
            <p:ph type="title"/>
          </p:nvPr>
        </p:nvSpPr>
        <p:spPr>
          <a:xfrm>
            <a:off x="2334005" y="557255"/>
            <a:ext cx="4474845" cy="505908"/>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3200"/>
              <a:buFont typeface="Calibri"/>
              <a:buNone/>
            </a:pPr>
            <a:r>
              <a:rPr b="0" lang="en-US" sz="3200">
                <a:latin typeface="Calibri"/>
                <a:ea typeface="Calibri"/>
                <a:cs typeface="Calibri"/>
                <a:sym typeface="Calibri"/>
              </a:rPr>
              <a:t>Instruction Formats</a:t>
            </a:r>
            <a:endParaRPr sz="3200">
              <a:latin typeface="Calibri"/>
              <a:ea typeface="Calibri"/>
              <a:cs typeface="Calibri"/>
              <a:sym typeface="Calibri"/>
            </a:endParaRPr>
          </a:p>
        </p:txBody>
      </p:sp>
      <p:sp>
        <p:nvSpPr>
          <p:cNvPr id="312" name="Google Shape;312;p36"/>
          <p:cNvSpPr txBox="1"/>
          <p:nvPr/>
        </p:nvSpPr>
        <p:spPr>
          <a:xfrm>
            <a:off x="535940" y="1143000"/>
            <a:ext cx="8150860" cy="1896673"/>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Layout of bits in an instruction</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Includes </a:t>
            </a:r>
            <a:r>
              <a:rPr b="1" lang="en-US" sz="2400">
                <a:solidFill>
                  <a:schemeClr val="dk1"/>
                </a:solidFill>
                <a:latin typeface="Times New Roman"/>
                <a:ea typeface="Times New Roman"/>
                <a:cs typeface="Times New Roman"/>
                <a:sym typeface="Times New Roman"/>
              </a:rPr>
              <a:t>opcode</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7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Includes (implicit or explicit) </a:t>
            </a:r>
            <a:r>
              <a:rPr b="1" lang="en-US" sz="2400">
                <a:solidFill>
                  <a:schemeClr val="dk1"/>
                </a:solidFill>
                <a:latin typeface="Times New Roman"/>
                <a:ea typeface="Times New Roman"/>
                <a:cs typeface="Times New Roman"/>
                <a:sym typeface="Times New Roman"/>
              </a:rPr>
              <a:t>operand(s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43535" lvl="0" marL="355600" marR="5080" rtl="0" algn="l">
              <a:lnSpc>
                <a:spcPct val="100000"/>
              </a:lnSpc>
              <a:spcBef>
                <a:spcPts val="7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Usually more than one instruction format in  an instruction set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6" name="Shape 316"/>
        <p:cNvGrpSpPr/>
        <p:nvPr/>
      </p:nvGrpSpPr>
      <p:grpSpPr>
        <a:xfrm>
          <a:off x="0" y="0"/>
          <a:ext cx="0" cy="0"/>
          <a:chOff x="0" y="0"/>
          <a:chExt cx="0" cy="0"/>
        </a:xfrm>
      </p:grpSpPr>
      <p:sp>
        <p:nvSpPr>
          <p:cNvPr id="317" name="Google Shape;317;p37"/>
          <p:cNvSpPr txBox="1"/>
          <p:nvPr>
            <p:ph type="title"/>
          </p:nvPr>
        </p:nvSpPr>
        <p:spPr>
          <a:xfrm>
            <a:off x="1981201" y="461594"/>
            <a:ext cx="4674742"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Length</a:t>
            </a:r>
            <a:endParaRPr sz="4400">
              <a:latin typeface="Calibri"/>
              <a:ea typeface="Calibri"/>
              <a:cs typeface="Calibri"/>
              <a:sym typeface="Calibri"/>
            </a:endParaRPr>
          </a:p>
        </p:txBody>
      </p:sp>
      <p:sp>
        <p:nvSpPr>
          <p:cNvPr id="318" name="Google Shape;318;p37"/>
          <p:cNvSpPr txBox="1"/>
          <p:nvPr/>
        </p:nvSpPr>
        <p:spPr>
          <a:xfrm>
            <a:off x="304800" y="1143000"/>
            <a:ext cx="8382000" cy="6318395"/>
          </a:xfrm>
          <a:prstGeom prst="rect">
            <a:avLst/>
          </a:prstGeom>
          <a:noFill/>
          <a:ln>
            <a:noFill/>
          </a:ln>
        </p:spPr>
        <p:txBody>
          <a:bodyPr anchorCtr="0" anchor="t" bIns="0" lIns="0" spcFirstLastPara="1" rIns="0" wrap="square" tIns="64750">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Affected by and affects:</a:t>
            </a:r>
            <a:endParaRPr sz="24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5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size</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Memory organization</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4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Bus structure</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complexity</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33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CPU speed</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25"/>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b="1" lang="en-US" sz="2400">
                <a:solidFill>
                  <a:schemeClr val="dk1"/>
                </a:solidFill>
                <a:latin typeface="Times New Roman"/>
                <a:ea typeface="Times New Roman"/>
                <a:cs typeface="Times New Roman"/>
                <a:sym typeface="Times New Roman"/>
              </a:rPr>
              <a:t>User wants more	opcodes, operands (</a:t>
            </a:r>
            <a:r>
              <a:rPr lang="en-US" sz="2400">
                <a:solidFill>
                  <a:schemeClr val="dk1"/>
                </a:solidFill>
                <a:latin typeface="Times New Roman"/>
                <a:ea typeface="Times New Roman"/>
                <a:cs typeface="Times New Roman"/>
                <a:sym typeface="Times New Roman"/>
              </a:rPr>
              <a:t>greater flexibility in implementing certain functions</a:t>
            </a:r>
            <a:r>
              <a:rPr b="1" lang="en-US" sz="2400">
                <a:solidFill>
                  <a:schemeClr val="dk1"/>
                </a:solidFill>
                <a:latin typeface="Times New Roman"/>
                <a:ea typeface="Times New Roman"/>
                <a:cs typeface="Times New Roman"/>
                <a:sym typeface="Times New Roman"/>
              </a:rPr>
              <a:t>), addressing  modes , address range</a:t>
            </a:r>
            <a:endParaRPr b="1"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All of these things (opcodes, operands, addressing</a:t>
            </a:r>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modes, address range) require bits and push in the direction of longer instruction length-more space</a:t>
            </a:r>
            <a:endParaRPr/>
          </a:p>
          <a:p>
            <a:pPr indent="0" lvl="0" marL="469900" marR="5080" rtl="0" algn="just">
              <a:lnSpc>
                <a:spcPct val="1258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469900" marR="5080" rtl="0" algn="just">
              <a:lnSpc>
                <a:spcPct val="125833"/>
              </a:lnSpc>
              <a:spcBef>
                <a:spcPts val="0"/>
              </a:spcBef>
              <a:spcAft>
                <a:spcPts val="0"/>
              </a:spcAft>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2" name="Shape 322"/>
        <p:cNvGrpSpPr/>
        <p:nvPr/>
      </p:nvGrpSpPr>
      <p:grpSpPr>
        <a:xfrm>
          <a:off x="0" y="0"/>
          <a:ext cx="0" cy="0"/>
          <a:chOff x="0" y="0"/>
          <a:chExt cx="0" cy="0"/>
        </a:xfrm>
      </p:grpSpPr>
      <p:sp>
        <p:nvSpPr>
          <p:cNvPr id="323" name="Google Shape;323;p38"/>
          <p:cNvSpPr txBox="1"/>
          <p:nvPr>
            <p:ph type="title"/>
          </p:nvPr>
        </p:nvSpPr>
        <p:spPr>
          <a:xfrm>
            <a:off x="2641854" y="461594"/>
            <a:ext cx="38633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Allocation of Bits</a:t>
            </a:r>
            <a:endParaRPr sz="4400">
              <a:latin typeface="Calibri"/>
              <a:ea typeface="Calibri"/>
              <a:cs typeface="Calibri"/>
              <a:sym typeface="Calibri"/>
            </a:endParaRPr>
          </a:p>
        </p:txBody>
      </p:sp>
      <p:sp>
        <p:nvSpPr>
          <p:cNvPr id="324" name="Google Shape;324;p38"/>
          <p:cNvSpPr txBox="1"/>
          <p:nvPr/>
        </p:nvSpPr>
        <p:spPr>
          <a:xfrm>
            <a:off x="152400" y="1143000"/>
            <a:ext cx="8686800" cy="5220660"/>
          </a:xfrm>
          <a:prstGeom prst="rect">
            <a:avLst/>
          </a:prstGeom>
          <a:noFill/>
          <a:ln>
            <a:noFill/>
          </a:ln>
        </p:spPr>
        <p:txBody>
          <a:bodyPr anchorCtr="0" anchor="t" bIns="0" lIns="0" spcFirstLastPara="1" rIns="0" wrap="square" tIns="110475">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addressing modes-</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operands</a:t>
            </a:r>
            <a:endParaRPr sz="2400">
              <a:solidFill>
                <a:schemeClr val="dk1"/>
              </a:solidFill>
              <a:latin typeface="Times New Roman"/>
              <a:ea typeface="Times New Roman"/>
              <a:cs typeface="Times New Roman"/>
              <a:sym typeface="Times New Roman"/>
            </a:endParaRPr>
          </a:p>
          <a:p>
            <a:pPr indent="-191135" lvl="0" marL="355600" marR="0" rtl="0" algn="just">
              <a:lnSpc>
                <a:spcPct val="100000"/>
              </a:lnSpc>
              <a:spcBef>
                <a:spcPts val="76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765"/>
              </a:spcBef>
              <a:spcAft>
                <a:spcPts val="0"/>
              </a:spcAft>
              <a:buNone/>
            </a:pPr>
            <a:r>
              <a:t/>
            </a:r>
            <a:endParaRPr sz="2400">
              <a:solidFill>
                <a:schemeClr val="dk1"/>
              </a:solidFill>
              <a:latin typeface="Times New Roman"/>
              <a:ea typeface="Times New Roman"/>
              <a:cs typeface="Times New Roman"/>
              <a:sym typeface="Times New Roman"/>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Register versus memory-A machine must have registers so that data can be brought into the processor for processing. The more that registers can be used for operand references, the fewer bits are needed</a:t>
            </a:r>
            <a:endParaRPr/>
          </a:p>
          <a:p>
            <a:pPr indent="0" lvl="0" marL="0" marR="0" rtl="0" algn="just">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Number of register sets-Some architectures, including that of the x86, have a collection of two or more specialized sets (data &amp; addressing). a functional split requires fewer bits to be used in the instruction.</a:t>
            </a:r>
            <a:endParaRPr/>
          </a:p>
          <a:p>
            <a:pPr indent="0" lvl="0" marL="0" marR="0" rtl="0" algn="just">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330" name="Google Shape;330;p39"/>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Address range-the range of addresses that can be referenced is related to the number of address bits. it is still convenient to allow rather large displacements from the register address, which requires a relatively large number of address bits in the instruction.</a:t>
            </a:r>
            <a:endParaRPr/>
          </a:p>
          <a:p>
            <a:pPr indent="-283464"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Address Granularity-In a system with 16- or 32-bit words, an address can reference a word or a byte at the designer’s choice. Byte addressing is convenient for character manipulation but requires, for a fixed size memory, more address bits.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1429892" y="461594"/>
            <a:ext cx="629031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pic>
        <p:nvPicPr>
          <p:cNvPr id="336" name="Google Shape;336;p40"/>
          <p:cNvPicPr preferRelativeResize="0"/>
          <p:nvPr/>
        </p:nvPicPr>
        <p:blipFill rotWithShape="1">
          <a:blip r:embed="rId3">
            <a:alphaModFix/>
          </a:blip>
          <a:srcRect b="0" l="0" r="0" t="0"/>
          <a:stretch/>
        </p:blipFill>
        <p:spPr>
          <a:xfrm>
            <a:off x="0" y="1092200"/>
            <a:ext cx="8893174" cy="5632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1"/>
          <p:cNvSpPr txBox="1"/>
          <p:nvPr>
            <p:ph type="title"/>
          </p:nvPr>
        </p:nvSpPr>
        <p:spPr>
          <a:xfrm>
            <a:off x="533400" y="274638"/>
            <a:ext cx="84002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342" name="Google Shape;342;p41"/>
          <p:cNvSpPr txBox="1"/>
          <p:nvPr>
            <p:ph idx="1" type="body"/>
          </p:nvPr>
        </p:nvSpPr>
        <p:spPr>
          <a:xfrm>
            <a:off x="0" y="1371600"/>
            <a:ext cx="8839200" cy="4800600"/>
          </a:xfrm>
          <a:prstGeom prst="rect">
            <a:avLst/>
          </a:prstGeom>
          <a:noFill/>
          <a:ln>
            <a:noFill/>
          </a:ln>
        </p:spPr>
        <p:txBody>
          <a:bodyPr anchorCtr="0" anchor="t" bIns="45700" lIns="91425" spcFirstLastPara="1" rIns="91425" wrap="square" tIns="45700">
            <a:normAutofit fontScale="92500"/>
          </a:bodyPr>
          <a:lstStyle/>
          <a:p>
            <a:pPr indent="-283464" lvl="0" marL="365760" rtl="0" algn="just">
              <a:lnSpc>
                <a:spcPct val="100000"/>
              </a:lnSpc>
              <a:spcBef>
                <a:spcPts val="0"/>
              </a:spcBef>
              <a:spcAft>
                <a:spcPts val="0"/>
              </a:spcAft>
              <a:buSzPct val="80000"/>
              <a:buChar char="⚫"/>
            </a:pPr>
            <a:r>
              <a:rPr lang="en-US" sz="2400">
                <a:latin typeface="Times New Roman"/>
                <a:ea typeface="Times New Roman"/>
                <a:cs typeface="Times New Roman"/>
                <a:sym typeface="Times New Roman"/>
              </a:rPr>
              <a:t>Instructions are made up of from zero to four optional instruction prefixes, a 1- or 2-byte opcode, an optional address specifier (which consists of the ModR/m byte and the Scale Index byte) an optional displacement, and an optional immediate field.</a:t>
            </a:r>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343535" lvl="0" marL="355600" rtl="0" algn="just">
              <a:lnSpc>
                <a:spcPct val="100000"/>
              </a:lnSpc>
              <a:spcBef>
                <a:spcPts val="95"/>
              </a:spcBef>
              <a:spcAft>
                <a:spcPts val="0"/>
              </a:spcAft>
              <a:buSzPct val="80000"/>
              <a:buFont typeface="Arial"/>
              <a:buChar char="•"/>
            </a:pPr>
            <a:r>
              <a:rPr b="1" lang="en-US" sz="2400">
                <a:latin typeface="Times New Roman"/>
                <a:ea typeface="Times New Roman"/>
                <a:cs typeface="Times New Roman"/>
                <a:sym typeface="Times New Roman"/>
              </a:rPr>
              <a:t>Instruction Prefixes</a:t>
            </a: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LOCK </a:t>
            </a:r>
            <a:r>
              <a:rPr lang="en-US" sz="2400">
                <a:latin typeface="Times New Roman"/>
                <a:ea typeface="Times New Roman"/>
                <a:cs typeface="Times New Roman"/>
                <a:sym typeface="Times New Roman"/>
              </a:rPr>
              <a:t>prefix (ensure the use of shared memory in multiprocessor environments.) or one of the </a:t>
            </a:r>
            <a:r>
              <a:rPr b="1" lang="en-US" sz="2400">
                <a:latin typeface="Times New Roman"/>
                <a:ea typeface="Times New Roman"/>
                <a:cs typeface="Times New Roman"/>
                <a:sym typeface="Times New Roman"/>
              </a:rPr>
              <a:t>REPEAT </a:t>
            </a:r>
            <a:r>
              <a:rPr lang="en-US" sz="2400">
                <a:latin typeface="Times New Roman"/>
                <a:ea typeface="Times New Roman"/>
                <a:cs typeface="Times New Roman"/>
                <a:sym typeface="Times New Roman"/>
              </a:rPr>
              <a:t>prefixes(REP,REPE,REPNE,REPZ,REPNZ…. specify repeated operation of a string, which enables the x86 to process strings much faster)</a:t>
            </a:r>
            <a:endParaRPr/>
          </a:p>
          <a:p>
            <a:pPr indent="-202564" lvl="1" marL="629920" rtl="0" algn="just">
              <a:lnSpc>
                <a:spcPct val="100000"/>
              </a:lnSpc>
              <a:spcBef>
                <a:spcPts val="95"/>
              </a:spcBef>
              <a:spcAft>
                <a:spcPts val="0"/>
              </a:spcAft>
              <a:buSzPct val="100000"/>
              <a:buFont typeface="Arial"/>
              <a:buNone/>
            </a:pPr>
            <a:r>
              <a:t/>
            </a:r>
            <a:endParaRPr sz="2400">
              <a:latin typeface="Times New Roman"/>
              <a:ea typeface="Times New Roman"/>
              <a:cs typeface="Times New Roman"/>
              <a:sym typeface="Times New Roman"/>
            </a:endParaRPr>
          </a:p>
          <a:p>
            <a:pPr indent="-170687" lvl="0" marL="365760" rtl="0" algn="just">
              <a:lnSpc>
                <a:spcPct val="100000"/>
              </a:lnSpc>
              <a:spcBef>
                <a:spcPts val="10"/>
              </a:spcBef>
              <a:spcAft>
                <a:spcPts val="0"/>
              </a:spcAft>
              <a:buSzPct val="80000"/>
              <a:buNone/>
            </a:pPr>
            <a:r>
              <a:t/>
            </a:r>
            <a:endParaRPr sz="2400">
              <a:latin typeface="Times New Roman"/>
              <a:ea typeface="Times New Roman"/>
              <a:cs typeface="Times New Roman"/>
              <a:sym typeface="Times New Roman"/>
            </a:endParaRPr>
          </a:p>
          <a:p>
            <a:pPr indent="-343535" lvl="0" marL="355600" rtl="0" algn="just">
              <a:lnSpc>
                <a:spcPct val="100000"/>
              </a:lnSpc>
              <a:spcBef>
                <a:spcPts val="5"/>
              </a:spcBef>
              <a:spcAft>
                <a:spcPts val="0"/>
              </a:spcAft>
              <a:buSzPct val="80000"/>
              <a:buFont typeface="Arial"/>
              <a:buChar char="•"/>
            </a:pPr>
            <a:r>
              <a:rPr b="1" lang="en-US" sz="2400">
                <a:latin typeface="Times New Roman"/>
                <a:ea typeface="Times New Roman"/>
                <a:cs typeface="Times New Roman"/>
                <a:sym typeface="Times New Roman"/>
              </a:rPr>
              <a:t>Segment Override</a:t>
            </a:r>
            <a:r>
              <a:rPr lang="en-US" sz="2400">
                <a:latin typeface="Times New Roman"/>
                <a:ea typeface="Times New Roman"/>
                <a:cs typeface="Times New Roman"/>
                <a:sym typeface="Times New Roman"/>
              </a:rPr>
              <a:t>-explicitly specifies which segment register an instruction should use</a:t>
            </a:r>
            <a:endParaRPr sz="2400">
              <a:latin typeface="Times New Roman"/>
              <a:ea typeface="Times New Roman"/>
              <a:cs typeface="Times New Roman"/>
              <a:sym typeface="Times New Roman"/>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170687"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p42"/>
          <p:cNvSpPr txBox="1"/>
          <p:nvPr>
            <p:ph type="title"/>
          </p:nvPr>
        </p:nvSpPr>
        <p:spPr>
          <a:xfrm>
            <a:off x="798982" y="461594"/>
            <a:ext cx="75520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sp>
        <p:nvSpPr>
          <p:cNvPr id="348" name="Google Shape;348;p42"/>
          <p:cNvSpPr txBox="1"/>
          <p:nvPr/>
        </p:nvSpPr>
        <p:spPr>
          <a:xfrm>
            <a:off x="304800" y="1831670"/>
            <a:ext cx="8382000" cy="3844001"/>
          </a:xfrm>
          <a:prstGeom prst="rect">
            <a:avLst/>
          </a:prstGeom>
          <a:noFill/>
          <a:ln>
            <a:noFill/>
          </a:ln>
        </p:spPr>
        <p:txBody>
          <a:bodyPr anchorCtr="0" anchor="t" bIns="0" lIns="0" spcFirstLastPara="1" rIns="0" wrap="square" tIns="12050">
            <a:spAutoFit/>
          </a:bodyPr>
          <a:lstStyle/>
          <a:p>
            <a:pPr indent="0" lvl="0" marL="0" marR="0" rtl="0" algn="just">
              <a:lnSpc>
                <a:spcPct val="100000"/>
              </a:lnSpc>
              <a:spcBef>
                <a:spcPts val="0"/>
              </a:spcBef>
              <a:spcAft>
                <a:spcPts val="0"/>
              </a:spcAft>
              <a:buClr>
                <a:schemeClr val="dk1"/>
              </a:buClr>
              <a:buSzPts val="2450"/>
              <a:buFont typeface="Arial"/>
              <a:buNone/>
            </a:pPr>
            <a:r>
              <a:t/>
            </a:r>
            <a:endParaRPr sz="2450">
              <a:solidFill>
                <a:schemeClr val="dk1"/>
              </a:solidFill>
              <a:latin typeface="Times New Roman"/>
              <a:ea typeface="Times New Roman"/>
              <a:cs typeface="Times New Roman"/>
              <a:sym typeface="Times New Roman"/>
            </a:endParaRPr>
          </a:p>
          <a:p>
            <a:pPr indent="-343535" lvl="0" marL="355600" marR="0" rtl="0" algn="just">
              <a:spcBef>
                <a:spcPts val="0"/>
              </a:spcBef>
              <a:spcAft>
                <a:spcPts val="0"/>
              </a:spcAft>
              <a:buClr>
                <a:schemeClr val="dk1"/>
              </a:buClr>
              <a:buSzPts val="2500"/>
              <a:buFont typeface="Arial"/>
              <a:buChar char="•"/>
            </a:pPr>
            <a:r>
              <a:rPr b="1" lang="en-US" sz="2500">
                <a:solidFill>
                  <a:schemeClr val="dk1"/>
                </a:solidFill>
                <a:latin typeface="Times New Roman"/>
                <a:ea typeface="Times New Roman"/>
                <a:cs typeface="Times New Roman"/>
                <a:sym typeface="Times New Roman"/>
              </a:rPr>
              <a:t>Address Size</a:t>
            </a:r>
            <a:r>
              <a:rPr lang="en-US" sz="2500">
                <a:solidFill>
                  <a:schemeClr val="dk1"/>
                </a:solidFill>
                <a:latin typeface="Times New Roman"/>
                <a:ea typeface="Times New Roman"/>
                <a:cs typeface="Times New Roman"/>
                <a:sym typeface="Times New Roman"/>
              </a:rPr>
              <a:t>-16 or 32 bit (switch)-either 16- or 32-bit addresses. The address size determines the displacement size in instructions and the size of address offsets generated during effective address calculation. address size prefix switches between 32-bit and 16-bit address generation.</a:t>
            </a:r>
            <a:endParaRPr sz="2500">
              <a:solidFill>
                <a:schemeClr val="dk1"/>
              </a:solidFill>
              <a:latin typeface="Times New Roman"/>
              <a:ea typeface="Times New Roman"/>
              <a:cs typeface="Times New Roman"/>
              <a:sym typeface="Times New Roman"/>
            </a:endParaRPr>
          </a:p>
          <a:p>
            <a:pPr indent="0" lvl="0" marL="0" marR="0" rtl="0" algn="just">
              <a:lnSpc>
                <a:spcPct val="100000"/>
              </a:lnSpc>
              <a:spcBef>
                <a:spcPts val="15"/>
              </a:spcBef>
              <a:spcAft>
                <a:spcPts val="0"/>
              </a:spcAft>
              <a:buClr>
                <a:schemeClr val="dk1"/>
              </a:buClr>
              <a:buSzPts val="2450"/>
              <a:buFont typeface="Arial"/>
              <a:buNone/>
            </a:pPr>
            <a:r>
              <a:t/>
            </a:r>
            <a:endParaRPr sz="2450">
              <a:solidFill>
                <a:schemeClr val="dk1"/>
              </a:solidFill>
              <a:latin typeface="Times New Roman"/>
              <a:ea typeface="Times New Roman"/>
              <a:cs typeface="Times New Roman"/>
              <a:sym typeface="Times New Roman"/>
            </a:endParaRPr>
          </a:p>
          <a:p>
            <a:pPr indent="-343535" lvl="0" marL="355600" marR="0" rtl="0" algn="just">
              <a:spcBef>
                <a:spcPts val="0"/>
              </a:spcBef>
              <a:spcAft>
                <a:spcPts val="0"/>
              </a:spcAft>
              <a:buClr>
                <a:schemeClr val="dk1"/>
              </a:buClr>
              <a:buSzPts val="2500"/>
              <a:buFont typeface="Arial"/>
              <a:buChar char="•"/>
            </a:pPr>
            <a:r>
              <a:rPr b="1" lang="en-US" sz="2500">
                <a:solidFill>
                  <a:schemeClr val="dk1"/>
                </a:solidFill>
                <a:latin typeface="Times New Roman"/>
                <a:ea typeface="Times New Roman"/>
                <a:cs typeface="Times New Roman"/>
                <a:sym typeface="Times New Roman"/>
              </a:rPr>
              <a:t>Operand Size</a:t>
            </a:r>
            <a:r>
              <a:rPr lang="en-US" sz="2500">
                <a:solidFill>
                  <a:schemeClr val="dk1"/>
                </a:solidFill>
                <a:latin typeface="Times New Roman"/>
                <a:ea typeface="Times New Roman"/>
                <a:cs typeface="Times New Roman"/>
                <a:sym typeface="Times New Roman"/>
              </a:rPr>
              <a:t>-16 or 32 bit (switch)-An instruction has a default operand size of 16 or 32 bits, and the operand prefix switches between 32-bit and 16-bit operands.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2" name="Shape 352"/>
        <p:cNvGrpSpPr/>
        <p:nvPr/>
      </p:nvGrpSpPr>
      <p:grpSpPr>
        <a:xfrm>
          <a:off x="0" y="0"/>
          <a:ext cx="0" cy="0"/>
          <a:chOff x="0" y="0"/>
          <a:chExt cx="0" cy="0"/>
        </a:xfrm>
      </p:grpSpPr>
      <p:sp>
        <p:nvSpPr>
          <p:cNvPr id="353" name="Google Shape;353;p43"/>
          <p:cNvSpPr txBox="1"/>
          <p:nvPr>
            <p:ph type="title"/>
          </p:nvPr>
        </p:nvSpPr>
        <p:spPr>
          <a:xfrm>
            <a:off x="838200" y="152400"/>
            <a:ext cx="75520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PENTIUM INSTRUCTION FORMAT</a:t>
            </a:r>
            <a:endParaRPr sz="4400">
              <a:latin typeface="Calibri"/>
              <a:ea typeface="Calibri"/>
              <a:cs typeface="Calibri"/>
              <a:sym typeface="Calibri"/>
            </a:endParaRPr>
          </a:p>
        </p:txBody>
      </p:sp>
      <p:sp>
        <p:nvSpPr>
          <p:cNvPr id="354" name="Google Shape;354;p43"/>
          <p:cNvSpPr txBox="1"/>
          <p:nvPr/>
        </p:nvSpPr>
        <p:spPr>
          <a:xfrm>
            <a:off x="0" y="849625"/>
            <a:ext cx="9144000" cy="5883000"/>
          </a:xfrm>
          <a:prstGeom prst="rect">
            <a:avLst/>
          </a:prstGeom>
          <a:noFill/>
          <a:ln>
            <a:noFill/>
          </a:ln>
        </p:spPr>
        <p:txBody>
          <a:bodyPr anchorCtr="0" anchor="t" bIns="0" lIns="0" spcFirstLastPara="1" rIns="0" wrap="square" tIns="62225">
            <a:spAutoFit/>
          </a:bodyPr>
          <a:lstStyle/>
          <a:p>
            <a:pPr indent="0" lvl="0" marL="0" marR="0" rtl="0" algn="just">
              <a:spcBef>
                <a:spcPts val="0"/>
              </a:spcBef>
              <a:spcAft>
                <a:spcPts val="0"/>
              </a:spcAft>
              <a:buNone/>
            </a:pPr>
            <a:r>
              <a:rPr b="1" lang="en-US" sz="2400">
                <a:solidFill>
                  <a:schemeClr val="dk1"/>
                </a:solidFill>
                <a:latin typeface="Times New Roman"/>
                <a:ea typeface="Times New Roman"/>
                <a:cs typeface="Times New Roman"/>
                <a:sym typeface="Times New Roman"/>
              </a:rPr>
              <a:t>Opcode-</a:t>
            </a:r>
            <a:r>
              <a:rPr lang="en-US" sz="2400">
                <a:solidFill>
                  <a:schemeClr val="dk1"/>
                </a:solidFill>
                <a:latin typeface="Times New Roman"/>
                <a:ea typeface="Times New Roman"/>
                <a:cs typeface="Times New Roman"/>
                <a:sym typeface="Times New Roman"/>
              </a:rPr>
              <a:t> 1, 2, or 3 bytes in length.  It include bits that specify if data is byte- or full-size, direction of data operation (to or from memory), and whether an immediate data field must be sign extended.</a:t>
            </a:r>
            <a:endParaRPr b="1"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49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Mod R/m</a:t>
            </a:r>
            <a:r>
              <a:rPr lang="en-US" sz="2400">
                <a:solidFill>
                  <a:schemeClr val="dk1"/>
                </a:solidFill>
                <a:latin typeface="Times New Roman"/>
                <a:ea typeface="Times New Roman"/>
                <a:cs typeface="Times New Roman"/>
                <a:sym typeface="Times New Roman"/>
              </a:rPr>
              <a:t>-</a:t>
            </a:r>
            <a:r>
              <a:rPr lang="en-US" sz="2400">
                <a:solidFill>
                  <a:srgbClr val="FF0000"/>
                </a:solidFill>
                <a:latin typeface="Times New Roman"/>
                <a:ea typeface="Times New Roman"/>
                <a:cs typeface="Times New Roman"/>
                <a:sym typeface="Times New Roman"/>
              </a:rPr>
              <a:t>addressing information</a:t>
            </a:r>
            <a:endParaRPr sz="2400"/>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-specifies whether an operand is in a register or in memory; if it is in memory, then fields within the byte specify the addressing mode to be used</a:t>
            </a:r>
            <a:endParaRPr sz="2400"/>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-consists of three fields: The Mod field (2 bits) combines with the r/m field to form 32 possible values: 8 registers and 24 indexing modes; </a:t>
            </a:r>
            <a:endParaRPr sz="2400"/>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-The Reg/Opcode field (3 bits) specifies either a register number or three more bits of opcode information; </a:t>
            </a:r>
            <a:endParaRPr sz="2400"/>
          </a:p>
          <a:p>
            <a:pPr indent="-343535" lvl="0" marL="355600" marR="0" rtl="0" algn="just">
              <a:spcBef>
                <a:spcPts val="490"/>
              </a:spcBef>
              <a:spcAft>
                <a:spcPts val="0"/>
              </a:spcAft>
              <a:buNone/>
            </a:pPr>
            <a:r>
              <a:rPr lang="en-US" sz="2400">
                <a:solidFill>
                  <a:schemeClr val="dk1"/>
                </a:solidFill>
                <a:latin typeface="Times New Roman"/>
                <a:ea typeface="Times New Roman"/>
                <a:cs typeface="Times New Roman"/>
                <a:sym typeface="Times New Roman"/>
              </a:rPr>
              <a:t>      -the r/m field (3 bits) can specify a register as the location of an operand, or it can form part of the addressing</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4"/>
          <p:cNvSpPr txBox="1"/>
          <p:nvPr>
            <p:ph type="title"/>
          </p:nvPr>
        </p:nvSpPr>
        <p:spPr>
          <a:xfrm>
            <a:off x="609600" y="152400"/>
            <a:ext cx="749808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360" name="Google Shape;360;p44"/>
          <p:cNvSpPr txBox="1"/>
          <p:nvPr>
            <p:ph idx="1" type="body"/>
          </p:nvPr>
        </p:nvSpPr>
        <p:spPr>
          <a:xfrm>
            <a:off x="0" y="1219200"/>
            <a:ext cx="8763000" cy="4800600"/>
          </a:xfrm>
          <a:prstGeom prst="rect">
            <a:avLst/>
          </a:prstGeom>
          <a:noFill/>
          <a:ln>
            <a:noFill/>
          </a:ln>
        </p:spPr>
        <p:txBody>
          <a:bodyPr anchorCtr="0" anchor="t" bIns="45700" lIns="91425" spcFirstLastPara="1" rIns="91425" wrap="square" tIns="45700">
            <a:normAutofit/>
          </a:bodyPr>
          <a:lstStyle/>
          <a:p>
            <a:pPr indent="-287019" lvl="1" marL="756285" marR="5080" rtl="0" algn="just">
              <a:lnSpc>
                <a:spcPct val="117083"/>
              </a:lnSpc>
              <a:spcBef>
                <a:spcPts val="0"/>
              </a:spcBef>
              <a:spcAft>
                <a:spcPts val="0"/>
              </a:spcAft>
              <a:buSzPts val="2400"/>
              <a:buFont typeface="Arial"/>
              <a:buChar char="–"/>
            </a:pPr>
            <a:r>
              <a:rPr lang="en-US" sz="2400">
                <a:latin typeface="Times New Roman"/>
                <a:ea typeface="Times New Roman"/>
                <a:cs typeface="Times New Roman"/>
                <a:sym typeface="Times New Roman"/>
              </a:rPr>
              <a:t>Mod+ r/m (combined info of registers and addressing  modes)</a:t>
            </a:r>
            <a:endParaRPr sz="2400">
              <a:latin typeface="Times New Roman"/>
              <a:ea typeface="Times New Roman"/>
              <a:cs typeface="Times New Roman"/>
              <a:sym typeface="Times New Roman"/>
            </a:endParaRPr>
          </a:p>
          <a:p>
            <a:pPr indent="-287019" lvl="1" marL="756285" rtl="0" algn="just">
              <a:lnSpc>
                <a:spcPct val="100000"/>
              </a:lnSpc>
              <a:spcBef>
                <a:spcPts val="265"/>
              </a:spcBef>
              <a:spcAft>
                <a:spcPts val="0"/>
              </a:spcAft>
              <a:buSzPts val="2400"/>
              <a:buFont typeface="Arial"/>
              <a:buChar char="–"/>
            </a:pPr>
            <a:r>
              <a:rPr lang="en-US" sz="2400">
                <a:latin typeface="Times New Roman"/>
                <a:ea typeface="Times New Roman"/>
                <a:cs typeface="Times New Roman"/>
                <a:sym typeface="Times New Roman"/>
              </a:rPr>
              <a:t>Register-register or opcode info</a:t>
            </a:r>
            <a:endParaRPr sz="2400">
              <a:latin typeface="Times New Roman"/>
              <a:ea typeface="Times New Roman"/>
              <a:cs typeface="Times New Roman"/>
              <a:sym typeface="Times New Roman"/>
            </a:endParaRPr>
          </a:p>
          <a:p>
            <a:pPr indent="-343535" lvl="0" marL="355600" rtl="0" algn="l">
              <a:lnSpc>
                <a:spcPct val="100000"/>
              </a:lnSpc>
              <a:spcBef>
                <a:spcPts val="335"/>
              </a:spcBef>
              <a:spcAft>
                <a:spcPts val="0"/>
              </a:spcAft>
              <a:buSzPts val="1920"/>
              <a:buFont typeface="Arial"/>
              <a:buChar char="•"/>
            </a:pPr>
            <a:r>
              <a:rPr b="1" lang="en-US" sz="2400">
                <a:latin typeface="Times New Roman"/>
                <a:ea typeface="Times New Roman"/>
                <a:cs typeface="Times New Roman"/>
                <a:sym typeface="Times New Roman"/>
              </a:rPr>
              <a:t>SIB-</a:t>
            </a:r>
            <a:r>
              <a:rPr lang="en-US" sz="2400">
                <a:latin typeface="Times New Roman"/>
                <a:ea typeface="Times New Roman"/>
                <a:cs typeface="Times New Roman"/>
                <a:sym typeface="Times New Roman"/>
              </a:rPr>
              <a:t>specify fully the addressing mode</a:t>
            </a:r>
            <a:endParaRPr/>
          </a:p>
          <a:p>
            <a:pPr indent="-287019" lvl="1" marL="756285" rtl="0" algn="l">
              <a:lnSpc>
                <a:spcPct val="100000"/>
              </a:lnSpc>
              <a:spcBef>
                <a:spcPts val="340"/>
              </a:spcBef>
              <a:spcAft>
                <a:spcPts val="0"/>
              </a:spcAft>
              <a:buSzPts val="2400"/>
              <a:buFont typeface="Arial"/>
              <a:buChar char="–"/>
            </a:pPr>
            <a:r>
              <a:rPr b="1" lang="en-US" sz="2400">
                <a:latin typeface="Times New Roman"/>
                <a:ea typeface="Times New Roman"/>
                <a:cs typeface="Times New Roman"/>
                <a:sym typeface="Times New Roman"/>
              </a:rPr>
              <a:t>Scale (2 bits)-</a:t>
            </a:r>
            <a:r>
              <a:rPr lang="en-US" sz="2400">
                <a:latin typeface="Times New Roman"/>
                <a:ea typeface="Times New Roman"/>
                <a:cs typeface="Times New Roman"/>
                <a:sym typeface="Times New Roman"/>
              </a:rPr>
              <a:t>scale factor for scaled indexing</a:t>
            </a:r>
            <a:endParaRPr sz="2400">
              <a:latin typeface="Times New Roman"/>
              <a:ea typeface="Times New Roman"/>
              <a:cs typeface="Times New Roman"/>
              <a:sym typeface="Times New Roman"/>
            </a:endParaRPr>
          </a:p>
          <a:p>
            <a:pPr indent="-287019" lvl="1" marL="756285" rtl="0" algn="l">
              <a:lnSpc>
                <a:spcPct val="100000"/>
              </a:lnSpc>
              <a:spcBef>
                <a:spcPts val="315"/>
              </a:spcBef>
              <a:spcAft>
                <a:spcPts val="0"/>
              </a:spcAft>
              <a:buSzPts val="2400"/>
              <a:buFont typeface="Arial"/>
              <a:buChar char="–"/>
            </a:pPr>
            <a:r>
              <a:rPr b="1" lang="en-US" sz="2400">
                <a:latin typeface="Times New Roman"/>
                <a:ea typeface="Times New Roman"/>
                <a:cs typeface="Times New Roman"/>
                <a:sym typeface="Times New Roman"/>
              </a:rPr>
              <a:t>Index (3 bits)</a:t>
            </a:r>
            <a:r>
              <a:rPr lang="en-US" sz="2400">
                <a:latin typeface="Times New Roman"/>
                <a:ea typeface="Times New Roman"/>
                <a:cs typeface="Times New Roman"/>
                <a:sym typeface="Times New Roman"/>
              </a:rPr>
              <a:t>-specifies index register(SI,DI)</a:t>
            </a:r>
            <a:endParaRPr sz="2400">
              <a:latin typeface="Times New Roman"/>
              <a:ea typeface="Times New Roman"/>
              <a:cs typeface="Times New Roman"/>
              <a:sym typeface="Times New Roman"/>
            </a:endParaRPr>
          </a:p>
          <a:p>
            <a:pPr indent="-287019" lvl="1" marL="756285" rtl="0" algn="l">
              <a:lnSpc>
                <a:spcPct val="100000"/>
              </a:lnSpc>
              <a:spcBef>
                <a:spcPts val="315"/>
              </a:spcBef>
              <a:spcAft>
                <a:spcPts val="0"/>
              </a:spcAft>
              <a:buSzPts val="2400"/>
              <a:buFont typeface="Arial"/>
              <a:buChar char="–"/>
            </a:pPr>
            <a:r>
              <a:rPr b="1" lang="en-US" sz="2400">
                <a:latin typeface="Times New Roman"/>
                <a:ea typeface="Times New Roman"/>
                <a:cs typeface="Times New Roman"/>
                <a:sym typeface="Times New Roman"/>
              </a:rPr>
              <a:t>Base (3 bits)</a:t>
            </a:r>
            <a:r>
              <a:rPr lang="en-US" sz="2400">
                <a:latin typeface="Times New Roman"/>
                <a:ea typeface="Times New Roman"/>
                <a:cs typeface="Times New Roman"/>
                <a:sym typeface="Times New Roman"/>
              </a:rPr>
              <a:t>-specifies base register(BX)</a:t>
            </a:r>
            <a:endParaRPr sz="2400">
              <a:latin typeface="Times New Roman"/>
              <a:ea typeface="Times New Roman"/>
              <a:cs typeface="Times New Roman"/>
              <a:sym typeface="Times New Roman"/>
            </a:endParaRPr>
          </a:p>
          <a:p>
            <a:pPr indent="-343535" lvl="0" marL="355600" rtl="0" algn="l">
              <a:lnSpc>
                <a:spcPct val="100000"/>
              </a:lnSpc>
              <a:spcBef>
                <a:spcPts val="330"/>
              </a:spcBef>
              <a:spcAft>
                <a:spcPts val="0"/>
              </a:spcAft>
              <a:buSzPts val="1920"/>
              <a:buFont typeface="Arial"/>
              <a:buChar char="•"/>
            </a:pPr>
            <a:r>
              <a:rPr b="1" lang="en-US" sz="2400">
                <a:latin typeface="Times New Roman"/>
                <a:ea typeface="Times New Roman"/>
                <a:cs typeface="Times New Roman"/>
                <a:sym typeface="Times New Roman"/>
              </a:rPr>
              <a:t>Displacement</a:t>
            </a:r>
            <a:r>
              <a:rPr lang="en-US" sz="2400">
                <a:latin typeface="Times New Roman"/>
                <a:ea typeface="Times New Roman"/>
                <a:cs typeface="Times New Roman"/>
                <a:sym typeface="Times New Roman"/>
              </a:rPr>
              <a:t>-When the addressing-mode specifier indicates that a displacement is used, an 8-, 16-, or 32-bit signed integer displacement field is added.</a:t>
            </a:r>
            <a:endParaRPr sz="2400">
              <a:latin typeface="Times New Roman"/>
              <a:ea typeface="Times New Roman"/>
              <a:cs typeface="Times New Roman"/>
              <a:sym typeface="Times New Roman"/>
            </a:endParaRPr>
          </a:p>
          <a:p>
            <a:pPr indent="-343535" lvl="0" marL="355600" marR="628015" rtl="0" algn="l">
              <a:lnSpc>
                <a:spcPct val="135000"/>
              </a:lnSpc>
              <a:spcBef>
                <a:spcPts val="770"/>
              </a:spcBef>
              <a:spcAft>
                <a:spcPts val="0"/>
              </a:spcAft>
              <a:buSzPts val="1920"/>
              <a:buFont typeface="Arial"/>
              <a:buChar char="•"/>
            </a:pPr>
            <a:r>
              <a:rPr b="1" lang="en-US" sz="2400">
                <a:latin typeface="Times New Roman"/>
                <a:ea typeface="Times New Roman"/>
                <a:cs typeface="Times New Roman"/>
                <a:sym typeface="Times New Roman"/>
              </a:rPr>
              <a:t>Immediate</a:t>
            </a:r>
            <a:r>
              <a:rPr lang="en-US" sz="2400">
                <a:latin typeface="Times New Roman"/>
                <a:ea typeface="Times New Roman"/>
                <a:cs typeface="Times New Roman"/>
                <a:sym typeface="Times New Roman"/>
              </a:rPr>
              <a:t>-provides the value of 8/16/32 bit  operand</a:t>
            </a:r>
            <a:endParaRPr sz="2400">
              <a:latin typeface="Times New Roman"/>
              <a:ea typeface="Times New Roman"/>
              <a:cs typeface="Times New Roman"/>
              <a:sym typeface="Times New Roman"/>
            </a:endParaRPr>
          </a:p>
          <a:p>
            <a:pPr indent="-161543" lvl="0" marL="365760" rtl="0" algn="l">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4" name="Shape 364"/>
        <p:cNvGrpSpPr/>
        <p:nvPr/>
      </p:nvGrpSpPr>
      <p:grpSpPr>
        <a:xfrm>
          <a:off x="0" y="0"/>
          <a:ext cx="0" cy="0"/>
          <a:chOff x="0" y="0"/>
          <a:chExt cx="0" cy="0"/>
        </a:xfrm>
      </p:grpSpPr>
      <p:sp>
        <p:nvSpPr>
          <p:cNvPr id="365" name="Google Shape;365;p45"/>
          <p:cNvSpPr txBox="1"/>
          <p:nvPr>
            <p:ph type="ctrTitle"/>
          </p:nvPr>
        </p:nvSpPr>
        <p:spPr>
          <a:xfrm>
            <a:off x="1066800" y="1828800"/>
            <a:ext cx="7406640" cy="1472184"/>
          </a:xfrm>
          <a:prstGeom prst="rect">
            <a:avLst/>
          </a:prstGeom>
          <a:noFill/>
          <a:ln>
            <a:noFill/>
          </a:ln>
        </p:spPr>
        <p:txBody>
          <a:bodyPr anchorCtr="0" anchor="b" bIns="0" lIns="0" spcFirstLastPara="1" rIns="0" wrap="square" tIns="13325">
            <a:spAutoFit/>
          </a:bodyPr>
          <a:lstStyle/>
          <a:p>
            <a:pPr indent="5715" lvl="0" marL="25400" marR="17780" rtl="0" algn="ctr">
              <a:lnSpc>
                <a:spcPct val="100000"/>
              </a:lnSpc>
              <a:spcBef>
                <a:spcPts val="0"/>
              </a:spcBef>
              <a:spcAft>
                <a:spcPts val="0"/>
              </a:spcAft>
              <a:buClr>
                <a:srgbClr val="562214"/>
              </a:buClr>
              <a:buSzPts val="4300"/>
              <a:buFont typeface="Gill Sans"/>
              <a:buNone/>
            </a:pPr>
            <a:r>
              <a:rPr lang="en-US"/>
              <a:t>William Stallings  Computer Organization  and Architecture</a:t>
            </a:r>
            <a:endParaRPr/>
          </a:p>
          <a:p>
            <a:pPr indent="0" lvl="0" marL="3810" rtl="0" algn="ctr">
              <a:lnSpc>
                <a:spcPct val="100000"/>
              </a:lnSpc>
              <a:spcBef>
                <a:spcPts val="5"/>
              </a:spcBef>
              <a:spcAft>
                <a:spcPts val="0"/>
              </a:spcAft>
              <a:buClr>
                <a:srgbClr val="562214"/>
              </a:buClr>
              <a:buSzPts val="4300"/>
              <a:buFont typeface="Gill Sans"/>
              <a:buNone/>
            </a:pPr>
            <a:r>
              <a:rPr lang="en-US"/>
              <a:t>6</a:t>
            </a:r>
            <a:r>
              <a:rPr baseline="30000" lang="en-US" sz="4350"/>
              <a:t>th </a:t>
            </a:r>
            <a:r>
              <a:rPr lang="en-US" sz="4400"/>
              <a:t>Edition</a:t>
            </a:r>
            <a:endParaRPr sz="4400"/>
          </a:p>
        </p:txBody>
      </p:sp>
      <p:sp>
        <p:nvSpPr>
          <p:cNvPr id="366" name="Google Shape;366;p45"/>
          <p:cNvSpPr txBox="1"/>
          <p:nvPr>
            <p:ph idx="1" type="subTitle"/>
          </p:nvPr>
        </p:nvSpPr>
        <p:spPr>
          <a:xfrm>
            <a:off x="1066800" y="3886200"/>
            <a:ext cx="7406640" cy="1752600"/>
          </a:xfrm>
          <a:prstGeom prst="rect">
            <a:avLst/>
          </a:prstGeom>
          <a:noFill/>
          <a:ln>
            <a:noFill/>
          </a:ln>
        </p:spPr>
        <p:txBody>
          <a:bodyPr anchorCtr="0" anchor="t" bIns="0" lIns="0" spcFirstLastPara="1" rIns="0" wrap="square" tIns="12050">
            <a:spAutoFit/>
          </a:bodyPr>
          <a:lstStyle/>
          <a:p>
            <a:pPr indent="-1905" lvl="0" marL="1497330" marR="1491615" rtl="0" algn="ctr">
              <a:lnSpc>
                <a:spcPct val="120100"/>
              </a:lnSpc>
              <a:spcBef>
                <a:spcPts val="0"/>
              </a:spcBef>
              <a:spcAft>
                <a:spcPts val="0"/>
              </a:spcAft>
              <a:buSzPts val="2080"/>
              <a:buNone/>
            </a:pPr>
            <a:r>
              <a:rPr lang="en-US"/>
              <a:t>Chapter 11  Instruction Sets:</a:t>
            </a:r>
            <a:endParaRPr/>
          </a:p>
          <a:p>
            <a:pPr indent="0" lvl="0" marL="27432" rtl="0" algn="ctr">
              <a:lnSpc>
                <a:spcPct val="100000"/>
              </a:lnSpc>
              <a:spcBef>
                <a:spcPts val="765"/>
              </a:spcBef>
              <a:spcAft>
                <a:spcPts val="0"/>
              </a:spcAft>
              <a:buSzPts val="2080"/>
              <a:buNone/>
            </a:pPr>
            <a:r>
              <a:rPr lang="en-US"/>
              <a:t>Addressing Modes and Formats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6"/>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Addressing modes</a:t>
            </a:r>
            <a:endParaRPr/>
          </a:p>
        </p:txBody>
      </p:sp>
      <p:sp>
        <p:nvSpPr>
          <p:cNvPr id="372" name="Google Shape;372;p46"/>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way for which an operand is specified for an instruction in the accumulator, in a general purpose register or in memory location, is called </a:t>
            </a:r>
            <a:r>
              <a:rPr b="1" lang="en-US" sz="2400">
                <a:latin typeface="Times New Roman"/>
                <a:ea typeface="Times New Roman"/>
                <a:cs typeface="Times New Roman"/>
                <a:sym typeface="Times New Roman"/>
              </a:rPr>
              <a:t>addressing mode</a:t>
            </a:r>
            <a:r>
              <a:rPr lang="en-US" sz="2400">
                <a:latin typeface="Times New Roman"/>
                <a:ea typeface="Times New Roman"/>
                <a:cs typeface="Times New Roman"/>
                <a:sym typeface="Times New Roman"/>
              </a:rPr>
              <a: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Different opcodes will use different addressing modes.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one or more bits in the instruction format can be used as a mode field. The value of the </a:t>
            </a:r>
            <a:r>
              <a:rPr lang="en-US" sz="2400">
                <a:solidFill>
                  <a:srgbClr val="FF0000"/>
                </a:solidFill>
                <a:latin typeface="Times New Roman"/>
                <a:ea typeface="Times New Roman"/>
                <a:cs typeface="Times New Roman"/>
                <a:sym typeface="Times New Roman"/>
              </a:rPr>
              <a:t>mode field determines which addressing mode is to be used.</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a system without virtual memory, the effective address will be either a main memory address or a register. In a virtual memory system, the effective address is a virtual address or a register</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6" name="Shape 376"/>
        <p:cNvGrpSpPr/>
        <p:nvPr/>
      </p:nvGrpSpPr>
      <p:grpSpPr>
        <a:xfrm>
          <a:off x="0" y="0"/>
          <a:ext cx="0" cy="0"/>
          <a:chOff x="0" y="0"/>
          <a:chExt cx="0" cy="0"/>
        </a:xfrm>
      </p:grpSpPr>
      <p:sp>
        <p:nvSpPr>
          <p:cNvPr id="377" name="Google Shape;377;p47"/>
          <p:cNvSpPr txBox="1"/>
          <p:nvPr/>
        </p:nvSpPr>
        <p:spPr>
          <a:xfrm>
            <a:off x="535940"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35</a:t>
            </a:r>
            <a:endParaRPr sz="1200">
              <a:solidFill>
                <a:schemeClr val="dk1"/>
              </a:solidFill>
              <a:latin typeface="Times New Roman"/>
              <a:ea typeface="Times New Roman"/>
              <a:cs typeface="Times New Roman"/>
              <a:sym typeface="Times New Roman"/>
            </a:endParaRPr>
          </a:p>
        </p:txBody>
      </p:sp>
      <p:sp>
        <p:nvSpPr>
          <p:cNvPr id="378" name="Google Shape;378;p47"/>
          <p:cNvSpPr txBox="1"/>
          <p:nvPr>
            <p:ph type="title"/>
          </p:nvPr>
        </p:nvSpPr>
        <p:spPr>
          <a:xfrm>
            <a:off x="2041651" y="487502"/>
            <a:ext cx="506222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Addressing Modes</a:t>
            </a:r>
            <a:endParaRPr sz="4400">
              <a:latin typeface="Arial"/>
              <a:ea typeface="Arial"/>
              <a:cs typeface="Arial"/>
              <a:sym typeface="Arial"/>
            </a:endParaRPr>
          </a:p>
        </p:txBody>
      </p:sp>
      <p:sp>
        <p:nvSpPr>
          <p:cNvPr id="379" name="Google Shape;379;p47"/>
          <p:cNvSpPr txBox="1"/>
          <p:nvPr/>
        </p:nvSpPr>
        <p:spPr>
          <a:xfrm>
            <a:off x="535025" y="1527530"/>
            <a:ext cx="5038090" cy="4123054"/>
          </a:xfrm>
          <a:prstGeom prst="rect">
            <a:avLst/>
          </a:prstGeom>
          <a:noFill/>
          <a:ln>
            <a:noFill/>
          </a:ln>
        </p:spPr>
        <p:txBody>
          <a:bodyPr anchorCtr="0" anchor="t" bIns="0" lIns="0" spcFirstLastPara="1" rIns="0" wrap="square" tIns="110475">
            <a:spAutoFit/>
          </a:bodyPr>
          <a:lstStyle/>
          <a:p>
            <a:pPr indent="-342900"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Immediate</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Direct</a:t>
            </a:r>
            <a:endParaRPr sz="3200">
              <a:solidFill>
                <a:schemeClr val="dk1"/>
              </a:solidFill>
              <a:latin typeface="Arial"/>
              <a:ea typeface="Arial"/>
              <a:cs typeface="Arial"/>
              <a:sym typeface="Arial"/>
            </a:endParaRPr>
          </a:p>
          <a:p>
            <a:pPr indent="-342900" lvl="0" marL="355600" marR="0" rtl="0" algn="l">
              <a:lnSpc>
                <a:spcPct val="100000"/>
              </a:lnSpc>
              <a:spcBef>
                <a:spcPts val="765"/>
              </a:spcBef>
              <a:spcAft>
                <a:spcPts val="0"/>
              </a:spcAft>
              <a:buClr>
                <a:schemeClr val="dk1"/>
              </a:buClr>
              <a:buSzPts val="3200"/>
              <a:buFont typeface="Arial"/>
              <a:buChar char="•"/>
            </a:pPr>
            <a:r>
              <a:rPr lang="en-US" sz="3200">
                <a:solidFill>
                  <a:schemeClr val="dk1"/>
                </a:solidFill>
                <a:latin typeface="Arial"/>
                <a:ea typeface="Arial"/>
                <a:cs typeface="Arial"/>
                <a:sym typeface="Arial"/>
              </a:rPr>
              <a:t>Indirect</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Register</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Register Indirect</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rgbClr val="FF0000"/>
              </a:buClr>
              <a:buSzPts val="3200"/>
              <a:buFont typeface="Arial"/>
              <a:buChar char="•"/>
            </a:pPr>
            <a:r>
              <a:rPr lang="en-US" sz="3200">
                <a:solidFill>
                  <a:srgbClr val="FF0000"/>
                </a:solidFill>
                <a:latin typeface="Arial"/>
                <a:ea typeface="Arial"/>
                <a:cs typeface="Arial"/>
                <a:sym typeface="Arial"/>
              </a:rPr>
              <a:t>Displacement (Indexed)</a:t>
            </a:r>
            <a:endParaRPr sz="3200">
              <a:solidFill>
                <a:schemeClr val="dk1"/>
              </a:solidFill>
              <a:latin typeface="Arial"/>
              <a:ea typeface="Arial"/>
              <a:cs typeface="Arial"/>
              <a:sym typeface="Arial"/>
            </a:endParaRPr>
          </a:p>
          <a:p>
            <a:pPr indent="-342900" lvl="0" marL="355600" marR="0" rtl="0" algn="l">
              <a:lnSpc>
                <a:spcPct val="100000"/>
              </a:lnSpc>
              <a:spcBef>
                <a:spcPts val="770"/>
              </a:spcBef>
              <a:spcAft>
                <a:spcPts val="0"/>
              </a:spcAft>
              <a:buClr>
                <a:schemeClr val="dk1"/>
              </a:buClr>
              <a:buSzPts val="3200"/>
              <a:buFont typeface="Arial"/>
              <a:buChar char="•"/>
            </a:pPr>
            <a:r>
              <a:rPr lang="en-US" sz="3200">
                <a:solidFill>
                  <a:schemeClr val="dk1"/>
                </a:solidFill>
                <a:latin typeface="Arial"/>
                <a:ea typeface="Arial"/>
                <a:cs typeface="Arial"/>
                <a:sym typeface="Arial"/>
              </a:rPr>
              <a:t>Stack</a:t>
            </a:r>
            <a:endParaRPr sz="3200">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385" name="Google Shape;385;p48"/>
          <p:cNvPicPr preferRelativeResize="0"/>
          <p:nvPr>
            <p:ph idx="1" type="body"/>
          </p:nvPr>
        </p:nvPicPr>
        <p:blipFill rotWithShape="1">
          <a:blip r:embed="rId3">
            <a:alphaModFix/>
          </a:blip>
          <a:srcRect b="9336" l="18459" r="17526" t="67127"/>
          <a:stretch/>
        </p:blipFill>
        <p:spPr>
          <a:xfrm>
            <a:off x="685800" y="2590800"/>
            <a:ext cx="8001000" cy="304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9" name="Shape 389"/>
        <p:cNvGrpSpPr/>
        <p:nvPr/>
      </p:nvGrpSpPr>
      <p:grpSpPr>
        <a:xfrm>
          <a:off x="0" y="0"/>
          <a:ext cx="0" cy="0"/>
          <a:chOff x="0" y="0"/>
          <a:chExt cx="0" cy="0"/>
        </a:xfrm>
      </p:grpSpPr>
      <p:sp>
        <p:nvSpPr>
          <p:cNvPr id="390" name="Google Shape;390;p49"/>
          <p:cNvSpPr txBox="1"/>
          <p:nvPr/>
        </p:nvSpPr>
        <p:spPr>
          <a:xfrm>
            <a:off x="8430259"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36</a:t>
            </a:r>
            <a:endParaRPr sz="1200">
              <a:solidFill>
                <a:schemeClr val="dk1"/>
              </a:solidFill>
              <a:latin typeface="Times New Roman"/>
              <a:ea typeface="Times New Roman"/>
              <a:cs typeface="Times New Roman"/>
              <a:sym typeface="Times New Roman"/>
            </a:endParaRPr>
          </a:p>
        </p:txBody>
      </p:sp>
      <p:sp>
        <p:nvSpPr>
          <p:cNvPr id="391" name="Google Shape;391;p49"/>
          <p:cNvSpPr txBox="1"/>
          <p:nvPr>
            <p:ph type="title"/>
          </p:nvPr>
        </p:nvSpPr>
        <p:spPr>
          <a:xfrm>
            <a:off x="1450594" y="212801"/>
            <a:ext cx="61175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Immediate Addressing</a:t>
            </a:r>
            <a:endParaRPr sz="4400">
              <a:latin typeface="Arial"/>
              <a:ea typeface="Arial"/>
              <a:cs typeface="Arial"/>
              <a:sym typeface="Arial"/>
            </a:endParaRPr>
          </a:p>
        </p:txBody>
      </p:sp>
      <p:sp>
        <p:nvSpPr>
          <p:cNvPr id="392" name="Google Shape;392;p49"/>
          <p:cNvSpPr txBox="1"/>
          <p:nvPr/>
        </p:nvSpPr>
        <p:spPr>
          <a:xfrm>
            <a:off x="533400" y="1180475"/>
            <a:ext cx="5122500" cy="5737500"/>
          </a:xfrm>
          <a:prstGeom prst="rect">
            <a:avLst/>
          </a:prstGeom>
          <a:noFill/>
          <a:ln>
            <a:noFill/>
          </a:ln>
        </p:spPr>
        <p:txBody>
          <a:bodyPr anchorCtr="0" anchor="t" bIns="0" lIns="0" spcFirstLastPara="1" rIns="0" wrap="square" tIns="13325">
            <a:spAutoFit/>
          </a:bodyPr>
          <a:lstStyle/>
          <a:p>
            <a:pPr indent="-343535" lvl="0" marL="355600" marR="5080" rtl="0" algn="l">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 this mode </a:t>
            </a:r>
            <a:r>
              <a:rPr b="1" lang="en-US" sz="2000">
                <a:solidFill>
                  <a:schemeClr val="dk1"/>
                </a:solidFill>
                <a:latin typeface="Times New Roman"/>
                <a:ea typeface="Times New Roman"/>
                <a:cs typeface="Times New Roman"/>
                <a:sym typeface="Times New Roman"/>
              </a:rPr>
              <a:t>data is present in address field of  instruction .</a:t>
            </a:r>
            <a:endParaRPr b="1" sz="2000">
              <a:solidFill>
                <a:schemeClr val="dk1"/>
              </a:solidFill>
              <a:latin typeface="Times New Roman"/>
              <a:ea typeface="Times New Roman"/>
              <a:cs typeface="Times New Roman"/>
              <a:sym typeface="Times New Roman"/>
            </a:endParaRPr>
          </a:p>
          <a:p>
            <a:pPr indent="-343535" lvl="0" marL="355600" marR="0" rtl="0" algn="l">
              <a:lnSpc>
                <a:spcPct val="100000"/>
              </a:lnSpc>
              <a:spcBef>
                <a:spcPts val="48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Designed like one address instruction format</a:t>
            </a:r>
            <a:endParaRPr sz="2000">
              <a:solidFill>
                <a:schemeClr val="dk1"/>
              </a:solidFill>
              <a:latin typeface="Times New Roman"/>
              <a:ea typeface="Times New Roman"/>
              <a:cs typeface="Times New Roman"/>
              <a:sym typeface="Times New Roman"/>
            </a:endParaRPr>
          </a:p>
          <a:p>
            <a:pPr indent="-287019" lvl="1" marL="756285" marR="196850" rtl="0" algn="just">
              <a:lnSpc>
                <a:spcPct val="100000"/>
              </a:lnSpc>
              <a:spcBef>
                <a:spcPts val="414"/>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Note:Limitation in the immediate mode is that the  range of constants are restricted by size of address  field.</a:t>
            </a:r>
            <a:endParaRPr b="0" i="0" sz="2000" u="none" cap="none" strike="noStrike">
              <a:solidFill>
                <a:schemeClr val="dk1"/>
              </a:solidFill>
              <a:latin typeface="Times New Roman"/>
              <a:ea typeface="Times New Roman"/>
              <a:cs typeface="Times New Roman"/>
              <a:sym typeface="Times New Roman"/>
            </a:endParaRPr>
          </a:p>
          <a:p>
            <a:pPr indent="-343535" lvl="0" marL="355600" marR="0" rtl="0" algn="l">
              <a:lnSpc>
                <a:spcPct val="100000"/>
              </a:lnSpc>
              <a:spcBef>
                <a:spcPts val="625"/>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FEATURES</a:t>
            </a:r>
            <a:endParaRPr sz="2000">
              <a:solidFill>
                <a:schemeClr val="dk1"/>
              </a:solidFill>
              <a:latin typeface="Times New Roman"/>
              <a:ea typeface="Times New Roman"/>
              <a:cs typeface="Times New Roman"/>
              <a:sym typeface="Times New Roman"/>
            </a:endParaRPr>
          </a:p>
          <a:p>
            <a:pPr indent="-287019" lvl="1" marL="756285" marR="0" rtl="0" algn="l">
              <a:lnSpc>
                <a:spcPct val="100000"/>
              </a:lnSpc>
              <a:spcBef>
                <a:spcPts val="5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Operand is part of instruction</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Operand = address field</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No memory reference to fetch data-saving memory</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Fast</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l">
              <a:spcBef>
                <a:spcPts val="480"/>
              </a:spcBef>
              <a:spcAft>
                <a:spcPts val="0"/>
              </a:spcAft>
              <a:buClr>
                <a:srgbClr val="FF0000"/>
              </a:buClr>
              <a:buSzPts val="2000"/>
              <a:buFont typeface="Times New Roman"/>
              <a:buChar char="–"/>
            </a:pPr>
            <a:r>
              <a:rPr b="0" i="0" lang="en-US" sz="2000" u="none" cap="none" strike="noStrike">
                <a:solidFill>
                  <a:srgbClr val="FF0000"/>
                </a:solidFill>
                <a:latin typeface="Times New Roman"/>
                <a:ea typeface="Times New Roman"/>
                <a:cs typeface="Times New Roman"/>
                <a:sym typeface="Times New Roman"/>
              </a:rPr>
              <a:t>Limited range-size of the number is restricted to the size of the address field</a:t>
            </a:r>
            <a:endParaRPr b="0" i="0" sz="4400" u="none" cap="none" strike="noStrike">
              <a:solidFill>
                <a:schemeClr val="dk1"/>
              </a:solidFill>
              <a:latin typeface="Times New Roman"/>
              <a:ea typeface="Times New Roman"/>
              <a:cs typeface="Times New Roman"/>
              <a:sym typeface="Times New Roman"/>
            </a:endParaRPr>
          </a:p>
        </p:txBody>
      </p:sp>
      <p:pic>
        <p:nvPicPr>
          <p:cNvPr id="393" name="Google Shape;393;p49"/>
          <p:cNvPicPr preferRelativeResize="0"/>
          <p:nvPr/>
        </p:nvPicPr>
        <p:blipFill rotWithShape="1">
          <a:blip r:embed="rId3">
            <a:alphaModFix/>
          </a:blip>
          <a:srcRect b="0" l="0" r="0" t="0"/>
          <a:stretch/>
        </p:blipFill>
        <p:spPr>
          <a:xfrm>
            <a:off x="6019800" y="2349500"/>
            <a:ext cx="3000375" cy="30384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5188650" y="795147"/>
            <a:ext cx="2424300" cy="5040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3200"/>
              <a:buFont typeface="Calibri"/>
              <a:buNone/>
            </a:pPr>
            <a:r>
              <a:rPr b="0" lang="en-US" sz="3200">
                <a:latin typeface="Calibri"/>
                <a:ea typeface="Calibri"/>
                <a:cs typeface="Calibri"/>
                <a:sym typeface="Calibri"/>
              </a:rPr>
              <a:t>MOV AX, 2000</a:t>
            </a:r>
            <a:endParaRPr sz="3200">
              <a:latin typeface="Calibri"/>
              <a:ea typeface="Calibri"/>
              <a:cs typeface="Calibri"/>
              <a:sym typeface="Calibri"/>
            </a:endParaRPr>
          </a:p>
        </p:txBody>
      </p:sp>
      <p:sp>
        <p:nvSpPr>
          <p:cNvPr id="399" name="Google Shape;399;p50"/>
          <p:cNvSpPr txBox="1"/>
          <p:nvPr/>
        </p:nvSpPr>
        <p:spPr>
          <a:xfrm>
            <a:off x="201594" y="156153"/>
            <a:ext cx="4065600" cy="6545700"/>
          </a:xfrm>
          <a:prstGeom prst="rect">
            <a:avLst/>
          </a:prstGeom>
          <a:noFill/>
          <a:ln>
            <a:noFill/>
          </a:ln>
        </p:spPr>
        <p:txBody>
          <a:bodyPr anchorCtr="0" anchor="t" bIns="0" lIns="0" spcFirstLastPara="1" rIns="0" wrap="square" tIns="13325">
            <a:spAutoFit/>
          </a:bodyPr>
          <a:lstStyle/>
          <a:p>
            <a:pPr indent="0" lvl="0" marL="203200" marR="0" rtl="0" algn="l">
              <a:lnSpc>
                <a:spcPct val="100000"/>
              </a:lnSpc>
              <a:spcBef>
                <a:spcPts val="0"/>
              </a:spcBef>
              <a:spcAft>
                <a:spcPts val="0"/>
              </a:spcAft>
              <a:buNone/>
            </a:pPr>
            <a:r>
              <a:rPr lang="en-US" sz="3200">
                <a:solidFill>
                  <a:schemeClr val="dk1"/>
                </a:solidFill>
                <a:latin typeface="Calibri"/>
                <a:ea typeface="Calibri"/>
                <a:cs typeface="Calibri"/>
                <a:sym typeface="Calibri"/>
              </a:rPr>
              <a:t>MOV CL, 0A</a:t>
            </a:r>
            <a:endParaRPr sz="3200">
              <a:solidFill>
                <a:schemeClr val="dk1"/>
              </a:solidFill>
              <a:latin typeface="Calibri"/>
              <a:ea typeface="Calibri"/>
              <a:cs typeface="Calibri"/>
              <a:sym typeface="Calibri"/>
            </a:endParaRPr>
          </a:p>
          <a:p>
            <a:pPr indent="0" lvl="0" marL="203200" marR="0" rtl="0" algn="l">
              <a:lnSpc>
                <a:spcPct val="100000"/>
              </a:lnSpc>
              <a:spcBef>
                <a:spcPts val="2690"/>
              </a:spcBef>
              <a:spcAft>
                <a:spcPts val="0"/>
              </a:spcAft>
              <a:buNone/>
            </a:pPr>
            <a:r>
              <a:rPr lang="en-US" sz="3200">
                <a:solidFill>
                  <a:schemeClr val="dk1"/>
                </a:solidFill>
                <a:latin typeface="Calibri"/>
                <a:ea typeface="Calibri"/>
                <a:cs typeface="Calibri"/>
                <a:sym typeface="Calibri"/>
              </a:rPr>
              <a:t>ADD AL, 45</a:t>
            </a:r>
            <a:endParaRPr sz="3200">
              <a:solidFill>
                <a:schemeClr val="dk1"/>
              </a:solidFill>
              <a:latin typeface="Calibri"/>
              <a:ea typeface="Calibri"/>
              <a:cs typeface="Calibri"/>
              <a:sym typeface="Calibri"/>
            </a:endParaRPr>
          </a:p>
          <a:p>
            <a:pPr indent="190500" lvl="0" marL="12700" marR="5080" rtl="0" algn="l">
              <a:lnSpc>
                <a:spcPct val="204062"/>
              </a:lnSpc>
              <a:spcBef>
                <a:spcPts val="465"/>
              </a:spcBef>
              <a:spcAft>
                <a:spcPts val="0"/>
              </a:spcAft>
              <a:buNone/>
            </a:pPr>
            <a:r>
              <a:rPr lang="en-US" sz="3200">
                <a:solidFill>
                  <a:schemeClr val="dk1"/>
                </a:solidFill>
                <a:latin typeface="Calibri"/>
                <a:ea typeface="Calibri"/>
                <a:cs typeface="Calibri"/>
                <a:sym typeface="Calibri"/>
              </a:rPr>
              <a:t>ADD AX, 0000 </a:t>
            </a:r>
            <a:endParaRPr sz="3200">
              <a:solidFill>
                <a:schemeClr val="dk1"/>
              </a:solidFill>
              <a:latin typeface="Calibri"/>
              <a:ea typeface="Calibri"/>
              <a:cs typeface="Calibri"/>
              <a:sym typeface="Calibri"/>
            </a:endParaRPr>
          </a:p>
          <a:p>
            <a:pPr indent="190500" lvl="0" marL="12700" marR="5080" rtl="0" algn="l">
              <a:lnSpc>
                <a:spcPct val="204062"/>
              </a:lnSpc>
              <a:spcBef>
                <a:spcPts val="465"/>
              </a:spcBef>
              <a:spcAft>
                <a:spcPts val="0"/>
              </a:spcAft>
              <a:buNone/>
            </a:pPr>
            <a:r>
              <a:rPr lang="en-US" sz="3200">
                <a:solidFill>
                  <a:schemeClr val="dk1"/>
                </a:solidFill>
                <a:latin typeface="Calibri"/>
                <a:ea typeface="Calibri"/>
                <a:cs typeface="Calibri"/>
                <a:sym typeface="Calibri"/>
              </a:rPr>
              <a:t> MOV CX, 4929 H (source operand-16 bit-part of instruction)</a:t>
            </a:r>
            <a:endParaRPr/>
          </a:p>
          <a:p>
            <a:pPr indent="190500" lvl="0" marL="12700" marR="5080" rtl="0" algn="l">
              <a:lnSpc>
                <a:spcPct val="204062"/>
              </a:lnSpc>
              <a:spcBef>
                <a:spcPts val="465"/>
              </a:spcBef>
              <a:spcAft>
                <a:spcPts val="0"/>
              </a:spcAft>
              <a:buNone/>
            </a:pPr>
            <a:r>
              <a:rPr lang="en-US" sz="3200">
                <a:solidFill>
                  <a:schemeClr val="dk1"/>
                </a:solidFill>
                <a:latin typeface="Calibri"/>
                <a:ea typeface="Calibri"/>
                <a:cs typeface="Calibri"/>
                <a:sym typeface="Calibri"/>
              </a:rPr>
              <a:t>   ADD AX, 2387 H,</a:t>
            </a:r>
            <a:endParaRPr sz="3200">
              <a:solidFill>
                <a:schemeClr val="dk1"/>
              </a:solidFill>
              <a:latin typeface="Calibri"/>
              <a:ea typeface="Calibri"/>
              <a:cs typeface="Calibri"/>
              <a:sym typeface="Calibri"/>
            </a:endParaRPr>
          </a:p>
        </p:txBody>
      </p:sp>
      <p:sp>
        <p:nvSpPr>
          <p:cNvPr id="400" name="Google Shape;400;p50"/>
          <p:cNvSpPr txBox="1"/>
          <p:nvPr/>
        </p:nvSpPr>
        <p:spPr>
          <a:xfrm>
            <a:off x="4267200" y="5410200"/>
            <a:ext cx="4267200" cy="99770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3200">
                <a:solidFill>
                  <a:schemeClr val="dk1"/>
                </a:solidFill>
                <a:latin typeface="Calibri"/>
                <a:ea typeface="Calibri"/>
                <a:cs typeface="Calibri"/>
                <a:sym typeface="Calibri"/>
              </a:rPr>
              <a:t>MOV AL, FFH (15 bit data)</a:t>
            </a:r>
            <a:endParaRPr sz="3200">
              <a:solidFill>
                <a:schemeClr val="dk1"/>
              </a:solidFill>
              <a:latin typeface="Calibri"/>
              <a:ea typeface="Calibri"/>
              <a:cs typeface="Calibri"/>
              <a:sym typeface="Calibri"/>
            </a:endParaRPr>
          </a:p>
        </p:txBody>
      </p:sp>
      <p:sp>
        <p:nvSpPr>
          <p:cNvPr id="401" name="Google Shape;401;p50"/>
          <p:cNvSpPr txBox="1"/>
          <p:nvPr/>
        </p:nvSpPr>
        <p:spPr>
          <a:xfrm>
            <a:off x="8430259"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37</a:t>
            </a:r>
            <a:endParaRPr sz="1200">
              <a:solidFill>
                <a:schemeClr val="dk1"/>
              </a:solidFill>
              <a:latin typeface="Times New Roman"/>
              <a:ea typeface="Times New Roman"/>
              <a:cs typeface="Times New Roman"/>
              <a:sym typeface="Times New Roman"/>
            </a:endParaRPr>
          </a:p>
        </p:txBody>
      </p:sp>
      <p:pic>
        <p:nvPicPr>
          <p:cNvPr id="402" name="Google Shape;402;p50"/>
          <p:cNvPicPr preferRelativeResize="0"/>
          <p:nvPr/>
        </p:nvPicPr>
        <p:blipFill rotWithShape="1">
          <a:blip r:embed="rId3">
            <a:alphaModFix/>
          </a:blip>
          <a:srcRect b="0" l="0" r="0" t="0"/>
          <a:stretch/>
        </p:blipFill>
        <p:spPr>
          <a:xfrm>
            <a:off x="4787900" y="2708275"/>
            <a:ext cx="4248150" cy="225272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6" name="Shape 406"/>
        <p:cNvGrpSpPr/>
        <p:nvPr/>
      </p:nvGrpSpPr>
      <p:grpSpPr>
        <a:xfrm>
          <a:off x="0" y="0"/>
          <a:ext cx="0" cy="0"/>
          <a:chOff x="0" y="0"/>
          <a:chExt cx="0" cy="0"/>
        </a:xfrm>
      </p:grpSpPr>
      <p:sp>
        <p:nvSpPr>
          <p:cNvPr id="407" name="Google Shape;407;p51"/>
          <p:cNvSpPr txBox="1"/>
          <p:nvPr>
            <p:ph type="title"/>
          </p:nvPr>
        </p:nvSpPr>
        <p:spPr>
          <a:xfrm>
            <a:off x="1435608" y="274320"/>
            <a:ext cx="7498080" cy="1143000"/>
          </a:xfrm>
          <a:prstGeom prst="rect">
            <a:avLst/>
          </a:prstGeom>
          <a:noFill/>
          <a:ln>
            <a:noFill/>
          </a:ln>
        </p:spPr>
        <p:txBody>
          <a:bodyPr anchorCtr="0" anchor="ctr" bIns="0" lIns="0" spcFirstLastPara="1" rIns="0" wrap="square" tIns="13325">
            <a:spAutoFit/>
          </a:bodyPr>
          <a:lstStyle/>
          <a:p>
            <a:pPr indent="-1739264" lvl="0" marL="2353945" marR="508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Direct(M) Addressing  Diagram</a:t>
            </a:r>
            <a:endParaRPr sz="4400">
              <a:latin typeface="Arial"/>
              <a:ea typeface="Arial"/>
              <a:cs typeface="Arial"/>
              <a:sym typeface="Arial"/>
            </a:endParaRPr>
          </a:p>
        </p:txBody>
      </p:sp>
      <p:sp>
        <p:nvSpPr>
          <p:cNvPr id="408" name="Google Shape;408;p51"/>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09" name="Google Shape;409;p51"/>
          <p:cNvPicPr preferRelativeResize="0"/>
          <p:nvPr/>
        </p:nvPicPr>
        <p:blipFill rotWithShape="1">
          <a:blip r:embed="rId3">
            <a:alphaModFix/>
          </a:blip>
          <a:srcRect b="0" l="0" r="0" t="0"/>
          <a:stretch/>
        </p:blipFill>
        <p:spPr>
          <a:xfrm>
            <a:off x="2051050" y="1700276"/>
            <a:ext cx="4808601" cy="48243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3" name="Shape 413"/>
        <p:cNvGrpSpPr/>
        <p:nvPr/>
      </p:nvGrpSpPr>
      <p:grpSpPr>
        <a:xfrm>
          <a:off x="0" y="0"/>
          <a:ext cx="0" cy="0"/>
          <a:chOff x="0" y="0"/>
          <a:chExt cx="0" cy="0"/>
        </a:xfrm>
      </p:grpSpPr>
      <p:sp>
        <p:nvSpPr>
          <p:cNvPr id="414" name="Google Shape;414;p52"/>
          <p:cNvSpPr txBox="1"/>
          <p:nvPr>
            <p:ph type="title"/>
          </p:nvPr>
        </p:nvSpPr>
        <p:spPr>
          <a:xfrm>
            <a:off x="2106548" y="487502"/>
            <a:ext cx="493077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Direct Addressing</a:t>
            </a:r>
            <a:endParaRPr sz="4400">
              <a:latin typeface="Arial"/>
              <a:ea typeface="Arial"/>
              <a:cs typeface="Arial"/>
              <a:sym typeface="Arial"/>
            </a:endParaRPr>
          </a:p>
        </p:txBody>
      </p:sp>
      <p:sp>
        <p:nvSpPr>
          <p:cNvPr id="415" name="Google Shape;415;p52"/>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16" name="Google Shape;416;p52"/>
          <p:cNvSpPr txBox="1"/>
          <p:nvPr/>
        </p:nvSpPr>
        <p:spPr>
          <a:xfrm>
            <a:off x="535940" y="1740230"/>
            <a:ext cx="7279640" cy="4524315"/>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Address field contains address of operand</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2014"/>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EFFECTIVE ADDRESS EA = address field (A)</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Gill Sans"/>
              <a:buNone/>
            </a:pPr>
            <a:r>
              <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300"/>
              <a:buFont typeface="Gill Sans"/>
              <a:buNone/>
            </a:pPr>
            <a:r>
              <a:t/>
            </a:r>
            <a:endParaRPr sz="2300">
              <a:solidFill>
                <a:schemeClr val="dk1"/>
              </a:solidFill>
              <a:latin typeface="Times New Roman"/>
              <a:ea typeface="Times New Roman"/>
              <a:cs typeface="Times New Roman"/>
              <a:sym typeface="Times New Roman"/>
            </a:endParaRPr>
          </a:p>
          <a:p>
            <a:pPr indent="0" lvl="0" marL="4699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Look in memory at address value for operand</a:t>
            </a:r>
            <a:endParaRPr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914"/>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Single memory reference to access data</a:t>
            </a:r>
            <a:endParaRPr sz="2400">
              <a:solidFill>
                <a:schemeClr val="dk1"/>
              </a:solidFill>
              <a:latin typeface="Times New Roman"/>
              <a:ea typeface="Times New Roman"/>
              <a:cs typeface="Times New Roman"/>
              <a:sym typeface="Times New Roman"/>
            </a:endParaRPr>
          </a:p>
          <a:p>
            <a:pPr indent="-343535" lvl="0" marL="355600" marR="5080" rtl="0" algn="just">
              <a:lnSpc>
                <a:spcPct val="150000"/>
              </a:lnSpc>
              <a:spcBef>
                <a:spcPts val="580"/>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No additional calculations to work out effective  address</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2014"/>
              </a:spcBef>
              <a:spcAft>
                <a:spcPts val="0"/>
              </a:spcAft>
              <a:buClr>
                <a:srgbClr val="FF0000"/>
              </a:buClr>
              <a:buSzPts val="2400"/>
              <a:buFont typeface="Times New Roman"/>
              <a:buChar char="•"/>
            </a:pPr>
            <a:r>
              <a:rPr lang="en-US" sz="2400">
                <a:solidFill>
                  <a:srgbClr val="FF0000"/>
                </a:solidFill>
                <a:latin typeface="Times New Roman"/>
                <a:ea typeface="Times New Roman"/>
                <a:cs typeface="Times New Roman"/>
                <a:sym typeface="Times New Roman"/>
              </a:rPr>
              <a:t>Limited address space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0" name="Shape 420"/>
        <p:cNvGrpSpPr/>
        <p:nvPr/>
      </p:nvGrpSpPr>
      <p:grpSpPr>
        <a:xfrm>
          <a:off x="0" y="0"/>
          <a:ext cx="0" cy="0"/>
          <a:chOff x="0" y="0"/>
          <a:chExt cx="0" cy="0"/>
        </a:xfrm>
      </p:grpSpPr>
      <p:sp>
        <p:nvSpPr>
          <p:cNvPr id="421" name="Google Shape;421;p53"/>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22" name="Google Shape;422;p53"/>
          <p:cNvSpPr txBox="1"/>
          <p:nvPr/>
        </p:nvSpPr>
        <p:spPr>
          <a:xfrm>
            <a:off x="634875" y="1295400"/>
            <a:ext cx="8204400" cy="4582500"/>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Address of the memory location is given directly</a:t>
            </a:r>
            <a:endParaRPr/>
          </a:p>
          <a:p>
            <a:pPr indent="-343535" lvl="0" marL="355600" marR="0" rtl="0" algn="just">
              <a:lnSpc>
                <a:spcPct val="100000"/>
              </a:lnSpc>
              <a:spcBef>
                <a:spcPts val="1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operand’s offset is given in the instruction as an 8 bit or 16 bit displacement element.</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40"/>
              </a:spcBef>
              <a:spcAft>
                <a:spcPts val="0"/>
              </a:spcAft>
              <a:buNone/>
            </a:pPr>
            <a:r>
              <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 this addressing mode the 16 bit effective address of the</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15"/>
              </a:spcBef>
              <a:spcAft>
                <a:spcPts val="0"/>
              </a:spcAft>
              <a:buClr>
                <a:schemeClr val="dk1"/>
              </a:buClr>
              <a:buSzPts val="2350"/>
              <a:buFont typeface="Arial"/>
              <a:buNone/>
            </a:pPr>
            <a:r>
              <a:t/>
            </a:r>
            <a:endParaRPr sz="2350">
              <a:solidFill>
                <a:schemeClr val="dk1"/>
              </a:solidFill>
              <a:latin typeface="Times New Roman"/>
              <a:ea typeface="Times New Roman"/>
              <a:cs typeface="Times New Roman"/>
              <a:sym typeface="Times New Roman"/>
            </a:endParaRPr>
          </a:p>
          <a:p>
            <a:pPr indent="0" lvl="0" marL="355600" marR="0" rtl="0" algn="just">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data is the part of the instruction.</a:t>
            </a:r>
            <a:endParaRPr sz="2400">
              <a:solidFill>
                <a:schemeClr val="dk1"/>
              </a:solidFill>
              <a:latin typeface="Times New Roman"/>
              <a:ea typeface="Times New Roman"/>
              <a:cs typeface="Times New Roman"/>
              <a:sym typeface="Times New Roman"/>
            </a:endParaRPr>
          </a:p>
          <a:p>
            <a:pPr indent="-343535" lvl="0" marL="355600" marR="368935" rtl="0" algn="just">
              <a:lnSpc>
                <a:spcPct val="200100"/>
              </a:lnSpc>
              <a:spcBef>
                <a:spcPts val="575"/>
              </a:spcBef>
              <a:spcAft>
                <a:spcPts val="0"/>
              </a:spcAft>
              <a:buClr>
                <a:schemeClr val="dk1"/>
              </a:buClr>
              <a:buSzPts val="2400"/>
              <a:buFont typeface="Arial"/>
              <a:buChar char="•"/>
            </a:pPr>
            <a:r>
              <a:rPr i="1" lang="en-US" sz="2400">
                <a:solidFill>
                  <a:schemeClr val="dk1"/>
                </a:solidFill>
                <a:latin typeface="Times New Roman"/>
                <a:ea typeface="Times New Roman"/>
                <a:cs typeface="Times New Roman"/>
                <a:sym typeface="Times New Roman"/>
              </a:rPr>
              <a:t>Here only one memory reference operation is required to  access the data.</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6" name="Shape 426"/>
        <p:cNvGrpSpPr/>
        <p:nvPr/>
      </p:nvGrpSpPr>
      <p:grpSpPr>
        <a:xfrm>
          <a:off x="0" y="0"/>
          <a:ext cx="0" cy="0"/>
          <a:chOff x="0" y="0"/>
          <a:chExt cx="0" cy="0"/>
        </a:xfrm>
      </p:grpSpPr>
      <p:sp>
        <p:nvSpPr>
          <p:cNvPr id="427" name="Google Shape;427;p54"/>
          <p:cNvSpPr txBox="1"/>
          <p:nvPr/>
        </p:nvSpPr>
        <p:spPr>
          <a:xfrm>
            <a:off x="1582085" y="707874"/>
            <a:ext cx="2764200" cy="4284900"/>
          </a:xfrm>
          <a:prstGeom prst="rect">
            <a:avLst/>
          </a:prstGeom>
          <a:noFill/>
          <a:ln>
            <a:noFill/>
          </a:ln>
        </p:spPr>
        <p:txBody>
          <a:bodyPr anchorCtr="0" anchor="t" bIns="0" lIns="0" spcFirstLastPara="1" rIns="0" wrap="square" tIns="13325">
            <a:spAutoFit/>
          </a:bodyPr>
          <a:lstStyle/>
          <a:p>
            <a:pPr indent="-216535" lvl="0" marL="320040" marR="5080" rtl="0" algn="l">
              <a:lnSpc>
                <a:spcPct val="288750"/>
              </a:lnSpc>
              <a:spcBef>
                <a:spcPts val="0"/>
              </a:spcBef>
              <a:spcAft>
                <a:spcPts val="0"/>
              </a:spcAft>
              <a:buNone/>
            </a:pPr>
            <a:r>
              <a:rPr lang="en-US" sz="3200">
                <a:solidFill>
                  <a:schemeClr val="dk1"/>
                </a:solidFill>
                <a:latin typeface="Calibri"/>
                <a:ea typeface="Calibri"/>
                <a:cs typeface="Calibri"/>
                <a:sym typeface="Calibri"/>
              </a:rPr>
              <a:t>MOV AX, [0500]  ADD AL,[0301]</a:t>
            </a:r>
            <a:endParaRPr sz="3200">
              <a:solidFill>
                <a:schemeClr val="dk1"/>
              </a:solidFill>
              <a:latin typeface="Calibri"/>
              <a:ea typeface="Calibri"/>
              <a:cs typeface="Calibri"/>
              <a:sym typeface="Calibri"/>
            </a:endParaRPr>
          </a:p>
        </p:txBody>
      </p:sp>
      <p:pic>
        <p:nvPicPr>
          <p:cNvPr id="428" name="Google Shape;428;p54"/>
          <p:cNvPicPr preferRelativeResize="0"/>
          <p:nvPr/>
        </p:nvPicPr>
        <p:blipFill rotWithShape="1">
          <a:blip r:embed="rId3">
            <a:alphaModFix/>
          </a:blip>
          <a:srcRect b="0" l="0" r="0" t="0"/>
          <a:stretch/>
        </p:blipFill>
        <p:spPr>
          <a:xfrm>
            <a:off x="7938" y="4652962"/>
            <a:ext cx="8464550" cy="1223962"/>
          </a:xfrm>
          <a:prstGeom prst="rect">
            <a:avLst/>
          </a:prstGeom>
          <a:noFill/>
          <a:ln>
            <a:noFill/>
          </a:ln>
        </p:spPr>
      </p:pic>
      <p:sp>
        <p:nvSpPr>
          <p:cNvPr id="429" name="Google Shape;429;p5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3" name="Shape 433"/>
        <p:cNvGrpSpPr/>
        <p:nvPr/>
      </p:nvGrpSpPr>
      <p:grpSpPr>
        <a:xfrm>
          <a:off x="0" y="0"/>
          <a:ext cx="0" cy="0"/>
          <a:chOff x="0" y="0"/>
          <a:chExt cx="0" cy="0"/>
        </a:xfrm>
      </p:grpSpPr>
      <p:sp>
        <p:nvSpPr>
          <p:cNvPr id="434" name="Google Shape;434;p55"/>
          <p:cNvSpPr txBox="1"/>
          <p:nvPr>
            <p:ph type="title"/>
          </p:nvPr>
        </p:nvSpPr>
        <p:spPr>
          <a:xfrm>
            <a:off x="666699" y="487502"/>
            <a:ext cx="78117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Diagram</a:t>
            </a:r>
            <a:endParaRPr sz="4400">
              <a:latin typeface="Arial"/>
              <a:ea typeface="Arial"/>
              <a:cs typeface="Arial"/>
              <a:sym typeface="Arial"/>
            </a:endParaRPr>
          </a:p>
        </p:txBody>
      </p:sp>
      <p:sp>
        <p:nvSpPr>
          <p:cNvPr id="435" name="Google Shape;435;p5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36" name="Google Shape;436;p55"/>
          <p:cNvPicPr preferRelativeResize="0"/>
          <p:nvPr/>
        </p:nvPicPr>
        <p:blipFill rotWithShape="1">
          <a:blip r:embed="rId3">
            <a:alphaModFix/>
          </a:blip>
          <a:srcRect b="0" l="0" r="0" t="0"/>
          <a:stretch/>
        </p:blipFill>
        <p:spPr>
          <a:xfrm>
            <a:off x="1763776" y="1628838"/>
            <a:ext cx="4808474" cy="48243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0" name="Shape 440"/>
        <p:cNvGrpSpPr/>
        <p:nvPr/>
      </p:nvGrpSpPr>
      <p:grpSpPr>
        <a:xfrm>
          <a:off x="0" y="0"/>
          <a:ext cx="0" cy="0"/>
          <a:chOff x="0" y="0"/>
          <a:chExt cx="0" cy="0"/>
        </a:xfrm>
      </p:grpSpPr>
      <p:sp>
        <p:nvSpPr>
          <p:cNvPr id="441" name="Google Shape;441;p56"/>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42" name="Google Shape;442;p56"/>
          <p:cNvSpPr txBox="1"/>
          <p:nvPr/>
        </p:nvSpPr>
        <p:spPr>
          <a:xfrm>
            <a:off x="535940" y="1877390"/>
            <a:ext cx="8071484" cy="39179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mode address field of instruction contains the address</a:t>
            </a:r>
            <a:endParaRPr sz="2400">
              <a:solidFill>
                <a:schemeClr val="dk1"/>
              </a:solidFill>
              <a:latin typeface="Calibri"/>
              <a:ea typeface="Calibri"/>
              <a:cs typeface="Calibri"/>
              <a:sym typeface="Calibri"/>
            </a:endParaRPr>
          </a:p>
        </p:txBody>
      </p:sp>
      <p:sp>
        <p:nvSpPr>
          <p:cNvPr id="443" name="Google Shape;443;p56"/>
          <p:cNvSpPr txBox="1"/>
          <p:nvPr/>
        </p:nvSpPr>
        <p:spPr>
          <a:xfrm>
            <a:off x="535940" y="2609215"/>
            <a:ext cx="2861945" cy="1927860"/>
          </a:xfrm>
          <a:prstGeom prst="rect">
            <a:avLst/>
          </a:prstGeom>
          <a:noFill/>
          <a:ln>
            <a:noFill/>
          </a:ln>
        </p:spPr>
        <p:txBody>
          <a:bodyPr anchorCtr="0" anchor="t" bIns="0" lIns="0" spcFirstLastPara="1" rIns="0" wrap="square" tIns="12700">
            <a:spAutoFit/>
          </a:bodyPr>
          <a:lstStyle/>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of effective address.</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Here	two</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1st	reference</a:t>
            </a:r>
            <a:endParaRPr sz="2400">
              <a:solidFill>
                <a:schemeClr val="dk1"/>
              </a:solidFill>
              <a:latin typeface="Calibri"/>
              <a:ea typeface="Calibri"/>
              <a:cs typeface="Calibri"/>
              <a:sym typeface="Calibri"/>
            </a:endParaRPr>
          </a:p>
        </p:txBody>
      </p:sp>
      <p:sp>
        <p:nvSpPr>
          <p:cNvPr id="444" name="Google Shape;444;p56"/>
          <p:cNvSpPr txBox="1"/>
          <p:nvPr/>
        </p:nvSpPr>
        <p:spPr>
          <a:xfrm>
            <a:off x="3793363" y="3413836"/>
            <a:ext cx="1384300" cy="1123315"/>
          </a:xfrm>
          <a:prstGeom prst="rect">
            <a:avLst/>
          </a:prstGeom>
          <a:noFill/>
          <a:ln>
            <a:noFill/>
          </a:ln>
        </p:spPr>
        <p:txBody>
          <a:bodyPr anchorCtr="0" anchor="t" bIns="0" lIns="0" spcFirstLastPara="1" rIns="0" wrap="square" tIns="12700">
            <a:spAutoFit/>
          </a:bodyPr>
          <a:lstStyle/>
          <a:p>
            <a:pPr indent="0" lvl="0" marL="65405" marR="0" rtl="0" algn="l">
              <a:lnSpc>
                <a:spcPct val="100000"/>
              </a:lnSpc>
              <a:spcBef>
                <a:spcPts val="0"/>
              </a:spcBef>
              <a:spcAft>
                <a:spcPts val="0"/>
              </a:spcAft>
              <a:buNone/>
            </a:pPr>
            <a:r>
              <a:rPr lang="en-US" sz="2400">
                <a:solidFill>
                  <a:schemeClr val="dk1"/>
                </a:solidFill>
                <a:latin typeface="Calibri"/>
                <a:ea typeface="Calibri"/>
                <a:cs typeface="Calibri"/>
                <a:sym typeface="Calibri"/>
              </a:rPr>
              <a:t>references</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to	get</a:t>
            </a:r>
            <a:endParaRPr sz="2400">
              <a:solidFill>
                <a:schemeClr val="dk1"/>
              </a:solidFill>
              <a:latin typeface="Calibri"/>
              <a:ea typeface="Calibri"/>
              <a:cs typeface="Calibri"/>
              <a:sym typeface="Calibri"/>
            </a:endParaRPr>
          </a:p>
        </p:txBody>
      </p:sp>
      <p:sp>
        <p:nvSpPr>
          <p:cNvPr id="445" name="Google Shape;445;p56"/>
          <p:cNvSpPr txBox="1"/>
          <p:nvPr/>
        </p:nvSpPr>
        <p:spPr>
          <a:xfrm>
            <a:off x="6099809" y="3413836"/>
            <a:ext cx="42545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are</a:t>
            </a:r>
            <a:endParaRPr sz="2400">
              <a:solidFill>
                <a:schemeClr val="dk1"/>
              </a:solidFill>
              <a:latin typeface="Calibri"/>
              <a:ea typeface="Calibri"/>
              <a:cs typeface="Calibri"/>
              <a:sym typeface="Calibri"/>
            </a:endParaRPr>
          </a:p>
        </p:txBody>
      </p:sp>
      <p:sp>
        <p:nvSpPr>
          <p:cNvPr id="446" name="Google Shape;446;p56"/>
          <p:cNvSpPr txBox="1"/>
          <p:nvPr/>
        </p:nvSpPr>
        <p:spPr>
          <a:xfrm>
            <a:off x="7447280" y="3413836"/>
            <a:ext cx="116205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required.</a:t>
            </a:r>
            <a:endParaRPr sz="2400">
              <a:solidFill>
                <a:schemeClr val="dk1"/>
              </a:solidFill>
              <a:latin typeface="Calibri"/>
              <a:ea typeface="Calibri"/>
              <a:cs typeface="Calibri"/>
              <a:sym typeface="Calibri"/>
            </a:endParaRPr>
          </a:p>
        </p:txBody>
      </p:sp>
      <p:sp>
        <p:nvSpPr>
          <p:cNvPr id="447" name="Google Shape;447;p56"/>
          <p:cNvSpPr txBox="1"/>
          <p:nvPr/>
        </p:nvSpPr>
        <p:spPr>
          <a:xfrm>
            <a:off x="5801105" y="4145660"/>
            <a:ext cx="108966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effective</a:t>
            </a:r>
            <a:endParaRPr sz="2400">
              <a:solidFill>
                <a:schemeClr val="dk1"/>
              </a:solidFill>
              <a:latin typeface="Calibri"/>
              <a:ea typeface="Calibri"/>
              <a:cs typeface="Calibri"/>
              <a:sym typeface="Calibri"/>
            </a:endParaRPr>
          </a:p>
        </p:txBody>
      </p:sp>
      <p:sp>
        <p:nvSpPr>
          <p:cNvPr id="448" name="Google Shape;448;p56"/>
          <p:cNvSpPr txBox="1"/>
          <p:nvPr/>
        </p:nvSpPr>
        <p:spPr>
          <a:xfrm>
            <a:off x="7544816" y="4145660"/>
            <a:ext cx="10629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address.</a:t>
            </a:r>
            <a:endParaRPr sz="2400">
              <a:solidFill>
                <a:schemeClr val="dk1"/>
              </a:solidFill>
              <a:latin typeface="Calibri"/>
              <a:ea typeface="Calibri"/>
              <a:cs typeface="Calibri"/>
              <a:sym typeface="Calibri"/>
            </a:endParaRPr>
          </a:p>
        </p:txBody>
      </p:sp>
      <p:sp>
        <p:nvSpPr>
          <p:cNvPr id="449" name="Google Shape;449;p56"/>
          <p:cNvSpPr txBox="1"/>
          <p:nvPr/>
        </p:nvSpPr>
        <p:spPr>
          <a:xfrm>
            <a:off x="535940" y="4877561"/>
            <a:ext cx="4465320" cy="1196340"/>
          </a:xfrm>
          <a:prstGeom prst="rect">
            <a:avLst/>
          </a:prstGeom>
          <a:noFill/>
          <a:ln>
            <a:noFill/>
          </a:ln>
        </p:spPr>
        <p:txBody>
          <a:bodyPr anchorCtr="0" anchor="t" bIns="0" lIns="0" spcFirstLastPara="1" rIns="0" wrap="square" tIns="12700">
            <a:spAutoFit/>
          </a:bodyPr>
          <a:lstStyle/>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2nd reference to access the data.</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i="1"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3" name="Shape 453"/>
        <p:cNvGrpSpPr/>
        <p:nvPr/>
      </p:nvGrpSpPr>
      <p:grpSpPr>
        <a:xfrm>
          <a:off x="0" y="0"/>
          <a:ext cx="0" cy="0"/>
          <a:chOff x="0" y="0"/>
          <a:chExt cx="0" cy="0"/>
        </a:xfrm>
      </p:grpSpPr>
      <p:sp>
        <p:nvSpPr>
          <p:cNvPr id="454" name="Google Shape;454;p57"/>
          <p:cNvSpPr txBox="1"/>
          <p:nvPr>
            <p:ph type="title"/>
          </p:nvPr>
        </p:nvSpPr>
        <p:spPr>
          <a:xfrm>
            <a:off x="1203452" y="487502"/>
            <a:ext cx="673798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(1/2)</a:t>
            </a:r>
            <a:endParaRPr sz="4400">
              <a:latin typeface="Arial"/>
              <a:ea typeface="Arial"/>
              <a:cs typeface="Arial"/>
              <a:sym typeface="Arial"/>
            </a:endParaRPr>
          </a:p>
        </p:txBody>
      </p:sp>
      <p:sp>
        <p:nvSpPr>
          <p:cNvPr id="455" name="Google Shape;455;p57"/>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56" name="Google Shape;456;p57"/>
          <p:cNvSpPr txBox="1"/>
          <p:nvPr/>
        </p:nvSpPr>
        <p:spPr>
          <a:xfrm>
            <a:off x="535025" y="1876425"/>
            <a:ext cx="7895590" cy="389318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Memory cell pointed to by address field contains the address</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350"/>
              <a:buFont typeface="Gill Sans"/>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of (pointer to) the operand</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 =(A)</a:t>
            </a:r>
            <a:endParaRPr sz="24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450"/>
              <a:buFont typeface="Gill Sans"/>
              <a:buNone/>
            </a:pPr>
            <a:r>
              <a:t/>
            </a:r>
            <a:endParaRPr sz="2450">
              <a:solidFill>
                <a:schemeClr val="dk1"/>
              </a:solidFill>
              <a:latin typeface="Calibri"/>
              <a:ea typeface="Calibri"/>
              <a:cs typeface="Calibri"/>
              <a:sym typeface="Calibri"/>
            </a:endParaRPr>
          </a:p>
          <a:p>
            <a:pPr indent="-287019" lvl="1" marL="756285"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Look in A, find address (A) and look there for operand</a:t>
            </a:r>
            <a:endParaRPr b="0" i="0" sz="2000" u="none" cap="none" strike="noStrike">
              <a:solidFill>
                <a:schemeClr val="dk1"/>
              </a:solidFill>
              <a:latin typeface="Calibri"/>
              <a:ea typeface="Calibri"/>
              <a:cs typeface="Calibri"/>
              <a:sym typeface="Calibri"/>
            </a:endParaRPr>
          </a:p>
          <a:p>
            <a:pPr indent="0" lvl="1" marL="457200" marR="0" rtl="0" algn="l">
              <a:lnSpc>
                <a:spcPct val="100000"/>
              </a:lnSpc>
              <a:spcBef>
                <a:spcPts val="50"/>
              </a:spcBef>
              <a:spcAft>
                <a:spcPts val="0"/>
              </a:spcAft>
              <a:buClr>
                <a:schemeClr val="dk1"/>
              </a:buClr>
              <a:buSzPts val="2150"/>
              <a:buFont typeface="Arial"/>
              <a:buNone/>
            </a:pPr>
            <a:r>
              <a:t/>
            </a:r>
            <a:endParaRPr b="0" i="0" sz="21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e.g. ADD AX, (A)</a:t>
            </a:r>
            <a:endParaRPr sz="18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Clr>
                <a:schemeClr val="dk1"/>
              </a:buClr>
              <a:buSzPts val="2250"/>
              <a:buFont typeface="Gill Sans"/>
              <a:buNone/>
            </a:pPr>
            <a:r>
              <a:t/>
            </a:r>
            <a:endParaRPr sz="2250">
              <a:solidFill>
                <a:schemeClr val="dk1"/>
              </a:solidFill>
              <a:latin typeface="Calibri"/>
              <a:ea typeface="Calibri"/>
              <a:cs typeface="Calibri"/>
              <a:sym typeface="Calibri"/>
            </a:endParaRPr>
          </a:p>
          <a:p>
            <a:pPr indent="-287019" lvl="1" marL="756285" marR="0" rtl="0" algn="l">
              <a:lnSpc>
                <a:spcPct val="100000"/>
              </a:lnSpc>
              <a:spcBef>
                <a:spcPts val="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Add contents of cell pointed to by contents of A to accumulator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0" name="Shape 460"/>
        <p:cNvGrpSpPr/>
        <p:nvPr/>
      </p:nvGrpSpPr>
      <p:grpSpPr>
        <a:xfrm>
          <a:off x="0" y="0"/>
          <a:ext cx="0" cy="0"/>
          <a:chOff x="0" y="0"/>
          <a:chExt cx="0" cy="0"/>
        </a:xfrm>
      </p:grpSpPr>
      <p:sp>
        <p:nvSpPr>
          <p:cNvPr id="461" name="Google Shape;461;p58"/>
          <p:cNvSpPr txBox="1"/>
          <p:nvPr>
            <p:ph type="title"/>
          </p:nvPr>
        </p:nvSpPr>
        <p:spPr>
          <a:xfrm>
            <a:off x="1203452" y="487502"/>
            <a:ext cx="673798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Indirect Addressing (2/2)</a:t>
            </a:r>
            <a:endParaRPr sz="4400">
              <a:latin typeface="Arial"/>
              <a:ea typeface="Arial"/>
              <a:cs typeface="Arial"/>
              <a:sym typeface="Arial"/>
            </a:endParaRPr>
          </a:p>
        </p:txBody>
      </p:sp>
      <p:sp>
        <p:nvSpPr>
          <p:cNvPr id="462" name="Google Shape;462;p58"/>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63" name="Google Shape;463;p58"/>
          <p:cNvSpPr txBox="1"/>
          <p:nvPr/>
        </p:nvSpPr>
        <p:spPr>
          <a:xfrm>
            <a:off x="471525" y="1739010"/>
            <a:ext cx="5735320" cy="3863975"/>
          </a:xfrm>
          <a:prstGeom prst="rect">
            <a:avLst/>
          </a:prstGeom>
          <a:noFill/>
          <a:ln>
            <a:noFill/>
          </a:ln>
        </p:spPr>
        <p:txBody>
          <a:bodyPr anchorCtr="0" anchor="t" bIns="0" lIns="0" spcFirstLastPara="1" rIns="0" wrap="square" tIns="12700">
            <a:spAutoFit/>
          </a:bodyPr>
          <a:lstStyle/>
          <a:p>
            <a:pPr indent="-342900" lvl="0" marL="4191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Large address space</a:t>
            </a:r>
            <a:endParaRPr sz="2400">
              <a:solidFill>
                <a:schemeClr val="dk1"/>
              </a:solidFill>
              <a:latin typeface="Calibri"/>
              <a:ea typeface="Calibri"/>
              <a:cs typeface="Calibri"/>
              <a:sym typeface="Calibri"/>
            </a:endParaRPr>
          </a:p>
          <a:p>
            <a:pPr indent="-342900" lvl="0" marL="4191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2</a:t>
            </a:r>
            <a:r>
              <a:rPr baseline="30000" lang="en-US" sz="2400">
                <a:solidFill>
                  <a:schemeClr val="dk1"/>
                </a:solidFill>
                <a:latin typeface="Calibri"/>
                <a:ea typeface="Calibri"/>
                <a:cs typeface="Calibri"/>
                <a:sym typeface="Calibri"/>
              </a:rPr>
              <a:t>n </a:t>
            </a:r>
            <a:r>
              <a:rPr lang="en-US" sz="2400">
                <a:solidFill>
                  <a:schemeClr val="dk1"/>
                </a:solidFill>
                <a:latin typeface="Calibri"/>
                <a:ea typeface="Calibri"/>
                <a:cs typeface="Calibri"/>
                <a:sym typeface="Calibri"/>
              </a:rPr>
              <a:t>where n = word length</a:t>
            </a:r>
            <a:endParaRPr sz="2400">
              <a:solidFill>
                <a:schemeClr val="dk1"/>
              </a:solidFill>
              <a:latin typeface="Calibri"/>
              <a:ea typeface="Calibri"/>
              <a:cs typeface="Calibri"/>
              <a:sym typeface="Calibri"/>
            </a:endParaRPr>
          </a:p>
          <a:p>
            <a:pPr indent="-342900" lvl="0" marL="4191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May be nested, multilevel, cascaded</a:t>
            </a:r>
            <a:endParaRPr sz="2400">
              <a:solidFill>
                <a:schemeClr val="dk1"/>
              </a:solidFill>
              <a:latin typeface="Calibri"/>
              <a:ea typeface="Calibri"/>
              <a:cs typeface="Calibri"/>
              <a:sym typeface="Calibri"/>
            </a:endParaRPr>
          </a:p>
          <a:p>
            <a:pPr indent="0" lvl="0" marL="533400" marR="0" rtl="0" algn="l">
              <a:lnSpc>
                <a:spcPct val="100000"/>
              </a:lnSpc>
              <a:spcBef>
                <a:spcPts val="1780"/>
              </a:spcBef>
              <a:spcAft>
                <a:spcPts val="0"/>
              </a:spcAft>
              <a:buNone/>
            </a:pPr>
            <a:r>
              <a:rPr lang="en-US" sz="2000">
                <a:solidFill>
                  <a:schemeClr val="dk1"/>
                </a:solidFill>
                <a:latin typeface="Arial"/>
                <a:ea typeface="Arial"/>
                <a:cs typeface="Arial"/>
                <a:sym typeface="Arial"/>
              </a:rPr>
              <a:t>–	</a:t>
            </a:r>
            <a:r>
              <a:rPr lang="en-US" sz="2000">
                <a:solidFill>
                  <a:schemeClr val="dk1"/>
                </a:solidFill>
                <a:latin typeface="Calibri"/>
                <a:ea typeface="Calibri"/>
                <a:cs typeface="Calibri"/>
                <a:sym typeface="Calibri"/>
              </a:rPr>
              <a:t>e.g. EA = (((A)))</a:t>
            </a:r>
            <a:endParaRPr sz="2000">
              <a:solidFill>
                <a:schemeClr val="dk1"/>
              </a:solidFill>
              <a:latin typeface="Calibri"/>
              <a:ea typeface="Calibri"/>
              <a:cs typeface="Calibri"/>
              <a:sym typeface="Calibri"/>
            </a:endParaRPr>
          </a:p>
          <a:p>
            <a:pPr indent="-229235" lvl="1" marL="1219200" marR="0" rtl="0" algn="l">
              <a:lnSpc>
                <a:spcPct val="100000"/>
              </a:lnSpc>
              <a:spcBef>
                <a:spcPts val="157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Draw the diagram yourself</a:t>
            </a:r>
            <a:endParaRPr b="0" i="0" sz="1800" u="none" cap="none" strike="noStrike">
              <a:solidFill>
                <a:schemeClr val="dk1"/>
              </a:solidFill>
              <a:latin typeface="Calibri"/>
              <a:ea typeface="Calibri"/>
              <a:cs typeface="Calibri"/>
              <a:sym typeface="Calibri"/>
            </a:endParaRPr>
          </a:p>
          <a:p>
            <a:pPr indent="-342900" lvl="0" marL="419100" marR="0" rtl="0" algn="l">
              <a:lnSpc>
                <a:spcPct val="100000"/>
              </a:lnSpc>
              <a:spcBef>
                <a:spcPts val="186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Multiple memory accesses to find operand</a:t>
            </a:r>
            <a:endParaRPr sz="2400">
              <a:solidFill>
                <a:schemeClr val="dk1"/>
              </a:solidFill>
              <a:latin typeface="Calibri"/>
              <a:ea typeface="Calibri"/>
              <a:cs typeface="Calibri"/>
              <a:sym typeface="Calibri"/>
            </a:endParaRPr>
          </a:p>
          <a:p>
            <a:pPr indent="-342900" lvl="0" marL="4191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Hence slower</a:t>
            </a:r>
            <a:endParaRPr sz="24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7" name="Shape 467"/>
        <p:cNvGrpSpPr/>
        <p:nvPr/>
      </p:nvGrpSpPr>
      <p:grpSpPr>
        <a:xfrm>
          <a:off x="0" y="0"/>
          <a:ext cx="0" cy="0"/>
          <a:chOff x="0" y="0"/>
          <a:chExt cx="0" cy="0"/>
        </a:xfrm>
      </p:grpSpPr>
      <p:sp>
        <p:nvSpPr>
          <p:cNvPr id="468" name="Google Shape;468;p59"/>
          <p:cNvSpPr txBox="1"/>
          <p:nvPr/>
        </p:nvSpPr>
        <p:spPr>
          <a:xfrm>
            <a:off x="736498" y="1121790"/>
            <a:ext cx="7679690"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Based on the availability of Effective address, Indirect mode is of two kind:</a:t>
            </a:r>
            <a:endParaRPr sz="2000">
              <a:solidFill>
                <a:schemeClr val="dk1"/>
              </a:solidFill>
              <a:latin typeface="Calibri"/>
              <a:ea typeface="Calibri"/>
              <a:cs typeface="Calibri"/>
              <a:sym typeface="Calibri"/>
            </a:endParaRPr>
          </a:p>
        </p:txBody>
      </p:sp>
      <p:sp>
        <p:nvSpPr>
          <p:cNvPr id="469" name="Google Shape;469;p59"/>
          <p:cNvSpPr txBox="1"/>
          <p:nvPr/>
        </p:nvSpPr>
        <p:spPr>
          <a:xfrm>
            <a:off x="534978" y="1452637"/>
            <a:ext cx="8073900" cy="497760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u="sng">
                <a:solidFill>
                  <a:schemeClr val="dk1"/>
                </a:solidFill>
                <a:latin typeface="Calibri"/>
                <a:ea typeface="Calibri"/>
                <a:cs typeface="Calibri"/>
                <a:sym typeface="Calibri"/>
              </a:rPr>
              <a:t>REGISTER	INDIRECT</a:t>
            </a:r>
            <a:r>
              <a:rPr lang="en-US" sz="3200">
                <a:solidFill>
                  <a:schemeClr val="dk1"/>
                </a:solidFill>
                <a:latin typeface="Calibri"/>
                <a:ea typeface="Calibri"/>
                <a:cs typeface="Calibri"/>
                <a:sym typeface="Calibri"/>
              </a:rPr>
              <a:t>:	In	this	mode	effective</a:t>
            </a:r>
            <a:endParaRPr sz="3200">
              <a:solidFill>
                <a:schemeClr val="dk1"/>
              </a:solidFill>
              <a:latin typeface="Calibri"/>
              <a:ea typeface="Calibri"/>
              <a:cs typeface="Calibri"/>
              <a:sym typeface="Calibri"/>
            </a:endParaRPr>
          </a:p>
          <a:p>
            <a:pPr indent="0" lvl="0" marL="355600" marR="5080" rtl="0" algn="just">
              <a:lnSpc>
                <a:spcPct val="200000"/>
              </a:lnSpc>
              <a:spcBef>
                <a:spcPts val="0"/>
              </a:spcBef>
              <a:spcAft>
                <a:spcPts val="0"/>
              </a:spcAft>
              <a:buNone/>
            </a:pPr>
            <a:r>
              <a:rPr lang="en-US" sz="3200">
                <a:solidFill>
                  <a:schemeClr val="dk1"/>
                </a:solidFill>
                <a:latin typeface="Calibri"/>
                <a:ea typeface="Calibri"/>
                <a:cs typeface="Calibri"/>
                <a:sym typeface="Calibri"/>
              </a:rPr>
              <a:t>address is in the register, and corresponding  register name will be maintained in the  address field of an instruction.</a:t>
            </a:r>
            <a:endParaRPr sz="32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27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one register reference,one memory reference is required to access the da</a:t>
            </a:r>
            <a:r>
              <a:rPr i="1" lang="en-US" sz="2000">
                <a:solidFill>
                  <a:schemeClr val="dk1"/>
                </a:solidFill>
                <a:latin typeface="Calibri"/>
                <a:ea typeface="Calibri"/>
                <a:cs typeface="Calibri"/>
                <a:sym typeface="Calibri"/>
              </a:rPr>
              <a:t>ta </a:t>
            </a:r>
            <a:endParaRPr sz="2000">
              <a:solidFill>
                <a:schemeClr val="dk1"/>
              </a:solidFill>
              <a:latin typeface="Calibri"/>
              <a:ea typeface="Calibri"/>
              <a:cs typeface="Calibri"/>
              <a:sym typeface="Calibri"/>
            </a:endParaRPr>
          </a:p>
        </p:txBody>
      </p:sp>
      <p:sp>
        <p:nvSpPr>
          <p:cNvPr id="470" name="Google Shape;470;p59"/>
          <p:cNvSpPr txBox="1"/>
          <p:nvPr/>
        </p:nvSpPr>
        <p:spPr>
          <a:xfrm>
            <a:off x="535940" y="6431686"/>
            <a:ext cx="17780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Times New Roman"/>
                <a:ea typeface="Times New Roman"/>
                <a:cs typeface="Times New Roman"/>
                <a:sym typeface="Times New Roman"/>
              </a:rPr>
              <a:t>44</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4" name="Shape 474"/>
        <p:cNvGrpSpPr/>
        <p:nvPr/>
      </p:nvGrpSpPr>
      <p:grpSpPr>
        <a:xfrm>
          <a:off x="0" y="0"/>
          <a:ext cx="0" cy="0"/>
          <a:chOff x="0" y="0"/>
          <a:chExt cx="0" cy="0"/>
        </a:xfrm>
      </p:grpSpPr>
      <p:sp>
        <p:nvSpPr>
          <p:cNvPr id="475" name="Google Shape;475;p60"/>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76" name="Google Shape;476;p60"/>
          <p:cNvSpPr txBox="1"/>
          <p:nvPr/>
        </p:nvSpPr>
        <p:spPr>
          <a:xfrm>
            <a:off x="474065" y="1958162"/>
            <a:ext cx="8073390" cy="4172585"/>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lang="en-US" sz="3200" u="sng">
                <a:solidFill>
                  <a:schemeClr val="dk1"/>
                </a:solidFill>
                <a:latin typeface="Calibri"/>
                <a:ea typeface="Calibri"/>
                <a:cs typeface="Calibri"/>
                <a:sym typeface="Calibri"/>
              </a:rPr>
              <a:t>MEMORY	INDIRECT</a:t>
            </a:r>
            <a:r>
              <a:rPr lang="en-US" sz="3200">
                <a:solidFill>
                  <a:schemeClr val="dk1"/>
                </a:solidFill>
                <a:latin typeface="Calibri"/>
                <a:ea typeface="Calibri"/>
                <a:cs typeface="Calibri"/>
                <a:sym typeface="Calibri"/>
              </a:rPr>
              <a:t>:	In	this	mode	effective</a:t>
            </a:r>
            <a:endParaRPr sz="3200">
              <a:solidFill>
                <a:schemeClr val="dk1"/>
              </a:solidFill>
              <a:latin typeface="Calibri"/>
              <a:ea typeface="Calibri"/>
              <a:cs typeface="Calibri"/>
              <a:sym typeface="Calibri"/>
            </a:endParaRPr>
          </a:p>
          <a:p>
            <a:pPr indent="0" lvl="0" marL="355600" marR="5080" rtl="0" algn="just">
              <a:lnSpc>
                <a:spcPct val="200000"/>
              </a:lnSpc>
              <a:spcBef>
                <a:spcPts val="0"/>
              </a:spcBef>
              <a:spcAft>
                <a:spcPts val="0"/>
              </a:spcAft>
              <a:buNone/>
            </a:pPr>
            <a:r>
              <a:rPr lang="en-US" sz="3200">
                <a:solidFill>
                  <a:schemeClr val="dk1"/>
                </a:solidFill>
                <a:latin typeface="Calibri"/>
                <a:ea typeface="Calibri"/>
                <a:cs typeface="Calibri"/>
                <a:sym typeface="Calibri"/>
              </a:rPr>
              <a:t>address is in the memory, and corresponding  memory address will be maintained in the  address field of an instruction.</a:t>
            </a:r>
            <a:endParaRPr sz="32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27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two memory reference is required to access the data</a:t>
            </a:r>
            <a:endParaRPr sz="20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0" name="Shape 480"/>
        <p:cNvGrpSpPr/>
        <p:nvPr/>
      </p:nvGrpSpPr>
      <p:grpSpPr>
        <a:xfrm>
          <a:off x="0" y="0"/>
          <a:ext cx="0" cy="0"/>
          <a:chOff x="0" y="0"/>
          <a:chExt cx="0" cy="0"/>
        </a:xfrm>
      </p:grpSpPr>
      <p:sp>
        <p:nvSpPr>
          <p:cNvPr id="481" name="Google Shape;481;p61"/>
          <p:cNvSpPr txBox="1"/>
          <p:nvPr>
            <p:ph type="title"/>
          </p:nvPr>
        </p:nvSpPr>
        <p:spPr>
          <a:xfrm>
            <a:off x="575259" y="487502"/>
            <a:ext cx="799655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Diagram</a:t>
            </a:r>
            <a:endParaRPr sz="4400">
              <a:latin typeface="Arial"/>
              <a:ea typeface="Arial"/>
              <a:cs typeface="Arial"/>
              <a:sym typeface="Arial"/>
            </a:endParaRPr>
          </a:p>
        </p:txBody>
      </p:sp>
      <p:sp>
        <p:nvSpPr>
          <p:cNvPr id="482" name="Google Shape;482;p61"/>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483" name="Google Shape;483;p61"/>
          <p:cNvPicPr preferRelativeResize="0"/>
          <p:nvPr/>
        </p:nvPicPr>
        <p:blipFill rotWithShape="1">
          <a:blip r:embed="rId3">
            <a:alphaModFix/>
          </a:blip>
          <a:srcRect b="0" l="0" r="0" t="0"/>
          <a:stretch/>
        </p:blipFill>
        <p:spPr>
          <a:xfrm>
            <a:off x="2124075" y="1557337"/>
            <a:ext cx="4895850" cy="48799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7" name="Shape 487"/>
        <p:cNvGrpSpPr/>
        <p:nvPr/>
      </p:nvGrpSpPr>
      <p:grpSpPr>
        <a:xfrm>
          <a:off x="0" y="0"/>
          <a:ext cx="0" cy="0"/>
          <a:chOff x="0" y="0"/>
          <a:chExt cx="0" cy="0"/>
        </a:xfrm>
      </p:grpSpPr>
      <p:sp>
        <p:nvSpPr>
          <p:cNvPr id="488" name="Google Shape;488;p62"/>
          <p:cNvSpPr txBox="1"/>
          <p:nvPr/>
        </p:nvSpPr>
        <p:spPr>
          <a:xfrm>
            <a:off x="535940" y="1877390"/>
            <a:ext cx="8072755" cy="261937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register addressing the operand is placed in one of 8 bit or</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2350"/>
              <a:buFont typeface="Arial"/>
              <a:buNone/>
            </a:pPr>
            <a:r>
              <a:t/>
            </a:r>
            <a:endParaRPr sz="235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400">
                <a:solidFill>
                  <a:schemeClr val="dk1"/>
                </a:solidFill>
                <a:latin typeface="Calibri"/>
                <a:ea typeface="Calibri"/>
                <a:cs typeface="Calibri"/>
                <a:sym typeface="Calibri"/>
              </a:rPr>
              <a:t>16 bit general purpose registers.</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data is in the register that is specified by the instruction.</a:t>
            </a:r>
            <a:endParaRPr sz="24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245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one register reference is required to access the data.</a:t>
            </a:r>
            <a:endParaRPr sz="2000">
              <a:solidFill>
                <a:schemeClr val="dk1"/>
              </a:solidFill>
              <a:latin typeface="Calibri"/>
              <a:ea typeface="Calibri"/>
              <a:cs typeface="Calibri"/>
              <a:sym typeface="Calibri"/>
            </a:endParaRPr>
          </a:p>
        </p:txBody>
      </p:sp>
      <p:pic>
        <p:nvPicPr>
          <p:cNvPr id="489" name="Google Shape;489;p62"/>
          <p:cNvPicPr preferRelativeResize="0"/>
          <p:nvPr/>
        </p:nvPicPr>
        <p:blipFill rotWithShape="1">
          <a:blip r:embed="rId3">
            <a:alphaModFix/>
          </a:blip>
          <a:srcRect b="0" l="0" r="0" t="0"/>
          <a:stretch/>
        </p:blipFill>
        <p:spPr>
          <a:xfrm>
            <a:off x="66425" y="5300662"/>
            <a:ext cx="8585449" cy="1014412"/>
          </a:xfrm>
          <a:prstGeom prst="rect">
            <a:avLst/>
          </a:prstGeom>
          <a:noFill/>
          <a:ln>
            <a:noFill/>
          </a:ln>
        </p:spPr>
      </p:pic>
      <p:sp>
        <p:nvSpPr>
          <p:cNvPr id="490" name="Google Shape;490;p62"/>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4" name="Shape 494"/>
        <p:cNvGrpSpPr/>
        <p:nvPr/>
      </p:nvGrpSpPr>
      <p:grpSpPr>
        <a:xfrm>
          <a:off x="0" y="0"/>
          <a:ext cx="0" cy="0"/>
          <a:chOff x="0" y="0"/>
          <a:chExt cx="0" cy="0"/>
        </a:xfrm>
      </p:grpSpPr>
      <p:sp>
        <p:nvSpPr>
          <p:cNvPr id="495" name="Google Shape;495;p63"/>
          <p:cNvSpPr txBox="1"/>
          <p:nvPr>
            <p:ph type="title"/>
          </p:nvPr>
        </p:nvSpPr>
        <p:spPr>
          <a:xfrm>
            <a:off x="1112011" y="487502"/>
            <a:ext cx="692530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(1/2)</a:t>
            </a:r>
            <a:endParaRPr sz="4400">
              <a:latin typeface="Arial"/>
              <a:ea typeface="Arial"/>
              <a:cs typeface="Arial"/>
              <a:sym typeface="Arial"/>
            </a:endParaRPr>
          </a:p>
        </p:txBody>
      </p:sp>
      <p:sp>
        <p:nvSpPr>
          <p:cNvPr id="496" name="Google Shape;496;p63"/>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497" name="Google Shape;497;p63"/>
          <p:cNvSpPr txBox="1"/>
          <p:nvPr/>
        </p:nvSpPr>
        <p:spPr>
          <a:xfrm>
            <a:off x="535025" y="1739010"/>
            <a:ext cx="6495415" cy="434340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Operand is held in register named in address filed</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 = R</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Limited number of registers</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Very small address field needed</a:t>
            </a:r>
            <a:endParaRPr sz="2400">
              <a:solidFill>
                <a:schemeClr val="dk1"/>
              </a:solidFill>
              <a:latin typeface="Calibri"/>
              <a:ea typeface="Calibri"/>
              <a:cs typeface="Calibri"/>
              <a:sym typeface="Calibri"/>
            </a:endParaRPr>
          </a:p>
          <a:p>
            <a:pPr indent="-287019" lvl="1" marL="756285" marR="0" rtl="0" algn="l">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Shorter instructions</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Faster instruction fetch</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MOV AX, BX</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ADD AX, BX</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1" name="Shape 501"/>
        <p:cNvGrpSpPr/>
        <p:nvPr/>
      </p:nvGrpSpPr>
      <p:grpSpPr>
        <a:xfrm>
          <a:off x="0" y="0"/>
          <a:ext cx="0" cy="0"/>
          <a:chOff x="0" y="0"/>
          <a:chExt cx="0" cy="0"/>
        </a:xfrm>
      </p:grpSpPr>
      <p:sp>
        <p:nvSpPr>
          <p:cNvPr id="502" name="Google Shape;502;p64"/>
          <p:cNvSpPr txBox="1"/>
          <p:nvPr>
            <p:ph type="title"/>
          </p:nvPr>
        </p:nvSpPr>
        <p:spPr>
          <a:xfrm>
            <a:off x="1111402" y="487502"/>
            <a:ext cx="69189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Register Addressing (2/2)</a:t>
            </a:r>
            <a:endParaRPr sz="4400">
              <a:latin typeface="Arial"/>
              <a:ea typeface="Arial"/>
              <a:cs typeface="Arial"/>
              <a:sym typeface="Arial"/>
            </a:endParaRPr>
          </a:p>
        </p:txBody>
      </p:sp>
      <p:sp>
        <p:nvSpPr>
          <p:cNvPr id="503" name="Google Shape;503;p6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04" name="Google Shape;504;p64"/>
          <p:cNvSpPr txBox="1"/>
          <p:nvPr/>
        </p:nvSpPr>
        <p:spPr>
          <a:xfrm>
            <a:off x="598119" y="1740230"/>
            <a:ext cx="6735445" cy="341119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No memory access</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Very fast execution</a:t>
            </a:r>
            <a:endParaRPr sz="2400">
              <a:solidFill>
                <a:schemeClr val="dk1"/>
              </a:solidFill>
              <a:latin typeface="Calibri"/>
              <a:ea typeface="Calibri"/>
              <a:cs typeface="Calibri"/>
              <a:sym typeface="Calibri"/>
            </a:endParaRPr>
          </a:p>
          <a:p>
            <a:pPr indent="-342900" lvl="0" marL="355600" marR="0" rtl="0" algn="l">
              <a:lnSpc>
                <a:spcPct val="100000"/>
              </a:lnSpc>
              <a:spcBef>
                <a:spcPts val="202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Very limited address space</a:t>
            </a:r>
            <a:endParaRPr sz="2400">
              <a:solidFill>
                <a:schemeClr val="dk1"/>
              </a:solidFill>
              <a:latin typeface="Calibri"/>
              <a:ea typeface="Calibri"/>
              <a:cs typeface="Calibri"/>
              <a:sym typeface="Calibri"/>
            </a:endParaRPr>
          </a:p>
          <a:p>
            <a:pPr indent="-342900"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Multiple registers helps performance</a:t>
            </a:r>
            <a:endParaRPr sz="2400">
              <a:solidFill>
                <a:schemeClr val="dk1"/>
              </a:solidFill>
              <a:latin typeface="Calibri"/>
              <a:ea typeface="Calibri"/>
              <a:cs typeface="Calibri"/>
              <a:sym typeface="Calibri"/>
            </a:endParaRPr>
          </a:p>
          <a:p>
            <a:pPr indent="-287019" lvl="1" marL="756285" marR="0" rtl="0" algn="l">
              <a:lnSpc>
                <a:spcPct val="100000"/>
              </a:lnSpc>
              <a:spcBef>
                <a:spcPts val="178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Requires good assembly programming or compiler writing</a:t>
            </a:r>
            <a:endParaRPr b="0" i="0" sz="2000" u="none" cap="none" strike="noStrike">
              <a:solidFill>
                <a:schemeClr val="dk1"/>
              </a:solidFill>
              <a:latin typeface="Calibri"/>
              <a:ea typeface="Calibri"/>
              <a:cs typeface="Calibri"/>
              <a:sym typeface="Calibri"/>
            </a:endParaRPr>
          </a:p>
          <a:p>
            <a:pPr indent="-342900" lvl="0" marL="355600" marR="0" rtl="0" algn="l">
              <a:lnSpc>
                <a:spcPct val="100000"/>
              </a:lnSpc>
              <a:spcBef>
                <a:spcPts val="1864"/>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Similar to Direct addressing</a:t>
            </a:r>
            <a:endParaRPr sz="24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p65"/>
          <p:cNvSpPr txBox="1"/>
          <p:nvPr>
            <p:ph type="title"/>
          </p:nvPr>
        </p:nvSpPr>
        <p:spPr>
          <a:xfrm>
            <a:off x="729183" y="574675"/>
            <a:ext cx="7688580" cy="52832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3300"/>
              <a:buFont typeface="Arial"/>
              <a:buNone/>
            </a:pPr>
            <a:r>
              <a:rPr b="0" lang="en-US" sz="3300">
                <a:latin typeface="Arial"/>
                <a:ea typeface="Arial"/>
                <a:cs typeface="Arial"/>
                <a:sym typeface="Arial"/>
              </a:rPr>
              <a:t>Register Indirect Addressing Diagram</a:t>
            </a:r>
            <a:endParaRPr sz="3300">
              <a:latin typeface="Arial"/>
              <a:ea typeface="Arial"/>
              <a:cs typeface="Arial"/>
              <a:sym typeface="Arial"/>
            </a:endParaRPr>
          </a:p>
        </p:txBody>
      </p:sp>
      <p:sp>
        <p:nvSpPr>
          <p:cNvPr id="510" name="Google Shape;510;p6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511" name="Google Shape;511;p65"/>
          <p:cNvPicPr preferRelativeResize="0"/>
          <p:nvPr/>
        </p:nvPicPr>
        <p:blipFill rotWithShape="1">
          <a:blip r:embed="rId3">
            <a:alphaModFix/>
          </a:blip>
          <a:srcRect b="0" l="0" r="0" t="0"/>
          <a:stretch/>
        </p:blipFill>
        <p:spPr>
          <a:xfrm>
            <a:off x="2051050" y="1773301"/>
            <a:ext cx="4580001" cy="460844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5" name="Shape 515"/>
        <p:cNvGrpSpPr/>
        <p:nvPr/>
      </p:nvGrpSpPr>
      <p:grpSpPr>
        <a:xfrm>
          <a:off x="0" y="0"/>
          <a:ext cx="0" cy="0"/>
          <a:chOff x="0" y="0"/>
          <a:chExt cx="0" cy="0"/>
        </a:xfrm>
      </p:grpSpPr>
      <p:sp>
        <p:nvSpPr>
          <p:cNvPr id="516" name="Google Shape;516;p66"/>
          <p:cNvSpPr txBox="1"/>
          <p:nvPr/>
        </p:nvSpPr>
        <p:spPr>
          <a:xfrm>
            <a:off x="535940" y="1557228"/>
            <a:ext cx="7952740" cy="2825115"/>
          </a:xfrm>
          <a:prstGeom prst="rect">
            <a:avLst/>
          </a:prstGeom>
          <a:noFill/>
          <a:ln>
            <a:noFill/>
          </a:ln>
        </p:spPr>
        <p:txBody>
          <a:bodyPr anchorCtr="0" anchor="t" bIns="0" lIns="0" spcFirstLastPara="1" rIns="0" wrap="square" tIns="195575">
            <a:spAutoFit/>
          </a:bodyPr>
          <a:lstStyle/>
          <a:p>
            <a:pPr indent="-412115" lvl="0" marL="42418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addressing the operand’s offset is placed in any one of</a:t>
            </a:r>
            <a:endParaRPr sz="2400">
              <a:solidFill>
                <a:schemeClr val="dk1"/>
              </a:solidFill>
              <a:latin typeface="Calibri"/>
              <a:ea typeface="Calibri"/>
              <a:cs typeface="Calibri"/>
              <a:sym typeface="Calibri"/>
            </a:endParaRPr>
          </a:p>
          <a:p>
            <a:pPr indent="0" lvl="0" marL="355600" marR="0" rtl="0" algn="l">
              <a:lnSpc>
                <a:spcPct val="100000"/>
              </a:lnSpc>
              <a:spcBef>
                <a:spcPts val="1440"/>
              </a:spcBef>
              <a:spcAft>
                <a:spcPts val="0"/>
              </a:spcAft>
              <a:buNone/>
            </a:pPr>
            <a:r>
              <a:rPr lang="en-US" sz="2400">
                <a:solidFill>
                  <a:schemeClr val="dk1"/>
                </a:solidFill>
                <a:latin typeface="Calibri"/>
                <a:ea typeface="Calibri"/>
                <a:cs typeface="Calibri"/>
                <a:sym typeface="Calibri"/>
              </a:rPr>
              <a:t>the registers </a:t>
            </a:r>
            <a:r>
              <a:rPr b="1" lang="en-US" sz="2400">
                <a:solidFill>
                  <a:schemeClr val="dk1"/>
                </a:solidFill>
                <a:latin typeface="Calibri"/>
                <a:ea typeface="Calibri"/>
                <a:cs typeface="Calibri"/>
                <a:sym typeface="Calibri"/>
              </a:rPr>
              <a:t>BX,BP,SI,DI as specified in the instruction</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343535" lvl="0" marL="355600" marR="140970" rtl="0" algn="l">
              <a:lnSpc>
                <a:spcPct val="150000"/>
              </a:lnSpc>
              <a:spcBef>
                <a:spcPts val="5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effective address of the data is in the base register or an  index register that is specified by the instruction.</a:t>
            </a:r>
            <a:endParaRPr sz="2400">
              <a:solidFill>
                <a:schemeClr val="dk1"/>
              </a:solidFill>
              <a:latin typeface="Calibri"/>
              <a:ea typeface="Calibri"/>
              <a:cs typeface="Calibri"/>
              <a:sym typeface="Calibri"/>
            </a:endParaRPr>
          </a:p>
          <a:p>
            <a:pPr indent="0" lvl="0" marL="469900" marR="0" rtl="0" algn="l">
              <a:lnSpc>
                <a:spcPct val="100000"/>
              </a:lnSpc>
              <a:spcBef>
                <a:spcPts val="1780"/>
              </a:spcBef>
              <a:spcAft>
                <a:spcPts val="0"/>
              </a:spcAft>
              <a:buNone/>
            </a:pPr>
            <a:r>
              <a:rPr lang="en-US" sz="2000">
                <a:solidFill>
                  <a:schemeClr val="dk1"/>
                </a:solidFill>
                <a:latin typeface="Arial"/>
                <a:ea typeface="Arial"/>
                <a:cs typeface="Arial"/>
                <a:sym typeface="Arial"/>
              </a:rPr>
              <a:t>–	</a:t>
            </a:r>
            <a:r>
              <a:rPr i="1" lang="en-US" sz="2000">
                <a:solidFill>
                  <a:schemeClr val="dk1"/>
                </a:solidFill>
                <a:latin typeface="Calibri"/>
                <a:ea typeface="Calibri"/>
                <a:cs typeface="Calibri"/>
                <a:sym typeface="Calibri"/>
              </a:rPr>
              <a:t>Here two register reference is required to access the data.</a:t>
            </a:r>
            <a:endParaRPr sz="2000">
              <a:solidFill>
                <a:schemeClr val="dk1"/>
              </a:solidFill>
              <a:latin typeface="Calibri"/>
              <a:ea typeface="Calibri"/>
              <a:cs typeface="Calibri"/>
              <a:sym typeface="Calibri"/>
            </a:endParaRPr>
          </a:p>
        </p:txBody>
      </p:sp>
      <p:pic>
        <p:nvPicPr>
          <p:cNvPr id="517" name="Google Shape;517;p66"/>
          <p:cNvPicPr preferRelativeResize="0"/>
          <p:nvPr/>
        </p:nvPicPr>
        <p:blipFill rotWithShape="1">
          <a:blip r:embed="rId3">
            <a:alphaModFix/>
          </a:blip>
          <a:srcRect b="0" l="0" r="0" t="0"/>
          <a:stretch/>
        </p:blipFill>
        <p:spPr>
          <a:xfrm>
            <a:off x="28575" y="5373687"/>
            <a:ext cx="9097899" cy="1008062"/>
          </a:xfrm>
          <a:prstGeom prst="rect">
            <a:avLst/>
          </a:prstGeom>
          <a:noFill/>
          <a:ln>
            <a:noFill/>
          </a:ln>
        </p:spPr>
      </p:pic>
      <p:sp>
        <p:nvSpPr>
          <p:cNvPr id="518" name="Google Shape;518;p66"/>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2" name="Shape 522"/>
        <p:cNvGrpSpPr/>
        <p:nvPr/>
      </p:nvGrpSpPr>
      <p:grpSpPr>
        <a:xfrm>
          <a:off x="0" y="0"/>
          <a:ext cx="0" cy="0"/>
          <a:chOff x="0" y="0"/>
          <a:chExt cx="0" cy="0"/>
        </a:xfrm>
      </p:grpSpPr>
      <p:sp>
        <p:nvSpPr>
          <p:cNvPr id="523" name="Google Shape;523;p67"/>
          <p:cNvSpPr txBox="1"/>
          <p:nvPr>
            <p:ph type="title"/>
          </p:nvPr>
        </p:nvSpPr>
        <p:spPr>
          <a:xfrm>
            <a:off x="1552447" y="49225"/>
            <a:ext cx="6038215" cy="54356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3400"/>
              <a:buFont typeface="Arial"/>
              <a:buNone/>
            </a:pPr>
            <a:r>
              <a:rPr b="0" lang="en-US" sz="3400">
                <a:latin typeface="Arial"/>
                <a:ea typeface="Arial"/>
                <a:cs typeface="Arial"/>
                <a:sym typeface="Arial"/>
              </a:rPr>
              <a:t>Register Indirect Addressing</a:t>
            </a:r>
            <a:endParaRPr sz="3400">
              <a:latin typeface="Arial"/>
              <a:ea typeface="Arial"/>
              <a:cs typeface="Arial"/>
              <a:sym typeface="Arial"/>
            </a:endParaRPr>
          </a:p>
        </p:txBody>
      </p:sp>
      <p:sp>
        <p:nvSpPr>
          <p:cNvPr id="524" name="Google Shape;524;p67"/>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25" name="Google Shape;525;p67"/>
          <p:cNvSpPr txBox="1"/>
          <p:nvPr/>
        </p:nvSpPr>
        <p:spPr>
          <a:xfrm>
            <a:off x="458927" y="993470"/>
            <a:ext cx="7973059" cy="5001895"/>
          </a:xfrm>
          <a:prstGeom prst="rect">
            <a:avLst/>
          </a:prstGeom>
          <a:noFill/>
          <a:ln>
            <a:noFill/>
          </a:ln>
        </p:spPr>
        <p:txBody>
          <a:bodyPr anchorCtr="0" anchor="t" bIns="0" lIns="0" spcFirstLastPara="1" rIns="0" wrap="square" tIns="12050">
            <a:spAutoFit/>
          </a:bodyPr>
          <a:lstStyle/>
          <a:p>
            <a:pPr indent="0" lvl="0" marL="63500" marR="0" rtl="0" algn="l">
              <a:lnSpc>
                <a:spcPct val="100000"/>
              </a:lnSpc>
              <a:spcBef>
                <a:spcPts val="0"/>
              </a:spcBef>
              <a:spcAft>
                <a:spcPts val="0"/>
              </a:spcAft>
              <a:buNone/>
            </a:pPr>
            <a:r>
              <a:rPr lang="en-US" sz="2800">
                <a:solidFill>
                  <a:schemeClr val="dk1"/>
                </a:solidFill>
                <a:latin typeface="Calibri"/>
                <a:ea typeface="Calibri"/>
                <a:cs typeface="Calibri"/>
                <a:sym typeface="Calibri"/>
              </a:rPr>
              <a:t>MOV AX, [BX]</a:t>
            </a:r>
            <a:endParaRPr sz="2800">
              <a:solidFill>
                <a:schemeClr val="dk1"/>
              </a:solidFill>
              <a:latin typeface="Calibri"/>
              <a:ea typeface="Calibri"/>
              <a:cs typeface="Calibri"/>
              <a:sym typeface="Calibri"/>
            </a:endParaRPr>
          </a:p>
          <a:p>
            <a:pPr indent="0" lvl="0" marL="63500" marR="17780" rtl="0" algn="l">
              <a:lnSpc>
                <a:spcPct val="150000"/>
              </a:lnSpc>
              <a:spcBef>
                <a:spcPts val="690"/>
              </a:spcBef>
              <a:spcAft>
                <a:spcPts val="0"/>
              </a:spcAft>
              <a:buNone/>
            </a:pPr>
            <a:r>
              <a:rPr lang="en-US" sz="1800">
                <a:solidFill>
                  <a:srgbClr val="FF0000"/>
                </a:solidFill>
                <a:latin typeface="Calibri"/>
                <a:ea typeface="Calibri"/>
                <a:cs typeface="Calibri"/>
                <a:sym typeface="Calibri"/>
              </a:rPr>
              <a:t>(move the contents of memory location s addressed by the register BX to the register  AX)</a:t>
            </a:r>
            <a:endParaRPr sz="1800">
              <a:solidFill>
                <a:schemeClr val="dk1"/>
              </a:solidFill>
              <a:latin typeface="Calibri"/>
              <a:ea typeface="Calibri"/>
              <a:cs typeface="Calibri"/>
              <a:sym typeface="Calibri"/>
            </a:endParaRPr>
          </a:p>
          <a:p>
            <a:pPr indent="0" lvl="0" marL="63500" marR="5997575" rtl="0" algn="l">
              <a:lnSpc>
                <a:spcPct val="150000"/>
              </a:lnSpc>
              <a:spcBef>
                <a:spcPts val="420"/>
              </a:spcBef>
              <a:spcAft>
                <a:spcPts val="0"/>
              </a:spcAft>
              <a:buNone/>
            </a:pPr>
            <a:r>
              <a:rPr lang="en-US" sz="2800">
                <a:solidFill>
                  <a:schemeClr val="dk1"/>
                </a:solidFill>
                <a:latin typeface="Calibri"/>
                <a:ea typeface="Calibri"/>
                <a:cs typeface="Calibri"/>
                <a:sym typeface="Calibri"/>
              </a:rPr>
              <a:t>MOV AX, [DI]  ADD AL, [BX]</a:t>
            </a:r>
            <a:endParaRPr sz="2800">
              <a:solidFill>
                <a:schemeClr val="dk1"/>
              </a:solidFill>
              <a:latin typeface="Calibri"/>
              <a:ea typeface="Calibri"/>
              <a:cs typeface="Calibri"/>
              <a:sym typeface="Calibri"/>
            </a:endParaRPr>
          </a:p>
          <a:p>
            <a:pPr indent="0" lvl="0" marL="63500" marR="0" rtl="0" algn="l">
              <a:lnSpc>
                <a:spcPct val="100000"/>
              </a:lnSpc>
              <a:spcBef>
                <a:spcPts val="2355"/>
              </a:spcBef>
              <a:spcAft>
                <a:spcPts val="0"/>
              </a:spcAft>
              <a:buNone/>
            </a:pPr>
            <a:r>
              <a:rPr lang="en-US" sz="2800">
                <a:solidFill>
                  <a:schemeClr val="dk1"/>
                </a:solidFill>
                <a:latin typeface="Calibri"/>
                <a:ea typeface="Calibri"/>
                <a:cs typeface="Calibri"/>
                <a:sym typeface="Calibri"/>
              </a:rPr>
              <a:t>MOV AX, [SI]</a:t>
            </a:r>
            <a:endParaRPr sz="2800">
              <a:solidFill>
                <a:schemeClr val="dk1"/>
              </a:solidFill>
              <a:latin typeface="Calibri"/>
              <a:ea typeface="Calibri"/>
              <a:cs typeface="Calibri"/>
              <a:sym typeface="Calibri"/>
            </a:endParaRPr>
          </a:p>
          <a:p>
            <a:pPr indent="-342900" lvl="0" marL="406400" marR="0" rtl="0" algn="l">
              <a:lnSpc>
                <a:spcPct val="100000"/>
              </a:lnSpc>
              <a:spcBef>
                <a:spcPts val="18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Operand is in memory cell pointed to by contents of register R</a:t>
            </a:r>
            <a:endParaRPr sz="2000">
              <a:solidFill>
                <a:schemeClr val="dk1"/>
              </a:solidFill>
              <a:latin typeface="Calibri"/>
              <a:ea typeface="Calibri"/>
              <a:cs typeface="Calibri"/>
              <a:sym typeface="Calibri"/>
            </a:endParaRPr>
          </a:p>
          <a:p>
            <a:pPr indent="-342900" lvl="0" marL="406400" marR="0" rtl="0" algn="l">
              <a:lnSpc>
                <a:spcPct val="100000"/>
              </a:lnSpc>
              <a:spcBef>
                <a:spcPts val="16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Large address space (2</a:t>
            </a:r>
            <a:r>
              <a:rPr baseline="30000" lang="en-US" sz="195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342900" lvl="0" marL="406400" marR="0" rtl="0" algn="l">
              <a:lnSpc>
                <a:spcPct val="100000"/>
              </a:lnSpc>
              <a:spcBef>
                <a:spcPts val="16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One fewer memory access than indirect addressing</a:t>
            </a:r>
            <a:endParaRPr sz="20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31" name="Google Shape;531;p68"/>
          <p:cNvSpPr txBox="1"/>
          <p:nvPr>
            <p:ph idx="1" type="body"/>
          </p:nvPr>
        </p:nvSpPr>
        <p:spPr>
          <a:xfrm>
            <a:off x="1187648" y="1447800"/>
            <a:ext cx="774600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solidFill>
                  <a:srgbClr val="FF0000"/>
                </a:solidFill>
                <a:latin typeface="Times New Roman"/>
                <a:ea typeface="Times New Roman"/>
                <a:cs typeface="Times New Roman"/>
                <a:sym typeface="Times New Roman"/>
              </a:rPr>
              <a:t>the address space limitation (limited range of addresses) of the address field is overcome by having that field refer to a wordlength location containing an address. </a:t>
            </a:r>
            <a:endParaRPr sz="2400">
              <a:solidFill>
                <a:srgbClr val="FF0000"/>
              </a:solidFill>
              <a:latin typeface="Times New Roman"/>
              <a:ea typeface="Times New Roman"/>
              <a:cs typeface="Times New Roman"/>
              <a:sym typeface="Times New Roman"/>
            </a:endParaRPr>
          </a:p>
          <a:p>
            <a:pPr indent="-313944" lvl="0" marL="365760" rtl="0" algn="just">
              <a:lnSpc>
                <a:spcPct val="100000"/>
              </a:lnSpc>
              <a:spcBef>
                <a:spcPts val="0"/>
              </a:spcBef>
              <a:spcAft>
                <a:spcPts val="0"/>
              </a:spcAft>
              <a:buClr>
                <a:srgbClr val="FF0000"/>
              </a:buClr>
              <a:buSzPts val="2400"/>
              <a:buFont typeface="Times New Roman"/>
              <a:buChar char="⚫"/>
            </a:pPr>
            <a:r>
              <a:t/>
            </a:r>
            <a:endParaRPr sz="2400">
              <a:solidFill>
                <a:srgbClr val="FF0000"/>
              </a:solidFill>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solidFill>
                  <a:srgbClr val="FF0000"/>
                </a:solidFill>
                <a:latin typeface="Times New Roman"/>
                <a:ea typeface="Times New Roman"/>
                <a:cs typeface="Times New Roman"/>
                <a:sym typeface="Times New Roman"/>
              </a:rPr>
              <a:t>In addition, register indirect addressing uses one less memory reference than indirect addressing.</a:t>
            </a:r>
            <a:endParaRPr sz="2400">
              <a:solidFill>
                <a:srgbClr val="FF0000"/>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5" name="Shape 535"/>
        <p:cNvGrpSpPr/>
        <p:nvPr/>
      </p:nvGrpSpPr>
      <p:grpSpPr>
        <a:xfrm>
          <a:off x="0" y="0"/>
          <a:ext cx="0" cy="0"/>
          <a:chOff x="0" y="0"/>
          <a:chExt cx="0" cy="0"/>
        </a:xfrm>
      </p:grpSpPr>
      <p:sp>
        <p:nvSpPr>
          <p:cNvPr id="536" name="Google Shape;536;p69"/>
          <p:cNvSpPr txBox="1"/>
          <p:nvPr>
            <p:ph type="title"/>
          </p:nvPr>
        </p:nvSpPr>
        <p:spPr>
          <a:xfrm>
            <a:off x="1435608" y="274320"/>
            <a:ext cx="7498080" cy="1143000"/>
          </a:xfrm>
          <a:prstGeom prst="rect">
            <a:avLst/>
          </a:prstGeom>
          <a:noFill/>
          <a:ln>
            <a:noFill/>
          </a:ln>
        </p:spPr>
        <p:txBody>
          <a:bodyPr anchorCtr="0" anchor="ctr" bIns="0" lIns="0" spcFirstLastPara="1" rIns="0" wrap="square" tIns="13325">
            <a:spAutoFit/>
          </a:bodyPr>
          <a:lstStyle/>
          <a:p>
            <a:pPr indent="-2341245" lvl="0" marL="2353945" marR="508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Displacement Addressing  Diagram</a:t>
            </a:r>
            <a:endParaRPr sz="4400">
              <a:latin typeface="Arial"/>
              <a:ea typeface="Arial"/>
              <a:cs typeface="Arial"/>
              <a:sym typeface="Arial"/>
            </a:endParaRPr>
          </a:p>
        </p:txBody>
      </p:sp>
      <p:sp>
        <p:nvSpPr>
          <p:cNvPr id="537" name="Google Shape;537;p69"/>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pic>
        <p:nvPicPr>
          <p:cNvPr id="538" name="Google Shape;538;p69"/>
          <p:cNvPicPr preferRelativeResize="0"/>
          <p:nvPr/>
        </p:nvPicPr>
        <p:blipFill rotWithShape="1">
          <a:blip r:embed="rId3">
            <a:alphaModFix/>
          </a:blip>
          <a:srcRect b="0" l="0" r="0" t="0"/>
          <a:stretch/>
        </p:blipFill>
        <p:spPr>
          <a:xfrm>
            <a:off x="2124075" y="1773237"/>
            <a:ext cx="4449826" cy="44640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2" name="Shape 542"/>
        <p:cNvGrpSpPr/>
        <p:nvPr/>
      </p:nvGrpSpPr>
      <p:grpSpPr>
        <a:xfrm>
          <a:off x="0" y="0"/>
          <a:ext cx="0" cy="0"/>
          <a:chOff x="0" y="0"/>
          <a:chExt cx="0" cy="0"/>
        </a:xfrm>
      </p:grpSpPr>
      <p:sp>
        <p:nvSpPr>
          <p:cNvPr id="543" name="Google Shape;543;p70"/>
          <p:cNvSpPr txBox="1"/>
          <p:nvPr>
            <p:ph type="title"/>
          </p:nvPr>
        </p:nvSpPr>
        <p:spPr>
          <a:xfrm>
            <a:off x="1072388" y="487502"/>
            <a:ext cx="700087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Displacement Addressing</a:t>
            </a:r>
            <a:endParaRPr sz="4400">
              <a:latin typeface="Arial"/>
              <a:ea typeface="Arial"/>
              <a:cs typeface="Arial"/>
              <a:sym typeface="Arial"/>
            </a:endParaRPr>
          </a:p>
        </p:txBody>
      </p:sp>
      <p:sp>
        <p:nvSpPr>
          <p:cNvPr id="544" name="Google Shape;544;p70"/>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45" name="Google Shape;545;p70"/>
          <p:cNvSpPr txBox="1"/>
          <p:nvPr/>
        </p:nvSpPr>
        <p:spPr>
          <a:xfrm>
            <a:off x="535024" y="1371600"/>
            <a:ext cx="8075575" cy="523156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Clr>
                <a:schemeClr val="dk1"/>
              </a:buClr>
              <a:buSzPts val="1750"/>
              <a:buFont typeface="Gill Sans"/>
              <a:buNone/>
            </a:pPr>
            <a:r>
              <a:t/>
            </a:r>
            <a:endParaRPr sz="175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Combination of  direct and register indirect</a:t>
            </a:r>
            <a:endParaRPr sz="2800">
              <a:solidFill>
                <a:schemeClr val="dk1"/>
              </a:solidFill>
              <a:latin typeface="Calibri"/>
              <a:ea typeface="Calibri"/>
              <a:cs typeface="Calibri"/>
              <a:sym typeface="Calibri"/>
            </a:endParaRPr>
          </a:p>
          <a:p>
            <a:pPr indent="-342900" lvl="0" marL="355600" marR="0" rtl="0" algn="l">
              <a:lnSpc>
                <a:spcPct val="100000"/>
              </a:lnSpc>
              <a:spcBef>
                <a:spcPts val="95"/>
              </a:spcBef>
              <a:spcAft>
                <a:spcPts val="0"/>
              </a:spcAft>
              <a:buClr>
                <a:schemeClr val="dk1"/>
              </a:buClr>
              <a:buSzPts val="3600"/>
              <a:buFont typeface="Arial"/>
              <a:buChar char="•"/>
            </a:pPr>
            <a:r>
              <a:rPr lang="en-US" sz="3600">
                <a:solidFill>
                  <a:schemeClr val="dk1"/>
                </a:solidFill>
                <a:latin typeface="Calibri"/>
                <a:ea typeface="Calibri"/>
                <a:cs typeface="Calibri"/>
                <a:sym typeface="Calibri"/>
              </a:rPr>
              <a:t>EA = A + (R)</a:t>
            </a:r>
            <a:endParaRPr sz="3600">
              <a:solidFill>
                <a:schemeClr val="dk1"/>
              </a:solidFill>
              <a:latin typeface="Calibri"/>
              <a:ea typeface="Calibri"/>
              <a:cs typeface="Calibri"/>
              <a:sym typeface="Calibri"/>
            </a:endParaRPr>
          </a:p>
          <a:p>
            <a:pPr indent="-342900" lvl="0" marL="355600" marR="0" rtl="0" algn="l">
              <a:lnSpc>
                <a:spcPct val="100000"/>
              </a:lnSpc>
              <a:spcBef>
                <a:spcPts val="188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Effective address=start address + displacement</a:t>
            </a:r>
            <a:endParaRPr sz="2800">
              <a:solidFill>
                <a:schemeClr val="dk1"/>
              </a:solidFill>
              <a:latin typeface="Calibri"/>
              <a:ea typeface="Calibri"/>
              <a:cs typeface="Calibri"/>
              <a:sym typeface="Calibri"/>
            </a:endParaRPr>
          </a:p>
          <a:p>
            <a:pPr indent="-342900" lvl="0" marL="355600" marR="0" rtl="0" algn="l">
              <a:lnSpc>
                <a:spcPct val="100000"/>
              </a:lnSpc>
              <a:spcBef>
                <a:spcPts val="168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Effective address=Offset + (Segment Register)</a:t>
            </a:r>
            <a:endParaRPr sz="2800">
              <a:solidFill>
                <a:schemeClr val="dk1"/>
              </a:solidFill>
              <a:latin typeface="Calibri"/>
              <a:ea typeface="Calibri"/>
              <a:cs typeface="Calibri"/>
              <a:sym typeface="Calibri"/>
            </a:endParaRPr>
          </a:p>
          <a:p>
            <a:pPr indent="-342900" lvl="0" marL="355600" marR="0" rtl="0" algn="l">
              <a:lnSpc>
                <a:spcPct val="100000"/>
              </a:lnSpc>
              <a:spcBef>
                <a:spcPts val="235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Address field hold two values</a:t>
            </a:r>
            <a:endParaRPr sz="2800">
              <a:solidFill>
                <a:schemeClr val="dk1"/>
              </a:solidFill>
              <a:latin typeface="Calibri"/>
              <a:ea typeface="Calibri"/>
              <a:cs typeface="Calibri"/>
              <a:sym typeface="Calibri"/>
            </a:endParaRPr>
          </a:p>
          <a:p>
            <a:pPr indent="-287019" lvl="1" marL="756285" marR="0" rtl="0" algn="l">
              <a:lnSpc>
                <a:spcPct val="100000"/>
              </a:lnSpc>
              <a:spcBef>
                <a:spcPts val="212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 base value</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2014"/>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 = register that holds displacement</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202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or vice versa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51" name="Google Shape;551;p71"/>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value contained in one address field is used directly. (A)</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other address field, or an implicit reference based on opcode, refers to a register whose contents are added to A to produce the effective address.</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Calibri"/>
                <a:ea typeface="Calibri"/>
                <a:cs typeface="Calibri"/>
                <a:sym typeface="Calibri"/>
              </a:rPr>
              <a:t>EA = A + (R)</a:t>
            </a:r>
            <a:endParaRPr sz="2400">
              <a:latin typeface="Calibri"/>
              <a:ea typeface="Calibri"/>
              <a:cs typeface="Calibri"/>
              <a:sym typeface="Calibri"/>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57" name="Google Shape;557;p72"/>
          <p:cNvSpPr txBox="1"/>
          <p:nvPr>
            <p:ph idx="1" type="body"/>
          </p:nvPr>
        </p:nvSpPr>
        <p:spPr>
          <a:xfrm>
            <a:off x="533400" y="1447800"/>
            <a:ext cx="8400288"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three of the most common uses of displacement addressing:</a:t>
            </a:r>
            <a:endParaRPr/>
          </a:p>
          <a:p>
            <a:pPr indent="-283464" lvl="0" marL="365760" rtl="0" algn="l">
              <a:lnSpc>
                <a:spcPct val="100000"/>
              </a:lnSpc>
              <a:spcBef>
                <a:spcPts val="600"/>
              </a:spcBef>
              <a:spcAft>
                <a:spcPts val="0"/>
              </a:spcAft>
              <a:buSzPts val="2560"/>
              <a:buChar char="⚫"/>
            </a:pPr>
            <a:r>
              <a:rPr lang="en-US"/>
              <a:t> Relative addressing</a:t>
            </a:r>
            <a:endParaRPr/>
          </a:p>
          <a:p>
            <a:pPr indent="-283464" lvl="0" marL="365760" rtl="0" algn="l">
              <a:lnSpc>
                <a:spcPct val="100000"/>
              </a:lnSpc>
              <a:spcBef>
                <a:spcPts val="600"/>
              </a:spcBef>
              <a:spcAft>
                <a:spcPts val="0"/>
              </a:spcAft>
              <a:buSzPts val="2560"/>
              <a:buChar char="⚫"/>
            </a:pPr>
            <a:r>
              <a:rPr lang="en-US"/>
              <a:t> Base-register addressing</a:t>
            </a:r>
            <a:endParaRPr/>
          </a:p>
          <a:p>
            <a:pPr indent="-283464" lvl="0" marL="365760" rtl="0" algn="l">
              <a:lnSpc>
                <a:spcPct val="100000"/>
              </a:lnSpc>
              <a:spcBef>
                <a:spcPts val="600"/>
              </a:spcBef>
              <a:spcAft>
                <a:spcPts val="0"/>
              </a:spcAft>
              <a:buSzPts val="2560"/>
              <a:buChar char="⚫"/>
            </a:pPr>
            <a:r>
              <a:rPr lang="en-US"/>
              <a:t> Indexing</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Relative addressing</a:t>
            </a:r>
            <a:endParaRPr/>
          </a:p>
        </p:txBody>
      </p:sp>
      <p:sp>
        <p:nvSpPr>
          <p:cNvPr id="563" name="Google Shape;563;p73"/>
          <p:cNvSpPr txBox="1"/>
          <p:nvPr>
            <p:ph idx="1" type="body"/>
          </p:nvPr>
        </p:nvSpPr>
        <p:spPr>
          <a:xfrm>
            <a:off x="609600" y="1447800"/>
            <a:ext cx="8324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PC-relative addressing,</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implicitly referenced register is the program counter (PC).</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That is, the next instruction address is added to the address field to produce the EA.</a:t>
            </a:r>
            <a:endParaRPr sz="24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7" name="Shape 567"/>
        <p:cNvGrpSpPr/>
        <p:nvPr/>
      </p:nvGrpSpPr>
      <p:grpSpPr>
        <a:xfrm>
          <a:off x="0" y="0"/>
          <a:ext cx="0" cy="0"/>
          <a:chOff x="0" y="0"/>
          <a:chExt cx="0" cy="0"/>
        </a:xfrm>
      </p:grpSpPr>
      <p:sp>
        <p:nvSpPr>
          <p:cNvPr id="568" name="Google Shape;568;p74"/>
          <p:cNvSpPr txBox="1"/>
          <p:nvPr>
            <p:ph type="title"/>
          </p:nvPr>
        </p:nvSpPr>
        <p:spPr>
          <a:xfrm>
            <a:off x="1012952" y="487502"/>
            <a:ext cx="712215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Base-Register Addressing</a:t>
            </a:r>
            <a:endParaRPr sz="4400">
              <a:latin typeface="Arial"/>
              <a:ea typeface="Arial"/>
              <a:cs typeface="Arial"/>
              <a:sym typeface="Arial"/>
            </a:endParaRPr>
          </a:p>
        </p:txBody>
      </p:sp>
      <p:sp>
        <p:nvSpPr>
          <p:cNvPr id="569" name="Google Shape;569;p74"/>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70" name="Google Shape;570;p74"/>
          <p:cNvSpPr txBox="1"/>
          <p:nvPr/>
        </p:nvSpPr>
        <p:spPr>
          <a:xfrm>
            <a:off x="535025" y="1555876"/>
            <a:ext cx="8073390" cy="4611519"/>
          </a:xfrm>
          <a:prstGeom prst="rect">
            <a:avLst/>
          </a:prstGeom>
          <a:noFill/>
          <a:ln>
            <a:noFill/>
          </a:ln>
        </p:spPr>
        <p:txBody>
          <a:bodyPr anchorCtr="0" anchor="t" bIns="0" lIns="0" spcFirstLastPara="1" rIns="0" wrap="square" tIns="12700">
            <a:spAutoFit/>
          </a:bodyPr>
          <a:lstStyle/>
          <a:p>
            <a:pPr indent="-342900" lvl="0" marL="355600" marR="5080" rtl="0" algn="l">
              <a:lnSpc>
                <a:spcPct val="1501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Base	register	addressing	mode	is	used	to	implement	</a:t>
            </a:r>
            <a:r>
              <a:rPr lang="en-US" sz="2400">
                <a:solidFill>
                  <a:srgbClr val="FF0000"/>
                </a:solidFill>
                <a:latin typeface="Calibri"/>
                <a:ea typeface="Calibri"/>
                <a:cs typeface="Calibri"/>
                <a:sym typeface="Calibri"/>
              </a:rPr>
              <a:t>inter  segment transfer of control.</a:t>
            </a:r>
            <a:endParaRPr sz="2400">
              <a:solidFill>
                <a:srgbClr val="FF0000"/>
              </a:solidFill>
              <a:latin typeface="Calibri"/>
              <a:ea typeface="Calibri"/>
              <a:cs typeface="Calibri"/>
              <a:sym typeface="Calibri"/>
            </a:endParaRPr>
          </a:p>
          <a:p>
            <a:pPr indent="-342900" lvl="0" marL="355600" marR="5080" rtl="0" algn="l">
              <a:lnSpc>
                <a:spcPct val="150100"/>
              </a:lnSpc>
              <a:spcBef>
                <a:spcPts val="1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referenced register contains a main memory address, and the address field contains a displacement</a:t>
            </a:r>
            <a:endParaRPr sz="2400">
              <a:solidFill>
                <a:schemeClr val="dk1"/>
              </a:solidFill>
              <a:latin typeface="Calibri"/>
              <a:ea typeface="Calibri"/>
              <a:cs typeface="Calibri"/>
              <a:sym typeface="Calibri"/>
            </a:endParaRPr>
          </a:p>
          <a:p>
            <a:pPr indent="-342900" lvl="0" marL="355600" marR="5080" rtl="0" algn="l">
              <a:lnSpc>
                <a:spcPct val="150100"/>
              </a:lnSpc>
              <a:spcBef>
                <a:spcPts val="57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this	mode	effective	address	is	obtained	by	adding	base  register value to address field value.</a:t>
            </a:r>
            <a:endParaRPr sz="2400">
              <a:solidFill>
                <a:schemeClr val="dk1"/>
              </a:solidFill>
              <a:latin typeface="Calibri"/>
              <a:ea typeface="Calibri"/>
              <a:cs typeface="Calibri"/>
              <a:sym typeface="Calibri"/>
            </a:endParaRPr>
          </a:p>
          <a:p>
            <a:pPr indent="0" lvl="0" marL="0" marR="0" rtl="0" algn="l">
              <a:lnSpc>
                <a:spcPct val="100000"/>
              </a:lnSpc>
              <a:spcBef>
                <a:spcPts val="45"/>
              </a:spcBef>
              <a:spcAft>
                <a:spcPts val="0"/>
              </a:spcAft>
              <a:buClr>
                <a:schemeClr val="dk1"/>
              </a:buClr>
              <a:buSzPts val="2500"/>
              <a:buFont typeface="Arial"/>
              <a:buNone/>
            </a:pPr>
            <a:r>
              <a:t/>
            </a:r>
            <a:endParaRPr sz="25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EA= Base register + Address field value.</a:t>
            </a:r>
            <a:endParaRPr sz="24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4" name="Shape 574"/>
        <p:cNvGrpSpPr/>
        <p:nvPr/>
      </p:nvGrpSpPr>
      <p:grpSpPr>
        <a:xfrm>
          <a:off x="0" y="0"/>
          <a:ext cx="0" cy="0"/>
          <a:chOff x="0" y="0"/>
          <a:chExt cx="0" cy="0"/>
        </a:xfrm>
      </p:grpSpPr>
      <p:sp>
        <p:nvSpPr>
          <p:cNvPr id="575" name="Google Shape;575;p75"/>
          <p:cNvSpPr txBox="1"/>
          <p:nvPr>
            <p:ph type="title"/>
          </p:nvPr>
        </p:nvSpPr>
        <p:spPr>
          <a:xfrm>
            <a:off x="1828800" y="304800"/>
            <a:ext cx="54286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Indexed Addressing</a:t>
            </a:r>
            <a:endParaRPr sz="4400">
              <a:latin typeface="Arial"/>
              <a:ea typeface="Arial"/>
              <a:cs typeface="Arial"/>
              <a:sym typeface="Arial"/>
            </a:endParaRPr>
          </a:p>
        </p:txBody>
      </p:sp>
      <p:sp>
        <p:nvSpPr>
          <p:cNvPr id="576" name="Google Shape;576;p75"/>
          <p:cNvSpPr txBox="1"/>
          <p:nvPr>
            <p:ph idx="12" type="sldNum"/>
          </p:nvPr>
        </p:nvSpPr>
        <p:spPr>
          <a:xfrm>
            <a:off x="8613648" y="6305550"/>
            <a:ext cx="457200" cy="476250"/>
          </a:xfrm>
          <a:prstGeom prst="rect">
            <a:avLst/>
          </a:prstGeom>
          <a:noFill/>
          <a:ln>
            <a:noFill/>
          </a:ln>
        </p:spPr>
        <p:txBody>
          <a:bodyPr anchorCtr="0" anchor="b" bIns="0" lIns="0" spcFirstLastPara="1" rIns="0" wrap="square" tIns="0">
            <a:spAutoFit/>
          </a:bodyPr>
          <a:lstStyle/>
          <a:p>
            <a:pPr indent="0" lvl="0" marL="38100" rtl="0" algn="ctr">
              <a:lnSpc>
                <a:spcPct val="117499"/>
              </a:lnSpc>
              <a:spcBef>
                <a:spcPts val="0"/>
              </a:spcBef>
              <a:spcAft>
                <a:spcPts val="0"/>
              </a:spcAft>
              <a:buNone/>
            </a:pPr>
            <a:fld id="{00000000-1234-1234-1234-123412341234}" type="slidenum">
              <a:rPr lang="en-US"/>
              <a:t>‹#›</a:t>
            </a:fld>
            <a:endParaRPr/>
          </a:p>
        </p:txBody>
      </p:sp>
      <p:sp>
        <p:nvSpPr>
          <p:cNvPr id="577" name="Google Shape;577;p75"/>
          <p:cNvSpPr txBox="1"/>
          <p:nvPr/>
        </p:nvSpPr>
        <p:spPr>
          <a:xfrm>
            <a:off x="457200" y="990601"/>
            <a:ext cx="8534400" cy="4321055"/>
          </a:xfrm>
          <a:prstGeom prst="rect">
            <a:avLst/>
          </a:prstGeom>
          <a:noFill/>
          <a:ln>
            <a:noFill/>
          </a:ln>
        </p:spPr>
        <p:txBody>
          <a:bodyPr anchorCtr="0" anchor="t" bIns="0" lIns="0" spcFirstLastPara="1" rIns="0" wrap="square" tIns="12050">
            <a:spAutoFit/>
          </a:bodyPr>
          <a:lstStyle/>
          <a:p>
            <a:pPr indent="-177800" lvl="0" marL="0" marR="0" rtl="0" algn="l">
              <a:spcBef>
                <a:spcPts val="0"/>
              </a:spcBef>
              <a:spcAft>
                <a:spcPts val="0"/>
              </a:spcAft>
              <a:buClr>
                <a:schemeClr val="dk1"/>
              </a:buClr>
              <a:buSzPts val="2800"/>
              <a:buFont typeface="Arial"/>
              <a:buChar char="•"/>
            </a:pPr>
            <a:r>
              <a:rPr lang="en-US" sz="2800">
                <a:solidFill>
                  <a:schemeClr val="dk1"/>
                </a:solidFill>
                <a:latin typeface="Gill Sans"/>
                <a:ea typeface="Gill Sans"/>
                <a:cs typeface="Gill Sans"/>
                <a:sym typeface="Gill Sans"/>
              </a:rPr>
              <a:t>The address field references a main memory address, and the referenced register contains a positive displacement from that address. </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operand’s offset is the sum of the content of an index register SI or DI and an 8 bit or 16 bit  displacement.</a:t>
            </a:r>
            <a:endParaRPr sz="2800">
              <a:solidFill>
                <a:schemeClr val="dk1"/>
              </a:solidFill>
              <a:latin typeface="Calibri"/>
              <a:ea typeface="Calibri"/>
              <a:cs typeface="Calibri"/>
              <a:sym typeface="Calibri"/>
            </a:endParaRPr>
          </a:p>
          <a:p>
            <a:pPr indent="-177800" lvl="0" marL="0" marR="0" rtl="0" algn="ctr">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MOV AX, [SI +05]</a:t>
            </a:r>
            <a:endParaRPr sz="2800">
              <a:solidFill>
                <a:schemeClr val="dk1"/>
              </a:solidFill>
              <a:latin typeface="Calibri"/>
              <a:ea typeface="Calibri"/>
              <a:cs typeface="Calibri"/>
              <a:sym typeface="Calibri"/>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efficient mechanism for performing iterative operations</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Autoindexing-typical INC/DEC</a:t>
            </a:r>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pic>
        <p:nvPicPr>
          <p:cNvPr id="578" name="Google Shape;578;p75"/>
          <p:cNvPicPr preferRelativeResize="0"/>
          <p:nvPr/>
        </p:nvPicPr>
        <p:blipFill rotWithShape="1">
          <a:blip r:embed="rId3">
            <a:alphaModFix/>
          </a:blip>
          <a:srcRect b="42708" l="43337" r="34993" t="44792"/>
          <a:stretch/>
        </p:blipFill>
        <p:spPr>
          <a:xfrm>
            <a:off x="3048000" y="4495800"/>
            <a:ext cx="2819400" cy="9144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2" name="Shape 582"/>
        <p:cNvGrpSpPr/>
        <p:nvPr/>
      </p:nvGrpSpPr>
      <p:grpSpPr>
        <a:xfrm>
          <a:off x="0" y="0"/>
          <a:ext cx="0" cy="0"/>
          <a:chOff x="0" y="0"/>
          <a:chExt cx="0" cy="0"/>
        </a:xfrm>
      </p:grpSpPr>
      <p:sp>
        <p:nvSpPr>
          <p:cNvPr id="583" name="Google Shape;583;p76"/>
          <p:cNvSpPr txBox="1"/>
          <p:nvPr>
            <p:ph type="title"/>
          </p:nvPr>
        </p:nvSpPr>
        <p:spPr>
          <a:xfrm>
            <a:off x="2103882" y="212801"/>
            <a:ext cx="48101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Arial"/>
              <a:buNone/>
            </a:pPr>
            <a:r>
              <a:rPr b="0" lang="en-US" sz="4400">
                <a:latin typeface="Arial"/>
                <a:ea typeface="Arial"/>
                <a:cs typeface="Arial"/>
                <a:sym typeface="Arial"/>
              </a:rPr>
              <a:t>Stack Addressing</a:t>
            </a:r>
            <a:endParaRPr sz="4400">
              <a:latin typeface="Arial"/>
              <a:ea typeface="Arial"/>
              <a:cs typeface="Arial"/>
              <a:sym typeface="Arial"/>
            </a:endParaRPr>
          </a:p>
        </p:txBody>
      </p:sp>
      <p:sp>
        <p:nvSpPr>
          <p:cNvPr id="584" name="Google Shape;584;p76"/>
          <p:cNvSpPr txBox="1"/>
          <p:nvPr/>
        </p:nvSpPr>
        <p:spPr>
          <a:xfrm>
            <a:off x="535025" y="1005967"/>
            <a:ext cx="8304175" cy="4233851"/>
          </a:xfrm>
          <a:prstGeom prst="rect">
            <a:avLst/>
          </a:prstGeom>
          <a:noFill/>
          <a:ln>
            <a:noFill/>
          </a:ln>
        </p:spPr>
        <p:txBody>
          <a:bodyPr anchorCtr="0" anchor="t" bIns="0" lIns="0" spcFirstLastPara="1" rIns="0" wrap="square" tIns="85725">
            <a:spAutoFit/>
          </a:bodyPr>
          <a:lstStyle/>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stack is a linear array of locations. It is sometimes referred to as a </a:t>
            </a:r>
            <a:r>
              <a:rPr i="1" lang="en-US" sz="2400">
                <a:solidFill>
                  <a:schemeClr val="dk1"/>
                </a:solidFill>
                <a:latin typeface="Times New Roman"/>
                <a:ea typeface="Times New Roman"/>
                <a:cs typeface="Times New Roman"/>
                <a:sym typeface="Times New Roman"/>
              </a:rPr>
              <a:t>pushdown list or last-in-first-out queue</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stack  pointer whose value is the address of the top of the stack.</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form of implied addressing ()</a:t>
            </a:r>
            <a:r>
              <a:rPr lang="en-US" sz="2400">
                <a:solidFill>
                  <a:schemeClr val="dk1"/>
                </a:solidFill>
                <a:latin typeface="Gill Sans"/>
                <a:ea typeface="Gill Sans"/>
                <a:cs typeface="Gill Sans"/>
                <a:sym typeface="Gill Sans"/>
              </a:rPr>
              <a:t> instructions that comprise only an opcode without an operand</a:t>
            </a:r>
            <a:endParaRPr/>
          </a:p>
          <a:p>
            <a:pPr indent="0" lvl="0" marL="0" marR="0" rtl="0" algn="l">
              <a:spcBef>
                <a:spcPts val="0"/>
              </a:spcBef>
              <a:spcAft>
                <a:spcPts val="0"/>
              </a:spcAft>
              <a:buNone/>
            </a:pPr>
            <a:r>
              <a:t/>
            </a:r>
            <a:endParaRPr i="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Operand is (implicitly) on top of stack</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e.g.</a:t>
            </a:r>
            <a:endParaRPr sz="2400">
              <a:solidFill>
                <a:schemeClr val="dk1"/>
              </a:solidFill>
              <a:latin typeface="Times New Roman"/>
              <a:ea typeface="Times New Roman"/>
              <a:cs typeface="Times New Roman"/>
              <a:sym typeface="Times New Roman"/>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	ADD	Pop top two items from stack and add and push</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-PUSH AX</a:t>
            </a:r>
            <a:endParaRPr/>
          </a:p>
          <a:p>
            <a:pPr indent="0" lvl="0" marL="469900" marR="0" rtl="0" algn="l">
              <a:lnSpc>
                <a:spcPct val="100000"/>
              </a:lnSpc>
              <a:spcBef>
                <a:spcPts val="509"/>
              </a:spcBef>
              <a:spcAft>
                <a:spcPts val="0"/>
              </a:spcAft>
              <a:buNone/>
            </a:pPr>
            <a:r>
              <a:rPr lang="en-US" sz="2000">
                <a:solidFill>
                  <a:schemeClr val="dk1"/>
                </a:solidFill>
                <a:latin typeface="Times New Roman"/>
                <a:ea typeface="Times New Roman"/>
                <a:cs typeface="Times New Roman"/>
                <a:sym typeface="Times New Roman"/>
              </a:rPr>
              <a:t>POP AX</a:t>
            </a:r>
            <a:endParaRPr sz="2000">
              <a:solidFill>
                <a:schemeClr val="dk1"/>
              </a:solidFill>
              <a:latin typeface="Times New Roman"/>
              <a:ea typeface="Times New Roman"/>
              <a:cs typeface="Times New Roman"/>
              <a:sym typeface="Times New Roman"/>
            </a:endParaRPr>
          </a:p>
        </p:txBody>
      </p:sp>
      <p:sp>
        <p:nvSpPr>
          <p:cNvPr id="585" name="Google Shape;585;p76"/>
          <p:cNvSpPr txBox="1"/>
          <p:nvPr/>
        </p:nvSpPr>
        <p:spPr>
          <a:xfrm>
            <a:off x="8430259" y="6448280"/>
            <a:ext cx="177800" cy="194310"/>
          </a:xfrm>
          <a:prstGeom prst="rect">
            <a:avLst/>
          </a:prstGeom>
          <a:noFill/>
          <a:ln>
            <a:noFill/>
          </a:ln>
        </p:spPr>
        <p:txBody>
          <a:bodyPr anchorCtr="0" anchor="t" bIns="0" lIns="0" spcFirstLastPara="1" rIns="0" wrap="square" tIns="0">
            <a:spAutoFit/>
          </a:bodyPr>
          <a:lstStyle/>
          <a:p>
            <a:pPr indent="0" lvl="0" marL="12700" marR="0" rtl="0" algn="l">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59</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591" name="Google Shape;591;p7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No memory reference</a:t>
            </a:r>
            <a:endParaRPr/>
          </a:p>
        </p:txBody>
      </p:sp>
      <p:pic>
        <p:nvPicPr>
          <p:cNvPr id="592" name="Google Shape;592;p77"/>
          <p:cNvPicPr preferRelativeResize="0"/>
          <p:nvPr/>
        </p:nvPicPr>
        <p:blipFill rotWithShape="1">
          <a:blip r:embed="rId3">
            <a:alphaModFix/>
          </a:blip>
          <a:srcRect b="0" l="0" r="0" t="0"/>
          <a:stretch/>
        </p:blipFill>
        <p:spPr>
          <a:xfrm>
            <a:off x="4572000" y="3124200"/>
            <a:ext cx="3451225" cy="23114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598" name="Google Shape;598;p78"/>
          <p:cNvPicPr preferRelativeResize="0"/>
          <p:nvPr>
            <p:ph idx="1" type="body"/>
          </p:nvPr>
        </p:nvPicPr>
        <p:blipFill rotWithShape="1">
          <a:blip r:embed="rId3">
            <a:alphaModFix/>
          </a:blip>
          <a:srcRect b="36446" l="17443" r="16510" t="22590"/>
          <a:stretch/>
        </p:blipFill>
        <p:spPr>
          <a:xfrm>
            <a:off x="609600" y="2514600"/>
            <a:ext cx="7924800" cy="25908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2" name="Shape 602"/>
        <p:cNvGrpSpPr/>
        <p:nvPr/>
      </p:nvGrpSpPr>
      <p:grpSpPr>
        <a:xfrm>
          <a:off x="0" y="0"/>
          <a:ext cx="0" cy="0"/>
          <a:chOff x="0" y="0"/>
          <a:chExt cx="0" cy="0"/>
        </a:xfrm>
      </p:grpSpPr>
      <p:sp>
        <p:nvSpPr>
          <p:cNvPr id="603" name="Google Shape;603;p79"/>
          <p:cNvSpPr txBox="1"/>
          <p:nvPr>
            <p:ph type="title"/>
          </p:nvPr>
        </p:nvSpPr>
        <p:spPr>
          <a:xfrm>
            <a:off x="2644267" y="2824429"/>
            <a:ext cx="38061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7" name="Shape 607"/>
        <p:cNvGrpSpPr/>
        <p:nvPr/>
      </p:nvGrpSpPr>
      <p:grpSpPr>
        <a:xfrm>
          <a:off x="0" y="0"/>
          <a:ext cx="0" cy="0"/>
          <a:chOff x="0" y="0"/>
          <a:chExt cx="0" cy="0"/>
        </a:xfrm>
      </p:grpSpPr>
      <p:sp>
        <p:nvSpPr>
          <p:cNvPr id="608" name="Google Shape;608;p80"/>
          <p:cNvSpPr txBox="1"/>
          <p:nvPr>
            <p:ph type="title"/>
          </p:nvPr>
        </p:nvSpPr>
        <p:spPr>
          <a:xfrm>
            <a:off x="2743200" y="228600"/>
            <a:ext cx="3808729"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sp>
        <p:nvSpPr>
          <p:cNvPr id="609" name="Google Shape;609;p80"/>
          <p:cNvSpPr txBox="1"/>
          <p:nvPr/>
        </p:nvSpPr>
        <p:spPr>
          <a:xfrm>
            <a:off x="535940" y="1507044"/>
            <a:ext cx="2110740" cy="1640839"/>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Two steps:</a:t>
            </a:r>
            <a:endParaRPr sz="3200">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Fetch</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Execute</a:t>
            </a:r>
            <a:endParaRPr b="0" i="0" sz="2800" u="none" cap="none" strike="noStrike">
              <a:solidFill>
                <a:schemeClr val="dk1"/>
              </a:solidFill>
              <a:latin typeface="Calibri"/>
              <a:ea typeface="Calibri"/>
              <a:cs typeface="Calibri"/>
              <a:sym typeface="Calibri"/>
            </a:endParaRPr>
          </a:p>
        </p:txBody>
      </p:sp>
      <p:pic>
        <p:nvPicPr>
          <p:cNvPr id="610" name="Google Shape;610;p80"/>
          <p:cNvPicPr preferRelativeResize="0"/>
          <p:nvPr/>
        </p:nvPicPr>
        <p:blipFill rotWithShape="1">
          <a:blip r:embed="rId3">
            <a:alphaModFix/>
          </a:blip>
          <a:srcRect b="0" l="0" r="0" t="0"/>
          <a:stretch/>
        </p:blipFill>
        <p:spPr>
          <a:xfrm>
            <a:off x="0" y="3095625"/>
            <a:ext cx="9142411" cy="2271649"/>
          </a:xfrm>
          <a:prstGeom prst="rect">
            <a:avLst/>
          </a:prstGeom>
          <a:noFill/>
          <a:ln>
            <a:noFill/>
          </a:ln>
        </p:spPr>
      </p:pic>
      <p:sp>
        <p:nvSpPr>
          <p:cNvPr id="611" name="Google Shape;611;p80"/>
          <p:cNvSpPr txBox="1"/>
          <p:nvPr/>
        </p:nvSpPr>
        <p:spPr>
          <a:xfrm>
            <a:off x="3276600" y="990600"/>
            <a:ext cx="5334000" cy="1938992"/>
          </a:xfrm>
          <a:prstGeom prst="rect">
            <a:avLst/>
          </a:prstGeom>
          <a:noFill/>
          <a:ln>
            <a:noFill/>
          </a:ln>
        </p:spPr>
        <p:txBody>
          <a:bodyPr anchorCtr="0" anchor="t" bIns="45700" lIns="91425" spcFirstLastPara="1" rIns="91425" wrap="square" tIns="45700">
            <a:spAutoFit/>
          </a:bodyPr>
          <a:lstStyle/>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processor reads ( </a:t>
            </a:r>
            <a:r>
              <a:rPr i="1" lang="en-US" sz="2000">
                <a:solidFill>
                  <a:schemeClr val="dk1"/>
                </a:solidFill>
                <a:latin typeface="Times New Roman"/>
                <a:ea typeface="Times New Roman"/>
                <a:cs typeface="Times New Roman"/>
                <a:sym typeface="Times New Roman"/>
              </a:rPr>
              <a:t>fetches) instructions from memory one at </a:t>
            </a:r>
            <a:r>
              <a:rPr lang="en-US" sz="2000">
                <a:solidFill>
                  <a:schemeClr val="dk1"/>
                </a:solidFill>
                <a:latin typeface="Times New Roman"/>
                <a:ea typeface="Times New Roman"/>
                <a:cs typeface="Times New Roman"/>
                <a:sym typeface="Times New Roman"/>
              </a:rPr>
              <a:t>a time and executes each instruction. </a:t>
            </a:r>
            <a:endParaRPr/>
          </a:p>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Program execution consists of repeating the</a:t>
            </a:r>
            <a:endParaRPr/>
          </a:p>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process of instruction fetch and instruction execution</a:t>
            </a:r>
            <a:endParaRPr sz="2000">
              <a:solidFill>
                <a:schemeClr val="dk1"/>
              </a:solidFill>
              <a:latin typeface="Times New Roman"/>
              <a:ea typeface="Times New Roman"/>
              <a:cs typeface="Times New Roman"/>
              <a:sym typeface="Times New Roman"/>
            </a:endParaRPr>
          </a:p>
        </p:txBody>
      </p:sp>
      <p:sp>
        <p:nvSpPr>
          <p:cNvPr id="612" name="Google Shape;612;p80"/>
          <p:cNvSpPr txBox="1"/>
          <p:nvPr/>
        </p:nvSpPr>
        <p:spPr>
          <a:xfrm>
            <a:off x="381000" y="5715000"/>
            <a:ext cx="85344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The processing required for a single instruction is called an </a:t>
            </a:r>
            <a:r>
              <a:rPr i="1" lang="en-US" sz="2000">
                <a:solidFill>
                  <a:schemeClr val="dk1"/>
                </a:solidFill>
                <a:latin typeface="Times New Roman"/>
                <a:ea typeface="Times New Roman"/>
                <a:cs typeface="Times New Roman"/>
                <a:sym typeface="Times New Roman"/>
              </a:rPr>
              <a:t>instruction cycle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1"/>
          <p:cNvSpPr txBox="1"/>
          <p:nvPr>
            <p:ph type="title"/>
          </p:nvPr>
        </p:nvSpPr>
        <p:spPr>
          <a:xfrm>
            <a:off x="228600" y="152400"/>
            <a:ext cx="7879080" cy="381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618" name="Google Shape;618;p81"/>
          <p:cNvSpPr txBox="1"/>
          <p:nvPr>
            <p:ph idx="1" type="body"/>
          </p:nvPr>
        </p:nvSpPr>
        <p:spPr>
          <a:xfrm>
            <a:off x="228600" y="609600"/>
            <a:ext cx="8705088" cy="56388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At the beginning of each instruction cycle the processor fetches an instruction from memory.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Program counter (PC) -holds the address of the instruction to be fetched next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fetched instruction is loaded into a register in the processor known as the instruction register (IR).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instruction contains bits that </a:t>
            </a:r>
            <a:r>
              <a:rPr b="1" lang="en-US" sz="2400">
                <a:latin typeface="Times New Roman"/>
                <a:ea typeface="Times New Roman"/>
                <a:cs typeface="Times New Roman"/>
                <a:sym typeface="Times New Roman"/>
              </a:rPr>
              <a:t>specify the action the processor </a:t>
            </a:r>
            <a:r>
              <a:rPr lang="en-US" sz="2400">
                <a:latin typeface="Times New Roman"/>
                <a:ea typeface="Times New Roman"/>
                <a:cs typeface="Times New Roman"/>
                <a:sym typeface="Times New Roman"/>
              </a:rPr>
              <a:t>is to take.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processor </a:t>
            </a:r>
            <a:r>
              <a:rPr b="1" lang="en-US" sz="2400">
                <a:latin typeface="Times New Roman"/>
                <a:ea typeface="Times New Roman"/>
                <a:cs typeface="Times New Roman"/>
                <a:sym typeface="Times New Roman"/>
              </a:rPr>
              <a:t>interprets the instruction </a:t>
            </a:r>
            <a:r>
              <a:rPr lang="en-US" sz="2400">
                <a:latin typeface="Times New Roman"/>
                <a:ea typeface="Times New Roman"/>
                <a:cs typeface="Times New Roman"/>
                <a:sym typeface="Times New Roman"/>
              </a:rPr>
              <a:t>and </a:t>
            </a:r>
            <a:r>
              <a:rPr b="1" lang="en-US" sz="2400">
                <a:latin typeface="Times New Roman"/>
                <a:ea typeface="Times New Roman"/>
                <a:cs typeface="Times New Roman"/>
                <a:sym typeface="Times New Roman"/>
              </a:rPr>
              <a:t>performs the required action</a:t>
            </a:r>
            <a:endParaRPr/>
          </a:p>
          <a:p>
            <a:pPr indent="-161543" lvl="0" marL="365760" rtl="0" algn="just">
              <a:lnSpc>
                <a:spcPct val="100000"/>
              </a:lnSpc>
              <a:spcBef>
                <a:spcPts val="600"/>
              </a:spcBef>
              <a:spcAft>
                <a:spcPts val="0"/>
              </a:spcAft>
              <a:buSzPts val="1920"/>
              <a:buNone/>
            </a:pPr>
            <a:r>
              <a:t/>
            </a:r>
            <a:endParaRPr b="1" sz="2400">
              <a:latin typeface="Times New Roman"/>
              <a:ea typeface="Times New Roman"/>
              <a:cs typeface="Times New Roman"/>
              <a:sym typeface="Times New Roman"/>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2" name="Shape 622"/>
        <p:cNvGrpSpPr/>
        <p:nvPr/>
      </p:nvGrpSpPr>
      <p:grpSpPr>
        <a:xfrm>
          <a:off x="0" y="0"/>
          <a:ext cx="0" cy="0"/>
          <a:chOff x="0" y="0"/>
          <a:chExt cx="0" cy="0"/>
        </a:xfrm>
      </p:grpSpPr>
      <p:sp>
        <p:nvSpPr>
          <p:cNvPr id="623" name="Google Shape;623;p82"/>
          <p:cNvSpPr txBox="1"/>
          <p:nvPr>
            <p:ph type="title"/>
          </p:nvPr>
        </p:nvSpPr>
        <p:spPr>
          <a:xfrm>
            <a:off x="2631185" y="568197"/>
            <a:ext cx="3885565"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Gill Sans"/>
              <a:buNone/>
            </a:pPr>
            <a:r>
              <a:rPr lang="en-US" sz="4400"/>
              <a:t>Instruction Cycle</a:t>
            </a:r>
            <a:endParaRPr sz="4400"/>
          </a:p>
        </p:txBody>
      </p:sp>
      <p:sp>
        <p:nvSpPr>
          <p:cNvPr id="624" name="Google Shape;624;p82"/>
          <p:cNvSpPr txBox="1"/>
          <p:nvPr>
            <p:ph idx="1" type="body"/>
          </p:nvPr>
        </p:nvSpPr>
        <p:spPr>
          <a:xfrm>
            <a:off x="152400" y="1447800"/>
            <a:ext cx="8781288" cy="5299528"/>
          </a:xfrm>
          <a:prstGeom prst="rect">
            <a:avLst/>
          </a:prstGeom>
          <a:noFill/>
          <a:ln>
            <a:noFill/>
          </a:ln>
        </p:spPr>
        <p:txBody>
          <a:bodyPr anchorCtr="0" anchor="t" bIns="0" lIns="0" spcFirstLastPara="1" rIns="0" wrap="square" tIns="13325">
            <a:spAutoFit/>
          </a:bodyPr>
          <a:lstStyle/>
          <a:p>
            <a:pPr indent="-343535" lvl="0" marL="355600" marR="5080" rtl="0" algn="l">
              <a:lnSpc>
                <a:spcPct val="150000"/>
              </a:lnSpc>
              <a:spcBef>
                <a:spcPts val="0"/>
              </a:spcBef>
              <a:spcAft>
                <a:spcPts val="0"/>
              </a:spcAft>
              <a:buSzPts val="2560"/>
              <a:buFont typeface="Arial"/>
              <a:buChar char="•"/>
            </a:pPr>
            <a:r>
              <a:rPr lang="en-US"/>
              <a:t>It is the time in which a single instruction is fetched  from memory,	decoded, and executed</a:t>
            </a:r>
            <a:endParaRPr/>
          </a:p>
          <a:p>
            <a:pPr indent="-343535" lvl="0" marL="355600" rtl="0" algn="l">
              <a:lnSpc>
                <a:spcPct val="100000"/>
              </a:lnSpc>
              <a:spcBef>
                <a:spcPts val="2350"/>
              </a:spcBef>
              <a:spcAft>
                <a:spcPts val="0"/>
              </a:spcAft>
              <a:buSzPts val="2560"/>
              <a:buFont typeface="Arial"/>
              <a:buChar char="•"/>
            </a:pPr>
            <a:r>
              <a:rPr lang="en-US"/>
              <a:t>An </a:t>
            </a:r>
            <a:r>
              <a:rPr b="1" lang="en-US">
                <a:latin typeface="Calibri"/>
                <a:ea typeface="Calibri"/>
                <a:cs typeface="Calibri"/>
                <a:sym typeface="Calibri"/>
              </a:rPr>
              <a:t>Instruction Cycle </a:t>
            </a:r>
            <a:r>
              <a:rPr lang="en-US"/>
              <a:t>requires the following subcycle:</a:t>
            </a:r>
            <a:endParaRPr/>
          </a:p>
          <a:p>
            <a:pPr indent="-287019" lvl="1" marL="756285" rtl="0" algn="l">
              <a:lnSpc>
                <a:spcPct val="100000"/>
              </a:lnSpc>
              <a:spcBef>
                <a:spcPts val="2120"/>
              </a:spcBef>
              <a:spcAft>
                <a:spcPts val="0"/>
              </a:spcAft>
              <a:buSzPts val="2400"/>
              <a:buFont typeface="Arial"/>
              <a:buChar char="–"/>
            </a:pPr>
            <a:r>
              <a:rPr b="1" lang="en-US" sz="2400">
                <a:latin typeface="Calibri"/>
                <a:ea typeface="Calibri"/>
                <a:cs typeface="Calibri"/>
                <a:sym typeface="Calibri"/>
              </a:rPr>
              <a:t>FETCH</a:t>
            </a:r>
            <a:endParaRPr sz="2400">
              <a:latin typeface="Calibri"/>
              <a:ea typeface="Calibri"/>
              <a:cs typeface="Calibri"/>
              <a:sym typeface="Calibri"/>
            </a:endParaRPr>
          </a:p>
          <a:p>
            <a:pPr indent="-287019" lvl="1" marL="756285" rtl="0" algn="l">
              <a:lnSpc>
                <a:spcPct val="100000"/>
              </a:lnSpc>
              <a:spcBef>
                <a:spcPts val="2014"/>
              </a:spcBef>
              <a:spcAft>
                <a:spcPts val="0"/>
              </a:spcAft>
              <a:buSzPts val="2400"/>
              <a:buFont typeface="Arial"/>
              <a:buChar char="–"/>
            </a:pPr>
            <a:r>
              <a:rPr b="1" lang="en-US" sz="2400">
                <a:latin typeface="Calibri"/>
                <a:ea typeface="Calibri"/>
                <a:cs typeface="Calibri"/>
                <a:sym typeface="Calibri"/>
              </a:rPr>
              <a:t>EXECUTE</a:t>
            </a:r>
            <a:endParaRPr sz="2400">
              <a:latin typeface="Calibri"/>
              <a:ea typeface="Calibri"/>
              <a:cs typeface="Calibri"/>
              <a:sym typeface="Calibri"/>
            </a:endParaRPr>
          </a:p>
          <a:p>
            <a:pPr indent="-287019" lvl="1" marL="756285" rtl="0" algn="l">
              <a:lnSpc>
                <a:spcPct val="100000"/>
              </a:lnSpc>
              <a:spcBef>
                <a:spcPts val="2020"/>
              </a:spcBef>
              <a:spcAft>
                <a:spcPts val="0"/>
              </a:spcAft>
              <a:buSzPts val="2400"/>
              <a:buFont typeface="Arial"/>
              <a:buChar char="–"/>
            </a:pPr>
            <a:r>
              <a:rPr b="1" lang="en-US" sz="2400">
                <a:solidFill>
                  <a:srgbClr val="FF0000"/>
                </a:solidFill>
                <a:latin typeface="Calibri"/>
                <a:ea typeface="Calibri"/>
                <a:cs typeface="Calibri"/>
                <a:sym typeface="Calibri"/>
              </a:rPr>
              <a:t>INDIRECT</a:t>
            </a:r>
            <a:endParaRPr sz="2400">
              <a:latin typeface="Calibri"/>
              <a:ea typeface="Calibri"/>
              <a:cs typeface="Calibri"/>
              <a:sym typeface="Calibri"/>
            </a:endParaRPr>
          </a:p>
          <a:p>
            <a:pPr indent="-287019" lvl="1" marL="756285" rtl="0" algn="l">
              <a:lnSpc>
                <a:spcPct val="100000"/>
              </a:lnSpc>
              <a:spcBef>
                <a:spcPts val="2014"/>
              </a:spcBef>
              <a:spcAft>
                <a:spcPts val="0"/>
              </a:spcAft>
              <a:buSzPts val="2400"/>
              <a:buFont typeface="Arial"/>
              <a:buChar char="–"/>
            </a:pPr>
            <a:r>
              <a:rPr b="1" lang="en-US" sz="2400">
                <a:solidFill>
                  <a:srgbClr val="00AF50"/>
                </a:solidFill>
                <a:latin typeface="Calibri"/>
                <a:ea typeface="Calibri"/>
                <a:cs typeface="Calibri"/>
                <a:sym typeface="Calibri"/>
              </a:rPr>
              <a:t>INTERRUPT</a:t>
            </a:r>
            <a:endParaRPr sz="2400">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630" name="Google Shape;630;p83"/>
          <p:cNvPicPr preferRelativeResize="0"/>
          <p:nvPr>
            <p:ph idx="1" type="body"/>
          </p:nvPr>
        </p:nvPicPr>
        <p:blipFill rotWithShape="1">
          <a:blip r:embed="rId3">
            <a:alphaModFix/>
          </a:blip>
          <a:srcRect b="16566" l="25572" r="20576" t="23795"/>
          <a:stretch/>
        </p:blipFill>
        <p:spPr>
          <a:xfrm>
            <a:off x="1524000" y="1981200"/>
            <a:ext cx="6477000" cy="35814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4" name="Shape 634"/>
        <p:cNvGrpSpPr/>
        <p:nvPr/>
      </p:nvGrpSpPr>
      <p:grpSpPr>
        <a:xfrm>
          <a:off x="0" y="0"/>
          <a:ext cx="0" cy="0"/>
          <a:chOff x="0" y="0"/>
          <a:chExt cx="0" cy="0"/>
        </a:xfrm>
      </p:grpSpPr>
      <p:sp>
        <p:nvSpPr>
          <p:cNvPr id="635" name="Google Shape;635;p84"/>
          <p:cNvSpPr txBox="1"/>
          <p:nvPr>
            <p:ph type="title"/>
          </p:nvPr>
        </p:nvSpPr>
        <p:spPr>
          <a:xfrm>
            <a:off x="2631694" y="186893"/>
            <a:ext cx="3881754"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Gill Sans"/>
              <a:buNone/>
            </a:pPr>
            <a:r>
              <a:rPr lang="en-US" sz="4400"/>
              <a:t>Instruction Cycle</a:t>
            </a:r>
            <a:endParaRPr sz="4400"/>
          </a:p>
        </p:txBody>
      </p:sp>
      <p:sp>
        <p:nvSpPr>
          <p:cNvPr id="636" name="Google Shape;636;p84"/>
          <p:cNvSpPr txBox="1"/>
          <p:nvPr/>
        </p:nvSpPr>
        <p:spPr>
          <a:xfrm>
            <a:off x="111048" y="976122"/>
            <a:ext cx="8134350" cy="5678170"/>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Fetch</a:t>
            </a:r>
            <a:endParaRPr sz="2800">
              <a:solidFill>
                <a:schemeClr val="dk1"/>
              </a:solidFill>
              <a:latin typeface="Calibri"/>
              <a:ea typeface="Calibri"/>
              <a:cs typeface="Calibri"/>
              <a:sym typeface="Calibri"/>
            </a:endParaRPr>
          </a:p>
          <a:p>
            <a:pPr indent="0" lvl="0" marL="355600" marR="0" rtl="0" algn="l">
              <a:lnSpc>
                <a:spcPct val="100000"/>
              </a:lnSpc>
              <a:spcBef>
                <a:spcPts val="2115"/>
              </a:spcBef>
              <a:spcAft>
                <a:spcPts val="0"/>
              </a:spcAft>
              <a:buNone/>
            </a:pPr>
            <a:r>
              <a:rPr lang="en-US" sz="2400">
                <a:solidFill>
                  <a:schemeClr val="dk1"/>
                </a:solidFill>
                <a:latin typeface="Calibri"/>
                <a:ea typeface="Calibri"/>
                <a:cs typeface="Calibri"/>
                <a:sym typeface="Calibri"/>
              </a:rPr>
              <a:t>Read next instruction from memory into the processor</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Indirect Cycle (Decode Cycle)</a:t>
            </a:r>
            <a:endParaRPr sz="2800">
              <a:solidFill>
                <a:schemeClr val="dk1"/>
              </a:solidFill>
              <a:latin typeface="Calibri"/>
              <a:ea typeface="Calibri"/>
              <a:cs typeface="Calibri"/>
              <a:sym typeface="Calibri"/>
            </a:endParaRPr>
          </a:p>
          <a:p>
            <a:pPr indent="0" lvl="0" marL="355600" marR="5080" rtl="0" algn="l">
              <a:lnSpc>
                <a:spcPct val="150000"/>
              </a:lnSpc>
              <a:spcBef>
                <a:spcPts val="680"/>
              </a:spcBef>
              <a:spcAft>
                <a:spcPts val="0"/>
              </a:spcAft>
              <a:buNone/>
            </a:pPr>
            <a:r>
              <a:rPr lang="en-US" sz="2400">
                <a:solidFill>
                  <a:schemeClr val="dk1"/>
                </a:solidFill>
                <a:latin typeface="Calibri"/>
                <a:ea typeface="Calibri"/>
                <a:cs typeface="Calibri"/>
                <a:sym typeface="Calibri"/>
              </a:rPr>
              <a:t>May require memory access to fetch operands, therefore more  memory accesses.</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Interrupt</a:t>
            </a:r>
            <a:endParaRPr sz="2800">
              <a:solidFill>
                <a:schemeClr val="dk1"/>
              </a:solidFill>
              <a:latin typeface="Calibri"/>
              <a:ea typeface="Calibri"/>
              <a:cs typeface="Calibri"/>
              <a:sym typeface="Calibri"/>
            </a:endParaRPr>
          </a:p>
          <a:p>
            <a:pPr indent="0" lvl="0" marL="355600" marR="0" rtl="0" algn="l">
              <a:lnSpc>
                <a:spcPct val="100000"/>
              </a:lnSpc>
              <a:spcBef>
                <a:spcPts val="2115"/>
              </a:spcBef>
              <a:spcAft>
                <a:spcPts val="0"/>
              </a:spcAft>
              <a:buNone/>
            </a:pPr>
            <a:r>
              <a:rPr lang="en-US" sz="2400">
                <a:solidFill>
                  <a:schemeClr val="dk1"/>
                </a:solidFill>
                <a:latin typeface="Calibri"/>
                <a:ea typeface="Calibri"/>
                <a:cs typeface="Calibri"/>
                <a:sym typeface="Calibri"/>
              </a:rPr>
              <a:t>Save current instruction and service the interrupt</a:t>
            </a:r>
            <a:endParaRPr sz="2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80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rgbClr val="0000FF"/>
              </a:buClr>
              <a:buSzPts val="2250"/>
              <a:buFont typeface="Noto Sans Symbols"/>
              <a:buChar char="●"/>
            </a:pPr>
            <a:r>
              <a:rPr b="1" lang="en-US" sz="2800">
                <a:solidFill>
                  <a:schemeClr val="dk1"/>
                </a:solidFill>
                <a:latin typeface="Calibri"/>
                <a:ea typeface="Calibri"/>
                <a:cs typeface="Calibri"/>
                <a:sym typeface="Calibri"/>
              </a:rPr>
              <a:t>Execute</a:t>
            </a:r>
            <a:endParaRPr sz="2800">
              <a:solidFill>
                <a:schemeClr val="dk1"/>
              </a:solidFill>
              <a:latin typeface="Calibri"/>
              <a:ea typeface="Calibri"/>
              <a:cs typeface="Calibri"/>
              <a:sym typeface="Calibri"/>
            </a:endParaRPr>
          </a:p>
          <a:p>
            <a:pPr indent="0" lvl="0" marL="355600" marR="0" rtl="0" algn="l">
              <a:lnSpc>
                <a:spcPct val="100000"/>
              </a:lnSpc>
              <a:spcBef>
                <a:spcPts val="2120"/>
              </a:spcBef>
              <a:spcAft>
                <a:spcPts val="0"/>
              </a:spcAft>
              <a:buNone/>
            </a:pPr>
            <a:r>
              <a:rPr lang="en-US" sz="2400">
                <a:solidFill>
                  <a:schemeClr val="dk1"/>
                </a:solidFill>
                <a:latin typeface="Calibri"/>
                <a:ea typeface="Calibri"/>
                <a:cs typeface="Calibri"/>
                <a:sym typeface="Calibri"/>
              </a:rPr>
              <a:t>Interpret the opcode and perform the indicated operation</a:t>
            </a:r>
            <a:endParaRPr sz="24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5"/>
          <p:cNvSpPr txBox="1"/>
          <p:nvPr>
            <p:ph type="title"/>
          </p:nvPr>
        </p:nvSpPr>
        <p:spPr>
          <a:xfrm>
            <a:off x="228600" y="274638"/>
            <a:ext cx="8705088" cy="5635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642" name="Google Shape;642;p85"/>
          <p:cNvSpPr txBox="1"/>
          <p:nvPr>
            <p:ph idx="1" type="body"/>
          </p:nvPr>
        </p:nvSpPr>
        <p:spPr>
          <a:xfrm>
            <a:off x="228600" y="1066800"/>
            <a:ext cx="8260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all computers provide a mechanism by which other modules (I/O, memory) may interrupt the normal processing of the processor</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To accommodate interrupts, an </a:t>
            </a:r>
            <a:r>
              <a:rPr lang="en-US" sz="2400">
                <a:solidFill>
                  <a:srgbClr val="FF0000"/>
                </a:solidFill>
                <a:latin typeface="Times New Roman"/>
                <a:ea typeface="Times New Roman"/>
                <a:cs typeface="Times New Roman"/>
                <a:sym typeface="Times New Roman"/>
              </a:rPr>
              <a:t>interrupt cycle </a:t>
            </a:r>
            <a:r>
              <a:rPr lang="en-US" sz="2400">
                <a:latin typeface="Times New Roman"/>
                <a:ea typeface="Times New Roman"/>
                <a:cs typeface="Times New Roman"/>
                <a:sym typeface="Times New Roman"/>
              </a:rPr>
              <a:t>is added to the instruction cycle</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the interrupt cycle, the processor checks to see if any interrupts have occurred, indicated by the presence of an interrupt signal.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If no interrupts are pending, the processor proceeds to the fetch cycle and fetches the next instruction of the current program</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6"/>
          <p:cNvSpPr txBox="1"/>
          <p:nvPr>
            <p:ph type="title"/>
          </p:nvPr>
        </p:nvSpPr>
        <p:spPr>
          <a:xfrm>
            <a:off x="228600" y="274638"/>
            <a:ext cx="8705088" cy="5635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648" name="Google Shape;648;p86"/>
          <p:cNvSpPr txBox="1"/>
          <p:nvPr>
            <p:ph idx="1" type="body"/>
          </p:nvPr>
        </p:nvSpPr>
        <p:spPr>
          <a:xfrm>
            <a:off x="228600" y="990600"/>
            <a:ext cx="8260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If an interrupt is pending, the processor does the following:</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It suspends execution of the current program being executed and saves its context. This means saving the address of the next instruction to be executed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It sets the program counter to the starting address of an interrupt handler routine.</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processor now proceeds to the fetch cycle and fetches the first instruction in the interrupt handler program, which will service the interrupt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When the interrupt handler routine is completed, the processor can resume execution of the user program at the point of interruption.</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2" name="Shape 652"/>
        <p:cNvGrpSpPr/>
        <p:nvPr/>
      </p:nvGrpSpPr>
      <p:grpSpPr>
        <a:xfrm>
          <a:off x="0" y="0"/>
          <a:ext cx="0" cy="0"/>
          <a:chOff x="0" y="0"/>
          <a:chExt cx="0" cy="0"/>
        </a:xfrm>
      </p:grpSpPr>
      <p:sp>
        <p:nvSpPr>
          <p:cNvPr id="653" name="Google Shape;653;p87"/>
          <p:cNvSpPr txBox="1"/>
          <p:nvPr>
            <p:ph type="title"/>
          </p:nvPr>
        </p:nvSpPr>
        <p:spPr>
          <a:xfrm>
            <a:off x="901090" y="461594"/>
            <a:ext cx="734314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with Interrupts</a:t>
            </a:r>
            <a:endParaRPr sz="4400">
              <a:latin typeface="Calibri"/>
              <a:ea typeface="Calibri"/>
              <a:cs typeface="Calibri"/>
              <a:sym typeface="Calibri"/>
            </a:endParaRPr>
          </a:p>
        </p:txBody>
      </p:sp>
      <p:pic>
        <p:nvPicPr>
          <p:cNvPr id="654" name="Google Shape;654;p87"/>
          <p:cNvPicPr preferRelativeResize="0"/>
          <p:nvPr/>
        </p:nvPicPr>
        <p:blipFill rotWithShape="1">
          <a:blip r:embed="rId3">
            <a:alphaModFix/>
          </a:blip>
          <a:srcRect b="0" l="0" r="0" t="0"/>
          <a:stretch/>
        </p:blipFill>
        <p:spPr>
          <a:xfrm>
            <a:off x="457200" y="2000250"/>
            <a:ext cx="8305800" cy="33432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8" name="Shape 658"/>
        <p:cNvGrpSpPr/>
        <p:nvPr/>
      </p:nvGrpSpPr>
      <p:grpSpPr>
        <a:xfrm>
          <a:off x="0" y="0"/>
          <a:ext cx="0" cy="0"/>
          <a:chOff x="0" y="0"/>
          <a:chExt cx="0" cy="0"/>
        </a:xfrm>
      </p:grpSpPr>
      <p:sp>
        <p:nvSpPr>
          <p:cNvPr id="659" name="Google Shape;659;p88"/>
          <p:cNvSpPr txBox="1"/>
          <p:nvPr>
            <p:ph type="title"/>
          </p:nvPr>
        </p:nvSpPr>
        <p:spPr>
          <a:xfrm>
            <a:off x="2745485" y="568197"/>
            <a:ext cx="3810000"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a:t>
            </a:r>
            <a:endParaRPr sz="4400">
              <a:latin typeface="Calibri"/>
              <a:ea typeface="Calibri"/>
              <a:cs typeface="Calibri"/>
              <a:sym typeface="Calibri"/>
            </a:endParaRPr>
          </a:p>
        </p:txBody>
      </p:sp>
      <p:pic>
        <p:nvPicPr>
          <p:cNvPr id="660" name="Google Shape;660;p88"/>
          <p:cNvPicPr preferRelativeResize="0"/>
          <p:nvPr/>
        </p:nvPicPr>
        <p:blipFill rotWithShape="1">
          <a:blip r:embed="rId3">
            <a:alphaModFix/>
          </a:blip>
          <a:srcRect b="0" l="0" r="0" t="0"/>
          <a:stretch/>
        </p:blipFill>
        <p:spPr>
          <a:xfrm>
            <a:off x="1143000" y="1600200"/>
            <a:ext cx="6691543" cy="4265427"/>
          </a:xfrm>
          <a:prstGeom prst="rect">
            <a:avLst/>
          </a:prstGeom>
          <a:noFill/>
          <a:ln>
            <a:noFill/>
          </a:ln>
        </p:spPr>
      </p:pic>
      <p:sp>
        <p:nvSpPr>
          <p:cNvPr id="661" name="Google Shape;661;p88"/>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62" name="Google Shape;662;p88"/>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63" name="Google Shape;663;p88"/>
          <p:cNvSpPr/>
          <p:nvPr/>
        </p:nvSpPr>
        <p:spPr>
          <a:xfrm>
            <a:off x="838200" y="1600199"/>
            <a:ext cx="7162800" cy="4343400"/>
          </a:xfrm>
          <a:custGeom>
            <a:rect b="b" l="l" r="r" t="t"/>
            <a:pathLst>
              <a:path extrusionOk="0" h="4343400" w="7162800">
                <a:moveTo>
                  <a:pt x="2819400" y="76200"/>
                </a:moveTo>
                <a:lnTo>
                  <a:pt x="0" y="76200"/>
                </a:lnTo>
                <a:lnTo>
                  <a:pt x="0" y="4191000"/>
                </a:lnTo>
                <a:lnTo>
                  <a:pt x="2819400" y="4191000"/>
                </a:lnTo>
                <a:lnTo>
                  <a:pt x="2819400" y="76200"/>
                </a:lnTo>
                <a:close/>
              </a:path>
              <a:path extrusionOk="0" h="4343400" w="7162800">
                <a:moveTo>
                  <a:pt x="7162800" y="0"/>
                </a:moveTo>
                <a:lnTo>
                  <a:pt x="4343400" y="0"/>
                </a:lnTo>
                <a:lnTo>
                  <a:pt x="4343400" y="4343400"/>
                </a:lnTo>
                <a:lnTo>
                  <a:pt x="7162800" y="4343400"/>
                </a:lnTo>
                <a:lnTo>
                  <a:pt x="7162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64" name="Google Shape;664;p88"/>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65" name="Google Shape;665;p88"/>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66" name="Google Shape;666;p88"/>
          <p:cNvSpPr txBox="1"/>
          <p:nvPr/>
        </p:nvSpPr>
        <p:spPr>
          <a:xfrm>
            <a:off x="6535166" y="3536229"/>
            <a:ext cx="949325"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Indirect</a:t>
            </a:r>
            <a:endParaRPr sz="2400">
              <a:solidFill>
                <a:schemeClr val="dk1"/>
              </a:solidFill>
              <a:latin typeface="Times New Roman"/>
              <a:ea typeface="Times New Roman"/>
              <a:cs typeface="Times New Roman"/>
              <a:sym typeface="Times New Roman"/>
            </a:endParaRPr>
          </a:p>
        </p:txBody>
      </p:sp>
      <p:sp>
        <p:nvSpPr>
          <p:cNvPr id="667" name="Google Shape;667;p88"/>
          <p:cNvSpPr txBox="1"/>
          <p:nvPr/>
        </p:nvSpPr>
        <p:spPr>
          <a:xfrm>
            <a:off x="4081271" y="1859304"/>
            <a:ext cx="678180" cy="338455"/>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Fetch</a:t>
            </a:r>
            <a:endParaRPr sz="2400">
              <a:solidFill>
                <a:schemeClr val="dk1"/>
              </a:solidFill>
              <a:latin typeface="Times New Roman"/>
              <a:ea typeface="Times New Roman"/>
              <a:cs typeface="Times New Roman"/>
              <a:sym typeface="Times New Roman"/>
            </a:endParaRPr>
          </a:p>
        </p:txBody>
      </p:sp>
      <p:sp>
        <p:nvSpPr>
          <p:cNvPr id="668" name="Google Shape;668;p88"/>
          <p:cNvSpPr txBox="1"/>
          <p:nvPr/>
        </p:nvSpPr>
        <p:spPr>
          <a:xfrm>
            <a:off x="3928871" y="5213010"/>
            <a:ext cx="982344"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Execute</a:t>
            </a:r>
            <a:endParaRPr sz="2400">
              <a:solidFill>
                <a:schemeClr val="dk1"/>
              </a:solidFill>
              <a:latin typeface="Times New Roman"/>
              <a:ea typeface="Times New Roman"/>
              <a:cs typeface="Times New Roman"/>
              <a:sym typeface="Times New Roman"/>
            </a:endParaRPr>
          </a:p>
        </p:txBody>
      </p:sp>
      <p:sp>
        <p:nvSpPr>
          <p:cNvPr id="669" name="Google Shape;669;p88"/>
          <p:cNvSpPr txBox="1"/>
          <p:nvPr/>
        </p:nvSpPr>
        <p:spPr>
          <a:xfrm>
            <a:off x="1407541" y="3536229"/>
            <a:ext cx="1068070" cy="337820"/>
          </a:xfrm>
          <a:prstGeom prst="rect">
            <a:avLst/>
          </a:prstGeom>
          <a:noFill/>
          <a:ln>
            <a:noFill/>
          </a:ln>
        </p:spPr>
        <p:txBody>
          <a:bodyPr anchorCtr="0" anchor="t" bIns="0" lIns="0" spcFirstLastPara="1" rIns="0" wrap="square" tIns="0">
            <a:spAutoFit/>
          </a:bodyPr>
          <a:lstStyle/>
          <a:p>
            <a:pPr indent="0" lvl="0" marL="0" marR="0" rtl="0" algn="l">
              <a:lnSpc>
                <a:spcPct val="109166"/>
              </a:lnSpc>
              <a:spcBef>
                <a:spcPts val="0"/>
              </a:spcBef>
              <a:spcAft>
                <a:spcPts val="0"/>
              </a:spcAft>
              <a:buNone/>
            </a:pPr>
            <a:r>
              <a:rPr lang="en-US" sz="2400">
                <a:solidFill>
                  <a:schemeClr val="dk1"/>
                </a:solidFill>
                <a:latin typeface="Times New Roman"/>
                <a:ea typeface="Times New Roman"/>
                <a:cs typeface="Times New Roman"/>
                <a:sym typeface="Times New Roman"/>
              </a:rPr>
              <a:t>Interrupt</a:t>
            </a:r>
            <a:endParaRPr sz="2400">
              <a:solidFill>
                <a:schemeClr val="dk1"/>
              </a:solidFill>
              <a:latin typeface="Times New Roman"/>
              <a:ea typeface="Times New Roman"/>
              <a:cs typeface="Times New Roman"/>
              <a:sym typeface="Times New Roman"/>
            </a:endParaRPr>
          </a:p>
        </p:txBody>
      </p:sp>
      <p:graphicFrame>
        <p:nvGraphicFramePr>
          <p:cNvPr id="670" name="Google Shape;670;p88"/>
          <p:cNvGraphicFramePr/>
          <p:nvPr/>
        </p:nvGraphicFramePr>
        <p:xfrm>
          <a:off x="3652837" y="1595437"/>
          <a:ext cx="3000000" cy="3000000"/>
        </p:xfrm>
        <a:graphic>
          <a:graphicData uri="http://schemas.openxmlformats.org/drawingml/2006/table">
            <a:tbl>
              <a:tblPr bandRow="1" firstRow="1">
                <a:noFill/>
                <a:tableStyleId>{9E6B1FCE-45E4-4398-A953-CAC12D197308}</a:tableStyleId>
              </a:tblPr>
              <a:tblGrid>
                <a:gridCol w="1524000"/>
              </a:tblGrid>
              <a:tr h="838200">
                <a:tc>
                  <a:txBody>
                    <a:bodyPr/>
                    <a:lstStyle/>
                    <a:p>
                      <a:pPr indent="0" lvl="0" marL="635" marR="0" rtl="0" algn="ctr">
                        <a:lnSpc>
                          <a:spcPct val="100000"/>
                        </a:lnSpc>
                        <a:spcBef>
                          <a:spcPts val="0"/>
                        </a:spcBef>
                        <a:spcAft>
                          <a:spcPts val="0"/>
                        </a:spcAft>
                        <a:buNone/>
                      </a:pPr>
                      <a:r>
                        <a:rPr lang="en-US" sz="2400" u="none" cap="none" strike="noStrike">
                          <a:latin typeface="Times New Roman"/>
                          <a:ea typeface="Times New Roman"/>
                          <a:cs typeface="Times New Roman"/>
                          <a:sym typeface="Times New Roman"/>
                        </a:rPr>
                        <a:t>Fetch</a:t>
                      </a:r>
                      <a:endParaRPr sz="2400" u="none" cap="none" strike="noStrike">
                        <a:latin typeface="Times New Roman"/>
                        <a:ea typeface="Times New Roman"/>
                        <a:cs typeface="Times New Roman"/>
                        <a:sym typeface="Times New Roman"/>
                      </a:endParaRPr>
                    </a:p>
                  </a:txBody>
                  <a:tcPr marT="22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14600">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lnT cap="flat" cmpd="sng" w="9525">
                      <a:solidFill>
                        <a:srgbClr val="000000"/>
                      </a:solidFill>
                      <a:prstDash val="solid"/>
                      <a:round/>
                      <a:headEnd len="sm" w="sm" type="none"/>
                      <a:tailEnd len="sm" w="sm" type="none"/>
                    </a:lnT>
                  </a:tcPr>
                </a:tc>
              </a:tr>
              <a:tr h="838200">
                <a:tc>
                  <a:txBody>
                    <a:bodyPr/>
                    <a:lstStyle/>
                    <a:p>
                      <a:pPr indent="0" lvl="0" marL="635" marR="0" rtl="0" algn="ctr">
                        <a:lnSpc>
                          <a:spcPct val="100000"/>
                        </a:lnSpc>
                        <a:spcBef>
                          <a:spcPts val="0"/>
                        </a:spcBef>
                        <a:spcAft>
                          <a:spcPts val="0"/>
                        </a:spcAft>
                        <a:buNone/>
                      </a:pPr>
                      <a:r>
                        <a:rPr lang="en-US" sz="2400" u="none" cap="none" strike="noStrike">
                          <a:latin typeface="Times New Roman"/>
                          <a:ea typeface="Times New Roman"/>
                          <a:cs typeface="Times New Roman"/>
                          <a:sym typeface="Times New Roman"/>
                        </a:rPr>
                        <a:t>Execute</a:t>
                      </a:r>
                      <a:endParaRPr sz="2400" u="none" cap="none" strike="noStrike">
                        <a:latin typeface="Times New Roman"/>
                        <a:ea typeface="Times New Roman"/>
                        <a:cs typeface="Times New Roman"/>
                        <a:sym typeface="Times New Roman"/>
                      </a:endParaRPr>
                    </a:p>
                  </a:txBody>
                  <a:tcPr marT="226700" marB="0" marR="0" marL="0"/>
                </a:tc>
              </a:tr>
            </a:tbl>
          </a:graphicData>
        </a:graphic>
      </p:graphicFrame>
      <p:grpSp>
        <p:nvGrpSpPr>
          <p:cNvPr id="671" name="Google Shape;671;p88"/>
          <p:cNvGrpSpPr/>
          <p:nvPr/>
        </p:nvGrpSpPr>
        <p:grpSpPr>
          <a:xfrm>
            <a:off x="1889887" y="1600199"/>
            <a:ext cx="6263513" cy="4191001"/>
            <a:chOff x="1889887" y="1600199"/>
            <a:chExt cx="6263513" cy="4191001"/>
          </a:xfrm>
        </p:grpSpPr>
        <p:sp>
          <p:nvSpPr>
            <p:cNvPr id="672" name="Google Shape;672;p88"/>
            <p:cNvSpPr/>
            <p:nvPr/>
          </p:nvSpPr>
          <p:spPr>
            <a:xfrm>
              <a:off x="1889887" y="1981199"/>
              <a:ext cx="1782445" cy="3373754"/>
            </a:xfrm>
            <a:custGeom>
              <a:rect b="b" l="l" r="r" t="t"/>
              <a:pathLst>
                <a:path extrusionOk="0" h="3373754" w="1782445">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extrusionOk="0" h="3373754" w="1782445">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33333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73" name="Google Shape;673;p88"/>
            <p:cNvSpPr/>
            <p:nvPr/>
          </p:nvSpPr>
          <p:spPr>
            <a:xfrm>
              <a:off x="5181600" y="1600200"/>
              <a:ext cx="2971800" cy="4191000"/>
            </a:xfrm>
            <a:custGeom>
              <a:rect b="b" l="l" r="r" t="t"/>
              <a:pathLst>
                <a:path extrusionOk="0" h="4191000" w="2971800">
                  <a:moveTo>
                    <a:pt x="2971800" y="0"/>
                  </a:moveTo>
                  <a:lnTo>
                    <a:pt x="0" y="0"/>
                  </a:lnTo>
                  <a:lnTo>
                    <a:pt x="0" y="4191000"/>
                  </a:lnTo>
                  <a:lnTo>
                    <a:pt x="2971800" y="4191000"/>
                  </a:lnTo>
                  <a:lnTo>
                    <a:pt x="29718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74" name="Google Shape;674;p88"/>
            <p:cNvSpPr/>
            <p:nvPr/>
          </p:nvSpPr>
          <p:spPr>
            <a:xfrm>
              <a:off x="3657600" y="1600199"/>
              <a:ext cx="1524000" cy="4191000"/>
            </a:xfrm>
            <a:custGeom>
              <a:rect b="b" l="l" r="r" t="t"/>
              <a:pathLst>
                <a:path extrusionOk="0" h="4191000" w="1524000">
                  <a:moveTo>
                    <a:pt x="1524000" y="3352800"/>
                  </a:moveTo>
                  <a:lnTo>
                    <a:pt x="0" y="3352800"/>
                  </a:lnTo>
                  <a:lnTo>
                    <a:pt x="0" y="4191000"/>
                  </a:lnTo>
                  <a:lnTo>
                    <a:pt x="1524000" y="4191000"/>
                  </a:lnTo>
                  <a:lnTo>
                    <a:pt x="1524000" y="3352800"/>
                  </a:lnTo>
                  <a:close/>
                </a:path>
                <a:path extrusionOk="0" h="4191000" w="1524000">
                  <a:moveTo>
                    <a:pt x="1524000" y="0"/>
                  </a:moveTo>
                  <a:lnTo>
                    <a:pt x="0" y="0"/>
                  </a:lnTo>
                  <a:lnTo>
                    <a:pt x="0" y="838200"/>
                  </a:lnTo>
                  <a:lnTo>
                    <a:pt x="1524000" y="838200"/>
                  </a:lnTo>
                  <a:lnTo>
                    <a:pt x="1524000"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75" name="Google Shape;675;p88"/>
            <p:cNvSpPr/>
            <p:nvPr/>
          </p:nvSpPr>
          <p:spPr>
            <a:xfrm>
              <a:off x="3657600" y="4953000"/>
              <a:ext cx="1524000" cy="838200"/>
            </a:xfrm>
            <a:custGeom>
              <a:rect b="b" l="l" r="r" t="t"/>
              <a:pathLst>
                <a:path extrusionOk="0" h="838200" w="1524000">
                  <a:moveTo>
                    <a:pt x="0" y="838200"/>
                  </a:moveTo>
                  <a:lnTo>
                    <a:pt x="1524000" y="838200"/>
                  </a:lnTo>
                  <a:lnTo>
                    <a:pt x="1524000" y="0"/>
                  </a:lnTo>
                  <a:lnTo>
                    <a:pt x="0" y="0"/>
                  </a:lnTo>
                  <a:lnTo>
                    <a:pt x="0" y="8382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676" name="Google Shape;676;p88"/>
          <p:cNvSpPr/>
          <p:nvPr/>
        </p:nvSpPr>
        <p:spPr>
          <a:xfrm>
            <a:off x="5167122" y="2036571"/>
            <a:ext cx="1781810" cy="3297554"/>
          </a:xfrm>
          <a:custGeom>
            <a:rect b="b" l="l" r="r" t="t"/>
            <a:pathLst>
              <a:path extrusionOk="0" h="3297554" w="1781809">
                <a:moveTo>
                  <a:pt x="1767078" y="1240028"/>
                </a:moveTo>
                <a:lnTo>
                  <a:pt x="1707210" y="1130300"/>
                </a:lnTo>
                <a:lnTo>
                  <a:pt x="1631061" y="990727"/>
                </a:lnTo>
                <a:lnTo>
                  <a:pt x="1573072" y="1074115"/>
                </a:lnTo>
                <a:lnTo>
                  <a:pt x="28956" y="0"/>
                </a:lnTo>
                <a:lnTo>
                  <a:pt x="0" y="41656"/>
                </a:lnTo>
                <a:lnTo>
                  <a:pt x="1544066" y="1115822"/>
                </a:lnTo>
                <a:lnTo>
                  <a:pt x="1486027" y="1199261"/>
                </a:lnTo>
                <a:lnTo>
                  <a:pt x="1767078" y="1240028"/>
                </a:lnTo>
                <a:close/>
              </a:path>
              <a:path extrusionOk="0" h="3297554" w="1781809">
                <a:moveTo>
                  <a:pt x="1781556" y="2099056"/>
                </a:moveTo>
                <a:lnTo>
                  <a:pt x="1752600" y="2057400"/>
                </a:lnTo>
                <a:lnTo>
                  <a:pt x="208470" y="3131515"/>
                </a:lnTo>
                <a:lnTo>
                  <a:pt x="150495" y="3048127"/>
                </a:lnTo>
                <a:lnTo>
                  <a:pt x="14478" y="3297428"/>
                </a:lnTo>
                <a:lnTo>
                  <a:pt x="295529" y="3256661"/>
                </a:lnTo>
                <a:lnTo>
                  <a:pt x="247561" y="3187712"/>
                </a:lnTo>
                <a:lnTo>
                  <a:pt x="237477" y="3173222"/>
                </a:lnTo>
                <a:lnTo>
                  <a:pt x="1781556" y="2099056"/>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77" name="Google Shape;677;p88"/>
          <p:cNvSpPr txBox="1"/>
          <p:nvPr/>
        </p:nvSpPr>
        <p:spPr>
          <a:xfrm>
            <a:off x="6172200" y="3276600"/>
            <a:ext cx="1600200" cy="838200"/>
          </a:xfrm>
          <a:prstGeom prst="rect">
            <a:avLst/>
          </a:prstGeom>
          <a:solidFill>
            <a:srgbClr val="99CC00"/>
          </a:solidFill>
          <a:ln cap="flat" cmpd="sng" w="9525">
            <a:solidFill>
              <a:srgbClr val="000000"/>
            </a:solidFill>
            <a:prstDash val="solid"/>
            <a:round/>
            <a:headEnd len="sm" w="sm" type="none"/>
            <a:tailEnd len="sm" w="sm" type="none"/>
          </a:ln>
        </p:spPr>
        <p:txBody>
          <a:bodyPr anchorCtr="0" anchor="t" bIns="0" lIns="0" spcFirstLastPara="1" rIns="0" wrap="square" tIns="226050">
            <a:spAutoFit/>
          </a:bodyPr>
          <a:lstStyle/>
          <a:p>
            <a:pPr indent="0" lvl="0" marL="324485"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Indirect</a:t>
            </a:r>
            <a:endParaRPr sz="2400">
              <a:solidFill>
                <a:schemeClr val="dk1"/>
              </a:solidFill>
              <a:latin typeface="Times New Roman"/>
              <a:ea typeface="Times New Roman"/>
              <a:cs typeface="Times New Roman"/>
              <a:sym typeface="Times New Roman"/>
            </a:endParaRPr>
          </a:p>
        </p:txBody>
      </p:sp>
      <p:sp>
        <p:nvSpPr>
          <p:cNvPr id="678" name="Google Shape;678;p88"/>
          <p:cNvSpPr/>
          <p:nvPr/>
        </p:nvSpPr>
        <p:spPr>
          <a:xfrm>
            <a:off x="1889887" y="1981199"/>
            <a:ext cx="1782445" cy="3373754"/>
          </a:xfrm>
          <a:custGeom>
            <a:rect b="b" l="l" r="r" t="t"/>
            <a:pathLst>
              <a:path extrusionOk="0" h="3373754" w="1782445">
                <a:moveTo>
                  <a:pt x="1767713" y="0"/>
                </a:moveTo>
                <a:lnTo>
                  <a:pt x="1487932" y="48895"/>
                </a:lnTo>
                <a:lnTo>
                  <a:pt x="1548333" y="130594"/>
                </a:lnTo>
                <a:lnTo>
                  <a:pt x="0" y="1274953"/>
                </a:lnTo>
                <a:lnTo>
                  <a:pt x="30226" y="1315847"/>
                </a:lnTo>
                <a:lnTo>
                  <a:pt x="1578521" y="171424"/>
                </a:lnTo>
                <a:lnTo>
                  <a:pt x="1638935" y="253111"/>
                </a:lnTo>
                <a:lnTo>
                  <a:pt x="1708975" y="115443"/>
                </a:lnTo>
                <a:lnTo>
                  <a:pt x="1767713" y="0"/>
                </a:lnTo>
                <a:close/>
              </a:path>
              <a:path extrusionOk="0" h="3373754" w="1782445">
                <a:moveTo>
                  <a:pt x="1782191" y="3331972"/>
                </a:moveTo>
                <a:lnTo>
                  <a:pt x="238112" y="2257818"/>
                </a:lnTo>
                <a:lnTo>
                  <a:pt x="248196" y="2243328"/>
                </a:lnTo>
                <a:lnTo>
                  <a:pt x="296164" y="2174367"/>
                </a:lnTo>
                <a:lnTo>
                  <a:pt x="15113" y="2133600"/>
                </a:lnTo>
                <a:lnTo>
                  <a:pt x="151130" y="2382901"/>
                </a:lnTo>
                <a:lnTo>
                  <a:pt x="209105" y="2299525"/>
                </a:lnTo>
                <a:lnTo>
                  <a:pt x="1753235" y="3373628"/>
                </a:lnTo>
                <a:lnTo>
                  <a:pt x="1782191" y="3331972"/>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79" name="Google Shape;679;p88"/>
          <p:cNvSpPr txBox="1"/>
          <p:nvPr/>
        </p:nvSpPr>
        <p:spPr>
          <a:xfrm>
            <a:off x="1143000" y="3276600"/>
            <a:ext cx="1600200" cy="838200"/>
          </a:xfrm>
          <a:prstGeom prst="rect">
            <a:avLst/>
          </a:prstGeom>
          <a:solidFill>
            <a:srgbClr val="99CC00"/>
          </a:solidFill>
          <a:ln cap="flat" cmpd="sng" w="9525">
            <a:solidFill>
              <a:srgbClr val="000000"/>
            </a:solidFill>
            <a:prstDash val="solid"/>
            <a:round/>
            <a:headEnd len="sm" w="sm" type="none"/>
            <a:tailEnd len="sm" w="sm" type="none"/>
          </a:ln>
        </p:spPr>
        <p:txBody>
          <a:bodyPr anchorCtr="0" anchor="t" bIns="0" lIns="0" spcFirstLastPara="1" rIns="0" wrap="square" tIns="226050">
            <a:spAutoFit/>
          </a:bodyPr>
          <a:lstStyle/>
          <a:p>
            <a:pPr indent="0" lvl="0" marL="26416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Interrupt</a:t>
            </a:r>
            <a:endParaRPr sz="2400">
              <a:solidFill>
                <a:schemeClr val="dk1"/>
              </a:solidFill>
              <a:latin typeface="Times New Roman"/>
              <a:ea typeface="Times New Roman"/>
              <a:cs typeface="Times New Roman"/>
              <a:sym typeface="Times New Roman"/>
            </a:endParaRPr>
          </a:p>
        </p:txBody>
      </p:sp>
      <p:sp>
        <p:nvSpPr>
          <p:cNvPr id="680" name="Google Shape;680;p88"/>
          <p:cNvSpPr/>
          <p:nvPr/>
        </p:nvSpPr>
        <p:spPr>
          <a:xfrm>
            <a:off x="3657600" y="2438400"/>
            <a:ext cx="1524000" cy="2514600"/>
          </a:xfrm>
          <a:custGeom>
            <a:rect b="b" l="l" r="r" t="t"/>
            <a:pathLst>
              <a:path extrusionOk="0" h="2514600" w="1524000">
                <a:moveTo>
                  <a:pt x="1524000" y="0"/>
                </a:moveTo>
                <a:lnTo>
                  <a:pt x="0" y="0"/>
                </a:lnTo>
                <a:lnTo>
                  <a:pt x="0" y="2514600"/>
                </a:lnTo>
                <a:lnTo>
                  <a:pt x="1524000" y="2514600"/>
                </a:lnTo>
                <a:lnTo>
                  <a:pt x="1524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4" name="Shape 684"/>
        <p:cNvGrpSpPr/>
        <p:nvPr/>
      </p:nvGrpSpPr>
      <p:grpSpPr>
        <a:xfrm>
          <a:off x="0" y="0"/>
          <a:ext cx="0" cy="0"/>
          <a:chOff x="0" y="0"/>
          <a:chExt cx="0" cy="0"/>
        </a:xfrm>
      </p:grpSpPr>
      <p:sp>
        <p:nvSpPr>
          <p:cNvPr id="685" name="Google Shape;685;p89"/>
          <p:cNvSpPr txBox="1"/>
          <p:nvPr>
            <p:ph type="title"/>
          </p:nvPr>
        </p:nvSpPr>
        <p:spPr>
          <a:xfrm>
            <a:off x="999540" y="0"/>
            <a:ext cx="71227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State Diagram</a:t>
            </a:r>
            <a:endParaRPr sz="4400">
              <a:latin typeface="Calibri"/>
              <a:ea typeface="Calibri"/>
              <a:cs typeface="Calibri"/>
              <a:sym typeface="Calibri"/>
            </a:endParaRPr>
          </a:p>
        </p:txBody>
      </p:sp>
      <p:pic>
        <p:nvPicPr>
          <p:cNvPr id="686" name="Google Shape;686;p89"/>
          <p:cNvPicPr preferRelativeResize="0"/>
          <p:nvPr/>
        </p:nvPicPr>
        <p:blipFill rotWithShape="1">
          <a:blip r:embed="rId3">
            <a:alphaModFix/>
          </a:blip>
          <a:srcRect b="0" l="0" r="0" t="0"/>
          <a:stretch/>
        </p:blipFill>
        <p:spPr>
          <a:xfrm>
            <a:off x="26987" y="633412"/>
            <a:ext cx="8982075" cy="622458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0" name="Shape 690"/>
        <p:cNvGrpSpPr/>
        <p:nvPr/>
      </p:nvGrpSpPr>
      <p:grpSpPr>
        <a:xfrm>
          <a:off x="0" y="0"/>
          <a:ext cx="0" cy="0"/>
          <a:chOff x="0" y="0"/>
          <a:chExt cx="0" cy="0"/>
        </a:xfrm>
      </p:grpSpPr>
      <p:sp>
        <p:nvSpPr>
          <p:cNvPr id="691" name="Google Shape;691;p90"/>
          <p:cNvSpPr txBox="1"/>
          <p:nvPr>
            <p:ph type="title"/>
          </p:nvPr>
        </p:nvSpPr>
        <p:spPr>
          <a:xfrm>
            <a:off x="1010818" y="461594"/>
            <a:ext cx="71304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Instruction Cycle State Diagram</a:t>
            </a:r>
            <a:endParaRPr sz="4400">
              <a:latin typeface="Calibri"/>
              <a:ea typeface="Calibri"/>
              <a:cs typeface="Calibri"/>
              <a:sym typeface="Calibri"/>
            </a:endParaRPr>
          </a:p>
        </p:txBody>
      </p:sp>
      <p:sp>
        <p:nvSpPr>
          <p:cNvPr id="692" name="Google Shape;692;p90"/>
          <p:cNvSpPr txBox="1"/>
          <p:nvPr>
            <p:ph idx="1" type="body"/>
          </p:nvPr>
        </p:nvSpPr>
        <p:spPr>
          <a:xfrm>
            <a:off x="228600" y="1447800"/>
            <a:ext cx="8705088" cy="4362318"/>
          </a:xfrm>
          <a:prstGeom prst="rect">
            <a:avLst/>
          </a:prstGeom>
          <a:noFill/>
          <a:ln>
            <a:noFill/>
          </a:ln>
        </p:spPr>
        <p:txBody>
          <a:bodyPr anchorCtr="0" anchor="t" bIns="0" lIns="0" spcFirstLastPara="1" rIns="0" wrap="square" tIns="200225">
            <a:spAutoFit/>
          </a:bodyPr>
          <a:lstStyle/>
          <a:p>
            <a:pPr indent="-343535" lvl="0" marL="355600" rtl="0" algn="just">
              <a:lnSpc>
                <a:spcPct val="100000"/>
              </a:lnSpc>
              <a:spcBef>
                <a:spcPts val="0"/>
              </a:spcBef>
              <a:spcAft>
                <a:spcPts val="0"/>
              </a:spcAft>
              <a:buSzPts val="1760"/>
              <a:buFont typeface="Arial"/>
              <a:buChar char="•"/>
            </a:pPr>
            <a:r>
              <a:rPr lang="en-US" sz="2200">
                <a:latin typeface="Times New Roman"/>
                <a:ea typeface="Times New Roman"/>
                <a:cs typeface="Times New Roman"/>
                <a:sym typeface="Times New Roman"/>
              </a:rPr>
              <a:t>This illustrates more correctly the nature of the instruction cycle.</a:t>
            </a:r>
            <a:endParaRPr sz="2200">
              <a:latin typeface="Times New Roman"/>
              <a:ea typeface="Times New Roman"/>
              <a:cs typeface="Times New Roman"/>
              <a:sym typeface="Times New Roman"/>
            </a:endParaRPr>
          </a:p>
          <a:p>
            <a:pPr indent="-343535" lvl="0" marL="355600" marR="5080" rtl="0" algn="just">
              <a:lnSpc>
                <a:spcPct val="150000"/>
              </a:lnSpc>
              <a:spcBef>
                <a:spcPts val="530"/>
              </a:spcBef>
              <a:spcAft>
                <a:spcPts val="0"/>
              </a:spcAft>
              <a:buSzPts val="1760"/>
              <a:buFont typeface="Arial"/>
              <a:buChar char="•"/>
            </a:pPr>
            <a:r>
              <a:rPr lang="en-US" sz="2200">
                <a:latin typeface="Times New Roman"/>
                <a:ea typeface="Times New Roman"/>
                <a:cs typeface="Times New Roman"/>
                <a:sym typeface="Times New Roman"/>
              </a:rPr>
              <a:t>Once	an	instruction	is	fetched,	its	operand	specifiers	must	be  identified.</a:t>
            </a:r>
            <a:endParaRPr sz="2200">
              <a:latin typeface="Times New Roman"/>
              <a:ea typeface="Times New Roman"/>
              <a:cs typeface="Times New Roman"/>
              <a:sym typeface="Times New Roman"/>
            </a:endParaRPr>
          </a:p>
          <a:p>
            <a:pPr indent="-343535" lvl="0" marL="355600" marR="5715" rtl="0" algn="just">
              <a:lnSpc>
                <a:spcPct val="150000"/>
              </a:lnSpc>
              <a:spcBef>
                <a:spcPts val="530"/>
              </a:spcBef>
              <a:spcAft>
                <a:spcPts val="0"/>
              </a:spcAft>
              <a:buSzPts val="1760"/>
              <a:buFont typeface="Arial"/>
              <a:buChar char="•"/>
            </a:pPr>
            <a:r>
              <a:rPr lang="en-US" sz="2200">
                <a:latin typeface="Times New Roman"/>
                <a:ea typeface="Times New Roman"/>
                <a:cs typeface="Times New Roman"/>
                <a:sym typeface="Times New Roman"/>
              </a:rPr>
              <a:t>Each input operand in memory is then fetched, and this process  may require indirect addressing.</a:t>
            </a:r>
            <a:endParaRPr sz="2200">
              <a:latin typeface="Times New Roman"/>
              <a:ea typeface="Times New Roman"/>
              <a:cs typeface="Times New Roman"/>
              <a:sym typeface="Times New Roman"/>
            </a:endParaRPr>
          </a:p>
          <a:p>
            <a:pPr indent="-343535" lvl="0" marL="355600" rtl="0" algn="just">
              <a:lnSpc>
                <a:spcPct val="100000"/>
              </a:lnSpc>
              <a:spcBef>
                <a:spcPts val="1850"/>
              </a:spcBef>
              <a:spcAft>
                <a:spcPts val="0"/>
              </a:spcAft>
              <a:buSzPts val="1760"/>
              <a:buFont typeface="Arial"/>
              <a:buChar char="•"/>
            </a:pPr>
            <a:r>
              <a:rPr lang="en-US" sz="2200">
                <a:latin typeface="Times New Roman"/>
                <a:ea typeface="Times New Roman"/>
                <a:cs typeface="Times New Roman"/>
                <a:sym typeface="Times New Roman"/>
              </a:rPr>
              <a:t>Register-based operands need not be fetched.</a:t>
            </a:r>
            <a:endParaRPr sz="2200">
              <a:latin typeface="Times New Roman"/>
              <a:ea typeface="Times New Roman"/>
              <a:cs typeface="Times New Roman"/>
              <a:sym typeface="Times New Roman"/>
            </a:endParaRPr>
          </a:p>
          <a:p>
            <a:pPr indent="-343535" lvl="0" marL="355600" marR="7620" rtl="0" algn="just">
              <a:lnSpc>
                <a:spcPct val="150100"/>
              </a:lnSpc>
              <a:spcBef>
                <a:spcPts val="525"/>
              </a:spcBef>
              <a:spcAft>
                <a:spcPts val="0"/>
              </a:spcAft>
              <a:buSzPts val="1760"/>
              <a:buFont typeface="Arial"/>
              <a:buChar char="•"/>
            </a:pPr>
            <a:r>
              <a:rPr lang="en-US" sz="2200">
                <a:latin typeface="Times New Roman"/>
                <a:ea typeface="Times New Roman"/>
                <a:cs typeface="Times New Roman"/>
                <a:sym typeface="Times New Roman"/>
              </a:rPr>
              <a:t>Once the opcode is executed, a similar process may be needed to  store the result in main memory.</a:t>
            </a:r>
            <a:endParaRPr sz="2200">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1"/>
          <p:cNvSpPr txBox="1"/>
          <p:nvPr>
            <p:ph type="title"/>
          </p:nvPr>
        </p:nvSpPr>
        <p:spPr>
          <a:xfrm>
            <a:off x="228600" y="228600"/>
            <a:ext cx="85526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698" name="Google Shape;698;p91"/>
          <p:cNvSpPr txBox="1"/>
          <p:nvPr>
            <p:ph idx="1" type="body"/>
          </p:nvPr>
        </p:nvSpPr>
        <p:spPr>
          <a:xfrm>
            <a:off x="304800" y="685800"/>
            <a:ext cx="8552688" cy="5105400"/>
          </a:xfrm>
          <a:prstGeom prst="rect">
            <a:avLst/>
          </a:prstGeom>
          <a:noFill/>
          <a:ln>
            <a:noFill/>
          </a:ln>
        </p:spPr>
        <p:txBody>
          <a:bodyPr anchorCtr="0" anchor="t" bIns="45700" lIns="91425" spcFirstLastPara="1" rIns="91425" wrap="square" tIns="45700">
            <a:normAutofit fontScale="92500" lnSpcReduction="10000"/>
          </a:bodyPr>
          <a:lstStyle/>
          <a:p>
            <a:pPr indent="-283464" lvl="0" marL="365760" rtl="0" algn="just">
              <a:lnSpc>
                <a:spcPct val="100000"/>
              </a:lnSpc>
              <a:spcBef>
                <a:spcPts val="0"/>
              </a:spcBef>
              <a:spcAft>
                <a:spcPts val="0"/>
              </a:spcAft>
              <a:buSzPct val="80000"/>
              <a:buChar char="⚫"/>
            </a:pPr>
            <a:r>
              <a:rPr b="1" lang="en-US" sz="2400">
                <a:latin typeface="Times New Roman"/>
                <a:ea typeface="Times New Roman"/>
                <a:cs typeface="Times New Roman"/>
                <a:sym typeface="Times New Roman"/>
              </a:rPr>
              <a:t>Instruction address calculation (iac): </a:t>
            </a:r>
            <a:r>
              <a:rPr lang="en-US" sz="2400">
                <a:latin typeface="Times New Roman"/>
                <a:ea typeface="Times New Roman"/>
                <a:cs typeface="Times New Roman"/>
                <a:sym typeface="Times New Roman"/>
              </a:rPr>
              <a:t>Determine the address of the next instruction</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to be executed</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Instruction fetch (if): </a:t>
            </a:r>
            <a:r>
              <a:rPr lang="en-US" sz="2400">
                <a:latin typeface="Times New Roman"/>
                <a:ea typeface="Times New Roman"/>
                <a:cs typeface="Times New Roman"/>
                <a:sym typeface="Times New Roman"/>
              </a:rPr>
              <a:t>Read instruction from its memory location into the processor.</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Instruction operation decoding (iod): </a:t>
            </a:r>
            <a:r>
              <a:rPr lang="en-US" sz="2400">
                <a:latin typeface="Times New Roman"/>
                <a:ea typeface="Times New Roman"/>
                <a:cs typeface="Times New Roman"/>
                <a:sym typeface="Times New Roman"/>
              </a:rPr>
              <a:t>Analyze instruction to determine type of operation to be performed and operand(s) to be used.</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Operand address calculation (oac): </a:t>
            </a:r>
            <a:r>
              <a:rPr lang="en-US" sz="2400">
                <a:latin typeface="Times New Roman"/>
                <a:ea typeface="Times New Roman"/>
                <a:cs typeface="Times New Roman"/>
                <a:sym typeface="Times New Roman"/>
              </a:rPr>
              <a:t>If the operation involves reference to an operand in memory or available via I/O, then determine the address of the operand</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Operand fetch (of): </a:t>
            </a:r>
            <a:r>
              <a:rPr lang="en-US" sz="2400">
                <a:latin typeface="Times New Roman"/>
                <a:ea typeface="Times New Roman"/>
                <a:cs typeface="Times New Roman"/>
                <a:sym typeface="Times New Roman"/>
              </a:rPr>
              <a:t>Fetch the operand from memory or read it in from I/O.</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Data operation (do): </a:t>
            </a:r>
            <a:r>
              <a:rPr lang="en-US" sz="2400">
                <a:latin typeface="Times New Roman"/>
                <a:ea typeface="Times New Roman"/>
                <a:cs typeface="Times New Roman"/>
                <a:sym typeface="Times New Roman"/>
              </a:rPr>
              <a:t>Perform the operation indicated in the instruction.</a:t>
            </a:r>
            <a:endParaRPr/>
          </a:p>
          <a:p>
            <a:pPr indent="-283464" lvl="0" marL="365760" rtl="0" algn="just">
              <a:lnSpc>
                <a:spcPct val="100000"/>
              </a:lnSpc>
              <a:spcBef>
                <a:spcPts val="600"/>
              </a:spcBef>
              <a:spcAft>
                <a:spcPts val="0"/>
              </a:spcAft>
              <a:buSzPct val="80000"/>
              <a:buChar char="⚫"/>
            </a:pPr>
            <a:r>
              <a:rPr b="1" lang="en-US" sz="2400">
                <a:latin typeface="Times New Roman"/>
                <a:ea typeface="Times New Roman"/>
                <a:cs typeface="Times New Roman"/>
                <a:sym typeface="Times New Roman"/>
              </a:rPr>
              <a:t>Operand store (os): </a:t>
            </a:r>
            <a:r>
              <a:rPr lang="en-US" sz="2400">
                <a:latin typeface="Times New Roman"/>
                <a:ea typeface="Times New Roman"/>
                <a:cs typeface="Times New Roman"/>
                <a:sym typeface="Times New Roman"/>
              </a:rPr>
              <a:t>Write the result into memory or out to I/O.</a:t>
            </a:r>
            <a:endParaRPr sz="2400">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9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704" name="Google Shape;704;p92"/>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Each instruction is executed during an instruction cycle made up of shorter subcycles (e.g., fetch, indirect, execute, interrupt). </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execution of each subcycle involves one or more shorter operations, that is, micro- operations.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Micro-operations are the functional, or atomic, operations of a processor</a:t>
            </a:r>
            <a:endParaRPr sz="2400">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8" name="Shape 708"/>
        <p:cNvGrpSpPr/>
        <p:nvPr/>
      </p:nvGrpSpPr>
      <p:grpSpPr>
        <a:xfrm>
          <a:off x="0" y="0"/>
          <a:ext cx="0" cy="0"/>
          <a:chOff x="0" y="0"/>
          <a:chExt cx="0" cy="0"/>
        </a:xfrm>
      </p:grpSpPr>
      <p:sp>
        <p:nvSpPr>
          <p:cNvPr id="709" name="Google Shape;709;p93"/>
          <p:cNvSpPr txBox="1"/>
          <p:nvPr>
            <p:ph type="title"/>
          </p:nvPr>
        </p:nvSpPr>
        <p:spPr>
          <a:xfrm>
            <a:off x="1905000" y="0"/>
            <a:ext cx="5638800" cy="68993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4400"/>
              <a:buFont typeface="Calibri"/>
              <a:buNone/>
            </a:pPr>
            <a:r>
              <a:rPr lang="en-US" sz="4400">
                <a:latin typeface="Calibri"/>
                <a:ea typeface="Calibri"/>
                <a:cs typeface="Calibri"/>
                <a:sym typeface="Calibri"/>
              </a:rPr>
              <a:t>Fetch Cycle-</a:t>
            </a:r>
            <a:r>
              <a:rPr b="0" lang="en-US" sz="4400">
                <a:solidFill>
                  <a:srgbClr val="11478A"/>
                </a:solidFill>
                <a:latin typeface="Calibri"/>
                <a:ea typeface="Calibri"/>
                <a:cs typeface="Calibri"/>
                <a:sym typeface="Calibri"/>
              </a:rPr>
              <a:t>Registers</a:t>
            </a:r>
            <a:endParaRPr sz="4400">
              <a:latin typeface="Calibri"/>
              <a:ea typeface="Calibri"/>
              <a:cs typeface="Calibri"/>
              <a:sym typeface="Calibri"/>
            </a:endParaRPr>
          </a:p>
        </p:txBody>
      </p:sp>
      <p:sp>
        <p:nvSpPr>
          <p:cNvPr id="710" name="Google Shape;710;p93"/>
          <p:cNvSpPr txBox="1"/>
          <p:nvPr/>
        </p:nvSpPr>
        <p:spPr>
          <a:xfrm>
            <a:off x="329590" y="760603"/>
            <a:ext cx="7438390" cy="5379720"/>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Memory Address Register (MAR)</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Connected to address bus</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Specifies address for read or write op</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920"/>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Memory Buffer Register (MBR)</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Connected to data bus</a:t>
            </a:r>
            <a:endParaRPr b="0" i="0" sz="20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6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Holds data to write or last data read</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914"/>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Program Counter (PC)</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Holds address of next instruction to be fetched</a:t>
            </a:r>
            <a:endParaRPr b="0" i="0" sz="2000" u="none" cap="none" strike="noStrike">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1920"/>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Instruction Register (IR)</a:t>
            </a:r>
            <a:endParaRPr sz="20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178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Holds last instruction fetched/current instruction being executed</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4" name="Shape 714"/>
        <p:cNvGrpSpPr/>
        <p:nvPr/>
      </p:nvGrpSpPr>
      <p:grpSpPr>
        <a:xfrm>
          <a:off x="0" y="0"/>
          <a:ext cx="0" cy="0"/>
          <a:chOff x="0" y="0"/>
          <a:chExt cx="0" cy="0"/>
        </a:xfrm>
      </p:grpSpPr>
      <p:sp>
        <p:nvSpPr>
          <p:cNvPr id="715" name="Google Shape;715;p94"/>
          <p:cNvSpPr txBox="1"/>
          <p:nvPr>
            <p:ph type="title"/>
          </p:nvPr>
        </p:nvSpPr>
        <p:spPr>
          <a:xfrm>
            <a:off x="3284982" y="461594"/>
            <a:ext cx="257683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Fetch Cycle</a:t>
            </a:r>
            <a:endParaRPr sz="4400">
              <a:latin typeface="Calibri"/>
              <a:ea typeface="Calibri"/>
              <a:cs typeface="Calibri"/>
              <a:sym typeface="Calibri"/>
            </a:endParaRPr>
          </a:p>
        </p:txBody>
      </p:sp>
      <p:sp>
        <p:nvSpPr>
          <p:cNvPr id="716" name="Google Shape;716;p94"/>
          <p:cNvSpPr txBox="1"/>
          <p:nvPr/>
        </p:nvSpPr>
        <p:spPr>
          <a:xfrm>
            <a:off x="535940" y="1183391"/>
            <a:ext cx="7825105" cy="4307840"/>
          </a:xfrm>
          <a:prstGeom prst="rect">
            <a:avLst/>
          </a:prstGeom>
          <a:noFill/>
          <a:ln>
            <a:noFill/>
          </a:ln>
        </p:spPr>
        <p:txBody>
          <a:bodyPr anchorCtr="0" anchor="t" bIns="0" lIns="0" spcFirstLastPara="1" rIns="0" wrap="square" tIns="180325">
            <a:spAutoFit/>
          </a:bodyPr>
          <a:lstStyle/>
          <a:p>
            <a:pPr indent="-343535" lvl="0" marL="355600" marR="0" rtl="0" algn="l">
              <a:lnSpc>
                <a:spcPct val="100000"/>
              </a:lnSpc>
              <a:spcBef>
                <a:spcPts val="0"/>
              </a:spcBef>
              <a:spcAft>
                <a:spcPts val="0"/>
              </a:spcAft>
              <a:buClr>
                <a:schemeClr val="dk1"/>
              </a:buClr>
              <a:buSzPts val="2200"/>
              <a:buFont typeface="Arial"/>
              <a:buChar char="•"/>
            </a:pPr>
            <a:r>
              <a:rPr b="1" lang="en-US" sz="2200">
                <a:solidFill>
                  <a:schemeClr val="dk1"/>
                </a:solidFill>
                <a:latin typeface="Calibri"/>
                <a:ea typeface="Calibri"/>
                <a:cs typeface="Calibri"/>
                <a:sym typeface="Calibri"/>
              </a:rPr>
              <a:t>Program Counter (PC) </a:t>
            </a:r>
            <a:r>
              <a:rPr lang="en-US" sz="2200">
                <a:solidFill>
                  <a:schemeClr val="dk1"/>
                </a:solidFill>
                <a:latin typeface="Calibri"/>
                <a:ea typeface="Calibri"/>
                <a:cs typeface="Calibri"/>
                <a:sym typeface="Calibri"/>
              </a:rPr>
              <a:t>holds address of next instruction to be</a:t>
            </a:r>
            <a:endParaRPr sz="2200">
              <a:solidFill>
                <a:schemeClr val="dk1"/>
              </a:solidFill>
              <a:latin typeface="Calibri"/>
              <a:ea typeface="Calibri"/>
              <a:cs typeface="Calibri"/>
              <a:sym typeface="Calibri"/>
            </a:endParaRPr>
          </a:p>
          <a:p>
            <a:pPr indent="0" lvl="0" marL="355600" marR="0" rtl="0" algn="l">
              <a:lnSpc>
                <a:spcPct val="100000"/>
              </a:lnSpc>
              <a:spcBef>
                <a:spcPts val="1320"/>
              </a:spcBef>
              <a:spcAft>
                <a:spcPts val="0"/>
              </a:spcAft>
              <a:buNone/>
            </a:pPr>
            <a:r>
              <a:rPr lang="en-US" sz="2200">
                <a:solidFill>
                  <a:schemeClr val="dk1"/>
                </a:solidFill>
                <a:latin typeface="Calibri"/>
                <a:ea typeface="Calibri"/>
                <a:cs typeface="Calibri"/>
                <a:sym typeface="Calibri"/>
              </a:rPr>
              <a:t>fetched</a:t>
            </a:r>
            <a:endParaRPr sz="2200">
              <a:solidFill>
                <a:schemeClr val="dk1"/>
              </a:solidFill>
              <a:latin typeface="Calibri"/>
              <a:ea typeface="Calibri"/>
              <a:cs typeface="Calibri"/>
              <a:sym typeface="Calibri"/>
            </a:endParaRPr>
          </a:p>
          <a:p>
            <a:pPr indent="-343535" lvl="0" marL="355600" marR="5080" rtl="0" algn="l">
              <a:lnSpc>
                <a:spcPct val="150100"/>
              </a:lnSpc>
              <a:spcBef>
                <a:spcPts val="52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Processor fetches instruction from memory location pointed to by  PC</a:t>
            </a:r>
            <a:endParaRPr sz="2200">
              <a:solidFill>
                <a:schemeClr val="dk1"/>
              </a:solidFill>
              <a:latin typeface="Calibri"/>
              <a:ea typeface="Calibri"/>
              <a:cs typeface="Calibri"/>
              <a:sym typeface="Calibri"/>
            </a:endParaRPr>
          </a:p>
          <a:p>
            <a:pPr indent="-343535" lvl="0" marL="355600" marR="0" rtl="0" algn="l">
              <a:lnSpc>
                <a:spcPct val="100000"/>
              </a:lnSpc>
              <a:spcBef>
                <a:spcPts val="185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Increment PC</a:t>
            </a:r>
            <a:endParaRPr sz="2200">
              <a:solidFill>
                <a:schemeClr val="dk1"/>
              </a:solidFill>
              <a:latin typeface="Calibri"/>
              <a:ea typeface="Calibri"/>
              <a:cs typeface="Calibri"/>
              <a:sym typeface="Calibri"/>
            </a:endParaRPr>
          </a:p>
          <a:p>
            <a:pPr indent="0" lvl="0" marL="469900" marR="0" rtl="0" algn="l">
              <a:lnSpc>
                <a:spcPct val="100000"/>
              </a:lnSpc>
              <a:spcBef>
                <a:spcPts val="1670"/>
              </a:spcBef>
              <a:spcAft>
                <a:spcPts val="0"/>
              </a:spcAft>
              <a:buNone/>
            </a:pPr>
            <a:r>
              <a:rPr lang="en-US" sz="1900">
                <a:solidFill>
                  <a:schemeClr val="dk1"/>
                </a:solidFill>
                <a:latin typeface="Arial"/>
                <a:ea typeface="Arial"/>
                <a:cs typeface="Arial"/>
                <a:sym typeface="Arial"/>
              </a:rPr>
              <a:t>–	</a:t>
            </a:r>
            <a:r>
              <a:rPr lang="en-US" sz="1900">
                <a:solidFill>
                  <a:schemeClr val="dk1"/>
                </a:solidFill>
                <a:latin typeface="Calibri"/>
                <a:ea typeface="Calibri"/>
                <a:cs typeface="Calibri"/>
                <a:sym typeface="Calibri"/>
              </a:rPr>
              <a:t>Unless told otherwise</a:t>
            </a:r>
            <a:endParaRPr sz="1900">
              <a:solidFill>
                <a:schemeClr val="dk1"/>
              </a:solidFill>
              <a:latin typeface="Calibri"/>
              <a:ea typeface="Calibri"/>
              <a:cs typeface="Calibri"/>
              <a:sym typeface="Calibri"/>
            </a:endParaRPr>
          </a:p>
          <a:p>
            <a:pPr indent="-343535" lvl="0" marL="355600" marR="0" rtl="0" algn="l">
              <a:lnSpc>
                <a:spcPct val="100000"/>
              </a:lnSpc>
              <a:spcBef>
                <a:spcPts val="177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Instruction loaded into Instruction Register (IR)</a:t>
            </a:r>
            <a:endParaRPr sz="2200">
              <a:solidFill>
                <a:schemeClr val="dk1"/>
              </a:solidFill>
              <a:latin typeface="Calibri"/>
              <a:ea typeface="Calibri"/>
              <a:cs typeface="Calibri"/>
              <a:sym typeface="Calibri"/>
            </a:endParaRPr>
          </a:p>
          <a:p>
            <a:pPr indent="-343535" lvl="0" marL="355600" marR="0" rtl="0" algn="l">
              <a:lnSpc>
                <a:spcPct val="100000"/>
              </a:lnSpc>
              <a:spcBef>
                <a:spcPts val="185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Processor interprets instruction and performs required actions</a:t>
            </a:r>
            <a:endParaRPr sz="2200">
              <a:solidFill>
                <a:schemeClr val="dk1"/>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0" name="Shape 720"/>
        <p:cNvGrpSpPr/>
        <p:nvPr/>
      </p:nvGrpSpPr>
      <p:grpSpPr>
        <a:xfrm>
          <a:off x="0" y="0"/>
          <a:ext cx="0" cy="0"/>
          <a:chOff x="0" y="0"/>
          <a:chExt cx="0" cy="0"/>
        </a:xfrm>
      </p:grpSpPr>
      <p:sp>
        <p:nvSpPr>
          <p:cNvPr id="721" name="Google Shape;721;p95"/>
          <p:cNvSpPr txBox="1"/>
          <p:nvPr/>
        </p:nvSpPr>
        <p:spPr>
          <a:xfrm>
            <a:off x="329590" y="267411"/>
            <a:ext cx="8119109" cy="1613903"/>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The Fetch Cycle –</a:t>
            </a:r>
            <a:endParaRPr sz="3200">
              <a:solidFill>
                <a:schemeClr val="dk1"/>
              </a:solidFill>
              <a:latin typeface="Calibri"/>
              <a:ea typeface="Calibri"/>
              <a:cs typeface="Calibri"/>
              <a:sym typeface="Calibri"/>
            </a:endParaRPr>
          </a:p>
          <a:p>
            <a:pPr indent="0" lvl="0" marL="355600" marR="5080" rtl="0" algn="just">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-At the beginning of the fetch cycle, the address  of the next instruction to be executed is in the </a:t>
            </a:r>
            <a:r>
              <a:rPr i="1" lang="en-US" sz="2400">
                <a:solidFill>
                  <a:schemeClr val="dk1"/>
                </a:solidFill>
                <a:latin typeface="Times New Roman"/>
                <a:ea typeface="Times New Roman"/>
                <a:cs typeface="Times New Roman"/>
                <a:sym typeface="Times New Roman"/>
              </a:rPr>
              <a:t>Program Counter</a:t>
            </a:r>
            <a:r>
              <a:rPr lang="en-US" sz="2400">
                <a:solidFill>
                  <a:schemeClr val="dk1"/>
                </a:solidFill>
                <a:latin typeface="Times New Roman"/>
                <a:ea typeface="Times New Roman"/>
                <a:cs typeface="Times New Roman"/>
                <a:sym typeface="Times New Roman"/>
              </a:rPr>
              <a:t>(PC).</a:t>
            </a:r>
            <a:endParaRPr sz="2400">
              <a:solidFill>
                <a:schemeClr val="dk1"/>
              </a:solidFill>
              <a:latin typeface="Times New Roman"/>
              <a:ea typeface="Times New Roman"/>
              <a:cs typeface="Times New Roman"/>
              <a:sym typeface="Times New Roman"/>
            </a:endParaRPr>
          </a:p>
          <a:p>
            <a:pPr indent="0" lvl="0" marL="355600" marR="5080" rtl="0" algn="just">
              <a:spcBef>
                <a:spcPts val="0"/>
              </a:spcBef>
              <a:spcAft>
                <a:spcPts val="0"/>
              </a:spcAft>
              <a:buNone/>
            </a:pPr>
            <a:r>
              <a:rPr lang="en-US" sz="2400">
                <a:solidFill>
                  <a:schemeClr val="dk1"/>
                </a:solidFill>
                <a:latin typeface="Times New Roman"/>
                <a:ea typeface="Times New Roman"/>
                <a:cs typeface="Times New Roman"/>
                <a:sym typeface="Times New Roman"/>
              </a:rPr>
              <a:t>-address is 1100100</a:t>
            </a:r>
            <a:endParaRPr sz="2400">
              <a:solidFill>
                <a:schemeClr val="dk1"/>
              </a:solidFill>
              <a:latin typeface="Times New Roman"/>
              <a:ea typeface="Times New Roman"/>
              <a:cs typeface="Times New Roman"/>
              <a:sym typeface="Times New Roman"/>
            </a:endParaRPr>
          </a:p>
        </p:txBody>
      </p:sp>
      <p:pic>
        <p:nvPicPr>
          <p:cNvPr id="722" name="Google Shape;722;p95"/>
          <p:cNvPicPr preferRelativeResize="0"/>
          <p:nvPr/>
        </p:nvPicPr>
        <p:blipFill rotWithShape="1">
          <a:blip r:embed="rId3">
            <a:alphaModFix/>
          </a:blip>
          <a:srcRect b="0" l="0" r="0" t="0"/>
          <a:stretch/>
        </p:blipFill>
        <p:spPr>
          <a:xfrm>
            <a:off x="2447925" y="2873375"/>
            <a:ext cx="3533775" cy="22098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6" name="Shape 726"/>
        <p:cNvGrpSpPr/>
        <p:nvPr/>
      </p:nvGrpSpPr>
      <p:grpSpPr>
        <a:xfrm>
          <a:off x="0" y="0"/>
          <a:ext cx="0" cy="0"/>
          <a:chOff x="0" y="0"/>
          <a:chExt cx="0" cy="0"/>
        </a:xfrm>
      </p:grpSpPr>
      <p:sp>
        <p:nvSpPr>
          <p:cNvPr id="727" name="Google Shape;727;p96"/>
          <p:cNvSpPr txBox="1"/>
          <p:nvPr>
            <p:ph type="title"/>
          </p:nvPr>
        </p:nvSpPr>
        <p:spPr>
          <a:xfrm>
            <a:off x="2438400" y="191846"/>
            <a:ext cx="4495800"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Step 1:</a:t>
            </a:r>
            <a:endParaRPr/>
          </a:p>
        </p:txBody>
      </p:sp>
      <p:sp>
        <p:nvSpPr>
          <p:cNvPr id="728" name="Google Shape;728;p96"/>
          <p:cNvSpPr txBox="1"/>
          <p:nvPr>
            <p:ph idx="1" type="body"/>
          </p:nvPr>
        </p:nvSpPr>
        <p:spPr>
          <a:xfrm>
            <a:off x="533400" y="1447800"/>
            <a:ext cx="8400288" cy="1187089"/>
          </a:xfrm>
          <a:prstGeom prst="rect">
            <a:avLst/>
          </a:prstGeom>
          <a:noFill/>
          <a:ln>
            <a:noFill/>
          </a:ln>
        </p:spPr>
        <p:txBody>
          <a:bodyPr anchorCtr="0" anchor="t" bIns="0" lIns="0" spcFirstLastPara="1" rIns="0" wrap="square" tIns="78325">
            <a:spAutoFit/>
          </a:bodyPr>
          <a:lstStyle/>
          <a:p>
            <a:pPr indent="-343535" lvl="0" marL="355600" marR="5080" rtl="0" algn="just">
              <a:lnSpc>
                <a:spcPct val="100000"/>
              </a:lnSpc>
              <a:spcBef>
                <a:spcPts val="0"/>
              </a:spcBef>
              <a:spcAft>
                <a:spcPts val="0"/>
              </a:spcAft>
              <a:buSzPts val="1920"/>
              <a:buFont typeface="Arial"/>
              <a:buChar char="•"/>
            </a:pPr>
            <a:r>
              <a:rPr lang="en-US" sz="2400">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address in the program counter is moved to the  memory address register(MAR</a:t>
            </a:r>
            <a:r>
              <a:rPr lang="en-US" sz="2400">
                <a:latin typeface="Times New Roman"/>
                <a:ea typeface="Times New Roman"/>
                <a:cs typeface="Times New Roman"/>
                <a:sym typeface="Times New Roman"/>
              </a:rPr>
              <a:t>), as this is the only  register which is connected to address lines of the  system bus.</a:t>
            </a:r>
            <a:endParaRPr/>
          </a:p>
        </p:txBody>
      </p:sp>
      <p:pic>
        <p:nvPicPr>
          <p:cNvPr id="729" name="Google Shape;729;p96"/>
          <p:cNvPicPr preferRelativeResize="0"/>
          <p:nvPr/>
        </p:nvPicPr>
        <p:blipFill rotWithShape="1">
          <a:blip r:embed="rId3">
            <a:alphaModFix/>
          </a:blip>
          <a:srcRect b="0" l="0" r="0" t="0"/>
          <a:stretch/>
        </p:blipFill>
        <p:spPr>
          <a:xfrm>
            <a:off x="3200400" y="3810000"/>
            <a:ext cx="3533775" cy="210502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3" name="Shape 733"/>
        <p:cNvGrpSpPr/>
        <p:nvPr/>
      </p:nvGrpSpPr>
      <p:grpSpPr>
        <a:xfrm>
          <a:off x="0" y="0"/>
          <a:ext cx="0" cy="0"/>
          <a:chOff x="0" y="0"/>
          <a:chExt cx="0" cy="0"/>
        </a:xfrm>
      </p:grpSpPr>
      <p:sp>
        <p:nvSpPr>
          <p:cNvPr id="734" name="Google Shape;734;p97"/>
          <p:cNvSpPr txBox="1"/>
          <p:nvPr>
            <p:ph type="title"/>
          </p:nvPr>
        </p:nvSpPr>
        <p:spPr>
          <a:xfrm>
            <a:off x="3785361" y="15620"/>
            <a:ext cx="1597025" cy="69659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Step 2:</a:t>
            </a:r>
            <a:endParaRPr sz="4400">
              <a:latin typeface="Calibri"/>
              <a:ea typeface="Calibri"/>
              <a:cs typeface="Calibri"/>
              <a:sym typeface="Calibri"/>
            </a:endParaRPr>
          </a:p>
        </p:txBody>
      </p:sp>
      <p:sp>
        <p:nvSpPr>
          <p:cNvPr id="735" name="Google Shape;735;p97"/>
          <p:cNvSpPr txBox="1"/>
          <p:nvPr/>
        </p:nvSpPr>
        <p:spPr>
          <a:xfrm>
            <a:off x="228600" y="994664"/>
            <a:ext cx="8763000" cy="2660015"/>
          </a:xfrm>
          <a:prstGeom prst="rect">
            <a:avLst/>
          </a:prstGeom>
          <a:noFill/>
          <a:ln>
            <a:noFill/>
          </a:ln>
        </p:spPr>
        <p:txBody>
          <a:bodyPr anchorCtr="0" anchor="t" bIns="0" lIns="0" spcFirstLastPara="1" rIns="0" wrap="square" tIns="12700">
            <a:spAutoFit/>
          </a:bodyPr>
          <a:lstStyle/>
          <a:p>
            <a:pPr indent="-342900" lvl="0" marL="355600" marR="508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a:t>
            </a:r>
            <a:r>
              <a:rPr b="1" lang="en-US" sz="2400">
                <a:solidFill>
                  <a:schemeClr val="dk1"/>
                </a:solidFill>
                <a:latin typeface="Times New Roman"/>
                <a:ea typeface="Times New Roman"/>
                <a:cs typeface="Times New Roman"/>
                <a:sym typeface="Times New Roman"/>
              </a:rPr>
              <a:t>address in MAR is placed on the address bus</a:t>
            </a:r>
            <a:r>
              <a:rPr lang="en-US" sz="2400">
                <a:solidFill>
                  <a:schemeClr val="dk1"/>
                </a:solidFill>
                <a:latin typeface="Times New Roman"/>
                <a:ea typeface="Times New Roman"/>
                <a:cs typeface="Times New Roman"/>
                <a:sym typeface="Times New Roman"/>
              </a:rPr>
              <a:t>, now the  </a:t>
            </a:r>
            <a:r>
              <a:rPr lang="en-US" sz="2400">
                <a:solidFill>
                  <a:srgbClr val="FF0000"/>
                </a:solidFill>
                <a:latin typeface="Times New Roman"/>
                <a:ea typeface="Times New Roman"/>
                <a:cs typeface="Times New Roman"/>
                <a:sym typeface="Times New Roman"/>
              </a:rPr>
              <a:t>control unit issues a READ command on the control bus, and the  result appears on the data bus </a:t>
            </a:r>
            <a:r>
              <a:rPr lang="en-US" sz="2400">
                <a:solidFill>
                  <a:schemeClr val="dk1"/>
                </a:solidFill>
                <a:latin typeface="Times New Roman"/>
                <a:ea typeface="Times New Roman"/>
                <a:cs typeface="Times New Roman"/>
                <a:sym typeface="Times New Roman"/>
              </a:rPr>
              <a:t>and is then </a:t>
            </a:r>
            <a:r>
              <a:rPr lang="en-US" sz="2400">
                <a:solidFill>
                  <a:srgbClr val="FF0000"/>
                </a:solidFill>
                <a:latin typeface="Times New Roman"/>
                <a:ea typeface="Times New Roman"/>
                <a:cs typeface="Times New Roman"/>
                <a:sym typeface="Times New Roman"/>
              </a:rPr>
              <a:t>copied</a:t>
            </a:r>
            <a:r>
              <a:rPr lang="en-US" sz="2400">
                <a:solidFill>
                  <a:schemeClr val="dk1"/>
                </a:solidFill>
                <a:latin typeface="Times New Roman"/>
                <a:ea typeface="Times New Roman"/>
                <a:cs typeface="Times New Roman"/>
                <a:sym typeface="Times New Roman"/>
              </a:rPr>
              <a:t> into the  memory buffer register</a:t>
            </a:r>
            <a:r>
              <a:rPr lang="en-US" sz="2400">
                <a:solidFill>
                  <a:srgbClr val="FF0000"/>
                </a:solidFill>
                <a:latin typeface="Times New Roman"/>
                <a:ea typeface="Times New Roman"/>
                <a:cs typeface="Times New Roman"/>
                <a:sym typeface="Times New Roman"/>
              </a:rPr>
              <a:t>(MBR).</a:t>
            </a:r>
            <a:endParaRPr sz="2400">
              <a:solidFill>
                <a:srgbClr val="FF0000"/>
              </a:solidFill>
              <a:latin typeface="Times New Roman"/>
              <a:ea typeface="Times New Roman"/>
              <a:cs typeface="Times New Roman"/>
              <a:sym typeface="Times New Roman"/>
            </a:endParaRPr>
          </a:p>
          <a:p>
            <a:pPr indent="-342900" lvl="0" marL="355600" marR="6350" rtl="0" algn="just">
              <a:lnSpc>
                <a:spcPct val="100000"/>
              </a:lnSpc>
              <a:spcBef>
                <a:spcPts val="575"/>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Program counter is incremented by one</a:t>
            </a:r>
            <a:r>
              <a:rPr lang="en-US" sz="2400">
                <a:solidFill>
                  <a:schemeClr val="dk1"/>
                </a:solidFill>
                <a:latin typeface="Times New Roman"/>
                <a:ea typeface="Times New Roman"/>
                <a:cs typeface="Times New Roman"/>
                <a:sym typeface="Times New Roman"/>
              </a:rPr>
              <a:t>, to get ready for the  next instruction.(These two action can be performed  simultaneously to save time)</a:t>
            </a:r>
            <a:endParaRPr sz="2400">
              <a:solidFill>
                <a:schemeClr val="dk1"/>
              </a:solidFill>
              <a:latin typeface="Times New Roman"/>
              <a:ea typeface="Times New Roman"/>
              <a:cs typeface="Times New Roman"/>
              <a:sym typeface="Times New Roman"/>
            </a:endParaRPr>
          </a:p>
        </p:txBody>
      </p:sp>
      <p:pic>
        <p:nvPicPr>
          <p:cNvPr id="736" name="Google Shape;736;p97"/>
          <p:cNvPicPr preferRelativeResize="0"/>
          <p:nvPr/>
        </p:nvPicPr>
        <p:blipFill rotWithShape="1">
          <a:blip r:embed="rId3">
            <a:alphaModFix/>
          </a:blip>
          <a:srcRect b="0" l="0" r="0" t="0"/>
          <a:stretch/>
        </p:blipFill>
        <p:spPr>
          <a:xfrm>
            <a:off x="3733326" y="4048361"/>
            <a:ext cx="3732982" cy="222355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0" name="Shape 740"/>
        <p:cNvGrpSpPr/>
        <p:nvPr/>
      </p:nvGrpSpPr>
      <p:grpSpPr>
        <a:xfrm>
          <a:off x="0" y="0"/>
          <a:ext cx="0" cy="0"/>
          <a:chOff x="0" y="0"/>
          <a:chExt cx="0" cy="0"/>
        </a:xfrm>
      </p:grpSpPr>
      <p:sp>
        <p:nvSpPr>
          <p:cNvPr id="741" name="Google Shape;741;p98"/>
          <p:cNvSpPr txBox="1"/>
          <p:nvPr>
            <p:ph type="title"/>
          </p:nvPr>
        </p:nvSpPr>
        <p:spPr>
          <a:xfrm>
            <a:off x="3774185" y="461594"/>
            <a:ext cx="159766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Step 3:</a:t>
            </a:r>
            <a:endParaRPr sz="4400">
              <a:latin typeface="Calibri"/>
              <a:ea typeface="Calibri"/>
              <a:cs typeface="Calibri"/>
              <a:sym typeface="Calibri"/>
            </a:endParaRPr>
          </a:p>
        </p:txBody>
      </p:sp>
      <p:sp>
        <p:nvSpPr>
          <p:cNvPr id="742" name="Google Shape;742;p98"/>
          <p:cNvSpPr txBox="1"/>
          <p:nvPr/>
        </p:nvSpPr>
        <p:spPr>
          <a:xfrm>
            <a:off x="535940" y="1607642"/>
            <a:ext cx="8227060" cy="382797"/>
          </a:xfrm>
          <a:prstGeom prst="rect">
            <a:avLst/>
          </a:prstGeom>
          <a:noFill/>
          <a:ln>
            <a:noFill/>
          </a:ln>
        </p:spPr>
        <p:txBody>
          <a:bodyPr anchorCtr="0" anchor="t" bIns="0" lIns="0" spcFirstLastPara="1" rIns="0" wrap="square" tIns="13325">
            <a:spAutoFit/>
          </a:bodyPr>
          <a:lstStyle/>
          <a:p>
            <a:pPr indent="-343535" lvl="0" marL="355600" marR="508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content of the MBR is moved to the  instruction register(IR)</a:t>
            </a:r>
            <a:endParaRPr sz="2400">
              <a:solidFill>
                <a:schemeClr val="dk1"/>
              </a:solidFill>
              <a:latin typeface="Times New Roman"/>
              <a:ea typeface="Times New Roman"/>
              <a:cs typeface="Times New Roman"/>
              <a:sym typeface="Times New Roman"/>
            </a:endParaRPr>
          </a:p>
        </p:txBody>
      </p:sp>
      <p:grpSp>
        <p:nvGrpSpPr>
          <p:cNvPr id="743" name="Google Shape;743;p98"/>
          <p:cNvGrpSpPr/>
          <p:nvPr/>
        </p:nvGrpSpPr>
        <p:grpSpPr>
          <a:xfrm>
            <a:off x="1600200" y="2209800"/>
            <a:ext cx="6019465" cy="3123823"/>
            <a:chOff x="2585510" y="3345259"/>
            <a:chExt cx="4046629" cy="2517378"/>
          </a:xfrm>
        </p:grpSpPr>
        <p:pic>
          <p:nvPicPr>
            <p:cNvPr id="744" name="Google Shape;744;p98"/>
            <p:cNvPicPr preferRelativeResize="0"/>
            <p:nvPr/>
          </p:nvPicPr>
          <p:blipFill rotWithShape="1">
            <a:blip r:embed="rId3">
              <a:alphaModFix/>
            </a:blip>
            <a:srcRect b="0" l="0" r="0" t="0"/>
            <a:stretch/>
          </p:blipFill>
          <p:spPr>
            <a:xfrm>
              <a:off x="2585510" y="3345259"/>
              <a:ext cx="4046629" cy="2409571"/>
            </a:xfrm>
            <a:prstGeom prst="rect">
              <a:avLst/>
            </a:prstGeom>
            <a:noFill/>
            <a:ln>
              <a:noFill/>
            </a:ln>
          </p:spPr>
        </p:pic>
        <p:sp>
          <p:nvSpPr>
            <p:cNvPr id="745" name="Google Shape;745;p98"/>
            <p:cNvSpPr/>
            <p:nvPr/>
          </p:nvSpPr>
          <p:spPr>
            <a:xfrm>
              <a:off x="4211700" y="5516562"/>
              <a:ext cx="1584325" cy="346075"/>
            </a:xfrm>
            <a:custGeom>
              <a:rect b="b" l="l" r="r" t="t"/>
              <a:pathLst>
                <a:path extrusionOk="0" h="346075" w="1584325">
                  <a:moveTo>
                    <a:pt x="1584325" y="0"/>
                  </a:moveTo>
                  <a:lnTo>
                    <a:pt x="0" y="0"/>
                  </a:lnTo>
                  <a:lnTo>
                    <a:pt x="0" y="346075"/>
                  </a:lnTo>
                  <a:lnTo>
                    <a:pt x="1584325" y="346075"/>
                  </a:lnTo>
                  <a:lnTo>
                    <a:pt x="15843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46" name="Google Shape;746;p98"/>
            <p:cNvSpPr/>
            <p:nvPr/>
          </p:nvSpPr>
          <p:spPr>
            <a:xfrm>
              <a:off x="4211700" y="5516562"/>
              <a:ext cx="1584325" cy="346075"/>
            </a:xfrm>
            <a:custGeom>
              <a:rect b="b" l="l" r="r" t="t"/>
              <a:pathLst>
                <a:path extrusionOk="0" h="346075" w="1584325">
                  <a:moveTo>
                    <a:pt x="0" y="346075"/>
                  </a:moveTo>
                  <a:lnTo>
                    <a:pt x="1584325" y="346075"/>
                  </a:lnTo>
                  <a:lnTo>
                    <a:pt x="1584325" y="0"/>
                  </a:lnTo>
                  <a:lnTo>
                    <a:pt x="0" y="0"/>
                  </a:lnTo>
                  <a:lnTo>
                    <a:pt x="0" y="346075"/>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747" name="Google Shape;747;p98"/>
          <p:cNvSpPr txBox="1"/>
          <p:nvPr/>
        </p:nvSpPr>
        <p:spPr>
          <a:xfrm>
            <a:off x="3986276" y="5886399"/>
            <a:ext cx="174307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THIRD STEP</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1" name="Shape 751"/>
        <p:cNvGrpSpPr/>
        <p:nvPr/>
      </p:nvGrpSpPr>
      <p:grpSpPr>
        <a:xfrm>
          <a:off x="0" y="0"/>
          <a:ext cx="0" cy="0"/>
          <a:chOff x="0" y="0"/>
          <a:chExt cx="0" cy="0"/>
        </a:xfrm>
      </p:grpSpPr>
      <p:sp>
        <p:nvSpPr>
          <p:cNvPr id="752" name="Google Shape;752;p99"/>
          <p:cNvSpPr txBox="1"/>
          <p:nvPr>
            <p:ph type="title"/>
          </p:nvPr>
        </p:nvSpPr>
        <p:spPr>
          <a:xfrm>
            <a:off x="1545716" y="461594"/>
            <a:ext cx="605853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Fetch Sequence (symbolic)</a:t>
            </a:r>
            <a:endParaRPr sz="4400">
              <a:latin typeface="Calibri"/>
              <a:ea typeface="Calibri"/>
              <a:cs typeface="Calibri"/>
              <a:sym typeface="Calibri"/>
            </a:endParaRPr>
          </a:p>
        </p:txBody>
      </p:sp>
      <p:pic>
        <p:nvPicPr>
          <p:cNvPr id="753" name="Google Shape;753;p99"/>
          <p:cNvPicPr preferRelativeResize="0"/>
          <p:nvPr/>
        </p:nvPicPr>
        <p:blipFill rotWithShape="1">
          <a:blip r:embed="rId3">
            <a:alphaModFix/>
          </a:blip>
          <a:srcRect b="0" l="0" r="0" t="0"/>
          <a:stretch/>
        </p:blipFill>
        <p:spPr>
          <a:xfrm>
            <a:off x="685800" y="1371600"/>
            <a:ext cx="6639834" cy="2590800"/>
          </a:xfrm>
          <a:prstGeom prst="rect">
            <a:avLst/>
          </a:prstGeom>
          <a:noFill/>
          <a:ln>
            <a:noFill/>
          </a:ln>
        </p:spPr>
      </p:pic>
      <p:sp>
        <p:nvSpPr>
          <p:cNvPr id="754" name="Google Shape;754;p99"/>
          <p:cNvSpPr txBox="1"/>
          <p:nvPr/>
        </p:nvSpPr>
        <p:spPr>
          <a:xfrm>
            <a:off x="304800" y="4343400"/>
            <a:ext cx="8458200" cy="3046988"/>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three steps and four micro-operations</a:t>
            </a:r>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Each micro-operation involves the </a:t>
            </a:r>
            <a:r>
              <a:rPr b="1" lang="en-US" sz="2400">
                <a:solidFill>
                  <a:schemeClr val="dk1"/>
                </a:solidFill>
                <a:latin typeface="Times New Roman"/>
                <a:ea typeface="Times New Roman"/>
                <a:cs typeface="Times New Roman"/>
                <a:sym typeface="Times New Roman"/>
              </a:rPr>
              <a:t>movement of data into or out of a register-no interference-saves time</a:t>
            </a:r>
            <a:endParaRPr/>
          </a:p>
          <a:p>
            <a:pPr indent="-152400" lvl="0" marL="0" marR="0" rtl="0" algn="just">
              <a:spcBef>
                <a:spcPts val="0"/>
              </a:spcBef>
              <a:spcAft>
                <a:spcPts val="0"/>
              </a:spcAft>
              <a:buClr>
                <a:schemeClr val="dk1"/>
              </a:buClr>
              <a:buSzPts val="2400"/>
              <a:buFont typeface="Arial"/>
              <a:buChar char="•"/>
            </a:pPr>
            <a:r>
              <a:rPr lang="en-US" sz="2400">
                <a:solidFill>
                  <a:schemeClr val="dk1"/>
                </a:solidFill>
                <a:latin typeface="Gill Sans"/>
                <a:ea typeface="Gill Sans"/>
                <a:cs typeface="Gill Sans"/>
                <a:sym typeface="Gill Sans"/>
              </a:rPr>
              <a:t>(t1, t2, t3) represents successive time units</a:t>
            </a:r>
            <a:endParaRPr sz="2400">
              <a:solidFill>
                <a:schemeClr val="dk1"/>
              </a:solidFill>
              <a:latin typeface="Gill Sans"/>
              <a:ea typeface="Gill Sans"/>
              <a:cs typeface="Gill Sans"/>
              <a:sym typeface="Gill Sans"/>
            </a:endParaRPr>
          </a:p>
          <a:p>
            <a:pPr indent="-152400" lvl="0" marL="0" marR="0" rtl="0" algn="just">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I –</a:t>
            </a:r>
            <a:r>
              <a:rPr lang="en-US" sz="2400">
                <a:solidFill>
                  <a:schemeClr val="dk1"/>
                </a:solidFill>
                <a:latin typeface="Times New Roman"/>
                <a:ea typeface="Times New Roman"/>
                <a:cs typeface="Times New Roman"/>
                <a:sym typeface="Times New Roman"/>
              </a:rPr>
              <a:t>instruction length</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2400"/>
              <a:buFont typeface="Arial"/>
              <a:buNone/>
            </a:pPr>
            <a:r>
              <a:t/>
            </a:r>
            <a:endParaRPr b="1"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2400"/>
              <a:buFont typeface="Arial"/>
              <a:buNone/>
            </a:pPr>
            <a:r>
              <a:t/>
            </a:r>
            <a:endParaRPr b="1"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8" name="Shape 758"/>
        <p:cNvGrpSpPr/>
        <p:nvPr/>
      </p:nvGrpSpPr>
      <p:grpSpPr>
        <a:xfrm>
          <a:off x="0" y="0"/>
          <a:ext cx="0" cy="0"/>
          <a:chOff x="0" y="0"/>
          <a:chExt cx="0" cy="0"/>
        </a:xfrm>
      </p:grpSpPr>
      <p:sp>
        <p:nvSpPr>
          <p:cNvPr id="759" name="Google Shape;759;p100"/>
          <p:cNvSpPr txBox="1"/>
          <p:nvPr>
            <p:ph type="title"/>
          </p:nvPr>
        </p:nvSpPr>
        <p:spPr>
          <a:xfrm>
            <a:off x="381000" y="461594"/>
            <a:ext cx="8001000" cy="444352"/>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562214"/>
              </a:buClr>
              <a:buSzPts val="2800"/>
              <a:buFont typeface="Times New Roman"/>
              <a:buNone/>
            </a:pPr>
            <a:r>
              <a:rPr b="1" lang="en-US" sz="2800">
                <a:latin typeface="Times New Roman"/>
                <a:ea typeface="Times New Roman"/>
                <a:cs typeface="Times New Roman"/>
                <a:sym typeface="Times New Roman"/>
              </a:rPr>
              <a:t>Indirect Cycle-fetch source operands</a:t>
            </a:r>
            <a:endParaRPr b="1" sz="2800">
              <a:latin typeface="Times New Roman"/>
              <a:ea typeface="Times New Roman"/>
              <a:cs typeface="Times New Roman"/>
              <a:sym typeface="Times New Roman"/>
            </a:endParaRPr>
          </a:p>
        </p:txBody>
      </p:sp>
      <p:pic>
        <p:nvPicPr>
          <p:cNvPr id="760" name="Google Shape;760;p100"/>
          <p:cNvPicPr preferRelativeResize="0"/>
          <p:nvPr/>
        </p:nvPicPr>
        <p:blipFill rotWithShape="1">
          <a:blip r:embed="rId3">
            <a:alphaModFix/>
          </a:blip>
          <a:srcRect b="0" l="0" r="0" t="0"/>
          <a:stretch/>
        </p:blipFill>
        <p:spPr>
          <a:xfrm>
            <a:off x="389466" y="2078475"/>
            <a:ext cx="8381999" cy="290260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4" name="Shape 764"/>
        <p:cNvGrpSpPr/>
        <p:nvPr/>
      </p:nvGrpSpPr>
      <p:grpSpPr>
        <a:xfrm>
          <a:off x="0" y="0"/>
          <a:ext cx="0" cy="0"/>
          <a:chOff x="0" y="0"/>
          <a:chExt cx="0" cy="0"/>
        </a:xfrm>
      </p:grpSpPr>
      <p:sp>
        <p:nvSpPr>
          <p:cNvPr id="765" name="Google Shape;765;p101"/>
          <p:cNvSpPr txBox="1"/>
          <p:nvPr/>
        </p:nvSpPr>
        <p:spPr>
          <a:xfrm>
            <a:off x="0" y="0"/>
            <a:ext cx="9144000" cy="5756100"/>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b="1" lang="en-US" sz="2400">
                <a:solidFill>
                  <a:schemeClr val="dk1"/>
                </a:solidFill>
                <a:latin typeface="Times New Roman"/>
                <a:ea typeface="Times New Roman"/>
                <a:cs typeface="Times New Roman"/>
                <a:sym typeface="Times New Roman"/>
              </a:rPr>
              <a:t>Step 1</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0" rtl="0" algn="just">
              <a:lnSpc>
                <a:spcPct val="100000"/>
              </a:lnSpc>
              <a:spcBef>
                <a:spcPts val="1730"/>
              </a:spcBef>
              <a:spcAft>
                <a:spcPts val="0"/>
              </a:spcAft>
              <a:buNone/>
            </a:pPr>
            <a:r>
              <a:rPr lang="en-US" sz="2400">
                <a:solidFill>
                  <a:schemeClr val="dk1"/>
                </a:solidFill>
                <a:latin typeface="Times New Roman"/>
                <a:ea typeface="Times New Roman"/>
                <a:cs typeface="Times New Roman"/>
                <a:sym typeface="Times New Roman"/>
              </a:rPr>
              <a:t>The </a:t>
            </a:r>
            <a:r>
              <a:rPr b="1" lang="en-US" sz="2400">
                <a:solidFill>
                  <a:schemeClr val="dk1"/>
                </a:solidFill>
                <a:latin typeface="Times New Roman"/>
                <a:ea typeface="Times New Roman"/>
                <a:cs typeface="Times New Roman"/>
                <a:sym typeface="Times New Roman"/>
              </a:rPr>
              <a:t>address field </a:t>
            </a:r>
            <a:r>
              <a:rPr lang="en-US" sz="2400">
                <a:solidFill>
                  <a:schemeClr val="dk1"/>
                </a:solidFill>
                <a:latin typeface="Times New Roman"/>
                <a:ea typeface="Times New Roman"/>
                <a:cs typeface="Times New Roman"/>
                <a:sym typeface="Times New Roman"/>
              </a:rPr>
              <a:t>of the instruction is transferred to the </a:t>
            </a:r>
            <a:r>
              <a:rPr b="1" lang="en-US" sz="2400">
                <a:solidFill>
                  <a:schemeClr val="dk1"/>
                </a:solidFill>
                <a:latin typeface="Times New Roman"/>
                <a:ea typeface="Times New Roman"/>
                <a:cs typeface="Times New Roman"/>
                <a:sym typeface="Times New Roman"/>
              </a:rPr>
              <a:t>MAR</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0" rtl="0" algn="just">
              <a:lnSpc>
                <a:spcPct val="100000"/>
              </a:lnSpc>
              <a:spcBef>
                <a:spcPts val="1730"/>
              </a:spcBef>
              <a:spcAft>
                <a:spcPts val="0"/>
              </a:spcAft>
              <a:buNone/>
            </a:pPr>
            <a:r>
              <a:rPr lang="en-US" sz="2400">
                <a:solidFill>
                  <a:schemeClr val="dk1"/>
                </a:solidFill>
                <a:latin typeface="Times New Roman"/>
                <a:ea typeface="Times New Roman"/>
                <a:cs typeface="Times New Roman"/>
                <a:sym typeface="Times New Roman"/>
              </a:rPr>
              <a:t>This  is    used  to  </a:t>
            </a:r>
            <a:r>
              <a:rPr b="1" lang="en-US" sz="2400">
                <a:solidFill>
                  <a:schemeClr val="dk1"/>
                </a:solidFill>
                <a:latin typeface="Times New Roman"/>
                <a:ea typeface="Times New Roman"/>
                <a:cs typeface="Times New Roman"/>
                <a:sym typeface="Times New Roman"/>
              </a:rPr>
              <a:t>fetch  the    address  of  the    operand</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0" rtl="0" algn="just">
              <a:lnSpc>
                <a:spcPct val="100000"/>
              </a:lnSpc>
              <a:spcBef>
                <a:spcPts val="1150"/>
              </a:spcBef>
              <a:spcAft>
                <a:spcPts val="0"/>
              </a:spcAft>
              <a:buNone/>
            </a:pPr>
            <a:r>
              <a:rPr b="1" lang="en-US" sz="2400">
                <a:solidFill>
                  <a:schemeClr val="dk1"/>
                </a:solidFill>
                <a:latin typeface="Times New Roman"/>
                <a:ea typeface="Times New Roman"/>
                <a:cs typeface="Times New Roman"/>
                <a:sym typeface="Times New Roman"/>
              </a:rPr>
              <a:t>Step 2</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5080" rtl="0" algn="just">
              <a:lnSpc>
                <a:spcPct val="140100"/>
              </a:lnSpc>
              <a:spcBef>
                <a:spcPts val="575"/>
              </a:spcBef>
              <a:spcAft>
                <a:spcPts val="0"/>
              </a:spcAft>
              <a:buNone/>
            </a:pPr>
            <a:r>
              <a:rPr lang="en-US" sz="2400">
                <a:solidFill>
                  <a:schemeClr val="dk1"/>
                </a:solidFill>
                <a:latin typeface="Times New Roman"/>
                <a:ea typeface="Times New Roman"/>
                <a:cs typeface="Times New Roman"/>
                <a:sym typeface="Times New Roman"/>
              </a:rPr>
              <a:t>The </a:t>
            </a:r>
            <a:r>
              <a:rPr b="1" lang="en-US" sz="2400">
                <a:solidFill>
                  <a:schemeClr val="dk1"/>
                </a:solidFill>
                <a:latin typeface="Times New Roman"/>
                <a:ea typeface="Times New Roman"/>
                <a:cs typeface="Times New Roman"/>
                <a:sym typeface="Times New Roman"/>
              </a:rPr>
              <a:t>address field of the IR is updated from the MBR</a:t>
            </a:r>
            <a:r>
              <a:rPr lang="en-US" sz="2400">
                <a:solidFill>
                  <a:schemeClr val="dk1"/>
                </a:solidFill>
                <a:latin typeface="Times New Roman"/>
                <a:ea typeface="Times New Roman"/>
                <a:cs typeface="Times New Roman"/>
                <a:sym typeface="Times New Roman"/>
              </a:rPr>
              <a:t>.(So that it now  contains a direct addressing rather than indirect addressing)  </a:t>
            </a:r>
            <a:endParaRPr sz="2400">
              <a:solidFill>
                <a:schemeClr val="dk1"/>
              </a:solidFill>
              <a:latin typeface="Times New Roman"/>
              <a:ea typeface="Times New Roman"/>
              <a:cs typeface="Times New Roman"/>
              <a:sym typeface="Times New Roman"/>
            </a:endParaRPr>
          </a:p>
          <a:p>
            <a:pPr indent="0" lvl="0" marL="12700" marR="5080" rtl="0" algn="just">
              <a:lnSpc>
                <a:spcPct val="140100"/>
              </a:lnSpc>
              <a:spcBef>
                <a:spcPts val="575"/>
              </a:spcBef>
              <a:spcAft>
                <a:spcPts val="0"/>
              </a:spcAft>
              <a:buNone/>
            </a:pPr>
            <a:r>
              <a:rPr b="1" lang="en-US" sz="2400">
                <a:solidFill>
                  <a:schemeClr val="dk1"/>
                </a:solidFill>
                <a:latin typeface="Times New Roman"/>
                <a:ea typeface="Times New Roman"/>
                <a:cs typeface="Times New Roman"/>
                <a:sym typeface="Times New Roman"/>
              </a:rPr>
              <a:t>Step 3</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12700" marR="0" rtl="0" algn="just">
              <a:lnSpc>
                <a:spcPct val="100000"/>
              </a:lnSpc>
              <a:spcBef>
                <a:spcPts val="1730"/>
              </a:spcBef>
              <a:spcAft>
                <a:spcPts val="0"/>
              </a:spcAft>
              <a:buNone/>
            </a:pPr>
            <a:r>
              <a:rPr lang="en-US" sz="2400">
                <a:solidFill>
                  <a:schemeClr val="dk1"/>
                </a:solidFill>
                <a:latin typeface="Times New Roman"/>
                <a:ea typeface="Times New Roman"/>
                <a:cs typeface="Times New Roman"/>
                <a:sym typeface="Times New Roman"/>
              </a:rPr>
              <a:t>The IR is now in the state, as if indirect addressing has not been</a:t>
            </a:r>
            <a:endParaRPr sz="2400">
              <a:solidFill>
                <a:schemeClr val="dk1"/>
              </a:solidFill>
              <a:latin typeface="Times New Roman"/>
              <a:ea typeface="Times New Roman"/>
              <a:cs typeface="Times New Roman"/>
              <a:sym typeface="Times New Roman"/>
            </a:endParaRPr>
          </a:p>
          <a:p>
            <a:pPr indent="0" lvl="0" marL="12700" marR="0" rtl="0" algn="just">
              <a:lnSpc>
                <a:spcPct val="100000"/>
              </a:lnSpc>
              <a:spcBef>
                <a:spcPts val="1150"/>
              </a:spcBef>
              <a:spcAft>
                <a:spcPts val="0"/>
              </a:spcAft>
              <a:buNone/>
            </a:pPr>
            <a:r>
              <a:rPr lang="en-US" sz="2400">
                <a:solidFill>
                  <a:schemeClr val="dk1"/>
                </a:solidFill>
                <a:latin typeface="Times New Roman"/>
                <a:ea typeface="Times New Roman"/>
                <a:cs typeface="Times New Roman"/>
                <a:sym typeface="Times New Roman"/>
              </a:rPr>
              <a:t>occurred.</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9" name="Shape 769"/>
        <p:cNvGrpSpPr/>
        <p:nvPr/>
      </p:nvGrpSpPr>
      <p:grpSpPr>
        <a:xfrm>
          <a:off x="0" y="0"/>
          <a:ext cx="0" cy="0"/>
          <a:chOff x="0" y="0"/>
          <a:chExt cx="0" cy="0"/>
        </a:xfrm>
      </p:grpSpPr>
      <p:sp>
        <p:nvSpPr>
          <p:cNvPr id="770" name="Google Shape;770;p102"/>
          <p:cNvSpPr txBox="1"/>
          <p:nvPr>
            <p:ph type="title"/>
          </p:nvPr>
        </p:nvSpPr>
        <p:spPr>
          <a:xfrm>
            <a:off x="2057400" y="461594"/>
            <a:ext cx="4212590" cy="697230"/>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562214"/>
              </a:buClr>
              <a:buSzPts val="4400"/>
              <a:buFont typeface="Calibri"/>
              <a:buNone/>
            </a:pPr>
            <a:r>
              <a:rPr b="1" lang="en-US" sz="4400">
                <a:latin typeface="Calibri"/>
                <a:ea typeface="Calibri"/>
                <a:cs typeface="Calibri"/>
                <a:sym typeface="Calibri"/>
              </a:rPr>
              <a:t>Interrupt Cycle</a:t>
            </a:r>
            <a:endParaRPr b="1" sz="4400">
              <a:latin typeface="Calibri"/>
              <a:ea typeface="Calibri"/>
              <a:cs typeface="Calibri"/>
              <a:sym typeface="Calibri"/>
            </a:endParaRPr>
          </a:p>
        </p:txBody>
      </p:sp>
      <p:sp>
        <p:nvSpPr>
          <p:cNvPr id="771" name="Google Shape;771;p102"/>
          <p:cNvSpPr txBox="1"/>
          <p:nvPr/>
        </p:nvSpPr>
        <p:spPr>
          <a:xfrm>
            <a:off x="381000" y="1545716"/>
            <a:ext cx="8240749" cy="4057521"/>
          </a:xfrm>
          <a:prstGeom prst="rect">
            <a:avLst/>
          </a:prstGeom>
          <a:noFill/>
          <a:ln>
            <a:noFill/>
          </a:ln>
        </p:spPr>
        <p:txBody>
          <a:bodyPr anchorCtr="0" anchor="t" bIns="0" lIns="0" spcFirstLastPara="1" rIns="0" wrap="square" tIns="12700">
            <a:spAutoFit/>
          </a:bodyPr>
          <a:lstStyle/>
          <a:p>
            <a:pPr indent="-342900" lvl="0" marL="355600" marR="0" rtl="0" algn="l">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At	the	completion	of	the	Execute	Cycle,	a	</a:t>
            </a:r>
            <a:r>
              <a:rPr b="1" lang="en-US" sz="2400">
                <a:solidFill>
                  <a:schemeClr val="dk1"/>
                </a:solidFill>
                <a:latin typeface="Times New Roman"/>
                <a:ea typeface="Times New Roman"/>
                <a:cs typeface="Times New Roman"/>
                <a:sym typeface="Times New Roman"/>
              </a:rPr>
              <a:t>test</a:t>
            </a:r>
            <a:r>
              <a:rPr lang="en-US" sz="2400">
                <a:solidFill>
                  <a:schemeClr val="dk1"/>
                </a:solidFill>
                <a:latin typeface="Times New Roman"/>
                <a:ea typeface="Times New Roman"/>
                <a:cs typeface="Times New Roman"/>
                <a:sym typeface="Times New Roman"/>
              </a:rPr>
              <a:t>	is	made	to</a:t>
            </a:r>
            <a:endParaRPr sz="2400">
              <a:solidFill>
                <a:schemeClr val="dk1"/>
              </a:solidFill>
              <a:latin typeface="Times New Roman"/>
              <a:ea typeface="Times New Roman"/>
              <a:cs typeface="Times New Roman"/>
              <a:sym typeface="Times New Roman"/>
            </a:endParaRPr>
          </a:p>
          <a:p>
            <a:pPr indent="0" lvl="0" marL="355600" marR="5080" rtl="0" algn="l">
              <a:lnSpc>
                <a:spcPct val="150000"/>
              </a:lnSpc>
              <a:spcBef>
                <a:spcPts val="670"/>
              </a:spcBef>
              <a:spcAft>
                <a:spcPts val="0"/>
              </a:spcAft>
              <a:buNone/>
            </a:pPr>
            <a:r>
              <a:rPr lang="en-US" sz="2400">
                <a:solidFill>
                  <a:schemeClr val="dk1"/>
                </a:solidFill>
                <a:latin typeface="Times New Roman"/>
                <a:ea typeface="Times New Roman"/>
                <a:cs typeface="Times New Roman"/>
                <a:sym typeface="Times New Roman"/>
              </a:rPr>
              <a:t>determine	whether	</a:t>
            </a:r>
            <a:r>
              <a:rPr b="1" lang="en-US" sz="2400">
                <a:solidFill>
                  <a:schemeClr val="dk1"/>
                </a:solidFill>
                <a:latin typeface="Times New Roman"/>
                <a:ea typeface="Times New Roman"/>
                <a:cs typeface="Times New Roman"/>
                <a:sym typeface="Times New Roman"/>
              </a:rPr>
              <a:t>any	enabled	interrupt	has	occurred	or  not.</a:t>
            </a:r>
            <a:endParaRPr b="1" sz="2400">
              <a:solidFill>
                <a:schemeClr val="dk1"/>
              </a:solidFill>
              <a:latin typeface="Times New Roman"/>
              <a:ea typeface="Times New Roman"/>
              <a:cs typeface="Times New Roman"/>
              <a:sym typeface="Times New Roman"/>
            </a:endParaRPr>
          </a:p>
          <a:p>
            <a:pPr indent="-342900" lvl="0" marL="355600" marR="5080" rtl="0" algn="l">
              <a:lnSpc>
                <a:spcPct val="150000"/>
              </a:lnSpc>
              <a:spcBef>
                <a:spcPts val="58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If	an	enabled	interrupt	has	</a:t>
            </a:r>
            <a:r>
              <a:rPr b="1" lang="en-US" sz="2400">
                <a:solidFill>
                  <a:schemeClr val="dk1"/>
                </a:solidFill>
                <a:latin typeface="Times New Roman"/>
                <a:ea typeface="Times New Roman"/>
                <a:cs typeface="Times New Roman"/>
                <a:sym typeface="Times New Roman"/>
              </a:rPr>
              <a:t>occurred</a:t>
            </a:r>
            <a:r>
              <a:rPr lang="en-US" sz="2400">
                <a:solidFill>
                  <a:schemeClr val="dk1"/>
                </a:solidFill>
                <a:latin typeface="Times New Roman"/>
                <a:ea typeface="Times New Roman"/>
                <a:cs typeface="Times New Roman"/>
                <a:sym typeface="Times New Roman"/>
              </a:rPr>
              <a:t>	then	</a:t>
            </a:r>
            <a:r>
              <a:rPr b="1" lang="en-US" sz="2400">
                <a:solidFill>
                  <a:schemeClr val="dk1"/>
                </a:solidFill>
                <a:latin typeface="Times New Roman"/>
                <a:ea typeface="Times New Roman"/>
                <a:cs typeface="Times New Roman"/>
                <a:sym typeface="Times New Roman"/>
              </a:rPr>
              <a:t>Interrupt	Cycle  occurs.</a:t>
            </a:r>
            <a:endParaRPr b="1" sz="2400">
              <a:solidFill>
                <a:schemeClr val="dk1"/>
              </a:solidFill>
              <a:latin typeface="Times New Roman"/>
              <a:ea typeface="Times New Roman"/>
              <a:cs typeface="Times New Roman"/>
              <a:sym typeface="Times New Roman"/>
            </a:endParaRPr>
          </a:p>
          <a:p>
            <a:pPr indent="-342900" lvl="0" marL="355600" marR="0" rtl="0" algn="l">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nature of this cycle varies greatly from one machine to</a:t>
            </a:r>
            <a:endParaRPr sz="2400">
              <a:solidFill>
                <a:schemeClr val="dk1"/>
              </a:solidFill>
              <a:latin typeface="Times New Roman"/>
              <a:ea typeface="Times New Roman"/>
              <a:cs typeface="Times New Roman"/>
              <a:sym typeface="Times New Roman"/>
            </a:endParaRPr>
          </a:p>
          <a:p>
            <a:pPr indent="0" lvl="0" marL="355600" marR="0" rtl="0" algn="l">
              <a:lnSpc>
                <a:spcPct val="150000"/>
              </a:lnSpc>
              <a:spcBef>
                <a:spcPts val="5"/>
              </a:spcBef>
              <a:spcAft>
                <a:spcPts val="0"/>
              </a:spcAft>
              <a:buNone/>
            </a:pPr>
            <a:r>
              <a:rPr lang="en-US" sz="2400">
                <a:solidFill>
                  <a:schemeClr val="dk1"/>
                </a:solidFill>
                <a:latin typeface="Times New Roman"/>
                <a:ea typeface="Times New Roman"/>
                <a:cs typeface="Times New Roman"/>
                <a:sym typeface="Times New Roman"/>
              </a:rPr>
              <a:t>another.</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5" name="Shape 775"/>
        <p:cNvGrpSpPr/>
        <p:nvPr/>
      </p:nvGrpSpPr>
      <p:grpSpPr>
        <a:xfrm>
          <a:off x="0" y="0"/>
          <a:ext cx="0" cy="0"/>
          <a:chOff x="0" y="0"/>
          <a:chExt cx="0" cy="0"/>
        </a:xfrm>
      </p:grpSpPr>
      <p:pic>
        <p:nvPicPr>
          <p:cNvPr id="776" name="Google Shape;776;p103"/>
          <p:cNvPicPr preferRelativeResize="0"/>
          <p:nvPr/>
        </p:nvPicPr>
        <p:blipFill rotWithShape="1">
          <a:blip r:embed="rId3">
            <a:alphaModFix/>
          </a:blip>
          <a:srcRect b="0" l="0" r="0" t="0"/>
          <a:stretch/>
        </p:blipFill>
        <p:spPr>
          <a:xfrm>
            <a:off x="647349" y="2203884"/>
            <a:ext cx="7746957" cy="290549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0" name="Shape 780"/>
        <p:cNvGrpSpPr/>
        <p:nvPr/>
      </p:nvGrpSpPr>
      <p:grpSpPr>
        <a:xfrm>
          <a:off x="0" y="0"/>
          <a:ext cx="0" cy="0"/>
          <a:chOff x="0" y="0"/>
          <a:chExt cx="0" cy="0"/>
        </a:xfrm>
      </p:grpSpPr>
      <p:sp>
        <p:nvSpPr>
          <p:cNvPr id="781" name="Google Shape;781;p104"/>
          <p:cNvSpPr txBox="1"/>
          <p:nvPr/>
        </p:nvSpPr>
        <p:spPr>
          <a:xfrm>
            <a:off x="304800" y="381000"/>
            <a:ext cx="8230870" cy="5911234"/>
          </a:xfrm>
          <a:prstGeom prst="rect">
            <a:avLst/>
          </a:prstGeom>
          <a:noFill/>
          <a:ln>
            <a:noFill/>
          </a:ln>
        </p:spPr>
        <p:txBody>
          <a:bodyPr anchorCtr="0" anchor="t" bIns="0" lIns="0" spcFirstLastPara="1" rIns="0" wrap="square" tIns="12050">
            <a:spAutoFit/>
          </a:bodyPr>
          <a:lstStyle/>
          <a:p>
            <a:pPr indent="-343535" lvl="0" marL="355600" marR="150495" rtl="0" algn="just">
              <a:lnSpc>
                <a:spcPct val="1501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a:t>
            </a:r>
            <a:r>
              <a:rPr lang="en-US" sz="2400">
                <a:solidFill>
                  <a:schemeClr val="dk1"/>
                </a:solidFill>
                <a:latin typeface="Times New Roman"/>
                <a:ea typeface="Times New Roman"/>
                <a:cs typeface="Times New Roman"/>
                <a:sym typeface="Times New Roman"/>
              </a:rPr>
              <a:t>tep 1</a:t>
            </a:r>
            <a:r>
              <a:rPr b="1" lang="en-US" sz="2400">
                <a:solidFill>
                  <a:schemeClr val="dk1"/>
                </a:solidFill>
                <a:latin typeface="Times New Roman"/>
                <a:ea typeface="Times New Roman"/>
                <a:cs typeface="Times New Roman"/>
                <a:sym typeface="Times New Roman"/>
              </a:rPr>
              <a:t>: Contents of the PC </a:t>
            </a:r>
            <a:r>
              <a:rPr lang="en-US" sz="2400">
                <a:solidFill>
                  <a:schemeClr val="dk1"/>
                </a:solidFill>
                <a:latin typeface="Times New Roman"/>
                <a:ea typeface="Times New Roman"/>
                <a:cs typeface="Times New Roman"/>
                <a:sym typeface="Times New Roman"/>
              </a:rPr>
              <a:t>is </a:t>
            </a:r>
            <a:r>
              <a:rPr b="1" lang="en-US" sz="2400">
                <a:solidFill>
                  <a:schemeClr val="dk1"/>
                </a:solidFill>
                <a:latin typeface="Times New Roman"/>
                <a:ea typeface="Times New Roman"/>
                <a:cs typeface="Times New Roman"/>
                <a:sym typeface="Times New Roman"/>
              </a:rPr>
              <a:t>transferred to the MBR</a:t>
            </a:r>
            <a:r>
              <a:rPr lang="en-US" sz="2400">
                <a:solidFill>
                  <a:schemeClr val="dk1"/>
                </a:solidFill>
                <a:latin typeface="Times New Roman"/>
                <a:ea typeface="Times New Roman"/>
                <a:cs typeface="Times New Roman"/>
                <a:sym typeface="Times New Roman"/>
              </a:rPr>
              <a:t>, so that they  can be saved for return.</a:t>
            </a:r>
            <a:endParaRPr sz="2400">
              <a:solidFill>
                <a:schemeClr val="dk1"/>
              </a:solidFill>
              <a:latin typeface="Times New Roman"/>
              <a:ea typeface="Times New Roman"/>
              <a:cs typeface="Times New Roman"/>
              <a:sym typeface="Times New Roman"/>
            </a:endParaRPr>
          </a:p>
          <a:p>
            <a:pPr indent="0" lvl="0" marL="355600" marR="278130" rtl="0" algn="just">
              <a:lnSpc>
                <a:spcPct val="180000"/>
              </a:lnSpc>
              <a:spcBef>
                <a:spcPts val="384"/>
              </a:spcBef>
              <a:spcAft>
                <a:spcPts val="0"/>
              </a:spcAft>
              <a:buNone/>
            </a:pPr>
            <a:r>
              <a:rPr lang="en-US" sz="2400">
                <a:solidFill>
                  <a:schemeClr val="dk1"/>
                </a:solidFill>
                <a:latin typeface="Times New Roman"/>
                <a:ea typeface="Times New Roman"/>
                <a:cs typeface="Times New Roman"/>
                <a:sym typeface="Times New Roman"/>
              </a:rPr>
              <a:t>Step 2: </a:t>
            </a:r>
            <a:r>
              <a:rPr lang="en-US" sz="2400">
                <a:solidFill>
                  <a:srgbClr val="FF0000"/>
                </a:solidFill>
                <a:latin typeface="Times New Roman"/>
                <a:ea typeface="Times New Roman"/>
                <a:cs typeface="Times New Roman"/>
                <a:sym typeface="Times New Roman"/>
              </a:rPr>
              <a:t>MAR is loaded </a:t>
            </a:r>
            <a:r>
              <a:rPr lang="en-US" sz="2400">
                <a:solidFill>
                  <a:schemeClr val="dk1"/>
                </a:solidFill>
                <a:latin typeface="Times New Roman"/>
                <a:ea typeface="Times New Roman"/>
                <a:cs typeface="Times New Roman"/>
                <a:sym typeface="Times New Roman"/>
              </a:rPr>
              <a:t>with the </a:t>
            </a:r>
            <a:r>
              <a:rPr lang="en-US" sz="2400">
                <a:solidFill>
                  <a:srgbClr val="FF0000"/>
                </a:solidFill>
                <a:latin typeface="Times New Roman"/>
                <a:ea typeface="Times New Roman"/>
                <a:cs typeface="Times New Roman"/>
                <a:sym typeface="Times New Roman"/>
              </a:rPr>
              <a:t>address at which the contents of  the PC are to be saved.</a:t>
            </a:r>
            <a:endParaRPr sz="2400">
              <a:solidFill>
                <a:srgbClr val="FF0000"/>
              </a:solidFill>
              <a:latin typeface="Times New Roman"/>
              <a:ea typeface="Times New Roman"/>
              <a:cs typeface="Times New Roman"/>
              <a:sym typeface="Times New Roman"/>
            </a:endParaRPr>
          </a:p>
          <a:p>
            <a:pPr indent="0" lvl="0" marL="355600" marR="1028700" rtl="0" algn="just">
              <a:lnSpc>
                <a:spcPct val="180000"/>
              </a:lnSpc>
              <a:spcBef>
                <a:spcPts val="0"/>
              </a:spcBef>
              <a:spcAft>
                <a:spcPts val="0"/>
              </a:spcAft>
              <a:buNone/>
            </a:pPr>
            <a:r>
              <a:rPr lang="en-US" sz="2400">
                <a:solidFill>
                  <a:srgbClr val="FF0000"/>
                </a:solidFill>
                <a:latin typeface="Times New Roman"/>
                <a:ea typeface="Times New Roman"/>
                <a:cs typeface="Times New Roman"/>
                <a:sym typeface="Times New Roman"/>
              </a:rPr>
              <a:t>PC is loaded </a:t>
            </a:r>
            <a:r>
              <a:rPr lang="en-US" sz="2400">
                <a:solidFill>
                  <a:schemeClr val="dk1"/>
                </a:solidFill>
                <a:latin typeface="Times New Roman"/>
                <a:ea typeface="Times New Roman"/>
                <a:cs typeface="Times New Roman"/>
                <a:sym typeface="Times New Roman"/>
              </a:rPr>
              <a:t>with the </a:t>
            </a:r>
            <a:r>
              <a:rPr lang="en-US" sz="2400">
                <a:solidFill>
                  <a:srgbClr val="FF0000"/>
                </a:solidFill>
                <a:latin typeface="Times New Roman"/>
                <a:ea typeface="Times New Roman"/>
                <a:cs typeface="Times New Roman"/>
                <a:sym typeface="Times New Roman"/>
              </a:rPr>
              <a:t>address of the start of the interrupt-  processing routine.</a:t>
            </a:r>
            <a:endParaRPr sz="2400">
              <a:solidFill>
                <a:srgbClr val="FF0000"/>
              </a:solidFill>
              <a:latin typeface="Times New Roman"/>
              <a:ea typeface="Times New Roman"/>
              <a:cs typeface="Times New Roman"/>
              <a:sym typeface="Times New Roman"/>
            </a:endParaRPr>
          </a:p>
          <a:p>
            <a:pPr indent="0" lvl="0" marL="355600" marR="0" rtl="0" algn="just">
              <a:lnSpc>
                <a:spcPct val="100000"/>
              </a:lnSpc>
              <a:spcBef>
                <a:spcPts val="1060"/>
              </a:spcBef>
              <a:spcAft>
                <a:spcPts val="0"/>
              </a:spcAft>
              <a:buNone/>
            </a:pPr>
            <a:r>
              <a:rPr lang="en-US" sz="2400">
                <a:solidFill>
                  <a:schemeClr val="dk1"/>
                </a:solidFill>
                <a:latin typeface="Times New Roman"/>
                <a:ea typeface="Times New Roman"/>
                <a:cs typeface="Times New Roman"/>
                <a:sym typeface="Times New Roman"/>
              </a:rPr>
              <a:t>Step 3: MBR, containing the old value of PC, is stored in memory.</a:t>
            </a:r>
            <a:endParaRPr sz="2400">
              <a:solidFill>
                <a:schemeClr val="dk1"/>
              </a:solidFill>
              <a:latin typeface="Times New Roman"/>
              <a:ea typeface="Times New Roman"/>
              <a:cs typeface="Times New Roman"/>
              <a:sym typeface="Times New Roman"/>
            </a:endParaRPr>
          </a:p>
          <a:p>
            <a:pPr indent="-287019" lvl="0" marL="756285" marR="5080" rtl="0" algn="just">
              <a:lnSpc>
                <a:spcPct val="100000"/>
              </a:lnSpc>
              <a:spcBef>
                <a:spcPts val="910"/>
              </a:spcBef>
              <a:spcAft>
                <a:spcPts val="0"/>
              </a:spcAft>
              <a:buNone/>
            </a:pPr>
            <a:r>
              <a:rPr lang="en-US" sz="1800">
                <a:solidFill>
                  <a:schemeClr val="dk1"/>
                </a:solidFill>
                <a:latin typeface="Arial"/>
                <a:ea typeface="Arial"/>
                <a:cs typeface="Arial"/>
                <a:sym typeface="Arial"/>
              </a:rPr>
              <a:t>–	</a:t>
            </a:r>
            <a:r>
              <a:rPr b="1" lang="en-US" sz="2000">
                <a:solidFill>
                  <a:schemeClr val="dk1"/>
                </a:solidFill>
                <a:latin typeface="Times New Roman"/>
                <a:ea typeface="Times New Roman"/>
                <a:cs typeface="Times New Roman"/>
                <a:sym typeface="Times New Roman"/>
              </a:rPr>
              <a:t>Note: </a:t>
            </a:r>
            <a:r>
              <a:rPr lang="en-US" sz="2000">
                <a:solidFill>
                  <a:schemeClr val="dk1"/>
                </a:solidFill>
                <a:latin typeface="Times New Roman"/>
                <a:ea typeface="Times New Roman"/>
                <a:cs typeface="Times New Roman"/>
                <a:sym typeface="Times New Roman"/>
              </a:rPr>
              <a:t>In step 2, two actions are implemented as one micro-operation. However,  most processor provide multiple types of interrupts, it may take one or more micro-  operation to obtain the save_address and the routine_address before they are  transferred to the MAR and PC respectively.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5" name="Shape 785"/>
        <p:cNvGrpSpPr/>
        <p:nvPr/>
      </p:nvGrpSpPr>
      <p:grpSpPr>
        <a:xfrm>
          <a:off x="0" y="0"/>
          <a:ext cx="0" cy="0"/>
          <a:chOff x="0" y="0"/>
          <a:chExt cx="0" cy="0"/>
        </a:xfrm>
      </p:grpSpPr>
      <p:sp>
        <p:nvSpPr>
          <p:cNvPr id="786" name="Google Shape;786;p105"/>
          <p:cNvSpPr txBox="1"/>
          <p:nvPr>
            <p:ph type="title"/>
          </p:nvPr>
        </p:nvSpPr>
        <p:spPr>
          <a:xfrm>
            <a:off x="2286000" y="228600"/>
            <a:ext cx="458406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Execute Cycle (ADD)</a:t>
            </a:r>
            <a:endParaRPr sz="4400">
              <a:latin typeface="Calibri"/>
              <a:ea typeface="Calibri"/>
              <a:cs typeface="Calibri"/>
              <a:sym typeface="Calibri"/>
            </a:endParaRPr>
          </a:p>
        </p:txBody>
      </p:sp>
      <p:sp>
        <p:nvSpPr>
          <p:cNvPr id="787" name="Google Shape;787;p105"/>
          <p:cNvSpPr txBox="1"/>
          <p:nvPr/>
        </p:nvSpPr>
        <p:spPr>
          <a:xfrm>
            <a:off x="609600" y="914400"/>
            <a:ext cx="8009890" cy="2776401"/>
          </a:xfrm>
          <a:prstGeom prst="rect">
            <a:avLst/>
          </a:prstGeom>
          <a:noFill/>
          <a:ln>
            <a:noFill/>
          </a:ln>
        </p:spPr>
        <p:txBody>
          <a:bodyPr anchorCtr="0" anchor="t" bIns="0" lIns="0" spcFirstLastPara="1" rIns="0" wrap="square" tIns="186675">
            <a:spAutoFit/>
          </a:bodyPr>
          <a:lstStyle/>
          <a:p>
            <a:pPr indent="-152400" lvl="0" marL="254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Different for each instruction</a:t>
            </a:r>
            <a:endParaRPr sz="2400">
              <a:solidFill>
                <a:schemeClr val="dk1"/>
              </a:solidFill>
              <a:latin typeface="Times New Roman"/>
              <a:ea typeface="Times New Roman"/>
              <a:cs typeface="Times New Roman"/>
              <a:sym typeface="Times New Roman"/>
            </a:endParaRPr>
          </a:p>
          <a:p>
            <a:pPr indent="-152400" lvl="0" marL="25400" marR="0" rtl="0" algn="just">
              <a:spcBef>
                <a:spcPts val="14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control unit </a:t>
            </a:r>
            <a:r>
              <a:rPr b="1" lang="en-US" sz="2400">
                <a:solidFill>
                  <a:schemeClr val="dk1"/>
                </a:solidFill>
                <a:latin typeface="Times New Roman"/>
                <a:ea typeface="Times New Roman"/>
                <a:cs typeface="Times New Roman"/>
                <a:sym typeface="Times New Roman"/>
              </a:rPr>
              <a:t>examines the opcode </a:t>
            </a:r>
            <a:r>
              <a:rPr lang="en-US" sz="2400">
                <a:solidFill>
                  <a:schemeClr val="dk1"/>
                </a:solidFill>
                <a:latin typeface="Times New Roman"/>
                <a:ea typeface="Times New Roman"/>
                <a:cs typeface="Times New Roman"/>
                <a:sym typeface="Times New Roman"/>
              </a:rPr>
              <a:t>and </a:t>
            </a:r>
            <a:r>
              <a:rPr b="1" lang="en-US" sz="2400">
                <a:solidFill>
                  <a:schemeClr val="dk1"/>
                </a:solidFill>
                <a:latin typeface="Times New Roman"/>
                <a:ea typeface="Times New Roman"/>
                <a:cs typeface="Times New Roman"/>
                <a:sym typeface="Times New Roman"/>
              </a:rPr>
              <a:t>generates a sequence of micro-operations</a:t>
            </a:r>
            <a:r>
              <a:rPr lang="en-US" sz="2400">
                <a:solidFill>
                  <a:schemeClr val="dk1"/>
                </a:solidFill>
                <a:latin typeface="Times New Roman"/>
                <a:ea typeface="Times New Roman"/>
                <a:cs typeface="Times New Roman"/>
                <a:sym typeface="Times New Roman"/>
              </a:rPr>
              <a:t> based on the value of the opcode</a:t>
            </a:r>
            <a:r>
              <a:rPr lang="en-US" sz="2400">
                <a:solidFill>
                  <a:srgbClr val="FF0000"/>
                </a:solidFill>
                <a:latin typeface="Times New Roman"/>
                <a:ea typeface="Times New Roman"/>
                <a:cs typeface="Times New Roman"/>
                <a:sym typeface="Times New Roman"/>
              </a:rPr>
              <a:t>- Instruction decoding.</a:t>
            </a:r>
            <a:endParaRPr sz="2400">
              <a:solidFill>
                <a:srgbClr val="FF0000"/>
              </a:solidFill>
              <a:latin typeface="Times New Roman"/>
              <a:ea typeface="Times New Roman"/>
              <a:cs typeface="Times New Roman"/>
              <a:sym typeface="Times New Roman"/>
            </a:endParaRPr>
          </a:p>
          <a:p>
            <a:pPr indent="-342900" lvl="0" marL="368300" marR="17780" rtl="0" algn="just">
              <a:lnSpc>
                <a:spcPct val="100000"/>
              </a:lnSpc>
              <a:spcBef>
                <a:spcPts val="1365"/>
              </a:spcBef>
              <a:spcAft>
                <a:spcPts val="0"/>
              </a:spcAft>
              <a:buNone/>
            </a:pPr>
            <a:r>
              <a:rPr lang="en-US" sz="2400">
                <a:solidFill>
                  <a:schemeClr val="dk1"/>
                </a:solidFill>
                <a:latin typeface="Times New Roman"/>
                <a:ea typeface="Times New Roman"/>
                <a:cs typeface="Times New Roman"/>
                <a:sym typeface="Times New Roman"/>
              </a:rPr>
              <a:t>e.g. ADD R1,X - add the contents of location X to  Register 1 , result in R1</a:t>
            </a:r>
            <a:endParaRPr sz="2400">
              <a:solidFill>
                <a:schemeClr val="dk1"/>
              </a:solidFill>
              <a:latin typeface="Times New Roman"/>
              <a:ea typeface="Times New Roman"/>
              <a:cs typeface="Times New Roman"/>
              <a:sym typeface="Times New Roman"/>
            </a:endParaRPr>
          </a:p>
        </p:txBody>
      </p:sp>
      <p:pic>
        <p:nvPicPr>
          <p:cNvPr id="788" name="Google Shape;788;p105"/>
          <p:cNvPicPr preferRelativeResize="0"/>
          <p:nvPr/>
        </p:nvPicPr>
        <p:blipFill rotWithShape="1">
          <a:blip r:embed="rId3">
            <a:alphaModFix/>
          </a:blip>
          <a:srcRect b="30209" l="37482" r="32650" t="55207"/>
          <a:stretch/>
        </p:blipFill>
        <p:spPr>
          <a:xfrm>
            <a:off x="2590800" y="3657600"/>
            <a:ext cx="3886200" cy="1066800"/>
          </a:xfrm>
          <a:prstGeom prst="rect">
            <a:avLst/>
          </a:prstGeom>
          <a:noFill/>
          <a:ln>
            <a:noFill/>
          </a:ln>
        </p:spPr>
      </p:pic>
      <p:sp>
        <p:nvSpPr>
          <p:cNvPr id="789" name="Google Shape;789;p105"/>
          <p:cNvSpPr txBox="1"/>
          <p:nvPr/>
        </p:nvSpPr>
        <p:spPr>
          <a:xfrm>
            <a:off x="457200" y="4800600"/>
            <a:ext cx="8305800" cy="1323439"/>
          </a:xfrm>
          <a:prstGeom prst="rect">
            <a:avLst/>
          </a:prstGeom>
          <a:noFill/>
          <a:ln>
            <a:noFill/>
          </a:ln>
        </p:spPr>
        <p:txBody>
          <a:bodyPr anchorCtr="0" anchor="t" bIns="45700" lIns="91425" spcFirstLastPara="1" rIns="91425" wrap="square" tIns="45700">
            <a:spAutoFit/>
          </a:bodyPr>
          <a:lstStyle/>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IR contains the ADD instruction. </a:t>
            </a:r>
            <a:endParaRPr/>
          </a:p>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 the first step, the address portion of the IR is loaded into the MAR. </a:t>
            </a:r>
            <a:endParaRPr/>
          </a:p>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Then the referenced memory location is read. </a:t>
            </a:r>
            <a:endParaRPr/>
          </a:p>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Finally, the contents of R1 and MBR are added by the ALU</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3" name="Shape 793"/>
        <p:cNvGrpSpPr/>
        <p:nvPr/>
      </p:nvGrpSpPr>
      <p:grpSpPr>
        <a:xfrm>
          <a:off x="0" y="0"/>
          <a:ext cx="0" cy="0"/>
          <a:chOff x="0" y="0"/>
          <a:chExt cx="0" cy="0"/>
        </a:xfrm>
      </p:grpSpPr>
      <p:sp>
        <p:nvSpPr>
          <p:cNvPr id="794" name="Google Shape;794;p106"/>
          <p:cNvSpPr txBox="1"/>
          <p:nvPr>
            <p:ph type="title"/>
          </p:nvPr>
        </p:nvSpPr>
        <p:spPr>
          <a:xfrm>
            <a:off x="1752600" y="304800"/>
            <a:ext cx="5294121"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11478A"/>
              </a:buClr>
              <a:buSzPts val="3600"/>
              <a:buFont typeface="Times New Roman"/>
              <a:buNone/>
            </a:pPr>
            <a:r>
              <a:rPr b="1" lang="en-US" sz="3600">
                <a:solidFill>
                  <a:srgbClr val="11478A"/>
                </a:solidFill>
                <a:latin typeface="Times New Roman"/>
                <a:ea typeface="Times New Roman"/>
                <a:cs typeface="Times New Roman"/>
                <a:sym typeface="Times New Roman"/>
              </a:rPr>
              <a:t>Micro-Operations</a:t>
            </a:r>
            <a:endParaRPr b="1" sz="3600">
              <a:latin typeface="Times New Roman"/>
              <a:ea typeface="Times New Roman"/>
              <a:cs typeface="Times New Roman"/>
              <a:sym typeface="Times New Roman"/>
            </a:endParaRPr>
          </a:p>
        </p:txBody>
      </p:sp>
      <p:sp>
        <p:nvSpPr>
          <p:cNvPr id="795" name="Google Shape;795;p106"/>
          <p:cNvSpPr txBox="1"/>
          <p:nvPr/>
        </p:nvSpPr>
        <p:spPr>
          <a:xfrm>
            <a:off x="304800" y="1066800"/>
            <a:ext cx="8534400" cy="5053306"/>
          </a:xfrm>
          <a:prstGeom prst="rect">
            <a:avLst/>
          </a:prstGeom>
          <a:noFill/>
          <a:ln>
            <a:noFill/>
          </a:ln>
        </p:spPr>
        <p:txBody>
          <a:bodyPr anchorCtr="0" anchor="t" bIns="0" lIns="0" spcFirstLastPara="1" rIns="0" wrap="square" tIns="13325">
            <a:spAutoFit/>
          </a:bodyPr>
          <a:lstStyle/>
          <a:p>
            <a:pPr indent="-342900" lvl="0" marL="354965" marR="0" rtl="0" algn="just">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Execution of a program consists of the sequential execution of instructions. </a:t>
            </a:r>
            <a:endParaRPr/>
          </a:p>
          <a:p>
            <a:pPr indent="-342900" lvl="0" marL="354965" marR="0" rtl="0" algn="just">
              <a:spcBef>
                <a:spcPts val="10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Each instruction is executed during an instruction cycle made up of shorter subcycles (e.g., fetch, indirect, execute, interrupt). </a:t>
            </a:r>
            <a:endParaRPr/>
          </a:p>
          <a:p>
            <a:pPr indent="-342900" lvl="0" marL="354965" marR="0" rtl="0" algn="just">
              <a:spcBef>
                <a:spcPts val="10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execution of each subcycle involves one or more shorter operations, that is, micro-operations.</a:t>
            </a:r>
            <a:endParaRPr/>
          </a:p>
          <a:p>
            <a:pPr indent="-342900" lvl="0" marL="354965" marR="0" rtl="0" algn="just">
              <a:spcBef>
                <a:spcPts val="10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 computer executes a program</a:t>
            </a:r>
            <a:endParaRPr sz="2800">
              <a:solidFill>
                <a:schemeClr val="dk1"/>
              </a:solidFill>
              <a:latin typeface="Times New Roman"/>
              <a:ea typeface="Times New Roman"/>
              <a:cs typeface="Times New Roman"/>
              <a:sym typeface="Times New Roman"/>
            </a:endParaRPr>
          </a:p>
          <a:p>
            <a:pPr indent="-342900" lvl="0" marL="354965" marR="0" rtl="0" algn="just">
              <a:lnSpc>
                <a:spcPct val="100000"/>
              </a:lnSpc>
              <a:spcBef>
                <a:spcPts val="268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Each step does very little</a:t>
            </a:r>
            <a:endParaRPr sz="2800">
              <a:solidFill>
                <a:schemeClr val="dk1"/>
              </a:solidFill>
              <a:latin typeface="Times New Roman"/>
              <a:ea typeface="Times New Roman"/>
              <a:cs typeface="Times New Roman"/>
              <a:sym typeface="Times New Roman"/>
            </a:endParaRPr>
          </a:p>
          <a:p>
            <a:pPr indent="-342900" lvl="0" marL="354965" marR="0" rtl="0" algn="just">
              <a:lnSpc>
                <a:spcPct val="100000"/>
              </a:lnSpc>
              <a:spcBef>
                <a:spcPts val="269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Atomic operation of CPU</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9" name="Shape 799"/>
        <p:cNvGrpSpPr/>
        <p:nvPr/>
      </p:nvGrpSpPr>
      <p:grpSpPr>
        <a:xfrm>
          <a:off x="0" y="0"/>
          <a:ext cx="0" cy="0"/>
          <a:chOff x="0" y="0"/>
          <a:chExt cx="0" cy="0"/>
        </a:xfrm>
      </p:grpSpPr>
      <p:sp>
        <p:nvSpPr>
          <p:cNvPr id="800" name="Google Shape;800;p107"/>
          <p:cNvSpPr txBox="1"/>
          <p:nvPr>
            <p:ph type="title"/>
          </p:nvPr>
        </p:nvSpPr>
        <p:spPr>
          <a:xfrm>
            <a:off x="0" y="274321"/>
            <a:ext cx="8933688" cy="544636"/>
          </a:xfrm>
          <a:prstGeom prst="rect">
            <a:avLst/>
          </a:prstGeom>
          <a:noFill/>
          <a:ln>
            <a:noFill/>
          </a:ln>
        </p:spPr>
        <p:txBody>
          <a:bodyPr anchorCtr="0" anchor="ctr" bIns="0" lIns="0" spcFirstLastPara="1" rIns="0" wrap="square" tIns="51675">
            <a:spAutoFit/>
          </a:bodyPr>
          <a:lstStyle/>
          <a:p>
            <a:pPr indent="-541655" lvl="0" marL="1559560" marR="5080" rtl="0" algn="ctr">
              <a:lnSpc>
                <a:spcPct val="100000"/>
              </a:lnSpc>
              <a:spcBef>
                <a:spcPts val="0"/>
              </a:spcBef>
              <a:spcAft>
                <a:spcPts val="0"/>
              </a:spcAft>
              <a:buClr>
                <a:srgbClr val="11478A"/>
              </a:buClr>
              <a:buSzPts val="3200"/>
              <a:buFont typeface="Times New Roman"/>
              <a:buNone/>
            </a:pPr>
            <a:r>
              <a:rPr b="1" lang="en-US" sz="3200">
                <a:solidFill>
                  <a:srgbClr val="11478A"/>
                </a:solidFill>
                <a:latin typeface="Times New Roman"/>
                <a:ea typeface="Times New Roman"/>
                <a:cs typeface="Times New Roman"/>
                <a:sym typeface="Times New Roman"/>
              </a:rPr>
              <a:t>Constituent Elements of  Program Execution</a:t>
            </a:r>
            <a:endParaRPr/>
          </a:p>
        </p:txBody>
      </p:sp>
      <p:pic>
        <p:nvPicPr>
          <p:cNvPr id="801" name="Google Shape;801;p107"/>
          <p:cNvPicPr preferRelativeResize="0"/>
          <p:nvPr/>
        </p:nvPicPr>
        <p:blipFill rotWithShape="1">
          <a:blip r:embed="rId3">
            <a:alphaModFix/>
          </a:blip>
          <a:srcRect b="0" l="0" r="0" t="0"/>
          <a:stretch/>
        </p:blipFill>
        <p:spPr>
          <a:xfrm>
            <a:off x="1143000" y="1219200"/>
            <a:ext cx="7467600" cy="517138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5" name="Shape 805"/>
        <p:cNvGrpSpPr/>
        <p:nvPr/>
      </p:nvGrpSpPr>
      <p:grpSpPr>
        <a:xfrm>
          <a:off x="0" y="0"/>
          <a:ext cx="0" cy="0"/>
          <a:chOff x="0" y="0"/>
          <a:chExt cx="0" cy="0"/>
        </a:xfrm>
      </p:grpSpPr>
      <p:sp>
        <p:nvSpPr>
          <p:cNvPr id="806" name="Google Shape;806;p108"/>
          <p:cNvSpPr txBox="1"/>
          <p:nvPr>
            <p:ph type="title"/>
          </p:nvPr>
        </p:nvSpPr>
        <p:spPr>
          <a:xfrm>
            <a:off x="1695069" y="461594"/>
            <a:ext cx="5754370" cy="567463"/>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3600"/>
              <a:buFont typeface="Times New Roman"/>
              <a:buNone/>
            </a:pPr>
            <a:r>
              <a:rPr b="0" lang="en-US" sz="3600">
                <a:solidFill>
                  <a:srgbClr val="11478A"/>
                </a:solidFill>
                <a:latin typeface="Times New Roman"/>
                <a:ea typeface="Times New Roman"/>
                <a:cs typeface="Times New Roman"/>
                <a:sym typeface="Times New Roman"/>
              </a:rPr>
              <a:t>Categories of Micro-operation</a:t>
            </a:r>
            <a:endParaRPr sz="3600">
              <a:latin typeface="Times New Roman"/>
              <a:ea typeface="Times New Roman"/>
              <a:cs typeface="Times New Roman"/>
              <a:sym typeface="Times New Roman"/>
            </a:endParaRPr>
          </a:p>
        </p:txBody>
      </p:sp>
      <p:sp>
        <p:nvSpPr>
          <p:cNvPr id="807" name="Google Shape;807;p108"/>
          <p:cNvSpPr txBox="1"/>
          <p:nvPr/>
        </p:nvSpPr>
        <p:spPr>
          <a:xfrm>
            <a:off x="535940" y="1958162"/>
            <a:ext cx="7998460" cy="3029676"/>
          </a:xfrm>
          <a:prstGeom prst="rect">
            <a:avLst/>
          </a:prstGeom>
          <a:noFill/>
          <a:ln>
            <a:noFill/>
          </a:ln>
        </p:spPr>
        <p:txBody>
          <a:bodyPr anchorCtr="0" anchor="t" bIns="0" lIns="0" spcFirstLastPara="1" rIns="0" wrap="square" tIns="13325">
            <a:spAutoFit/>
          </a:bodyPr>
          <a:lstStyle/>
          <a:p>
            <a:pPr indent="-343535" lvl="0" marL="355600" marR="0" rtl="0" algn="just">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Transfer data between registers</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3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Transfer data from register to external interface</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35"/>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Transfer data from external to register</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3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Perform arithmetic or logical ops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1" name="Shape 811"/>
        <p:cNvGrpSpPr/>
        <p:nvPr/>
      </p:nvGrpSpPr>
      <p:grpSpPr>
        <a:xfrm>
          <a:off x="0" y="0"/>
          <a:ext cx="0" cy="0"/>
          <a:chOff x="0" y="0"/>
          <a:chExt cx="0" cy="0"/>
        </a:xfrm>
      </p:grpSpPr>
      <p:sp>
        <p:nvSpPr>
          <p:cNvPr id="812" name="Google Shape;812;p109"/>
          <p:cNvSpPr txBox="1"/>
          <p:nvPr>
            <p:ph type="title"/>
          </p:nvPr>
        </p:nvSpPr>
        <p:spPr>
          <a:xfrm>
            <a:off x="838200" y="1066800"/>
            <a:ext cx="7848600" cy="1335622"/>
          </a:xfrm>
          <a:prstGeom prst="rect">
            <a:avLst/>
          </a:prstGeom>
          <a:noFill/>
          <a:ln>
            <a:noFill/>
          </a:ln>
        </p:spPr>
        <p:txBody>
          <a:bodyPr anchorCtr="0" anchor="ctr" bIns="0" lIns="0" spcFirstLastPara="1" rIns="0" wrap="square" tIns="12050">
            <a:spAutoFit/>
          </a:bodyPr>
          <a:lstStyle/>
          <a:p>
            <a:pPr indent="-1270" lvl="0" marL="12700" marR="5080" rtl="0" algn="ctr">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William Stallings  Computer Organization  and Architecture</a:t>
            </a:r>
            <a:endParaRPr/>
          </a:p>
        </p:txBody>
      </p:sp>
      <p:sp>
        <p:nvSpPr>
          <p:cNvPr id="813" name="Google Shape;813;p109"/>
          <p:cNvSpPr txBox="1"/>
          <p:nvPr/>
        </p:nvSpPr>
        <p:spPr>
          <a:xfrm>
            <a:off x="1598549" y="3431285"/>
            <a:ext cx="5946140" cy="1845945"/>
          </a:xfrm>
          <a:prstGeom prst="rect">
            <a:avLst/>
          </a:prstGeom>
          <a:noFill/>
          <a:ln>
            <a:noFill/>
          </a:ln>
        </p:spPr>
        <p:txBody>
          <a:bodyPr anchorCtr="0" anchor="t" bIns="0" lIns="0" spcFirstLastPara="1" rIns="0" wrap="square" tIns="12050">
            <a:spAutoFit/>
          </a:bodyPr>
          <a:lstStyle/>
          <a:p>
            <a:pPr indent="0" lvl="0" marL="0" marR="0" rtl="0" algn="ctr">
              <a:lnSpc>
                <a:spcPct val="105750"/>
              </a:lnSpc>
              <a:spcBef>
                <a:spcPts val="0"/>
              </a:spcBef>
              <a:spcAft>
                <a:spcPts val="0"/>
              </a:spcAft>
              <a:buNone/>
            </a:pPr>
            <a:r>
              <a:rPr lang="en-US" sz="4000">
                <a:solidFill>
                  <a:srgbClr val="11478A"/>
                </a:solidFill>
                <a:latin typeface="Calibri"/>
                <a:ea typeface="Calibri"/>
                <a:cs typeface="Calibri"/>
                <a:sym typeface="Calibri"/>
              </a:rPr>
              <a:t>8</a:t>
            </a:r>
            <a:r>
              <a:rPr baseline="30000" lang="en-US" sz="3975">
                <a:solidFill>
                  <a:srgbClr val="11478A"/>
                </a:solidFill>
                <a:latin typeface="Calibri"/>
                <a:ea typeface="Calibri"/>
                <a:cs typeface="Calibri"/>
                <a:sym typeface="Calibri"/>
              </a:rPr>
              <a:t>th </a:t>
            </a:r>
            <a:r>
              <a:rPr lang="en-US" sz="4000">
                <a:solidFill>
                  <a:srgbClr val="11478A"/>
                </a:solidFill>
                <a:latin typeface="Calibri"/>
                <a:ea typeface="Calibri"/>
                <a:cs typeface="Calibri"/>
                <a:sym typeface="Calibri"/>
              </a:rPr>
              <a:t>Edition</a:t>
            </a:r>
            <a:endParaRPr sz="4000">
              <a:solidFill>
                <a:schemeClr val="dk1"/>
              </a:solidFill>
              <a:latin typeface="Calibri"/>
              <a:ea typeface="Calibri"/>
              <a:cs typeface="Calibri"/>
              <a:sym typeface="Calibri"/>
            </a:endParaRPr>
          </a:p>
          <a:p>
            <a:pPr indent="0" lvl="0" marL="0" marR="0" rtl="0" algn="ctr">
              <a:lnSpc>
                <a:spcPct val="101000"/>
              </a:lnSpc>
              <a:spcBef>
                <a:spcPts val="0"/>
              </a:spcBef>
              <a:spcAft>
                <a:spcPts val="0"/>
              </a:spcAft>
              <a:buNone/>
            </a:pPr>
            <a:r>
              <a:rPr lang="en-US" sz="3000">
                <a:solidFill>
                  <a:srgbClr val="888888"/>
                </a:solidFill>
                <a:latin typeface="Calibri"/>
                <a:ea typeface="Calibri"/>
                <a:cs typeface="Calibri"/>
                <a:sym typeface="Calibri"/>
              </a:rPr>
              <a:t>Chapter 15</a:t>
            </a:r>
            <a:endParaRPr sz="3000">
              <a:solidFill>
                <a:schemeClr val="dk1"/>
              </a:solidFill>
              <a:latin typeface="Calibri"/>
              <a:ea typeface="Calibri"/>
              <a:cs typeface="Calibri"/>
              <a:sym typeface="Calibri"/>
            </a:endParaRPr>
          </a:p>
          <a:p>
            <a:pPr indent="0" lvl="0" marL="0" marR="0" rtl="0" algn="ctr">
              <a:lnSpc>
                <a:spcPct val="100000"/>
              </a:lnSpc>
              <a:spcBef>
                <a:spcPts val="1075"/>
              </a:spcBef>
              <a:spcAft>
                <a:spcPts val="0"/>
              </a:spcAft>
              <a:buNone/>
            </a:pPr>
            <a:r>
              <a:rPr lang="en-US" sz="5000">
                <a:solidFill>
                  <a:srgbClr val="001F5F"/>
                </a:solidFill>
                <a:latin typeface="Calibri"/>
                <a:ea typeface="Calibri"/>
                <a:cs typeface="Calibri"/>
                <a:sym typeface="Calibri"/>
              </a:rPr>
              <a:t>Control Unit Operation</a:t>
            </a:r>
            <a:endParaRPr sz="5000">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10"/>
          <p:cNvSpPr txBox="1"/>
          <p:nvPr>
            <p:ph type="title"/>
          </p:nvPr>
        </p:nvSpPr>
        <p:spPr>
          <a:xfrm>
            <a:off x="533400" y="274638"/>
            <a:ext cx="84002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819" name="Google Shape;819;p110"/>
          <p:cNvSpPr txBox="1"/>
          <p:nvPr>
            <p:ph idx="1" type="body"/>
          </p:nvPr>
        </p:nvSpPr>
        <p:spPr>
          <a:xfrm>
            <a:off x="304800" y="14478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we have decomposed the behavior or functioning of the processor into elementary operations, called </a:t>
            </a:r>
            <a:r>
              <a:rPr b="1" lang="en-US" sz="2400">
                <a:latin typeface="Times New Roman"/>
                <a:ea typeface="Times New Roman"/>
                <a:cs typeface="Times New Roman"/>
                <a:sym typeface="Times New Roman"/>
              </a:rPr>
              <a:t>micro-operations.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By reducing the operation of the processor to its most fundamental level, we are able to define exactly </a:t>
            </a:r>
            <a:r>
              <a:rPr b="1" lang="en-US" sz="2400">
                <a:latin typeface="Times New Roman"/>
                <a:ea typeface="Times New Roman"/>
                <a:cs typeface="Times New Roman"/>
                <a:sym typeface="Times New Roman"/>
              </a:rPr>
              <a:t>what it is that the control unit must cause to happen</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definition of these functional requirements is the </a:t>
            </a:r>
            <a:r>
              <a:rPr b="1" lang="en-US" sz="2400">
                <a:latin typeface="Times New Roman"/>
                <a:ea typeface="Times New Roman"/>
                <a:cs typeface="Times New Roman"/>
                <a:sym typeface="Times New Roman"/>
              </a:rPr>
              <a:t>basis for the design and implementation of the control unit.</a:t>
            </a:r>
            <a:endParaRPr b="1" sz="2400">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3" name="Shape 823"/>
        <p:cNvGrpSpPr/>
        <p:nvPr/>
      </p:nvGrpSpPr>
      <p:grpSpPr>
        <a:xfrm>
          <a:off x="0" y="0"/>
          <a:ext cx="0" cy="0"/>
          <a:chOff x="0" y="0"/>
          <a:chExt cx="0" cy="0"/>
        </a:xfrm>
      </p:grpSpPr>
      <p:sp>
        <p:nvSpPr>
          <p:cNvPr id="824" name="Google Shape;824;p111"/>
          <p:cNvSpPr txBox="1"/>
          <p:nvPr>
            <p:ph type="title"/>
          </p:nvPr>
        </p:nvSpPr>
        <p:spPr>
          <a:xfrm>
            <a:off x="381000" y="191846"/>
            <a:ext cx="8305800" cy="566181"/>
          </a:xfrm>
          <a:prstGeom prst="rect">
            <a:avLst/>
          </a:prstGeom>
          <a:noFill/>
          <a:ln>
            <a:noFill/>
          </a:ln>
        </p:spPr>
        <p:txBody>
          <a:bodyPr anchorCtr="0" anchor="ctr" bIns="0" lIns="0" spcFirstLastPara="1" rIns="0" wrap="square" tIns="12050">
            <a:spAutoFit/>
          </a:bodyPr>
          <a:lstStyle/>
          <a:p>
            <a:pPr indent="-3170555" lvl="0" marL="3182620" marR="5080" rtl="0" algn="ctr">
              <a:lnSpc>
                <a:spcPct val="100000"/>
              </a:lnSpc>
              <a:spcBef>
                <a:spcPts val="0"/>
              </a:spcBef>
              <a:spcAft>
                <a:spcPts val="0"/>
              </a:spcAft>
              <a:buClr>
                <a:srgbClr val="11478A"/>
              </a:buClr>
              <a:buSzPts val="3600"/>
              <a:buFont typeface="Times New Roman"/>
              <a:buNone/>
            </a:pPr>
            <a:r>
              <a:rPr b="0" lang="en-US" sz="3600">
                <a:solidFill>
                  <a:srgbClr val="11478A"/>
                </a:solidFill>
                <a:latin typeface="Times New Roman"/>
                <a:ea typeface="Times New Roman"/>
                <a:cs typeface="Times New Roman"/>
                <a:sym typeface="Times New Roman"/>
              </a:rPr>
              <a:t>Functional Requirements(of Control  Unit)</a:t>
            </a:r>
            <a:endParaRPr/>
          </a:p>
        </p:txBody>
      </p:sp>
      <p:sp>
        <p:nvSpPr>
          <p:cNvPr id="825" name="Google Shape;825;p111"/>
          <p:cNvSpPr txBox="1"/>
          <p:nvPr/>
        </p:nvSpPr>
        <p:spPr>
          <a:xfrm>
            <a:off x="618236" y="1219200"/>
            <a:ext cx="7973700" cy="2702700"/>
          </a:xfrm>
          <a:prstGeom prst="rect">
            <a:avLst/>
          </a:prstGeom>
          <a:noFill/>
          <a:ln>
            <a:noFill/>
          </a:ln>
        </p:spPr>
        <p:txBody>
          <a:bodyPr anchorCtr="0" anchor="t" bIns="0" lIns="0" spcFirstLastPara="1" rIns="0" wrap="square" tIns="13325">
            <a:spAutoFit/>
          </a:bodyPr>
          <a:lstStyle/>
          <a:p>
            <a:pPr indent="-283844" lvl="0" marL="295910" marR="0" rtl="0" algn="just">
              <a:lnSpc>
                <a:spcPct val="100000"/>
              </a:lnSpc>
              <a:spcBef>
                <a:spcPts val="0"/>
              </a:spcBef>
              <a:spcAft>
                <a:spcPts val="0"/>
              </a:spcAft>
              <a:buClr>
                <a:schemeClr val="dk1"/>
              </a:buClr>
              <a:buSzPts val="2800"/>
              <a:buFont typeface="Quattrocento Sans"/>
              <a:buChar char="⚫"/>
            </a:pPr>
            <a:r>
              <a:rPr lang="en-US" sz="2800">
                <a:solidFill>
                  <a:schemeClr val="dk1"/>
                </a:solidFill>
                <a:latin typeface="Times New Roman"/>
                <a:ea typeface="Times New Roman"/>
                <a:cs typeface="Times New Roman"/>
                <a:sym typeface="Times New Roman"/>
              </a:rPr>
              <a:t>Define basic elements of processor</a:t>
            </a:r>
            <a:endParaRPr sz="2800">
              <a:solidFill>
                <a:schemeClr val="dk1"/>
              </a:solidFill>
              <a:latin typeface="Times New Roman"/>
              <a:ea typeface="Times New Roman"/>
              <a:cs typeface="Times New Roman"/>
              <a:sym typeface="Times New Roman"/>
            </a:endParaRPr>
          </a:p>
          <a:p>
            <a:pPr indent="0" lvl="0" marL="0" marR="0" rtl="0" algn="just">
              <a:lnSpc>
                <a:spcPct val="100000"/>
              </a:lnSpc>
              <a:spcBef>
                <a:spcPts val="30"/>
              </a:spcBef>
              <a:spcAft>
                <a:spcPts val="0"/>
              </a:spcAft>
              <a:buClr>
                <a:schemeClr val="dk1"/>
              </a:buClr>
              <a:buSzPts val="2800"/>
              <a:buFont typeface="Quattrocento Sans"/>
              <a:buNone/>
            </a:pPr>
            <a:r>
              <a:t/>
            </a:r>
            <a:endParaRPr sz="2800">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0"/>
              </a:spcBef>
              <a:spcAft>
                <a:spcPts val="0"/>
              </a:spcAft>
              <a:buClr>
                <a:schemeClr val="dk1"/>
              </a:buClr>
              <a:buSzPts val="2800"/>
              <a:buFont typeface="Quattrocento Sans"/>
              <a:buChar char="⚫"/>
            </a:pPr>
            <a:r>
              <a:rPr lang="en-US" sz="2800">
                <a:solidFill>
                  <a:schemeClr val="dk1"/>
                </a:solidFill>
                <a:latin typeface="Times New Roman"/>
                <a:ea typeface="Times New Roman"/>
                <a:cs typeface="Times New Roman"/>
                <a:sym typeface="Times New Roman"/>
              </a:rPr>
              <a:t>Describe micro-operations processor performs</a:t>
            </a:r>
            <a:endParaRPr sz="2800">
              <a:solidFill>
                <a:schemeClr val="dk1"/>
              </a:solidFill>
              <a:latin typeface="Times New Roman"/>
              <a:ea typeface="Times New Roman"/>
              <a:cs typeface="Times New Roman"/>
              <a:sym typeface="Times New Roman"/>
            </a:endParaRPr>
          </a:p>
          <a:p>
            <a:pPr indent="-283844" lvl="0" marL="295910" marR="1339215" rtl="0" algn="just">
              <a:lnSpc>
                <a:spcPct val="200000"/>
              </a:lnSpc>
              <a:spcBef>
                <a:spcPts val="775"/>
              </a:spcBef>
              <a:spcAft>
                <a:spcPts val="0"/>
              </a:spcAft>
              <a:buClr>
                <a:schemeClr val="dk1"/>
              </a:buClr>
              <a:buSzPts val="2800"/>
              <a:buFont typeface="Quattrocento Sans"/>
              <a:buChar char="⚫"/>
            </a:pPr>
            <a:r>
              <a:rPr lang="en-US" sz="2800">
                <a:solidFill>
                  <a:schemeClr val="dk1"/>
                </a:solidFill>
                <a:latin typeface="Times New Roman"/>
                <a:ea typeface="Times New Roman"/>
                <a:cs typeface="Times New Roman"/>
                <a:sym typeface="Times New Roman"/>
              </a:rPr>
              <a:t>Determine functions control unit must  perform</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9" name="Shape 829"/>
        <p:cNvGrpSpPr/>
        <p:nvPr/>
      </p:nvGrpSpPr>
      <p:grpSpPr>
        <a:xfrm>
          <a:off x="0" y="0"/>
          <a:ext cx="0" cy="0"/>
          <a:chOff x="0" y="0"/>
          <a:chExt cx="0" cy="0"/>
        </a:xfrm>
      </p:grpSpPr>
      <p:sp>
        <p:nvSpPr>
          <p:cNvPr id="830" name="Google Shape;830;p112"/>
          <p:cNvSpPr txBox="1"/>
          <p:nvPr>
            <p:ph type="title"/>
          </p:nvPr>
        </p:nvSpPr>
        <p:spPr>
          <a:xfrm>
            <a:off x="2667000" y="304800"/>
            <a:ext cx="298640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Registers</a:t>
            </a:r>
            <a:endParaRPr sz="4400">
              <a:latin typeface="Calibri"/>
              <a:ea typeface="Calibri"/>
              <a:cs typeface="Calibri"/>
              <a:sym typeface="Calibri"/>
            </a:endParaRPr>
          </a:p>
        </p:txBody>
      </p:sp>
      <p:sp>
        <p:nvSpPr>
          <p:cNvPr id="831" name="Google Shape;831;p112"/>
          <p:cNvSpPr txBox="1"/>
          <p:nvPr/>
        </p:nvSpPr>
        <p:spPr>
          <a:xfrm>
            <a:off x="304800" y="1103836"/>
            <a:ext cx="8524011" cy="4224553"/>
          </a:xfrm>
          <a:prstGeom prst="rect">
            <a:avLst/>
          </a:prstGeom>
          <a:noFill/>
          <a:ln>
            <a:noFill/>
          </a:ln>
        </p:spPr>
        <p:txBody>
          <a:bodyPr anchorCtr="0" anchor="t" bIns="0" lIns="0" spcFirstLastPara="1" rIns="0" wrap="square" tIns="64750">
            <a:spAutoFit/>
          </a:bodyPr>
          <a:lstStyle/>
          <a:p>
            <a:pPr indent="-283844" lvl="0" marL="295910" marR="0" rtl="0" algn="just">
              <a:lnSpc>
                <a:spcPct val="100000"/>
              </a:lnSpc>
              <a:spcBef>
                <a:spcPts val="0"/>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Memory Address Register (MAR)</a:t>
            </a:r>
            <a:endParaRPr sz="2400">
              <a:solidFill>
                <a:schemeClr val="dk1"/>
              </a:solidFill>
              <a:latin typeface="Times New Roman"/>
              <a:ea typeface="Times New Roman"/>
              <a:cs typeface="Times New Roman"/>
              <a:sym typeface="Times New Roman"/>
            </a:endParaRPr>
          </a:p>
          <a:p>
            <a:pPr indent="-238760" lvl="1" marL="570230" marR="0" rtl="0" algn="just">
              <a:lnSpc>
                <a:spcPct val="100000"/>
              </a:lnSpc>
              <a:spcBef>
                <a:spcPts val="355"/>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Connected to address bus</a:t>
            </a:r>
            <a:endParaRPr b="0" i="0" sz="2400" u="none" cap="none" strike="noStrike">
              <a:solidFill>
                <a:schemeClr val="dk1"/>
              </a:solidFill>
              <a:latin typeface="Times New Roman"/>
              <a:ea typeface="Times New Roman"/>
              <a:cs typeface="Times New Roman"/>
              <a:sym typeface="Times New Roman"/>
            </a:endParaRPr>
          </a:p>
          <a:p>
            <a:pPr indent="-238760" lvl="1" marL="570230" marR="0" rtl="0" algn="just">
              <a:lnSpc>
                <a:spcPct val="100000"/>
              </a:lnSpc>
              <a:spcBef>
                <a:spcPts val="335"/>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Specifies address for read or write op</a:t>
            </a:r>
            <a:endParaRPr b="0" i="0" sz="2400" u="none" cap="none" strike="noStrike">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370"/>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Memory Buffer Register (MBR)</a:t>
            </a:r>
            <a:endParaRPr sz="2400">
              <a:solidFill>
                <a:schemeClr val="dk1"/>
              </a:solidFill>
              <a:latin typeface="Times New Roman"/>
              <a:ea typeface="Times New Roman"/>
              <a:cs typeface="Times New Roman"/>
              <a:sym typeface="Times New Roman"/>
            </a:endParaRPr>
          </a:p>
          <a:p>
            <a:pPr indent="-238760" lvl="1" marL="570230" marR="0" rtl="0" algn="just">
              <a:lnSpc>
                <a:spcPct val="100000"/>
              </a:lnSpc>
              <a:spcBef>
                <a:spcPts val="355"/>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Connected to data bus</a:t>
            </a:r>
            <a:endParaRPr b="0" i="0" sz="2400" u="none" cap="none" strike="noStrike">
              <a:solidFill>
                <a:schemeClr val="dk1"/>
              </a:solidFill>
              <a:latin typeface="Times New Roman"/>
              <a:ea typeface="Times New Roman"/>
              <a:cs typeface="Times New Roman"/>
              <a:sym typeface="Times New Roman"/>
            </a:endParaRPr>
          </a:p>
          <a:p>
            <a:pPr indent="-238760" lvl="1" marL="570230" marR="0" rtl="0" algn="just">
              <a:lnSpc>
                <a:spcPct val="100000"/>
              </a:lnSpc>
              <a:spcBef>
                <a:spcPts val="335"/>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Holds data to write or last data read</a:t>
            </a:r>
            <a:endParaRPr b="0" i="0" sz="2400" u="none" cap="none" strike="noStrike">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370"/>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Program Counter (PC)</a:t>
            </a:r>
            <a:endParaRPr sz="2400">
              <a:solidFill>
                <a:schemeClr val="dk1"/>
              </a:solidFill>
              <a:latin typeface="Times New Roman"/>
              <a:ea typeface="Times New Roman"/>
              <a:cs typeface="Times New Roman"/>
              <a:sym typeface="Times New Roman"/>
            </a:endParaRPr>
          </a:p>
          <a:p>
            <a:pPr indent="-238760" lvl="1" marL="570230" marR="0" rtl="0" algn="just">
              <a:lnSpc>
                <a:spcPct val="100000"/>
              </a:lnSpc>
              <a:spcBef>
                <a:spcPts val="35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Holds address of next instruction to be fetched</a:t>
            </a:r>
            <a:endParaRPr b="0" i="0" sz="2400" u="none" cap="none" strike="noStrike">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370"/>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Instruction Register (IR)</a:t>
            </a:r>
            <a:endParaRPr sz="2400">
              <a:solidFill>
                <a:schemeClr val="dk1"/>
              </a:solidFill>
              <a:latin typeface="Times New Roman"/>
              <a:ea typeface="Times New Roman"/>
              <a:cs typeface="Times New Roman"/>
              <a:sym typeface="Times New Roman"/>
            </a:endParaRPr>
          </a:p>
          <a:p>
            <a:pPr indent="-238125" lvl="1" marL="570230" marR="5080" rtl="0" algn="just">
              <a:lnSpc>
                <a:spcPct val="125833"/>
              </a:lnSpc>
              <a:spcBef>
                <a:spcPts val="74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Holds last instruction fetched/current instruction  being executed</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5" name="Shape 835"/>
        <p:cNvGrpSpPr/>
        <p:nvPr/>
      </p:nvGrpSpPr>
      <p:grpSpPr>
        <a:xfrm>
          <a:off x="0" y="0"/>
          <a:ext cx="0" cy="0"/>
          <a:chOff x="0" y="0"/>
          <a:chExt cx="0" cy="0"/>
        </a:xfrm>
      </p:grpSpPr>
      <p:sp>
        <p:nvSpPr>
          <p:cNvPr id="836" name="Google Shape;836;p113"/>
          <p:cNvSpPr txBox="1"/>
          <p:nvPr>
            <p:ph type="title"/>
          </p:nvPr>
        </p:nvSpPr>
        <p:spPr>
          <a:xfrm>
            <a:off x="2076069" y="461594"/>
            <a:ext cx="499872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Model of Control Unit</a:t>
            </a:r>
            <a:endParaRPr sz="4400">
              <a:latin typeface="Calibri"/>
              <a:ea typeface="Calibri"/>
              <a:cs typeface="Calibri"/>
              <a:sym typeface="Calibri"/>
            </a:endParaRPr>
          </a:p>
        </p:txBody>
      </p:sp>
      <p:pic>
        <p:nvPicPr>
          <p:cNvPr id="837" name="Google Shape;837;p113"/>
          <p:cNvPicPr preferRelativeResize="0"/>
          <p:nvPr/>
        </p:nvPicPr>
        <p:blipFill rotWithShape="1">
          <a:blip r:embed="rId3">
            <a:alphaModFix/>
          </a:blip>
          <a:srcRect b="0" l="0" r="0" t="0"/>
          <a:stretch/>
        </p:blipFill>
        <p:spPr>
          <a:xfrm>
            <a:off x="88015" y="1446275"/>
            <a:ext cx="9003660" cy="449630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1" name="Shape 841"/>
        <p:cNvGrpSpPr/>
        <p:nvPr/>
      </p:nvGrpSpPr>
      <p:grpSpPr>
        <a:xfrm>
          <a:off x="0" y="0"/>
          <a:ext cx="0" cy="0"/>
          <a:chOff x="0" y="0"/>
          <a:chExt cx="0" cy="0"/>
        </a:xfrm>
      </p:grpSpPr>
      <p:sp>
        <p:nvSpPr>
          <p:cNvPr id="842" name="Google Shape;842;p114"/>
          <p:cNvSpPr txBox="1"/>
          <p:nvPr>
            <p:ph type="title"/>
          </p:nvPr>
        </p:nvSpPr>
        <p:spPr>
          <a:xfrm>
            <a:off x="685800" y="800148"/>
            <a:ext cx="6743953" cy="690574"/>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11478A"/>
              </a:buClr>
              <a:buSzPts val="4400"/>
              <a:buFont typeface="Times New Roman"/>
              <a:buNone/>
            </a:pPr>
            <a:r>
              <a:rPr b="0" lang="en-US" sz="4400">
                <a:solidFill>
                  <a:srgbClr val="11478A"/>
                </a:solidFill>
                <a:latin typeface="Times New Roman"/>
                <a:ea typeface="Times New Roman"/>
                <a:cs typeface="Times New Roman"/>
                <a:sym typeface="Times New Roman"/>
              </a:rPr>
              <a:t>Functions of Control Unit</a:t>
            </a:r>
            <a:endParaRPr sz="4400">
              <a:latin typeface="Times New Roman"/>
              <a:ea typeface="Times New Roman"/>
              <a:cs typeface="Times New Roman"/>
              <a:sym typeface="Times New Roman"/>
            </a:endParaRPr>
          </a:p>
        </p:txBody>
      </p:sp>
      <p:sp>
        <p:nvSpPr>
          <p:cNvPr id="843" name="Google Shape;843;p114"/>
          <p:cNvSpPr txBox="1"/>
          <p:nvPr/>
        </p:nvSpPr>
        <p:spPr>
          <a:xfrm>
            <a:off x="618236" y="1831670"/>
            <a:ext cx="7484109" cy="3272154"/>
          </a:xfrm>
          <a:prstGeom prst="rect">
            <a:avLst/>
          </a:prstGeom>
          <a:noFill/>
          <a:ln>
            <a:noFill/>
          </a:ln>
        </p:spPr>
        <p:txBody>
          <a:bodyPr anchorCtr="0" anchor="t" bIns="0" lIns="0" spcFirstLastPara="1" rIns="0" wrap="square" tIns="12050">
            <a:spAutoFit/>
          </a:bodyPr>
          <a:lstStyle/>
          <a:p>
            <a:pPr indent="-283844" lvl="0" marL="295910" marR="0" rtl="0" algn="just">
              <a:lnSpc>
                <a:spcPct val="100000"/>
              </a:lnSpc>
              <a:spcBef>
                <a:spcPts val="0"/>
              </a:spcBef>
              <a:spcAft>
                <a:spcPts val="0"/>
              </a:spcAft>
              <a:buClr>
                <a:srgbClr val="FF0000"/>
              </a:buClr>
              <a:buSzPts val="2500"/>
              <a:buFont typeface="Quattrocento Sans"/>
              <a:buChar char="⚫"/>
            </a:pPr>
            <a:r>
              <a:rPr b="1" lang="en-US" sz="2500">
                <a:solidFill>
                  <a:srgbClr val="FF0000"/>
                </a:solidFill>
                <a:latin typeface="Times New Roman"/>
                <a:ea typeface="Times New Roman"/>
                <a:cs typeface="Times New Roman"/>
                <a:sym typeface="Times New Roman"/>
              </a:rPr>
              <a:t>Sequencing</a:t>
            </a:r>
            <a:endParaRPr sz="2500">
              <a:solidFill>
                <a:schemeClr val="dk1"/>
              </a:solidFill>
              <a:latin typeface="Times New Roman"/>
              <a:ea typeface="Times New Roman"/>
              <a:cs typeface="Times New Roman"/>
              <a:sym typeface="Times New Roman"/>
            </a:endParaRPr>
          </a:p>
          <a:p>
            <a:pPr indent="0" lvl="0" marL="0" marR="0" rtl="0" algn="just">
              <a:lnSpc>
                <a:spcPct val="100000"/>
              </a:lnSpc>
              <a:spcBef>
                <a:spcPts val="50"/>
              </a:spcBef>
              <a:spcAft>
                <a:spcPts val="0"/>
              </a:spcAft>
              <a:buClr>
                <a:schemeClr val="dk1"/>
              </a:buClr>
              <a:buSzPts val="2200"/>
              <a:buFont typeface="Gill Sans"/>
              <a:buNone/>
            </a:pPr>
            <a:r>
              <a:t/>
            </a:r>
            <a:endParaRPr sz="2200">
              <a:solidFill>
                <a:schemeClr val="dk1"/>
              </a:solidFill>
              <a:latin typeface="Times New Roman"/>
              <a:ea typeface="Times New Roman"/>
              <a:cs typeface="Times New Roman"/>
              <a:sym typeface="Times New Roman"/>
            </a:endParaRPr>
          </a:p>
          <a:p>
            <a:pPr indent="-238125" lvl="1" marL="570230" marR="0" rtl="0" algn="just">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Causing the CPU to step through a series of micro-operations</a:t>
            </a:r>
            <a:endParaRPr b="0" i="0" sz="22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40"/>
              </a:spcBef>
              <a:spcAft>
                <a:spcPts val="0"/>
              </a:spcAft>
              <a:buClr>
                <a:schemeClr val="dk1"/>
              </a:buClr>
              <a:buSzPts val="2350"/>
              <a:buFont typeface="Verdana"/>
              <a:buNone/>
            </a:pPr>
            <a:r>
              <a:t/>
            </a:r>
            <a:endParaRPr b="0" i="0" sz="2350" u="none" cap="none" strike="noStrike">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0"/>
              </a:spcBef>
              <a:spcAft>
                <a:spcPts val="0"/>
              </a:spcAft>
              <a:buClr>
                <a:srgbClr val="FF0000"/>
              </a:buClr>
              <a:buSzPts val="2500"/>
              <a:buFont typeface="Quattrocento Sans"/>
              <a:buChar char="⚫"/>
            </a:pPr>
            <a:r>
              <a:rPr b="1" lang="en-US" sz="2500">
                <a:solidFill>
                  <a:srgbClr val="FF0000"/>
                </a:solidFill>
                <a:latin typeface="Times New Roman"/>
                <a:ea typeface="Times New Roman"/>
                <a:cs typeface="Times New Roman"/>
                <a:sym typeface="Times New Roman"/>
              </a:rPr>
              <a:t>Execution</a:t>
            </a:r>
            <a:endParaRPr sz="2500">
              <a:solidFill>
                <a:schemeClr val="dk1"/>
              </a:solidFill>
              <a:latin typeface="Times New Roman"/>
              <a:ea typeface="Times New Roman"/>
              <a:cs typeface="Times New Roman"/>
              <a:sym typeface="Times New Roman"/>
            </a:endParaRPr>
          </a:p>
          <a:p>
            <a:pPr indent="0" lvl="0" marL="0" marR="0" rtl="0" algn="just">
              <a:lnSpc>
                <a:spcPct val="100000"/>
              </a:lnSpc>
              <a:spcBef>
                <a:spcPts val="50"/>
              </a:spcBef>
              <a:spcAft>
                <a:spcPts val="0"/>
              </a:spcAft>
              <a:buClr>
                <a:schemeClr val="dk1"/>
              </a:buClr>
              <a:buSzPts val="2200"/>
              <a:buFont typeface="Gill Sans"/>
              <a:buNone/>
            </a:pPr>
            <a:r>
              <a:t/>
            </a:r>
            <a:endParaRPr sz="2200">
              <a:solidFill>
                <a:schemeClr val="dk1"/>
              </a:solidFill>
              <a:latin typeface="Times New Roman"/>
              <a:ea typeface="Times New Roman"/>
              <a:cs typeface="Times New Roman"/>
              <a:sym typeface="Times New Roman"/>
            </a:endParaRPr>
          </a:p>
          <a:p>
            <a:pPr indent="-238125" lvl="1" marL="570230" marR="0" rtl="0" algn="just">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Causing the performance of each micro-op</a:t>
            </a:r>
            <a:endParaRPr b="0" i="0" sz="22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40"/>
              </a:spcBef>
              <a:spcAft>
                <a:spcPts val="0"/>
              </a:spcAft>
              <a:buClr>
                <a:schemeClr val="dk1"/>
              </a:buClr>
              <a:buSzPts val="2350"/>
              <a:buFont typeface="Verdana"/>
              <a:buNone/>
            </a:pPr>
            <a:r>
              <a:t/>
            </a:r>
            <a:endParaRPr b="0" i="0" sz="2350" u="none" cap="none" strike="noStrike">
              <a:solidFill>
                <a:schemeClr val="dk1"/>
              </a:solidFill>
              <a:latin typeface="Times New Roman"/>
              <a:ea typeface="Times New Roman"/>
              <a:cs typeface="Times New Roman"/>
              <a:sym typeface="Times New Roman"/>
            </a:endParaRPr>
          </a:p>
          <a:p>
            <a:pPr indent="-283844" lvl="0" marL="295910" marR="0" rtl="0" algn="just">
              <a:lnSpc>
                <a:spcPct val="100000"/>
              </a:lnSpc>
              <a:spcBef>
                <a:spcPts val="0"/>
              </a:spcBef>
              <a:spcAft>
                <a:spcPts val="0"/>
              </a:spcAft>
              <a:buClr>
                <a:schemeClr val="dk1"/>
              </a:buClr>
              <a:buSzPts val="2500"/>
              <a:buFont typeface="Quattrocento Sans"/>
              <a:buChar char="⚫"/>
            </a:pPr>
            <a:r>
              <a:rPr lang="en-US" sz="2500">
                <a:solidFill>
                  <a:schemeClr val="dk1"/>
                </a:solidFill>
                <a:latin typeface="Times New Roman"/>
                <a:ea typeface="Times New Roman"/>
                <a:cs typeface="Times New Roman"/>
                <a:sym typeface="Times New Roman"/>
              </a:rPr>
              <a:t>This is done using Control Signals</a:t>
            </a:r>
            <a:r>
              <a:rPr lang="en-US" sz="2500">
                <a:solidFill>
                  <a:srgbClr val="FF0000"/>
                </a:solidFill>
                <a:latin typeface="Times New Roman"/>
                <a:ea typeface="Times New Roman"/>
                <a:cs typeface="Times New Roman"/>
                <a:sym typeface="Times New Roman"/>
              </a:rPr>
              <a:t></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849" name="Google Shape;849;p115"/>
          <p:cNvSpPr txBox="1"/>
          <p:nvPr>
            <p:ph idx="1" type="body"/>
          </p:nvPr>
        </p:nvSpPr>
        <p:spPr>
          <a:xfrm>
            <a:off x="457200" y="1447800"/>
            <a:ext cx="8476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For the control unit to perform its function, it must have </a:t>
            </a:r>
            <a:r>
              <a:rPr b="1" lang="en-US" sz="2400">
                <a:latin typeface="Times New Roman"/>
                <a:ea typeface="Times New Roman"/>
                <a:cs typeface="Times New Roman"/>
                <a:sym typeface="Times New Roman"/>
              </a:rPr>
              <a:t>inputs</a:t>
            </a:r>
            <a:r>
              <a:rPr lang="en-US" sz="2400">
                <a:latin typeface="Times New Roman"/>
                <a:ea typeface="Times New Roman"/>
                <a:cs typeface="Times New Roman"/>
                <a:sym typeface="Times New Roman"/>
              </a:rPr>
              <a:t> that allow it to </a:t>
            </a:r>
            <a:r>
              <a:rPr b="1" lang="en-US" sz="2400">
                <a:latin typeface="Times New Roman"/>
                <a:ea typeface="Times New Roman"/>
                <a:cs typeface="Times New Roman"/>
                <a:sym typeface="Times New Roman"/>
              </a:rPr>
              <a:t>determine the state of the system </a:t>
            </a:r>
            <a:r>
              <a:rPr lang="en-US" sz="2400">
                <a:latin typeface="Times New Roman"/>
                <a:ea typeface="Times New Roman"/>
                <a:cs typeface="Times New Roman"/>
                <a:sym typeface="Times New Roman"/>
              </a:rPr>
              <a:t>and </a:t>
            </a:r>
            <a:r>
              <a:rPr lang="en-US" sz="2400">
                <a:solidFill>
                  <a:srgbClr val="FF0000"/>
                </a:solidFill>
                <a:latin typeface="Times New Roman"/>
                <a:ea typeface="Times New Roman"/>
                <a:cs typeface="Times New Roman"/>
                <a:sym typeface="Times New Roman"/>
              </a:rPr>
              <a:t>outputs</a:t>
            </a:r>
            <a:r>
              <a:rPr lang="en-US" sz="2400">
                <a:latin typeface="Times New Roman"/>
                <a:ea typeface="Times New Roman"/>
                <a:cs typeface="Times New Roman"/>
                <a:sym typeface="Times New Roman"/>
              </a:rPr>
              <a:t> that allow it to </a:t>
            </a:r>
            <a:r>
              <a:rPr lang="en-US" sz="2400">
                <a:solidFill>
                  <a:srgbClr val="FF0000"/>
                </a:solidFill>
                <a:latin typeface="Times New Roman"/>
                <a:ea typeface="Times New Roman"/>
                <a:cs typeface="Times New Roman"/>
                <a:sym typeface="Times New Roman"/>
              </a:rPr>
              <a:t>control the behavior of the system</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These are the external specifications of the control unit.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Internally, the control unit must have the </a:t>
            </a:r>
            <a:r>
              <a:rPr b="1" lang="en-US" sz="2400">
                <a:latin typeface="Times New Roman"/>
                <a:ea typeface="Times New Roman"/>
                <a:cs typeface="Times New Roman"/>
                <a:sym typeface="Times New Roman"/>
              </a:rPr>
              <a:t>logic required to perform its sequencing and execution functions</a:t>
            </a:r>
            <a:endParaRPr b="1" sz="2400">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6"/>
          <p:cNvSpPr txBox="1"/>
          <p:nvPr>
            <p:ph type="title"/>
          </p:nvPr>
        </p:nvSpPr>
        <p:spPr>
          <a:xfrm>
            <a:off x="228600" y="274638"/>
            <a:ext cx="8705088" cy="5635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855" name="Google Shape;855;p116"/>
          <p:cNvSpPr txBox="1"/>
          <p:nvPr>
            <p:ph idx="1" type="body"/>
          </p:nvPr>
        </p:nvSpPr>
        <p:spPr>
          <a:xfrm>
            <a:off x="228600" y="914400"/>
            <a:ext cx="8628888"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1920"/>
              <a:buChar char="⚫"/>
            </a:pPr>
            <a:r>
              <a:rPr lang="en-US" sz="2400">
                <a:latin typeface="Times New Roman"/>
                <a:ea typeface="Times New Roman"/>
                <a:cs typeface="Times New Roman"/>
                <a:sym typeface="Times New Roman"/>
              </a:rPr>
              <a:t>The inputs are:</a:t>
            </a:r>
            <a:endParaRPr/>
          </a:p>
          <a:p>
            <a:pPr indent="-283464" lvl="0" marL="365760" rtl="0" algn="just">
              <a:lnSpc>
                <a:spcPct val="100000"/>
              </a:lnSpc>
              <a:spcBef>
                <a:spcPts val="600"/>
              </a:spcBef>
              <a:spcAft>
                <a:spcPts val="0"/>
              </a:spcAft>
              <a:buSzPts val="1920"/>
              <a:buNone/>
            </a:pPr>
            <a:r>
              <a:rPr b="1" lang="en-US" sz="2400">
                <a:latin typeface="Times New Roman"/>
                <a:ea typeface="Times New Roman"/>
                <a:cs typeface="Times New Roman"/>
                <a:sym typeface="Times New Roman"/>
              </a:rPr>
              <a:t>Clock</a:t>
            </a:r>
            <a:r>
              <a:rPr lang="en-US" sz="2400">
                <a:latin typeface="Times New Roman"/>
                <a:ea typeface="Times New Roman"/>
                <a:cs typeface="Times New Roman"/>
                <a:sym typeface="Times New Roman"/>
              </a:rPr>
              <a:t>:  This is how the control unit “</a:t>
            </a:r>
            <a:r>
              <a:rPr lang="en-US" sz="2400">
                <a:solidFill>
                  <a:srgbClr val="FF0000"/>
                </a:solidFill>
                <a:latin typeface="Times New Roman"/>
                <a:ea typeface="Times New Roman"/>
                <a:cs typeface="Times New Roman"/>
                <a:sym typeface="Times New Roman"/>
              </a:rPr>
              <a:t>keeps time</a:t>
            </a:r>
            <a:r>
              <a:rPr lang="en-US" sz="2400">
                <a:latin typeface="Times New Roman"/>
                <a:ea typeface="Times New Roman"/>
                <a:cs typeface="Times New Roman"/>
                <a:sym typeface="Times New Roman"/>
              </a:rPr>
              <a:t>.” It causes </a:t>
            </a:r>
            <a:r>
              <a:rPr b="1" lang="en-US" sz="2400">
                <a:latin typeface="Times New Roman"/>
                <a:ea typeface="Times New Roman"/>
                <a:cs typeface="Times New Roman"/>
                <a:sym typeface="Times New Roman"/>
              </a:rPr>
              <a:t>one micro-operation to be performed for each clock pulse</a:t>
            </a:r>
            <a:r>
              <a:rPr lang="en-US" sz="2400">
                <a:latin typeface="Times New Roman"/>
                <a:ea typeface="Times New Roman"/>
                <a:cs typeface="Times New Roman"/>
                <a:sym typeface="Times New Roman"/>
              </a:rPr>
              <a:t> (processor cycle time/clock cycle time)</a:t>
            </a:r>
            <a:endParaRPr/>
          </a:p>
          <a:p>
            <a:pPr indent="-283464" lvl="0" marL="365760" rtl="0" algn="just">
              <a:lnSpc>
                <a:spcPct val="100000"/>
              </a:lnSpc>
              <a:spcBef>
                <a:spcPts val="600"/>
              </a:spcBef>
              <a:spcAft>
                <a:spcPts val="0"/>
              </a:spcAft>
              <a:buSzPts val="1920"/>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Instruction register</a:t>
            </a:r>
            <a:r>
              <a:rPr lang="en-US" sz="2400">
                <a:latin typeface="Times New Roman"/>
                <a:ea typeface="Times New Roman"/>
                <a:cs typeface="Times New Roman"/>
                <a:sym typeface="Times New Roman"/>
              </a:rPr>
              <a:t>: The opcode and addressing mode of the current instruction are used to determine </a:t>
            </a:r>
            <a:r>
              <a:rPr b="1" lang="en-US" sz="2400">
                <a:latin typeface="Times New Roman"/>
                <a:ea typeface="Times New Roman"/>
                <a:cs typeface="Times New Roman"/>
                <a:sym typeface="Times New Roman"/>
              </a:rPr>
              <a:t>which micro-operations </a:t>
            </a:r>
            <a:r>
              <a:rPr lang="en-US" sz="2400">
                <a:latin typeface="Times New Roman"/>
                <a:ea typeface="Times New Roman"/>
                <a:cs typeface="Times New Roman"/>
                <a:sym typeface="Times New Roman"/>
              </a:rPr>
              <a:t>to perform during the execute cycle.</a:t>
            </a:r>
            <a:endParaRPr/>
          </a:p>
          <a:p>
            <a:pPr indent="-283464" lvl="0" marL="365760" rtl="0" algn="l">
              <a:lnSpc>
                <a:spcPct val="100000"/>
              </a:lnSpc>
              <a:spcBef>
                <a:spcPts val="600"/>
              </a:spcBef>
              <a:spcAft>
                <a:spcPts val="0"/>
              </a:spcAft>
              <a:buSzPts val="1920"/>
              <a:buChar char="⚫"/>
            </a:pPr>
            <a:r>
              <a:rPr b="1" lang="en-US" sz="2400">
                <a:latin typeface="Times New Roman"/>
                <a:ea typeface="Times New Roman"/>
                <a:cs typeface="Times New Roman"/>
                <a:sym typeface="Times New Roman"/>
              </a:rPr>
              <a:t>Flags:  </a:t>
            </a:r>
            <a:r>
              <a:rPr lang="en-US" sz="2400">
                <a:latin typeface="Times New Roman"/>
                <a:ea typeface="Times New Roman"/>
                <a:cs typeface="Times New Roman"/>
                <a:sym typeface="Times New Roman"/>
              </a:rPr>
              <a:t>needed by the control unit to determine the </a:t>
            </a:r>
            <a:r>
              <a:rPr b="1" lang="en-US" sz="2400">
                <a:latin typeface="Times New Roman"/>
                <a:ea typeface="Times New Roman"/>
                <a:cs typeface="Times New Roman"/>
                <a:sym typeface="Times New Roman"/>
              </a:rPr>
              <a:t>status </a:t>
            </a:r>
            <a:r>
              <a:rPr lang="en-US" sz="2400">
                <a:latin typeface="Times New Roman"/>
                <a:ea typeface="Times New Roman"/>
                <a:cs typeface="Times New Roman"/>
                <a:sym typeface="Times New Roman"/>
              </a:rPr>
              <a:t>of the processor and the </a:t>
            </a:r>
            <a:r>
              <a:rPr b="1" lang="en-US" sz="2400">
                <a:latin typeface="Times New Roman"/>
                <a:ea typeface="Times New Roman"/>
                <a:cs typeface="Times New Roman"/>
                <a:sym typeface="Times New Roman"/>
              </a:rPr>
              <a:t>outcome </a:t>
            </a:r>
            <a:r>
              <a:rPr lang="en-US" sz="2400">
                <a:latin typeface="Times New Roman"/>
                <a:ea typeface="Times New Roman"/>
                <a:cs typeface="Times New Roman"/>
                <a:sym typeface="Times New Roman"/>
              </a:rPr>
              <a:t>of previous </a:t>
            </a:r>
            <a:r>
              <a:rPr b="1" lang="en-US" sz="2400">
                <a:latin typeface="Times New Roman"/>
                <a:ea typeface="Times New Roman"/>
                <a:cs typeface="Times New Roman"/>
                <a:sym typeface="Times New Roman"/>
              </a:rPr>
              <a:t>ALU operations</a:t>
            </a:r>
            <a:endParaRPr/>
          </a:p>
          <a:p>
            <a:pPr indent="-283464" lvl="0" marL="365760" rtl="0" algn="l">
              <a:lnSpc>
                <a:spcPct val="100000"/>
              </a:lnSpc>
              <a:spcBef>
                <a:spcPts val="600"/>
              </a:spcBef>
              <a:spcAft>
                <a:spcPts val="0"/>
              </a:spcAft>
              <a:buSzPts val="1920"/>
              <a:buChar char="⚫"/>
            </a:pPr>
            <a:r>
              <a:rPr b="1" lang="en-US" sz="2400">
                <a:latin typeface="Times New Roman"/>
                <a:ea typeface="Times New Roman"/>
                <a:cs typeface="Times New Roman"/>
                <a:sym typeface="Times New Roman"/>
              </a:rPr>
              <a:t>Control signals from control bus</a:t>
            </a:r>
            <a:r>
              <a:rPr lang="en-US" sz="2400">
                <a:latin typeface="Times New Roman"/>
                <a:ea typeface="Times New Roman"/>
                <a:cs typeface="Times New Roman"/>
                <a:sym typeface="Times New Roman"/>
              </a:rPr>
              <a:t>: The control bus portion of the system bus provides </a:t>
            </a:r>
            <a:r>
              <a:rPr b="1" lang="en-US" sz="2400">
                <a:latin typeface="Times New Roman"/>
                <a:ea typeface="Times New Roman"/>
                <a:cs typeface="Times New Roman"/>
                <a:sym typeface="Times New Roman"/>
              </a:rPr>
              <a:t>signals to the control unit</a:t>
            </a:r>
            <a:endParaRPr b="1" sz="2400">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7"/>
          <p:cNvSpPr txBox="1"/>
          <p:nvPr>
            <p:ph type="title"/>
          </p:nvPr>
        </p:nvSpPr>
        <p:spPr>
          <a:xfrm>
            <a:off x="304800" y="274638"/>
            <a:ext cx="86288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861" name="Google Shape;861;p117"/>
          <p:cNvSpPr txBox="1"/>
          <p:nvPr>
            <p:ph idx="1" type="body"/>
          </p:nvPr>
        </p:nvSpPr>
        <p:spPr>
          <a:xfrm>
            <a:off x="381000" y="838200"/>
            <a:ext cx="8552688"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outputs are as follows: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Control signals within the processor</a:t>
            </a:r>
            <a:r>
              <a:rPr lang="en-US" sz="2400">
                <a:latin typeface="Times New Roman"/>
                <a:ea typeface="Times New Roman"/>
                <a:cs typeface="Times New Roman"/>
                <a:sym typeface="Times New Roman"/>
              </a:rPr>
              <a:t>: two types: those that cause data to be moved from one register to another, and those that activate specific ALU functions.</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Control signals to control bus</a:t>
            </a:r>
            <a:r>
              <a:rPr lang="en-US" sz="2400">
                <a:latin typeface="Times New Roman"/>
                <a:ea typeface="Times New Roman"/>
                <a:cs typeface="Times New Roman"/>
                <a:sym typeface="Times New Roman"/>
              </a:rPr>
              <a:t>: two types: control signals to memory, and control signals to the I/O modules.</a:t>
            </a:r>
            <a:endParaRPr sz="2400">
              <a:latin typeface="Times New Roman"/>
              <a:ea typeface="Times New Roman"/>
              <a:cs typeface="Times New Roman"/>
              <a:sym typeface="Times New Roman"/>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Three types of control signals are used: </a:t>
            </a:r>
            <a:endParaRPr sz="24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those that activate an ALU function,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those that activate a data path, and </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those that are signals on the external system bus or other external interface.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All of these signals are ultimately applied directly as binary inputs to individual logic gates</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5" name="Shape 865"/>
        <p:cNvGrpSpPr/>
        <p:nvPr/>
      </p:nvGrpSpPr>
      <p:grpSpPr>
        <a:xfrm>
          <a:off x="0" y="0"/>
          <a:ext cx="0" cy="0"/>
          <a:chOff x="0" y="0"/>
          <a:chExt cx="0" cy="0"/>
        </a:xfrm>
      </p:grpSpPr>
      <p:sp>
        <p:nvSpPr>
          <p:cNvPr id="866" name="Google Shape;866;p118"/>
          <p:cNvSpPr txBox="1"/>
          <p:nvPr>
            <p:ph type="title"/>
          </p:nvPr>
        </p:nvSpPr>
        <p:spPr>
          <a:xfrm>
            <a:off x="1836166" y="150317"/>
            <a:ext cx="51796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Control Signals( input )</a:t>
            </a:r>
            <a:endParaRPr sz="4400">
              <a:latin typeface="Calibri"/>
              <a:ea typeface="Calibri"/>
              <a:cs typeface="Calibri"/>
              <a:sym typeface="Calibri"/>
            </a:endParaRPr>
          </a:p>
        </p:txBody>
      </p:sp>
      <p:sp>
        <p:nvSpPr>
          <p:cNvPr id="867" name="Google Shape;867;p118"/>
          <p:cNvSpPr txBox="1"/>
          <p:nvPr/>
        </p:nvSpPr>
        <p:spPr>
          <a:xfrm>
            <a:off x="457200" y="971550"/>
            <a:ext cx="7974300" cy="5949900"/>
          </a:xfrm>
          <a:prstGeom prst="rect">
            <a:avLst/>
          </a:prstGeom>
          <a:noFill/>
          <a:ln>
            <a:noFill/>
          </a:ln>
        </p:spPr>
        <p:txBody>
          <a:bodyPr anchorCtr="0" anchor="t" bIns="0" lIns="0" spcFirstLastPara="1" rIns="0" wrap="square" tIns="13325">
            <a:spAutoFit/>
          </a:bodyPr>
          <a:lstStyle/>
          <a:p>
            <a:pPr indent="-277494" lvl="0" marL="295910" marR="0" rtl="0" algn="just">
              <a:lnSpc>
                <a:spcPct val="100000"/>
              </a:lnSpc>
              <a:spcBef>
                <a:spcPts val="0"/>
              </a:spcBef>
              <a:spcAft>
                <a:spcPts val="0"/>
              </a:spcAft>
              <a:buClr>
                <a:srgbClr val="FF0000"/>
              </a:buClr>
              <a:buSzPts val="3100"/>
              <a:buFont typeface="Quattrocento Sans"/>
              <a:buChar char="⚫"/>
            </a:pPr>
            <a:r>
              <a:rPr b="1" lang="en-US" sz="3100">
                <a:solidFill>
                  <a:srgbClr val="FF0000"/>
                </a:solidFill>
                <a:latin typeface="Times New Roman"/>
                <a:ea typeface="Times New Roman"/>
                <a:cs typeface="Times New Roman"/>
                <a:sym typeface="Times New Roman"/>
              </a:rPr>
              <a:t>Clock</a:t>
            </a:r>
            <a:endParaRPr sz="3100">
              <a:solidFill>
                <a:schemeClr val="dk1"/>
              </a:solidFill>
              <a:latin typeface="Times New Roman"/>
              <a:ea typeface="Times New Roman"/>
              <a:cs typeface="Times New Roman"/>
              <a:sym typeface="Times New Roman"/>
            </a:endParaRPr>
          </a:p>
          <a:p>
            <a:pPr indent="-231775" lvl="1" marL="570230" marR="5080" rtl="0" algn="just">
              <a:lnSpc>
                <a:spcPct val="96071"/>
              </a:lnSpc>
              <a:spcBef>
                <a:spcPts val="665"/>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One micro-instruction (or set of parallel micro-  instructions) per clock cycle</a:t>
            </a:r>
            <a:endParaRPr b="0" i="0" sz="2700" u="none" cap="none" strike="noStrike">
              <a:solidFill>
                <a:schemeClr val="dk1"/>
              </a:solidFill>
              <a:latin typeface="Times New Roman"/>
              <a:ea typeface="Times New Roman"/>
              <a:cs typeface="Times New Roman"/>
              <a:sym typeface="Times New Roman"/>
            </a:endParaRPr>
          </a:p>
          <a:p>
            <a:pPr indent="-277494" lvl="0" marL="295910" marR="0" rtl="0" algn="just">
              <a:lnSpc>
                <a:spcPct val="100000"/>
              </a:lnSpc>
              <a:spcBef>
                <a:spcPts val="0"/>
              </a:spcBef>
              <a:spcAft>
                <a:spcPts val="0"/>
              </a:spcAft>
              <a:buClr>
                <a:srgbClr val="FF0000"/>
              </a:buClr>
              <a:buSzPts val="3100"/>
              <a:buFont typeface="Quattrocento Sans"/>
              <a:buChar char="⚫"/>
            </a:pPr>
            <a:r>
              <a:rPr b="1" lang="en-US" sz="3100">
                <a:solidFill>
                  <a:srgbClr val="FF0000"/>
                </a:solidFill>
                <a:latin typeface="Times New Roman"/>
                <a:ea typeface="Times New Roman"/>
                <a:cs typeface="Times New Roman"/>
                <a:sym typeface="Times New Roman"/>
              </a:rPr>
              <a:t>Instruction register</a:t>
            </a:r>
            <a:endParaRPr sz="3100">
              <a:solidFill>
                <a:schemeClr val="dk1"/>
              </a:solidFill>
              <a:latin typeface="Times New Roman"/>
              <a:ea typeface="Times New Roman"/>
              <a:cs typeface="Times New Roman"/>
              <a:sym typeface="Times New Roman"/>
            </a:endParaRPr>
          </a:p>
          <a:p>
            <a:pPr indent="-232410" lvl="1" marL="570230" marR="0" rtl="0" algn="just">
              <a:lnSpc>
                <a:spcPct val="100000"/>
              </a:lnSpc>
              <a:spcBef>
                <a:spcPts val="20"/>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Op-code for current instruction</a:t>
            </a:r>
            <a:endParaRPr b="0" i="0" sz="2700" u="none" cap="none" strike="noStrike">
              <a:solidFill>
                <a:schemeClr val="dk1"/>
              </a:solidFill>
              <a:latin typeface="Times New Roman"/>
              <a:ea typeface="Times New Roman"/>
              <a:cs typeface="Times New Roman"/>
              <a:sym typeface="Times New Roman"/>
            </a:endParaRPr>
          </a:p>
          <a:p>
            <a:pPr indent="-231775" lvl="1" marL="570230" marR="843280" rtl="0" algn="just">
              <a:lnSpc>
                <a:spcPct val="96071"/>
              </a:lnSpc>
              <a:spcBef>
                <a:spcPts val="650"/>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Determines which micro-instructions are  performed</a:t>
            </a:r>
            <a:endParaRPr b="0" i="0" sz="2700" u="none" cap="none" strike="noStrike">
              <a:solidFill>
                <a:schemeClr val="dk1"/>
              </a:solidFill>
              <a:latin typeface="Times New Roman"/>
              <a:ea typeface="Times New Roman"/>
              <a:cs typeface="Times New Roman"/>
              <a:sym typeface="Times New Roman"/>
            </a:endParaRPr>
          </a:p>
          <a:p>
            <a:pPr indent="-277494" lvl="0" marL="295910" marR="0" rtl="0" algn="just">
              <a:lnSpc>
                <a:spcPct val="100000"/>
              </a:lnSpc>
              <a:spcBef>
                <a:spcPts val="0"/>
              </a:spcBef>
              <a:spcAft>
                <a:spcPts val="0"/>
              </a:spcAft>
              <a:buClr>
                <a:srgbClr val="FF0000"/>
              </a:buClr>
              <a:buSzPts val="3100"/>
              <a:buFont typeface="Quattrocento Sans"/>
              <a:buChar char="⚫"/>
            </a:pPr>
            <a:r>
              <a:rPr b="1" lang="en-US" sz="3100">
                <a:solidFill>
                  <a:srgbClr val="FF0000"/>
                </a:solidFill>
                <a:latin typeface="Times New Roman"/>
                <a:ea typeface="Times New Roman"/>
                <a:cs typeface="Times New Roman"/>
                <a:sym typeface="Times New Roman"/>
              </a:rPr>
              <a:t>Flags</a:t>
            </a:r>
            <a:endParaRPr sz="3100">
              <a:solidFill>
                <a:schemeClr val="dk1"/>
              </a:solidFill>
              <a:latin typeface="Times New Roman"/>
              <a:ea typeface="Times New Roman"/>
              <a:cs typeface="Times New Roman"/>
              <a:sym typeface="Times New Roman"/>
            </a:endParaRPr>
          </a:p>
          <a:p>
            <a:pPr indent="-232410" lvl="1" marL="570230" marR="0" rtl="0" algn="just">
              <a:lnSpc>
                <a:spcPct val="100000"/>
              </a:lnSpc>
              <a:spcBef>
                <a:spcPts val="20"/>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State of CPU</a:t>
            </a:r>
            <a:endParaRPr b="0" i="0" sz="2700" u="none" cap="none" strike="noStrike">
              <a:solidFill>
                <a:schemeClr val="dk1"/>
              </a:solidFill>
              <a:latin typeface="Times New Roman"/>
              <a:ea typeface="Times New Roman"/>
              <a:cs typeface="Times New Roman"/>
              <a:sym typeface="Times New Roman"/>
            </a:endParaRPr>
          </a:p>
          <a:p>
            <a:pPr indent="-232410" lvl="1" marL="570230" marR="0" rtl="0" algn="just">
              <a:lnSpc>
                <a:spcPct val="119785"/>
              </a:lnSpc>
              <a:spcBef>
                <a:spcPts val="0"/>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Results of previous operations</a:t>
            </a:r>
            <a:endParaRPr b="0" i="0" sz="2700" u="none" cap="none" strike="noStrike">
              <a:solidFill>
                <a:schemeClr val="dk1"/>
              </a:solidFill>
              <a:latin typeface="Times New Roman"/>
              <a:ea typeface="Times New Roman"/>
              <a:cs typeface="Times New Roman"/>
              <a:sym typeface="Times New Roman"/>
            </a:endParaRPr>
          </a:p>
          <a:p>
            <a:pPr indent="-277494" lvl="0" marL="295910" marR="0" rtl="0" algn="just">
              <a:lnSpc>
                <a:spcPct val="119843"/>
              </a:lnSpc>
              <a:spcBef>
                <a:spcPts val="0"/>
              </a:spcBef>
              <a:spcAft>
                <a:spcPts val="0"/>
              </a:spcAft>
              <a:buClr>
                <a:srgbClr val="FF0000"/>
              </a:buClr>
              <a:buSzPts val="3100"/>
              <a:buFont typeface="Quattrocento Sans"/>
              <a:buChar char="⚫"/>
            </a:pPr>
            <a:r>
              <a:rPr b="1" lang="en-US" sz="3100">
                <a:solidFill>
                  <a:srgbClr val="FF0000"/>
                </a:solidFill>
                <a:latin typeface="Times New Roman"/>
                <a:ea typeface="Times New Roman"/>
                <a:cs typeface="Times New Roman"/>
                <a:sym typeface="Times New Roman"/>
              </a:rPr>
              <a:t>From control bus</a:t>
            </a:r>
            <a:endParaRPr sz="3100">
              <a:solidFill>
                <a:schemeClr val="dk1"/>
              </a:solidFill>
              <a:latin typeface="Times New Roman"/>
              <a:ea typeface="Times New Roman"/>
              <a:cs typeface="Times New Roman"/>
              <a:sym typeface="Times New Roman"/>
            </a:endParaRPr>
          </a:p>
          <a:p>
            <a:pPr indent="-232410" lvl="1" marL="570230" marR="0" rtl="0" algn="just">
              <a:lnSpc>
                <a:spcPct val="100000"/>
              </a:lnSpc>
              <a:spcBef>
                <a:spcPts val="15"/>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Interrupts</a:t>
            </a:r>
            <a:endParaRPr b="0" i="0" sz="2700" u="none" cap="none" strike="noStrike">
              <a:solidFill>
                <a:schemeClr val="dk1"/>
              </a:solidFill>
              <a:latin typeface="Times New Roman"/>
              <a:ea typeface="Times New Roman"/>
              <a:cs typeface="Times New Roman"/>
              <a:sym typeface="Times New Roman"/>
            </a:endParaRPr>
          </a:p>
          <a:p>
            <a:pPr indent="-232410" lvl="1" marL="570230" marR="0" rtl="0" algn="just">
              <a:lnSpc>
                <a:spcPct val="100000"/>
              </a:lnSpc>
              <a:spcBef>
                <a:spcPts val="0"/>
              </a:spcBef>
              <a:spcAft>
                <a:spcPts val="0"/>
              </a:spcAft>
              <a:buClr>
                <a:schemeClr val="dk1"/>
              </a:buClr>
              <a:buSzPts val="2700"/>
              <a:buFont typeface="Verdana"/>
              <a:buChar char="◦"/>
            </a:pPr>
            <a:r>
              <a:rPr b="0" i="0" lang="en-US" sz="2700" u="none" cap="none" strike="noStrike">
                <a:solidFill>
                  <a:schemeClr val="dk1"/>
                </a:solidFill>
                <a:latin typeface="Times New Roman"/>
                <a:ea typeface="Times New Roman"/>
                <a:cs typeface="Times New Roman"/>
                <a:sym typeface="Times New Roman"/>
              </a:rPr>
              <a:t>Acknowledgements</a:t>
            </a:r>
            <a:endParaRPr b="0" i="0" sz="27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1" name="Shape 871"/>
        <p:cNvGrpSpPr/>
        <p:nvPr/>
      </p:nvGrpSpPr>
      <p:grpSpPr>
        <a:xfrm>
          <a:off x="0" y="0"/>
          <a:ext cx="0" cy="0"/>
          <a:chOff x="0" y="0"/>
          <a:chExt cx="0" cy="0"/>
        </a:xfrm>
      </p:grpSpPr>
      <p:sp>
        <p:nvSpPr>
          <p:cNvPr id="872" name="Google Shape;872;p119"/>
          <p:cNvSpPr txBox="1"/>
          <p:nvPr>
            <p:ph type="title"/>
          </p:nvPr>
        </p:nvSpPr>
        <p:spPr>
          <a:xfrm>
            <a:off x="1887092" y="461594"/>
            <a:ext cx="537146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Control Signals - output</a:t>
            </a:r>
            <a:endParaRPr sz="4400">
              <a:latin typeface="Calibri"/>
              <a:ea typeface="Calibri"/>
              <a:cs typeface="Calibri"/>
              <a:sym typeface="Calibri"/>
            </a:endParaRPr>
          </a:p>
        </p:txBody>
      </p:sp>
      <p:sp>
        <p:nvSpPr>
          <p:cNvPr id="873" name="Google Shape;873;p119"/>
          <p:cNvSpPr txBox="1"/>
          <p:nvPr/>
        </p:nvSpPr>
        <p:spPr>
          <a:xfrm>
            <a:off x="201627" y="1473525"/>
            <a:ext cx="7295700" cy="3859500"/>
          </a:xfrm>
          <a:prstGeom prst="rect">
            <a:avLst/>
          </a:prstGeom>
          <a:noFill/>
          <a:ln>
            <a:noFill/>
          </a:ln>
        </p:spPr>
        <p:txBody>
          <a:bodyPr anchorCtr="0" anchor="t" bIns="0" lIns="0" spcFirstLastPara="1" rIns="0" wrap="square" tIns="12050">
            <a:spAutoFit/>
          </a:bodyPr>
          <a:lstStyle/>
          <a:p>
            <a:pPr indent="-283844" lvl="0" marL="295910" marR="0" rtl="0" algn="l">
              <a:lnSpc>
                <a:spcPct val="100000"/>
              </a:lnSpc>
              <a:spcBef>
                <a:spcPts val="0"/>
              </a:spcBef>
              <a:spcAft>
                <a:spcPts val="0"/>
              </a:spcAft>
              <a:buClr>
                <a:srgbClr val="FF0000"/>
              </a:buClr>
              <a:buSzPts val="2500"/>
              <a:buFont typeface="Quattrocento Sans"/>
              <a:buChar char="⚫"/>
            </a:pPr>
            <a:r>
              <a:rPr lang="en-US" sz="2500">
                <a:solidFill>
                  <a:srgbClr val="FF0000"/>
                </a:solidFill>
                <a:latin typeface="Times New Roman"/>
                <a:ea typeface="Times New Roman"/>
                <a:cs typeface="Times New Roman"/>
                <a:sym typeface="Times New Roman"/>
              </a:rPr>
              <a:t>Within CPU</a:t>
            </a:r>
            <a:endParaRPr sz="2500">
              <a:solidFill>
                <a:schemeClr val="dk1"/>
              </a:solidFill>
              <a:latin typeface="Times New Roman"/>
              <a:ea typeface="Times New Roman"/>
              <a:cs typeface="Times New Roman"/>
              <a:sym typeface="Times New Roman"/>
            </a:endParaRPr>
          </a:p>
          <a:p>
            <a:pPr indent="0" lvl="0" marL="0" marR="0" rtl="0" algn="l">
              <a:lnSpc>
                <a:spcPct val="100000"/>
              </a:lnSpc>
              <a:spcBef>
                <a:spcPts val="50"/>
              </a:spcBef>
              <a:spcAft>
                <a:spcPts val="0"/>
              </a:spcAft>
              <a:buClr>
                <a:srgbClr val="FF0000"/>
              </a:buClr>
              <a:buSzPts val="2200"/>
              <a:buFont typeface="Quattrocento Sans"/>
              <a:buNone/>
            </a:pPr>
            <a:r>
              <a:t/>
            </a:r>
            <a:endParaRPr sz="2200">
              <a:solidFill>
                <a:schemeClr val="dk1"/>
              </a:solidFill>
              <a:latin typeface="Times New Roman"/>
              <a:ea typeface="Times New Roman"/>
              <a:cs typeface="Times New Roman"/>
              <a:sym typeface="Times New Roman"/>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Cause data movement</a:t>
            </a:r>
            <a:endParaRPr b="0" i="0" sz="22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20"/>
              </a:spcBef>
              <a:spcAft>
                <a:spcPts val="0"/>
              </a:spcAft>
              <a:buClr>
                <a:schemeClr val="dk1"/>
              </a:buClr>
              <a:buSzPts val="2150"/>
              <a:buFont typeface="Verdana"/>
              <a:buNone/>
            </a:pPr>
            <a:r>
              <a:t/>
            </a:r>
            <a:endParaRPr b="0" i="0" sz="2150" u="none" cap="none" strike="noStrike">
              <a:solidFill>
                <a:schemeClr val="dk1"/>
              </a:solidFill>
              <a:latin typeface="Times New Roman"/>
              <a:ea typeface="Times New Roman"/>
              <a:cs typeface="Times New Roman"/>
              <a:sym typeface="Times New Roman"/>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Activate specific functions</a:t>
            </a:r>
            <a:endParaRPr b="0" i="0" sz="2200" u="none" cap="none" strike="noStrike">
              <a:solidFill>
                <a:schemeClr val="dk1"/>
              </a:solidFill>
              <a:latin typeface="Times New Roman"/>
              <a:ea typeface="Times New Roman"/>
              <a:cs typeface="Times New Roman"/>
              <a:sym typeface="Times New Roman"/>
            </a:endParaRPr>
          </a:p>
          <a:p>
            <a:pPr indent="0" lvl="1" marL="0" marR="0" rtl="0" algn="l">
              <a:lnSpc>
                <a:spcPct val="100000"/>
              </a:lnSpc>
              <a:spcBef>
                <a:spcPts val="35"/>
              </a:spcBef>
              <a:spcAft>
                <a:spcPts val="0"/>
              </a:spcAft>
              <a:buClr>
                <a:schemeClr val="dk1"/>
              </a:buClr>
              <a:buSzPts val="2350"/>
              <a:buFont typeface="Verdana"/>
              <a:buNone/>
            </a:pPr>
            <a:r>
              <a:t/>
            </a:r>
            <a:endParaRPr b="0" i="0" sz="2350" u="none" cap="none" strike="noStrike">
              <a:solidFill>
                <a:schemeClr val="dk1"/>
              </a:solidFill>
              <a:latin typeface="Times New Roman"/>
              <a:ea typeface="Times New Roman"/>
              <a:cs typeface="Times New Roman"/>
              <a:sym typeface="Times New Roman"/>
            </a:endParaRPr>
          </a:p>
          <a:p>
            <a:pPr indent="-295910" lvl="0" marL="295910" marR="1306195" rtl="0" algn="r">
              <a:lnSpc>
                <a:spcPct val="100000"/>
              </a:lnSpc>
              <a:spcBef>
                <a:spcPts val="0"/>
              </a:spcBef>
              <a:spcAft>
                <a:spcPts val="0"/>
              </a:spcAft>
              <a:buClr>
                <a:srgbClr val="FF0000"/>
              </a:buClr>
              <a:buSzPts val="2500"/>
              <a:buFont typeface="Quattrocento Sans"/>
              <a:buChar char="⚫"/>
            </a:pPr>
            <a:r>
              <a:rPr lang="en-US" sz="2500">
                <a:solidFill>
                  <a:srgbClr val="FF0000"/>
                </a:solidFill>
                <a:latin typeface="Times New Roman"/>
                <a:ea typeface="Times New Roman"/>
                <a:cs typeface="Times New Roman"/>
                <a:sym typeface="Times New Roman"/>
              </a:rPr>
              <a:t>Via control bus</a:t>
            </a:r>
            <a:endParaRPr sz="2500">
              <a:solidFill>
                <a:schemeClr val="dk1"/>
              </a:solidFill>
              <a:latin typeface="Times New Roman"/>
              <a:ea typeface="Times New Roman"/>
              <a:cs typeface="Times New Roman"/>
              <a:sym typeface="Times New Roman"/>
            </a:endParaRPr>
          </a:p>
          <a:p>
            <a:pPr indent="0" lvl="0" marL="0" marR="0" rtl="0" algn="l">
              <a:lnSpc>
                <a:spcPct val="100000"/>
              </a:lnSpc>
              <a:spcBef>
                <a:spcPts val="55"/>
              </a:spcBef>
              <a:spcAft>
                <a:spcPts val="0"/>
              </a:spcAft>
              <a:buClr>
                <a:srgbClr val="FF0000"/>
              </a:buClr>
              <a:buSzPts val="2200"/>
              <a:buFont typeface="Quattrocento Sans"/>
              <a:buNone/>
            </a:pPr>
            <a:r>
              <a:t/>
            </a:r>
            <a:endParaRPr sz="2200">
              <a:solidFill>
                <a:schemeClr val="dk1"/>
              </a:solidFill>
              <a:latin typeface="Times New Roman"/>
              <a:ea typeface="Times New Roman"/>
              <a:cs typeface="Times New Roman"/>
              <a:sym typeface="Times New Roman"/>
            </a:endParaRPr>
          </a:p>
          <a:p>
            <a:pPr indent="-238125" lvl="1" marL="570230" marR="0" rtl="0" algn="l">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To memory</a:t>
            </a:r>
            <a:endParaRPr b="0" i="0" sz="22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15"/>
              </a:spcBef>
              <a:spcAft>
                <a:spcPts val="0"/>
              </a:spcAft>
              <a:buClr>
                <a:schemeClr val="dk1"/>
              </a:buClr>
              <a:buSzPts val="2150"/>
              <a:buFont typeface="Verdana"/>
              <a:buNone/>
            </a:pPr>
            <a:r>
              <a:t/>
            </a:r>
            <a:endParaRPr b="0" i="0" sz="2150" u="none" cap="none" strike="noStrike">
              <a:solidFill>
                <a:schemeClr val="dk1"/>
              </a:solidFill>
              <a:latin typeface="Times New Roman"/>
              <a:ea typeface="Times New Roman"/>
              <a:cs typeface="Times New Roman"/>
              <a:sym typeface="Times New Roman"/>
            </a:endParaRPr>
          </a:p>
          <a:p>
            <a:pPr indent="-570230" lvl="1" marL="570230" marR="1224915" rtl="0" algn="r">
              <a:lnSpc>
                <a:spcPct val="100000"/>
              </a:lnSpc>
              <a:spcBef>
                <a:spcPts val="0"/>
              </a:spcBef>
              <a:spcAft>
                <a:spcPts val="0"/>
              </a:spcAft>
              <a:buClr>
                <a:schemeClr val="dk1"/>
              </a:buClr>
              <a:buSzPts val="2200"/>
              <a:buFont typeface="Verdana"/>
              <a:buChar char="◦"/>
            </a:pPr>
            <a:r>
              <a:rPr b="0" i="0" lang="en-US" sz="2200" u="none" cap="none" strike="noStrike">
                <a:solidFill>
                  <a:schemeClr val="dk1"/>
                </a:solidFill>
                <a:latin typeface="Times New Roman"/>
                <a:ea typeface="Times New Roman"/>
                <a:cs typeface="Times New Roman"/>
                <a:sym typeface="Times New Roman"/>
              </a:rPr>
              <a:t>To I/O modules</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20"/>
          <p:cNvSpPr txBox="1"/>
          <p:nvPr>
            <p:ph type="title"/>
          </p:nvPr>
        </p:nvSpPr>
        <p:spPr>
          <a:xfrm>
            <a:off x="457200" y="274638"/>
            <a:ext cx="84764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sz="3600"/>
              <a:t>Control Unit Implementation</a:t>
            </a:r>
            <a:endParaRPr sz="3600"/>
          </a:p>
        </p:txBody>
      </p:sp>
      <p:sp>
        <p:nvSpPr>
          <p:cNvPr id="879" name="Google Shape;879;p120"/>
          <p:cNvSpPr txBox="1"/>
          <p:nvPr>
            <p:ph idx="1" type="body"/>
          </p:nvPr>
        </p:nvSpPr>
        <p:spPr>
          <a:xfrm>
            <a:off x="457200" y="1447800"/>
            <a:ext cx="8476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b="1" lang="en-US" sz="2400">
                <a:latin typeface="Times New Roman"/>
                <a:ea typeface="Times New Roman"/>
                <a:cs typeface="Times New Roman"/>
                <a:sym typeface="Times New Roman"/>
              </a:rPr>
              <a:t>Hardwired implementation </a:t>
            </a:r>
            <a:r>
              <a:rPr lang="en-US" sz="2400">
                <a:latin typeface="Times New Roman"/>
                <a:ea typeface="Times New Roman"/>
                <a:cs typeface="Times New Roman"/>
                <a:sym typeface="Times New Roman"/>
              </a:rPr>
              <a:t>-the control unit is essentially a state machine circuit.</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 Its input logic signals are transformed into a set of output logic signals, which are the control signals</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Microprogrammed implementation- </a:t>
            </a:r>
            <a:r>
              <a:rPr lang="en-US" sz="2400">
                <a:latin typeface="Times New Roman"/>
                <a:ea typeface="Times New Roman"/>
                <a:cs typeface="Times New Roman"/>
                <a:sym typeface="Times New Roman"/>
              </a:rPr>
              <a:t>uses sequences of instructions to perform control operations performed by micro operations called microprogramming/firmware</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3" name="Shape 883"/>
        <p:cNvGrpSpPr/>
        <p:nvPr/>
      </p:nvGrpSpPr>
      <p:grpSpPr>
        <a:xfrm>
          <a:off x="0" y="0"/>
          <a:ext cx="0" cy="0"/>
          <a:chOff x="0" y="0"/>
          <a:chExt cx="0" cy="0"/>
        </a:xfrm>
      </p:grpSpPr>
      <p:sp>
        <p:nvSpPr>
          <p:cNvPr id="884" name="Google Shape;884;p121"/>
          <p:cNvSpPr txBox="1"/>
          <p:nvPr>
            <p:ph type="title"/>
          </p:nvPr>
        </p:nvSpPr>
        <p:spPr>
          <a:xfrm>
            <a:off x="1066800" y="1923033"/>
            <a:ext cx="7391400" cy="1983235"/>
          </a:xfrm>
          <a:prstGeom prst="rect">
            <a:avLst/>
          </a:prstGeom>
          <a:noFill/>
          <a:ln>
            <a:noFill/>
          </a:ln>
        </p:spPr>
        <p:txBody>
          <a:bodyPr anchorCtr="0" anchor="ctr" bIns="0" lIns="0" spcFirstLastPara="1" rIns="0" wrap="square" tIns="13325">
            <a:spAutoFit/>
          </a:bodyPr>
          <a:lstStyle/>
          <a:p>
            <a:pPr indent="0" lvl="0" marL="0" rtl="0" algn="ctr">
              <a:spcBef>
                <a:spcPts val="0"/>
              </a:spcBef>
              <a:spcAft>
                <a:spcPts val="0"/>
              </a:spcAft>
              <a:buClr>
                <a:srgbClr val="11478A"/>
              </a:buClr>
              <a:buSzPts val="3200"/>
              <a:buFont typeface="Calibri"/>
              <a:buNone/>
            </a:pPr>
            <a:r>
              <a:rPr b="0" lang="en-US" sz="3200">
                <a:solidFill>
                  <a:srgbClr val="11478A"/>
                </a:solidFill>
                <a:latin typeface="Calibri"/>
                <a:ea typeface="Calibri"/>
                <a:cs typeface="Calibri"/>
                <a:sym typeface="Calibri"/>
              </a:rPr>
              <a:t>Control Unit Organization-</a:t>
            </a:r>
            <a:r>
              <a:rPr lang="en-US" sz="3200"/>
              <a:t> How can we use the concept of microprogramming to implement a control</a:t>
            </a:r>
            <a:br>
              <a:rPr lang="en-US" sz="3200"/>
            </a:br>
            <a:r>
              <a:rPr lang="en-US" sz="3200"/>
              <a:t>unit?</a:t>
            </a:r>
            <a:endParaRPr sz="3200">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8" name="Shape 888"/>
        <p:cNvGrpSpPr/>
        <p:nvPr/>
      </p:nvGrpSpPr>
      <p:grpSpPr>
        <a:xfrm>
          <a:off x="0" y="0"/>
          <a:ext cx="0" cy="0"/>
          <a:chOff x="0" y="0"/>
          <a:chExt cx="0" cy="0"/>
        </a:xfrm>
      </p:grpSpPr>
      <p:sp>
        <p:nvSpPr>
          <p:cNvPr id="889" name="Google Shape;889;p122"/>
          <p:cNvSpPr txBox="1"/>
          <p:nvPr>
            <p:ph type="title"/>
          </p:nvPr>
        </p:nvSpPr>
        <p:spPr>
          <a:xfrm>
            <a:off x="685800" y="1828800"/>
            <a:ext cx="7848600" cy="2439579"/>
          </a:xfrm>
          <a:prstGeom prst="rect">
            <a:avLst/>
          </a:prstGeom>
          <a:noFill/>
          <a:ln>
            <a:noFill/>
          </a:ln>
        </p:spPr>
        <p:txBody>
          <a:bodyPr anchorCtr="0" anchor="ctr" bIns="0" lIns="0" spcFirstLastPara="1" rIns="0" wrap="square" tIns="34275">
            <a:spAutoFit/>
          </a:bodyPr>
          <a:lstStyle/>
          <a:p>
            <a:pPr indent="-25400" lvl="0" marL="25400" marR="17780" rtl="0" algn="ctr">
              <a:lnSpc>
                <a:spcPct val="95700"/>
              </a:lnSpc>
              <a:spcBef>
                <a:spcPts val="0"/>
              </a:spcBef>
              <a:spcAft>
                <a:spcPts val="0"/>
              </a:spcAft>
              <a:buClr>
                <a:srgbClr val="888888"/>
              </a:buClr>
              <a:buSzPts val="3200"/>
              <a:buFont typeface="Calibri"/>
              <a:buNone/>
            </a:pPr>
            <a:r>
              <a:rPr b="0" lang="en-US" sz="3200">
                <a:solidFill>
                  <a:srgbClr val="888888"/>
                </a:solidFill>
                <a:latin typeface="Calibri"/>
                <a:ea typeface="Calibri"/>
                <a:cs typeface="Calibri"/>
                <a:sym typeface="Calibri"/>
              </a:rPr>
              <a:t>Micro-programmed Control </a:t>
            </a:r>
            <a:br>
              <a:rPr b="0" lang="en-US" sz="3200">
                <a:solidFill>
                  <a:srgbClr val="888888"/>
                </a:solidFill>
                <a:latin typeface="Calibri"/>
                <a:ea typeface="Calibri"/>
                <a:cs typeface="Calibri"/>
                <a:sym typeface="Calibri"/>
              </a:rPr>
            </a:br>
            <a:r>
              <a:rPr b="0" lang="en-US" sz="3200">
                <a:solidFill>
                  <a:srgbClr val="888888"/>
                </a:solidFill>
                <a:latin typeface="Calibri"/>
                <a:ea typeface="Calibri"/>
                <a:cs typeface="Calibri"/>
                <a:sym typeface="Calibri"/>
              </a:rPr>
              <a:t> </a:t>
            </a:r>
            <a:r>
              <a:rPr b="0" lang="en-US">
                <a:solidFill>
                  <a:srgbClr val="11478A"/>
                </a:solidFill>
                <a:latin typeface="Calibri"/>
                <a:ea typeface="Calibri"/>
                <a:cs typeface="Calibri"/>
                <a:sym typeface="Calibri"/>
              </a:rPr>
              <a:t>William Stallings  Computer Organization  and Architecture</a:t>
            </a:r>
            <a:endParaRPr sz="3200">
              <a:latin typeface="Calibri"/>
              <a:ea typeface="Calibri"/>
              <a:cs typeface="Calibri"/>
              <a:sym typeface="Calibri"/>
            </a:endParaRPr>
          </a:p>
          <a:p>
            <a:pPr indent="0" lvl="0" marL="0" rtl="0" algn="ctr">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8</a:t>
            </a:r>
            <a:r>
              <a:rPr b="0" baseline="30000" lang="en-US" sz="3975">
                <a:solidFill>
                  <a:srgbClr val="11478A"/>
                </a:solidFill>
                <a:latin typeface="Calibri"/>
                <a:ea typeface="Calibri"/>
                <a:cs typeface="Calibri"/>
                <a:sym typeface="Calibri"/>
              </a:rPr>
              <a:t>th </a:t>
            </a:r>
            <a:r>
              <a:rPr b="0" lang="en-US" sz="4000">
                <a:solidFill>
                  <a:srgbClr val="11478A"/>
                </a:solidFill>
                <a:latin typeface="Calibri"/>
                <a:ea typeface="Calibri"/>
                <a:cs typeface="Calibri"/>
                <a:sym typeface="Calibri"/>
              </a:rPr>
              <a:t>Edition</a:t>
            </a:r>
            <a:endParaRPr sz="4000">
              <a:latin typeface="Calibri"/>
              <a:ea typeface="Calibri"/>
              <a:cs typeface="Calibri"/>
              <a:sym typeface="Calibri"/>
            </a:endParaRPr>
          </a:p>
        </p:txBody>
      </p:sp>
      <p:sp>
        <p:nvSpPr>
          <p:cNvPr id="890" name="Google Shape;890;p122"/>
          <p:cNvSpPr txBox="1"/>
          <p:nvPr/>
        </p:nvSpPr>
        <p:spPr>
          <a:xfrm>
            <a:off x="3962400" y="1066800"/>
            <a:ext cx="1845310" cy="51371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3200">
                <a:solidFill>
                  <a:srgbClr val="888888"/>
                </a:solidFill>
                <a:latin typeface="Calibri"/>
                <a:ea typeface="Calibri"/>
                <a:cs typeface="Calibri"/>
                <a:sym typeface="Calibri"/>
              </a:rPr>
              <a:t>Chapter 16</a:t>
            </a:r>
            <a:endParaRPr sz="3200">
              <a:solidFill>
                <a:schemeClr val="dk1"/>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23"/>
          <p:cNvSpPr txBox="1"/>
          <p:nvPr>
            <p:ph type="title"/>
          </p:nvPr>
        </p:nvSpPr>
        <p:spPr>
          <a:xfrm>
            <a:off x="304800" y="274638"/>
            <a:ext cx="86288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896" name="Google Shape;896;p123"/>
          <p:cNvSpPr txBox="1"/>
          <p:nvPr>
            <p:ph idx="1" type="body"/>
          </p:nvPr>
        </p:nvSpPr>
        <p:spPr>
          <a:xfrm>
            <a:off x="228600" y="990600"/>
            <a:ext cx="8705088" cy="52578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b="1" lang="en-US" sz="2400">
                <a:latin typeface="Times New Roman"/>
                <a:ea typeface="Times New Roman"/>
                <a:cs typeface="Times New Roman"/>
                <a:sym typeface="Times New Roman"/>
              </a:rPr>
              <a:t>Microprogramming language</a:t>
            </a:r>
            <a:r>
              <a:rPr lang="en-US" sz="2400">
                <a:latin typeface="Times New Roman"/>
                <a:ea typeface="Times New Roman"/>
                <a:cs typeface="Times New Roman"/>
                <a:sym typeface="Times New Roman"/>
              </a:rPr>
              <a:t>-each line describes a set of micro-operations occurring at one time and is known as a </a:t>
            </a:r>
            <a:r>
              <a:rPr b="1" lang="en-US" sz="2400">
                <a:latin typeface="Times New Roman"/>
                <a:ea typeface="Times New Roman"/>
                <a:cs typeface="Times New Roman"/>
                <a:sym typeface="Times New Roman"/>
              </a:rPr>
              <a:t>microinstruction</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A sequence of instructions is known as a </a:t>
            </a:r>
            <a:r>
              <a:rPr b="1" lang="en-US" sz="2400">
                <a:latin typeface="Times New Roman"/>
                <a:ea typeface="Times New Roman"/>
                <a:cs typeface="Times New Roman"/>
                <a:sym typeface="Times New Roman"/>
              </a:rPr>
              <a:t>microprogram</a:t>
            </a:r>
            <a:r>
              <a:rPr lang="en-US" sz="2400">
                <a:latin typeface="Times New Roman"/>
                <a:ea typeface="Times New Roman"/>
                <a:cs typeface="Times New Roman"/>
                <a:sym typeface="Times New Roman"/>
              </a:rPr>
              <a:t>, or </a:t>
            </a:r>
            <a:r>
              <a:rPr i="1" lang="en-US" sz="2400">
                <a:latin typeface="Times New Roman"/>
                <a:ea typeface="Times New Roman"/>
                <a:cs typeface="Times New Roman"/>
                <a:sym typeface="Times New Roman"/>
              </a:rPr>
              <a:t>firmware.</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0" name="Shape 900"/>
        <p:cNvGrpSpPr/>
        <p:nvPr/>
      </p:nvGrpSpPr>
      <p:grpSpPr>
        <a:xfrm>
          <a:off x="0" y="0"/>
          <a:ext cx="0" cy="0"/>
          <a:chOff x="0" y="0"/>
          <a:chExt cx="0" cy="0"/>
        </a:xfrm>
      </p:grpSpPr>
      <p:sp>
        <p:nvSpPr>
          <p:cNvPr id="901" name="Google Shape;901;p124"/>
          <p:cNvSpPr txBox="1"/>
          <p:nvPr>
            <p:ph type="title"/>
          </p:nvPr>
        </p:nvSpPr>
        <p:spPr>
          <a:xfrm>
            <a:off x="1905000" y="0"/>
            <a:ext cx="4098670" cy="673902"/>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562214"/>
              </a:buClr>
              <a:buSzPts val="4300"/>
              <a:buFont typeface="Calibri"/>
              <a:buNone/>
            </a:pPr>
            <a:r>
              <a:rPr b="0" lang="en-US">
                <a:latin typeface="Calibri"/>
                <a:ea typeface="Calibri"/>
                <a:cs typeface="Calibri"/>
                <a:sym typeface="Calibri"/>
              </a:rPr>
              <a:t>Implementation</a:t>
            </a:r>
            <a:endParaRPr/>
          </a:p>
        </p:txBody>
      </p:sp>
      <p:sp>
        <p:nvSpPr>
          <p:cNvPr id="902" name="Google Shape;902;p124"/>
          <p:cNvSpPr txBox="1"/>
          <p:nvPr/>
        </p:nvSpPr>
        <p:spPr>
          <a:xfrm>
            <a:off x="104038" y="1130553"/>
            <a:ext cx="8893175" cy="4439677"/>
          </a:xfrm>
          <a:prstGeom prst="rect">
            <a:avLst/>
          </a:prstGeom>
          <a:noFill/>
          <a:ln>
            <a:noFill/>
          </a:ln>
        </p:spPr>
        <p:txBody>
          <a:bodyPr anchorCtr="0" anchor="t" bIns="0" lIns="0" spcFirstLastPara="1" rIns="0" wrap="square" tIns="12700">
            <a:spAutoFit/>
          </a:bodyPr>
          <a:lstStyle/>
          <a:p>
            <a:pPr indent="-343535" lvl="0" marL="3556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For each micro-operation,  the control unit does is generate a set of </a:t>
            </a:r>
            <a:r>
              <a:rPr b="1" lang="en-US" sz="2400">
                <a:solidFill>
                  <a:srgbClr val="FF0000"/>
                </a:solidFill>
                <a:latin typeface="Times New Roman"/>
                <a:ea typeface="Times New Roman"/>
                <a:cs typeface="Times New Roman"/>
                <a:sym typeface="Times New Roman"/>
              </a:rPr>
              <a:t>control signals</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Each control signal is </a:t>
            </a:r>
            <a:r>
              <a:rPr b="1" lang="en-US" sz="2400">
                <a:solidFill>
                  <a:srgbClr val="FF0000"/>
                </a:solidFill>
                <a:latin typeface="Times New Roman"/>
                <a:ea typeface="Times New Roman"/>
                <a:cs typeface="Times New Roman"/>
                <a:sym typeface="Times New Roman"/>
              </a:rPr>
              <a:t>on </a:t>
            </a:r>
            <a:r>
              <a:rPr lang="en-US" sz="2400">
                <a:solidFill>
                  <a:schemeClr val="dk1"/>
                </a:solidFill>
                <a:latin typeface="Times New Roman"/>
                <a:ea typeface="Times New Roman"/>
                <a:cs typeface="Times New Roman"/>
                <a:sym typeface="Times New Roman"/>
              </a:rPr>
              <a:t>or </a:t>
            </a:r>
            <a:r>
              <a:rPr b="1" lang="en-US" sz="2400">
                <a:solidFill>
                  <a:srgbClr val="FF0000"/>
                </a:solidFill>
                <a:latin typeface="Times New Roman"/>
                <a:ea typeface="Times New Roman"/>
                <a:cs typeface="Times New Roman"/>
                <a:sym typeface="Times New Roman"/>
              </a:rPr>
              <a:t>off</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Represent each control signal by a </a:t>
            </a:r>
            <a:r>
              <a:rPr b="1" lang="en-US" sz="2400">
                <a:solidFill>
                  <a:srgbClr val="FF0000"/>
                </a:solidFill>
                <a:latin typeface="Times New Roman"/>
                <a:ea typeface="Times New Roman"/>
                <a:cs typeface="Times New Roman"/>
                <a:sym typeface="Times New Roman"/>
              </a:rPr>
              <a:t>bit for each control line</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2014"/>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Construct a </a:t>
            </a:r>
            <a:r>
              <a:rPr b="1" lang="en-US" sz="2400">
                <a:solidFill>
                  <a:srgbClr val="FF0000"/>
                </a:solidFill>
                <a:latin typeface="Times New Roman"/>
                <a:ea typeface="Times New Roman"/>
                <a:cs typeface="Times New Roman"/>
                <a:sym typeface="Times New Roman"/>
              </a:rPr>
              <a:t>control word </a:t>
            </a:r>
            <a:r>
              <a:rPr lang="en-US" sz="2400">
                <a:solidFill>
                  <a:schemeClr val="dk1"/>
                </a:solidFill>
                <a:latin typeface="Times New Roman"/>
                <a:ea typeface="Times New Roman"/>
                <a:cs typeface="Times New Roman"/>
                <a:sym typeface="Times New Roman"/>
              </a:rPr>
              <a:t>for each micro-operation</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202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Have a </a:t>
            </a:r>
            <a:r>
              <a:rPr b="1" lang="en-US" sz="2400">
                <a:solidFill>
                  <a:srgbClr val="FF0000"/>
                </a:solidFill>
                <a:latin typeface="Times New Roman"/>
                <a:ea typeface="Times New Roman"/>
                <a:cs typeface="Times New Roman"/>
                <a:sym typeface="Times New Roman"/>
              </a:rPr>
              <a:t>sequence of control words </a:t>
            </a:r>
            <a:r>
              <a:rPr lang="en-US" sz="2400">
                <a:solidFill>
                  <a:schemeClr val="dk1"/>
                </a:solidFill>
                <a:latin typeface="Times New Roman"/>
                <a:ea typeface="Times New Roman"/>
                <a:cs typeface="Times New Roman"/>
                <a:sym typeface="Times New Roman"/>
              </a:rPr>
              <a:t>for each machine code instruction</a:t>
            </a:r>
            <a:endParaRPr sz="2400">
              <a:solidFill>
                <a:schemeClr val="dk1"/>
              </a:solidFill>
              <a:latin typeface="Times New Roman"/>
              <a:ea typeface="Times New Roman"/>
              <a:cs typeface="Times New Roman"/>
              <a:sym typeface="Times New Roman"/>
            </a:endParaRPr>
          </a:p>
          <a:p>
            <a:pPr indent="-343535" lvl="0" marL="355600" marR="205740" rtl="0" algn="l">
              <a:lnSpc>
                <a:spcPct val="150000"/>
              </a:lnSpc>
              <a:spcBef>
                <a:spcPts val="5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Add an </a:t>
            </a:r>
            <a:r>
              <a:rPr b="1" lang="en-US" sz="2400">
                <a:solidFill>
                  <a:srgbClr val="FF0000"/>
                </a:solidFill>
                <a:latin typeface="Times New Roman"/>
                <a:ea typeface="Times New Roman"/>
                <a:cs typeface="Times New Roman"/>
                <a:sym typeface="Times New Roman"/>
              </a:rPr>
              <a:t>address </a:t>
            </a:r>
            <a:r>
              <a:rPr lang="en-US" sz="2400">
                <a:solidFill>
                  <a:schemeClr val="dk1"/>
                </a:solidFill>
                <a:latin typeface="Times New Roman"/>
                <a:ea typeface="Times New Roman"/>
                <a:cs typeface="Times New Roman"/>
                <a:sym typeface="Times New Roman"/>
              </a:rPr>
              <a:t>to specify the next micro-instruction, depending on  conditions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6" name="Shape 906"/>
        <p:cNvGrpSpPr/>
        <p:nvPr/>
      </p:nvGrpSpPr>
      <p:grpSpPr>
        <a:xfrm>
          <a:off x="0" y="0"/>
          <a:ext cx="0" cy="0"/>
          <a:chOff x="0" y="0"/>
          <a:chExt cx="0" cy="0"/>
        </a:xfrm>
      </p:grpSpPr>
      <p:sp>
        <p:nvSpPr>
          <p:cNvPr id="907" name="Google Shape;907;p125"/>
          <p:cNvSpPr txBox="1"/>
          <p:nvPr>
            <p:ph type="title"/>
          </p:nvPr>
        </p:nvSpPr>
        <p:spPr>
          <a:xfrm>
            <a:off x="990601" y="-19451"/>
            <a:ext cx="8224800" cy="13359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Functioning of Micro programmed CU</a:t>
            </a:r>
            <a:endParaRPr/>
          </a:p>
        </p:txBody>
      </p:sp>
      <p:sp>
        <p:nvSpPr>
          <p:cNvPr id="908" name="Google Shape;908;p125"/>
          <p:cNvSpPr txBox="1"/>
          <p:nvPr/>
        </p:nvSpPr>
        <p:spPr>
          <a:xfrm>
            <a:off x="4399279" y="418337"/>
            <a:ext cx="2544300" cy="6279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t/>
            </a:r>
            <a:endParaRPr sz="4000">
              <a:solidFill>
                <a:schemeClr val="dk1"/>
              </a:solidFill>
              <a:latin typeface="Calibri"/>
              <a:ea typeface="Calibri"/>
              <a:cs typeface="Calibri"/>
              <a:sym typeface="Calibri"/>
            </a:endParaRPr>
          </a:p>
        </p:txBody>
      </p:sp>
      <p:pic>
        <p:nvPicPr>
          <p:cNvPr id="909" name="Google Shape;909;p125"/>
          <p:cNvPicPr preferRelativeResize="0"/>
          <p:nvPr/>
        </p:nvPicPr>
        <p:blipFill rotWithShape="1">
          <a:blip r:embed="rId3">
            <a:alphaModFix/>
          </a:blip>
          <a:srcRect b="0" l="0" r="0" t="0"/>
          <a:stretch/>
        </p:blipFill>
        <p:spPr>
          <a:xfrm>
            <a:off x="900112" y="1142999"/>
            <a:ext cx="6999224" cy="5698383"/>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26"/>
          <p:cNvSpPr txBox="1"/>
          <p:nvPr>
            <p:ph type="title"/>
          </p:nvPr>
        </p:nvSpPr>
        <p:spPr>
          <a:xfrm>
            <a:off x="152400" y="274638"/>
            <a:ext cx="8781288" cy="3349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915" name="Google Shape;915;p126"/>
          <p:cNvSpPr txBox="1"/>
          <p:nvPr>
            <p:ph idx="1" type="body"/>
          </p:nvPr>
        </p:nvSpPr>
        <p:spPr>
          <a:xfrm>
            <a:off x="228600" y="762000"/>
            <a:ext cx="8705088" cy="54864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latin typeface="Times New Roman"/>
                <a:ea typeface="Times New Roman"/>
                <a:cs typeface="Times New Roman"/>
                <a:sym typeface="Times New Roman"/>
              </a:rPr>
              <a:t>The control memory contains a </a:t>
            </a:r>
            <a:r>
              <a:rPr lang="en-US" sz="2000">
                <a:solidFill>
                  <a:srgbClr val="FF0000"/>
                </a:solidFill>
                <a:latin typeface="Times New Roman"/>
                <a:ea typeface="Times New Roman"/>
                <a:cs typeface="Times New Roman"/>
                <a:sym typeface="Times New Roman"/>
              </a:rPr>
              <a:t>program that describes the behavior of the control unit.</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 set of microinstructions is stored in the control memory.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 control address register </a:t>
            </a:r>
            <a:r>
              <a:rPr lang="en-US" sz="2000">
                <a:solidFill>
                  <a:srgbClr val="FF0000"/>
                </a:solidFill>
                <a:latin typeface="Times New Roman"/>
                <a:ea typeface="Times New Roman"/>
                <a:cs typeface="Times New Roman"/>
                <a:sym typeface="Times New Roman"/>
              </a:rPr>
              <a:t>contains the address of the next microinstruction to be read.</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When a microinstruction is read from the control memory, it is transferred to a control buffer register.</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reading a microinstruction from the control memory is the same as </a:t>
            </a:r>
            <a:r>
              <a:rPr b="1" lang="en-US" sz="2000">
                <a:latin typeface="Times New Roman"/>
                <a:ea typeface="Times New Roman"/>
                <a:cs typeface="Times New Roman"/>
                <a:sym typeface="Times New Roman"/>
              </a:rPr>
              <a:t>executing that microinstruction.</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sequencing unit -loads the control address register and issues a read command.</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control unit still has the same inputs (IR,ALU, flags, clock) and outputs (control signals)</a:t>
            </a:r>
            <a:endParaRPr/>
          </a:p>
          <a:p>
            <a:pPr indent="-181864" lvl="0" marL="365760" rtl="0" algn="just">
              <a:lnSpc>
                <a:spcPct val="100000"/>
              </a:lnSpc>
              <a:spcBef>
                <a:spcPts val="600"/>
              </a:spcBef>
              <a:spcAft>
                <a:spcPts val="0"/>
              </a:spcAft>
              <a:buSzPts val="1600"/>
              <a:buNone/>
            </a:pPr>
            <a:r>
              <a:t/>
            </a:r>
            <a:endParaRPr sz="2000">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9" name="Shape 919"/>
        <p:cNvGrpSpPr/>
        <p:nvPr/>
      </p:nvGrpSpPr>
      <p:grpSpPr>
        <a:xfrm>
          <a:off x="0" y="0"/>
          <a:ext cx="0" cy="0"/>
          <a:chOff x="0" y="0"/>
          <a:chExt cx="0" cy="0"/>
        </a:xfrm>
      </p:grpSpPr>
      <p:sp>
        <p:nvSpPr>
          <p:cNvPr id="920" name="Google Shape;920;p127"/>
          <p:cNvSpPr txBox="1"/>
          <p:nvPr>
            <p:ph type="title"/>
          </p:nvPr>
        </p:nvSpPr>
        <p:spPr>
          <a:xfrm>
            <a:off x="533401" y="109542"/>
            <a:ext cx="8593200" cy="566181"/>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11478A"/>
              </a:buClr>
              <a:buSzPts val="3600"/>
              <a:buFont typeface="Times New Roman"/>
              <a:buNone/>
            </a:pPr>
            <a:r>
              <a:rPr b="0" lang="en-US" sz="3600">
                <a:solidFill>
                  <a:srgbClr val="11478A"/>
                </a:solidFill>
                <a:latin typeface="Times New Roman"/>
                <a:ea typeface="Times New Roman"/>
                <a:cs typeface="Times New Roman"/>
                <a:sym typeface="Times New Roman"/>
              </a:rPr>
              <a:t>Micro programmed Control Unit Functions</a:t>
            </a:r>
            <a:endParaRPr b="0" sz="3600">
              <a:solidFill>
                <a:srgbClr val="11478A"/>
              </a:solidFill>
              <a:latin typeface="Times New Roman"/>
              <a:ea typeface="Times New Roman"/>
              <a:cs typeface="Times New Roman"/>
              <a:sym typeface="Times New Roman"/>
            </a:endParaRPr>
          </a:p>
        </p:txBody>
      </p:sp>
      <p:sp>
        <p:nvSpPr>
          <p:cNvPr id="921" name="Google Shape;921;p127"/>
          <p:cNvSpPr txBox="1"/>
          <p:nvPr/>
        </p:nvSpPr>
        <p:spPr>
          <a:xfrm>
            <a:off x="228600" y="979169"/>
            <a:ext cx="8727084" cy="4402615"/>
          </a:xfrm>
          <a:prstGeom prst="rect">
            <a:avLst/>
          </a:prstGeom>
          <a:noFill/>
          <a:ln>
            <a:noFill/>
          </a:ln>
        </p:spPr>
        <p:txBody>
          <a:bodyPr anchorCtr="0" anchor="t" bIns="0" lIns="0" spcFirstLastPara="1" rIns="0" wrap="square" tIns="12050">
            <a:spAutoFit/>
          </a:bodyPr>
          <a:lstStyle/>
          <a:p>
            <a:pPr indent="-283844" lvl="0" marL="295910" marR="0" rtl="0" algn="just">
              <a:lnSpc>
                <a:spcPct val="100000"/>
              </a:lnSpc>
              <a:spcBef>
                <a:spcPts val="0"/>
              </a:spcBef>
              <a:spcAft>
                <a:spcPts val="0"/>
              </a:spcAft>
              <a:buClr>
                <a:schemeClr val="dk1"/>
              </a:buClr>
              <a:buSzPts val="2200"/>
              <a:buFont typeface="Quattrocento Sans"/>
              <a:buChar char="⚫"/>
            </a:pPr>
            <a:r>
              <a:rPr lang="en-US" sz="2200">
                <a:solidFill>
                  <a:schemeClr val="dk1"/>
                </a:solidFill>
                <a:latin typeface="Times New Roman"/>
                <a:ea typeface="Times New Roman"/>
                <a:cs typeface="Times New Roman"/>
                <a:sym typeface="Times New Roman"/>
              </a:rPr>
              <a:t>Sequence logic unit issues read command</a:t>
            </a:r>
            <a:endParaRPr sz="2200">
              <a:solidFill>
                <a:schemeClr val="dk1"/>
              </a:solidFill>
              <a:latin typeface="Times New Roman"/>
              <a:ea typeface="Times New Roman"/>
              <a:cs typeface="Times New Roman"/>
              <a:sym typeface="Times New Roman"/>
            </a:endParaRPr>
          </a:p>
          <a:p>
            <a:pPr indent="-283844" lvl="0" marL="295910" marR="587375" rtl="0" algn="just">
              <a:lnSpc>
                <a:spcPct val="190100"/>
              </a:lnSpc>
              <a:spcBef>
                <a:spcPts val="525"/>
              </a:spcBef>
              <a:spcAft>
                <a:spcPts val="0"/>
              </a:spcAft>
              <a:buClr>
                <a:schemeClr val="dk1"/>
              </a:buClr>
              <a:buSzPts val="2200"/>
              <a:buFont typeface="Quattrocento Sans"/>
              <a:buChar char="⚫"/>
            </a:pPr>
            <a:r>
              <a:rPr lang="en-US" sz="2200">
                <a:solidFill>
                  <a:schemeClr val="dk1"/>
                </a:solidFill>
                <a:latin typeface="Times New Roman"/>
                <a:ea typeface="Times New Roman"/>
                <a:cs typeface="Times New Roman"/>
                <a:sym typeface="Times New Roman"/>
              </a:rPr>
              <a:t>Word specified in control address register is read into control  buffer register</a:t>
            </a:r>
            <a:endParaRPr sz="2200">
              <a:solidFill>
                <a:schemeClr val="dk1"/>
              </a:solidFill>
              <a:latin typeface="Times New Roman"/>
              <a:ea typeface="Times New Roman"/>
              <a:cs typeface="Times New Roman"/>
              <a:sym typeface="Times New Roman"/>
            </a:endParaRPr>
          </a:p>
          <a:p>
            <a:pPr indent="-283844" lvl="0" marL="295910" marR="5080" rtl="0" algn="just">
              <a:lnSpc>
                <a:spcPct val="190100"/>
              </a:lnSpc>
              <a:spcBef>
                <a:spcPts val="525"/>
              </a:spcBef>
              <a:spcAft>
                <a:spcPts val="0"/>
              </a:spcAft>
              <a:buClr>
                <a:schemeClr val="dk1"/>
              </a:buClr>
              <a:buSzPts val="2200"/>
              <a:buFont typeface="Quattrocento Sans"/>
              <a:buChar char="⚫"/>
            </a:pPr>
            <a:r>
              <a:rPr lang="en-US" sz="2200">
                <a:solidFill>
                  <a:schemeClr val="dk1"/>
                </a:solidFill>
                <a:latin typeface="Times New Roman"/>
                <a:ea typeface="Times New Roman"/>
                <a:cs typeface="Times New Roman"/>
                <a:sym typeface="Times New Roman"/>
              </a:rPr>
              <a:t>Control buffer register contents </a:t>
            </a:r>
            <a:r>
              <a:rPr b="1" lang="en-US" sz="2200">
                <a:solidFill>
                  <a:schemeClr val="dk1"/>
                </a:solidFill>
                <a:latin typeface="Times New Roman"/>
                <a:ea typeface="Times New Roman"/>
                <a:cs typeface="Times New Roman"/>
                <a:sym typeface="Times New Roman"/>
              </a:rPr>
              <a:t>generates control signals and next  address information</a:t>
            </a:r>
            <a:endParaRPr b="1" sz="2200">
              <a:solidFill>
                <a:schemeClr val="dk1"/>
              </a:solidFill>
              <a:latin typeface="Times New Roman"/>
              <a:ea typeface="Times New Roman"/>
              <a:cs typeface="Times New Roman"/>
              <a:sym typeface="Times New Roman"/>
            </a:endParaRPr>
          </a:p>
          <a:p>
            <a:pPr indent="-283844" lvl="0" marL="295910" marR="391160" rtl="0" algn="just">
              <a:lnSpc>
                <a:spcPct val="190000"/>
              </a:lnSpc>
              <a:spcBef>
                <a:spcPts val="530"/>
              </a:spcBef>
              <a:spcAft>
                <a:spcPts val="0"/>
              </a:spcAft>
              <a:buClr>
                <a:schemeClr val="dk1"/>
              </a:buClr>
              <a:buSzPts val="2200"/>
              <a:buFont typeface="Quattrocento Sans"/>
              <a:buChar char="⚫"/>
            </a:pPr>
            <a:r>
              <a:rPr lang="en-US" sz="2200">
                <a:solidFill>
                  <a:schemeClr val="dk1"/>
                </a:solidFill>
                <a:latin typeface="Times New Roman"/>
                <a:ea typeface="Times New Roman"/>
                <a:cs typeface="Times New Roman"/>
                <a:sym typeface="Times New Roman"/>
              </a:rPr>
              <a:t>Sequence logic </a:t>
            </a:r>
            <a:r>
              <a:rPr b="1" lang="en-US" sz="2200">
                <a:solidFill>
                  <a:schemeClr val="dk1"/>
                </a:solidFill>
                <a:latin typeface="Times New Roman"/>
                <a:ea typeface="Times New Roman"/>
                <a:cs typeface="Times New Roman"/>
                <a:sym typeface="Times New Roman"/>
              </a:rPr>
              <a:t>loads new address into control buffer register  </a:t>
            </a:r>
            <a:r>
              <a:rPr lang="en-US" sz="2200">
                <a:solidFill>
                  <a:schemeClr val="dk1"/>
                </a:solidFill>
                <a:latin typeface="Times New Roman"/>
                <a:ea typeface="Times New Roman"/>
                <a:cs typeface="Times New Roman"/>
                <a:sym typeface="Times New Roman"/>
              </a:rPr>
              <a:t>based on next address information from control buffer register  and ALU flags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5" name="Shape 925"/>
        <p:cNvGrpSpPr/>
        <p:nvPr/>
      </p:nvGrpSpPr>
      <p:grpSpPr>
        <a:xfrm>
          <a:off x="0" y="0"/>
          <a:ext cx="0" cy="0"/>
          <a:chOff x="0" y="0"/>
          <a:chExt cx="0" cy="0"/>
        </a:xfrm>
      </p:grpSpPr>
      <p:sp>
        <p:nvSpPr>
          <p:cNvPr id="926" name="Google Shape;926;p128"/>
          <p:cNvSpPr txBox="1"/>
          <p:nvPr>
            <p:ph type="title"/>
          </p:nvPr>
        </p:nvSpPr>
        <p:spPr>
          <a:xfrm>
            <a:off x="2031873" y="461594"/>
            <a:ext cx="508000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4400"/>
              <a:buFont typeface="Calibri"/>
              <a:buNone/>
            </a:pPr>
            <a:r>
              <a:rPr b="0" lang="en-US" sz="4400">
                <a:solidFill>
                  <a:srgbClr val="11478A"/>
                </a:solidFill>
                <a:latin typeface="Calibri"/>
                <a:ea typeface="Calibri"/>
                <a:cs typeface="Calibri"/>
                <a:sym typeface="Calibri"/>
              </a:rPr>
              <a:t>Next Address Decision</a:t>
            </a:r>
            <a:endParaRPr sz="4400">
              <a:latin typeface="Calibri"/>
              <a:ea typeface="Calibri"/>
              <a:cs typeface="Calibri"/>
              <a:sym typeface="Calibri"/>
            </a:endParaRPr>
          </a:p>
        </p:txBody>
      </p:sp>
      <p:sp>
        <p:nvSpPr>
          <p:cNvPr id="927" name="Google Shape;927;p128"/>
          <p:cNvSpPr txBox="1"/>
          <p:nvPr/>
        </p:nvSpPr>
        <p:spPr>
          <a:xfrm>
            <a:off x="381001" y="1293368"/>
            <a:ext cx="8382000" cy="3837600"/>
          </a:xfrm>
          <a:prstGeom prst="rect">
            <a:avLst/>
          </a:prstGeom>
          <a:noFill/>
          <a:ln>
            <a:noFill/>
          </a:ln>
        </p:spPr>
        <p:txBody>
          <a:bodyPr anchorCtr="0" anchor="t" bIns="0" lIns="0" spcFirstLastPara="1" rIns="0" wrap="square" tIns="13325">
            <a:spAutoFit/>
          </a:bodyPr>
          <a:lstStyle/>
          <a:p>
            <a:pPr indent="-343535" lvl="0" marL="355600" marR="647065"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Depending on ALU flags and control buffer  register</a:t>
            </a:r>
            <a:endParaRPr sz="2400">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685"/>
              </a:spcBef>
              <a:spcAft>
                <a:spcPts val="0"/>
              </a:spcAft>
              <a:buClr>
                <a:srgbClr val="FF0000"/>
              </a:buClr>
              <a:buSzPts val="2400"/>
              <a:buFont typeface="Arial"/>
              <a:buChar char="–"/>
            </a:pPr>
            <a:r>
              <a:rPr b="0" i="0" lang="en-US" sz="2400" u="none" cap="none" strike="noStrike">
                <a:solidFill>
                  <a:srgbClr val="FF0000"/>
                </a:solidFill>
                <a:latin typeface="Times New Roman"/>
                <a:ea typeface="Times New Roman"/>
                <a:cs typeface="Times New Roman"/>
                <a:sym typeface="Times New Roman"/>
              </a:rPr>
              <a:t>Get next instruction</a:t>
            </a:r>
            <a:endParaRPr b="0" i="0" sz="2400" u="none" cap="none" strike="noStrike">
              <a:solidFill>
                <a:schemeClr val="dk1"/>
              </a:solidFill>
              <a:latin typeface="Times New Roman"/>
              <a:ea typeface="Times New Roman"/>
              <a:cs typeface="Times New Roman"/>
              <a:sym typeface="Times New Roman"/>
            </a:endParaRPr>
          </a:p>
          <a:p>
            <a:pPr indent="-229235" lvl="2" marL="1155700" marR="0" rtl="0" algn="just">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Add 1 to control address register</a:t>
            </a:r>
            <a:endParaRPr b="0" i="0" sz="2400" u="none" cap="none" strike="noStrike">
              <a:solidFill>
                <a:schemeClr val="dk1"/>
              </a:solidFill>
              <a:latin typeface="Times New Roman"/>
              <a:ea typeface="Times New Roman"/>
              <a:cs typeface="Times New Roman"/>
              <a:sym typeface="Times New Roman"/>
            </a:endParaRPr>
          </a:p>
          <a:p>
            <a:pPr indent="-287019" lvl="1" marL="756285" marR="2035810" rtl="0" algn="just">
              <a:lnSpc>
                <a:spcPct val="100000"/>
              </a:lnSpc>
              <a:spcBef>
                <a:spcPts val="650"/>
              </a:spcBef>
              <a:spcAft>
                <a:spcPts val="0"/>
              </a:spcAft>
              <a:buClr>
                <a:srgbClr val="FF0000"/>
              </a:buClr>
              <a:buSzPts val="2400"/>
              <a:buFont typeface="Arial"/>
              <a:buChar char="–"/>
            </a:pPr>
            <a:r>
              <a:rPr b="0" i="0" lang="en-US" sz="2400" u="none" cap="none" strike="noStrike">
                <a:solidFill>
                  <a:srgbClr val="FF0000"/>
                </a:solidFill>
                <a:latin typeface="Times New Roman"/>
                <a:ea typeface="Times New Roman"/>
                <a:cs typeface="Times New Roman"/>
                <a:sym typeface="Times New Roman"/>
              </a:rPr>
              <a:t>Jump to new routine based on jump  microinstruction</a:t>
            </a:r>
            <a:endParaRPr b="0" i="0" sz="2400" u="none" cap="none" strike="noStrike">
              <a:solidFill>
                <a:schemeClr val="dk1"/>
              </a:solidFill>
              <a:latin typeface="Times New Roman"/>
              <a:ea typeface="Times New Roman"/>
              <a:cs typeface="Times New Roman"/>
              <a:sym typeface="Times New Roman"/>
            </a:endParaRPr>
          </a:p>
          <a:p>
            <a:pPr indent="-229235" lvl="2" marL="1155700" marR="5080" rtl="0" algn="just">
              <a:lnSpc>
                <a:spcPct val="100000"/>
              </a:lnSpc>
              <a:spcBef>
                <a:spcPts val="6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Load address field of control buffer register into control  address register</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just">
              <a:lnSpc>
                <a:spcPct val="100000"/>
              </a:lnSpc>
              <a:spcBef>
                <a:spcPts val="650"/>
              </a:spcBef>
              <a:spcAft>
                <a:spcPts val="0"/>
              </a:spcAft>
              <a:buClr>
                <a:srgbClr val="FF0000"/>
              </a:buClr>
              <a:buSzPts val="2400"/>
              <a:buFont typeface="Arial"/>
              <a:buChar char="–"/>
            </a:pPr>
            <a:r>
              <a:rPr b="0" i="0" lang="en-US" sz="2400" u="none" cap="none" strike="noStrike">
                <a:solidFill>
                  <a:srgbClr val="FF0000"/>
                </a:solidFill>
                <a:latin typeface="Times New Roman"/>
                <a:ea typeface="Times New Roman"/>
                <a:cs typeface="Times New Roman"/>
                <a:sym typeface="Times New Roman"/>
              </a:rPr>
              <a:t>Jump to machine instruction routine</a:t>
            </a:r>
            <a:endParaRPr b="0" i="0" sz="2400" u="none" cap="none" strike="noStrike">
              <a:solidFill>
                <a:schemeClr val="dk1"/>
              </a:solidFill>
              <a:latin typeface="Times New Roman"/>
              <a:ea typeface="Times New Roman"/>
              <a:cs typeface="Times New Roman"/>
              <a:sym typeface="Times New Roman"/>
            </a:endParaRPr>
          </a:p>
          <a:p>
            <a:pPr indent="-229235" lvl="2" marL="1155700" marR="0" rtl="0" algn="just">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Load control address register based on opcode in IR</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29"/>
          <p:cNvSpPr txBox="1"/>
          <p:nvPr>
            <p:ph type="title"/>
          </p:nvPr>
        </p:nvSpPr>
        <p:spPr>
          <a:xfrm>
            <a:off x="533400" y="274638"/>
            <a:ext cx="84002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sp>
        <p:nvSpPr>
          <p:cNvPr id="933" name="Google Shape;933;p129"/>
          <p:cNvSpPr txBox="1"/>
          <p:nvPr>
            <p:ph idx="1" type="body"/>
          </p:nvPr>
        </p:nvSpPr>
        <p:spPr>
          <a:xfrm>
            <a:off x="457200" y="1447800"/>
            <a:ext cx="8476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upper decoder translates the opcode of the IR into a control memory address.</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lower decoder is not used for horizontal microinstructions but is used for </a:t>
            </a:r>
            <a:r>
              <a:rPr b="1" lang="en-US" sz="2400">
                <a:latin typeface="Times New Roman"/>
                <a:ea typeface="Times New Roman"/>
                <a:cs typeface="Times New Roman"/>
                <a:sym typeface="Times New Roman"/>
              </a:rPr>
              <a:t>vertical microinstructions</a:t>
            </a:r>
            <a:endParaRPr sz="2400">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7" name="Shape 937"/>
        <p:cNvGrpSpPr/>
        <p:nvPr/>
      </p:nvGrpSpPr>
      <p:grpSpPr>
        <a:xfrm>
          <a:off x="0" y="0"/>
          <a:ext cx="0" cy="0"/>
          <a:chOff x="0" y="0"/>
          <a:chExt cx="0" cy="0"/>
        </a:xfrm>
      </p:grpSpPr>
      <p:sp>
        <p:nvSpPr>
          <p:cNvPr id="938" name="Google Shape;938;p130"/>
          <p:cNvSpPr txBox="1"/>
          <p:nvPr>
            <p:ph type="title"/>
          </p:nvPr>
        </p:nvSpPr>
        <p:spPr>
          <a:xfrm>
            <a:off x="1435608" y="274638"/>
            <a:ext cx="7498080" cy="1143000"/>
          </a:xfrm>
          <a:prstGeom prst="rect">
            <a:avLst/>
          </a:prstGeom>
          <a:noFill/>
          <a:ln>
            <a:noFill/>
          </a:ln>
        </p:spPr>
        <p:txBody>
          <a:bodyPr anchorCtr="0" anchor="ctr" bIns="0" lIns="0" spcFirstLastPara="1" rIns="0" wrap="square" tIns="51675">
            <a:spAutoFit/>
          </a:bodyPr>
          <a:lstStyle/>
          <a:p>
            <a:pPr indent="-1447165" lvl="0" marL="1506855" marR="508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Advantages and Disadvantages of  Microprogramming</a:t>
            </a:r>
            <a:endParaRPr/>
          </a:p>
        </p:txBody>
      </p:sp>
      <p:sp>
        <p:nvSpPr>
          <p:cNvPr id="939" name="Google Shape;939;p130"/>
          <p:cNvSpPr txBox="1"/>
          <p:nvPr/>
        </p:nvSpPr>
        <p:spPr>
          <a:xfrm>
            <a:off x="838200" y="2286000"/>
            <a:ext cx="5563870" cy="2224405"/>
          </a:xfrm>
          <a:prstGeom prst="rect">
            <a:avLst/>
          </a:prstGeom>
          <a:noFill/>
          <a:ln>
            <a:noFill/>
          </a:ln>
        </p:spPr>
        <p:txBody>
          <a:bodyPr anchorCtr="0" anchor="t" bIns="0" lIns="0" spcFirstLastPara="1" rIns="0" wrap="square" tIns="113650">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Simplifies design of control unit</a:t>
            </a:r>
            <a:endParaRPr sz="3200">
              <a:solidFill>
                <a:schemeClr val="dk1"/>
              </a:solidFill>
              <a:latin typeface="Calibri"/>
              <a:ea typeface="Calibri"/>
              <a:cs typeface="Calibri"/>
              <a:sym typeface="Calibri"/>
            </a:endParaRPr>
          </a:p>
          <a:p>
            <a:pPr indent="-287019" lvl="1" marL="756285" marR="0" rtl="0" algn="l">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Cheaper</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Less error-prone</a:t>
            </a:r>
            <a:endParaRPr b="0" i="0" sz="2800" u="none" cap="none" strike="noStrike">
              <a:solidFill>
                <a:schemeClr val="dk1"/>
              </a:solidFill>
              <a:latin typeface="Calibri"/>
              <a:ea typeface="Calibri"/>
              <a:cs typeface="Calibri"/>
              <a:sym typeface="Calibri"/>
            </a:endParaRPr>
          </a:p>
          <a:p>
            <a:pPr indent="-343535" lvl="0" marL="355600" marR="0" rtl="0" algn="l">
              <a:lnSpc>
                <a:spcPct val="100000"/>
              </a:lnSpc>
              <a:spcBef>
                <a:spcPts val="75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Slower</a:t>
            </a:r>
            <a:endParaRPr sz="3200">
              <a:solidFill>
                <a:schemeClr val="dk1"/>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3" name="Shape 943"/>
        <p:cNvGrpSpPr/>
        <p:nvPr/>
      </p:nvGrpSpPr>
      <p:grpSpPr>
        <a:xfrm>
          <a:off x="0" y="0"/>
          <a:ext cx="0" cy="0"/>
          <a:chOff x="0" y="0"/>
          <a:chExt cx="0" cy="0"/>
        </a:xfrm>
      </p:grpSpPr>
      <p:sp>
        <p:nvSpPr>
          <p:cNvPr id="944" name="Google Shape;944;p131"/>
          <p:cNvSpPr txBox="1"/>
          <p:nvPr>
            <p:ph type="title"/>
          </p:nvPr>
        </p:nvSpPr>
        <p:spPr>
          <a:xfrm>
            <a:off x="762000" y="615650"/>
            <a:ext cx="7498080" cy="1283300"/>
          </a:xfrm>
          <a:prstGeom prst="rect">
            <a:avLst/>
          </a:prstGeom>
          <a:noFill/>
          <a:ln>
            <a:noFill/>
          </a:ln>
        </p:spPr>
        <p:txBody>
          <a:bodyPr anchorCtr="0" anchor="ctr" bIns="0" lIns="0" spcFirstLastPara="1" rIns="0" wrap="square" tIns="51675">
            <a:spAutoFit/>
          </a:bodyPr>
          <a:lstStyle/>
          <a:p>
            <a:pPr indent="-2193925" lvl="0" marL="2240915" marR="5080" rtl="0" algn="l">
              <a:lnSpc>
                <a:spcPct val="100000"/>
              </a:lnSpc>
              <a:spcBef>
                <a:spcPts val="0"/>
              </a:spcBef>
              <a:spcAft>
                <a:spcPts val="0"/>
              </a:spcAft>
              <a:buClr>
                <a:srgbClr val="11478A"/>
              </a:buClr>
              <a:buSzPts val="4000"/>
              <a:buFont typeface="Times New Roman"/>
              <a:buNone/>
            </a:pPr>
            <a:r>
              <a:rPr b="0" lang="en-US" sz="4000">
                <a:solidFill>
                  <a:srgbClr val="11478A"/>
                </a:solidFill>
                <a:latin typeface="Times New Roman"/>
                <a:ea typeface="Times New Roman"/>
                <a:cs typeface="Times New Roman"/>
                <a:sym typeface="Times New Roman"/>
              </a:rPr>
              <a:t>Tasks Done By Microprogrammed  Control Unit</a:t>
            </a:r>
            <a:endParaRPr/>
          </a:p>
        </p:txBody>
      </p:sp>
      <p:sp>
        <p:nvSpPr>
          <p:cNvPr id="945" name="Google Shape;945;p131"/>
          <p:cNvSpPr txBox="1"/>
          <p:nvPr/>
        </p:nvSpPr>
        <p:spPr>
          <a:xfrm>
            <a:off x="609600" y="2133600"/>
            <a:ext cx="7848600" cy="3538148"/>
          </a:xfrm>
          <a:prstGeom prst="rect">
            <a:avLst/>
          </a:prstGeom>
          <a:noFill/>
          <a:ln>
            <a:noFill/>
          </a:ln>
        </p:spPr>
        <p:txBody>
          <a:bodyPr anchorCtr="0" anchor="t" bIns="0" lIns="0" spcFirstLastPara="1" rIns="0" wrap="square" tIns="110475">
            <a:spAutoFit/>
          </a:bodyPr>
          <a:lstStyle/>
          <a:p>
            <a:pPr indent="0" lvl="0" marL="0" marR="0" rtl="0" algn="just">
              <a:spcBef>
                <a:spcPts val="0"/>
              </a:spcBef>
              <a:spcAft>
                <a:spcPts val="0"/>
              </a:spcAft>
              <a:buNone/>
            </a:pPr>
            <a:r>
              <a:rPr b="1" lang="en-US" sz="2400">
                <a:solidFill>
                  <a:schemeClr val="dk1"/>
                </a:solidFill>
                <a:latin typeface="Times New Roman"/>
                <a:ea typeface="Times New Roman"/>
                <a:cs typeface="Times New Roman"/>
                <a:sym typeface="Times New Roman"/>
              </a:rPr>
              <a:t>Microinstruction sequencing</a:t>
            </a:r>
            <a:r>
              <a:rPr lang="en-US" sz="2400">
                <a:solidFill>
                  <a:schemeClr val="dk1"/>
                </a:solidFill>
                <a:latin typeface="Times New Roman"/>
                <a:ea typeface="Times New Roman"/>
                <a:cs typeface="Times New Roman"/>
                <a:sym typeface="Times New Roman"/>
              </a:rPr>
              <a:t>-Get the next microinstruction from the control memory.</a:t>
            </a:r>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2400">
                <a:solidFill>
                  <a:schemeClr val="accent5"/>
                </a:solidFill>
                <a:latin typeface="Times New Roman"/>
                <a:ea typeface="Times New Roman"/>
                <a:cs typeface="Times New Roman"/>
                <a:sym typeface="Times New Roman"/>
              </a:rPr>
              <a:t>Microinstruction execution</a:t>
            </a:r>
            <a:r>
              <a:rPr lang="en-US" sz="2400">
                <a:solidFill>
                  <a:schemeClr val="dk1"/>
                </a:solidFill>
                <a:latin typeface="Times New Roman"/>
                <a:ea typeface="Times New Roman"/>
                <a:cs typeface="Times New Roman"/>
                <a:sym typeface="Times New Roman"/>
              </a:rPr>
              <a:t>-Generate the control signals needed to execute the microinstruction.</a:t>
            </a:r>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77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Must consider both together-to design control unit affect the format of the microinstruction and the timing of the control unit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32"/>
          <p:cNvSpPr txBox="1"/>
          <p:nvPr>
            <p:ph type="title"/>
          </p:nvPr>
        </p:nvSpPr>
        <p:spPr>
          <a:xfrm>
            <a:off x="381000" y="274638"/>
            <a:ext cx="8552688"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2800"/>
              <a:buFont typeface="Gill Sans"/>
              <a:buNone/>
            </a:pPr>
            <a:r>
              <a:rPr b="1" lang="en-US" sz="2800"/>
              <a:t>Micro Instruction Sequencing-Design Considerations</a:t>
            </a:r>
            <a:endParaRPr sz="2800"/>
          </a:p>
        </p:txBody>
      </p:sp>
      <p:sp>
        <p:nvSpPr>
          <p:cNvPr id="951" name="Google Shape;951;p132"/>
          <p:cNvSpPr txBox="1"/>
          <p:nvPr>
            <p:ph idx="1" type="body"/>
          </p:nvPr>
        </p:nvSpPr>
        <p:spPr>
          <a:xfrm>
            <a:off x="152400" y="1524000"/>
            <a:ext cx="878130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b="1" lang="en-US" sz="2400">
                <a:latin typeface="Times New Roman"/>
                <a:ea typeface="Times New Roman"/>
                <a:cs typeface="Times New Roman"/>
                <a:sym typeface="Times New Roman"/>
              </a:rPr>
              <a:t>Microinstruction sequencing technique-</a:t>
            </a:r>
            <a:r>
              <a:rPr lang="en-US" sz="2400">
                <a:latin typeface="Times New Roman"/>
                <a:ea typeface="Times New Roman"/>
                <a:cs typeface="Times New Roman"/>
                <a:sym typeface="Times New Roman"/>
              </a:rPr>
              <a:t>the </a:t>
            </a:r>
            <a:r>
              <a:rPr lang="en-US" sz="2400">
                <a:solidFill>
                  <a:srgbClr val="FF0000"/>
                </a:solidFill>
                <a:latin typeface="Times New Roman"/>
                <a:ea typeface="Times New Roman"/>
                <a:cs typeface="Times New Roman"/>
                <a:sym typeface="Times New Roman"/>
              </a:rPr>
              <a:t>size of the microinstruction time</a:t>
            </a:r>
            <a:r>
              <a:rPr lang="en-US" sz="2400">
                <a:latin typeface="Times New Roman"/>
                <a:ea typeface="Times New Roman"/>
                <a:cs typeface="Times New Roman"/>
                <a:sym typeface="Times New Roman"/>
              </a:rPr>
              <a:t>-(reduces the cost of that component</a:t>
            </a:r>
            <a:r>
              <a:rPr lang="en-US" sz="2400">
                <a:solidFill>
                  <a:srgbClr val="FF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and the </a:t>
            </a:r>
            <a:r>
              <a:rPr lang="en-US" sz="2400">
                <a:solidFill>
                  <a:srgbClr val="FF0000"/>
                </a:solidFill>
                <a:latin typeface="Times New Roman"/>
                <a:ea typeface="Times New Roman"/>
                <a:cs typeface="Times New Roman"/>
                <a:sym typeface="Times New Roman"/>
              </a:rPr>
              <a:t>address-generation (</a:t>
            </a:r>
            <a:r>
              <a:rPr lang="en-US" sz="2400">
                <a:latin typeface="Times New Roman"/>
                <a:ea typeface="Times New Roman"/>
                <a:cs typeface="Times New Roman"/>
                <a:sym typeface="Times New Roman"/>
              </a:rPr>
              <a:t>to execute microinstructions as fast as possible)</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In executing a microprogram, the address of the next microinstruction to be executed is in one of these categories:</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 Determined by instruction register</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 Next sequential address</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 Branch</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33"/>
          <p:cNvSpPr txBox="1"/>
          <p:nvPr>
            <p:ph type="title"/>
          </p:nvPr>
        </p:nvSpPr>
        <p:spPr>
          <a:xfrm>
            <a:off x="457200" y="274638"/>
            <a:ext cx="84764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b="1" lang="en-US"/>
              <a:t>Sequencing Techniques</a:t>
            </a:r>
            <a:endParaRPr/>
          </a:p>
        </p:txBody>
      </p:sp>
      <p:sp>
        <p:nvSpPr>
          <p:cNvPr id="957" name="Google Shape;957;p133"/>
          <p:cNvSpPr txBox="1"/>
          <p:nvPr>
            <p:ph idx="1" type="body"/>
          </p:nvPr>
        </p:nvSpPr>
        <p:spPr>
          <a:xfrm>
            <a:off x="228600" y="1371600"/>
            <a:ext cx="8476488"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latin typeface="Times New Roman"/>
                <a:ea typeface="Times New Roman"/>
                <a:cs typeface="Times New Roman"/>
                <a:sym typeface="Times New Roman"/>
              </a:rPr>
              <a:t>Based on the current microinstruction, condition flags, and the contents of the instruction register, a control memory address must be generated for the next microinstruction</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Different techniques are based on the format of the address information in the microinstruction:</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Two address fields</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 Single address field</a:t>
            </a:r>
            <a:endParaRPr/>
          </a:p>
          <a:p>
            <a:pPr indent="-237744" lvl="1" marL="640080" rtl="0" algn="just">
              <a:lnSpc>
                <a:spcPct val="100000"/>
              </a:lnSpc>
              <a:spcBef>
                <a:spcPts val="550"/>
              </a:spcBef>
              <a:spcAft>
                <a:spcPts val="0"/>
              </a:spcAft>
              <a:buSzPts val="2000"/>
              <a:buChar char="◦"/>
            </a:pPr>
            <a:r>
              <a:rPr lang="en-US" sz="2000">
                <a:latin typeface="Times New Roman"/>
                <a:ea typeface="Times New Roman"/>
                <a:cs typeface="Times New Roman"/>
                <a:sym typeface="Times New Roman"/>
              </a:rPr>
              <a:t> Variable format</a:t>
            </a:r>
            <a:endParaRPr sz="2000">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34"/>
          <p:cNvSpPr txBox="1"/>
          <p:nvPr>
            <p:ph type="title"/>
          </p:nvPr>
        </p:nvSpPr>
        <p:spPr>
          <a:xfrm>
            <a:off x="304800" y="228600"/>
            <a:ext cx="7498080" cy="3349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pic>
        <p:nvPicPr>
          <p:cNvPr id="963" name="Google Shape;963;p134"/>
          <p:cNvPicPr preferRelativeResize="0"/>
          <p:nvPr>
            <p:ph idx="1" type="body"/>
          </p:nvPr>
        </p:nvPicPr>
        <p:blipFill rotWithShape="1">
          <a:blip r:embed="rId3">
            <a:alphaModFix/>
          </a:blip>
          <a:srcRect b="0" l="0" r="0" t="0"/>
          <a:stretch/>
        </p:blipFill>
        <p:spPr>
          <a:xfrm>
            <a:off x="304800" y="762000"/>
            <a:ext cx="3886200" cy="4540500"/>
          </a:xfrm>
          <a:prstGeom prst="rect">
            <a:avLst/>
          </a:prstGeom>
          <a:noFill/>
          <a:ln>
            <a:noFill/>
          </a:ln>
        </p:spPr>
      </p:pic>
      <p:sp>
        <p:nvSpPr>
          <p:cNvPr id="964" name="Google Shape;964;p134"/>
          <p:cNvSpPr txBox="1"/>
          <p:nvPr/>
        </p:nvSpPr>
        <p:spPr>
          <a:xfrm>
            <a:off x="6579000" y="1766175"/>
            <a:ext cx="4953000" cy="47100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Multiplexer (data selector) is provided that serves as a </a:t>
            </a:r>
            <a:r>
              <a:rPr lang="en-US" sz="2000">
                <a:solidFill>
                  <a:srgbClr val="FF0000"/>
                </a:solidFill>
                <a:latin typeface="Times New Roman"/>
                <a:ea typeface="Times New Roman"/>
                <a:cs typeface="Times New Roman"/>
                <a:sym typeface="Times New Roman"/>
              </a:rPr>
              <a:t>destination for both address fields plus the instruction register</a:t>
            </a:r>
            <a:r>
              <a:rPr lang="en-US" sz="2000">
                <a:solidFill>
                  <a:schemeClr val="dk1"/>
                </a:solidFill>
                <a:latin typeface="Times New Roman"/>
                <a:ea typeface="Times New Roman"/>
                <a:cs typeface="Times New Roman"/>
                <a:sym typeface="Times New Roman"/>
              </a:rPr>
              <a:t>.</a:t>
            </a:r>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Based on an address-selection input, the multiplexer transmits either the </a:t>
            </a:r>
            <a:r>
              <a:rPr lang="en-US" sz="2000">
                <a:solidFill>
                  <a:srgbClr val="922122"/>
                </a:solidFill>
                <a:latin typeface="Times New Roman"/>
                <a:ea typeface="Times New Roman"/>
                <a:cs typeface="Times New Roman"/>
                <a:sym typeface="Times New Roman"/>
              </a:rPr>
              <a:t>opcode or one of the two addresses to the control address register (CAR).</a:t>
            </a:r>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a:t>
            </a:r>
            <a:r>
              <a:rPr lang="en-US" sz="2000">
                <a:solidFill>
                  <a:srgbClr val="0070C0"/>
                </a:solidFill>
                <a:latin typeface="Times New Roman"/>
                <a:ea typeface="Times New Roman"/>
                <a:cs typeface="Times New Roman"/>
                <a:sym typeface="Times New Roman"/>
              </a:rPr>
              <a:t>CAR</a:t>
            </a:r>
            <a:r>
              <a:rPr lang="en-US" sz="2000">
                <a:solidFill>
                  <a:schemeClr val="dk1"/>
                </a:solidFill>
                <a:latin typeface="Times New Roman"/>
                <a:ea typeface="Times New Roman"/>
                <a:cs typeface="Times New Roman"/>
                <a:sym typeface="Times New Roman"/>
              </a:rPr>
              <a:t> is subsequently </a:t>
            </a:r>
            <a:r>
              <a:rPr lang="en-US" sz="2000">
                <a:solidFill>
                  <a:srgbClr val="0070C0"/>
                </a:solidFill>
                <a:latin typeface="Times New Roman"/>
                <a:ea typeface="Times New Roman"/>
                <a:cs typeface="Times New Roman"/>
                <a:sym typeface="Times New Roman"/>
              </a:rPr>
              <a:t>decoded to produce the next microinstruction address</a:t>
            </a:r>
            <a:r>
              <a:rPr lang="en-US" sz="2000">
                <a:solidFill>
                  <a:schemeClr val="dk1"/>
                </a:solidFill>
                <a:latin typeface="Times New Roman"/>
                <a:ea typeface="Times New Roman"/>
                <a:cs typeface="Times New Roman"/>
                <a:sym typeface="Times New Roman"/>
              </a:rPr>
              <a:t>.</a:t>
            </a:r>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address-selection signals are provided by a </a:t>
            </a:r>
            <a:r>
              <a:rPr lang="en-US" sz="2000">
                <a:solidFill>
                  <a:srgbClr val="7030A0"/>
                </a:solidFill>
                <a:latin typeface="Times New Roman"/>
                <a:ea typeface="Times New Roman"/>
                <a:cs typeface="Times New Roman"/>
                <a:sym typeface="Times New Roman"/>
              </a:rPr>
              <a:t>branch logic </a:t>
            </a:r>
            <a:r>
              <a:rPr lang="en-US" sz="2000">
                <a:solidFill>
                  <a:schemeClr val="dk1"/>
                </a:solidFill>
                <a:latin typeface="Times New Roman"/>
                <a:ea typeface="Times New Roman"/>
                <a:cs typeface="Times New Roman"/>
                <a:sym typeface="Times New Roman"/>
              </a:rPr>
              <a:t>module whose </a:t>
            </a:r>
            <a:r>
              <a:rPr lang="en-US" sz="2000">
                <a:solidFill>
                  <a:srgbClr val="7030A0"/>
                </a:solidFill>
                <a:latin typeface="Times New Roman"/>
                <a:ea typeface="Times New Roman"/>
                <a:cs typeface="Times New Roman"/>
                <a:sym typeface="Times New Roman"/>
              </a:rPr>
              <a:t>input consists of control unit flags plus bits from the control portion of the microinstruction</a:t>
            </a:r>
            <a:r>
              <a:rPr lang="en-US" sz="2000">
                <a:solidFill>
                  <a:schemeClr val="dk1"/>
                </a:solidFill>
                <a:latin typeface="Times New Roman"/>
                <a:ea typeface="Times New Roman"/>
                <a:cs typeface="Times New Roman"/>
                <a:sym typeface="Times New Roman"/>
              </a:rPr>
              <a:t>.</a:t>
            </a:r>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Simple and it requires more bits in the microinstruction than other approaches</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35"/>
          <p:cNvSpPr txBox="1"/>
          <p:nvPr>
            <p:ph type="title"/>
          </p:nvPr>
        </p:nvSpPr>
        <p:spPr>
          <a:xfrm>
            <a:off x="685800" y="381000"/>
            <a:ext cx="749808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Address Generation</a:t>
            </a:r>
            <a:endParaRPr/>
          </a:p>
        </p:txBody>
      </p:sp>
      <p:pic>
        <p:nvPicPr>
          <p:cNvPr id="970" name="Google Shape;970;p135"/>
          <p:cNvPicPr preferRelativeResize="0"/>
          <p:nvPr>
            <p:ph idx="1" type="body"/>
          </p:nvPr>
        </p:nvPicPr>
        <p:blipFill rotWithShape="1">
          <a:blip r:embed="rId3">
            <a:alphaModFix/>
          </a:blip>
          <a:srcRect b="0" l="0" r="0" t="0"/>
          <a:stretch/>
        </p:blipFill>
        <p:spPr>
          <a:xfrm>
            <a:off x="1600200" y="838200"/>
            <a:ext cx="5245370" cy="2000353"/>
          </a:xfrm>
          <a:prstGeom prst="rect">
            <a:avLst/>
          </a:prstGeom>
          <a:noFill/>
          <a:ln>
            <a:noFill/>
          </a:ln>
        </p:spPr>
      </p:pic>
      <p:sp>
        <p:nvSpPr>
          <p:cNvPr id="971" name="Google Shape;971;p135"/>
          <p:cNvSpPr txBox="1"/>
          <p:nvPr/>
        </p:nvSpPr>
        <p:spPr>
          <a:xfrm>
            <a:off x="914400" y="3048000"/>
            <a:ext cx="7924800" cy="2862322"/>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C00000"/>
              </a:buClr>
              <a:buSzPts val="1800"/>
              <a:buFont typeface="Arial"/>
              <a:buChar char="•"/>
            </a:pPr>
            <a:r>
              <a:rPr lang="en-US" sz="1800">
                <a:solidFill>
                  <a:srgbClr val="C00000"/>
                </a:solidFill>
                <a:latin typeface="Times New Roman"/>
                <a:ea typeface="Times New Roman"/>
                <a:cs typeface="Times New Roman"/>
                <a:sym typeface="Times New Roman"/>
              </a:rPr>
              <a:t>explicit techniques</a:t>
            </a:r>
            <a:r>
              <a:rPr lang="en-US" sz="1800">
                <a:solidFill>
                  <a:schemeClr val="dk1"/>
                </a:solidFill>
                <a:latin typeface="Times New Roman"/>
                <a:ea typeface="Times New Roman"/>
                <a:cs typeface="Times New Roman"/>
                <a:sym typeface="Times New Roman"/>
              </a:rPr>
              <a:t>, in which the </a:t>
            </a:r>
            <a:r>
              <a:rPr lang="en-US" sz="1800">
                <a:solidFill>
                  <a:schemeClr val="accent3"/>
                </a:solidFill>
                <a:latin typeface="Times New Roman"/>
                <a:ea typeface="Times New Roman"/>
                <a:cs typeface="Times New Roman"/>
                <a:sym typeface="Times New Roman"/>
              </a:rPr>
              <a:t>address is explicitly available in the microinstruction,</a:t>
            </a:r>
            <a:r>
              <a:rPr lang="en-US" sz="1800">
                <a:solidFill>
                  <a:schemeClr val="dk1"/>
                </a:solidFill>
                <a:latin typeface="Times New Roman"/>
                <a:ea typeface="Times New Roman"/>
                <a:cs typeface="Times New Roman"/>
                <a:sym typeface="Times New Roman"/>
              </a:rPr>
              <a:t> and </a:t>
            </a:r>
            <a:r>
              <a:rPr lang="en-US" sz="1800">
                <a:solidFill>
                  <a:srgbClr val="00B050"/>
                </a:solidFill>
                <a:latin typeface="Times New Roman"/>
                <a:ea typeface="Times New Roman"/>
                <a:cs typeface="Times New Roman"/>
                <a:sym typeface="Times New Roman"/>
              </a:rPr>
              <a:t>implicit techniques</a:t>
            </a:r>
            <a:r>
              <a:rPr lang="en-US" sz="1800">
                <a:solidFill>
                  <a:schemeClr val="dk1"/>
                </a:solidFill>
                <a:latin typeface="Times New Roman"/>
                <a:ea typeface="Times New Roman"/>
                <a:cs typeface="Times New Roman"/>
                <a:sym typeface="Times New Roman"/>
              </a:rPr>
              <a:t>, which </a:t>
            </a:r>
            <a:r>
              <a:rPr lang="en-US" sz="1800">
                <a:solidFill>
                  <a:srgbClr val="00B050"/>
                </a:solidFill>
                <a:latin typeface="Times New Roman"/>
                <a:ea typeface="Times New Roman"/>
                <a:cs typeface="Times New Roman"/>
                <a:sym typeface="Times New Roman"/>
              </a:rPr>
              <a:t>require additional logic to generate the address.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With a two-field approach, two alternative addresses are available with each microinstruction</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conditional branch instruction depends on the following types of information:</a:t>
            </a:r>
            <a:endParaRPr/>
          </a:p>
          <a:p>
            <a:pPr indent="0" lvl="1" marL="457200" marR="0" rtl="0" algn="just">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ALU flags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Part of the opcode or address mode fields of the machine instruction</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Parts of a selected register, such as the sign bit</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Status bits within the control unit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36"/>
          <p:cNvSpPr txBox="1"/>
          <p:nvPr>
            <p:ph type="title"/>
          </p:nvPr>
        </p:nvSpPr>
        <p:spPr>
          <a:xfrm>
            <a:off x="304800" y="274638"/>
            <a:ext cx="8628888" cy="3349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977" name="Google Shape;977;p136"/>
          <p:cNvSpPr txBox="1"/>
          <p:nvPr>
            <p:ph idx="1" type="body"/>
          </p:nvPr>
        </p:nvSpPr>
        <p:spPr>
          <a:xfrm>
            <a:off x="228600" y="914400"/>
            <a:ext cx="8705088" cy="53340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b="1" lang="en-US" sz="2400">
                <a:latin typeface="Times New Roman"/>
                <a:ea typeface="Times New Roman"/>
                <a:cs typeface="Times New Roman"/>
                <a:sym typeface="Times New Roman"/>
              </a:rPr>
              <a:t>Mapping</a:t>
            </a:r>
            <a:r>
              <a:rPr lang="en-US" sz="2400">
                <a:latin typeface="Times New Roman"/>
                <a:ea typeface="Times New Roman"/>
                <a:cs typeface="Times New Roman"/>
                <a:sym typeface="Times New Roman"/>
              </a:rPr>
              <a:t>, is required with virtually all designs-The opcode portion of a machine instruction is mapped into a microinstruction address ( occurs only once per instruction cycle)</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Addition</a:t>
            </a:r>
            <a:r>
              <a:rPr lang="en-US" sz="2400">
                <a:latin typeface="Times New Roman"/>
                <a:ea typeface="Times New Roman"/>
                <a:cs typeface="Times New Roman"/>
                <a:sym typeface="Times New Roman"/>
              </a:rPr>
              <a:t>-combining or adding two portions of an address to form the complete address.</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Residual control-</a:t>
            </a:r>
            <a:r>
              <a:rPr lang="en-US" sz="2400">
                <a:latin typeface="Times New Roman"/>
                <a:ea typeface="Times New Roman"/>
                <a:cs typeface="Times New Roman"/>
                <a:sym typeface="Times New Roman"/>
              </a:rPr>
              <a:t>use</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of a microinstruction address that has previously been saved in temporary storage within the control unit</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37"/>
          <p:cNvSpPr txBox="1"/>
          <p:nvPr>
            <p:ph type="title"/>
          </p:nvPr>
        </p:nvSpPr>
        <p:spPr>
          <a:xfrm>
            <a:off x="181350" y="244688"/>
            <a:ext cx="8781300" cy="5637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Microinstruction execution</a:t>
            </a:r>
            <a:endParaRPr/>
          </a:p>
        </p:txBody>
      </p:sp>
      <p:sp>
        <p:nvSpPr>
          <p:cNvPr id="983" name="Google Shape;983;p137"/>
          <p:cNvSpPr txBox="1"/>
          <p:nvPr>
            <p:ph idx="1" type="body"/>
          </p:nvPr>
        </p:nvSpPr>
        <p:spPr>
          <a:xfrm>
            <a:off x="257550" y="1036850"/>
            <a:ext cx="787920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control logic module </a:t>
            </a:r>
            <a:r>
              <a:rPr b="1" lang="en-US" sz="2400">
                <a:latin typeface="Times New Roman"/>
                <a:ea typeface="Times New Roman"/>
                <a:cs typeface="Times New Roman"/>
                <a:sym typeface="Times New Roman"/>
              </a:rPr>
              <a:t>generates control signals </a:t>
            </a:r>
            <a:r>
              <a:rPr lang="en-US" sz="2400">
                <a:latin typeface="Times New Roman"/>
                <a:ea typeface="Times New Roman"/>
                <a:cs typeface="Times New Roman"/>
                <a:sym typeface="Times New Roman"/>
              </a:rPr>
              <a:t>as a function of some of the bits in the microinstruction</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execution of a microinstruction is to </a:t>
            </a:r>
            <a:r>
              <a:rPr b="1" lang="en-US" sz="2400">
                <a:latin typeface="Times New Roman"/>
                <a:ea typeface="Times New Roman"/>
                <a:cs typeface="Times New Roman"/>
                <a:sym typeface="Times New Roman"/>
              </a:rPr>
              <a:t>generate control signals. </a:t>
            </a:r>
            <a:endParaRPr b="1"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Some of these signals control points internal to the processor.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The remaining signals go to the external control bus or other external interface</a:t>
            </a:r>
            <a:endParaRPr sz="2400">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3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Figure 16.10 </a:t>
            </a:r>
            <a:r>
              <a:rPr lang="en-US"/>
              <a:t>Control Unit Organization</a:t>
            </a:r>
            <a:endParaRPr/>
          </a:p>
        </p:txBody>
      </p:sp>
      <p:pic>
        <p:nvPicPr>
          <p:cNvPr id="989" name="Google Shape;989;p138"/>
          <p:cNvPicPr preferRelativeResize="0"/>
          <p:nvPr>
            <p:ph idx="1" type="body"/>
          </p:nvPr>
        </p:nvPicPr>
        <p:blipFill rotWithShape="1">
          <a:blip r:embed="rId3">
            <a:alphaModFix/>
          </a:blip>
          <a:srcRect b="0" l="0" r="0" t="0"/>
          <a:stretch/>
        </p:blipFill>
        <p:spPr>
          <a:xfrm>
            <a:off x="2602592" y="1447800"/>
            <a:ext cx="5164500" cy="48006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3" name="Shape 993"/>
        <p:cNvGrpSpPr/>
        <p:nvPr/>
      </p:nvGrpSpPr>
      <p:grpSpPr>
        <a:xfrm>
          <a:off x="0" y="0"/>
          <a:ext cx="0" cy="0"/>
          <a:chOff x="0" y="0"/>
          <a:chExt cx="0" cy="0"/>
        </a:xfrm>
      </p:grpSpPr>
      <p:sp>
        <p:nvSpPr>
          <p:cNvPr id="994" name="Google Shape;994;p139"/>
          <p:cNvSpPr txBox="1"/>
          <p:nvPr>
            <p:ph type="title"/>
          </p:nvPr>
        </p:nvSpPr>
        <p:spPr>
          <a:xfrm>
            <a:off x="1874901" y="526477"/>
            <a:ext cx="5394960" cy="567463"/>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11478A"/>
              </a:buClr>
              <a:buSzPts val="3600"/>
              <a:buFont typeface="Times New Roman"/>
              <a:buNone/>
            </a:pPr>
            <a:r>
              <a:rPr b="0" lang="en-US" sz="3600">
                <a:solidFill>
                  <a:srgbClr val="11478A"/>
                </a:solidFill>
                <a:latin typeface="Times New Roman"/>
                <a:ea typeface="Times New Roman"/>
                <a:cs typeface="Times New Roman"/>
                <a:sym typeface="Times New Roman"/>
              </a:rPr>
              <a:t>Micro-instruction Types</a:t>
            </a:r>
            <a:endParaRPr sz="3600">
              <a:latin typeface="Times New Roman"/>
              <a:ea typeface="Times New Roman"/>
              <a:cs typeface="Times New Roman"/>
              <a:sym typeface="Times New Roman"/>
            </a:endParaRPr>
          </a:p>
        </p:txBody>
      </p:sp>
      <p:sp>
        <p:nvSpPr>
          <p:cNvPr id="995" name="Google Shape;995;p139"/>
          <p:cNvSpPr txBox="1"/>
          <p:nvPr/>
        </p:nvSpPr>
        <p:spPr>
          <a:xfrm>
            <a:off x="161036" y="1302512"/>
            <a:ext cx="8100695" cy="3709862"/>
          </a:xfrm>
          <a:prstGeom prst="rect">
            <a:avLst/>
          </a:prstGeom>
          <a:noFill/>
          <a:ln>
            <a:noFill/>
          </a:ln>
        </p:spPr>
        <p:txBody>
          <a:bodyPr anchorCtr="0" anchor="t" bIns="0" lIns="0" spcFirstLastPara="1" rIns="0" wrap="square" tIns="13325">
            <a:spAutoFit/>
          </a:bodyPr>
          <a:lstStyle/>
          <a:p>
            <a:pPr indent="-283844" lvl="0" marL="295910" marR="0" rtl="0" algn="just">
              <a:lnSpc>
                <a:spcPct val="100000"/>
              </a:lnSpc>
              <a:spcBef>
                <a:spcPts val="0"/>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Each micro-instruction specifies many </a:t>
            </a:r>
            <a:r>
              <a:rPr b="1" lang="en-US" sz="2400">
                <a:solidFill>
                  <a:schemeClr val="dk1"/>
                </a:solidFill>
                <a:latin typeface="Times New Roman"/>
                <a:ea typeface="Times New Roman"/>
                <a:cs typeface="Times New Roman"/>
                <a:sym typeface="Times New Roman"/>
              </a:rPr>
              <a:t>different</a:t>
            </a:r>
            <a:r>
              <a:rPr lang="en-US" sz="2400">
                <a:solidFill>
                  <a:schemeClr val="dk1"/>
                </a:solidFill>
                <a:latin typeface="Times New Roman"/>
                <a:ea typeface="Times New Roman"/>
                <a:cs typeface="Times New Roman"/>
                <a:sym typeface="Times New Roman"/>
              </a:rPr>
              <a:t> micro-operations to be performed in </a:t>
            </a:r>
            <a:r>
              <a:rPr b="1" lang="en-US" sz="2400">
                <a:solidFill>
                  <a:srgbClr val="FF0000"/>
                </a:solidFill>
                <a:latin typeface="Times New Roman"/>
                <a:ea typeface="Times New Roman"/>
                <a:cs typeface="Times New Roman"/>
                <a:sym typeface="Times New Roman"/>
              </a:rPr>
              <a:t>parallel</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238125" lvl="1" marL="570230" marR="0" rtl="0" algn="just">
              <a:lnSpc>
                <a:spcPct val="100000"/>
              </a:lnSpc>
              <a:spcBef>
                <a:spcPts val="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a:t>
            </a:r>
            <a:r>
              <a:rPr b="1" i="1" lang="en-US" sz="2400" u="none" cap="none" strike="noStrike">
                <a:solidFill>
                  <a:srgbClr val="FF0000"/>
                </a:solidFill>
                <a:latin typeface="Times New Roman"/>
                <a:ea typeface="Times New Roman"/>
                <a:cs typeface="Times New Roman"/>
                <a:sym typeface="Times New Roman"/>
              </a:rPr>
              <a:t>horizontal </a:t>
            </a:r>
            <a:r>
              <a:rPr b="1" i="0" lang="en-US" sz="2400" u="none" cap="none" strike="noStrike">
                <a:solidFill>
                  <a:srgbClr val="FF0000"/>
                </a:solidFill>
                <a:latin typeface="Times New Roman"/>
                <a:ea typeface="Times New Roman"/>
                <a:cs typeface="Times New Roman"/>
                <a:sym typeface="Times New Roman"/>
              </a:rPr>
              <a:t>micro-programming</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283844" lvl="0" marL="295910" marR="113029" rtl="0" algn="just">
              <a:lnSpc>
                <a:spcPct val="190100"/>
              </a:lnSpc>
              <a:spcBef>
                <a:spcPts val="615"/>
              </a:spcBef>
              <a:spcAft>
                <a:spcPts val="0"/>
              </a:spcAft>
              <a:buClr>
                <a:schemeClr val="dk1"/>
              </a:buClr>
              <a:buSzPts val="2400"/>
              <a:buFont typeface="Quattrocento Sans"/>
              <a:buChar char="⚫"/>
            </a:pPr>
            <a:r>
              <a:rPr lang="en-US" sz="2400">
                <a:solidFill>
                  <a:schemeClr val="dk1"/>
                </a:solidFill>
                <a:latin typeface="Times New Roman"/>
                <a:ea typeface="Times New Roman"/>
                <a:cs typeface="Times New Roman"/>
                <a:sym typeface="Times New Roman"/>
              </a:rPr>
              <a:t>Each micro-instruction specifies </a:t>
            </a:r>
            <a:r>
              <a:rPr b="1" lang="en-US" sz="2400">
                <a:solidFill>
                  <a:schemeClr val="dk1"/>
                </a:solidFill>
                <a:latin typeface="Times New Roman"/>
                <a:ea typeface="Times New Roman"/>
                <a:cs typeface="Times New Roman"/>
                <a:sym typeface="Times New Roman"/>
              </a:rPr>
              <a:t>single </a:t>
            </a:r>
            <a:r>
              <a:rPr lang="en-US" sz="2400">
                <a:solidFill>
                  <a:schemeClr val="dk1"/>
                </a:solidFill>
                <a:latin typeface="Times New Roman"/>
                <a:ea typeface="Times New Roman"/>
                <a:cs typeface="Times New Roman"/>
                <a:sym typeface="Times New Roman"/>
              </a:rPr>
              <a:t>(or few)  micro operations to be performed</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Quattrocento Sans"/>
              <a:buNone/>
            </a:pPr>
            <a:r>
              <a:t/>
            </a:r>
            <a:endParaRPr sz="2400">
              <a:solidFill>
                <a:schemeClr val="dk1"/>
              </a:solidFill>
              <a:latin typeface="Times New Roman"/>
              <a:ea typeface="Times New Roman"/>
              <a:cs typeface="Times New Roman"/>
              <a:sym typeface="Times New Roman"/>
            </a:endParaRPr>
          </a:p>
          <a:p>
            <a:pPr indent="-319404" lvl="1" marL="651510" marR="0" rtl="0" algn="just">
              <a:lnSpc>
                <a:spcPct val="100000"/>
              </a:lnSpc>
              <a:spcBef>
                <a:spcPts val="0"/>
              </a:spcBef>
              <a:spcAft>
                <a:spcPts val="0"/>
              </a:spcAft>
              <a:buClr>
                <a:schemeClr val="dk1"/>
              </a:buClr>
              <a:buSzPts val="2400"/>
              <a:buFont typeface="Verdana"/>
              <a:buChar char="◦"/>
            </a:pPr>
            <a:r>
              <a:rPr b="0" i="0" lang="en-US" sz="2400" u="none" cap="none" strike="noStrike">
                <a:solidFill>
                  <a:schemeClr val="dk1"/>
                </a:solidFill>
                <a:latin typeface="Times New Roman"/>
                <a:ea typeface="Times New Roman"/>
                <a:cs typeface="Times New Roman"/>
                <a:sym typeface="Times New Roman"/>
              </a:rPr>
              <a:t>(</a:t>
            </a:r>
            <a:r>
              <a:rPr b="1" i="1" lang="en-US" sz="2400" u="none" cap="none" strike="noStrike">
                <a:solidFill>
                  <a:srgbClr val="FF0000"/>
                </a:solidFill>
                <a:latin typeface="Times New Roman"/>
                <a:ea typeface="Times New Roman"/>
                <a:cs typeface="Times New Roman"/>
                <a:sym typeface="Times New Roman"/>
              </a:rPr>
              <a:t>vertical </a:t>
            </a:r>
            <a:r>
              <a:rPr b="1" i="0" lang="en-US" sz="2400" u="none" cap="none" strike="noStrike">
                <a:solidFill>
                  <a:srgbClr val="FF0000"/>
                </a:solidFill>
                <a:latin typeface="Times New Roman"/>
                <a:ea typeface="Times New Roman"/>
                <a:cs typeface="Times New Roman"/>
                <a:sym typeface="Times New Roman"/>
              </a:rPr>
              <a:t>micro-programming</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9" name="Shape 999"/>
        <p:cNvGrpSpPr/>
        <p:nvPr/>
      </p:nvGrpSpPr>
      <p:grpSpPr>
        <a:xfrm>
          <a:off x="0" y="0"/>
          <a:ext cx="0" cy="0"/>
          <a:chOff x="0" y="0"/>
          <a:chExt cx="0" cy="0"/>
        </a:xfrm>
      </p:grpSpPr>
      <p:sp>
        <p:nvSpPr>
          <p:cNvPr id="1000" name="Google Shape;1000;p140"/>
          <p:cNvSpPr txBox="1"/>
          <p:nvPr>
            <p:ph type="title"/>
          </p:nvPr>
        </p:nvSpPr>
        <p:spPr>
          <a:xfrm>
            <a:off x="1766442" y="188722"/>
            <a:ext cx="6770370" cy="63500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11478A"/>
              </a:buClr>
              <a:buSzPts val="4300"/>
              <a:buFont typeface="Calibri"/>
              <a:buNone/>
            </a:pPr>
            <a:r>
              <a:rPr b="0" lang="en-US">
                <a:solidFill>
                  <a:srgbClr val="11478A"/>
                </a:solidFill>
                <a:latin typeface="Calibri"/>
                <a:ea typeface="Calibri"/>
                <a:cs typeface="Calibri"/>
                <a:sym typeface="Calibri"/>
              </a:rPr>
              <a:t>Typical Microinstruction Formats</a:t>
            </a:r>
            <a:endParaRPr/>
          </a:p>
        </p:txBody>
      </p:sp>
      <p:pic>
        <p:nvPicPr>
          <p:cNvPr id="1001" name="Google Shape;1001;p140"/>
          <p:cNvPicPr preferRelativeResize="0"/>
          <p:nvPr/>
        </p:nvPicPr>
        <p:blipFill rotWithShape="1">
          <a:blip r:embed="rId3">
            <a:alphaModFix/>
          </a:blip>
          <a:srcRect b="0" l="0" r="0" t="0"/>
          <a:stretch/>
        </p:blipFill>
        <p:spPr>
          <a:xfrm>
            <a:off x="0" y="1119187"/>
            <a:ext cx="9144001" cy="5470003"/>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41"/>
          <p:cNvSpPr txBox="1"/>
          <p:nvPr>
            <p:ph type="title"/>
          </p:nvPr>
        </p:nvSpPr>
        <p:spPr>
          <a:xfrm>
            <a:off x="381000" y="274638"/>
            <a:ext cx="85526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Horizontal microinstruction</a:t>
            </a:r>
            <a:endParaRPr/>
          </a:p>
        </p:txBody>
      </p:sp>
      <p:sp>
        <p:nvSpPr>
          <p:cNvPr id="1007" name="Google Shape;1007;p141"/>
          <p:cNvSpPr txBox="1"/>
          <p:nvPr>
            <p:ph idx="1" type="body"/>
          </p:nvPr>
        </p:nvSpPr>
        <p:spPr>
          <a:xfrm>
            <a:off x="381000" y="990600"/>
            <a:ext cx="8564880" cy="4800600"/>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just">
              <a:lnSpc>
                <a:spcPct val="100000"/>
              </a:lnSpc>
              <a:spcBef>
                <a:spcPts val="0"/>
              </a:spcBef>
              <a:spcAft>
                <a:spcPts val="0"/>
              </a:spcAft>
              <a:buSzPct val="80000"/>
              <a:buChar char="⚫"/>
            </a:pPr>
            <a:r>
              <a:rPr lang="en-US" sz="2400">
                <a:latin typeface="Times New Roman"/>
                <a:ea typeface="Times New Roman"/>
                <a:cs typeface="Times New Roman"/>
                <a:sym typeface="Times New Roman"/>
              </a:rPr>
              <a:t>There is one bit for each internal processor </a:t>
            </a:r>
            <a:r>
              <a:rPr b="1" lang="en-US" sz="2400">
                <a:latin typeface="Times New Roman"/>
                <a:ea typeface="Times New Roman"/>
                <a:cs typeface="Times New Roman"/>
                <a:sym typeface="Times New Roman"/>
              </a:rPr>
              <a:t>control line and one bit for each system bus control line. </a:t>
            </a:r>
            <a:endParaRPr b="1"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ct val="80000"/>
              <a:buChar char="⚫"/>
            </a:pPr>
            <a:r>
              <a:rPr lang="en-US" sz="2400">
                <a:latin typeface="Times New Roman"/>
                <a:ea typeface="Times New Roman"/>
                <a:cs typeface="Times New Roman"/>
                <a:sym typeface="Times New Roman"/>
              </a:rPr>
              <a:t>There is a </a:t>
            </a:r>
            <a:r>
              <a:rPr lang="en-US" sz="2400">
                <a:solidFill>
                  <a:srgbClr val="FF0000"/>
                </a:solidFill>
                <a:latin typeface="Times New Roman"/>
                <a:ea typeface="Times New Roman"/>
                <a:cs typeface="Times New Roman"/>
                <a:sym typeface="Times New Roman"/>
              </a:rPr>
              <a:t>condition field </a:t>
            </a:r>
            <a:r>
              <a:rPr lang="en-US" sz="2400">
                <a:latin typeface="Times New Roman"/>
                <a:ea typeface="Times New Roman"/>
                <a:cs typeface="Times New Roman"/>
                <a:sym typeface="Times New Roman"/>
              </a:rPr>
              <a:t>indicating the condition under which there should be a branch, and there is a </a:t>
            </a:r>
            <a:r>
              <a:rPr lang="en-US" sz="2400">
                <a:solidFill>
                  <a:srgbClr val="00B050"/>
                </a:solidFill>
                <a:latin typeface="Times New Roman"/>
                <a:ea typeface="Times New Roman"/>
                <a:cs typeface="Times New Roman"/>
                <a:sym typeface="Times New Roman"/>
              </a:rPr>
              <a:t>field with the address of the microinstruction to be executed next when a branch is taken</a:t>
            </a:r>
            <a:endParaRPr/>
          </a:p>
          <a:p>
            <a:pPr indent="-179832"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0" lvl="0" marL="82296" rtl="0" algn="just">
              <a:lnSpc>
                <a:spcPct val="100000"/>
              </a:lnSpc>
              <a:spcBef>
                <a:spcPts val="600"/>
              </a:spcBef>
              <a:spcAft>
                <a:spcPts val="0"/>
              </a:spcAft>
              <a:buSzPct val="80000"/>
              <a:buNone/>
            </a:pPr>
            <a:r>
              <a:rPr lang="en-US" sz="2400">
                <a:latin typeface="Times New Roman"/>
                <a:ea typeface="Times New Roman"/>
                <a:cs typeface="Times New Roman"/>
                <a:sym typeface="Times New Roman"/>
              </a:rPr>
              <a:t>1. To execute this microinstruction, turn on all the control lines indicated by a 1 bit; leave off all control lines indicated by a 0 bit.</a:t>
            </a:r>
            <a:endParaRPr/>
          </a:p>
          <a:p>
            <a:pPr indent="-283464" lvl="0" marL="365760" rtl="0" algn="just">
              <a:lnSpc>
                <a:spcPct val="100000"/>
              </a:lnSpc>
              <a:spcBef>
                <a:spcPts val="600"/>
              </a:spcBef>
              <a:spcAft>
                <a:spcPts val="0"/>
              </a:spcAft>
              <a:buSzPct val="80000"/>
              <a:buChar char="⚫"/>
            </a:pPr>
            <a:r>
              <a:rPr lang="en-US" sz="2400">
                <a:latin typeface="Times New Roman"/>
                <a:ea typeface="Times New Roman"/>
                <a:cs typeface="Times New Roman"/>
                <a:sym typeface="Times New Roman"/>
              </a:rPr>
              <a:t>The resulting control signals will cause one or more micro-operations to be performed.</a:t>
            </a:r>
            <a:endParaRPr/>
          </a:p>
          <a:p>
            <a:pPr indent="-179832" lvl="0" marL="365760"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0" lvl="0" marL="82296" rtl="0" algn="just">
              <a:lnSpc>
                <a:spcPct val="100000"/>
              </a:lnSpc>
              <a:spcBef>
                <a:spcPts val="600"/>
              </a:spcBef>
              <a:spcAft>
                <a:spcPts val="0"/>
              </a:spcAft>
              <a:buSzPct val="80000"/>
              <a:buNone/>
            </a:pPr>
            <a:r>
              <a:rPr lang="en-US" sz="2400">
                <a:latin typeface="Times New Roman"/>
                <a:ea typeface="Times New Roman"/>
                <a:cs typeface="Times New Roman"/>
                <a:sym typeface="Times New Roman"/>
              </a:rPr>
              <a:t>2. If the condition indicated by the condition bits is false, execute the next microinstruction in sequence.</a:t>
            </a:r>
            <a:endParaRPr/>
          </a:p>
          <a:p>
            <a:pPr indent="0" lvl="0" marL="82296" rtl="0" algn="just">
              <a:lnSpc>
                <a:spcPct val="100000"/>
              </a:lnSpc>
              <a:spcBef>
                <a:spcPts val="600"/>
              </a:spcBef>
              <a:spcAft>
                <a:spcPts val="0"/>
              </a:spcAft>
              <a:buSzPct val="80000"/>
              <a:buNone/>
            </a:pPr>
            <a:r>
              <a:t/>
            </a:r>
            <a:endParaRPr sz="2400">
              <a:latin typeface="Times New Roman"/>
              <a:ea typeface="Times New Roman"/>
              <a:cs typeface="Times New Roman"/>
              <a:sym typeface="Times New Roman"/>
            </a:endParaRPr>
          </a:p>
          <a:p>
            <a:pPr indent="0" lvl="0" marL="82296" rtl="0" algn="just">
              <a:lnSpc>
                <a:spcPct val="100000"/>
              </a:lnSpc>
              <a:spcBef>
                <a:spcPts val="600"/>
              </a:spcBef>
              <a:spcAft>
                <a:spcPts val="0"/>
              </a:spcAft>
              <a:buSzPct val="80000"/>
              <a:buNone/>
            </a:pPr>
            <a:r>
              <a:rPr lang="en-US" sz="2400">
                <a:latin typeface="Times New Roman"/>
                <a:ea typeface="Times New Roman"/>
                <a:cs typeface="Times New Roman"/>
                <a:sym typeface="Times New Roman"/>
              </a:rPr>
              <a:t>3. If the condition indicated by the condition bits is true, the next microinstruction to be executed is indicated in the address field.</a:t>
            </a:r>
            <a:endParaRPr sz="2400">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1" name="Shape 1011"/>
        <p:cNvGrpSpPr/>
        <p:nvPr/>
      </p:nvGrpSpPr>
      <p:grpSpPr>
        <a:xfrm>
          <a:off x="0" y="0"/>
          <a:ext cx="0" cy="0"/>
          <a:chOff x="0" y="0"/>
          <a:chExt cx="0" cy="0"/>
        </a:xfrm>
      </p:grpSpPr>
      <p:sp>
        <p:nvSpPr>
          <p:cNvPr id="1012" name="Google Shape;1012;p142"/>
          <p:cNvSpPr txBox="1"/>
          <p:nvPr/>
        </p:nvSpPr>
        <p:spPr>
          <a:xfrm>
            <a:off x="457201" y="631063"/>
            <a:ext cx="8001000" cy="2946961"/>
          </a:xfrm>
          <a:prstGeom prst="rect">
            <a:avLst/>
          </a:prstGeom>
          <a:noFill/>
          <a:ln>
            <a:noFill/>
          </a:ln>
        </p:spPr>
        <p:txBody>
          <a:bodyPr anchorCtr="0" anchor="t" bIns="0" lIns="0" spcFirstLastPara="1" rIns="0" wrap="square" tIns="12700">
            <a:spAutoFit/>
          </a:bodyPr>
          <a:lstStyle/>
          <a:p>
            <a:pPr indent="0" lvl="0" marL="139700" marR="0" rtl="0" algn="ctr">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Vertical Micro-programming</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5"/>
              </a:spcBef>
              <a:spcAft>
                <a:spcPts val="0"/>
              </a:spcAft>
              <a:buNone/>
            </a:pPr>
            <a:r>
              <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Width </a:t>
            </a:r>
            <a:r>
              <a:rPr lang="en-US" sz="2000">
                <a:solidFill>
                  <a:schemeClr val="dk1"/>
                </a:solidFill>
                <a:latin typeface="Times New Roman"/>
                <a:ea typeface="Times New Roman"/>
                <a:cs typeface="Times New Roman"/>
                <a:sym typeface="Times New Roman"/>
              </a:rPr>
              <a:t>is </a:t>
            </a:r>
            <a:r>
              <a:rPr b="1" lang="en-US" sz="2000">
                <a:solidFill>
                  <a:srgbClr val="FF0000"/>
                </a:solidFill>
                <a:latin typeface="Times New Roman"/>
                <a:ea typeface="Times New Roman"/>
                <a:cs typeface="Times New Roman"/>
                <a:sym typeface="Times New Roman"/>
              </a:rPr>
              <a:t>narrow</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000"/>
              <a:buFont typeface="Gill Sans"/>
              <a:buNone/>
            </a:pPr>
            <a:r>
              <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5"/>
              </a:spcBef>
              <a:spcAft>
                <a:spcPts val="0"/>
              </a:spcAft>
              <a:buClr>
                <a:srgbClr val="FF0000"/>
              </a:buClr>
              <a:buSzPts val="2000"/>
              <a:buFont typeface="Arial"/>
              <a:buChar char="•"/>
            </a:pPr>
            <a:r>
              <a:rPr b="1" lang="en-US" sz="2000">
                <a:solidFill>
                  <a:srgbClr val="FF0000"/>
                </a:solidFill>
                <a:latin typeface="Times New Roman"/>
                <a:ea typeface="Times New Roman"/>
                <a:cs typeface="Times New Roman"/>
                <a:sym typeface="Times New Roman"/>
              </a:rPr>
              <a:t>Limited </a:t>
            </a:r>
            <a:r>
              <a:rPr lang="en-US" sz="2000">
                <a:solidFill>
                  <a:schemeClr val="dk1"/>
                </a:solidFill>
                <a:latin typeface="Times New Roman"/>
                <a:ea typeface="Times New Roman"/>
                <a:cs typeface="Times New Roman"/>
                <a:sym typeface="Times New Roman"/>
              </a:rPr>
              <a:t>ability to express </a:t>
            </a:r>
            <a:r>
              <a:rPr b="1" lang="en-US" sz="2000">
                <a:solidFill>
                  <a:srgbClr val="FF0000"/>
                </a:solidFill>
                <a:latin typeface="Times New Roman"/>
                <a:ea typeface="Times New Roman"/>
                <a:cs typeface="Times New Roman"/>
                <a:sym typeface="Times New Roman"/>
              </a:rPr>
              <a:t>parallelism</a:t>
            </a:r>
            <a:endParaRPr sz="2000">
              <a:solidFill>
                <a:schemeClr val="dk1"/>
              </a:solidFill>
              <a:latin typeface="Times New Roman"/>
              <a:ea typeface="Times New Roman"/>
              <a:cs typeface="Times New Roman"/>
              <a:sym typeface="Times New Roman"/>
            </a:endParaRPr>
          </a:p>
          <a:p>
            <a:pPr indent="-342900" lvl="0" marL="355600" marR="5080" rtl="0" algn="just">
              <a:lnSpc>
                <a:spcPct val="200100"/>
              </a:lnSpc>
              <a:spcBef>
                <a:spcPts val="76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Considerable encoding of control information require  </a:t>
            </a:r>
            <a:r>
              <a:rPr b="1" lang="en-US" sz="2000">
                <a:solidFill>
                  <a:srgbClr val="FF0000"/>
                </a:solidFill>
                <a:latin typeface="Times New Roman"/>
                <a:ea typeface="Times New Roman"/>
                <a:cs typeface="Times New Roman"/>
                <a:sym typeface="Times New Roman"/>
              </a:rPr>
              <a:t>external memory </a:t>
            </a:r>
            <a:r>
              <a:rPr lang="en-US" sz="2000">
                <a:solidFill>
                  <a:schemeClr val="dk1"/>
                </a:solidFill>
                <a:latin typeface="Times New Roman"/>
                <a:ea typeface="Times New Roman"/>
                <a:cs typeface="Times New Roman"/>
                <a:sym typeface="Times New Roman"/>
              </a:rPr>
              <a:t>word decoder to identify the exact  control line being manipulated</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6" name="Shape 1016"/>
        <p:cNvGrpSpPr/>
        <p:nvPr/>
      </p:nvGrpSpPr>
      <p:grpSpPr>
        <a:xfrm>
          <a:off x="0" y="0"/>
          <a:ext cx="0" cy="0"/>
          <a:chOff x="0" y="0"/>
          <a:chExt cx="0" cy="0"/>
        </a:xfrm>
      </p:grpSpPr>
      <p:sp>
        <p:nvSpPr>
          <p:cNvPr id="1017" name="Google Shape;1017;p143"/>
          <p:cNvSpPr txBox="1"/>
          <p:nvPr>
            <p:ph type="title"/>
          </p:nvPr>
        </p:nvSpPr>
        <p:spPr>
          <a:xfrm>
            <a:off x="2644901" y="631063"/>
            <a:ext cx="3855720" cy="39116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562214"/>
              </a:buClr>
              <a:buSzPts val="2400"/>
              <a:buFont typeface="Times New Roman"/>
              <a:buNone/>
            </a:pPr>
            <a:r>
              <a:rPr b="0" lang="en-US" sz="2400">
                <a:latin typeface="Times New Roman"/>
                <a:ea typeface="Times New Roman"/>
                <a:cs typeface="Times New Roman"/>
                <a:sym typeface="Times New Roman"/>
              </a:rPr>
              <a:t>Horizontal Micro-programm</a:t>
            </a:r>
            <a:r>
              <a:rPr b="0" lang="en-US" sz="2400">
                <a:latin typeface="Calibri"/>
                <a:ea typeface="Calibri"/>
                <a:cs typeface="Calibri"/>
                <a:sym typeface="Calibri"/>
              </a:rPr>
              <a:t>ing</a:t>
            </a:r>
            <a:endParaRPr sz="2400">
              <a:latin typeface="Calibri"/>
              <a:ea typeface="Calibri"/>
              <a:cs typeface="Calibri"/>
              <a:sym typeface="Calibri"/>
            </a:endParaRPr>
          </a:p>
        </p:txBody>
      </p:sp>
      <p:sp>
        <p:nvSpPr>
          <p:cNvPr id="1018" name="Google Shape;1018;p143"/>
          <p:cNvSpPr txBox="1"/>
          <p:nvPr/>
        </p:nvSpPr>
        <p:spPr>
          <a:xfrm>
            <a:off x="535940" y="1424686"/>
            <a:ext cx="7483475" cy="2190984"/>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rgbClr val="FF0000"/>
              </a:buClr>
              <a:buSzPts val="2400"/>
              <a:buFont typeface="Arial"/>
              <a:buChar char="•"/>
            </a:pPr>
            <a:r>
              <a:rPr b="1" lang="en-US" sz="2400">
                <a:solidFill>
                  <a:srgbClr val="FF0000"/>
                </a:solidFill>
                <a:latin typeface="Times New Roman"/>
                <a:ea typeface="Times New Roman"/>
                <a:cs typeface="Times New Roman"/>
                <a:sym typeface="Times New Roman"/>
              </a:rPr>
              <a:t>Wide </a:t>
            </a:r>
            <a:r>
              <a:rPr lang="en-US" sz="2400">
                <a:solidFill>
                  <a:schemeClr val="dk1"/>
                </a:solidFill>
                <a:latin typeface="Times New Roman"/>
                <a:ea typeface="Times New Roman"/>
                <a:cs typeface="Times New Roman"/>
                <a:sym typeface="Times New Roman"/>
              </a:rPr>
              <a:t>memory word</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Gill Sans"/>
              <a:buNone/>
            </a:pPr>
            <a:r>
              <a:t/>
            </a:r>
            <a:endParaRPr sz="2400">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rgbClr val="FF0000"/>
              </a:buClr>
              <a:buSzPts val="2400"/>
              <a:buFont typeface="Arial"/>
              <a:buChar char="•"/>
            </a:pPr>
            <a:r>
              <a:rPr b="1" lang="en-US" sz="2400">
                <a:solidFill>
                  <a:srgbClr val="FF0000"/>
                </a:solidFill>
                <a:latin typeface="Times New Roman"/>
                <a:ea typeface="Times New Roman"/>
                <a:cs typeface="Times New Roman"/>
                <a:sym typeface="Times New Roman"/>
              </a:rPr>
              <a:t>High degree of parallel </a:t>
            </a:r>
            <a:r>
              <a:rPr lang="en-US" sz="2400">
                <a:solidFill>
                  <a:schemeClr val="dk1"/>
                </a:solidFill>
                <a:latin typeface="Times New Roman"/>
                <a:ea typeface="Times New Roman"/>
                <a:cs typeface="Times New Roman"/>
                <a:sym typeface="Times New Roman"/>
              </a:rPr>
              <a:t>operations possible</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3750"/>
              <a:buFont typeface="Gill Sans"/>
              <a:buNone/>
            </a:pPr>
            <a:r>
              <a:t/>
            </a:r>
            <a:endParaRPr sz="3750">
              <a:solidFill>
                <a:schemeClr val="dk1"/>
              </a:solidFill>
              <a:latin typeface="Times New Roman"/>
              <a:ea typeface="Times New Roman"/>
              <a:cs typeface="Times New Roman"/>
              <a:sym typeface="Times New Roman"/>
            </a:endParaRPr>
          </a:p>
          <a:p>
            <a:pPr indent="-343535" lvl="0" marL="355600" marR="0" rtl="0" algn="l">
              <a:lnSpc>
                <a:spcPct val="100000"/>
              </a:lnSpc>
              <a:spcBef>
                <a:spcPts val="5"/>
              </a:spcBef>
              <a:spcAft>
                <a:spcPts val="0"/>
              </a:spcAft>
              <a:buClr>
                <a:schemeClr val="dk1"/>
              </a:buClr>
              <a:buSzPts val="3200"/>
              <a:buFont typeface="Arial"/>
              <a:buChar char="•"/>
            </a:pPr>
            <a:r>
              <a:rPr lang="en-US" sz="3200">
                <a:solidFill>
                  <a:schemeClr val="dk1"/>
                </a:solidFill>
                <a:latin typeface="Times New Roman"/>
                <a:ea typeface="Times New Roman"/>
                <a:cs typeface="Times New Roman"/>
                <a:sym typeface="Times New Roman"/>
              </a:rPr>
              <a:t>Little encoding of control information</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44"/>
          <p:cNvSpPr txBox="1"/>
          <p:nvPr>
            <p:ph type="title"/>
          </p:nvPr>
        </p:nvSpPr>
        <p:spPr>
          <a:xfrm>
            <a:off x="304800" y="274638"/>
            <a:ext cx="8628888"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Times New Roman"/>
              <a:buNone/>
            </a:pPr>
            <a:r>
              <a:rPr lang="en-US" sz="3200">
                <a:latin typeface="Times New Roman"/>
                <a:ea typeface="Times New Roman"/>
                <a:cs typeface="Times New Roman"/>
                <a:sym typeface="Times New Roman"/>
              </a:rPr>
              <a:t>Applications of Microprogramming-https://www.geeksforgeeks.org/applications-of-microprogrammed-control-unit/</a:t>
            </a:r>
            <a:endParaRPr sz="3200">
              <a:latin typeface="Times New Roman"/>
              <a:ea typeface="Times New Roman"/>
              <a:cs typeface="Times New Roman"/>
              <a:sym typeface="Times New Roman"/>
            </a:endParaRPr>
          </a:p>
        </p:txBody>
      </p:sp>
      <p:sp>
        <p:nvSpPr>
          <p:cNvPr id="1025" name="Google Shape;1025;p144"/>
          <p:cNvSpPr txBox="1"/>
          <p:nvPr>
            <p:ph idx="1" type="body"/>
          </p:nvPr>
        </p:nvSpPr>
        <p:spPr>
          <a:xfrm>
            <a:off x="228600" y="1447800"/>
            <a:ext cx="8705088"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Microprogramming has many advantages like flexibility, simplicity, cost-effectiveness etc.  </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Development of control units –</a:t>
            </a:r>
            <a:r>
              <a:rPr lang="en-US" sz="2400">
                <a:latin typeface="Times New Roman"/>
                <a:ea typeface="Times New Roman"/>
                <a:cs typeface="Times New Roman"/>
                <a:sym typeface="Times New Roman"/>
              </a:rPr>
              <a:t>making control units of such processors, because it is far less complex and can be easily modified</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High level language support  –</a:t>
            </a:r>
            <a:r>
              <a:rPr lang="en-US" sz="2400">
                <a:latin typeface="Times New Roman"/>
                <a:ea typeface="Times New Roman"/>
                <a:cs typeface="Times New Roman"/>
                <a:sym typeface="Times New Roman"/>
              </a:rPr>
              <a:t>provide support for complex data types directly from the processor level.</a:t>
            </a:r>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Development of special purpose processors </a:t>
            </a:r>
            <a:r>
              <a:rPr b="1" lang="en-US" sz="2400"/>
              <a:t>– </a:t>
            </a:r>
            <a:endParaRPr b="1" sz="2400"/>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Improving the operating system </a:t>
            </a:r>
            <a:endParaRPr b="1"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b="1" lang="en-US" sz="2400">
                <a:latin typeface="Times New Roman"/>
                <a:ea typeface="Times New Roman"/>
                <a:cs typeface="Times New Roman"/>
                <a:sym typeface="Times New Roman"/>
              </a:rPr>
              <a:t>User tailoring of the control unit -</a:t>
            </a:r>
            <a:r>
              <a:rPr lang="en-US" sz="2400">
                <a:latin typeface="Times New Roman"/>
                <a:ea typeface="Times New Roman"/>
                <a:cs typeface="Times New Roman"/>
                <a:sym typeface="Times New Roman"/>
              </a:rPr>
              <a:t>As the control Unit is developed using software, it can be easily reprogrammed. This can be used for custom-made modifications of the Control Unit</a:t>
            </a:r>
            <a:endParaRPr sz="2400">
              <a:latin typeface="Times New Roman"/>
              <a:ea typeface="Times New Roman"/>
              <a:cs typeface="Times New Roman"/>
              <a:sym typeface="Times New Roman"/>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9" name="Shape 1029"/>
        <p:cNvGrpSpPr/>
        <p:nvPr/>
      </p:nvGrpSpPr>
      <p:grpSpPr>
        <a:xfrm>
          <a:off x="0" y="0"/>
          <a:ext cx="0" cy="0"/>
          <a:chOff x="0" y="0"/>
          <a:chExt cx="0" cy="0"/>
        </a:xfrm>
      </p:grpSpPr>
      <p:sp>
        <p:nvSpPr>
          <p:cNvPr id="1030" name="Google Shape;1030;p145"/>
          <p:cNvSpPr txBox="1"/>
          <p:nvPr>
            <p:ph type="title"/>
          </p:nvPr>
        </p:nvSpPr>
        <p:spPr>
          <a:xfrm>
            <a:off x="685800" y="791761"/>
            <a:ext cx="7772400" cy="2003100"/>
          </a:xfrm>
          <a:prstGeom prst="rect">
            <a:avLst/>
          </a:prstGeom>
          <a:noFill/>
          <a:ln>
            <a:noFill/>
          </a:ln>
        </p:spPr>
        <p:txBody>
          <a:bodyPr anchorCtr="0" anchor="ctr" bIns="0" lIns="0" spcFirstLastPara="1" rIns="0" wrap="square" tIns="8250">
            <a:spAutoFit/>
          </a:bodyPr>
          <a:lstStyle/>
          <a:p>
            <a:pPr indent="-1270" lvl="0" marL="25400" marR="17780" rtl="0" algn="ctr">
              <a:lnSpc>
                <a:spcPct val="100699"/>
              </a:lnSpc>
              <a:spcBef>
                <a:spcPts val="0"/>
              </a:spcBef>
              <a:spcAft>
                <a:spcPts val="0"/>
              </a:spcAft>
              <a:buClr>
                <a:srgbClr val="562214"/>
              </a:buClr>
              <a:buSzPts val="4300"/>
              <a:buFont typeface="Calibri"/>
              <a:buNone/>
            </a:pPr>
            <a:r>
              <a:rPr b="0" lang="en-US">
                <a:latin typeface="Calibri"/>
                <a:ea typeface="Calibri"/>
                <a:cs typeface="Calibri"/>
                <a:sym typeface="Calibri"/>
              </a:rPr>
              <a:t>William Stallings  Computer Organization  </a:t>
            </a:r>
            <a:r>
              <a:rPr b="0" lang="en-US" sz="4000">
                <a:latin typeface="Calibri"/>
                <a:ea typeface="Calibri"/>
                <a:cs typeface="Calibri"/>
                <a:sym typeface="Calibri"/>
              </a:rPr>
              <a:t>and Architecture</a:t>
            </a:r>
            <a:endParaRPr sz="4000">
              <a:latin typeface="Calibri"/>
              <a:ea typeface="Calibri"/>
              <a:cs typeface="Calibri"/>
              <a:sym typeface="Calibri"/>
            </a:endParaRPr>
          </a:p>
          <a:p>
            <a:pPr indent="0" lvl="0" marL="0" rtl="0" algn="ctr">
              <a:lnSpc>
                <a:spcPct val="110232"/>
              </a:lnSpc>
              <a:spcBef>
                <a:spcPts val="0"/>
              </a:spcBef>
              <a:spcAft>
                <a:spcPts val="0"/>
              </a:spcAft>
              <a:buClr>
                <a:srgbClr val="562214"/>
              </a:buClr>
              <a:buSzPts val="4300"/>
              <a:buFont typeface="Calibri"/>
              <a:buNone/>
            </a:pPr>
            <a:r>
              <a:rPr b="0" lang="en-US">
                <a:latin typeface="Calibri"/>
                <a:ea typeface="Calibri"/>
                <a:cs typeface="Calibri"/>
                <a:sym typeface="Calibri"/>
              </a:rPr>
              <a:t>7</a:t>
            </a:r>
            <a:r>
              <a:rPr b="0" baseline="30000" lang="en-US" sz="3975">
                <a:latin typeface="Calibri"/>
                <a:ea typeface="Calibri"/>
                <a:cs typeface="Calibri"/>
                <a:sym typeface="Calibri"/>
              </a:rPr>
              <a:t>th </a:t>
            </a:r>
            <a:r>
              <a:rPr b="0" lang="en-US" sz="4000">
                <a:latin typeface="Calibri"/>
                <a:ea typeface="Calibri"/>
                <a:cs typeface="Calibri"/>
                <a:sym typeface="Calibri"/>
              </a:rPr>
              <a:t>Edition</a:t>
            </a:r>
            <a:endParaRPr sz="4000">
              <a:latin typeface="Calibri"/>
              <a:ea typeface="Calibri"/>
              <a:cs typeface="Calibri"/>
              <a:sym typeface="Calibri"/>
            </a:endParaRPr>
          </a:p>
        </p:txBody>
      </p:sp>
      <p:sp>
        <p:nvSpPr>
          <p:cNvPr id="1031" name="Google Shape;1031;p145"/>
          <p:cNvSpPr txBox="1"/>
          <p:nvPr/>
        </p:nvSpPr>
        <p:spPr>
          <a:xfrm>
            <a:off x="1903857" y="3928617"/>
            <a:ext cx="5488305" cy="2769870"/>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None/>
            </a:pPr>
            <a:r>
              <a:rPr lang="en-US" sz="3000">
                <a:solidFill>
                  <a:srgbClr val="888888"/>
                </a:solidFill>
                <a:latin typeface="Calibri"/>
                <a:ea typeface="Calibri"/>
                <a:cs typeface="Calibri"/>
                <a:sym typeface="Calibri"/>
              </a:rPr>
              <a:t>Reduced Instruction Set Computers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0" lvl="0" marL="1905" marR="0" rtl="0" algn="ctr">
              <a:lnSpc>
                <a:spcPct val="100000"/>
              </a:lnSpc>
              <a:spcBef>
                <a:spcPts val="0"/>
              </a:spcBef>
              <a:spcAft>
                <a:spcPts val="0"/>
              </a:spcAft>
              <a:buNone/>
            </a:pPr>
            <a:r>
              <a:rPr lang="en-US" sz="3000">
                <a:solidFill>
                  <a:srgbClr val="888888"/>
                </a:solidFill>
                <a:latin typeface="Calibri"/>
                <a:ea typeface="Calibri"/>
                <a:cs typeface="Calibri"/>
                <a:sym typeface="Calibri"/>
              </a:rPr>
              <a:t>v/s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000">
                <a:solidFill>
                  <a:srgbClr val="888888"/>
                </a:solidFill>
                <a:latin typeface="Calibri"/>
                <a:ea typeface="Calibri"/>
                <a:cs typeface="Calibri"/>
                <a:sym typeface="Calibri"/>
              </a:rPr>
              <a:t>Complex Instruction Set Computers</a:t>
            </a:r>
            <a:endParaRPr sz="3000">
              <a:solidFill>
                <a:schemeClr val="dk1"/>
              </a:solidFill>
              <a:latin typeface="Calibri"/>
              <a:ea typeface="Calibri"/>
              <a:cs typeface="Calibri"/>
              <a:sym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5" name="Shape 1035"/>
        <p:cNvGrpSpPr/>
        <p:nvPr/>
      </p:nvGrpSpPr>
      <p:grpSpPr>
        <a:xfrm>
          <a:off x="0" y="0"/>
          <a:ext cx="0" cy="0"/>
          <a:chOff x="0" y="0"/>
          <a:chExt cx="0" cy="0"/>
        </a:xfrm>
      </p:grpSpPr>
      <p:sp>
        <p:nvSpPr>
          <p:cNvPr id="1036" name="Google Shape;1036;p146"/>
          <p:cNvSpPr txBox="1"/>
          <p:nvPr>
            <p:ph type="title"/>
          </p:nvPr>
        </p:nvSpPr>
        <p:spPr>
          <a:xfrm>
            <a:off x="3200400" y="228600"/>
            <a:ext cx="28543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Introduction</a:t>
            </a:r>
            <a:endParaRPr sz="4400">
              <a:latin typeface="Calibri"/>
              <a:ea typeface="Calibri"/>
              <a:cs typeface="Calibri"/>
              <a:sym typeface="Calibri"/>
            </a:endParaRPr>
          </a:p>
        </p:txBody>
      </p:sp>
      <p:sp>
        <p:nvSpPr>
          <p:cNvPr id="1037" name="Google Shape;1037;p146"/>
          <p:cNvSpPr txBox="1"/>
          <p:nvPr/>
        </p:nvSpPr>
        <p:spPr>
          <a:xfrm>
            <a:off x="228601" y="1066800"/>
            <a:ext cx="8441054" cy="5126147"/>
          </a:xfrm>
          <a:prstGeom prst="rect">
            <a:avLst/>
          </a:prstGeom>
          <a:noFill/>
          <a:ln>
            <a:noFill/>
          </a:ln>
        </p:spPr>
        <p:txBody>
          <a:bodyPr anchorCtr="0" anchor="t" bIns="0" lIns="0" spcFirstLastPara="1" rIns="0" wrap="square" tIns="13325">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architectural design of the </a:t>
            </a:r>
            <a:r>
              <a:rPr b="1" lang="en-US" sz="2400">
                <a:solidFill>
                  <a:schemeClr val="dk1"/>
                </a:solidFill>
                <a:latin typeface="Times New Roman"/>
                <a:ea typeface="Times New Roman"/>
                <a:cs typeface="Times New Roman"/>
                <a:sym typeface="Times New Roman"/>
              </a:rPr>
              <a:t>CPU </a:t>
            </a:r>
            <a:r>
              <a:rPr lang="en-US" sz="2400">
                <a:solidFill>
                  <a:schemeClr val="dk1"/>
                </a:solidFill>
                <a:latin typeface="Times New Roman"/>
                <a:ea typeface="Times New Roman"/>
                <a:cs typeface="Times New Roman"/>
                <a:sym typeface="Times New Roman"/>
              </a:rPr>
              <a:t>is RISC &amp; CISC.</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0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CISC architecture helps reduce program code by embedding multiple operations on each program instruction, which makes the CISC processor more complex</a:t>
            </a:r>
            <a:endParaRPr/>
          </a:p>
          <a:p>
            <a:pPr indent="-343535" lvl="0" marL="355600" marR="0" rtl="0" algn="just">
              <a:spcBef>
                <a:spcPts val="10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RISC has a highly customized set of instructions used in portable devices due to system reliability such as Apple iPod, mobiles/smartphones, Nintendo DS,</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10"/>
              </a:spcBef>
              <a:spcAft>
                <a:spcPts val="0"/>
              </a:spcAft>
              <a:buClr>
                <a:schemeClr val="dk1"/>
              </a:buClr>
              <a:buSzPts val="2400"/>
              <a:buFont typeface="Gill Sans"/>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Hardware fused with software (</a:t>
            </a:r>
            <a:r>
              <a:rPr b="1" lang="en-US" sz="2400">
                <a:solidFill>
                  <a:schemeClr val="dk1"/>
                </a:solidFill>
                <a:latin typeface="Times New Roman"/>
                <a:ea typeface="Times New Roman"/>
                <a:cs typeface="Times New Roman"/>
                <a:sym typeface="Times New Roman"/>
              </a:rPr>
              <a:t>Intel v/s Apple</a:t>
            </a:r>
            <a:r>
              <a:rPr lang="en-US" sz="2400">
                <a:solidFill>
                  <a:schemeClr val="dk1"/>
                </a:solidFill>
                <a:latin typeface="Times New Roman"/>
                <a:ea typeface="Times New Roman"/>
                <a:cs typeface="Times New Roman"/>
                <a:sym typeface="Times New Roman"/>
              </a:rPr>
              <a:t>)</a:t>
            </a:r>
            <a:endParaRPr/>
          </a:p>
          <a:p>
            <a:pPr indent="-343535" lvl="0" marL="355600" marR="290830" rtl="0" algn="just">
              <a:lnSpc>
                <a:spcPct val="180100"/>
              </a:lnSpc>
              <a:spcBef>
                <a:spcPts val="455"/>
              </a:spcBef>
              <a:spcAft>
                <a:spcPts val="0"/>
              </a:spcAft>
              <a:buClr>
                <a:srgbClr val="FF0000"/>
              </a:buClr>
              <a:buSzPts val="2400"/>
              <a:buFont typeface="Arial"/>
              <a:buChar char="•"/>
            </a:pPr>
            <a:r>
              <a:rPr b="1" lang="en-US" sz="2400">
                <a:solidFill>
                  <a:srgbClr val="FF0000"/>
                </a:solidFill>
                <a:latin typeface="Times New Roman"/>
                <a:ea typeface="Times New Roman"/>
                <a:cs typeface="Times New Roman"/>
                <a:sym typeface="Times New Roman"/>
              </a:rPr>
              <a:t>Intel’s </a:t>
            </a:r>
            <a:r>
              <a:rPr lang="en-US" sz="2400">
                <a:solidFill>
                  <a:schemeClr val="dk1"/>
                </a:solidFill>
                <a:latin typeface="Times New Roman"/>
                <a:ea typeface="Times New Roman"/>
                <a:cs typeface="Times New Roman"/>
                <a:sym typeface="Times New Roman"/>
              </a:rPr>
              <a:t>hardware oriented approach is termed as CISC while that of </a:t>
            </a:r>
            <a:r>
              <a:rPr b="1" lang="en-US" sz="2400">
                <a:solidFill>
                  <a:srgbClr val="FF0000"/>
                </a:solidFill>
                <a:latin typeface="Times New Roman"/>
                <a:ea typeface="Times New Roman"/>
                <a:cs typeface="Times New Roman"/>
                <a:sym typeface="Times New Roman"/>
              </a:rPr>
              <a:t>Apple </a:t>
            </a:r>
            <a:r>
              <a:rPr lang="en-US" sz="2400">
                <a:solidFill>
                  <a:schemeClr val="dk1"/>
                </a:solidFill>
                <a:latin typeface="Times New Roman"/>
                <a:ea typeface="Times New Roman"/>
                <a:cs typeface="Times New Roman"/>
                <a:sym typeface="Times New Roman"/>
              </a:rPr>
              <a:t>is  RISC</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20"/>
              </a:spcBef>
              <a:spcAft>
                <a:spcPts val="0"/>
              </a:spcAft>
              <a:buClr>
                <a:schemeClr val="dk1"/>
              </a:buClr>
              <a:buSzPts val="2400"/>
              <a:buFont typeface="Gill San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47"/>
          <p:cNvSpPr txBox="1"/>
          <p:nvPr>
            <p:ph type="title"/>
          </p:nvPr>
        </p:nvSpPr>
        <p:spPr>
          <a:xfrm>
            <a:off x="381000" y="274638"/>
            <a:ext cx="85526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043" name="Google Shape;1043;p147"/>
          <p:cNvSpPr txBox="1"/>
          <p:nvPr>
            <p:ph idx="1" type="body"/>
          </p:nvPr>
        </p:nvSpPr>
        <p:spPr>
          <a:xfrm>
            <a:off x="304800" y="838200"/>
            <a:ext cx="8628888" cy="5410200"/>
          </a:xfrm>
          <a:prstGeom prst="rect">
            <a:avLst/>
          </a:prstGeom>
          <a:noFill/>
          <a:ln>
            <a:noFill/>
          </a:ln>
        </p:spPr>
        <p:txBody>
          <a:bodyPr anchorCtr="0" anchor="t" bIns="45700" lIns="91425" spcFirstLastPara="1" rIns="91425" wrap="square" tIns="45700">
            <a:normAutofit/>
          </a:bodyPr>
          <a:lstStyle/>
          <a:p>
            <a:pPr indent="-343535" lvl="0" marL="355600" rtl="0" algn="just">
              <a:lnSpc>
                <a:spcPct val="100000"/>
              </a:lnSpc>
              <a:spcBef>
                <a:spcPts val="0"/>
              </a:spcBef>
              <a:spcAft>
                <a:spcPts val="0"/>
              </a:spcAft>
              <a:buSzPts val="1920"/>
              <a:buFont typeface="Arial"/>
              <a:buChar char="•"/>
            </a:pPr>
            <a:r>
              <a:rPr b="1" lang="en-US" sz="2400">
                <a:latin typeface="Times New Roman"/>
                <a:ea typeface="Times New Roman"/>
                <a:cs typeface="Times New Roman"/>
                <a:sym typeface="Times New Roman"/>
              </a:rPr>
              <a:t>Instruction Set Architecture- </a:t>
            </a:r>
            <a:r>
              <a:rPr b="1" lang="en-US" sz="2400">
                <a:solidFill>
                  <a:srgbClr val="FF0000"/>
                </a:solidFill>
                <a:latin typeface="Times New Roman"/>
                <a:ea typeface="Times New Roman"/>
                <a:cs typeface="Times New Roman"/>
                <a:sym typeface="Times New Roman"/>
              </a:rPr>
              <a:t>Interface </a:t>
            </a:r>
            <a:r>
              <a:rPr lang="en-US" sz="2400">
                <a:latin typeface="Times New Roman"/>
                <a:ea typeface="Times New Roman"/>
                <a:cs typeface="Times New Roman"/>
                <a:sym typeface="Times New Roman"/>
              </a:rPr>
              <a:t>to allow easy communication between the programmer and the hardware.</a:t>
            </a:r>
            <a:endParaRPr sz="2400">
              <a:latin typeface="Times New Roman"/>
              <a:ea typeface="Times New Roman"/>
              <a:cs typeface="Times New Roman"/>
              <a:sym typeface="Times New Roman"/>
            </a:endParaRPr>
          </a:p>
          <a:p>
            <a:pPr indent="-161543" lvl="0" marL="365760" rtl="0" algn="just">
              <a:lnSpc>
                <a:spcPct val="100000"/>
              </a:lnSpc>
              <a:spcBef>
                <a:spcPts val="20"/>
              </a:spcBef>
              <a:spcAft>
                <a:spcPts val="0"/>
              </a:spcAft>
              <a:buSzPts val="1920"/>
              <a:buNone/>
            </a:pPr>
            <a:r>
              <a:t/>
            </a:r>
            <a:endParaRPr sz="2400">
              <a:latin typeface="Times New Roman"/>
              <a:ea typeface="Times New Roman"/>
              <a:cs typeface="Times New Roman"/>
              <a:sym typeface="Times New Roman"/>
            </a:endParaRPr>
          </a:p>
          <a:p>
            <a:pPr indent="-343535" lvl="0" marL="355600" rtl="0" algn="just">
              <a:lnSpc>
                <a:spcPct val="100000"/>
              </a:lnSpc>
              <a:spcBef>
                <a:spcPts val="600"/>
              </a:spcBef>
              <a:spcAft>
                <a:spcPts val="0"/>
              </a:spcAft>
              <a:buSzPts val="1920"/>
              <a:buFont typeface="Arial"/>
              <a:buChar char="•"/>
            </a:pPr>
            <a:r>
              <a:rPr lang="en-US" sz="2400">
                <a:latin typeface="Times New Roman"/>
                <a:ea typeface="Times New Roman"/>
                <a:cs typeface="Times New Roman"/>
                <a:sym typeface="Times New Roman"/>
              </a:rPr>
              <a:t>ISA- execution of data, copying data, deleting it, editing</a:t>
            </a:r>
            <a:endParaRPr sz="2400">
              <a:latin typeface="Times New Roman"/>
              <a:ea typeface="Times New Roman"/>
              <a:cs typeface="Times New Roman"/>
              <a:sym typeface="Times New Roman"/>
            </a:endParaRPr>
          </a:p>
          <a:p>
            <a:pPr indent="-161543" lvl="0" marL="365760" rtl="0" algn="just">
              <a:lnSpc>
                <a:spcPct val="100000"/>
              </a:lnSpc>
              <a:spcBef>
                <a:spcPts val="25"/>
              </a:spcBef>
              <a:spcAft>
                <a:spcPts val="0"/>
              </a:spcAft>
              <a:buSzPts val="1920"/>
              <a:buNone/>
            </a:pPr>
            <a:r>
              <a:t/>
            </a:r>
            <a:endParaRPr sz="2400">
              <a:latin typeface="Times New Roman"/>
              <a:ea typeface="Times New Roman"/>
              <a:cs typeface="Times New Roman"/>
              <a:sym typeface="Times New Roman"/>
            </a:endParaRPr>
          </a:p>
          <a:p>
            <a:pPr indent="-343535" lvl="0" marL="355600" rtl="0" algn="just">
              <a:lnSpc>
                <a:spcPct val="100000"/>
              </a:lnSpc>
              <a:spcBef>
                <a:spcPts val="600"/>
              </a:spcBef>
              <a:spcAft>
                <a:spcPts val="0"/>
              </a:spcAft>
              <a:buSzPts val="1920"/>
              <a:buFont typeface="Arial"/>
              <a:buChar char="•"/>
            </a:pPr>
            <a:r>
              <a:rPr lang="en-US" sz="2400">
                <a:latin typeface="Times New Roman"/>
                <a:ea typeface="Times New Roman"/>
                <a:cs typeface="Times New Roman"/>
                <a:sym typeface="Times New Roman"/>
              </a:rPr>
              <a:t>Instruction Set , Addressing Modes,</a:t>
            </a:r>
            <a:endParaRPr sz="2400">
              <a:latin typeface="Times New Roman"/>
              <a:ea typeface="Times New Roman"/>
              <a:cs typeface="Times New Roman"/>
              <a:sym typeface="Times New Roman"/>
            </a:endParaRPr>
          </a:p>
          <a:p>
            <a:pPr indent="-161543" lvl="0" marL="365760" rtl="0" algn="l">
              <a:lnSpc>
                <a:spcPct val="100000"/>
              </a:lnSpc>
              <a:spcBef>
                <a:spcPts val="600"/>
              </a:spcBef>
              <a:spcAft>
                <a:spcPts val="0"/>
              </a:spcAft>
              <a:buSzPts val="1920"/>
              <a:buNone/>
            </a:pPr>
            <a:r>
              <a:t/>
            </a:r>
            <a:endParaRPr sz="2400"/>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7" name="Shape 1047"/>
        <p:cNvGrpSpPr/>
        <p:nvPr/>
      </p:nvGrpSpPr>
      <p:grpSpPr>
        <a:xfrm>
          <a:off x="0" y="0"/>
          <a:ext cx="0" cy="0"/>
          <a:chOff x="0" y="0"/>
          <a:chExt cx="0" cy="0"/>
        </a:xfrm>
      </p:grpSpPr>
      <p:sp>
        <p:nvSpPr>
          <p:cNvPr id="1048" name="Google Shape;1048;p148"/>
          <p:cNvSpPr txBox="1"/>
          <p:nvPr>
            <p:ph type="title"/>
          </p:nvPr>
        </p:nvSpPr>
        <p:spPr>
          <a:xfrm>
            <a:off x="609600" y="573820"/>
            <a:ext cx="8324088" cy="544636"/>
          </a:xfrm>
          <a:prstGeom prst="rect">
            <a:avLst/>
          </a:prstGeom>
          <a:noFill/>
          <a:ln>
            <a:noFill/>
          </a:ln>
        </p:spPr>
        <p:txBody>
          <a:bodyPr anchorCtr="0" anchor="ctr" bIns="0" lIns="0" spcFirstLastPara="1" rIns="0" wrap="square" tIns="51675">
            <a:spAutoFit/>
          </a:bodyPr>
          <a:lstStyle/>
          <a:p>
            <a:pPr indent="-1668145" lvl="0" marL="2128520" marR="5080" rtl="0" algn="l">
              <a:lnSpc>
                <a:spcPct val="100000"/>
              </a:lnSpc>
              <a:spcBef>
                <a:spcPts val="0"/>
              </a:spcBef>
              <a:spcAft>
                <a:spcPts val="0"/>
              </a:spcAft>
              <a:buClr>
                <a:srgbClr val="562214"/>
              </a:buClr>
              <a:buSzPts val="3200"/>
              <a:buFont typeface="Calibri"/>
              <a:buNone/>
            </a:pPr>
            <a:r>
              <a:rPr b="0" lang="en-US" sz="3200">
                <a:latin typeface="Calibri"/>
                <a:ea typeface="Calibri"/>
                <a:cs typeface="Calibri"/>
                <a:sym typeface="Calibri"/>
              </a:rPr>
              <a:t>RISC-</a:t>
            </a:r>
            <a:r>
              <a:rPr lang="en-US" sz="3200"/>
              <a:t>Reduced Instruction Set  Computer</a:t>
            </a:r>
            <a:endParaRPr/>
          </a:p>
        </p:txBody>
      </p:sp>
      <p:sp>
        <p:nvSpPr>
          <p:cNvPr id="1049" name="Google Shape;1049;p148"/>
          <p:cNvSpPr txBox="1"/>
          <p:nvPr/>
        </p:nvSpPr>
        <p:spPr>
          <a:xfrm>
            <a:off x="457200" y="1253032"/>
            <a:ext cx="8065135" cy="4501232"/>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 microprocessor architecture with a simple collection and highly customized set of instructions.</a:t>
            </a:r>
            <a:endParaRPr/>
          </a:p>
          <a:p>
            <a:pPr indent="-216534" lvl="0" marL="355600" marR="0" rtl="0" algn="just">
              <a:lnSpc>
                <a:spcPct val="100000"/>
              </a:lnSpc>
              <a:spcBef>
                <a:spcPts val="1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It is built to </a:t>
            </a:r>
            <a:r>
              <a:rPr b="1" lang="en-US" sz="2000">
                <a:solidFill>
                  <a:schemeClr val="dk1"/>
                </a:solidFill>
                <a:latin typeface="Times New Roman"/>
                <a:ea typeface="Times New Roman"/>
                <a:cs typeface="Times New Roman"/>
                <a:sym typeface="Times New Roman"/>
              </a:rPr>
              <a:t>minimize the instruction execution time by optimizing and limiting the number of instructions. </a:t>
            </a:r>
            <a:endParaRPr b="1" sz="2000">
              <a:solidFill>
                <a:schemeClr val="dk1"/>
              </a:solidFill>
              <a:latin typeface="Times New Roman"/>
              <a:ea typeface="Times New Roman"/>
              <a:cs typeface="Times New Roman"/>
              <a:sym typeface="Times New Roman"/>
            </a:endParaRPr>
          </a:p>
          <a:p>
            <a:pPr indent="-216534" lvl="0" marL="355600" marR="0" rtl="0" algn="just">
              <a:lnSpc>
                <a:spcPct val="100000"/>
              </a:lnSpc>
              <a:spcBef>
                <a:spcPts val="100"/>
              </a:spcBef>
              <a:spcAft>
                <a:spcPts val="0"/>
              </a:spcAft>
              <a:buClr>
                <a:schemeClr val="dk1"/>
              </a:buClr>
              <a:buSzPts val="2000"/>
              <a:buFont typeface="Arial"/>
              <a:buNone/>
            </a:pPr>
            <a:r>
              <a:t/>
            </a:r>
            <a:endParaRPr b="1"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It means </a:t>
            </a:r>
            <a:r>
              <a:rPr b="1" lang="en-US" sz="2000">
                <a:solidFill>
                  <a:schemeClr val="dk1"/>
                </a:solidFill>
                <a:latin typeface="Times New Roman"/>
                <a:ea typeface="Times New Roman"/>
                <a:cs typeface="Times New Roman"/>
                <a:sym typeface="Times New Roman"/>
              </a:rPr>
              <a:t>each instruction cycle requires only one clock cycle</a:t>
            </a:r>
            <a:endParaRPr b="1" sz="2000">
              <a:solidFill>
                <a:schemeClr val="dk1"/>
              </a:solidFill>
              <a:latin typeface="Times New Roman"/>
              <a:ea typeface="Times New Roman"/>
              <a:cs typeface="Times New Roman"/>
              <a:sym typeface="Times New Roman"/>
            </a:endParaRPr>
          </a:p>
          <a:p>
            <a:pPr indent="0" lvl="0" marL="12065" marR="0" rtl="0" algn="just">
              <a:lnSpc>
                <a:spcPct val="100000"/>
              </a:lnSpc>
              <a:spcBef>
                <a:spcPts val="100"/>
              </a:spcBef>
              <a:spcAft>
                <a:spcPts val="0"/>
              </a:spcAft>
              <a:buNone/>
            </a:pPr>
            <a:r>
              <a:t/>
            </a:r>
            <a:endParaRPr b="1"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RISC processor design has separate </a:t>
            </a:r>
            <a:r>
              <a:rPr b="1" lang="en-US" sz="2000">
                <a:solidFill>
                  <a:schemeClr val="dk1"/>
                </a:solidFill>
                <a:latin typeface="Times New Roman"/>
                <a:ea typeface="Times New Roman"/>
                <a:cs typeface="Times New Roman"/>
                <a:sym typeface="Times New Roman"/>
              </a:rPr>
              <a:t>digital circuitry </a:t>
            </a:r>
            <a:r>
              <a:rPr lang="en-US" sz="2000">
                <a:solidFill>
                  <a:schemeClr val="dk1"/>
                </a:solidFill>
                <a:latin typeface="Times New Roman"/>
                <a:ea typeface="Times New Roman"/>
                <a:cs typeface="Times New Roman"/>
                <a:sym typeface="Times New Roman"/>
              </a:rPr>
              <a:t>in the control unit (produces signals needed for the execution of each instruction in  the instruction set of the processor)</a:t>
            </a:r>
            <a:endParaRPr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80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Examples of RISC processors:</a:t>
            </a:r>
            <a:endParaRPr sz="2000">
              <a:solidFill>
                <a:schemeClr val="dk1"/>
              </a:solidFill>
              <a:latin typeface="Times New Roman"/>
              <a:ea typeface="Times New Roman"/>
              <a:cs typeface="Times New Roman"/>
              <a:sym typeface="Times New Roman"/>
            </a:endParaRPr>
          </a:p>
          <a:p>
            <a:pPr indent="0" lvl="0" marL="469900" marR="0" rtl="0" algn="just">
              <a:lnSpc>
                <a:spcPct val="100000"/>
              </a:lnSpc>
              <a:spcBef>
                <a:spcPts val="10"/>
              </a:spcBef>
              <a:spcAft>
                <a:spcPts val="0"/>
              </a:spcAft>
              <a:buNone/>
            </a:pPr>
            <a:r>
              <a:rPr lang="en-US" sz="2000">
                <a:solidFill>
                  <a:schemeClr val="dk1"/>
                </a:solidFill>
                <a:latin typeface="Times New Roman"/>
                <a:ea typeface="Times New Roman"/>
                <a:cs typeface="Times New Roman"/>
                <a:sym typeface="Times New Roman"/>
              </a:rPr>
              <a:t>– IBM RS6000, MC88100</a:t>
            </a:r>
            <a:endParaRPr sz="2000">
              <a:solidFill>
                <a:schemeClr val="dk1"/>
              </a:solidFill>
              <a:latin typeface="Times New Roman"/>
              <a:ea typeface="Times New Roman"/>
              <a:cs typeface="Times New Roman"/>
              <a:sym typeface="Times New Roman"/>
            </a:endParaRPr>
          </a:p>
          <a:p>
            <a:pPr indent="0" lvl="0" marL="4699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 DEC’s Alpha 21064, 21164 and 21264 processors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3" name="Shape 1053"/>
        <p:cNvGrpSpPr/>
        <p:nvPr/>
      </p:nvGrpSpPr>
      <p:grpSpPr>
        <a:xfrm>
          <a:off x="0" y="0"/>
          <a:ext cx="0" cy="0"/>
          <a:chOff x="0" y="0"/>
          <a:chExt cx="0" cy="0"/>
        </a:xfrm>
      </p:grpSpPr>
      <p:sp>
        <p:nvSpPr>
          <p:cNvPr id="1054" name="Google Shape;1054;p149"/>
          <p:cNvSpPr txBox="1"/>
          <p:nvPr>
            <p:ph type="title"/>
          </p:nvPr>
        </p:nvSpPr>
        <p:spPr>
          <a:xfrm>
            <a:off x="685800" y="543042"/>
            <a:ext cx="8247888" cy="606192"/>
          </a:xfrm>
          <a:prstGeom prst="rect">
            <a:avLst/>
          </a:prstGeom>
          <a:noFill/>
          <a:ln>
            <a:noFill/>
          </a:ln>
        </p:spPr>
        <p:txBody>
          <a:bodyPr anchorCtr="0" anchor="ctr" bIns="0" lIns="0" spcFirstLastPara="1" rIns="0" wrap="square" tIns="51675">
            <a:spAutoFit/>
          </a:bodyPr>
          <a:lstStyle/>
          <a:p>
            <a:pPr indent="-1992629" lvl="0" marL="2448560" marR="5080" rtl="0" algn="l">
              <a:lnSpc>
                <a:spcPct val="100000"/>
              </a:lnSpc>
              <a:spcBef>
                <a:spcPts val="0"/>
              </a:spcBef>
              <a:spcAft>
                <a:spcPts val="0"/>
              </a:spcAft>
              <a:buClr>
                <a:srgbClr val="562214"/>
              </a:buClr>
              <a:buSzPts val="3600"/>
              <a:buFont typeface="Times New Roman"/>
              <a:buNone/>
            </a:pPr>
            <a:r>
              <a:rPr b="0" lang="en-US" sz="3600">
                <a:latin typeface="Times New Roman"/>
                <a:ea typeface="Times New Roman"/>
                <a:cs typeface="Times New Roman"/>
                <a:sym typeface="Times New Roman"/>
              </a:rPr>
              <a:t>CISC-</a:t>
            </a:r>
            <a:r>
              <a:rPr lang="en-US" sz="3600">
                <a:latin typeface="Times New Roman"/>
                <a:ea typeface="Times New Roman"/>
                <a:cs typeface="Times New Roman"/>
                <a:sym typeface="Times New Roman"/>
              </a:rPr>
              <a:t>Complex Instruction Set  Computer</a:t>
            </a:r>
            <a:endParaRPr/>
          </a:p>
        </p:txBody>
      </p:sp>
      <p:sp>
        <p:nvSpPr>
          <p:cNvPr id="1055" name="Google Shape;1055;p149"/>
          <p:cNvSpPr txBox="1"/>
          <p:nvPr/>
        </p:nvSpPr>
        <p:spPr>
          <a:xfrm>
            <a:off x="535940" y="1723466"/>
            <a:ext cx="7887334" cy="4601260"/>
          </a:xfrm>
          <a:prstGeom prst="rect">
            <a:avLst/>
          </a:prstGeom>
          <a:noFill/>
          <a:ln>
            <a:noFill/>
          </a:ln>
        </p:spPr>
        <p:txBody>
          <a:bodyPr anchorCtr="0" anchor="t" bIns="0" lIns="0" spcFirstLastPara="1" rIns="0" wrap="square" tIns="12700">
            <a:spAutoFit/>
          </a:bodyPr>
          <a:lstStyle/>
          <a:p>
            <a:pPr indent="-343535"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 If the control unit contains a number of micro-electronic circuitry to generate a set of control signals and each micro-circuitry is activated by a micro-code-CISC</a:t>
            </a:r>
            <a:endParaRPr/>
          </a:p>
          <a:p>
            <a:pPr indent="0" lvl="0" marL="12065" marR="0" rtl="0" algn="just">
              <a:lnSpc>
                <a:spcPct val="100000"/>
              </a:lnSpc>
              <a:spcBef>
                <a:spcPts val="100"/>
              </a:spcBef>
              <a:spcAft>
                <a:spcPts val="0"/>
              </a:spcAft>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	The primary goal of CISC architecture is to complete a  task in as few lines of assembly code as possible.</a:t>
            </a:r>
            <a:endParaRPr sz="2400">
              <a:solidFill>
                <a:schemeClr val="dk1"/>
              </a:solidFill>
              <a:latin typeface="Times New Roman"/>
              <a:ea typeface="Times New Roman"/>
              <a:cs typeface="Times New Roman"/>
              <a:sym typeface="Times New Roman"/>
            </a:endParaRPr>
          </a:p>
          <a:p>
            <a:pPr indent="0" lvl="0" marL="12065" marR="0" rtl="0" algn="just">
              <a:lnSpc>
                <a:spcPct val="100000"/>
              </a:lnSpc>
              <a:spcBef>
                <a:spcPts val="100"/>
              </a:spcBef>
              <a:spcAft>
                <a:spcPts val="0"/>
              </a:spcAft>
              <a:buNone/>
            </a:pPr>
            <a:r>
              <a:t/>
            </a:r>
            <a:endParaRPr sz="24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1445"/>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Examples of CISC processors are:</a:t>
            </a:r>
            <a:endParaRPr sz="2400">
              <a:solidFill>
                <a:schemeClr val="dk1"/>
              </a:solidFill>
              <a:latin typeface="Times New Roman"/>
              <a:ea typeface="Times New Roman"/>
              <a:cs typeface="Times New Roman"/>
              <a:sym typeface="Times New Roman"/>
            </a:endParaRPr>
          </a:p>
          <a:p>
            <a:pPr indent="0" lvl="0" marL="469900" marR="0" rtl="0" algn="just">
              <a:lnSpc>
                <a:spcPct val="100000"/>
              </a:lnSpc>
              <a:spcBef>
                <a:spcPts val="1225"/>
              </a:spcBef>
              <a:spcAft>
                <a:spcPts val="0"/>
              </a:spcAft>
              <a:buNone/>
            </a:pPr>
            <a:r>
              <a:rPr lang="en-US" sz="2400">
                <a:solidFill>
                  <a:schemeClr val="dk1"/>
                </a:solidFill>
                <a:latin typeface="Times New Roman"/>
                <a:ea typeface="Times New Roman"/>
                <a:cs typeface="Times New Roman"/>
                <a:sym typeface="Times New Roman"/>
              </a:rPr>
              <a:t>–	Intel 386, 486, Pentium, Pentium Pro, Pentium II, Pentium III</a:t>
            </a:r>
            <a:endParaRPr/>
          </a:p>
          <a:p>
            <a:pPr indent="0" lvl="0" marL="469900" marR="0" rtl="0" algn="just">
              <a:lnSpc>
                <a:spcPct val="100000"/>
              </a:lnSpc>
              <a:spcBef>
                <a:spcPts val="1225"/>
              </a:spcBef>
              <a:spcAft>
                <a:spcPts val="0"/>
              </a:spcAft>
              <a:buNone/>
            </a:pPr>
            <a:r>
              <a:rPr lang="en-US" sz="2400">
                <a:solidFill>
                  <a:schemeClr val="dk1"/>
                </a:solidFill>
                <a:latin typeface="Times New Roman"/>
                <a:ea typeface="Times New Roman"/>
                <a:cs typeface="Times New Roman"/>
                <a:sym typeface="Times New Roman"/>
              </a:rPr>
              <a:t>–	Motorola’s 68000, 68020, 68040, etc.</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9" name="Shape 1059"/>
        <p:cNvGrpSpPr/>
        <p:nvPr/>
      </p:nvGrpSpPr>
      <p:grpSpPr>
        <a:xfrm>
          <a:off x="0" y="0"/>
          <a:ext cx="0" cy="0"/>
          <a:chOff x="0" y="0"/>
          <a:chExt cx="0" cy="0"/>
        </a:xfrm>
      </p:grpSpPr>
      <p:sp>
        <p:nvSpPr>
          <p:cNvPr id="1060" name="Google Shape;1060;p150"/>
          <p:cNvSpPr txBox="1"/>
          <p:nvPr>
            <p:ph type="title"/>
          </p:nvPr>
        </p:nvSpPr>
        <p:spPr>
          <a:xfrm>
            <a:off x="1891664" y="461594"/>
            <a:ext cx="53562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processor features</a:t>
            </a:r>
            <a:endParaRPr sz="4400">
              <a:latin typeface="Calibri"/>
              <a:ea typeface="Calibri"/>
              <a:cs typeface="Calibri"/>
              <a:sym typeface="Calibri"/>
            </a:endParaRPr>
          </a:p>
        </p:txBody>
      </p:sp>
      <p:sp>
        <p:nvSpPr>
          <p:cNvPr id="1061" name="Google Shape;1061;p150"/>
          <p:cNvSpPr txBox="1"/>
          <p:nvPr/>
        </p:nvSpPr>
        <p:spPr>
          <a:xfrm>
            <a:off x="78738" y="1385061"/>
            <a:ext cx="8379600" cy="556770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Instruction set with 120-350 instructions</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Variable instruction/data formats</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Small set of general purpose registers(8-24)</a:t>
            </a:r>
            <a:endParaRPr sz="28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 large number of addressing modes</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High dependency on micro program</a:t>
            </a:r>
            <a:endParaRPr sz="2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Complex instructions to support HLL (High level language) features</a:t>
            </a:r>
            <a:endParaRPr sz="2800">
              <a:solidFill>
                <a:schemeClr val="dk1"/>
              </a:solidFill>
              <a:latin typeface="Calibri"/>
              <a:ea typeface="Calibri"/>
              <a:cs typeface="Calibri"/>
              <a:sym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5" name="Shape 1065"/>
        <p:cNvGrpSpPr/>
        <p:nvPr/>
      </p:nvGrpSpPr>
      <p:grpSpPr>
        <a:xfrm>
          <a:off x="0" y="0"/>
          <a:ext cx="0" cy="0"/>
          <a:chOff x="0" y="0"/>
          <a:chExt cx="0" cy="0"/>
        </a:xfrm>
      </p:grpSpPr>
      <p:sp>
        <p:nvSpPr>
          <p:cNvPr id="1066" name="Google Shape;1066;p151"/>
          <p:cNvSpPr txBox="1"/>
          <p:nvPr>
            <p:ph type="title"/>
          </p:nvPr>
        </p:nvSpPr>
        <p:spPr>
          <a:xfrm>
            <a:off x="1891664" y="461594"/>
            <a:ext cx="53562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processor features</a:t>
            </a:r>
            <a:endParaRPr sz="4400">
              <a:latin typeface="Calibri"/>
              <a:ea typeface="Calibri"/>
              <a:cs typeface="Calibri"/>
              <a:sym typeface="Calibri"/>
            </a:endParaRPr>
          </a:p>
        </p:txBody>
      </p:sp>
      <p:sp>
        <p:nvSpPr>
          <p:cNvPr id="1067" name="Google Shape;1067;p151"/>
          <p:cNvSpPr txBox="1"/>
          <p:nvPr/>
        </p:nvSpPr>
        <p:spPr>
          <a:xfrm>
            <a:off x="78739" y="1424686"/>
            <a:ext cx="8940165" cy="3911968"/>
          </a:xfrm>
          <a:prstGeom prst="rect">
            <a:avLst/>
          </a:prstGeom>
          <a:noFill/>
          <a:ln>
            <a:noFill/>
          </a:ln>
        </p:spPr>
        <p:txBody>
          <a:bodyPr anchorCtr="0" anchor="t" bIns="0" lIns="0" spcFirstLastPara="1" rIns="0" wrap="square" tIns="13325">
            <a:spAutoFit/>
          </a:bodyPr>
          <a:lstStyle/>
          <a:p>
            <a:pPr indent="-342900" lvl="0" marL="355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Complex pipelining (decomposing a sequential process into sub-operations, with each sub-operation being executed in a dedicated segment that operates concurrently with all other segments.)</a:t>
            </a:r>
            <a:endParaRPr sz="2400">
              <a:solidFill>
                <a:schemeClr val="dk1"/>
              </a:solidFill>
              <a:latin typeface="Times New Roman"/>
              <a:ea typeface="Times New Roman"/>
              <a:cs typeface="Times New Roman"/>
              <a:sym typeface="Times New Roman"/>
            </a:endParaRPr>
          </a:p>
          <a:p>
            <a:pPr indent="-342900" lvl="0" marL="355600" marR="5080" rtl="0" algn="l">
              <a:lnSpc>
                <a:spcPct val="2001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Many functional chips needed to design a computer  using CISC</a:t>
            </a:r>
            <a:endParaRPr sz="2400">
              <a:solidFill>
                <a:schemeClr val="dk1"/>
              </a:solidFill>
              <a:latin typeface="Times New Roman"/>
              <a:ea typeface="Times New Roman"/>
              <a:cs typeface="Times New Roman"/>
              <a:sym typeface="Times New Roman"/>
            </a:endParaRPr>
          </a:p>
          <a:p>
            <a:pPr indent="-342900" lvl="0" marL="355600" marR="5080" rtl="0" algn="l">
              <a:lnSpc>
                <a:spcPct val="200100"/>
              </a:lnSpc>
              <a:spcBef>
                <a:spcPts val="76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length of the code is short, so it requires very little RAM.</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Difficult to design a superscalar processor ( execution rate in excess of one instruction per machine cycle)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1" name="Shape 1071"/>
        <p:cNvGrpSpPr/>
        <p:nvPr/>
      </p:nvGrpSpPr>
      <p:grpSpPr>
        <a:xfrm>
          <a:off x="0" y="0"/>
          <a:ext cx="0" cy="0"/>
          <a:chOff x="0" y="0"/>
          <a:chExt cx="0" cy="0"/>
        </a:xfrm>
      </p:grpSpPr>
      <p:sp>
        <p:nvSpPr>
          <p:cNvPr id="1072" name="Google Shape;1072;p152"/>
          <p:cNvSpPr txBox="1"/>
          <p:nvPr>
            <p:ph type="title"/>
          </p:nvPr>
        </p:nvSpPr>
        <p:spPr>
          <a:xfrm>
            <a:off x="1826132" y="461594"/>
            <a:ext cx="549719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processor features</a:t>
            </a:r>
            <a:endParaRPr sz="4400">
              <a:latin typeface="Calibri"/>
              <a:ea typeface="Calibri"/>
              <a:cs typeface="Calibri"/>
              <a:sym typeface="Calibri"/>
            </a:endParaRPr>
          </a:p>
        </p:txBody>
      </p:sp>
      <p:sp>
        <p:nvSpPr>
          <p:cNvPr id="1073" name="Google Shape;1073;p152"/>
          <p:cNvSpPr txBox="1"/>
          <p:nvPr/>
        </p:nvSpPr>
        <p:spPr>
          <a:xfrm>
            <a:off x="50088" y="1348486"/>
            <a:ext cx="8689340" cy="4806950"/>
          </a:xfrm>
          <a:prstGeom prst="rect">
            <a:avLst/>
          </a:prstGeom>
          <a:noFill/>
          <a:ln>
            <a:noFill/>
          </a:ln>
        </p:spPr>
        <p:txBody>
          <a:bodyPr anchorCtr="0" anchor="t" bIns="0" lIns="0" spcFirstLastPara="1" rIns="0" wrap="square" tIns="13325">
            <a:spAutoFit/>
          </a:bodyPr>
          <a:lstStyle/>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Instruction set with limited number of instructions</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Simple instruction format</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5"/>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Large set of CPU registers</a:t>
            </a:r>
            <a:endParaRPr sz="3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Very few addressing modes</a:t>
            </a:r>
            <a:endParaRPr sz="3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Clr>
                <a:schemeClr val="dk1"/>
              </a:buClr>
              <a:buSzPts val="3750"/>
              <a:buFont typeface="Arial"/>
              <a:buNone/>
            </a:pPr>
            <a:r>
              <a:t/>
            </a:r>
            <a:endParaRPr sz="3750">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Easy to construct a superscalar processor</a:t>
            </a:r>
            <a:endParaRPr sz="3200">
              <a:solidFill>
                <a:schemeClr val="dk1"/>
              </a:solidFill>
              <a:latin typeface="Calibri"/>
              <a:ea typeface="Calibri"/>
              <a:cs typeface="Calibri"/>
              <a:sym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7" name="Shape 1077"/>
        <p:cNvGrpSpPr/>
        <p:nvPr/>
      </p:nvGrpSpPr>
      <p:grpSpPr>
        <a:xfrm>
          <a:off x="0" y="0"/>
          <a:ext cx="0" cy="0"/>
          <a:chOff x="0" y="0"/>
          <a:chExt cx="0" cy="0"/>
        </a:xfrm>
      </p:grpSpPr>
      <p:sp>
        <p:nvSpPr>
          <p:cNvPr id="1078" name="Google Shape;1078;p153"/>
          <p:cNvSpPr txBox="1"/>
          <p:nvPr>
            <p:ph type="title"/>
          </p:nvPr>
        </p:nvSpPr>
        <p:spPr>
          <a:xfrm>
            <a:off x="1890141" y="461594"/>
            <a:ext cx="536829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processor features</a:t>
            </a:r>
            <a:endParaRPr sz="4400">
              <a:latin typeface="Calibri"/>
              <a:ea typeface="Calibri"/>
              <a:cs typeface="Calibri"/>
              <a:sym typeface="Calibri"/>
            </a:endParaRPr>
          </a:p>
        </p:txBody>
      </p:sp>
      <p:sp>
        <p:nvSpPr>
          <p:cNvPr id="1079" name="Google Shape;1079;p153"/>
          <p:cNvSpPr txBox="1"/>
          <p:nvPr/>
        </p:nvSpPr>
        <p:spPr>
          <a:xfrm>
            <a:off x="78738" y="1508505"/>
            <a:ext cx="8760461" cy="4352474"/>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Hardwired control unit for sequencing microinstructions</a:t>
            </a:r>
            <a:endParaRPr sz="3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Supports on chip cache memory</a:t>
            </a:r>
            <a:endParaRPr/>
          </a:p>
          <a:p>
            <a:pPr indent="0" lvl="0" marL="0" marR="0" rtl="0" algn="l">
              <a:lnSpc>
                <a:spcPct val="100000"/>
              </a:lnSpc>
              <a:spcBef>
                <a:spcPts val="30"/>
              </a:spcBef>
              <a:spcAft>
                <a:spcPts val="0"/>
              </a:spcAft>
              <a:buClr>
                <a:schemeClr val="dk1"/>
              </a:buClr>
              <a:buSzPts val="4400"/>
              <a:buFont typeface="Arial"/>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All functional units on a single chip</a:t>
            </a:r>
            <a:endParaRPr/>
          </a:p>
          <a:p>
            <a:pPr indent="0" lvl="0" marL="0" marR="0" rtl="0" algn="l">
              <a:lnSpc>
                <a:spcPct val="100000"/>
              </a:lnSpc>
              <a:spcBef>
                <a:spcPts val="30"/>
              </a:spcBef>
              <a:spcAft>
                <a:spcPts val="0"/>
              </a:spcAft>
              <a:buClr>
                <a:schemeClr val="dk1"/>
              </a:buClr>
              <a:buSzPts val="4400"/>
              <a:buFont typeface="Arial"/>
              <a:buNone/>
            </a:pPr>
            <a:r>
              <a:t/>
            </a:r>
            <a:endParaRPr sz="4400">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Simple pipelining</a:t>
            </a:r>
            <a:endParaRPr sz="3000">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3" name="Shape 1083"/>
        <p:cNvGrpSpPr/>
        <p:nvPr/>
      </p:nvGrpSpPr>
      <p:grpSpPr>
        <a:xfrm>
          <a:off x="0" y="0"/>
          <a:ext cx="0" cy="0"/>
          <a:chOff x="0" y="0"/>
          <a:chExt cx="0" cy="0"/>
        </a:xfrm>
      </p:grpSpPr>
      <p:pic>
        <p:nvPicPr>
          <p:cNvPr id="1084" name="Google Shape;1084;p154"/>
          <p:cNvPicPr preferRelativeResize="0"/>
          <p:nvPr/>
        </p:nvPicPr>
        <p:blipFill rotWithShape="1">
          <a:blip r:embed="rId3">
            <a:alphaModFix/>
          </a:blip>
          <a:srcRect b="0" l="0" r="0" t="0"/>
          <a:stretch/>
        </p:blipFill>
        <p:spPr>
          <a:xfrm>
            <a:off x="454025" y="555345"/>
            <a:ext cx="8162925" cy="546445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8" name="Shape 1088"/>
        <p:cNvGrpSpPr/>
        <p:nvPr/>
      </p:nvGrpSpPr>
      <p:grpSpPr>
        <a:xfrm>
          <a:off x="0" y="0"/>
          <a:ext cx="0" cy="0"/>
          <a:chOff x="0" y="0"/>
          <a:chExt cx="0" cy="0"/>
        </a:xfrm>
      </p:grpSpPr>
      <p:pic>
        <p:nvPicPr>
          <p:cNvPr id="1089" name="Google Shape;1089;p155"/>
          <p:cNvPicPr preferRelativeResize="0"/>
          <p:nvPr/>
        </p:nvPicPr>
        <p:blipFill rotWithShape="1">
          <a:blip r:embed="rId3">
            <a:alphaModFix/>
          </a:blip>
          <a:srcRect b="0" l="0" r="0" t="0"/>
          <a:stretch/>
        </p:blipFill>
        <p:spPr>
          <a:xfrm>
            <a:off x="41275" y="1066800"/>
            <a:ext cx="9102724" cy="54864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56"/>
          <p:cNvSpPr txBox="1"/>
          <p:nvPr>
            <p:ph type="title"/>
          </p:nvPr>
        </p:nvSpPr>
        <p:spPr>
          <a:xfrm>
            <a:off x="304800" y="152400"/>
            <a:ext cx="8628888"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2800"/>
              <a:buFont typeface="Times New Roman"/>
              <a:buNone/>
            </a:pPr>
            <a:r>
              <a:rPr lang="en-US" sz="2800">
                <a:latin typeface="Times New Roman"/>
                <a:ea typeface="Times New Roman"/>
                <a:cs typeface="Times New Roman"/>
                <a:sym typeface="Times New Roman"/>
              </a:rPr>
              <a:t>Pipelining</a:t>
            </a:r>
            <a:endParaRPr sz="2800">
              <a:latin typeface="Times New Roman"/>
              <a:ea typeface="Times New Roman"/>
              <a:cs typeface="Times New Roman"/>
              <a:sym typeface="Times New Roman"/>
            </a:endParaRPr>
          </a:p>
        </p:txBody>
      </p:sp>
      <p:sp>
        <p:nvSpPr>
          <p:cNvPr id="1095" name="Google Shape;1095;p156"/>
          <p:cNvSpPr txBox="1"/>
          <p:nvPr>
            <p:ph idx="1" type="body"/>
          </p:nvPr>
        </p:nvSpPr>
        <p:spPr>
          <a:xfrm>
            <a:off x="0" y="914400"/>
            <a:ext cx="9144000" cy="48006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600"/>
              <a:buChar char="⚫"/>
            </a:pPr>
            <a:r>
              <a:rPr lang="en-US" sz="2000">
                <a:latin typeface="Times New Roman"/>
                <a:ea typeface="Times New Roman"/>
                <a:cs typeface="Times New Roman"/>
                <a:sym typeface="Times New Roman"/>
              </a:rPr>
              <a:t>Pipelining is the process of accumulating instruction from the processor through a pipeline.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It allows storing and executing instructions in an orderly process. It is also known as pipeline processing. </a:t>
            </a:r>
            <a:endParaRPr sz="20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Pipelining is a technique where </a:t>
            </a:r>
            <a:r>
              <a:rPr lang="en-US" sz="2000">
                <a:solidFill>
                  <a:srgbClr val="00B050"/>
                </a:solidFill>
                <a:latin typeface="Times New Roman"/>
                <a:ea typeface="Times New Roman"/>
                <a:cs typeface="Times New Roman"/>
                <a:sym typeface="Times New Roman"/>
              </a:rPr>
              <a:t>multiple instructions are overlapped during execution.</a:t>
            </a:r>
            <a:endParaRPr sz="2000">
              <a:solidFill>
                <a:srgbClr val="00B050"/>
              </a:solidFill>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Pipelining-to simplify hardware by using an instruction set composed of basic steps for evaluating, loading, and storing operations.</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 processor works on different steps of the instruction at the same time, more instructions can be executed in a shorter period of time.</a:t>
            </a:r>
            <a:endParaRPr/>
          </a:p>
          <a:p>
            <a:pPr indent="-283464" lvl="0" marL="365760" rtl="0" algn="just">
              <a:lnSpc>
                <a:spcPct val="100000"/>
              </a:lnSpc>
              <a:spcBef>
                <a:spcPts val="600"/>
              </a:spcBef>
              <a:spcAft>
                <a:spcPts val="0"/>
              </a:spcAft>
              <a:buSzPts val="1600"/>
              <a:buChar char="⚫"/>
            </a:pPr>
            <a:r>
              <a:rPr lang="en-US" sz="2000">
                <a:latin typeface="Times New Roman"/>
                <a:ea typeface="Times New Roman"/>
                <a:cs typeface="Times New Roman"/>
                <a:sym typeface="Times New Roman"/>
              </a:rPr>
              <a:t>they are basically variations of these five, used in the MIPS R3000 processor:</a:t>
            </a:r>
            <a:endParaRPr sz="2000">
              <a:latin typeface="Times New Roman"/>
              <a:ea typeface="Times New Roman"/>
              <a:cs typeface="Times New Roman"/>
              <a:sym typeface="Times New Roman"/>
            </a:endParaRPr>
          </a:p>
          <a:p>
            <a:pPr indent="-237744" lvl="1" marL="640080" rtl="0" algn="just">
              <a:lnSpc>
                <a:spcPct val="100000"/>
              </a:lnSpc>
              <a:spcBef>
                <a:spcPts val="550"/>
              </a:spcBef>
              <a:spcAft>
                <a:spcPts val="0"/>
              </a:spcAft>
              <a:buSzPts val="1600"/>
              <a:buChar char="◦"/>
            </a:pPr>
            <a:r>
              <a:rPr lang="en-US" sz="1600">
                <a:solidFill>
                  <a:srgbClr val="FF0000"/>
                </a:solidFill>
                <a:latin typeface="Times New Roman"/>
                <a:ea typeface="Times New Roman"/>
                <a:cs typeface="Times New Roman"/>
                <a:sym typeface="Times New Roman"/>
              </a:rPr>
              <a:t>fetch instructions from memory</a:t>
            </a:r>
            <a:endParaRPr/>
          </a:p>
          <a:p>
            <a:pPr indent="-237744" lvl="1" marL="640080" rtl="0" algn="just">
              <a:lnSpc>
                <a:spcPct val="100000"/>
              </a:lnSpc>
              <a:spcBef>
                <a:spcPts val="550"/>
              </a:spcBef>
              <a:spcAft>
                <a:spcPts val="0"/>
              </a:spcAft>
              <a:buSzPts val="1600"/>
              <a:buChar char="◦"/>
            </a:pPr>
            <a:r>
              <a:rPr lang="en-US" sz="1600">
                <a:solidFill>
                  <a:srgbClr val="FF0000"/>
                </a:solidFill>
                <a:latin typeface="Times New Roman"/>
                <a:ea typeface="Times New Roman"/>
                <a:cs typeface="Times New Roman"/>
                <a:sym typeface="Times New Roman"/>
              </a:rPr>
              <a:t>read registers and decode the instruction</a:t>
            </a:r>
            <a:endParaRPr/>
          </a:p>
          <a:p>
            <a:pPr indent="-237744" lvl="1" marL="640080" rtl="0" algn="just">
              <a:lnSpc>
                <a:spcPct val="100000"/>
              </a:lnSpc>
              <a:spcBef>
                <a:spcPts val="550"/>
              </a:spcBef>
              <a:spcAft>
                <a:spcPts val="0"/>
              </a:spcAft>
              <a:buSzPts val="1600"/>
              <a:buChar char="◦"/>
            </a:pPr>
            <a:r>
              <a:rPr lang="en-US" sz="1600">
                <a:solidFill>
                  <a:srgbClr val="FF0000"/>
                </a:solidFill>
                <a:latin typeface="Times New Roman"/>
                <a:ea typeface="Times New Roman"/>
                <a:cs typeface="Times New Roman"/>
                <a:sym typeface="Times New Roman"/>
              </a:rPr>
              <a:t>execute the instruction or calculate an address</a:t>
            </a:r>
            <a:endParaRPr/>
          </a:p>
          <a:p>
            <a:pPr indent="-237744" lvl="1" marL="640080" rtl="0" algn="just">
              <a:lnSpc>
                <a:spcPct val="100000"/>
              </a:lnSpc>
              <a:spcBef>
                <a:spcPts val="550"/>
              </a:spcBef>
              <a:spcAft>
                <a:spcPts val="0"/>
              </a:spcAft>
              <a:buSzPts val="1600"/>
              <a:buChar char="◦"/>
            </a:pPr>
            <a:r>
              <a:rPr lang="en-US" sz="1600">
                <a:solidFill>
                  <a:srgbClr val="FF0000"/>
                </a:solidFill>
                <a:latin typeface="Times New Roman"/>
                <a:ea typeface="Times New Roman"/>
                <a:cs typeface="Times New Roman"/>
                <a:sym typeface="Times New Roman"/>
              </a:rPr>
              <a:t>access an operand in data memory</a:t>
            </a:r>
            <a:endParaRPr/>
          </a:p>
          <a:p>
            <a:pPr indent="-237744" lvl="1" marL="640080" rtl="0" algn="just">
              <a:lnSpc>
                <a:spcPct val="100000"/>
              </a:lnSpc>
              <a:spcBef>
                <a:spcPts val="550"/>
              </a:spcBef>
              <a:spcAft>
                <a:spcPts val="0"/>
              </a:spcAft>
              <a:buSzPts val="1600"/>
              <a:buChar char="◦"/>
            </a:pPr>
            <a:r>
              <a:rPr lang="en-US" sz="1600">
                <a:solidFill>
                  <a:srgbClr val="FF0000"/>
                </a:solidFill>
                <a:latin typeface="Times New Roman"/>
                <a:ea typeface="Times New Roman"/>
                <a:cs typeface="Times New Roman"/>
                <a:sym typeface="Times New Roman"/>
              </a:rPr>
              <a:t>write the result into a register</a:t>
            </a:r>
            <a:endParaRPr/>
          </a:p>
          <a:p>
            <a:pPr indent="-181864" lvl="0" marL="365760" rtl="0" algn="just">
              <a:lnSpc>
                <a:spcPct val="100000"/>
              </a:lnSpc>
              <a:spcBef>
                <a:spcPts val="600"/>
              </a:spcBef>
              <a:spcAft>
                <a:spcPts val="0"/>
              </a:spcAft>
              <a:buSzPts val="1600"/>
              <a:buNone/>
            </a:pPr>
            <a:r>
              <a:t/>
            </a:r>
            <a:endParaRPr sz="2000">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57"/>
          <p:cNvSpPr txBox="1"/>
          <p:nvPr>
            <p:ph type="title"/>
          </p:nvPr>
        </p:nvSpPr>
        <p:spPr>
          <a:xfrm>
            <a:off x="304800" y="533400"/>
            <a:ext cx="8705088" cy="5635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200"/>
              <a:buFont typeface="Times New Roman"/>
              <a:buNone/>
            </a:pPr>
            <a:r>
              <a:rPr lang="en-US" sz="3200">
                <a:latin typeface="Times New Roman"/>
                <a:ea typeface="Times New Roman"/>
                <a:cs typeface="Times New Roman"/>
                <a:sym typeface="Times New Roman"/>
              </a:rPr>
              <a:t>Principles of RISCs Pipeline</a:t>
            </a:r>
            <a:br>
              <a:rPr lang="en-US" sz="3200">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pic>
        <p:nvPicPr>
          <p:cNvPr id="1101" name="Google Shape;1101;p157"/>
          <p:cNvPicPr preferRelativeResize="0"/>
          <p:nvPr>
            <p:ph idx="1" type="body"/>
          </p:nvPr>
        </p:nvPicPr>
        <p:blipFill rotWithShape="1">
          <a:blip r:embed="rId3">
            <a:alphaModFix/>
          </a:blip>
          <a:srcRect b="0" l="0" r="0" t="0"/>
          <a:stretch/>
        </p:blipFill>
        <p:spPr>
          <a:xfrm>
            <a:off x="914400" y="990600"/>
            <a:ext cx="7467600" cy="3397321"/>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58"/>
          <p:cNvSpPr txBox="1"/>
          <p:nvPr>
            <p:ph type="title"/>
          </p:nvPr>
        </p:nvSpPr>
        <p:spPr>
          <a:xfrm>
            <a:off x="228600" y="274638"/>
            <a:ext cx="8705088"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107" name="Google Shape;1107;p158"/>
          <p:cNvSpPr txBox="1"/>
          <p:nvPr>
            <p:ph idx="1" type="body"/>
          </p:nvPr>
        </p:nvSpPr>
        <p:spPr>
          <a:xfrm>
            <a:off x="381000" y="1066800"/>
            <a:ext cx="8552688" cy="5181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the length of the pipeline is dependent on the length of the longest step.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more conducive to pipelining.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While CISC instructions varied in length, RISC instructions are all the same length and can be fetched in a single operation.</a:t>
            </a:r>
            <a:endParaRPr/>
          </a:p>
          <a:p>
            <a:pPr indent="-161543" lvl="0" marL="365760"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https://cs.stanford.edu/people/eroberts/courses/soco/projects/risc/pipelining/index.html</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1" name="Shape 1111"/>
        <p:cNvGrpSpPr/>
        <p:nvPr/>
      </p:nvGrpSpPr>
      <p:grpSpPr>
        <a:xfrm>
          <a:off x="0" y="0"/>
          <a:ext cx="0" cy="0"/>
          <a:chOff x="0" y="0"/>
          <a:chExt cx="0" cy="0"/>
        </a:xfrm>
      </p:grpSpPr>
      <p:sp>
        <p:nvSpPr>
          <p:cNvPr id="1112" name="Google Shape;1112;p159"/>
          <p:cNvSpPr txBox="1"/>
          <p:nvPr>
            <p:ph type="title"/>
          </p:nvPr>
        </p:nvSpPr>
        <p:spPr>
          <a:xfrm>
            <a:off x="968146" y="461594"/>
            <a:ext cx="721042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PIPELINING-Ex Laundry Analogy</a:t>
            </a:r>
            <a:endParaRPr sz="4400">
              <a:latin typeface="Calibri"/>
              <a:ea typeface="Calibri"/>
              <a:cs typeface="Calibri"/>
              <a:sym typeface="Calibri"/>
            </a:endParaRPr>
          </a:p>
        </p:txBody>
      </p:sp>
      <p:pic>
        <p:nvPicPr>
          <p:cNvPr id="1113" name="Google Shape;1113;p159"/>
          <p:cNvPicPr preferRelativeResize="0"/>
          <p:nvPr/>
        </p:nvPicPr>
        <p:blipFill rotWithShape="1">
          <a:blip r:embed="rId3">
            <a:alphaModFix/>
          </a:blip>
          <a:srcRect b="0" l="0" r="0" t="0"/>
          <a:stretch/>
        </p:blipFill>
        <p:spPr>
          <a:xfrm>
            <a:off x="96334" y="1348699"/>
            <a:ext cx="8686178" cy="4592401"/>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7" name="Shape 1117"/>
        <p:cNvGrpSpPr/>
        <p:nvPr/>
      </p:nvGrpSpPr>
      <p:grpSpPr>
        <a:xfrm>
          <a:off x="0" y="0"/>
          <a:ext cx="0" cy="0"/>
          <a:chOff x="0" y="0"/>
          <a:chExt cx="0" cy="0"/>
        </a:xfrm>
      </p:grpSpPr>
      <p:pic>
        <p:nvPicPr>
          <p:cNvPr id="1118" name="Google Shape;1118;p160"/>
          <p:cNvPicPr preferRelativeResize="0"/>
          <p:nvPr/>
        </p:nvPicPr>
        <p:blipFill rotWithShape="1">
          <a:blip r:embed="rId3">
            <a:alphaModFix/>
          </a:blip>
          <a:srcRect b="0" l="0" r="0" t="0"/>
          <a:stretch/>
        </p:blipFill>
        <p:spPr>
          <a:xfrm>
            <a:off x="341072" y="1111186"/>
            <a:ext cx="8770444" cy="4618973"/>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2" name="Shape 1122"/>
        <p:cNvGrpSpPr/>
        <p:nvPr/>
      </p:nvGrpSpPr>
      <p:grpSpPr>
        <a:xfrm>
          <a:off x="0" y="0"/>
          <a:ext cx="0" cy="0"/>
          <a:chOff x="0" y="0"/>
          <a:chExt cx="0" cy="0"/>
        </a:xfrm>
      </p:grpSpPr>
      <p:sp>
        <p:nvSpPr>
          <p:cNvPr id="1123" name="Google Shape;1123;p161"/>
          <p:cNvSpPr txBox="1"/>
          <p:nvPr>
            <p:ph type="title"/>
          </p:nvPr>
        </p:nvSpPr>
        <p:spPr>
          <a:xfrm>
            <a:off x="1981200" y="152400"/>
            <a:ext cx="524637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Problems with pipeline</a:t>
            </a:r>
            <a:endParaRPr sz="4400">
              <a:latin typeface="Calibri"/>
              <a:ea typeface="Calibri"/>
              <a:cs typeface="Calibri"/>
              <a:sym typeface="Calibri"/>
            </a:endParaRPr>
          </a:p>
        </p:txBody>
      </p:sp>
      <p:sp>
        <p:nvSpPr>
          <p:cNvPr id="1124" name="Google Shape;1124;p161"/>
          <p:cNvSpPr txBox="1"/>
          <p:nvPr/>
        </p:nvSpPr>
        <p:spPr>
          <a:xfrm>
            <a:off x="2675467" y="838200"/>
            <a:ext cx="3417570" cy="1640839"/>
          </a:xfrm>
          <a:prstGeom prst="rect">
            <a:avLst/>
          </a:prstGeom>
          <a:noFill/>
          <a:ln>
            <a:noFill/>
          </a:ln>
        </p:spPr>
        <p:txBody>
          <a:bodyPr anchorCtr="0" anchor="t" bIns="0" lIns="0" spcFirstLastPara="1" rIns="0" wrap="square" tIns="113650">
            <a:spAutoFit/>
          </a:bodyPr>
          <a:lstStyle/>
          <a:p>
            <a:pPr indent="-342900" lvl="0" marL="342900" marR="5080" rtl="0" algn="r">
              <a:lnSpc>
                <a:spcPct val="100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Stalling of pipeline</a:t>
            </a:r>
            <a:endParaRPr sz="3200">
              <a:solidFill>
                <a:schemeClr val="dk1"/>
              </a:solidFill>
              <a:latin typeface="Calibri"/>
              <a:ea typeface="Calibri"/>
              <a:cs typeface="Calibri"/>
              <a:sym typeface="Calibri"/>
            </a:endParaRPr>
          </a:p>
          <a:p>
            <a:pPr indent="-287020" lvl="1" marL="287020" marR="98425" rtl="0" algn="r">
              <a:lnSpc>
                <a:spcPct val="100000"/>
              </a:lnSpc>
              <a:spcBef>
                <a:spcPts val="69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Data Dependency</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7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Branch,etc…</a:t>
            </a:r>
            <a:endParaRPr b="0" i="0" sz="2800" u="none" cap="none" strike="noStrike">
              <a:solidFill>
                <a:schemeClr val="dk1"/>
              </a:solidFill>
              <a:latin typeface="Calibri"/>
              <a:ea typeface="Calibri"/>
              <a:cs typeface="Calibri"/>
              <a:sym typeface="Calibri"/>
            </a:endParaRPr>
          </a:p>
        </p:txBody>
      </p:sp>
      <p:sp>
        <p:nvSpPr>
          <p:cNvPr id="1125" name="Google Shape;1125;p161"/>
          <p:cNvSpPr txBox="1"/>
          <p:nvPr/>
        </p:nvSpPr>
        <p:spPr>
          <a:xfrm>
            <a:off x="609600" y="2479039"/>
            <a:ext cx="8229600" cy="4093428"/>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RISC processors operate at more than one cycle per instruction (practically). </a:t>
            </a:r>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processor might occasionally stall as a result of data dependencies and branch instructions.</a:t>
            </a:r>
            <a:endParaRPr/>
          </a:p>
          <a:p>
            <a:pPr indent="-342900" lvl="1" marL="80010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 data dependency occurs when an instruction depends on the results of a previous instruction. </a:t>
            </a:r>
            <a:endParaRPr b="0" i="0" sz="2000" u="none" cap="none" strike="noStrike">
              <a:solidFill>
                <a:schemeClr val="dk1"/>
              </a:solidFill>
              <a:latin typeface="Times New Roman"/>
              <a:ea typeface="Times New Roman"/>
              <a:cs typeface="Times New Roman"/>
              <a:sym typeface="Times New Roman"/>
            </a:endParaRPr>
          </a:p>
          <a:p>
            <a:pPr indent="-342900" lvl="1" marL="80010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A particular instruction might need data in a register which has not yet been stored since that is the job of a preceding instruction which has not yet reached that step in the pipeline.</a:t>
            </a:r>
            <a:endParaRPr/>
          </a:p>
          <a:p>
            <a:pPr indent="-342900" lvl="1" marL="80010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Solution-Code reordering-code could be rearranged so that those instructions are executed in between the two dependent instructions and the pipeline could flow efficiently.</a:t>
            </a:r>
            <a:endParaRPr/>
          </a:p>
          <a:p>
            <a:pPr indent="-158750" lvl="0" marL="285750" marR="0" rtl="0" algn="just">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62"/>
          <p:cNvSpPr txBox="1"/>
          <p:nvPr>
            <p:ph type="title"/>
          </p:nvPr>
        </p:nvSpPr>
        <p:spPr>
          <a:xfrm>
            <a:off x="228600" y="274638"/>
            <a:ext cx="87050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131" name="Google Shape;1131;p162"/>
          <p:cNvSpPr txBox="1"/>
          <p:nvPr>
            <p:ph idx="1" type="body"/>
          </p:nvPr>
        </p:nvSpPr>
        <p:spPr>
          <a:xfrm>
            <a:off x="228600" y="838200"/>
            <a:ext cx="8705088"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Branch instructions are those that tell the processor to make a decision about what the next instruction to be executed should be </a:t>
            </a:r>
            <a:r>
              <a:rPr b="1" lang="en-US" sz="2400">
                <a:latin typeface="Times New Roman"/>
                <a:ea typeface="Times New Roman"/>
                <a:cs typeface="Times New Roman"/>
                <a:sym typeface="Times New Roman"/>
              </a:rPr>
              <a:t>based on the results of another instruction. </a:t>
            </a:r>
            <a:endParaRPr b="1"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Branch instructions can be troublesome in a pipeline if a branch is conditional on the results of an instruction which has not yet finished its path through the pipeline.</a:t>
            </a:r>
            <a:endParaRPr/>
          </a:p>
          <a:p>
            <a:pPr indent="0" lvl="0" marL="82296" rtl="0" algn="just">
              <a:lnSpc>
                <a:spcPct val="100000"/>
              </a:lnSpc>
              <a:spcBef>
                <a:spcPts val="600"/>
              </a:spcBef>
              <a:spcAft>
                <a:spcPts val="0"/>
              </a:spcAft>
              <a:buSzPts val="1920"/>
              <a:buNone/>
            </a:pPr>
            <a: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solidFill>
                  <a:srgbClr val="00B050"/>
                </a:solidFill>
                <a:latin typeface="Times New Roman"/>
                <a:ea typeface="Times New Roman"/>
                <a:cs typeface="Times New Roman"/>
                <a:sym typeface="Times New Roman"/>
              </a:rPr>
              <a:t>Superpipelining</a:t>
            </a:r>
            <a:r>
              <a:rPr lang="en-US" sz="2400">
                <a:latin typeface="Times New Roman"/>
                <a:ea typeface="Times New Roman"/>
                <a:cs typeface="Times New Roman"/>
                <a:sym typeface="Times New Roman"/>
              </a:rPr>
              <a:t> refers to dividing the pipeline into more steps. The more pipe stages there are, the faster the pipeline is because each stage is then shorter. </a:t>
            </a:r>
            <a:endParaRPr sz="2400">
              <a:latin typeface="Times New Roman"/>
              <a:ea typeface="Times New Roman"/>
              <a:cs typeface="Times New Roman"/>
              <a:sym typeface="Times New Roman"/>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Ideally, a pipeline with five stages should be five times faster than a non-pipelined processor</a:t>
            </a:r>
            <a:endParaRPr sz="2400">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5" name="Shape 1135"/>
        <p:cNvGrpSpPr/>
        <p:nvPr/>
      </p:nvGrpSpPr>
      <p:grpSpPr>
        <a:xfrm>
          <a:off x="0" y="0"/>
          <a:ext cx="0" cy="0"/>
          <a:chOff x="0" y="0"/>
          <a:chExt cx="0" cy="0"/>
        </a:xfrm>
      </p:grpSpPr>
      <p:sp>
        <p:nvSpPr>
          <p:cNvPr id="1136" name="Google Shape;1136;p163"/>
          <p:cNvSpPr txBox="1"/>
          <p:nvPr>
            <p:ph type="title"/>
          </p:nvPr>
        </p:nvSpPr>
        <p:spPr>
          <a:xfrm>
            <a:off x="2882645" y="461594"/>
            <a:ext cx="3384000" cy="6972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Pipelining</a:t>
            </a:r>
            <a:endParaRPr sz="4400">
              <a:latin typeface="Calibri"/>
              <a:ea typeface="Calibri"/>
              <a:cs typeface="Calibri"/>
              <a:sym typeface="Calibri"/>
            </a:endParaRPr>
          </a:p>
        </p:txBody>
      </p:sp>
      <p:sp>
        <p:nvSpPr>
          <p:cNvPr id="1137" name="Google Shape;1137;p163"/>
          <p:cNvSpPr txBox="1"/>
          <p:nvPr/>
        </p:nvSpPr>
        <p:spPr>
          <a:xfrm>
            <a:off x="78739" y="990879"/>
            <a:ext cx="8684261" cy="5377754"/>
          </a:xfrm>
          <a:prstGeom prst="rect">
            <a:avLst/>
          </a:prstGeom>
          <a:noFill/>
          <a:ln>
            <a:noFill/>
          </a:ln>
        </p:spPr>
        <p:txBody>
          <a:bodyPr anchorCtr="0" anchor="t" bIns="0" lIns="0" spcFirstLastPara="1" rIns="0" wrap="square" tIns="98425">
            <a:spAutoFit/>
          </a:bodyPr>
          <a:lstStyle/>
          <a:p>
            <a:pPr indent="-342900" lvl="0" marL="355600" marR="0" rtl="0" algn="l">
              <a:lnSpc>
                <a:spcPct val="100000"/>
              </a:lnSpc>
              <a:spcBef>
                <a:spcPts val="0"/>
              </a:spcBef>
              <a:spcAft>
                <a:spcPts val="0"/>
              </a:spcAft>
              <a:buClr>
                <a:schemeClr val="dk1"/>
              </a:buClr>
              <a:buSzPts val="2400"/>
              <a:buFont typeface="Arial"/>
              <a:buChar char="•"/>
            </a:pPr>
            <a:r>
              <a:rPr b="1" lang="en-US" sz="2400">
                <a:solidFill>
                  <a:schemeClr val="dk1"/>
                </a:solidFill>
                <a:latin typeface="Gill Sans"/>
                <a:ea typeface="Gill Sans"/>
                <a:cs typeface="Gill Sans"/>
                <a:sym typeface="Gill Sans"/>
              </a:rPr>
              <a:t>Pipelining with Regular Instructions</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7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Most instructions are </a:t>
            </a:r>
            <a:r>
              <a:rPr b="1" lang="en-US" sz="2400">
                <a:solidFill>
                  <a:srgbClr val="FF0000"/>
                </a:solidFill>
                <a:latin typeface="Times New Roman"/>
                <a:ea typeface="Times New Roman"/>
                <a:cs typeface="Times New Roman"/>
                <a:sym typeface="Times New Roman"/>
              </a:rPr>
              <a:t>register to register</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67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Two phases of execution, </a:t>
            </a:r>
            <a:r>
              <a:rPr b="1" lang="en-US" sz="2400">
                <a:solidFill>
                  <a:srgbClr val="FF0000"/>
                </a:solidFill>
                <a:latin typeface="Times New Roman"/>
                <a:ea typeface="Times New Roman"/>
                <a:cs typeface="Times New Roman"/>
                <a:sym typeface="Times New Roman"/>
              </a:rPr>
              <a:t>I E</a:t>
            </a:r>
            <a:endParaRPr sz="2400">
              <a:solidFill>
                <a:schemeClr val="dk1"/>
              </a:solidFill>
              <a:latin typeface="Times New Roman"/>
              <a:ea typeface="Times New Roman"/>
              <a:cs typeface="Times New Roman"/>
              <a:sym typeface="Times New Roman"/>
            </a:endParaRPr>
          </a:p>
          <a:p>
            <a:pPr indent="-287019" lvl="1" marL="756285"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 Instruction fetch</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57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 Execute</a:t>
            </a:r>
            <a:endParaRPr b="0" i="0" sz="2400" u="none" cap="none" strike="noStrike">
              <a:solidFill>
                <a:schemeClr val="dk1"/>
              </a:solidFill>
              <a:latin typeface="Times New Roman"/>
              <a:ea typeface="Times New Roman"/>
              <a:cs typeface="Times New Roman"/>
              <a:sym typeface="Times New Roman"/>
            </a:endParaRPr>
          </a:p>
          <a:p>
            <a:pPr indent="-229235" lvl="2" marL="1155700" marR="0" rtl="0" algn="l">
              <a:lnSpc>
                <a:spcPct val="100000"/>
              </a:lnSpc>
              <a:spcBef>
                <a:spcPts val="509"/>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Perform ALU operation with register input and output</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61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For </a:t>
            </a:r>
            <a:r>
              <a:rPr b="1" lang="en-US" sz="2400">
                <a:solidFill>
                  <a:schemeClr val="dk1"/>
                </a:solidFill>
                <a:latin typeface="Times New Roman"/>
                <a:ea typeface="Times New Roman"/>
                <a:cs typeface="Times New Roman"/>
                <a:sym typeface="Times New Roman"/>
              </a:rPr>
              <a:t>load and store</a:t>
            </a:r>
            <a:r>
              <a:rPr lang="en-US" sz="2400">
                <a:solidFill>
                  <a:schemeClr val="dk1"/>
                </a:solidFill>
                <a:latin typeface="Times New Roman"/>
                <a:ea typeface="Times New Roman"/>
                <a:cs typeface="Times New Roman"/>
                <a:sym typeface="Times New Roman"/>
              </a:rPr>
              <a:t>(</a:t>
            </a:r>
            <a:r>
              <a:rPr b="1" lang="en-US" sz="2400">
                <a:solidFill>
                  <a:srgbClr val="FF0000"/>
                </a:solidFill>
                <a:latin typeface="Times New Roman"/>
                <a:ea typeface="Times New Roman"/>
                <a:cs typeface="Times New Roman"/>
                <a:sym typeface="Times New Roman"/>
              </a:rPr>
              <a:t>memory</a:t>
            </a:r>
            <a:r>
              <a:rPr lang="en-US" sz="2400">
                <a:solidFill>
                  <a:schemeClr val="dk1"/>
                </a:solidFill>
                <a:latin typeface="Times New Roman"/>
                <a:ea typeface="Times New Roman"/>
                <a:cs typeface="Times New Roman"/>
                <a:sym typeface="Times New Roman"/>
              </a:rPr>
              <a:t>),</a:t>
            </a:r>
            <a:r>
              <a:rPr b="1" lang="en-US" sz="2400">
                <a:solidFill>
                  <a:srgbClr val="FF0000"/>
                </a:solidFill>
                <a:latin typeface="Times New Roman"/>
                <a:ea typeface="Times New Roman"/>
                <a:cs typeface="Times New Roman"/>
                <a:sym typeface="Times New Roman"/>
              </a:rPr>
              <a:t>I E D</a:t>
            </a:r>
            <a:endParaRPr sz="2400">
              <a:solidFill>
                <a:schemeClr val="dk1"/>
              </a:solidFill>
              <a:latin typeface="Times New Roman"/>
              <a:ea typeface="Times New Roman"/>
              <a:cs typeface="Times New Roman"/>
              <a:sym typeface="Times New Roman"/>
            </a:endParaRPr>
          </a:p>
          <a:p>
            <a:pPr indent="-287019" lvl="1" marL="756285" marR="0" rtl="0" algn="l">
              <a:lnSpc>
                <a:spcPct val="100000"/>
              </a:lnSpc>
              <a:spcBef>
                <a:spcPts val="6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 Instruction fetch</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5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 Execute</a:t>
            </a:r>
            <a:endParaRPr b="0" i="0" sz="2400" u="none" cap="none" strike="noStrike">
              <a:solidFill>
                <a:schemeClr val="dk1"/>
              </a:solidFill>
              <a:latin typeface="Times New Roman"/>
              <a:ea typeface="Times New Roman"/>
              <a:cs typeface="Times New Roman"/>
              <a:sym typeface="Times New Roman"/>
            </a:endParaRPr>
          </a:p>
          <a:p>
            <a:pPr indent="-229235" lvl="2" marL="1155700" marR="0" rtl="0" algn="l">
              <a:lnSpc>
                <a:spcPct val="100000"/>
              </a:lnSpc>
              <a:spcBef>
                <a:spcPts val="505"/>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Calculate memory address</a:t>
            </a:r>
            <a:endParaRPr b="0" i="0" sz="2400" u="none" cap="none" strike="noStrike">
              <a:solidFill>
                <a:schemeClr val="dk1"/>
              </a:solidFill>
              <a:latin typeface="Times New Roman"/>
              <a:ea typeface="Times New Roman"/>
              <a:cs typeface="Times New Roman"/>
              <a:sym typeface="Times New Roman"/>
            </a:endParaRPr>
          </a:p>
          <a:p>
            <a:pPr indent="-287019" lvl="1" marL="756285" marR="0" rtl="0" algn="l">
              <a:lnSpc>
                <a:spcPct val="100000"/>
              </a:lnSpc>
              <a:spcBef>
                <a:spcPts val="55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 Memory</a:t>
            </a:r>
            <a:endParaRPr/>
          </a:p>
          <a:p>
            <a:pPr indent="-229235" lvl="2" marL="1155700" marR="0" rtl="0" algn="l">
              <a:lnSpc>
                <a:spcPct val="100000"/>
              </a:lnSpc>
              <a:spcBef>
                <a:spcPts val="509"/>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Register to memory or memory to register operation</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1" name="Shape 1141"/>
        <p:cNvGrpSpPr/>
        <p:nvPr/>
      </p:nvGrpSpPr>
      <p:grpSpPr>
        <a:xfrm>
          <a:off x="0" y="0"/>
          <a:ext cx="0" cy="0"/>
          <a:chOff x="0" y="0"/>
          <a:chExt cx="0" cy="0"/>
        </a:xfrm>
      </p:grpSpPr>
      <p:pic>
        <p:nvPicPr>
          <p:cNvPr id="1142" name="Google Shape;1142;p164"/>
          <p:cNvPicPr preferRelativeResize="0"/>
          <p:nvPr/>
        </p:nvPicPr>
        <p:blipFill rotWithShape="1">
          <a:blip r:embed="rId3">
            <a:alphaModFix/>
          </a:blip>
          <a:srcRect b="0" l="0" r="0" t="0"/>
          <a:stretch/>
        </p:blipFill>
        <p:spPr>
          <a:xfrm>
            <a:off x="0" y="1219200"/>
            <a:ext cx="8798527" cy="4184542"/>
          </a:xfrm>
          <a:prstGeom prst="rect">
            <a:avLst/>
          </a:prstGeom>
          <a:noFill/>
          <a:ln>
            <a:noFill/>
          </a:ln>
        </p:spPr>
      </p:pic>
      <p:sp>
        <p:nvSpPr>
          <p:cNvPr id="1143" name="Google Shape;1143;p164"/>
          <p:cNvSpPr txBox="1"/>
          <p:nvPr/>
        </p:nvSpPr>
        <p:spPr>
          <a:xfrm>
            <a:off x="533400" y="5715000"/>
            <a:ext cx="82651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timing of a sequence of instructions using no pipelining-Clearly, this is a wasteful process</a:t>
            </a:r>
            <a:endParaRPr sz="1800">
              <a:solidFill>
                <a:schemeClr val="dk1"/>
              </a:solidFill>
              <a:latin typeface="Gill Sans"/>
              <a:ea typeface="Gill Sans"/>
              <a:cs typeface="Gill Sans"/>
              <a:sym typeface="Gill San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7" name="Shape 1147"/>
        <p:cNvGrpSpPr/>
        <p:nvPr/>
      </p:nvGrpSpPr>
      <p:grpSpPr>
        <a:xfrm>
          <a:off x="0" y="0"/>
          <a:ext cx="0" cy="0"/>
          <a:chOff x="0" y="0"/>
          <a:chExt cx="0" cy="0"/>
        </a:xfrm>
      </p:grpSpPr>
      <p:pic>
        <p:nvPicPr>
          <p:cNvPr id="1148" name="Google Shape;1148;p165"/>
          <p:cNvPicPr preferRelativeResize="0"/>
          <p:nvPr/>
        </p:nvPicPr>
        <p:blipFill rotWithShape="1">
          <a:blip r:embed="rId3">
            <a:alphaModFix/>
          </a:blip>
          <a:srcRect b="0" l="0" r="0" t="0"/>
          <a:stretch/>
        </p:blipFill>
        <p:spPr>
          <a:xfrm>
            <a:off x="589212" y="533400"/>
            <a:ext cx="7683534" cy="4381803"/>
          </a:xfrm>
          <a:prstGeom prst="rect">
            <a:avLst/>
          </a:prstGeom>
          <a:noFill/>
          <a:ln>
            <a:noFill/>
          </a:ln>
        </p:spPr>
      </p:pic>
      <p:sp>
        <p:nvSpPr>
          <p:cNvPr id="1149" name="Google Shape;1149;p165"/>
          <p:cNvSpPr txBox="1"/>
          <p:nvPr/>
        </p:nvSpPr>
        <p:spPr>
          <a:xfrm>
            <a:off x="979119" y="5897676"/>
            <a:ext cx="6903720" cy="7569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2400">
                <a:solidFill>
                  <a:schemeClr val="dk1"/>
                </a:solidFill>
                <a:latin typeface="Cambria"/>
                <a:ea typeface="Cambria"/>
                <a:cs typeface="Cambria"/>
                <a:sym typeface="Cambria"/>
              </a:rPr>
              <a:t>NOP </a:t>
            </a:r>
            <a:r>
              <a:rPr lang="en-US" sz="2400">
                <a:solidFill>
                  <a:schemeClr val="dk1"/>
                </a:solidFill>
                <a:latin typeface="Cambria"/>
                <a:ea typeface="Cambria"/>
                <a:cs typeface="Cambria"/>
                <a:sym typeface="Cambria"/>
              </a:rPr>
              <a:t>is typically used to generate a delay in  execution or to reserve space in code memory.</a:t>
            </a:r>
            <a:endParaRPr sz="2400">
              <a:solidFill>
                <a:schemeClr val="dk1"/>
              </a:solidFill>
              <a:latin typeface="Cambria"/>
              <a:ea typeface="Cambria"/>
              <a:cs typeface="Cambria"/>
              <a:sym typeface="Cambria"/>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66"/>
          <p:cNvSpPr txBox="1"/>
          <p:nvPr>
            <p:ph type="title"/>
          </p:nvPr>
        </p:nvSpPr>
        <p:spPr>
          <a:xfrm>
            <a:off x="152400" y="274638"/>
            <a:ext cx="8781288" cy="4111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t/>
            </a:r>
            <a:endParaRPr/>
          </a:p>
        </p:txBody>
      </p:sp>
      <p:sp>
        <p:nvSpPr>
          <p:cNvPr id="1155" name="Google Shape;1155;p166"/>
          <p:cNvSpPr txBox="1"/>
          <p:nvPr>
            <p:ph idx="1" type="body"/>
          </p:nvPr>
        </p:nvSpPr>
        <p:spPr>
          <a:xfrm>
            <a:off x="304800" y="914400"/>
            <a:ext cx="8628888" cy="53340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latin typeface="Times New Roman"/>
                <a:ea typeface="Times New Roman"/>
                <a:cs typeface="Times New Roman"/>
                <a:sym typeface="Times New Roman"/>
              </a:rPr>
              <a:t>instruction fetch stage of the second instruction can be performed in parallel with the first part of the execute/memory stage.</a:t>
            </a:r>
            <a:endParaRPr/>
          </a:p>
          <a:p>
            <a:pPr indent="-283464" lvl="0" marL="365760" rtl="0" algn="just">
              <a:lnSpc>
                <a:spcPct val="100000"/>
              </a:lnSpc>
              <a:spcBef>
                <a:spcPts val="600"/>
              </a:spcBef>
              <a:spcAft>
                <a:spcPts val="0"/>
              </a:spcAft>
              <a:buSzPts val="1920"/>
              <a:buChar char="⚫"/>
            </a:pPr>
            <a:r>
              <a:rPr lang="en-US" sz="2400">
                <a:latin typeface="Times New Roman"/>
                <a:ea typeface="Times New Roman"/>
                <a:cs typeface="Times New Roman"/>
                <a:sym typeface="Times New Roman"/>
              </a:rPr>
              <a:t>a branch instruction interrupts the sequential flow of execution-NOOP-</a:t>
            </a:r>
            <a:r>
              <a:rPr lang="en-US" sz="2400">
                <a:latin typeface="Cambria"/>
                <a:ea typeface="Cambria"/>
                <a:cs typeface="Cambria"/>
                <a:sym typeface="Cambria"/>
              </a:rPr>
              <a:t> generate a delay in  execution or to reserve space in code memory</a:t>
            </a:r>
            <a:endParaRPr sz="2400">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59" name="Shape 1159"/>
        <p:cNvGrpSpPr/>
        <p:nvPr/>
      </p:nvGrpSpPr>
      <p:grpSpPr>
        <a:xfrm>
          <a:off x="0" y="0"/>
          <a:ext cx="0" cy="0"/>
          <a:chOff x="0" y="0"/>
          <a:chExt cx="0" cy="0"/>
        </a:xfrm>
      </p:grpSpPr>
      <p:pic>
        <p:nvPicPr>
          <p:cNvPr id="1160" name="Google Shape;1160;p167"/>
          <p:cNvPicPr preferRelativeResize="0"/>
          <p:nvPr/>
        </p:nvPicPr>
        <p:blipFill rotWithShape="1">
          <a:blip r:embed="rId3">
            <a:alphaModFix/>
          </a:blip>
          <a:srcRect b="0" l="0" r="0" t="0"/>
          <a:stretch/>
        </p:blipFill>
        <p:spPr>
          <a:xfrm>
            <a:off x="304800" y="381000"/>
            <a:ext cx="8022335" cy="4970316"/>
          </a:xfrm>
          <a:prstGeom prst="rect">
            <a:avLst/>
          </a:prstGeom>
          <a:noFill/>
          <a:ln>
            <a:noFill/>
          </a:ln>
        </p:spPr>
      </p:pic>
      <p:sp>
        <p:nvSpPr>
          <p:cNvPr id="1161" name="Google Shape;1161;p167"/>
          <p:cNvSpPr txBox="1"/>
          <p:nvPr/>
        </p:nvSpPr>
        <p:spPr>
          <a:xfrm>
            <a:off x="457200" y="5638800"/>
            <a:ext cx="8153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three instructions can be overlapped, and the improvement is as much as a factor of 3</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5" name="Shape 1165"/>
        <p:cNvGrpSpPr/>
        <p:nvPr/>
      </p:nvGrpSpPr>
      <p:grpSpPr>
        <a:xfrm>
          <a:off x="0" y="0"/>
          <a:ext cx="0" cy="0"/>
          <a:chOff x="0" y="0"/>
          <a:chExt cx="0" cy="0"/>
        </a:xfrm>
      </p:grpSpPr>
      <p:sp>
        <p:nvSpPr>
          <p:cNvPr id="1166" name="Google Shape;1166;p168"/>
          <p:cNvSpPr txBox="1"/>
          <p:nvPr>
            <p:ph type="title"/>
          </p:nvPr>
        </p:nvSpPr>
        <p:spPr>
          <a:xfrm>
            <a:off x="2588514" y="461594"/>
            <a:ext cx="3968115"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RISC Architecture</a:t>
            </a:r>
            <a:endParaRPr sz="4400">
              <a:latin typeface="Calibri"/>
              <a:ea typeface="Calibri"/>
              <a:cs typeface="Calibri"/>
              <a:sym typeface="Calibri"/>
            </a:endParaRPr>
          </a:p>
        </p:txBody>
      </p:sp>
      <p:sp>
        <p:nvSpPr>
          <p:cNvPr id="1167" name="Google Shape;1167;p168"/>
          <p:cNvSpPr txBox="1"/>
          <p:nvPr/>
        </p:nvSpPr>
        <p:spPr>
          <a:xfrm>
            <a:off x="78739" y="1023980"/>
            <a:ext cx="8747760" cy="4855210"/>
          </a:xfrm>
          <a:prstGeom prst="rect">
            <a:avLst/>
          </a:prstGeom>
          <a:noFill/>
          <a:ln>
            <a:noFill/>
          </a:ln>
        </p:spPr>
        <p:txBody>
          <a:bodyPr anchorCtr="0" anchor="t" bIns="0" lIns="0" spcFirstLastPara="1" rIns="0" wrap="square" tIns="12050">
            <a:spAutoFit/>
          </a:bodyPr>
          <a:lstStyle/>
          <a:p>
            <a:pPr indent="-342900" lvl="0" marL="355600" marR="5080" rtl="0" algn="just">
              <a:lnSpc>
                <a:spcPct val="1501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9 </a:t>
            </a:r>
            <a:r>
              <a:rPr b="1" lang="en-US" sz="2400">
                <a:solidFill>
                  <a:schemeClr val="dk1"/>
                </a:solidFill>
                <a:latin typeface="Times New Roman"/>
                <a:ea typeface="Times New Roman"/>
                <a:cs typeface="Times New Roman"/>
                <a:sym typeface="Times New Roman"/>
              </a:rPr>
              <a:t>functional units </a:t>
            </a:r>
            <a:r>
              <a:rPr lang="en-US" sz="2400">
                <a:solidFill>
                  <a:schemeClr val="dk1"/>
                </a:solidFill>
                <a:latin typeface="Times New Roman"/>
                <a:ea typeface="Times New Roman"/>
                <a:cs typeface="Times New Roman"/>
                <a:sym typeface="Times New Roman"/>
              </a:rPr>
              <a:t>interconnected by multiple data paths with width  ranging from 32-128 bits</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14"/>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All internal- external buses are 32 bit wide</a:t>
            </a:r>
            <a:endParaRPr/>
          </a:p>
          <a:p>
            <a:pPr indent="-342900" lvl="0" marL="355600" marR="0" rtl="0" algn="just">
              <a:lnSpc>
                <a:spcPct val="100000"/>
              </a:lnSpc>
              <a:spcBef>
                <a:spcPts val="202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Separate instruction (4KB)and data cache(8KB)</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14"/>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MMU- </a:t>
            </a:r>
            <a:r>
              <a:rPr lang="en-US" sz="2400">
                <a:solidFill>
                  <a:schemeClr val="dk1"/>
                </a:solidFill>
                <a:latin typeface="Times New Roman"/>
                <a:ea typeface="Times New Roman"/>
                <a:cs typeface="Times New Roman"/>
                <a:sym typeface="Times New Roman"/>
              </a:rPr>
              <a:t>implements paged virtual memory structure</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2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RISC integer unit </a:t>
            </a:r>
            <a:r>
              <a:rPr lang="en-US" sz="2400">
                <a:solidFill>
                  <a:schemeClr val="dk1"/>
                </a:solidFill>
                <a:latin typeface="Times New Roman"/>
                <a:ea typeface="Times New Roman"/>
                <a:cs typeface="Times New Roman"/>
                <a:sym typeface="Times New Roman"/>
              </a:rPr>
              <a:t>executes load,store,fetch etc</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14"/>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2 floating point units , multiplier unit and adder unit</a:t>
            </a:r>
            <a:endParaRPr sz="24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02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Graphics unit </a:t>
            </a:r>
            <a:r>
              <a:rPr lang="en-US" sz="2400">
                <a:solidFill>
                  <a:schemeClr val="dk1"/>
                </a:solidFill>
                <a:latin typeface="Times New Roman"/>
                <a:ea typeface="Times New Roman"/>
                <a:cs typeface="Times New Roman"/>
                <a:sym typeface="Times New Roman"/>
              </a:rPr>
              <a:t>to support 3D drawing</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6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t/>
            </a:r>
            <a:endParaRPr/>
          </a:p>
        </p:txBody>
      </p:sp>
      <p:pic>
        <p:nvPicPr>
          <p:cNvPr id="1173" name="Google Shape;1173;p169"/>
          <p:cNvPicPr preferRelativeResize="0"/>
          <p:nvPr>
            <p:ph idx="1" type="body"/>
          </p:nvPr>
        </p:nvPicPr>
        <p:blipFill rotWithShape="1">
          <a:blip r:embed="rId3">
            <a:alphaModFix/>
          </a:blip>
          <a:srcRect b="0" l="0" r="0" t="0"/>
          <a:stretch/>
        </p:blipFill>
        <p:spPr>
          <a:xfrm>
            <a:off x="2587487" y="1717561"/>
            <a:ext cx="5346900" cy="44136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7" name="Shape 1177"/>
        <p:cNvGrpSpPr/>
        <p:nvPr/>
      </p:nvGrpSpPr>
      <p:grpSpPr>
        <a:xfrm>
          <a:off x="0" y="0"/>
          <a:ext cx="0" cy="0"/>
          <a:chOff x="0" y="0"/>
          <a:chExt cx="0" cy="0"/>
        </a:xfrm>
      </p:grpSpPr>
      <p:sp>
        <p:nvSpPr>
          <p:cNvPr id="1178" name="Google Shape;1178;p170"/>
          <p:cNvSpPr txBox="1"/>
          <p:nvPr>
            <p:ph type="title"/>
          </p:nvPr>
        </p:nvSpPr>
        <p:spPr>
          <a:xfrm>
            <a:off x="2591561" y="461594"/>
            <a:ext cx="3966210" cy="69723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562214"/>
              </a:buClr>
              <a:buSzPts val="4400"/>
              <a:buFont typeface="Calibri"/>
              <a:buNone/>
            </a:pPr>
            <a:r>
              <a:rPr b="0" lang="en-US" sz="4400">
                <a:latin typeface="Calibri"/>
                <a:ea typeface="Calibri"/>
                <a:cs typeface="Calibri"/>
                <a:sym typeface="Calibri"/>
              </a:rPr>
              <a:t>CISC Architecture</a:t>
            </a:r>
            <a:endParaRPr sz="4400">
              <a:latin typeface="Calibri"/>
              <a:ea typeface="Calibri"/>
              <a:cs typeface="Calibri"/>
              <a:sym typeface="Calibri"/>
            </a:endParaRPr>
          </a:p>
        </p:txBody>
      </p:sp>
      <p:pic>
        <p:nvPicPr>
          <p:cNvPr id="1179" name="Google Shape;1179;p170"/>
          <p:cNvPicPr preferRelativeResize="0"/>
          <p:nvPr/>
        </p:nvPicPr>
        <p:blipFill rotWithShape="1">
          <a:blip r:embed="rId3">
            <a:alphaModFix/>
          </a:blip>
          <a:srcRect b="0" l="0" r="0" t="0"/>
          <a:stretch/>
        </p:blipFill>
        <p:spPr>
          <a:xfrm>
            <a:off x="1623332" y="1825171"/>
            <a:ext cx="5810930" cy="4337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2023-08-21T11:06:01Z</dcterms:created>
  <dc:creator>Adrian J Pullin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2022-10-06T00:00:00Z</vt:filetime>
  </property>
  <property fmtid="{D5CDD505-2E9C-101B-9397-08002B2CF9AE}" pid="3" name="Creator">
    <vt:lpwstr>Microsoft® PowerPoint® 2010</vt:lpwstr>
  </property>
  <property fmtid="{D5CDD505-2E9C-101B-9397-08002B2CF9AE}" pid="4" name="LastSaved">
    <vt:filetime>2023-08-21T00:00:00Z</vt:filetime>
  </property>
</Properties>
</file>