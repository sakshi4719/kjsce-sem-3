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Lst>
  <p:sldSz cy="6858000" cx="9144000"/>
  <p:notesSz cx="9144000" cy="6858000"/>
  <p:embeddedFontLst>
    <p:embeddedFont>
      <p:font typeface="Noto Sans Symbols"/>
      <p:regular r:id="rId145"/>
      <p:bold r:id="rId146"/>
    </p:embeddedFont>
    <p:embeddedFont>
      <p:font typeface="Gill Sans"/>
      <p:regular r:id="rId147"/>
      <p:bold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49" roundtripDataSignature="AMtx7mjb8jJ6YYejiA0D3K0nQcZSXIV1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CD7D03-965F-4341-8A52-225D18BBEF5E}">
  <a:tblStyle styleId="{D1CD7D03-965F-4341-8A52-225D18BBEF5E}" styleName="Table_0">
    <a:wholeTbl>
      <a:tcTxStyle b="off" i="off">
        <a:font>
          <a:latin typeface="Gill Sans MT"/>
          <a:ea typeface="Gill Sans MT"/>
          <a:cs typeface="Gill Sans MT"/>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customschemas.google.com/relationships/presentationmetadata" Target="metadata"/><Relationship Id="rId4" Type="http://schemas.openxmlformats.org/officeDocument/2006/relationships/slideMaster" Target="slideMasters/slideMaster1.xml"/><Relationship Id="rId148" Type="http://schemas.openxmlformats.org/officeDocument/2006/relationships/font" Target="fonts/GillSans-bold.fntdata"/><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font" Target="fonts/GillSans-regular.fntdata"/><Relationship Id="rId6" Type="http://schemas.openxmlformats.org/officeDocument/2006/relationships/slide" Target="slides/slide1.xml"/><Relationship Id="rId146" Type="http://schemas.openxmlformats.org/officeDocument/2006/relationships/font" Target="fonts/NotoSansSymbols-bold.fntdata"/><Relationship Id="rId7" Type="http://schemas.openxmlformats.org/officeDocument/2006/relationships/slide" Target="slides/slide2.xml"/><Relationship Id="rId145" Type="http://schemas.openxmlformats.org/officeDocument/2006/relationships/font" Target="fonts/NotoSansSymbols-regular.fntdata"/><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a:t>
            </a:r>
            <a:endParaRPr/>
          </a:p>
        </p:txBody>
      </p:sp>
      <p:sp>
        <p:nvSpPr>
          <p:cNvPr id="365" name="Google Shape;365;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 refers to register</a:t>
            </a:r>
            <a:endParaRPr/>
          </a:p>
        </p:txBody>
      </p:sp>
      <p:sp>
        <p:nvSpPr>
          <p:cNvPr id="372" name="Google Shape;372;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h/H is HEXADECIMAL NUMBER</a:t>
            </a:r>
            <a:endParaRPr/>
          </a:p>
          <a:p>
            <a:pPr indent="0" lvl="0" marL="0" rtl="0" algn="l">
              <a:spcBef>
                <a:spcPts val="0"/>
              </a:spcBef>
              <a:spcAft>
                <a:spcPts val="0"/>
              </a:spcAft>
              <a:buNone/>
            </a:pPr>
            <a:r>
              <a:rPr lang="en-US"/>
              <a:t>address</a:t>
            </a:r>
            <a:r>
              <a:rPr lang="en-US"/>
              <a:t> not given</a:t>
            </a:r>
            <a:endParaRPr/>
          </a:p>
          <a:p>
            <a:pPr indent="0" lvl="0" marL="0" rtl="0" algn="l">
              <a:spcBef>
                <a:spcPts val="0"/>
              </a:spcBef>
              <a:spcAft>
                <a:spcPts val="0"/>
              </a:spcAft>
              <a:buNone/>
            </a:pPr>
            <a:r>
              <a:rPr lang="en-US"/>
              <a:t>ADD AL, 45 </a:t>
            </a:r>
            <a:endParaRPr/>
          </a:p>
          <a:p>
            <a:pPr indent="0" lvl="0" marL="0" rtl="0" algn="l">
              <a:spcBef>
                <a:spcPts val="0"/>
              </a:spcBef>
              <a:spcAft>
                <a:spcPts val="0"/>
              </a:spcAft>
              <a:buClr>
                <a:schemeClr val="dk1"/>
              </a:buClr>
              <a:buFont typeface="Arial"/>
              <a:buNone/>
            </a:pPr>
            <a:r>
              <a:rPr lang="en-US"/>
              <a:t>equivalent to AL = AL + 45</a:t>
            </a:r>
            <a:endParaRPr/>
          </a:p>
          <a:p>
            <a:pPr indent="0" lvl="0" marL="0" rtl="0" algn="l">
              <a:spcBef>
                <a:spcPts val="0"/>
              </a:spcBef>
              <a:spcAft>
                <a:spcPts val="0"/>
              </a:spcAft>
              <a:buNone/>
            </a:pPr>
            <a:r>
              <a:t/>
            </a:r>
            <a:endParaRPr/>
          </a:p>
        </p:txBody>
      </p:sp>
      <p:sp>
        <p:nvSpPr>
          <p:cNvPr id="386" name="Google Shape;386;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specify what A is</a:t>
            </a:r>
            <a:endParaRPr/>
          </a:p>
          <a:p>
            <a:pPr indent="0" lvl="0" marL="0" rtl="0" algn="l">
              <a:spcBef>
                <a:spcPts val="0"/>
              </a:spcBef>
              <a:spcAft>
                <a:spcPts val="0"/>
              </a:spcAft>
              <a:buNone/>
            </a:pPr>
            <a:r>
              <a:rPr lang="en-US"/>
              <a:t>EA = A  </a:t>
            </a:r>
            <a:r>
              <a:rPr lang="en-US">
                <a:solidFill>
                  <a:schemeClr val="dk1"/>
                </a:solidFill>
              </a:rPr>
              <a:t>of operand  </a:t>
            </a:r>
            <a:r>
              <a:rPr lang="en-US"/>
              <a:t>in this case</a:t>
            </a:r>
            <a:endParaRPr/>
          </a:p>
        </p:txBody>
      </p:sp>
      <p:sp>
        <p:nvSpPr>
          <p:cNvPr id="393" name="Google Shape;393;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[0500] is a memory cell</a:t>
            </a:r>
            <a:endParaRPr/>
          </a:p>
          <a:p>
            <a:pPr indent="0" lvl="0" marL="0" rtl="0" algn="l">
              <a:spcBef>
                <a:spcPts val="0"/>
              </a:spcBef>
              <a:spcAft>
                <a:spcPts val="0"/>
              </a:spcAft>
              <a:buNone/>
            </a:pPr>
            <a:r>
              <a:rPr lang="en-US"/>
              <a:t>wtv stored in [0500] is put in AX</a:t>
            </a:r>
            <a:endParaRPr/>
          </a:p>
        </p:txBody>
      </p:sp>
      <p:sp>
        <p:nvSpPr>
          <p:cNvPr id="407" name="Google Shape;407;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POINTS TO A LOCATION THAT POINTS TO THE OPERANDS LOCATION</a:t>
            </a:r>
            <a:endParaRPr/>
          </a:p>
          <a:p>
            <a:pPr indent="0" lvl="0" marL="0" rtl="0" algn="l">
              <a:spcBef>
                <a:spcPts val="0"/>
              </a:spcBef>
              <a:spcAft>
                <a:spcPts val="0"/>
              </a:spcAft>
              <a:buNone/>
            </a:pPr>
            <a:r>
              <a:rPr lang="en-US"/>
              <a:t>(like a pointer)</a:t>
            </a:r>
            <a:endParaRPr/>
          </a:p>
          <a:p>
            <a:pPr indent="0" lvl="0" marL="0" rtl="0" algn="l">
              <a:spcBef>
                <a:spcPts val="0"/>
              </a:spcBef>
              <a:spcAft>
                <a:spcPts val="0"/>
              </a:spcAft>
              <a:buNone/>
            </a:pPr>
            <a:r>
              <a:rPr lang="en-US"/>
              <a:t>blank cell is EA</a:t>
            </a:r>
            <a:endParaRPr/>
          </a:p>
        </p:txBody>
      </p:sp>
      <p:sp>
        <p:nvSpPr>
          <p:cNvPr id="414" name="Google Shape;414;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means that A </a:t>
            </a:r>
            <a:r>
              <a:rPr lang="en-US"/>
              <a:t> points to something that further points to the operand</a:t>
            </a:r>
            <a:endParaRPr/>
          </a:p>
        </p:txBody>
      </p:sp>
      <p:sp>
        <p:nvSpPr>
          <p:cNvPr id="434" name="Google Shape;434;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6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square bracket means memory cell </a:t>
            </a:r>
            <a:endParaRPr/>
          </a:p>
        </p:txBody>
      </p:sp>
      <p:sp>
        <p:nvSpPr>
          <p:cNvPr id="477" name="Google Shape;477;p6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6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6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7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OFFSET </a:t>
            </a:r>
            <a:endParaRPr/>
          </a:p>
          <a:p>
            <a:pPr indent="0" lvl="0" marL="0" rtl="0" algn="l">
              <a:spcBef>
                <a:spcPts val="0"/>
              </a:spcBef>
              <a:spcAft>
                <a:spcPts val="0"/>
              </a:spcAft>
              <a:buNone/>
            </a:pPr>
            <a:r>
              <a:t/>
            </a:r>
            <a:endParaRPr/>
          </a:p>
        </p:txBody>
      </p:sp>
      <p:sp>
        <p:nvSpPr>
          <p:cNvPr id="532" name="Google Shape;532;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7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7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7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7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7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7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8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8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8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8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8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8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8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8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8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8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8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8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8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8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9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9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9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9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9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9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9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9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9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9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9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9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9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9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9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9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9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0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0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0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0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0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0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0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0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0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0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0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0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0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0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1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1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1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1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1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1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6" name="Shape 16"/>
        <p:cNvGrpSpPr/>
        <p:nvPr/>
      </p:nvGrpSpPr>
      <p:grpSpPr>
        <a:xfrm>
          <a:off x="0" y="0"/>
          <a:ext cx="0" cy="0"/>
          <a:chOff x="0" y="0"/>
          <a:chExt cx="0" cy="0"/>
        </a:xfrm>
      </p:grpSpPr>
      <p:sp>
        <p:nvSpPr>
          <p:cNvPr id="17" name="Google Shape;17;p142"/>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8" name="Google Shape;18;p14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21" name="Google Shape;21;p142"/>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4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4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5" name="Google Shape;25;p14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144"/>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4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145"/>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5"/>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6" name="Google Shape;36;p14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39" name="Google Shape;39;p145"/>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0" name="Google Shape;40;p145"/>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1" name="Shape 41"/>
        <p:cNvGrpSpPr/>
        <p:nvPr/>
      </p:nvGrpSpPr>
      <p:grpSpPr>
        <a:xfrm>
          <a:off x="0" y="0"/>
          <a:ext cx="0" cy="0"/>
          <a:chOff x="0" y="0"/>
          <a:chExt cx="0" cy="0"/>
        </a:xfrm>
      </p:grpSpPr>
      <p:sp>
        <p:nvSpPr>
          <p:cNvPr id="42" name="Google Shape;42;p146"/>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 name="Google Shape;43;p146"/>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46"/>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5" name="Google Shape;45;p14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4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48" name="Google Shape;48;p146"/>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9" name="Google Shape;49;p146"/>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0" name="Google Shape;50;p146"/>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147"/>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47"/>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147"/>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14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8" name="Shape 58"/>
        <p:cNvGrpSpPr/>
        <p:nvPr/>
      </p:nvGrpSpPr>
      <p:grpSpPr>
        <a:xfrm>
          <a:off x="0" y="0"/>
          <a:ext cx="0" cy="0"/>
          <a:chOff x="0" y="0"/>
          <a:chExt cx="0" cy="0"/>
        </a:xfrm>
      </p:grpSpPr>
      <p:sp>
        <p:nvSpPr>
          <p:cNvPr id="59" name="Google Shape;59;p148"/>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8"/>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1" name="Google Shape;61;p148"/>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2" name="Google Shape;62;p148"/>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3" name="Google Shape;63;p148"/>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4" name="Google Shape;64;p14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4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7" name="Shape 67"/>
        <p:cNvGrpSpPr/>
        <p:nvPr/>
      </p:nvGrpSpPr>
      <p:grpSpPr>
        <a:xfrm>
          <a:off x="0" y="0"/>
          <a:ext cx="0" cy="0"/>
          <a:chOff x="0" y="0"/>
          <a:chExt cx="0" cy="0"/>
        </a:xfrm>
      </p:grpSpPr>
      <p:sp>
        <p:nvSpPr>
          <p:cNvPr id="68" name="Google Shape;68;p149"/>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49"/>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0" name="Google Shape;70;p149"/>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1" name="Google Shape;71;p14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4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4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150"/>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5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79" name="Google Shape;79;p150"/>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rm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0" name="Google Shape;80;p150"/>
          <p:cNvSpPr/>
          <p:nvPr>
            <p:ph idx="2" type="pic"/>
          </p:nvPr>
        </p:nvSpPr>
        <p:spPr>
          <a:xfrm>
            <a:off x="838200" y="1143003"/>
            <a:ext cx="4419600" cy="3514531"/>
          </a:xfrm>
          <a:prstGeom prst="roundRect">
            <a:avLst>
              <a:gd fmla="val 783" name="adj"/>
            </a:avLst>
          </a:prstGeom>
          <a:solidFill>
            <a:schemeClr val="lt2"/>
          </a:solidFill>
          <a:ln>
            <a:noFill/>
          </a:ln>
        </p:spPr>
      </p:sp>
      <p:sp>
        <p:nvSpPr>
          <p:cNvPr id="81" name="Google Shape;81;p150"/>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2" name="Google Shape;82;p150"/>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3" name="Google Shape;83;p150"/>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5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51"/>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7" name="Google Shape;87;p15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5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5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152"/>
          <p:cNvSpPr txBox="1"/>
          <p:nvPr>
            <p:ph type="title"/>
          </p:nvPr>
        </p:nvSpPr>
        <p:spPr>
          <a:xfrm rot="5400000">
            <a:off x="4846638"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52"/>
          <p:cNvSpPr txBox="1"/>
          <p:nvPr>
            <p:ph idx="1" type="body"/>
          </p:nvPr>
        </p:nvSpPr>
        <p:spPr>
          <a:xfrm rot="5400000">
            <a:off x="998538"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3" name="Google Shape;93;p15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5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5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5" name="Shape 5"/>
        <p:cNvGrpSpPr/>
        <p:nvPr/>
      </p:nvGrpSpPr>
      <p:grpSpPr>
        <a:xfrm>
          <a:off x="0" y="0"/>
          <a:ext cx="0" cy="0"/>
          <a:chOff x="0" y="0"/>
          <a:chExt cx="0" cy="0"/>
        </a:xfrm>
      </p:grpSpPr>
      <p:sp>
        <p:nvSpPr>
          <p:cNvPr id="6" name="Google Shape;6;p14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7" name="Google Shape;7;p14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8" name="Google Shape;8;p14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9" name="Google Shape;9;p14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0" name="Google Shape;10;p14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2" name="Google Shape;12;p14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4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4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1pPr>
            <a:lvl2pPr indent="0" lvl="1"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2pPr>
            <a:lvl3pPr indent="0" lvl="2"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3pPr>
            <a:lvl4pPr indent="0" lvl="3"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4pPr>
            <a:lvl5pPr indent="0" lvl="4"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5pPr>
            <a:lvl6pPr indent="0" lvl="5"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6pPr>
            <a:lvl7pPr indent="0" lvl="6"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7pPr>
            <a:lvl8pPr indent="0" lvl="7"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8pPr>
            <a:lvl9pPr indent="0" lvl="8"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9pPr>
          </a:lstStyle>
          <a:p>
            <a:pPr indent="0" lvl="0" marL="38100" rtl="0" algn="ctr">
              <a:spcBef>
                <a:spcPts val="0"/>
              </a:spcBef>
              <a:spcAft>
                <a:spcPts val="0"/>
              </a:spcAft>
              <a:buNone/>
            </a:pPr>
            <a:fld id="{00000000-1234-1234-1234-123412341234}" type="slidenum">
              <a:rPr lang="en-US"/>
              <a:t>‹#›</a:t>
            </a:fld>
            <a:endParaRPr/>
          </a:p>
        </p:txBody>
      </p:sp>
      <p:sp>
        <p:nvSpPr>
          <p:cNvPr id="15" name="Google Shape;15;p14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8.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4.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2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3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2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2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3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3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3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3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40.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44.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8.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7.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1"/>
          <p:cNvSpPr txBox="1"/>
          <p:nvPr/>
        </p:nvSpPr>
        <p:spPr>
          <a:xfrm>
            <a:off x="1815464" y="3797270"/>
            <a:ext cx="5510530" cy="1196340"/>
          </a:xfrm>
          <a:prstGeom prst="rect">
            <a:avLst/>
          </a:prstGeom>
          <a:noFill/>
          <a:ln>
            <a:noFill/>
          </a:ln>
        </p:spPr>
        <p:txBody>
          <a:bodyPr anchorCtr="0" anchor="t" bIns="0" lIns="0" spcFirstLastPara="1" rIns="0" wrap="square" tIns="109850">
            <a:spAutoFit/>
          </a:bodyPr>
          <a:lstStyle/>
          <a:p>
            <a:pPr indent="0" lvl="0" marL="4445" marR="0" rtl="0" algn="ctr">
              <a:lnSpc>
                <a:spcPct val="100000"/>
              </a:lnSpc>
              <a:spcBef>
                <a:spcPts val="0"/>
              </a:spcBef>
              <a:spcAft>
                <a:spcPts val="0"/>
              </a:spcAft>
              <a:buNone/>
            </a:pPr>
            <a:r>
              <a:rPr b="0" i="0" lang="en-US" sz="3200" u="none" cap="none" strike="noStrike">
                <a:solidFill>
                  <a:srgbClr val="888888"/>
                </a:solidFill>
                <a:latin typeface="Calibri"/>
                <a:ea typeface="Calibri"/>
                <a:cs typeface="Calibri"/>
                <a:sym typeface="Calibri"/>
              </a:rPr>
              <a:t>Chapter 12</a:t>
            </a:r>
            <a:endParaRPr b="0" i="0" sz="3200" u="none" cap="none" strike="noStrike">
              <a:solidFill>
                <a:schemeClr val="dk1"/>
              </a:solidFill>
              <a:latin typeface="Calibri"/>
              <a:ea typeface="Calibri"/>
              <a:cs typeface="Calibri"/>
              <a:sym typeface="Calibri"/>
            </a:endParaRPr>
          </a:p>
          <a:p>
            <a:pPr indent="0" lvl="0" marL="0" marR="0" rtl="0" algn="ctr">
              <a:lnSpc>
                <a:spcPct val="100000"/>
              </a:lnSpc>
              <a:spcBef>
                <a:spcPts val="770"/>
              </a:spcBef>
              <a:spcAft>
                <a:spcPts val="0"/>
              </a:spcAft>
              <a:buNone/>
            </a:pPr>
            <a:r>
              <a:rPr b="0" i="0" lang="en-US" sz="3200" u="none" cap="none" strike="noStrike">
                <a:solidFill>
                  <a:srgbClr val="888888"/>
                </a:solidFill>
                <a:latin typeface="Calibri"/>
                <a:ea typeface="Calibri"/>
                <a:cs typeface="Calibri"/>
                <a:sym typeface="Calibri"/>
              </a:rPr>
              <a:t>Processor Structure and Function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 name="Shape 104"/>
        <p:cNvGrpSpPr/>
        <p:nvPr/>
      </p:nvGrpSpPr>
      <p:grpSpPr>
        <a:xfrm>
          <a:off x="0" y="0"/>
          <a:ext cx="0" cy="0"/>
          <a:chOff x="0" y="0"/>
          <a:chExt cx="0" cy="0"/>
        </a:xfrm>
      </p:grpSpPr>
      <p:sp>
        <p:nvSpPr>
          <p:cNvPr id="105" name="Google Shape;105;p3"/>
          <p:cNvSpPr txBox="1"/>
          <p:nvPr>
            <p:ph type="title"/>
          </p:nvPr>
        </p:nvSpPr>
        <p:spPr>
          <a:xfrm>
            <a:off x="2971800" y="228600"/>
            <a:ext cx="321373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Structure</a:t>
            </a:r>
            <a:endParaRPr sz="4400">
              <a:latin typeface="Calibri"/>
              <a:ea typeface="Calibri"/>
              <a:cs typeface="Calibri"/>
              <a:sym typeface="Calibri"/>
            </a:endParaRPr>
          </a:p>
        </p:txBody>
      </p:sp>
      <p:sp>
        <p:nvSpPr>
          <p:cNvPr id="106" name="Google Shape;106;p3"/>
          <p:cNvSpPr txBox="1"/>
          <p:nvPr/>
        </p:nvSpPr>
        <p:spPr>
          <a:xfrm>
            <a:off x="304800" y="762000"/>
            <a:ext cx="8610599" cy="5983689"/>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CPU must:</a:t>
            </a:r>
            <a:endParaRPr b="0" i="0" sz="3000" u="none" cap="none" strike="noStrike">
              <a:solidFill>
                <a:schemeClr val="dk1"/>
              </a:solidFill>
              <a:latin typeface="Calibri"/>
              <a:ea typeface="Calibri"/>
              <a:cs typeface="Calibri"/>
              <a:sym typeface="Calibri"/>
            </a:endParaRPr>
          </a:p>
          <a:p>
            <a:pPr indent="-287019" lvl="1" marL="756285" marR="0" rtl="0" algn="l">
              <a:lnSpc>
                <a:spcPct val="100000"/>
              </a:lnSpc>
              <a:spcBef>
                <a:spcPts val="2355"/>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Fetch instructions-</a:t>
            </a:r>
            <a:r>
              <a:rPr b="0" i="0" lang="en-US" sz="2800" u="none" cap="none" strike="noStrike">
                <a:solidFill>
                  <a:schemeClr val="dk1"/>
                </a:solidFill>
                <a:latin typeface="Gill Sans"/>
                <a:ea typeface="Gill Sans"/>
                <a:cs typeface="Gill Sans"/>
                <a:sym typeface="Gill Sans"/>
              </a:rPr>
              <a:t>reads an instruction from memory</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10"/>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Interpret instructions-instruction is decoded to determine what action is required.</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10"/>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Fetch data-The execution of an instruction may require reading data from memory or an I/O module</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5"/>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5"/>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Process data-The execution of an instruction may require performing some arithmetic or logical operation on data</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5"/>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Write data-the results of an execution may require writing data to memory or an I/O module.</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 name="Shape 110"/>
        <p:cNvGrpSpPr/>
        <p:nvPr/>
      </p:nvGrpSpPr>
      <p:grpSpPr>
        <a:xfrm>
          <a:off x="0" y="0"/>
          <a:ext cx="0" cy="0"/>
          <a:chOff x="0" y="0"/>
          <a:chExt cx="0" cy="0"/>
        </a:xfrm>
      </p:grpSpPr>
      <p:sp>
        <p:nvSpPr>
          <p:cNvPr id="111" name="Google Shape;111;p4"/>
          <p:cNvSpPr txBox="1"/>
          <p:nvPr>
            <p:ph type="title"/>
          </p:nvPr>
        </p:nvSpPr>
        <p:spPr>
          <a:xfrm>
            <a:off x="2015108" y="461594"/>
            <a:ext cx="51149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With Systems Bus</a:t>
            </a:r>
            <a:endParaRPr sz="4400">
              <a:latin typeface="Calibri"/>
              <a:ea typeface="Calibri"/>
              <a:cs typeface="Calibri"/>
              <a:sym typeface="Calibri"/>
            </a:endParaRPr>
          </a:p>
        </p:txBody>
      </p:sp>
      <p:pic>
        <p:nvPicPr>
          <p:cNvPr id="112" name="Google Shape;112;p4"/>
          <p:cNvPicPr preferRelativeResize="0"/>
          <p:nvPr/>
        </p:nvPicPr>
        <p:blipFill rotWithShape="1">
          <a:blip r:embed="rId3">
            <a:alphaModFix/>
          </a:blip>
          <a:srcRect b="0" l="0" r="0" t="0"/>
          <a:stretch/>
        </p:blipFill>
        <p:spPr>
          <a:xfrm>
            <a:off x="1066800" y="1295400"/>
            <a:ext cx="6553200" cy="502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18" name="Google Shape;118;p5"/>
          <p:cNvSpPr txBox="1"/>
          <p:nvPr>
            <p:ph idx="1" type="body"/>
          </p:nvPr>
        </p:nvSpPr>
        <p:spPr>
          <a:xfrm>
            <a:off x="304800" y="14478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ALU does the actual computation or processing of data.</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control unit controls the movement of data and instructions into and out of the processor and controls the operation of the ALU.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addition, there is a minimal internal memory, consisting of a set of storage locations, called </a:t>
            </a:r>
            <a:r>
              <a:rPr i="1" lang="en-US" sz="2400">
                <a:latin typeface="Times New Roman"/>
                <a:ea typeface="Times New Roman"/>
                <a:cs typeface="Times New Roman"/>
                <a:sym typeface="Times New Roman"/>
              </a:rPr>
              <a:t>registers</a:t>
            </a: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sp>
        <p:nvSpPr>
          <p:cNvPr id="123" name="Google Shape;123;p6"/>
          <p:cNvSpPr txBox="1"/>
          <p:nvPr>
            <p:ph type="title"/>
          </p:nvPr>
        </p:nvSpPr>
        <p:spPr>
          <a:xfrm>
            <a:off x="2012060" y="461594"/>
            <a:ext cx="512318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Internal Structure</a:t>
            </a:r>
            <a:endParaRPr sz="4400">
              <a:latin typeface="Calibri"/>
              <a:ea typeface="Calibri"/>
              <a:cs typeface="Calibri"/>
              <a:sym typeface="Calibri"/>
            </a:endParaRPr>
          </a:p>
        </p:txBody>
      </p:sp>
      <p:pic>
        <p:nvPicPr>
          <p:cNvPr id="124" name="Google Shape;124;p6"/>
          <p:cNvPicPr preferRelativeResize="0"/>
          <p:nvPr/>
        </p:nvPicPr>
        <p:blipFill rotWithShape="1">
          <a:blip r:embed="rId3">
            <a:alphaModFix/>
          </a:blip>
          <a:srcRect b="0" l="0" r="0" t="0"/>
          <a:stretch/>
        </p:blipFill>
        <p:spPr>
          <a:xfrm>
            <a:off x="1219200" y="1066736"/>
            <a:ext cx="6858000" cy="5681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30" name="Google Shape;130;p7"/>
          <p:cNvSpPr txBox="1"/>
          <p:nvPr>
            <p:ph idx="1" type="body"/>
          </p:nvPr>
        </p:nvSpPr>
        <p:spPr>
          <a:xfrm>
            <a:off x="76200" y="1447800"/>
            <a:ext cx="8857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data transfer and logic control paths are indicated, including an element labeled internal processor bus.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This element is needed to </a:t>
            </a:r>
            <a:r>
              <a:rPr lang="en-US" sz="2400">
                <a:solidFill>
                  <a:srgbClr val="FF0000"/>
                </a:solidFill>
                <a:latin typeface="Times New Roman"/>
                <a:ea typeface="Times New Roman"/>
                <a:cs typeface="Times New Roman"/>
                <a:sym typeface="Times New Roman"/>
              </a:rPr>
              <a:t>transfer data between the various registers and the ALU</a:t>
            </a:r>
            <a:r>
              <a:rPr lang="en-US" sz="2400">
                <a:latin typeface="Times New Roman"/>
                <a:ea typeface="Times New Roman"/>
                <a:cs typeface="Times New Roman"/>
                <a:sym typeface="Times New Roman"/>
              </a:rPr>
              <a:t> because the ALU in fact operates only on data in the internal processor memory.</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4" name="Shape 134"/>
        <p:cNvGrpSpPr/>
        <p:nvPr/>
      </p:nvGrpSpPr>
      <p:grpSpPr>
        <a:xfrm>
          <a:off x="0" y="0"/>
          <a:ext cx="0" cy="0"/>
          <a:chOff x="0" y="0"/>
          <a:chExt cx="0" cy="0"/>
        </a:xfrm>
      </p:grpSpPr>
      <p:sp>
        <p:nvSpPr>
          <p:cNvPr id="135" name="Google Shape;135;p8"/>
          <p:cNvSpPr txBox="1"/>
          <p:nvPr>
            <p:ph type="title"/>
          </p:nvPr>
        </p:nvSpPr>
        <p:spPr>
          <a:xfrm>
            <a:off x="2819400" y="228600"/>
            <a:ext cx="342900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Registers</a:t>
            </a:r>
            <a:endParaRPr sz="4400">
              <a:latin typeface="Calibri"/>
              <a:ea typeface="Calibri"/>
              <a:cs typeface="Calibri"/>
              <a:sym typeface="Calibri"/>
            </a:endParaRPr>
          </a:p>
        </p:txBody>
      </p:sp>
      <p:sp>
        <p:nvSpPr>
          <p:cNvPr id="136" name="Google Shape;136;p8"/>
          <p:cNvSpPr txBox="1"/>
          <p:nvPr/>
        </p:nvSpPr>
        <p:spPr>
          <a:xfrm>
            <a:off x="228600" y="838200"/>
            <a:ext cx="8610600" cy="5163593"/>
          </a:xfrm>
          <a:prstGeom prst="rect">
            <a:avLst/>
          </a:prstGeom>
          <a:noFill/>
          <a:ln>
            <a:noFill/>
          </a:ln>
        </p:spPr>
        <p:txBody>
          <a:bodyPr anchorCtr="0" anchor="t" bIns="0" lIns="0" spcFirstLastPara="1" rIns="0" wrap="square" tIns="13325">
            <a:spAutoFit/>
          </a:bodyPr>
          <a:lstStyle/>
          <a:p>
            <a:pPr indent="-342900" lvl="0" marL="355600" marR="166751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must have some working space  (temporary storage)-Called </a:t>
            </a:r>
            <a:r>
              <a:rPr b="0" i="0" lang="en-US" sz="2400" u="none" cap="none" strike="noStrike">
                <a:solidFill>
                  <a:srgbClr val="FF0000"/>
                </a:solidFill>
                <a:latin typeface="Times New Roman"/>
                <a:ea typeface="Times New Roman"/>
                <a:cs typeface="Times New Roman"/>
                <a:sym typeface="Times New Roman"/>
              </a:rPr>
              <a:t>registers</a:t>
            </a:r>
            <a:endParaRPr b="0" i="0" sz="2400" u="none" cap="none" strike="noStrike">
              <a:solidFill>
                <a:srgbClr val="FF0000"/>
              </a:solidFill>
              <a:latin typeface="Times New Roman"/>
              <a:ea typeface="Times New Roman"/>
              <a:cs typeface="Times New Roman"/>
              <a:sym typeface="Times New Roman"/>
            </a:endParaRPr>
          </a:p>
          <a:p>
            <a:pPr indent="-342900" lvl="0" marL="355600" marR="5080" rtl="0" algn="just">
              <a:lnSpc>
                <a:spcPct val="100000"/>
              </a:lnSpc>
              <a:spcBef>
                <a:spcPts val="77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Number and function vary between processor  designs</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7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One of the major design decisions</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Top level of memory hierarchy</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 registers in the processor perform two roles:</a:t>
            </a:r>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User-visible registers</a:t>
            </a:r>
            <a:r>
              <a:rPr b="0" i="0" lang="en-US" sz="2400" u="none" cap="none" strike="noStrike">
                <a:solidFill>
                  <a:schemeClr val="dk1"/>
                </a:solidFill>
                <a:latin typeface="Times New Roman"/>
                <a:ea typeface="Times New Roman"/>
                <a:cs typeface="Times New Roman"/>
                <a:sym typeface="Times New Roman"/>
              </a:rPr>
              <a:t>: Enable the machine- or assembly language programmer to </a:t>
            </a:r>
            <a:r>
              <a:rPr b="0" i="0" lang="en-US" sz="2400" u="none" cap="none" strike="noStrike">
                <a:solidFill>
                  <a:srgbClr val="FF0000"/>
                </a:solidFill>
                <a:latin typeface="Times New Roman"/>
                <a:ea typeface="Times New Roman"/>
                <a:cs typeface="Times New Roman"/>
                <a:sym typeface="Times New Roman"/>
              </a:rPr>
              <a:t>minimize main memory references </a:t>
            </a:r>
            <a:r>
              <a:rPr b="0" i="0" lang="en-US" sz="2400" u="none" cap="none" strike="noStrike">
                <a:solidFill>
                  <a:schemeClr val="dk1"/>
                </a:solidFill>
                <a:latin typeface="Times New Roman"/>
                <a:ea typeface="Times New Roman"/>
                <a:cs typeface="Times New Roman"/>
                <a:sym typeface="Times New Roman"/>
              </a:rPr>
              <a:t>by optimizing use of registers.</a:t>
            </a:r>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Control and status registers</a:t>
            </a:r>
            <a:r>
              <a:rPr b="0" i="0" lang="en-US" sz="2400" u="none" cap="none" strike="noStrike">
                <a:solidFill>
                  <a:schemeClr val="dk1"/>
                </a:solidFill>
                <a:latin typeface="Times New Roman"/>
                <a:ea typeface="Times New Roman"/>
                <a:cs typeface="Times New Roman"/>
                <a:sym typeface="Times New Roman"/>
              </a:rPr>
              <a:t>: Used by the control unit </a:t>
            </a:r>
            <a:r>
              <a:rPr b="0" i="0" lang="en-US" sz="2400" u="none" cap="none" strike="noStrike">
                <a:solidFill>
                  <a:srgbClr val="FF0000"/>
                </a:solidFill>
                <a:latin typeface="Times New Roman"/>
                <a:ea typeface="Times New Roman"/>
                <a:cs typeface="Times New Roman"/>
                <a:sym typeface="Times New Roman"/>
              </a:rPr>
              <a:t>to control the operation of the processor</a:t>
            </a:r>
            <a:r>
              <a:rPr b="0" i="0" lang="en-US" sz="2400" u="none" cap="none" strike="noStrike">
                <a:solidFill>
                  <a:schemeClr val="dk1"/>
                </a:solidFill>
                <a:latin typeface="Times New Roman"/>
                <a:ea typeface="Times New Roman"/>
                <a:cs typeface="Times New Roman"/>
                <a:sym typeface="Times New Roman"/>
              </a:rPr>
              <a:t> and by privileged, operating system programs to control the execution of programs.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0" name="Shape 140"/>
        <p:cNvGrpSpPr/>
        <p:nvPr/>
      </p:nvGrpSpPr>
      <p:grpSpPr>
        <a:xfrm>
          <a:off x="0" y="0"/>
          <a:ext cx="0" cy="0"/>
          <a:chOff x="0" y="0"/>
          <a:chExt cx="0" cy="0"/>
        </a:xfrm>
      </p:grpSpPr>
      <p:sp>
        <p:nvSpPr>
          <p:cNvPr id="141" name="Google Shape;141;p9"/>
          <p:cNvSpPr txBox="1"/>
          <p:nvPr>
            <p:ph type="title"/>
          </p:nvPr>
        </p:nvSpPr>
        <p:spPr>
          <a:xfrm>
            <a:off x="2133600" y="0"/>
            <a:ext cx="486854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User Visible Registers</a:t>
            </a:r>
            <a:endParaRPr sz="4400">
              <a:latin typeface="Calibri"/>
              <a:ea typeface="Calibri"/>
              <a:cs typeface="Calibri"/>
              <a:sym typeface="Calibri"/>
            </a:endParaRPr>
          </a:p>
        </p:txBody>
      </p:sp>
      <p:sp>
        <p:nvSpPr>
          <p:cNvPr id="142" name="Google Shape;142;p9"/>
          <p:cNvSpPr txBox="1"/>
          <p:nvPr/>
        </p:nvSpPr>
        <p:spPr>
          <a:xfrm>
            <a:off x="533400" y="1678377"/>
            <a:ext cx="7772400" cy="4523033"/>
          </a:xfrm>
          <a:prstGeom prst="rect">
            <a:avLst/>
          </a:prstGeom>
          <a:noFill/>
          <a:ln>
            <a:noFill/>
          </a:ln>
        </p:spPr>
        <p:txBody>
          <a:bodyPr anchorCtr="0" anchor="t" bIns="0" lIns="0" spcFirstLastPara="1" rIns="0" wrap="square" tIns="110475">
            <a:spAutoFit/>
          </a:bodyPr>
          <a:lstStyle/>
          <a:p>
            <a:pPr indent="-342900" lvl="0" marL="3556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General Purpose-can be assigned to a variety of functions by the programmer</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7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Data-used only to hold data and cannot be employed in the calculation of an operand address</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6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Address-somewhat general purpose, or they may be devoted to a particular addressing mode.</a:t>
            </a:r>
            <a:endParaRPr/>
          </a:p>
          <a:p>
            <a:pPr indent="-342900" lvl="1" marL="812800" marR="0" rtl="0" algn="just">
              <a:spcBef>
                <a:spcPts val="76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Segment pointers: In a machine with segmented addressing, a segment register holds the address of the base of the segment.</a:t>
            </a:r>
            <a:endParaRPr/>
          </a:p>
          <a:p>
            <a:pPr indent="-127000" lvl="2" marL="9144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Index registers: These are used for indexed addressing and may be auto indexed.</a:t>
            </a:r>
            <a:endParaRPr/>
          </a:p>
          <a:p>
            <a:pPr indent="-127000" lvl="2" marL="9144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Stack pointer-there is a dedicated register that points to the top of the stack.</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7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Condition Codes- (Refer next slides)</a:t>
            </a:r>
            <a:endParaRPr b="0" i="0" sz="2000" u="none" cap="none" strike="noStrike">
              <a:solidFill>
                <a:schemeClr val="dk1"/>
              </a:solidFill>
              <a:latin typeface="Times New Roman"/>
              <a:ea typeface="Times New Roman"/>
              <a:cs typeface="Times New Roman"/>
              <a:sym typeface="Times New Roman"/>
            </a:endParaRPr>
          </a:p>
        </p:txBody>
      </p:sp>
      <p:sp>
        <p:nvSpPr>
          <p:cNvPr id="143" name="Google Shape;143;p9"/>
          <p:cNvSpPr txBox="1"/>
          <p:nvPr/>
        </p:nvSpPr>
        <p:spPr>
          <a:xfrm>
            <a:off x="533400" y="762000"/>
            <a:ext cx="8077200" cy="830997"/>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may be referenced by means of the machine language that the processor executes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1006246" y="461594"/>
            <a:ext cx="71386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Example Register Organizations</a:t>
            </a:r>
            <a:endParaRPr sz="4400">
              <a:latin typeface="Calibri"/>
              <a:ea typeface="Calibri"/>
              <a:cs typeface="Calibri"/>
              <a:sym typeface="Calibri"/>
            </a:endParaRPr>
          </a:p>
        </p:txBody>
      </p:sp>
      <p:pic>
        <p:nvPicPr>
          <p:cNvPr id="149" name="Google Shape;149;p10"/>
          <p:cNvPicPr preferRelativeResize="0"/>
          <p:nvPr/>
        </p:nvPicPr>
        <p:blipFill rotWithShape="1">
          <a:blip r:embed="rId3">
            <a:alphaModFix/>
          </a:blip>
          <a:srcRect b="0" l="0" r="0" t="0"/>
          <a:stretch/>
        </p:blipFill>
        <p:spPr>
          <a:xfrm>
            <a:off x="58145" y="1266189"/>
            <a:ext cx="9085854" cy="5509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381000" y="274638"/>
            <a:ext cx="85526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55" name="Google Shape;155;p11"/>
          <p:cNvSpPr txBox="1"/>
          <p:nvPr>
            <p:ph idx="1" type="body"/>
          </p:nvPr>
        </p:nvSpPr>
        <p:spPr>
          <a:xfrm>
            <a:off x="0" y="838200"/>
            <a:ext cx="8839200"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MC68000 partitions its 32-bit registers into eight data registers and nine address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eight data registers are used primarily for data manipulation and are also used in addressing as index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address registers contain 32-bit addresses; two of these registers are also used as stack pointers, one for users and one for the operating system</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32-bit program counter and a 16-bit status register.</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0" y="274638"/>
            <a:ext cx="89336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61" name="Google Shape;161;p12"/>
          <p:cNvSpPr txBox="1"/>
          <p:nvPr>
            <p:ph idx="1" type="body"/>
          </p:nvPr>
        </p:nvSpPr>
        <p:spPr>
          <a:xfrm>
            <a:off x="228600" y="838200"/>
            <a:ext cx="8705088"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Intel-special purpose and general purpose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four 16-bit data registers that are addressable on a byte or 16-bit basis, and four 16-bit pointer and index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The data registers can be used as general purpose in some instructions.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four 16-bit segment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Compact encoding at the cost of reduced flexibility.</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8086 also includes an instruction pointer and a set of 1-bit status and control flags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type="title"/>
          </p:nvPr>
        </p:nvSpPr>
        <p:spPr>
          <a:xfrm>
            <a:off x="457200" y="274638"/>
            <a:ext cx="84764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67" name="Google Shape;167;p13"/>
          <p:cNvSpPr txBox="1"/>
          <p:nvPr>
            <p:ph idx="1" type="body"/>
          </p:nvPr>
        </p:nvSpPr>
        <p:spPr>
          <a:xfrm>
            <a:off x="152400" y="1447800"/>
            <a:ext cx="8781288"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1920"/>
              <a:buChar char="⚫"/>
            </a:pPr>
            <a:r>
              <a:rPr lang="en-US" sz="2400">
                <a:latin typeface="Times New Roman"/>
                <a:ea typeface="Times New Roman"/>
                <a:cs typeface="Times New Roman"/>
                <a:sym typeface="Times New Roman"/>
              </a:rPr>
              <a:t>user-visible register organization for the Intel 80386,which is a 32-bit microprocessor designed as an extension of the 8086.</a:t>
            </a:r>
            <a:endParaRPr/>
          </a:p>
          <a:p>
            <a:pPr indent="-283464" lvl="0" marL="365760" rtl="0" algn="l">
              <a:lnSpc>
                <a:spcPct val="100000"/>
              </a:lnSpc>
              <a:spcBef>
                <a:spcPts val="600"/>
              </a:spcBef>
              <a:spcAft>
                <a:spcPts val="0"/>
              </a:spcAft>
              <a:buSzPts val="1920"/>
              <a:buChar char="⚫"/>
            </a:pPr>
            <a:r>
              <a:rPr lang="en-US" sz="2400">
                <a:latin typeface="Times New Roman"/>
                <a:ea typeface="Times New Roman"/>
                <a:cs typeface="Times New Roman"/>
                <a:sym typeface="Times New Roman"/>
              </a:rPr>
              <a:t> The 80386 uses 32-bit registers.</a:t>
            </a:r>
            <a:endParaRPr/>
          </a:p>
          <a:p>
            <a:pPr indent="-283464" lvl="0" marL="365760" rtl="0" algn="l">
              <a:lnSpc>
                <a:spcPct val="100000"/>
              </a:lnSpc>
              <a:spcBef>
                <a:spcPts val="600"/>
              </a:spcBef>
              <a:spcAft>
                <a:spcPts val="0"/>
              </a:spcAft>
              <a:buSzPts val="1920"/>
              <a:buChar char="⚫"/>
            </a:pPr>
            <a:r>
              <a:rPr lang="en-US" sz="2400">
                <a:latin typeface="Times New Roman"/>
                <a:ea typeface="Times New Roman"/>
                <a:cs typeface="Times New Roman"/>
                <a:sym typeface="Times New Roman"/>
              </a:rPr>
              <a:t> However, to provide upward compatibility for programs written on the earlier machine, the 80386 retains the original register organization embedded in the new organization</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p14"/>
          <p:cNvSpPr txBox="1"/>
          <p:nvPr>
            <p:ph type="title"/>
          </p:nvPr>
        </p:nvSpPr>
        <p:spPr>
          <a:xfrm>
            <a:off x="2133092" y="530478"/>
            <a:ext cx="4878070" cy="57404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3600"/>
              <a:buFont typeface="Calibri"/>
              <a:buNone/>
            </a:pPr>
            <a:r>
              <a:rPr b="0" lang="en-US" sz="3600">
                <a:latin typeface="Calibri"/>
                <a:ea typeface="Calibri"/>
                <a:cs typeface="Calibri"/>
                <a:sym typeface="Calibri"/>
              </a:rPr>
              <a:t>General Purpose Registers</a:t>
            </a:r>
            <a:endParaRPr sz="3600">
              <a:latin typeface="Calibri"/>
              <a:ea typeface="Calibri"/>
              <a:cs typeface="Calibri"/>
              <a:sym typeface="Calibri"/>
            </a:endParaRPr>
          </a:p>
        </p:txBody>
      </p:sp>
      <p:sp>
        <p:nvSpPr>
          <p:cNvPr id="173" name="Google Shape;173;p14"/>
          <p:cNvSpPr txBox="1"/>
          <p:nvPr/>
        </p:nvSpPr>
        <p:spPr>
          <a:xfrm>
            <a:off x="509727" y="1247343"/>
            <a:ext cx="7872273" cy="425005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true general purpose</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restricted</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used for data or addressing</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Data</a:t>
            </a:r>
            <a:endParaRPr b="0" i="0" sz="2700" u="none" cap="none" strike="noStrike">
              <a:solidFill>
                <a:schemeClr val="dk1"/>
              </a:solidFill>
              <a:latin typeface="Calibri"/>
              <a:ea typeface="Calibri"/>
              <a:cs typeface="Calibri"/>
              <a:sym typeface="Calibri"/>
            </a:endParaRPr>
          </a:p>
          <a:p>
            <a:pPr indent="-287654"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Accumulator</a:t>
            </a:r>
            <a:endParaRPr b="0" i="0" sz="2400" u="none" cap="none" strike="noStrike">
              <a:solidFill>
                <a:schemeClr val="dk1"/>
              </a:solidFill>
              <a:latin typeface="Calibri"/>
              <a:ea typeface="Calibri"/>
              <a:cs typeface="Calibri"/>
              <a:sym typeface="Calibri"/>
            </a:endParaRPr>
          </a:p>
          <a:p>
            <a:pPr indent="-342900" lvl="0" marL="355600" marR="0" rtl="0" algn="l">
              <a:lnSpc>
                <a:spcPct val="100000"/>
              </a:lnSpc>
              <a:spcBef>
                <a:spcPts val="188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Addressing</a:t>
            </a:r>
            <a:endParaRPr b="0" i="0" sz="2700" u="none" cap="none" strike="noStrike">
              <a:solidFill>
                <a:schemeClr val="dk1"/>
              </a:solidFill>
              <a:latin typeface="Calibri"/>
              <a:ea typeface="Calibri"/>
              <a:cs typeface="Calibri"/>
              <a:sym typeface="Calibri"/>
            </a:endParaRPr>
          </a:p>
          <a:p>
            <a:pPr indent="-287654"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Segment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7" name="Shape 177"/>
        <p:cNvGrpSpPr/>
        <p:nvPr/>
      </p:nvGrpSpPr>
      <p:grpSpPr>
        <a:xfrm>
          <a:off x="0" y="0"/>
          <a:ext cx="0" cy="0"/>
          <a:chOff x="0" y="0"/>
          <a:chExt cx="0" cy="0"/>
        </a:xfrm>
      </p:grpSpPr>
      <p:sp>
        <p:nvSpPr>
          <p:cNvPr id="178" name="Google Shape;178;p15"/>
          <p:cNvSpPr txBox="1"/>
          <p:nvPr/>
        </p:nvSpPr>
        <p:spPr>
          <a:xfrm>
            <a:off x="535025" y="1193114"/>
            <a:ext cx="7618375" cy="2398734"/>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Why make them general purpose?</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45"/>
              </a:spcBef>
              <a:spcAft>
                <a:spcPts val="0"/>
              </a:spcAft>
              <a:buClr>
                <a:schemeClr val="dk1"/>
              </a:buClr>
              <a:buSzPts val="3400"/>
              <a:buFont typeface="Arial"/>
              <a:buNone/>
            </a:pPr>
            <a:r>
              <a:t/>
            </a:r>
            <a:endParaRPr b="0" i="0" sz="34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Increase flexibility and programmer options</a:t>
            </a:r>
            <a:endParaRPr b="0" i="0" sz="28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3300"/>
              <a:buFont typeface="Arial"/>
              <a:buNone/>
            </a:pPr>
            <a:r>
              <a:t/>
            </a:r>
            <a:endParaRPr b="0" i="0" sz="33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Increase instruction size &amp; complexity</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3503421" y="461594"/>
            <a:ext cx="213804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How big?</a:t>
            </a:r>
            <a:endParaRPr sz="4400">
              <a:latin typeface="Calibri"/>
              <a:ea typeface="Calibri"/>
              <a:cs typeface="Calibri"/>
              <a:sym typeface="Calibri"/>
            </a:endParaRPr>
          </a:p>
        </p:txBody>
      </p:sp>
      <p:sp>
        <p:nvSpPr>
          <p:cNvPr id="184" name="Google Shape;184;p16"/>
          <p:cNvSpPr txBox="1"/>
          <p:nvPr/>
        </p:nvSpPr>
        <p:spPr>
          <a:xfrm>
            <a:off x="535024" y="1371600"/>
            <a:ext cx="7237375" cy="3949158"/>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Large enough to hold full address</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450"/>
              <a:buFont typeface="Arial"/>
              <a:buNone/>
            </a:pPr>
            <a:r>
              <a:t/>
            </a:r>
            <a:endParaRPr b="0" i="0" sz="24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Large enough to hold full word</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450"/>
              <a:buFont typeface="Arial"/>
              <a:buNone/>
            </a:pPr>
            <a:r>
              <a:t/>
            </a:r>
            <a:endParaRPr b="0" i="0" sz="24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Often possible to combine two data registers</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C programming</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20"/>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double int a;</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15"/>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long int a;</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p17"/>
          <p:cNvSpPr txBox="1"/>
          <p:nvPr>
            <p:ph type="title"/>
          </p:nvPr>
        </p:nvSpPr>
        <p:spPr>
          <a:xfrm>
            <a:off x="611835" y="461594"/>
            <a:ext cx="79222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4400"/>
              <a:buFont typeface="Calibri"/>
              <a:buNone/>
            </a:pPr>
            <a:r>
              <a:rPr b="0" lang="en-US" sz="4400">
                <a:solidFill>
                  <a:srgbClr val="FF0000"/>
                </a:solidFill>
                <a:latin typeface="Calibri"/>
                <a:ea typeface="Calibri"/>
                <a:cs typeface="Calibri"/>
                <a:sym typeface="Calibri"/>
              </a:rPr>
              <a:t>Condition Code Registers(Flag Reg)</a:t>
            </a:r>
            <a:endParaRPr sz="4400">
              <a:latin typeface="Calibri"/>
              <a:ea typeface="Calibri"/>
              <a:cs typeface="Calibri"/>
              <a:sym typeface="Calibri"/>
            </a:endParaRPr>
          </a:p>
        </p:txBody>
      </p:sp>
      <p:sp>
        <p:nvSpPr>
          <p:cNvPr id="190" name="Google Shape;190;p17"/>
          <p:cNvSpPr txBox="1"/>
          <p:nvPr/>
        </p:nvSpPr>
        <p:spPr>
          <a:xfrm>
            <a:off x="535024" y="1143001"/>
            <a:ext cx="8456576" cy="5053306"/>
          </a:xfrm>
          <a:prstGeom prst="rect">
            <a:avLst/>
          </a:prstGeom>
          <a:noFill/>
          <a:ln>
            <a:noFill/>
          </a:ln>
        </p:spPr>
        <p:txBody>
          <a:bodyPr anchorCtr="0" anchor="t" bIns="0" lIns="0" spcFirstLastPara="1" rIns="0" wrap="square" tIns="13325">
            <a:spAutoFit/>
          </a:bodyPr>
          <a:lstStyle/>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Condition codes are bits set by the processor hardware as the result of operations.</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 addition to the result itself being stored in a register or memory, a condition code is also set</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Condition code bits are collected into one or more registers</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Sets of individual bits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245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e.g. result of last operation was zero</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259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Can be read (implicitly) by programs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245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e.g. Jump if zero</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258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Can not (usually) be set by programs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196" name="Google Shape;196;p18"/>
          <p:cNvPicPr preferRelativeResize="0"/>
          <p:nvPr>
            <p:ph idx="1" type="body"/>
          </p:nvPr>
        </p:nvPicPr>
        <p:blipFill rotWithShape="1">
          <a:blip r:embed="rId3">
            <a:alphaModFix/>
          </a:blip>
          <a:srcRect b="23810" l="23116" r="18876" t="17460"/>
          <a:stretch/>
        </p:blipFill>
        <p:spPr>
          <a:xfrm>
            <a:off x="304800" y="1447800"/>
            <a:ext cx="8534400" cy="449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1616455" y="461594"/>
            <a:ext cx="5911215" cy="444352"/>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2800"/>
              <a:buFont typeface="Times New Roman"/>
              <a:buNone/>
            </a:pPr>
            <a:r>
              <a:rPr b="0" lang="en-US" sz="2800">
                <a:solidFill>
                  <a:srgbClr val="FF0000"/>
                </a:solidFill>
                <a:latin typeface="Times New Roman"/>
                <a:ea typeface="Times New Roman"/>
                <a:cs typeface="Times New Roman"/>
                <a:sym typeface="Times New Roman"/>
              </a:rPr>
              <a:t>Control &amp; Status Registers</a:t>
            </a:r>
            <a:endParaRPr sz="2800">
              <a:latin typeface="Times New Roman"/>
              <a:ea typeface="Times New Roman"/>
              <a:cs typeface="Times New Roman"/>
              <a:sym typeface="Times New Roman"/>
            </a:endParaRPr>
          </a:p>
        </p:txBody>
      </p:sp>
      <p:sp>
        <p:nvSpPr>
          <p:cNvPr id="202" name="Google Shape;202;p19"/>
          <p:cNvSpPr txBox="1"/>
          <p:nvPr/>
        </p:nvSpPr>
        <p:spPr>
          <a:xfrm>
            <a:off x="228600" y="990600"/>
            <a:ext cx="8458199" cy="4076116"/>
          </a:xfrm>
          <a:prstGeom prst="rect">
            <a:avLst/>
          </a:prstGeom>
          <a:noFill/>
          <a:ln>
            <a:noFill/>
          </a:ln>
        </p:spPr>
        <p:txBody>
          <a:bodyPr anchorCtr="0" anchor="t" bIns="0" lIns="0" spcFirstLastPara="1" rIns="0" wrap="square" tIns="13325">
            <a:spAutoFit/>
          </a:bodyPr>
          <a:lstStyle/>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Program Counter (PC)-Contains the address of an instruction to be fetched</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Instruction Decoding Register(IR)-Contains the instruction most recently fetched</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Address Register(MAR)-Contains the address of a location in memory</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5"/>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Buffer Register(MBR)-Contains a word of data to be written to memory or the word most recently read</a:t>
            </a:r>
            <a:endParaRPr b="0" i="0" sz="2400" u="none" cap="none" strike="noStrike">
              <a:solidFill>
                <a:schemeClr val="dk1"/>
              </a:solidFill>
              <a:latin typeface="Times New Roman"/>
              <a:ea typeface="Times New Roman"/>
              <a:cs typeface="Times New Roman"/>
              <a:sym typeface="Times New Roman"/>
            </a:endParaRPr>
          </a:p>
        </p:txBody>
      </p:sp>
      <p:sp>
        <p:nvSpPr>
          <p:cNvPr id="203" name="Google Shape;203;p19"/>
          <p:cNvSpPr txBox="1"/>
          <p:nvPr/>
        </p:nvSpPr>
        <p:spPr>
          <a:xfrm>
            <a:off x="533400" y="5410200"/>
            <a:ext cx="8229600"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movement of data between the processor and memory</a:t>
            </a:r>
            <a:endParaRPr/>
          </a:p>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Within the processor, data must be presented to the ALU for processing.</a:t>
            </a:r>
            <a:endParaRPr/>
          </a:p>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The ALU may have direct access to the MBR and user-visible registers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7" name="Shape 207"/>
        <p:cNvGrpSpPr/>
        <p:nvPr/>
      </p:nvGrpSpPr>
      <p:grpSpPr>
        <a:xfrm>
          <a:off x="0" y="0"/>
          <a:ext cx="0" cy="0"/>
          <a:chOff x="0" y="0"/>
          <a:chExt cx="0" cy="0"/>
        </a:xfrm>
      </p:grpSpPr>
      <p:sp>
        <p:nvSpPr>
          <p:cNvPr id="208" name="Google Shape;208;p20"/>
          <p:cNvSpPr txBox="1"/>
          <p:nvPr/>
        </p:nvSpPr>
        <p:spPr>
          <a:xfrm>
            <a:off x="293014" y="478274"/>
            <a:ext cx="8696325" cy="5872480"/>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Memory Address Register (MAR)</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Connected to address bus</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5"/>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Specifies address for read or write op</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Memory Buffer Register (MBR)</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Connected to data bus</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data to write or last data read</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5"/>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Program Counter (PC)</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a:t>
            </a:r>
            <a:r>
              <a:rPr b="1" i="0" lang="en-US" sz="2800" u="none" cap="none" strike="noStrike">
                <a:solidFill>
                  <a:schemeClr val="dk1"/>
                </a:solidFill>
                <a:latin typeface="Calibri"/>
                <a:ea typeface="Calibri"/>
                <a:cs typeface="Calibri"/>
                <a:sym typeface="Calibri"/>
              </a:rPr>
              <a:t>address of next </a:t>
            </a:r>
            <a:r>
              <a:rPr b="0" i="0" lang="en-US" sz="2800" u="none" cap="none" strike="noStrike">
                <a:solidFill>
                  <a:schemeClr val="dk1"/>
                </a:solidFill>
                <a:latin typeface="Calibri"/>
                <a:ea typeface="Calibri"/>
                <a:cs typeface="Calibri"/>
                <a:sym typeface="Calibri"/>
              </a:rPr>
              <a:t>instruction to be fetched</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Instruction Register (IR)</a:t>
            </a:r>
            <a:endParaRPr b="0" i="0" sz="3200" u="none" cap="none" strike="noStrike">
              <a:solidFill>
                <a:schemeClr val="dk1"/>
              </a:solidFill>
              <a:latin typeface="Calibri"/>
              <a:ea typeface="Calibri"/>
              <a:cs typeface="Calibri"/>
              <a:sym typeface="Calibri"/>
            </a:endParaRPr>
          </a:p>
          <a:p>
            <a:pPr indent="-287019" lvl="1" marL="756285" marR="508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last instruction fetched/current instruction being  executed</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2138552" y="461594"/>
            <a:ext cx="48698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4400"/>
              <a:buFont typeface="Calibri"/>
              <a:buNone/>
            </a:pPr>
            <a:r>
              <a:rPr b="0" lang="en-US" sz="4400">
                <a:solidFill>
                  <a:srgbClr val="FF0000"/>
                </a:solidFill>
                <a:latin typeface="Calibri"/>
                <a:ea typeface="Calibri"/>
                <a:cs typeface="Calibri"/>
                <a:sym typeface="Calibri"/>
              </a:rPr>
              <a:t>Program Status Word</a:t>
            </a:r>
            <a:endParaRPr sz="4400">
              <a:latin typeface="Calibri"/>
              <a:ea typeface="Calibri"/>
              <a:cs typeface="Calibri"/>
              <a:sym typeface="Calibri"/>
            </a:endParaRPr>
          </a:p>
        </p:txBody>
      </p:sp>
      <p:sp>
        <p:nvSpPr>
          <p:cNvPr id="214" name="Google Shape;214;p21"/>
          <p:cNvSpPr txBox="1"/>
          <p:nvPr/>
        </p:nvSpPr>
        <p:spPr>
          <a:xfrm>
            <a:off x="457200" y="2438400"/>
            <a:ext cx="8305800" cy="3706143"/>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 set of bits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Includes Condition Codes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Sign of last result</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Zero-set when result is 0</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Carry</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Equal</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Overflow</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Interrupt enable/disable-</a:t>
            </a:r>
            <a:r>
              <a:rPr b="0" i="0" lang="en-US" sz="2400" u="none" cap="none" strike="noStrike">
                <a:solidFill>
                  <a:schemeClr val="dk1"/>
                </a:solidFill>
                <a:latin typeface="Gill Sans"/>
                <a:ea typeface="Gill Sans"/>
                <a:cs typeface="Gill Sans"/>
                <a:sym typeface="Gill Sans"/>
              </a:rPr>
              <a:t>enable or disable interrupts.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Supervisor-Indicates whether the processor is executing in supervisor or user mode.</a:t>
            </a:r>
            <a:endParaRPr b="0" i="0" sz="2400" u="none" cap="none" strike="noStrike">
              <a:solidFill>
                <a:schemeClr val="dk1"/>
              </a:solidFill>
              <a:latin typeface="Times New Roman"/>
              <a:ea typeface="Times New Roman"/>
              <a:cs typeface="Times New Roman"/>
              <a:sym typeface="Times New Roman"/>
            </a:endParaRPr>
          </a:p>
        </p:txBody>
      </p:sp>
      <p:sp>
        <p:nvSpPr>
          <p:cNvPr id="215" name="Google Shape;215;p21"/>
          <p:cNvSpPr txBox="1"/>
          <p:nvPr/>
        </p:nvSpPr>
        <p:spPr>
          <a:xfrm>
            <a:off x="457200" y="1295400"/>
            <a:ext cx="80772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chemeClr val="dk1"/>
                </a:solidFill>
                <a:latin typeface="Times New Roman"/>
                <a:ea typeface="Times New Roman"/>
                <a:cs typeface="Times New Roman"/>
                <a:sym typeface="Times New Roman"/>
              </a:rPr>
              <a:t>program status word (PSW) contain status information.</a:t>
            </a:r>
            <a:endParaRPr/>
          </a:p>
          <a:p>
            <a:pPr indent="0" lvl="0" marL="0" marR="0" rtl="0" algn="l">
              <a:spcBef>
                <a:spcPts val="0"/>
              </a:spcBef>
              <a:spcAft>
                <a:spcPts val="0"/>
              </a:spcAft>
              <a:buNone/>
            </a:pPr>
            <a:r>
              <a:rPr i="1" lang="en-US" sz="2000">
                <a:solidFill>
                  <a:schemeClr val="dk1"/>
                </a:solidFill>
                <a:latin typeface="Times New Roman"/>
                <a:ea typeface="Times New Roman"/>
                <a:cs typeface="Times New Roman"/>
                <a:sym typeface="Times New Roman"/>
              </a:rPr>
              <a:t>The PSW typically </a:t>
            </a:r>
            <a:r>
              <a:rPr lang="en-US" sz="2000">
                <a:solidFill>
                  <a:schemeClr val="dk1"/>
                </a:solidFill>
                <a:latin typeface="Times New Roman"/>
                <a:ea typeface="Times New Roman"/>
                <a:cs typeface="Times New Roman"/>
                <a:sym typeface="Times New Roman"/>
              </a:rPr>
              <a:t>contains condition codes plus other status information. Common fields or flags include the following: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221" name="Google Shape;221;p22"/>
          <p:cNvSpPr txBox="1"/>
          <p:nvPr>
            <p:ph idx="1" type="body"/>
          </p:nvPr>
        </p:nvSpPr>
        <p:spPr>
          <a:xfrm>
            <a:off x="304800" y="14478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user state is the default (normal) state of operation, in which user programs are executed.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supervisor state is a special mode of operation to which the user has no access.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When it is in the supervisor state, the processor and its actions are entirely controlled by the Operating System (OS).</a:t>
            </a:r>
            <a:endParaRPr sz="2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txBox="1"/>
          <p:nvPr>
            <p:ph type="title"/>
          </p:nvPr>
        </p:nvSpPr>
        <p:spPr>
          <a:xfrm>
            <a:off x="76200" y="152400"/>
            <a:ext cx="88574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227" name="Google Shape;227;p23"/>
          <p:cNvSpPr txBox="1"/>
          <p:nvPr>
            <p:ph idx="1" type="body"/>
          </p:nvPr>
        </p:nvSpPr>
        <p:spPr>
          <a:xfrm>
            <a:off x="228600" y="838200"/>
            <a:ext cx="8705088" cy="2895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latin typeface="Times New Roman"/>
                <a:ea typeface="Times New Roman"/>
                <a:cs typeface="Times New Roman"/>
                <a:sym typeface="Times New Roman"/>
              </a:rPr>
              <a:t>Processor operations mostly involve processing data.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This data can be stored in memory and accessed from thereon.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However, reading data from and storing data into memory slows down the processor</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To speed up the processor operations, the processor includes some internal memory storage locations, called </a:t>
            </a:r>
            <a:r>
              <a:rPr b="1" lang="en-US" sz="2000">
                <a:latin typeface="Times New Roman"/>
                <a:ea typeface="Times New Roman"/>
                <a:cs typeface="Times New Roman"/>
                <a:sym typeface="Times New Roman"/>
              </a:rPr>
              <a:t>registers</a:t>
            </a:r>
            <a:r>
              <a:rPr lang="en-US" sz="2000">
                <a:latin typeface="Times New Roman"/>
                <a:ea typeface="Times New Roman"/>
                <a:cs typeface="Times New Roman"/>
                <a:sym typeface="Times New Roman"/>
              </a:rPr>
              <a:t>.</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 registers store data elements for processing without having to access the memory. A limited number of registers are built into the processor chip.</a:t>
            </a:r>
            <a:endParaRPr/>
          </a:p>
          <a:p>
            <a:pPr indent="-181864" lvl="0" marL="365760" rtl="0" algn="just">
              <a:lnSpc>
                <a:spcPct val="100000"/>
              </a:lnSpc>
              <a:spcBef>
                <a:spcPts val="600"/>
              </a:spcBef>
              <a:spcAft>
                <a:spcPts val="0"/>
              </a:spcAft>
              <a:buSzPts val="1600"/>
              <a:buNone/>
            </a:pPr>
            <a:r>
              <a:t/>
            </a:r>
            <a:endParaRPr sz="2000">
              <a:latin typeface="Times New Roman"/>
              <a:ea typeface="Times New Roman"/>
              <a:cs typeface="Times New Roman"/>
              <a:sym typeface="Times New Roman"/>
            </a:endParaRPr>
          </a:p>
        </p:txBody>
      </p:sp>
      <p:sp>
        <p:nvSpPr>
          <p:cNvPr id="228" name="Google Shape;228;p23"/>
          <p:cNvSpPr txBox="1"/>
          <p:nvPr/>
        </p:nvSpPr>
        <p:spPr>
          <a:xfrm>
            <a:off x="609600" y="4114800"/>
            <a:ext cx="77724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registers are grouped into three categories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General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Control registers, and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Segment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general registers are further divided into the following groups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Data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Pointer registers, and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Index registers.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2" name="Shape 232"/>
        <p:cNvGrpSpPr/>
        <p:nvPr/>
      </p:nvGrpSpPr>
      <p:grpSpPr>
        <a:xfrm>
          <a:off x="0" y="0"/>
          <a:ext cx="0" cy="0"/>
          <a:chOff x="0" y="0"/>
          <a:chExt cx="0" cy="0"/>
        </a:xfrm>
      </p:grpSpPr>
      <p:sp>
        <p:nvSpPr>
          <p:cNvPr id="233" name="Google Shape;233;p24"/>
          <p:cNvSpPr txBox="1"/>
          <p:nvPr>
            <p:ph type="title"/>
          </p:nvPr>
        </p:nvSpPr>
        <p:spPr>
          <a:xfrm>
            <a:off x="3048000" y="304800"/>
            <a:ext cx="2532380" cy="45212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2800"/>
              <a:buFont typeface="Calibri"/>
              <a:buNone/>
            </a:pPr>
            <a:r>
              <a:rPr b="0" lang="en-US" sz="2800">
                <a:latin typeface="Calibri"/>
                <a:ea typeface="Calibri"/>
                <a:cs typeface="Calibri"/>
                <a:sym typeface="Calibri"/>
              </a:rPr>
              <a:t>General Registers</a:t>
            </a:r>
            <a:endParaRPr sz="2800">
              <a:latin typeface="Calibri"/>
              <a:ea typeface="Calibri"/>
              <a:cs typeface="Calibri"/>
              <a:sym typeface="Calibri"/>
            </a:endParaRPr>
          </a:p>
        </p:txBody>
      </p:sp>
      <p:sp>
        <p:nvSpPr>
          <p:cNvPr id="234" name="Google Shape;234;p24"/>
          <p:cNvSpPr txBox="1"/>
          <p:nvPr/>
        </p:nvSpPr>
        <p:spPr>
          <a:xfrm>
            <a:off x="157480" y="914400"/>
            <a:ext cx="8961120" cy="5462393"/>
          </a:xfrm>
          <a:prstGeom prst="rect">
            <a:avLst/>
          </a:prstGeom>
          <a:noFill/>
          <a:ln>
            <a:noFill/>
          </a:ln>
        </p:spPr>
        <p:txBody>
          <a:bodyPr anchorCtr="0" anchor="t" bIns="0" lIns="0" spcFirstLastPara="1" rIns="0" wrap="square" tIns="12050">
            <a:spAutoFit/>
          </a:bodyPr>
          <a:lstStyle/>
          <a:p>
            <a:pPr indent="-256540" lvl="0" marL="268605" marR="5080" rtl="0" algn="l">
              <a:lnSpc>
                <a:spcPct val="150100"/>
              </a:lnSpc>
              <a:spcBef>
                <a:spcPts val="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AX is the primary accumulator</a:t>
            </a:r>
            <a:r>
              <a:rPr lang="en-US" sz="2200">
                <a:solidFill>
                  <a:schemeClr val="dk1"/>
                </a:solidFill>
                <a:latin typeface="Times New Roman"/>
                <a:ea typeface="Times New Roman"/>
                <a:cs typeface="Times New Roman"/>
                <a:sym typeface="Times New Roman"/>
              </a:rPr>
              <a:t>; it is used in input/output and most  arithmetic instructions. For example, in multiplication operation, one operand  is stored in EAX or AX or AL register according to the size of the operand.</a:t>
            </a:r>
            <a:endParaRPr sz="2200">
              <a:solidFill>
                <a:schemeClr val="dk1"/>
              </a:solidFill>
              <a:latin typeface="Times New Roman"/>
              <a:ea typeface="Times New Roman"/>
              <a:cs typeface="Times New Roman"/>
              <a:sym typeface="Times New Roman"/>
            </a:endParaRPr>
          </a:p>
          <a:p>
            <a:pPr indent="-256540" lvl="0" marL="268605" marR="0" rtl="0" algn="l">
              <a:lnSpc>
                <a:spcPct val="100000"/>
              </a:lnSpc>
              <a:spcBef>
                <a:spcPts val="185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BX is known as the base register</a:t>
            </a:r>
            <a:r>
              <a:rPr lang="en-US" sz="2200">
                <a:solidFill>
                  <a:schemeClr val="dk1"/>
                </a:solidFill>
                <a:latin typeface="Times New Roman"/>
                <a:ea typeface="Times New Roman"/>
                <a:cs typeface="Times New Roman"/>
                <a:sym typeface="Times New Roman"/>
              </a:rPr>
              <a:t>, as it could be used in indexed addressing (the content of a given index register gets added to an instruction's address part so as to obtain the effective address.).</a:t>
            </a:r>
            <a:endParaRPr sz="2200">
              <a:solidFill>
                <a:schemeClr val="dk1"/>
              </a:solidFill>
              <a:latin typeface="Times New Roman"/>
              <a:ea typeface="Times New Roman"/>
              <a:cs typeface="Times New Roman"/>
              <a:sym typeface="Times New Roman"/>
            </a:endParaRPr>
          </a:p>
          <a:p>
            <a:pPr indent="-256540" lvl="0" marL="268605" marR="125729" rtl="0" algn="l">
              <a:lnSpc>
                <a:spcPct val="150000"/>
              </a:lnSpc>
              <a:spcBef>
                <a:spcPts val="53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CX is known as the count register</a:t>
            </a:r>
            <a:r>
              <a:rPr lang="en-US" sz="2200">
                <a:solidFill>
                  <a:schemeClr val="dk1"/>
                </a:solidFill>
                <a:latin typeface="Times New Roman"/>
                <a:ea typeface="Times New Roman"/>
                <a:cs typeface="Times New Roman"/>
                <a:sym typeface="Times New Roman"/>
              </a:rPr>
              <a:t>, as the ECX, CX registers store the loop  count in iterative operations.</a:t>
            </a:r>
            <a:endParaRPr sz="2200">
              <a:solidFill>
                <a:schemeClr val="dk1"/>
              </a:solidFill>
              <a:latin typeface="Times New Roman"/>
              <a:ea typeface="Times New Roman"/>
              <a:cs typeface="Times New Roman"/>
              <a:sym typeface="Times New Roman"/>
            </a:endParaRPr>
          </a:p>
          <a:p>
            <a:pPr indent="-256540" lvl="0" marL="268605" marR="116204" rtl="0" algn="l">
              <a:lnSpc>
                <a:spcPct val="150000"/>
              </a:lnSpc>
              <a:spcBef>
                <a:spcPts val="53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DX is known as the data register</a:t>
            </a:r>
            <a:r>
              <a:rPr lang="en-US" sz="2200">
                <a:solidFill>
                  <a:schemeClr val="dk1"/>
                </a:solidFill>
                <a:latin typeface="Times New Roman"/>
                <a:ea typeface="Times New Roman"/>
                <a:cs typeface="Times New Roman"/>
                <a:sym typeface="Times New Roman"/>
              </a:rPr>
              <a:t>. It is also used in input/output operations.  It is also used with AX register along with DX for multiply and divide  operations involving large values.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8" name="Shape 238"/>
        <p:cNvGrpSpPr/>
        <p:nvPr/>
      </p:nvGrpSpPr>
      <p:grpSpPr>
        <a:xfrm>
          <a:off x="0" y="0"/>
          <a:ext cx="0" cy="0"/>
          <a:chOff x="0" y="0"/>
          <a:chExt cx="0" cy="0"/>
        </a:xfrm>
      </p:grpSpPr>
      <p:sp>
        <p:nvSpPr>
          <p:cNvPr id="239" name="Google Shape;239;p25"/>
          <p:cNvSpPr txBox="1"/>
          <p:nvPr>
            <p:ph type="title"/>
          </p:nvPr>
        </p:nvSpPr>
        <p:spPr>
          <a:xfrm>
            <a:off x="3360165" y="151256"/>
            <a:ext cx="2447290" cy="45212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2800"/>
              <a:buFont typeface="Calibri"/>
              <a:buNone/>
            </a:pPr>
            <a:r>
              <a:rPr b="0" lang="en-US" sz="2800">
                <a:latin typeface="Calibri"/>
                <a:ea typeface="Calibri"/>
                <a:cs typeface="Calibri"/>
                <a:sym typeface="Calibri"/>
              </a:rPr>
              <a:t>Pointer Registers</a:t>
            </a:r>
            <a:endParaRPr sz="2800">
              <a:latin typeface="Calibri"/>
              <a:ea typeface="Calibri"/>
              <a:cs typeface="Calibri"/>
              <a:sym typeface="Calibri"/>
            </a:endParaRPr>
          </a:p>
        </p:txBody>
      </p:sp>
      <p:sp>
        <p:nvSpPr>
          <p:cNvPr id="240" name="Google Shape;240;p25"/>
          <p:cNvSpPr txBox="1"/>
          <p:nvPr/>
        </p:nvSpPr>
        <p:spPr>
          <a:xfrm>
            <a:off x="112606" y="990600"/>
            <a:ext cx="8878994" cy="5282856"/>
          </a:xfrm>
          <a:prstGeom prst="rect">
            <a:avLst/>
          </a:prstGeom>
          <a:noFill/>
          <a:ln>
            <a:noFill/>
          </a:ln>
        </p:spPr>
        <p:txBody>
          <a:bodyPr anchorCtr="0" anchor="t" bIns="0" lIns="0" spcFirstLastPara="1" rIns="0" wrap="square" tIns="12050">
            <a:spAutoFit/>
          </a:bodyPr>
          <a:lstStyle/>
          <a:p>
            <a:pPr indent="-342900" lvl="0" marL="355600" marR="245109" rtl="0" algn="just">
              <a:lnSpc>
                <a:spcPct val="15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Instruction Pointer (IP) </a:t>
            </a:r>
            <a:r>
              <a:rPr lang="en-US" sz="2000">
                <a:solidFill>
                  <a:schemeClr val="dk1"/>
                </a:solidFill>
                <a:latin typeface="Times New Roman"/>
                <a:ea typeface="Times New Roman"/>
                <a:cs typeface="Times New Roman"/>
                <a:sym typeface="Times New Roman"/>
              </a:rPr>
              <a:t>− The 16-bit IP register stores the offset address (</a:t>
            </a:r>
            <a:r>
              <a:rPr i="1" lang="en-US" sz="2000">
                <a:solidFill>
                  <a:schemeClr val="dk1"/>
                </a:solidFill>
                <a:latin typeface="Times New Roman"/>
                <a:ea typeface="Times New Roman"/>
                <a:cs typeface="Times New Roman"/>
                <a:sym typeface="Times New Roman"/>
              </a:rPr>
              <a:t>The offset address, which is a part of the address, is added to the start of the segment to ad­dress a memory location within the memory segment</a:t>
            </a:r>
            <a:r>
              <a:rPr lang="en-US" sz="2000">
                <a:solidFill>
                  <a:schemeClr val="dk1"/>
                </a:solidFill>
                <a:latin typeface="Times New Roman"/>
                <a:ea typeface="Times New Roman"/>
                <a:cs typeface="Times New Roman"/>
                <a:sym typeface="Times New Roman"/>
              </a:rPr>
              <a:t>) of the  next instruction to be executed. IP in association with the CS register (as CS:IP)  gives the complete address of the current instruction in the code segment.</a:t>
            </a:r>
            <a:endParaRPr sz="2000">
              <a:solidFill>
                <a:schemeClr val="dk1"/>
              </a:solidFill>
              <a:latin typeface="Times New Roman"/>
              <a:ea typeface="Times New Roman"/>
              <a:cs typeface="Times New Roman"/>
              <a:sym typeface="Times New Roman"/>
            </a:endParaRPr>
          </a:p>
          <a:p>
            <a:pPr indent="-342900" lvl="0" marL="355600" marR="167005" rtl="0" algn="just">
              <a:lnSpc>
                <a:spcPct val="150100"/>
              </a:lnSpc>
              <a:spcBef>
                <a:spcPts val="48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Stack Pointer (SP) </a:t>
            </a:r>
            <a:r>
              <a:rPr lang="en-US" sz="2000">
                <a:solidFill>
                  <a:schemeClr val="dk1"/>
                </a:solidFill>
                <a:latin typeface="Times New Roman"/>
                <a:ea typeface="Times New Roman"/>
                <a:cs typeface="Times New Roman"/>
                <a:sym typeface="Times New Roman"/>
              </a:rPr>
              <a:t>− The 16-bit SP register provides the offset value within the  program stack. SP in association with the SS register (SS:SP) refers to be current  position of data or address within the program stack.</a:t>
            </a:r>
            <a:endParaRPr sz="2000">
              <a:solidFill>
                <a:schemeClr val="dk1"/>
              </a:solidFill>
              <a:latin typeface="Times New Roman"/>
              <a:ea typeface="Times New Roman"/>
              <a:cs typeface="Times New Roman"/>
              <a:sym typeface="Times New Roman"/>
            </a:endParaRPr>
          </a:p>
          <a:p>
            <a:pPr indent="-342900" lvl="1" marL="812800" marR="167005" rtl="0" algn="just">
              <a:lnSpc>
                <a:spcPct val="150100"/>
              </a:lnSpc>
              <a:spcBef>
                <a:spcPts val="4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stack is a block of memory that may be used for temporarily storing the contents of registers inside CPU. • Stack is accessed by using SP and SS</a:t>
            </a:r>
            <a:endParaRPr b="0" i="0" sz="2000" u="none" cap="none" strike="noStrike">
              <a:solidFill>
                <a:schemeClr val="dk1"/>
              </a:solidFill>
              <a:latin typeface="Times New Roman"/>
              <a:ea typeface="Times New Roman"/>
              <a:cs typeface="Times New Roman"/>
              <a:sym typeface="Times New Roman"/>
            </a:endParaRPr>
          </a:p>
          <a:p>
            <a:pPr indent="-215900" lvl="0" marL="355600" marR="5080" rtl="0" algn="l">
              <a:lnSpc>
                <a:spcPct val="150000"/>
              </a:lnSpc>
              <a:spcBef>
                <a:spcPts val="48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685800" y="274638"/>
            <a:ext cx="82478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246" name="Google Shape;246;p26"/>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b="1" lang="en-US" sz="2000">
                <a:latin typeface="Times New Roman"/>
                <a:ea typeface="Times New Roman"/>
                <a:cs typeface="Times New Roman"/>
                <a:sym typeface="Times New Roman"/>
              </a:rPr>
              <a:t>Base Pointer (BP) </a:t>
            </a:r>
            <a:r>
              <a:rPr lang="en-US" sz="2000">
                <a:latin typeface="Times New Roman"/>
                <a:ea typeface="Times New Roman"/>
                <a:cs typeface="Times New Roman"/>
                <a:sym typeface="Times New Roman"/>
              </a:rPr>
              <a:t>− The 16-bit BP register mainly helps in referencing the  parameter variables passed to a subroutine.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It is primarily used in accessing parameters passed by the stack .</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The address in SS (Stack) register is combined  with the offset in BP to get the location of the parameter.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BP can also be combined  with DI (Destination index-16 bit register) and SI (Source index-16 bit register) as base register for special addressing</a:t>
            </a:r>
            <a:r>
              <a:rPr lang="en-US"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1828800" y="172395"/>
            <a:ext cx="4303395"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FF0000"/>
              </a:buClr>
              <a:buSzPts val="4300"/>
              <a:buFont typeface="Calibri"/>
              <a:buNone/>
            </a:pPr>
            <a:r>
              <a:rPr b="0" lang="en-US">
                <a:solidFill>
                  <a:srgbClr val="FF0000"/>
                </a:solidFill>
                <a:latin typeface="Calibri"/>
                <a:ea typeface="Calibri"/>
                <a:cs typeface="Calibri"/>
                <a:sym typeface="Calibri"/>
              </a:rPr>
              <a:t>Index Registers</a:t>
            </a:r>
            <a:endParaRPr/>
          </a:p>
        </p:txBody>
      </p:sp>
      <p:sp>
        <p:nvSpPr>
          <p:cNvPr id="252" name="Google Shape;252;p27"/>
          <p:cNvSpPr txBox="1"/>
          <p:nvPr/>
        </p:nvSpPr>
        <p:spPr>
          <a:xfrm>
            <a:off x="186267" y="1066800"/>
            <a:ext cx="8839200" cy="4629472"/>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SI and DI, are used for indexed addressing and sometimes used in</a:t>
            </a:r>
            <a:endParaRPr/>
          </a:p>
          <a:p>
            <a:pPr indent="0" lvl="0" marL="0" marR="0" rtl="0" algn="just">
              <a:lnSpc>
                <a:spcPct val="100000"/>
              </a:lnSpc>
              <a:spcBef>
                <a:spcPts val="5"/>
              </a:spcBef>
              <a:spcAft>
                <a:spcPts val="0"/>
              </a:spcAft>
              <a:buNone/>
            </a:pPr>
            <a:r>
              <a:t/>
            </a:r>
            <a:endParaRPr sz="2000">
              <a:solidFill>
                <a:schemeClr val="dk1"/>
              </a:solidFill>
              <a:latin typeface="Times New Roman"/>
              <a:ea typeface="Times New Roman"/>
              <a:cs typeface="Times New Roman"/>
              <a:sym typeface="Times New Roman"/>
            </a:endParaRPr>
          </a:p>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addition and subtraction.</a:t>
            </a:r>
            <a:endParaRPr/>
          </a:p>
          <a:p>
            <a:pPr indent="0" lvl="0" marL="0" marR="0" rtl="0" algn="just">
              <a:lnSpc>
                <a:spcPct val="100000"/>
              </a:lnSpc>
              <a:spcBef>
                <a:spcPts val="5"/>
              </a:spcBef>
              <a:spcAft>
                <a:spcPts val="0"/>
              </a:spcAft>
              <a:buNone/>
            </a:pPr>
            <a:r>
              <a:t/>
            </a:r>
            <a:endParaRPr sz="2000">
              <a:solidFill>
                <a:schemeClr val="dk1"/>
              </a:solidFill>
              <a:latin typeface="Times New Roman"/>
              <a:ea typeface="Times New Roman"/>
              <a:cs typeface="Times New Roman"/>
              <a:sym typeface="Times New Roman"/>
            </a:endParaRPr>
          </a:p>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There are two sets of index pointers −</a:t>
            </a:r>
            <a:endParaRPr/>
          </a:p>
          <a:p>
            <a:pPr indent="0" lvl="0" marL="12700" marR="5080" rtl="0" algn="just">
              <a:lnSpc>
                <a:spcPct val="200000"/>
              </a:lnSpc>
              <a:spcBef>
                <a:spcPts val="5"/>
              </a:spcBef>
              <a:spcAft>
                <a:spcPts val="0"/>
              </a:spcAft>
              <a:buNone/>
            </a:pPr>
            <a:r>
              <a:rPr b="1" lang="en-US" sz="2000">
                <a:solidFill>
                  <a:schemeClr val="dk1"/>
                </a:solidFill>
                <a:latin typeface="Times New Roman"/>
                <a:ea typeface="Times New Roman"/>
                <a:cs typeface="Times New Roman"/>
                <a:sym typeface="Times New Roman"/>
              </a:rPr>
              <a:t>Source Index (SI) </a:t>
            </a:r>
            <a:r>
              <a:rPr lang="en-US" sz="2000">
                <a:solidFill>
                  <a:schemeClr val="dk1"/>
                </a:solidFill>
                <a:latin typeface="Times New Roman"/>
                <a:ea typeface="Times New Roman"/>
                <a:cs typeface="Times New Roman"/>
                <a:sym typeface="Times New Roman"/>
              </a:rPr>
              <a:t>− It is used as source index for string operations. It is used in the </a:t>
            </a:r>
            <a:r>
              <a:rPr b="1" lang="en-US" sz="2000">
                <a:solidFill>
                  <a:schemeClr val="dk1"/>
                </a:solidFill>
                <a:latin typeface="Times New Roman"/>
                <a:ea typeface="Times New Roman"/>
                <a:cs typeface="Times New Roman"/>
                <a:sym typeface="Times New Roman"/>
              </a:rPr>
              <a:t>pointer addressing of data </a:t>
            </a:r>
            <a:r>
              <a:rPr lang="en-US" sz="2000">
                <a:solidFill>
                  <a:schemeClr val="dk1"/>
                </a:solidFill>
                <a:latin typeface="Times New Roman"/>
                <a:ea typeface="Times New Roman"/>
                <a:cs typeface="Times New Roman"/>
                <a:sym typeface="Times New Roman"/>
              </a:rPr>
              <a:t>and as a source in some string-related operations</a:t>
            </a:r>
            <a:endParaRPr/>
          </a:p>
          <a:p>
            <a:pPr indent="0" lvl="0" marL="12700" marR="5080" rtl="0" algn="just">
              <a:lnSpc>
                <a:spcPct val="200000"/>
              </a:lnSpc>
              <a:spcBef>
                <a:spcPts val="5"/>
              </a:spcBef>
              <a:spcAft>
                <a:spcPts val="0"/>
              </a:spcAft>
              <a:buNone/>
            </a:pPr>
            <a:r>
              <a:rPr lang="en-US" sz="2000">
                <a:solidFill>
                  <a:schemeClr val="dk1"/>
                </a:solidFill>
                <a:latin typeface="Times New Roman"/>
                <a:ea typeface="Times New Roman"/>
                <a:cs typeface="Times New Roman"/>
                <a:sym typeface="Times New Roman"/>
              </a:rPr>
              <a:t>  </a:t>
            </a:r>
            <a:r>
              <a:rPr b="1" lang="en-US" sz="2000">
                <a:solidFill>
                  <a:schemeClr val="dk1"/>
                </a:solidFill>
                <a:latin typeface="Times New Roman"/>
                <a:ea typeface="Times New Roman"/>
                <a:cs typeface="Times New Roman"/>
                <a:sym typeface="Times New Roman"/>
              </a:rPr>
              <a:t>Destination Index (DI) </a:t>
            </a:r>
            <a:r>
              <a:rPr lang="en-US" sz="2000">
                <a:solidFill>
                  <a:schemeClr val="dk1"/>
                </a:solidFill>
                <a:latin typeface="Times New Roman"/>
                <a:ea typeface="Times New Roman"/>
                <a:cs typeface="Times New Roman"/>
                <a:sym typeface="Times New Roman"/>
              </a:rPr>
              <a:t>− It is used as destination index for string  operations. It is used in the </a:t>
            </a:r>
            <a:r>
              <a:rPr b="1" lang="en-US" sz="2000">
                <a:solidFill>
                  <a:schemeClr val="dk1"/>
                </a:solidFill>
                <a:latin typeface="Times New Roman"/>
                <a:ea typeface="Times New Roman"/>
                <a:cs typeface="Times New Roman"/>
                <a:sym typeface="Times New Roman"/>
              </a:rPr>
              <a:t>pointer addressing of data </a:t>
            </a:r>
            <a:r>
              <a:rPr lang="en-US" sz="2000">
                <a:solidFill>
                  <a:schemeClr val="dk1"/>
                </a:solidFill>
                <a:latin typeface="Times New Roman"/>
                <a:ea typeface="Times New Roman"/>
                <a:cs typeface="Times New Roman"/>
                <a:sym typeface="Times New Roman"/>
              </a:rPr>
              <a:t>and as a destination in some string-related operations.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6" name="Shape 256"/>
        <p:cNvGrpSpPr/>
        <p:nvPr/>
      </p:nvGrpSpPr>
      <p:grpSpPr>
        <a:xfrm>
          <a:off x="0" y="0"/>
          <a:ext cx="0" cy="0"/>
          <a:chOff x="0" y="0"/>
          <a:chExt cx="0" cy="0"/>
        </a:xfrm>
      </p:grpSpPr>
      <p:sp>
        <p:nvSpPr>
          <p:cNvPr id="257" name="Google Shape;257;p28"/>
          <p:cNvSpPr txBox="1"/>
          <p:nvPr>
            <p:ph type="title"/>
          </p:nvPr>
        </p:nvSpPr>
        <p:spPr>
          <a:xfrm>
            <a:off x="2133600" y="172395"/>
            <a:ext cx="4196461"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Control Registers</a:t>
            </a:r>
            <a:endParaRPr/>
          </a:p>
        </p:txBody>
      </p:sp>
      <p:sp>
        <p:nvSpPr>
          <p:cNvPr id="258" name="Google Shape;258;p28"/>
          <p:cNvSpPr txBox="1"/>
          <p:nvPr/>
        </p:nvSpPr>
        <p:spPr>
          <a:xfrm>
            <a:off x="228600" y="1219200"/>
            <a:ext cx="8686801" cy="4670509"/>
          </a:xfrm>
          <a:prstGeom prst="rect">
            <a:avLst/>
          </a:prstGeom>
          <a:noFill/>
          <a:ln>
            <a:noFill/>
          </a:ln>
        </p:spPr>
        <p:txBody>
          <a:bodyPr anchorCtr="0" anchor="t" bIns="0" lIns="0" spcFirstLastPara="1" rIns="0" wrap="square" tIns="12700">
            <a:spAutoFit/>
          </a:bodyPr>
          <a:lstStyle/>
          <a:p>
            <a:pPr indent="-342900" lvl="0" marL="355600" marR="5080" rtl="0" algn="just">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32-bit instruction pointer register and the 32-bit flags register  combined</a:t>
            </a:r>
            <a:r>
              <a:rPr lang="en-US" sz="2400">
                <a:solidFill>
                  <a:schemeClr val="dk1"/>
                </a:solidFill>
                <a:latin typeface="Times New Roman"/>
                <a:ea typeface="Times New Roman"/>
                <a:cs typeface="Times New Roman"/>
                <a:sym typeface="Times New Roman"/>
              </a:rPr>
              <a:t> are considered as the </a:t>
            </a:r>
            <a:r>
              <a:rPr lang="en-US" sz="2400">
                <a:solidFill>
                  <a:srgbClr val="FF0000"/>
                </a:solidFill>
                <a:latin typeface="Times New Roman"/>
                <a:ea typeface="Times New Roman"/>
                <a:cs typeface="Times New Roman"/>
                <a:sym typeface="Times New Roman"/>
              </a:rPr>
              <a:t>control registers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42900" lvl="0" marL="355600" marR="5080" rtl="0" algn="just">
              <a:lnSpc>
                <a:spcPct val="15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Many instructions involve comparisons and mathematical  calculations and change the status of the flags and some other  conditional instructions test the value of these status flags to take  the control flow to other location.</a:t>
            </a:r>
            <a:endParaRPr sz="2400">
              <a:solidFill>
                <a:schemeClr val="dk1"/>
              </a:solidFill>
              <a:latin typeface="Times New Roman"/>
              <a:ea typeface="Times New Roman"/>
              <a:cs typeface="Times New Roman"/>
              <a:sym typeface="Times New Roman"/>
            </a:endParaRPr>
          </a:p>
          <a:p>
            <a:pPr indent="-342900" lvl="0" marL="355600" marR="5080" rtl="0" algn="just">
              <a:lnSpc>
                <a:spcPct val="15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Flags-Condition of the microprocessor and control its operation</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2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common flag bits are: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2" name="Shape 262"/>
        <p:cNvGrpSpPr/>
        <p:nvPr/>
      </p:nvGrpSpPr>
      <p:grpSpPr>
        <a:xfrm>
          <a:off x="0" y="0"/>
          <a:ext cx="0" cy="0"/>
          <a:chOff x="0" y="0"/>
          <a:chExt cx="0" cy="0"/>
        </a:xfrm>
      </p:grpSpPr>
      <p:sp>
        <p:nvSpPr>
          <p:cNvPr id="263" name="Google Shape;263;p29"/>
          <p:cNvSpPr txBox="1"/>
          <p:nvPr>
            <p:ph type="title"/>
          </p:nvPr>
        </p:nvSpPr>
        <p:spPr>
          <a:xfrm>
            <a:off x="2199513" y="461594"/>
            <a:ext cx="474853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FLAG REGISTER 8086</a:t>
            </a:r>
            <a:endParaRPr sz="4400">
              <a:latin typeface="Calibri"/>
              <a:ea typeface="Calibri"/>
              <a:cs typeface="Calibri"/>
              <a:sym typeface="Calibri"/>
            </a:endParaRPr>
          </a:p>
        </p:txBody>
      </p:sp>
      <p:pic>
        <p:nvPicPr>
          <p:cNvPr id="264" name="Google Shape;264;p29"/>
          <p:cNvPicPr preferRelativeResize="0"/>
          <p:nvPr/>
        </p:nvPicPr>
        <p:blipFill rotWithShape="1">
          <a:blip r:embed="rId3">
            <a:alphaModFix/>
          </a:blip>
          <a:srcRect b="0" l="0" r="0" t="0"/>
          <a:stretch/>
        </p:blipFill>
        <p:spPr>
          <a:xfrm>
            <a:off x="153987" y="1428686"/>
            <a:ext cx="8753475" cy="45006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8" name="Shape 268"/>
        <p:cNvGrpSpPr/>
        <p:nvPr/>
      </p:nvGrpSpPr>
      <p:grpSpPr>
        <a:xfrm>
          <a:off x="0" y="0"/>
          <a:ext cx="0" cy="0"/>
          <a:chOff x="0" y="0"/>
          <a:chExt cx="0" cy="0"/>
        </a:xfrm>
      </p:grpSpPr>
      <p:sp>
        <p:nvSpPr>
          <p:cNvPr id="269" name="Google Shape;269;p30"/>
          <p:cNvSpPr txBox="1"/>
          <p:nvPr/>
        </p:nvSpPr>
        <p:spPr>
          <a:xfrm>
            <a:off x="228600" y="990600"/>
            <a:ext cx="8686800" cy="4123054"/>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Overflow Flag (OF) </a:t>
            </a:r>
            <a:r>
              <a:rPr lang="en-US" sz="2400">
                <a:solidFill>
                  <a:schemeClr val="dk1"/>
                </a:solidFill>
                <a:latin typeface="Times New Roman"/>
                <a:ea typeface="Times New Roman"/>
                <a:cs typeface="Times New Roman"/>
                <a:sym typeface="Times New Roman"/>
              </a:rPr>
              <a:t>− It indicates the overflow of a high-order bit</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10"/>
              </a:spcBef>
              <a:spcAft>
                <a:spcPts val="0"/>
              </a:spcAft>
              <a:buClr>
                <a:schemeClr val="dk1"/>
              </a:buClr>
              <a:buSzPts val="2350"/>
              <a:buFont typeface="Arial"/>
              <a:buNone/>
            </a:pPr>
            <a:r>
              <a:t/>
            </a:r>
            <a:endParaRPr sz="23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(leftmost bit) of data after a signed arithmetic operation.</a:t>
            </a:r>
            <a:endParaRPr sz="2400">
              <a:solidFill>
                <a:schemeClr val="dk1"/>
              </a:solidFill>
              <a:latin typeface="Times New Roman"/>
              <a:ea typeface="Times New Roman"/>
              <a:cs typeface="Times New Roman"/>
              <a:sym typeface="Times New Roman"/>
            </a:endParaRPr>
          </a:p>
          <a:p>
            <a:pPr indent="-342900" lvl="0" marL="355600" marR="5080" rtl="0" algn="just">
              <a:lnSpc>
                <a:spcPct val="200000"/>
              </a:lnSpc>
              <a:spcBef>
                <a:spcPts val="58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Direction Flag (DF) </a:t>
            </a:r>
            <a:r>
              <a:rPr lang="en-US" sz="2400">
                <a:solidFill>
                  <a:schemeClr val="dk1"/>
                </a:solidFill>
                <a:latin typeface="Times New Roman"/>
                <a:ea typeface="Times New Roman"/>
                <a:cs typeface="Times New Roman"/>
                <a:sym typeface="Times New Roman"/>
              </a:rPr>
              <a:t>− It determines left or right direction for  moving or comparing string data. When the DF value is 0, the  string operation takes left-to-right direction and when the value is  set to 1, the string operation takes right-to-left direction.</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sp>
        <p:nvSpPr>
          <p:cNvPr id="274" name="Google Shape;274;p31"/>
          <p:cNvSpPr txBox="1"/>
          <p:nvPr/>
        </p:nvSpPr>
        <p:spPr>
          <a:xfrm>
            <a:off x="120543" y="457200"/>
            <a:ext cx="8975725" cy="5663089"/>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Trap Flag (TF) </a:t>
            </a:r>
            <a:r>
              <a:rPr lang="en-US" sz="2000">
                <a:solidFill>
                  <a:schemeClr val="dk1"/>
                </a:solidFill>
                <a:latin typeface="Times New Roman"/>
                <a:ea typeface="Times New Roman"/>
                <a:cs typeface="Times New Roman"/>
                <a:sym typeface="Times New Roman"/>
              </a:rPr>
              <a:t>− It allows setting the operation of the processor in single-step mode.</a:t>
            </a:r>
            <a:endParaRPr/>
          </a:p>
          <a:p>
            <a:pPr indent="0" lvl="0" marL="355600" marR="671195" rtl="0" algn="just">
              <a:lnSpc>
                <a:spcPct val="200000"/>
              </a:lnSpc>
              <a:spcBef>
                <a:spcPts val="5"/>
              </a:spcBef>
              <a:spcAft>
                <a:spcPts val="0"/>
              </a:spcAft>
              <a:buNone/>
            </a:pPr>
            <a:r>
              <a:rPr lang="en-US" sz="2000">
                <a:solidFill>
                  <a:schemeClr val="dk1"/>
                </a:solidFill>
                <a:latin typeface="Times New Roman"/>
                <a:ea typeface="Times New Roman"/>
                <a:cs typeface="Times New Roman"/>
                <a:sym typeface="Times New Roman"/>
              </a:rPr>
              <a:t>The DEBUG program we used sets the trap flag, so we could step through the  </a:t>
            </a:r>
            <a:r>
              <a:rPr b="1" lang="en-US" sz="2000">
                <a:solidFill>
                  <a:schemeClr val="dk1"/>
                </a:solidFill>
                <a:latin typeface="Times New Roman"/>
                <a:ea typeface="Times New Roman"/>
                <a:cs typeface="Times New Roman"/>
                <a:sym typeface="Times New Roman"/>
              </a:rPr>
              <a:t>execution one instruction at a time.</a:t>
            </a:r>
            <a:endParaRPr b="1" sz="2000">
              <a:solidFill>
                <a:schemeClr val="dk1"/>
              </a:solidFill>
              <a:latin typeface="Times New Roman"/>
              <a:ea typeface="Times New Roman"/>
              <a:cs typeface="Times New Roman"/>
              <a:sym typeface="Times New Roman"/>
            </a:endParaRPr>
          </a:p>
          <a:p>
            <a:pPr indent="-342900" lvl="0" marL="355600" marR="144780" rtl="0" algn="just">
              <a:lnSpc>
                <a:spcPct val="200000"/>
              </a:lnSpc>
              <a:spcBef>
                <a:spcPts val="484"/>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Sign Flag (SF) </a:t>
            </a:r>
            <a:r>
              <a:rPr lang="en-US" sz="2000">
                <a:solidFill>
                  <a:schemeClr val="dk1"/>
                </a:solidFill>
                <a:latin typeface="Times New Roman"/>
                <a:ea typeface="Times New Roman"/>
                <a:cs typeface="Times New Roman"/>
                <a:sym typeface="Times New Roman"/>
              </a:rPr>
              <a:t>− It shows the sign of the result of an arithmetic operation. This flag  is set according to the sign of a data item following the arithmetic operation. The  sign is indicated by the high-order of leftmost bit. </a:t>
            </a:r>
            <a:r>
              <a:rPr lang="en-US" sz="2000">
                <a:solidFill>
                  <a:srgbClr val="FF0000"/>
                </a:solidFill>
                <a:latin typeface="Times New Roman"/>
                <a:ea typeface="Times New Roman"/>
                <a:cs typeface="Times New Roman"/>
                <a:sym typeface="Times New Roman"/>
              </a:rPr>
              <a:t>A positive result clears the value  of SF to 0 and negative result sets it to 1.</a:t>
            </a:r>
            <a:endParaRPr/>
          </a:p>
          <a:p>
            <a:pPr indent="0" lvl="0" marL="0" marR="0" rtl="0" algn="just">
              <a:lnSpc>
                <a:spcPct val="100000"/>
              </a:lnSpc>
              <a:spcBef>
                <a:spcPts val="10"/>
              </a:spcBef>
              <a:spcAft>
                <a:spcPts val="0"/>
              </a:spcAft>
              <a:buClr>
                <a:schemeClr val="dk1"/>
              </a:buClr>
              <a:buSzPts val="2350"/>
              <a:buFont typeface="Arial"/>
              <a:buNone/>
            </a:pPr>
            <a:r>
              <a:t/>
            </a:r>
            <a:endParaRPr sz="235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Zero Flag (ZF) </a:t>
            </a:r>
            <a:r>
              <a:rPr lang="en-US" sz="2000">
                <a:solidFill>
                  <a:schemeClr val="dk1"/>
                </a:solidFill>
                <a:latin typeface="Times New Roman"/>
                <a:ea typeface="Times New Roman"/>
                <a:cs typeface="Times New Roman"/>
                <a:sym typeface="Times New Roman"/>
              </a:rPr>
              <a:t>− It indicates the result of an arithmetic or comparison operation. A</a:t>
            </a:r>
            <a:endParaRPr/>
          </a:p>
          <a:p>
            <a:pPr indent="0" lvl="0" marL="0" marR="0" rtl="0" algn="just">
              <a:lnSpc>
                <a:spcPct val="100000"/>
              </a:lnSpc>
              <a:spcBef>
                <a:spcPts val="20"/>
              </a:spcBef>
              <a:spcAft>
                <a:spcPts val="0"/>
              </a:spcAft>
              <a:buNone/>
            </a:pPr>
            <a:r>
              <a:t/>
            </a:r>
            <a:endParaRPr sz="19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nonzero result clears the zero flag to 0, and a </a:t>
            </a:r>
            <a:r>
              <a:rPr lang="en-US" sz="2000">
                <a:solidFill>
                  <a:srgbClr val="FF0000"/>
                </a:solidFill>
                <a:latin typeface="Times New Roman"/>
                <a:ea typeface="Times New Roman"/>
                <a:cs typeface="Times New Roman"/>
                <a:sym typeface="Times New Roman"/>
              </a:rPr>
              <a:t>zero result sets it to 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8" name="Shape 278"/>
        <p:cNvGrpSpPr/>
        <p:nvPr/>
      </p:nvGrpSpPr>
      <p:grpSpPr>
        <a:xfrm>
          <a:off x="0" y="0"/>
          <a:ext cx="0" cy="0"/>
          <a:chOff x="0" y="0"/>
          <a:chExt cx="0" cy="0"/>
        </a:xfrm>
      </p:grpSpPr>
      <p:sp>
        <p:nvSpPr>
          <p:cNvPr id="279" name="Google Shape;279;p32"/>
          <p:cNvSpPr txBox="1"/>
          <p:nvPr/>
        </p:nvSpPr>
        <p:spPr>
          <a:xfrm>
            <a:off x="535940" y="1557228"/>
            <a:ext cx="7980680" cy="2221230"/>
          </a:xfrm>
          <a:prstGeom prst="rect">
            <a:avLst/>
          </a:prstGeom>
          <a:noFill/>
          <a:ln>
            <a:noFill/>
          </a:ln>
        </p:spPr>
        <p:txBody>
          <a:bodyPr anchorCtr="0" anchor="t" bIns="0" lIns="0" spcFirstLastPara="1" rIns="0" wrap="square" tIns="12700">
            <a:spAutoFit/>
          </a:bodyPr>
          <a:lstStyle/>
          <a:p>
            <a:pPr indent="-343535" lvl="0" marL="355600" marR="5080" rtl="0" algn="just">
              <a:lnSpc>
                <a:spcPct val="150000"/>
              </a:lnSpc>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Interrupt Flag (IF) </a:t>
            </a:r>
            <a:r>
              <a:rPr lang="en-US" sz="2400">
                <a:solidFill>
                  <a:schemeClr val="dk1"/>
                </a:solidFill>
                <a:latin typeface="Times New Roman"/>
                <a:ea typeface="Times New Roman"/>
                <a:cs typeface="Times New Roman"/>
                <a:sym typeface="Times New Roman"/>
              </a:rPr>
              <a:t>− It determines whether the external  interrupts like keyboard entry, etc., are to be ignored or  processed. It disables the external interrupt when the value is  0 and enables interrupts when set to 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33"/>
          <p:cNvSpPr txBox="1"/>
          <p:nvPr/>
        </p:nvSpPr>
        <p:spPr>
          <a:xfrm>
            <a:off x="78739" y="990600"/>
            <a:ext cx="8387715" cy="4750018"/>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Auxiliary Carry Flag (AF) </a:t>
            </a:r>
            <a:r>
              <a:rPr lang="en-US" sz="2000">
                <a:solidFill>
                  <a:schemeClr val="dk1"/>
                </a:solidFill>
                <a:latin typeface="Times New Roman"/>
                <a:ea typeface="Times New Roman"/>
                <a:cs typeface="Times New Roman"/>
                <a:sym typeface="Times New Roman"/>
              </a:rPr>
              <a:t>− It contains the carry from </a:t>
            </a:r>
            <a:r>
              <a:rPr b="1" lang="en-US" sz="2000">
                <a:solidFill>
                  <a:schemeClr val="dk1"/>
                </a:solidFill>
                <a:latin typeface="Times New Roman"/>
                <a:ea typeface="Times New Roman"/>
                <a:cs typeface="Times New Roman"/>
                <a:sym typeface="Times New Roman"/>
              </a:rPr>
              <a:t>bit 3 to bit 4 following an arithmetic operation</a:t>
            </a:r>
            <a:r>
              <a:rPr lang="en-US" sz="2000">
                <a:solidFill>
                  <a:schemeClr val="dk1"/>
                </a:solidFill>
                <a:latin typeface="Times New Roman"/>
                <a:ea typeface="Times New Roman"/>
                <a:cs typeface="Times New Roman"/>
                <a:sym typeface="Times New Roman"/>
              </a:rPr>
              <a:t>; used for specialized arithmetic. The AF is set when a 1-  byte arithmetic operation causes a carry from bit 3 into bit 4.</a:t>
            </a:r>
            <a:endParaRPr/>
          </a:p>
          <a:p>
            <a:pPr indent="-342900" lvl="0" marL="355600" marR="86360" rtl="0" algn="just">
              <a:lnSpc>
                <a:spcPct val="200000"/>
              </a:lnSpc>
              <a:spcBef>
                <a:spcPts val="484"/>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Parity Flag (PF) </a:t>
            </a:r>
            <a:r>
              <a:rPr lang="en-US" sz="2000">
                <a:solidFill>
                  <a:schemeClr val="dk1"/>
                </a:solidFill>
                <a:latin typeface="Times New Roman"/>
                <a:ea typeface="Times New Roman"/>
                <a:cs typeface="Times New Roman"/>
                <a:sym typeface="Times New Roman"/>
              </a:rPr>
              <a:t>− It indicates the total number of 1-bits in the result obtained  from an arithmetic operation. An even number of 1-bits clears the parity flag  to 0 and an </a:t>
            </a:r>
            <a:r>
              <a:rPr b="1" lang="en-US" sz="2000">
                <a:solidFill>
                  <a:schemeClr val="dk1"/>
                </a:solidFill>
                <a:latin typeface="Times New Roman"/>
                <a:ea typeface="Times New Roman"/>
                <a:cs typeface="Times New Roman"/>
                <a:sym typeface="Times New Roman"/>
              </a:rPr>
              <a:t>odd number of 1-bits sets the parity flag to 1</a:t>
            </a:r>
            <a:r>
              <a:rPr lang="en-US" sz="2000">
                <a:solidFill>
                  <a:schemeClr val="dk1"/>
                </a:solidFill>
                <a:latin typeface="Times New Roman"/>
                <a:ea typeface="Times New Roman"/>
                <a:cs typeface="Times New Roman"/>
                <a:sym typeface="Times New Roman"/>
              </a:rPr>
              <a:t>.</a:t>
            </a:r>
            <a:endParaRPr/>
          </a:p>
          <a:p>
            <a:pPr indent="-342900" lvl="0" marL="355600" marR="5080" rtl="0" algn="just">
              <a:lnSpc>
                <a:spcPct val="200100"/>
              </a:lnSpc>
              <a:spcBef>
                <a:spcPts val="475"/>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Carry Flag (CF) </a:t>
            </a:r>
            <a:r>
              <a:rPr lang="en-US" sz="2000">
                <a:solidFill>
                  <a:schemeClr val="dk1"/>
                </a:solidFill>
                <a:latin typeface="Times New Roman"/>
                <a:ea typeface="Times New Roman"/>
                <a:cs typeface="Times New Roman"/>
                <a:sym typeface="Times New Roman"/>
              </a:rPr>
              <a:t>− It contains the carry of 0 or 1 from a high-order bit (leftmost)  after an arithmetic operation. It also stores the contents of last bit of</a:t>
            </a:r>
            <a:endParaRPr sz="2000">
              <a:solidFill>
                <a:schemeClr val="dk1"/>
              </a:solidFill>
              <a:latin typeface="Times New Roman"/>
              <a:ea typeface="Times New Roman"/>
              <a:cs typeface="Times New Roman"/>
              <a:sym typeface="Times New Roman"/>
            </a:endParaRPr>
          </a:p>
          <a:p>
            <a:pPr indent="0" lvl="0" marL="0" marR="0" rtl="0" algn="just">
              <a:lnSpc>
                <a:spcPct val="100000"/>
              </a:lnSpc>
              <a:spcBef>
                <a:spcPts val="20"/>
              </a:spcBef>
              <a:spcAft>
                <a:spcPts val="0"/>
              </a:spcAft>
              <a:buNone/>
            </a:pPr>
            <a:r>
              <a:t/>
            </a:r>
            <a:endParaRPr sz="19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 </a:t>
            </a:r>
            <a:r>
              <a:rPr i="1" lang="en-US" sz="2000">
                <a:solidFill>
                  <a:schemeClr val="dk1"/>
                </a:solidFill>
                <a:latin typeface="Times New Roman"/>
                <a:ea typeface="Times New Roman"/>
                <a:cs typeface="Times New Roman"/>
                <a:sym typeface="Times New Roman"/>
              </a:rPr>
              <a:t>shift </a:t>
            </a:r>
            <a:r>
              <a:rPr lang="en-US" sz="2000">
                <a:solidFill>
                  <a:schemeClr val="dk1"/>
                </a:solidFill>
                <a:latin typeface="Times New Roman"/>
                <a:ea typeface="Times New Roman"/>
                <a:cs typeface="Times New Roman"/>
                <a:sym typeface="Times New Roman"/>
              </a:rPr>
              <a:t>or </a:t>
            </a:r>
            <a:r>
              <a:rPr i="1" lang="en-US" sz="2000">
                <a:solidFill>
                  <a:schemeClr val="dk1"/>
                </a:solidFill>
                <a:latin typeface="Times New Roman"/>
                <a:ea typeface="Times New Roman"/>
                <a:cs typeface="Times New Roman"/>
                <a:sym typeface="Times New Roman"/>
              </a:rPr>
              <a:t>rotate </a:t>
            </a:r>
            <a:r>
              <a:rPr lang="en-US" sz="2000">
                <a:solidFill>
                  <a:schemeClr val="dk1"/>
                </a:solidFill>
                <a:latin typeface="Times New Roman"/>
                <a:ea typeface="Times New Roman"/>
                <a:cs typeface="Times New Roman"/>
                <a:sym typeface="Times New Roman"/>
              </a:rPr>
              <a:t>operation.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8" name="Shape 288"/>
        <p:cNvGrpSpPr/>
        <p:nvPr/>
      </p:nvGrpSpPr>
      <p:grpSpPr>
        <a:xfrm>
          <a:off x="0" y="0"/>
          <a:ext cx="0" cy="0"/>
          <a:chOff x="0" y="0"/>
          <a:chExt cx="0" cy="0"/>
        </a:xfrm>
      </p:grpSpPr>
      <p:sp>
        <p:nvSpPr>
          <p:cNvPr id="289" name="Google Shape;289;p34"/>
          <p:cNvSpPr txBox="1"/>
          <p:nvPr>
            <p:ph type="title"/>
          </p:nvPr>
        </p:nvSpPr>
        <p:spPr>
          <a:xfrm>
            <a:off x="1676400" y="-19451"/>
            <a:ext cx="4569839"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FF0000"/>
              </a:buClr>
              <a:buSzPts val="4300"/>
              <a:buFont typeface="Calibri"/>
              <a:buNone/>
            </a:pPr>
            <a:r>
              <a:rPr b="0" lang="en-US">
                <a:solidFill>
                  <a:srgbClr val="FF0000"/>
                </a:solidFill>
                <a:latin typeface="Calibri"/>
                <a:ea typeface="Calibri"/>
                <a:cs typeface="Calibri"/>
                <a:sym typeface="Calibri"/>
              </a:rPr>
              <a:t>Segment Registers</a:t>
            </a:r>
            <a:endParaRPr/>
          </a:p>
        </p:txBody>
      </p:sp>
      <p:sp>
        <p:nvSpPr>
          <p:cNvPr id="290" name="Google Shape;290;p34"/>
          <p:cNvSpPr txBox="1"/>
          <p:nvPr/>
        </p:nvSpPr>
        <p:spPr>
          <a:xfrm>
            <a:off x="110438" y="914400"/>
            <a:ext cx="8804961" cy="5394425"/>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Segments are specific areas defined in a program for </a:t>
            </a:r>
            <a:r>
              <a:rPr b="1" lang="en-US" sz="2000">
                <a:solidFill>
                  <a:schemeClr val="dk1"/>
                </a:solidFill>
                <a:latin typeface="Times New Roman"/>
                <a:ea typeface="Times New Roman"/>
                <a:cs typeface="Times New Roman"/>
                <a:sym typeface="Times New Roman"/>
              </a:rPr>
              <a:t>containing data, code and</a:t>
            </a:r>
            <a:endParaRPr/>
          </a:p>
          <a:p>
            <a:pPr indent="0" lvl="0" marL="0" marR="0" rtl="0" algn="l">
              <a:lnSpc>
                <a:spcPct val="100000"/>
              </a:lnSpc>
              <a:spcBef>
                <a:spcPts val="20"/>
              </a:spcBef>
              <a:spcAft>
                <a:spcPts val="0"/>
              </a:spcAft>
              <a:buClr>
                <a:schemeClr val="dk1"/>
              </a:buClr>
              <a:buSzPts val="1950"/>
              <a:buFont typeface="Arial"/>
              <a:buNone/>
            </a:pPr>
            <a:r>
              <a:t/>
            </a:r>
            <a:endParaRPr b="1" sz="1950">
              <a:solidFill>
                <a:schemeClr val="dk1"/>
              </a:solidFill>
              <a:latin typeface="Times New Roman"/>
              <a:ea typeface="Times New Roman"/>
              <a:cs typeface="Times New Roman"/>
              <a:sym typeface="Times New Roman"/>
            </a:endParaRPr>
          </a:p>
          <a:p>
            <a:pPr indent="0" lvl="0" marL="355600" marR="0" rtl="0" algn="l">
              <a:lnSpc>
                <a:spcPct val="100000"/>
              </a:lnSpc>
              <a:spcBef>
                <a:spcPts val="0"/>
              </a:spcBef>
              <a:spcAft>
                <a:spcPts val="0"/>
              </a:spcAft>
              <a:buNone/>
            </a:pPr>
            <a:r>
              <a:rPr b="1" lang="en-US" sz="2000">
                <a:solidFill>
                  <a:schemeClr val="dk1"/>
                </a:solidFill>
                <a:latin typeface="Times New Roman"/>
                <a:ea typeface="Times New Roman"/>
                <a:cs typeface="Times New Roman"/>
                <a:sym typeface="Times New Roman"/>
              </a:rPr>
              <a:t>stack</a:t>
            </a:r>
            <a:r>
              <a:rPr lang="en-US" sz="2000">
                <a:solidFill>
                  <a:schemeClr val="dk1"/>
                </a:solidFill>
                <a:latin typeface="Times New Roman"/>
                <a:ea typeface="Times New Roman"/>
                <a:cs typeface="Times New Roman"/>
                <a:sym typeface="Times New Roman"/>
              </a:rPr>
              <a:t>. There are three main segments −</a:t>
            </a:r>
            <a:endParaRPr/>
          </a:p>
          <a:p>
            <a:pPr indent="0" lvl="0" marL="0" marR="0" rtl="0" algn="l">
              <a:lnSpc>
                <a:spcPct val="100000"/>
              </a:lnSpc>
              <a:spcBef>
                <a:spcPts val="10"/>
              </a:spcBef>
              <a:spcAft>
                <a:spcPts val="0"/>
              </a:spcAft>
              <a:buNone/>
            </a:pPr>
            <a:r>
              <a:t/>
            </a:r>
            <a:endParaRPr sz="2350">
              <a:solidFill>
                <a:schemeClr val="dk1"/>
              </a:solidFill>
              <a:latin typeface="Times New Roman"/>
              <a:ea typeface="Times New Roman"/>
              <a:cs typeface="Times New Roman"/>
              <a:sym typeface="Times New Roman"/>
            </a:endParaRPr>
          </a:p>
          <a:p>
            <a:pPr indent="-342900" lvl="0" marL="355600" marR="0" rtl="0" algn="l">
              <a:lnSpc>
                <a:spcPct val="100000"/>
              </a:lnSpc>
              <a:spcBef>
                <a:spcPts val="5"/>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Code Segment </a:t>
            </a:r>
            <a:r>
              <a:rPr lang="en-US" sz="2000">
                <a:solidFill>
                  <a:schemeClr val="dk1"/>
                </a:solidFill>
                <a:latin typeface="Times New Roman"/>
                <a:ea typeface="Times New Roman"/>
                <a:cs typeface="Times New Roman"/>
                <a:sym typeface="Times New Roman"/>
              </a:rPr>
              <a:t>− It contains all the instructions to be executed. A 16-bit Code</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15"/>
              </a:spcBef>
              <a:spcAft>
                <a:spcPts val="0"/>
              </a:spcAft>
              <a:buClr>
                <a:schemeClr val="dk1"/>
              </a:buClr>
              <a:buSzPts val="1950"/>
              <a:buFont typeface="Arial"/>
              <a:buNone/>
            </a:pPr>
            <a:r>
              <a:t/>
            </a:r>
            <a:endParaRPr sz="1950">
              <a:solidFill>
                <a:schemeClr val="dk1"/>
              </a:solidFill>
              <a:latin typeface="Times New Roman"/>
              <a:ea typeface="Times New Roman"/>
              <a:cs typeface="Times New Roman"/>
              <a:sym typeface="Times New Roman"/>
            </a:endParaRPr>
          </a:p>
          <a:p>
            <a:pPr indent="0" lvl="0" marL="355600" marR="0" rtl="0" algn="l">
              <a:lnSpc>
                <a:spcPct val="100000"/>
              </a:lnSpc>
              <a:spcBef>
                <a:spcPts val="5"/>
              </a:spcBef>
              <a:spcAft>
                <a:spcPts val="0"/>
              </a:spcAft>
              <a:buNone/>
            </a:pPr>
            <a:r>
              <a:rPr lang="en-US" sz="2000">
                <a:solidFill>
                  <a:schemeClr val="dk1"/>
                </a:solidFill>
                <a:latin typeface="Times New Roman"/>
                <a:ea typeface="Times New Roman"/>
                <a:cs typeface="Times New Roman"/>
                <a:sym typeface="Times New Roman"/>
              </a:rPr>
              <a:t>Segment register or CS register stores the </a:t>
            </a:r>
            <a:r>
              <a:rPr b="1" lang="en-US" sz="2000">
                <a:solidFill>
                  <a:schemeClr val="dk1"/>
                </a:solidFill>
                <a:latin typeface="Times New Roman"/>
                <a:ea typeface="Times New Roman"/>
                <a:cs typeface="Times New Roman"/>
                <a:sym typeface="Times New Roman"/>
              </a:rPr>
              <a:t>starting address of the code segment</a:t>
            </a:r>
            <a:r>
              <a:rPr lang="en-US"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10"/>
              </a:spcBef>
              <a:spcAft>
                <a:spcPts val="0"/>
              </a:spcAft>
              <a:buNone/>
            </a:pPr>
            <a:r>
              <a:t/>
            </a:r>
            <a:endParaRPr sz="235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Data Segment(DS,ES) </a:t>
            </a:r>
            <a:r>
              <a:rPr lang="en-US" sz="2000">
                <a:solidFill>
                  <a:schemeClr val="dk1"/>
                </a:solidFill>
                <a:latin typeface="Times New Roman"/>
                <a:ea typeface="Times New Roman"/>
                <a:cs typeface="Times New Roman"/>
                <a:sym typeface="Times New Roman"/>
              </a:rPr>
              <a:t>− It contains data, constants and work areas. A 16-bit Data</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chemeClr val="dk1"/>
              </a:buClr>
              <a:buSzPts val="1950"/>
              <a:buFont typeface="Arial"/>
              <a:buNone/>
            </a:pPr>
            <a:r>
              <a:t/>
            </a:r>
            <a:endParaRPr sz="1950">
              <a:solidFill>
                <a:schemeClr val="dk1"/>
              </a:solidFill>
              <a:latin typeface="Times New Roman"/>
              <a:ea typeface="Times New Roman"/>
              <a:cs typeface="Times New Roman"/>
              <a:sym typeface="Times New Roman"/>
            </a:endParaRPr>
          </a:p>
          <a:p>
            <a:pPr indent="0" lvl="0" marL="3556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Segment register or DS register </a:t>
            </a:r>
            <a:r>
              <a:rPr b="1" lang="en-US" sz="2000">
                <a:solidFill>
                  <a:schemeClr val="dk1"/>
                </a:solidFill>
                <a:latin typeface="Times New Roman"/>
                <a:ea typeface="Times New Roman"/>
                <a:cs typeface="Times New Roman"/>
                <a:sym typeface="Times New Roman"/>
              </a:rPr>
              <a:t>stores the starting address of the data segment.</a:t>
            </a:r>
            <a:endParaRPr b="1" sz="2000">
              <a:solidFill>
                <a:schemeClr val="dk1"/>
              </a:solidFill>
              <a:latin typeface="Times New Roman"/>
              <a:ea typeface="Times New Roman"/>
              <a:cs typeface="Times New Roman"/>
              <a:sym typeface="Times New Roman"/>
            </a:endParaRPr>
          </a:p>
          <a:p>
            <a:pPr indent="-342900" lvl="0" marL="355600" marR="387985" rtl="0" algn="l">
              <a:lnSpc>
                <a:spcPct val="200100"/>
              </a:lnSpc>
              <a:spcBef>
                <a:spcPts val="48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Stack Segment </a:t>
            </a:r>
            <a:r>
              <a:rPr lang="en-US" sz="2000">
                <a:solidFill>
                  <a:schemeClr val="dk1"/>
                </a:solidFill>
                <a:latin typeface="Times New Roman"/>
                <a:ea typeface="Times New Roman"/>
                <a:cs typeface="Times New Roman"/>
                <a:sym typeface="Times New Roman"/>
              </a:rPr>
              <a:t>− It contains data and return addresses of procedures or  subroutines. It is implemented as a 'stack' data structure. The Stack Segment  register or SS register </a:t>
            </a:r>
            <a:r>
              <a:rPr b="1" lang="en-US" sz="2000">
                <a:solidFill>
                  <a:schemeClr val="dk1"/>
                </a:solidFill>
                <a:latin typeface="Times New Roman"/>
                <a:ea typeface="Times New Roman"/>
                <a:cs typeface="Times New Roman"/>
                <a:sym typeface="Times New Roman"/>
              </a:rPr>
              <a:t>stores the starting address of the stack.</a:t>
            </a:r>
            <a:endParaRPr b="1" sz="20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4" name="Shape 294"/>
        <p:cNvGrpSpPr/>
        <p:nvPr/>
      </p:nvGrpSpPr>
      <p:grpSpPr>
        <a:xfrm>
          <a:off x="0" y="0"/>
          <a:ext cx="0" cy="0"/>
          <a:chOff x="0" y="0"/>
          <a:chExt cx="0" cy="0"/>
        </a:xfrm>
      </p:grpSpPr>
      <p:sp>
        <p:nvSpPr>
          <p:cNvPr id="295" name="Google Shape;295;p35"/>
          <p:cNvSpPr txBox="1"/>
          <p:nvPr>
            <p:ph type="title"/>
          </p:nvPr>
        </p:nvSpPr>
        <p:spPr>
          <a:xfrm>
            <a:off x="685800" y="311034"/>
            <a:ext cx="7391400" cy="998350"/>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562214"/>
              </a:buClr>
              <a:buSzPts val="3200"/>
              <a:buFont typeface="Gill Sans"/>
              <a:buNone/>
            </a:pPr>
            <a:r>
              <a:rPr lang="en-US" sz="3200"/>
              <a:t>INSTRUCTION FORMAT</a:t>
            </a:r>
            <a:endParaRPr sz="3200"/>
          </a:p>
          <a:p>
            <a:pPr indent="0" lvl="0" marL="2223135" rtl="0" algn="ctr">
              <a:lnSpc>
                <a:spcPct val="100000"/>
              </a:lnSpc>
              <a:spcBef>
                <a:spcPts val="0"/>
              </a:spcBef>
              <a:spcAft>
                <a:spcPts val="0"/>
              </a:spcAft>
              <a:buClr>
                <a:srgbClr val="562214"/>
              </a:buClr>
              <a:buSzPts val="3200"/>
              <a:buFont typeface="Gill Sans"/>
              <a:buNone/>
            </a:pPr>
            <a:r>
              <a:rPr lang="en-US" sz="3200"/>
              <a:t>(PENTIUM)</a:t>
            </a:r>
            <a:endParaRPr/>
          </a:p>
        </p:txBody>
      </p:sp>
      <p:sp>
        <p:nvSpPr>
          <p:cNvPr id="296" name="Google Shape;296;p35"/>
          <p:cNvSpPr txBox="1"/>
          <p:nvPr/>
        </p:nvSpPr>
        <p:spPr>
          <a:xfrm>
            <a:off x="228600" y="1524723"/>
            <a:ext cx="8534400" cy="5128455"/>
          </a:xfrm>
          <a:prstGeom prst="rect">
            <a:avLst/>
          </a:prstGeom>
          <a:noFill/>
          <a:ln>
            <a:noFill/>
          </a:ln>
        </p:spPr>
        <p:txBody>
          <a:bodyPr anchorCtr="0" anchor="t" bIns="0" lIns="0" spcFirstLastPara="1" rIns="0" wrap="square" tIns="98425">
            <a:spAutoFit/>
          </a:bodyPr>
          <a:lstStyle/>
          <a:p>
            <a:pPr indent="-343535"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An instruction format defines the </a:t>
            </a:r>
            <a:r>
              <a:rPr lang="en-US" sz="2800">
                <a:solidFill>
                  <a:srgbClr val="FF0000"/>
                </a:solidFill>
                <a:latin typeface="Times New Roman"/>
                <a:ea typeface="Times New Roman"/>
                <a:cs typeface="Times New Roman"/>
                <a:sym typeface="Times New Roman"/>
              </a:rPr>
              <a:t>layout of the bits of an instruction, in terms of its constituent fields</a:t>
            </a:r>
            <a:endParaRPr/>
          </a:p>
          <a:p>
            <a:pPr indent="-343535" lvl="0" marL="355600" marR="0" rtl="0" algn="l">
              <a:lnSpc>
                <a:spcPct val="100000"/>
              </a:lnSpc>
              <a:spcBef>
                <a:spcPts val="67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Opcodes-Operation Code</a:t>
            </a:r>
            <a:endParaRPr sz="2800">
              <a:solidFill>
                <a:schemeClr val="dk1"/>
              </a:solidFill>
              <a:latin typeface="Times New Roman"/>
              <a:ea typeface="Times New Roman"/>
              <a:cs typeface="Times New Roman"/>
              <a:sym typeface="Times New Roman"/>
            </a:endParaRPr>
          </a:p>
          <a:p>
            <a:pPr indent="-343535" lvl="0" marL="355600" marR="0" rtl="0" algn="l">
              <a:lnSpc>
                <a:spcPct val="100000"/>
              </a:lnSpc>
              <a:spcBef>
                <a:spcPts val="67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Operands-Data</a:t>
            </a:r>
            <a:endParaRPr sz="2800">
              <a:solidFill>
                <a:schemeClr val="dk1"/>
              </a:solidFill>
              <a:latin typeface="Times New Roman"/>
              <a:ea typeface="Times New Roman"/>
              <a:cs typeface="Times New Roman"/>
              <a:sym typeface="Times New Roman"/>
            </a:endParaRPr>
          </a:p>
          <a:p>
            <a:pPr indent="0" lvl="0" marL="12700" marR="0" rtl="0" algn="l">
              <a:lnSpc>
                <a:spcPct val="100000"/>
              </a:lnSpc>
              <a:spcBef>
                <a:spcPts val="700"/>
              </a:spcBef>
              <a:spcAft>
                <a:spcPts val="0"/>
              </a:spcAft>
              <a:buNone/>
            </a:pPr>
            <a:r>
              <a:rPr lang="en-US" sz="2800">
                <a:solidFill>
                  <a:schemeClr val="dk1"/>
                </a:solidFill>
                <a:latin typeface="Times New Roman"/>
                <a:ea typeface="Times New Roman"/>
                <a:cs typeface="Times New Roman"/>
                <a:sym typeface="Times New Roman"/>
              </a:rPr>
              <a:t></a:t>
            </a:r>
            <a:r>
              <a:rPr b="1" lang="en-US" sz="2800">
                <a:solidFill>
                  <a:schemeClr val="dk1"/>
                </a:solidFill>
                <a:latin typeface="Times New Roman"/>
                <a:ea typeface="Times New Roman"/>
                <a:cs typeface="Times New Roman"/>
                <a:sym typeface="Times New Roman"/>
              </a:rPr>
              <a:t>Instruction=Opcodes+Operands.</a:t>
            </a:r>
            <a:endParaRPr sz="2800">
              <a:solidFill>
                <a:srgbClr val="FF0000"/>
              </a:solidFill>
              <a:latin typeface="Times New Roman"/>
              <a:ea typeface="Times New Roman"/>
              <a:cs typeface="Times New Roman"/>
              <a:sym typeface="Times New Roman"/>
            </a:endParaRPr>
          </a:p>
          <a:p>
            <a:pPr indent="-343535" lvl="0" marL="355600" marR="0" rtl="0" algn="l">
              <a:lnSpc>
                <a:spcPct val="100000"/>
              </a:lnSpc>
              <a:spcBef>
                <a:spcPts val="77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Instruction :- MOV A (Destination),B(Source)</a:t>
            </a:r>
            <a:endParaRPr sz="2800">
              <a:solidFill>
                <a:schemeClr val="dk1"/>
              </a:solidFill>
              <a:latin typeface="Times New Roman"/>
              <a:ea typeface="Times New Roman"/>
              <a:cs typeface="Times New Roman"/>
              <a:sym typeface="Times New Roman"/>
            </a:endParaRPr>
          </a:p>
          <a:p>
            <a:pPr indent="-343535" lvl="0" marL="355600" marR="0" rtl="0" algn="ctr">
              <a:lnSpc>
                <a:spcPct val="100000"/>
              </a:lnSpc>
              <a:spcBef>
                <a:spcPts val="67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Examples:</a:t>
            </a:r>
            <a:endParaRPr sz="2800">
              <a:solidFill>
                <a:schemeClr val="dk1"/>
              </a:solidFill>
              <a:latin typeface="Times New Roman"/>
              <a:ea typeface="Times New Roman"/>
              <a:cs typeface="Times New Roman"/>
              <a:sym typeface="Times New Roman"/>
            </a:endParaRPr>
          </a:p>
          <a:p>
            <a:pPr indent="0" lvl="0" marL="12700" marR="5072380" rtl="0" algn="r">
              <a:lnSpc>
                <a:spcPct val="120000"/>
              </a:lnSpc>
              <a:spcBef>
                <a:spcPts val="0"/>
              </a:spcBef>
              <a:spcAft>
                <a:spcPts val="0"/>
              </a:spcAft>
              <a:buNone/>
            </a:pPr>
            <a:r>
              <a:rPr lang="en-US" sz="2800">
                <a:solidFill>
                  <a:schemeClr val="dk1"/>
                </a:solidFill>
                <a:latin typeface="Times New Roman"/>
                <a:ea typeface="Times New Roman"/>
                <a:cs typeface="Times New Roman"/>
                <a:sym typeface="Times New Roman"/>
              </a:rPr>
              <a:t>MOV AX,BX  Add AX,4  JMP</a:t>
            </a:r>
            <a:endParaRPr sz="2800">
              <a:solidFill>
                <a:schemeClr val="dk1"/>
              </a:solidFill>
              <a:latin typeface="Times New Roman"/>
              <a:ea typeface="Times New Roman"/>
              <a:cs typeface="Times New Roman"/>
              <a:sym typeface="Times New Roman"/>
            </a:endParaRPr>
          </a:p>
          <a:p>
            <a:pPr indent="0" lvl="0" marL="12700" marR="5072380" rtl="0" algn="r">
              <a:lnSpc>
                <a:spcPct val="120000"/>
              </a:lnSpc>
              <a:spcBef>
                <a:spcPts val="0"/>
              </a:spcBef>
              <a:spcAft>
                <a:spcPts val="0"/>
              </a:spcAft>
              <a:buNone/>
            </a:pPr>
            <a:r>
              <a:rPr lang="en-US" sz="2800">
                <a:solidFill>
                  <a:schemeClr val="dk1"/>
                </a:solidFill>
                <a:latin typeface="Times New Roman"/>
                <a:ea typeface="Times New Roman"/>
                <a:cs typeface="Times New Roman"/>
                <a:sym typeface="Times New Roman"/>
              </a:rPr>
              <a:t>MUL 3,5</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sp>
        <p:nvSpPr>
          <p:cNvPr id="301" name="Google Shape;301;p36"/>
          <p:cNvSpPr txBox="1"/>
          <p:nvPr>
            <p:ph type="title"/>
          </p:nvPr>
        </p:nvSpPr>
        <p:spPr>
          <a:xfrm>
            <a:off x="2334005" y="557255"/>
            <a:ext cx="4474845" cy="505908"/>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3200"/>
              <a:buFont typeface="Calibri"/>
              <a:buNone/>
            </a:pPr>
            <a:r>
              <a:rPr b="0" lang="en-US" sz="3200">
                <a:latin typeface="Calibri"/>
                <a:ea typeface="Calibri"/>
                <a:cs typeface="Calibri"/>
                <a:sym typeface="Calibri"/>
              </a:rPr>
              <a:t>Instruction Formats</a:t>
            </a:r>
            <a:endParaRPr sz="3200">
              <a:latin typeface="Calibri"/>
              <a:ea typeface="Calibri"/>
              <a:cs typeface="Calibri"/>
              <a:sym typeface="Calibri"/>
            </a:endParaRPr>
          </a:p>
        </p:txBody>
      </p:sp>
      <p:sp>
        <p:nvSpPr>
          <p:cNvPr id="302" name="Google Shape;302;p36"/>
          <p:cNvSpPr txBox="1"/>
          <p:nvPr/>
        </p:nvSpPr>
        <p:spPr>
          <a:xfrm>
            <a:off x="535940" y="1143000"/>
            <a:ext cx="8150860" cy="1896673"/>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Layout of bits in an instruction</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Includes </a:t>
            </a:r>
            <a:r>
              <a:rPr b="1" lang="en-US" sz="2400">
                <a:solidFill>
                  <a:schemeClr val="dk1"/>
                </a:solidFill>
                <a:latin typeface="Times New Roman"/>
                <a:ea typeface="Times New Roman"/>
                <a:cs typeface="Times New Roman"/>
                <a:sym typeface="Times New Roman"/>
              </a:rPr>
              <a:t>opcode</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7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Includes (implicit or explicit) </a:t>
            </a:r>
            <a:r>
              <a:rPr b="1" lang="en-US" sz="2400">
                <a:solidFill>
                  <a:schemeClr val="dk1"/>
                </a:solidFill>
                <a:latin typeface="Times New Roman"/>
                <a:ea typeface="Times New Roman"/>
                <a:cs typeface="Times New Roman"/>
                <a:sym typeface="Times New Roman"/>
              </a:rPr>
              <a:t>operand(s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43535" lvl="0" marL="355600" marR="5080" rtl="0" algn="l">
              <a:lnSpc>
                <a:spcPct val="100000"/>
              </a:lnSpc>
              <a:spcBef>
                <a:spcPts val="7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Usually more than one instruction format in  an instruction set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1981201" y="461594"/>
            <a:ext cx="4674742"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Length</a:t>
            </a:r>
            <a:endParaRPr sz="4400">
              <a:latin typeface="Calibri"/>
              <a:ea typeface="Calibri"/>
              <a:cs typeface="Calibri"/>
              <a:sym typeface="Calibri"/>
            </a:endParaRPr>
          </a:p>
        </p:txBody>
      </p:sp>
      <p:sp>
        <p:nvSpPr>
          <p:cNvPr id="308" name="Google Shape;308;p37"/>
          <p:cNvSpPr txBox="1"/>
          <p:nvPr/>
        </p:nvSpPr>
        <p:spPr>
          <a:xfrm>
            <a:off x="304800" y="1143000"/>
            <a:ext cx="8382000" cy="6318395"/>
          </a:xfrm>
          <a:prstGeom prst="rect">
            <a:avLst/>
          </a:prstGeom>
          <a:noFill/>
          <a:ln>
            <a:noFill/>
          </a:ln>
        </p:spPr>
        <p:txBody>
          <a:bodyPr anchorCtr="0" anchor="t" bIns="0" lIns="0" spcFirstLastPara="1" rIns="0" wrap="square" tIns="64750">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Affected by and affects:</a:t>
            </a:r>
            <a:endParaRPr sz="24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5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size</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organization</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4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Bus structure</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complexity</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speed</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25"/>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b="1" lang="en-US" sz="2400">
                <a:solidFill>
                  <a:schemeClr val="dk1"/>
                </a:solidFill>
                <a:latin typeface="Times New Roman"/>
                <a:ea typeface="Times New Roman"/>
                <a:cs typeface="Times New Roman"/>
                <a:sym typeface="Times New Roman"/>
              </a:rPr>
              <a:t>User wants more	opcodes, operands (</a:t>
            </a:r>
            <a:r>
              <a:rPr lang="en-US" sz="2400">
                <a:solidFill>
                  <a:schemeClr val="dk1"/>
                </a:solidFill>
                <a:latin typeface="Times New Roman"/>
                <a:ea typeface="Times New Roman"/>
                <a:cs typeface="Times New Roman"/>
                <a:sym typeface="Times New Roman"/>
              </a:rPr>
              <a:t>greater flexibility in implementing certain functions</a:t>
            </a:r>
            <a:r>
              <a:rPr b="1" lang="en-US" sz="2400">
                <a:solidFill>
                  <a:schemeClr val="dk1"/>
                </a:solidFill>
                <a:latin typeface="Times New Roman"/>
                <a:ea typeface="Times New Roman"/>
                <a:cs typeface="Times New Roman"/>
                <a:sym typeface="Times New Roman"/>
              </a:rPr>
              <a:t>), addressing  modes , address range</a:t>
            </a:r>
            <a:endParaRPr b="1"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All of these things (opcodes, operands, addressing</a:t>
            </a:r>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modes, address range) require bits and push in the direction of longer instruction length-more space</a:t>
            </a:r>
            <a:endParaRPr/>
          </a:p>
          <a:p>
            <a:pPr indent="0" lvl="0" marL="469900" marR="5080" rtl="0" algn="just">
              <a:lnSpc>
                <a:spcPct val="1258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2" name="Shape 312"/>
        <p:cNvGrpSpPr/>
        <p:nvPr/>
      </p:nvGrpSpPr>
      <p:grpSpPr>
        <a:xfrm>
          <a:off x="0" y="0"/>
          <a:ext cx="0" cy="0"/>
          <a:chOff x="0" y="0"/>
          <a:chExt cx="0" cy="0"/>
        </a:xfrm>
      </p:grpSpPr>
      <p:sp>
        <p:nvSpPr>
          <p:cNvPr id="313" name="Google Shape;313;p38"/>
          <p:cNvSpPr txBox="1"/>
          <p:nvPr>
            <p:ph type="title"/>
          </p:nvPr>
        </p:nvSpPr>
        <p:spPr>
          <a:xfrm>
            <a:off x="2641854" y="461594"/>
            <a:ext cx="38633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Allocation of Bits</a:t>
            </a:r>
            <a:endParaRPr sz="4400">
              <a:latin typeface="Calibri"/>
              <a:ea typeface="Calibri"/>
              <a:cs typeface="Calibri"/>
              <a:sym typeface="Calibri"/>
            </a:endParaRPr>
          </a:p>
        </p:txBody>
      </p:sp>
      <p:sp>
        <p:nvSpPr>
          <p:cNvPr id="314" name="Google Shape;314;p38"/>
          <p:cNvSpPr txBox="1"/>
          <p:nvPr/>
        </p:nvSpPr>
        <p:spPr>
          <a:xfrm>
            <a:off x="152400" y="1143000"/>
            <a:ext cx="8686800" cy="5220660"/>
          </a:xfrm>
          <a:prstGeom prst="rect">
            <a:avLst/>
          </a:prstGeom>
          <a:noFill/>
          <a:ln>
            <a:noFill/>
          </a:ln>
        </p:spPr>
        <p:txBody>
          <a:bodyPr anchorCtr="0" anchor="t" bIns="0" lIns="0" spcFirstLastPara="1" rIns="0" wrap="square" tIns="110475">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addressing modes-</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operands</a:t>
            </a:r>
            <a:endParaRPr sz="2400">
              <a:solidFill>
                <a:schemeClr val="dk1"/>
              </a:solidFill>
              <a:latin typeface="Times New Roman"/>
              <a:ea typeface="Times New Roman"/>
              <a:cs typeface="Times New Roman"/>
              <a:sym typeface="Times New Roman"/>
            </a:endParaRPr>
          </a:p>
          <a:p>
            <a:pPr indent="-191135" lvl="0" marL="355600" marR="0" rtl="0" algn="just">
              <a:lnSpc>
                <a:spcPct val="100000"/>
              </a:lnSpc>
              <a:spcBef>
                <a:spcPts val="76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765"/>
              </a:spcBef>
              <a:spcAft>
                <a:spcPts val="0"/>
              </a:spcAft>
              <a:buNone/>
            </a:pPr>
            <a:r>
              <a:t/>
            </a:r>
            <a:endParaRPr sz="2400">
              <a:solidFill>
                <a:schemeClr val="dk1"/>
              </a:solidFill>
              <a:latin typeface="Times New Roman"/>
              <a:ea typeface="Times New Roman"/>
              <a:cs typeface="Times New Roman"/>
              <a:sym typeface="Times New Roman"/>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Register versus memory-A machine must have registers so that data can be brought into the processor for processing. The more that registers can be used for operand references, the fewer bits are needed</a:t>
            </a:r>
            <a:endParaRPr/>
          </a:p>
          <a:p>
            <a:pPr indent="0" lvl="0" marL="0" marR="0" rtl="0" algn="just">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register sets-Some architectures, including that of the x86, have a collection of two or more specialized sets (data &amp; addressing). a functional split requires fewer bits to be used in the instruction.</a:t>
            </a:r>
            <a:endParaRPr/>
          </a:p>
          <a:p>
            <a:pPr indent="0" lvl="0" marL="0" marR="0" rtl="0" algn="just">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320" name="Google Shape;320;p39"/>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Address range-the range of addresses that can be referenced is related to the number of address bits. it is still convenient to allow rather large displacements from the register address, which requires a relatively large number of address bits in the instruction.</a:t>
            </a:r>
            <a:endParaRPr/>
          </a:p>
          <a:p>
            <a:pPr indent="-283464"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Address Granularity-In a system with 16- or 32-bit words, an address can reference a word or a byte at the designer’s choice. Byte addressing is convenient for character manipulation but requires, for a fixed size memory, more address bits.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4" name="Shape 324"/>
        <p:cNvGrpSpPr/>
        <p:nvPr/>
      </p:nvGrpSpPr>
      <p:grpSpPr>
        <a:xfrm>
          <a:off x="0" y="0"/>
          <a:ext cx="0" cy="0"/>
          <a:chOff x="0" y="0"/>
          <a:chExt cx="0" cy="0"/>
        </a:xfrm>
      </p:grpSpPr>
      <p:sp>
        <p:nvSpPr>
          <p:cNvPr id="325" name="Google Shape;325;p40"/>
          <p:cNvSpPr txBox="1"/>
          <p:nvPr>
            <p:ph type="title"/>
          </p:nvPr>
        </p:nvSpPr>
        <p:spPr>
          <a:xfrm>
            <a:off x="1429892" y="461594"/>
            <a:ext cx="629031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pic>
        <p:nvPicPr>
          <p:cNvPr id="326" name="Google Shape;326;p40"/>
          <p:cNvPicPr preferRelativeResize="0"/>
          <p:nvPr/>
        </p:nvPicPr>
        <p:blipFill rotWithShape="1">
          <a:blip r:embed="rId3">
            <a:alphaModFix/>
          </a:blip>
          <a:srcRect b="0" l="0" r="0" t="0"/>
          <a:stretch/>
        </p:blipFill>
        <p:spPr>
          <a:xfrm>
            <a:off x="0" y="1092200"/>
            <a:ext cx="8893174" cy="5632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1"/>
          <p:cNvSpPr txBox="1"/>
          <p:nvPr>
            <p:ph type="title"/>
          </p:nvPr>
        </p:nvSpPr>
        <p:spPr>
          <a:xfrm>
            <a:off x="533400" y="274638"/>
            <a:ext cx="84002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332" name="Google Shape;332;p41"/>
          <p:cNvSpPr txBox="1"/>
          <p:nvPr>
            <p:ph idx="1" type="body"/>
          </p:nvPr>
        </p:nvSpPr>
        <p:spPr>
          <a:xfrm>
            <a:off x="0" y="1371600"/>
            <a:ext cx="8839200" cy="4800600"/>
          </a:xfrm>
          <a:prstGeom prst="rect">
            <a:avLst/>
          </a:prstGeom>
          <a:noFill/>
          <a:ln>
            <a:noFill/>
          </a:ln>
        </p:spPr>
        <p:txBody>
          <a:bodyPr anchorCtr="0" anchor="t" bIns="45700" lIns="91425" spcFirstLastPara="1" rIns="91425" wrap="square" tIns="45700">
            <a:normAutofit fontScale="92500"/>
          </a:bodyPr>
          <a:lstStyle/>
          <a:p>
            <a:pPr indent="-283464" lvl="0" marL="365760" rtl="0" algn="just">
              <a:lnSpc>
                <a:spcPct val="100000"/>
              </a:lnSpc>
              <a:spcBef>
                <a:spcPts val="0"/>
              </a:spcBef>
              <a:spcAft>
                <a:spcPts val="0"/>
              </a:spcAft>
              <a:buSzPct val="80000"/>
              <a:buChar char="⚫"/>
            </a:pPr>
            <a:r>
              <a:rPr lang="en-US" sz="2400">
                <a:latin typeface="Times New Roman"/>
                <a:ea typeface="Times New Roman"/>
                <a:cs typeface="Times New Roman"/>
                <a:sym typeface="Times New Roman"/>
              </a:rPr>
              <a:t>Instructions are made up of from zero to four optional instruction prefixes, a 1- or 2-byte opcode, an optional address specifier (which consists of the ModR/m byte and the Scale Index byte) an optional displacement, and an optional immediate field.</a:t>
            </a:r>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343535" lvl="0" marL="355600" rtl="0" algn="just">
              <a:lnSpc>
                <a:spcPct val="100000"/>
              </a:lnSpc>
              <a:spcBef>
                <a:spcPts val="95"/>
              </a:spcBef>
              <a:spcAft>
                <a:spcPts val="0"/>
              </a:spcAft>
              <a:buSzPct val="80000"/>
              <a:buFont typeface="Arial"/>
              <a:buChar char="•"/>
            </a:pPr>
            <a:r>
              <a:rPr b="1" lang="en-US" sz="2400">
                <a:latin typeface="Times New Roman"/>
                <a:ea typeface="Times New Roman"/>
                <a:cs typeface="Times New Roman"/>
                <a:sym typeface="Times New Roman"/>
              </a:rPr>
              <a:t>Instruction Prefixes</a:t>
            </a: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LOCK </a:t>
            </a:r>
            <a:r>
              <a:rPr lang="en-US" sz="2400">
                <a:latin typeface="Times New Roman"/>
                <a:ea typeface="Times New Roman"/>
                <a:cs typeface="Times New Roman"/>
                <a:sym typeface="Times New Roman"/>
              </a:rPr>
              <a:t>prefix (ensure the use of shared memory in multiprocessor environments.) or one of the </a:t>
            </a:r>
            <a:r>
              <a:rPr b="1" lang="en-US" sz="2400">
                <a:latin typeface="Times New Roman"/>
                <a:ea typeface="Times New Roman"/>
                <a:cs typeface="Times New Roman"/>
                <a:sym typeface="Times New Roman"/>
              </a:rPr>
              <a:t>REPEAT </a:t>
            </a:r>
            <a:r>
              <a:rPr lang="en-US" sz="2400">
                <a:latin typeface="Times New Roman"/>
                <a:ea typeface="Times New Roman"/>
                <a:cs typeface="Times New Roman"/>
                <a:sym typeface="Times New Roman"/>
              </a:rPr>
              <a:t>prefixes(REP,REPE,REPNE,REPZ,REPNZ…. specify repeated operation of a string, which enables the x86 to process strings much faster)</a:t>
            </a:r>
            <a:endParaRPr/>
          </a:p>
          <a:p>
            <a:pPr indent="-202564" lvl="1" marL="629920" rtl="0" algn="just">
              <a:lnSpc>
                <a:spcPct val="100000"/>
              </a:lnSpc>
              <a:spcBef>
                <a:spcPts val="95"/>
              </a:spcBef>
              <a:spcAft>
                <a:spcPts val="0"/>
              </a:spcAft>
              <a:buSzPct val="100000"/>
              <a:buFont typeface="Arial"/>
              <a:buNone/>
            </a:pPr>
            <a:r>
              <a:t/>
            </a:r>
            <a:endParaRPr sz="2400">
              <a:latin typeface="Times New Roman"/>
              <a:ea typeface="Times New Roman"/>
              <a:cs typeface="Times New Roman"/>
              <a:sym typeface="Times New Roman"/>
            </a:endParaRPr>
          </a:p>
          <a:p>
            <a:pPr indent="-170687" lvl="0" marL="365760" rtl="0" algn="just">
              <a:lnSpc>
                <a:spcPct val="100000"/>
              </a:lnSpc>
              <a:spcBef>
                <a:spcPts val="10"/>
              </a:spcBef>
              <a:spcAft>
                <a:spcPts val="0"/>
              </a:spcAft>
              <a:buSzPct val="80000"/>
              <a:buNone/>
            </a:pPr>
            <a:r>
              <a:t/>
            </a:r>
            <a:endParaRPr sz="2400">
              <a:latin typeface="Times New Roman"/>
              <a:ea typeface="Times New Roman"/>
              <a:cs typeface="Times New Roman"/>
              <a:sym typeface="Times New Roman"/>
            </a:endParaRPr>
          </a:p>
          <a:p>
            <a:pPr indent="-343535" lvl="0" marL="355600" rtl="0" algn="just">
              <a:lnSpc>
                <a:spcPct val="100000"/>
              </a:lnSpc>
              <a:spcBef>
                <a:spcPts val="5"/>
              </a:spcBef>
              <a:spcAft>
                <a:spcPts val="0"/>
              </a:spcAft>
              <a:buSzPct val="80000"/>
              <a:buFont typeface="Arial"/>
              <a:buChar char="•"/>
            </a:pPr>
            <a:r>
              <a:rPr b="1" lang="en-US" sz="2400">
                <a:latin typeface="Times New Roman"/>
                <a:ea typeface="Times New Roman"/>
                <a:cs typeface="Times New Roman"/>
                <a:sym typeface="Times New Roman"/>
              </a:rPr>
              <a:t>Segment Override</a:t>
            </a:r>
            <a:r>
              <a:rPr lang="en-US" sz="2400">
                <a:latin typeface="Times New Roman"/>
                <a:ea typeface="Times New Roman"/>
                <a:cs typeface="Times New Roman"/>
                <a:sym typeface="Times New Roman"/>
              </a:rPr>
              <a:t>-explicitly specifies which segment register an instruction should use</a:t>
            </a:r>
            <a:endParaRPr sz="2400">
              <a:latin typeface="Times New Roman"/>
              <a:ea typeface="Times New Roman"/>
              <a:cs typeface="Times New Roman"/>
              <a:sym typeface="Times New Roman"/>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798982" y="461594"/>
            <a:ext cx="75520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sp>
        <p:nvSpPr>
          <p:cNvPr id="338" name="Google Shape;338;p42"/>
          <p:cNvSpPr txBox="1"/>
          <p:nvPr/>
        </p:nvSpPr>
        <p:spPr>
          <a:xfrm>
            <a:off x="304800" y="1831670"/>
            <a:ext cx="8382000" cy="3844001"/>
          </a:xfrm>
          <a:prstGeom prst="rect">
            <a:avLst/>
          </a:prstGeom>
          <a:noFill/>
          <a:ln>
            <a:noFill/>
          </a:ln>
        </p:spPr>
        <p:txBody>
          <a:bodyPr anchorCtr="0" anchor="t" bIns="0" lIns="0" spcFirstLastPara="1" rIns="0" wrap="square" tIns="12050">
            <a:spAutoFit/>
          </a:bodyPr>
          <a:lstStyle/>
          <a:p>
            <a:pPr indent="0" lvl="0" marL="0" marR="0" rtl="0" algn="just">
              <a:lnSpc>
                <a:spcPct val="100000"/>
              </a:lnSpc>
              <a:spcBef>
                <a:spcPts val="0"/>
              </a:spcBef>
              <a:spcAft>
                <a:spcPts val="0"/>
              </a:spcAft>
              <a:buClr>
                <a:schemeClr val="dk1"/>
              </a:buClr>
              <a:buSzPts val="2450"/>
              <a:buFont typeface="Arial"/>
              <a:buNone/>
            </a:pPr>
            <a:r>
              <a:t/>
            </a:r>
            <a:endParaRPr sz="2450">
              <a:solidFill>
                <a:schemeClr val="dk1"/>
              </a:solidFill>
              <a:latin typeface="Times New Roman"/>
              <a:ea typeface="Times New Roman"/>
              <a:cs typeface="Times New Roman"/>
              <a:sym typeface="Times New Roman"/>
            </a:endParaRPr>
          </a:p>
          <a:p>
            <a:pPr indent="-343535" lvl="0" marL="355600" marR="0" rtl="0" algn="just">
              <a:spcBef>
                <a:spcPts val="0"/>
              </a:spcBef>
              <a:spcAft>
                <a:spcPts val="0"/>
              </a:spcAft>
              <a:buClr>
                <a:schemeClr val="dk1"/>
              </a:buClr>
              <a:buSzPts val="2500"/>
              <a:buFont typeface="Arial"/>
              <a:buChar char="•"/>
            </a:pPr>
            <a:r>
              <a:rPr b="1" lang="en-US" sz="2500">
                <a:solidFill>
                  <a:schemeClr val="dk1"/>
                </a:solidFill>
                <a:latin typeface="Times New Roman"/>
                <a:ea typeface="Times New Roman"/>
                <a:cs typeface="Times New Roman"/>
                <a:sym typeface="Times New Roman"/>
              </a:rPr>
              <a:t>Address Size</a:t>
            </a:r>
            <a:r>
              <a:rPr lang="en-US" sz="2500">
                <a:solidFill>
                  <a:schemeClr val="dk1"/>
                </a:solidFill>
                <a:latin typeface="Times New Roman"/>
                <a:ea typeface="Times New Roman"/>
                <a:cs typeface="Times New Roman"/>
                <a:sym typeface="Times New Roman"/>
              </a:rPr>
              <a:t>-16 or 32 bit (switch)-either 16- or 32-bit addresses. The address size determines the displacement size in instructions and the size of address offsets generated during effective address calculation. address size prefix switches between 32-bit and 16-bit address generation.</a:t>
            </a:r>
            <a:endParaRPr sz="2500">
              <a:solidFill>
                <a:schemeClr val="dk1"/>
              </a:solidFill>
              <a:latin typeface="Times New Roman"/>
              <a:ea typeface="Times New Roman"/>
              <a:cs typeface="Times New Roman"/>
              <a:sym typeface="Times New Roman"/>
            </a:endParaRPr>
          </a:p>
          <a:p>
            <a:pPr indent="0" lvl="0" marL="0" marR="0" rtl="0" algn="just">
              <a:lnSpc>
                <a:spcPct val="100000"/>
              </a:lnSpc>
              <a:spcBef>
                <a:spcPts val="15"/>
              </a:spcBef>
              <a:spcAft>
                <a:spcPts val="0"/>
              </a:spcAft>
              <a:buClr>
                <a:schemeClr val="dk1"/>
              </a:buClr>
              <a:buSzPts val="2450"/>
              <a:buFont typeface="Arial"/>
              <a:buNone/>
            </a:pPr>
            <a:r>
              <a:t/>
            </a:r>
            <a:endParaRPr sz="2450">
              <a:solidFill>
                <a:schemeClr val="dk1"/>
              </a:solidFill>
              <a:latin typeface="Times New Roman"/>
              <a:ea typeface="Times New Roman"/>
              <a:cs typeface="Times New Roman"/>
              <a:sym typeface="Times New Roman"/>
            </a:endParaRPr>
          </a:p>
          <a:p>
            <a:pPr indent="-343535" lvl="0" marL="355600" marR="0" rtl="0" algn="just">
              <a:spcBef>
                <a:spcPts val="0"/>
              </a:spcBef>
              <a:spcAft>
                <a:spcPts val="0"/>
              </a:spcAft>
              <a:buClr>
                <a:schemeClr val="dk1"/>
              </a:buClr>
              <a:buSzPts val="2500"/>
              <a:buFont typeface="Arial"/>
              <a:buChar char="•"/>
            </a:pPr>
            <a:r>
              <a:rPr b="1" lang="en-US" sz="2500">
                <a:solidFill>
                  <a:schemeClr val="dk1"/>
                </a:solidFill>
                <a:latin typeface="Times New Roman"/>
                <a:ea typeface="Times New Roman"/>
                <a:cs typeface="Times New Roman"/>
                <a:sym typeface="Times New Roman"/>
              </a:rPr>
              <a:t>Operand Size</a:t>
            </a:r>
            <a:r>
              <a:rPr lang="en-US" sz="2500">
                <a:solidFill>
                  <a:schemeClr val="dk1"/>
                </a:solidFill>
                <a:latin typeface="Times New Roman"/>
                <a:ea typeface="Times New Roman"/>
                <a:cs typeface="Times New Roman"/>
                <a:sym typeface="Times New Roman"/>
              </a:rPr>
              <a:t>-16 or 32 bit (switch)-An instruction has a default operand size of 16 or 32 bits, and the operand prefix switches between 32-bit and 16-bit operands.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2" name="Shape 342"/>
        <p:cNvGrpSpPr/>
        <p:nvPr/>
      </p:nvGrpSpPr>
      <p:grpSpPr>
        <a:xfrm>
          <a:off x="0" y="0"/>
          <a:ext cx="0" cy="0"/>
          <a:chOff x="0" y="0"/>
          <a:chExt cx="0" cy="0"/>
        </a:xfrm>
      </p:grpSpPr>
      <p:sp>
        <p:nvSpPr>
          <p:cNvPr id="343" name="Google Shape;343;p43"/>
          <p:cNvSpPr txBox="1"/>
          <p:nvPr>
            <p:ph type="title"/>
          </p:nvPr>
        </p:nvSpPr>
        <p:spPr>
          <a:xfrm>
            <a:off x="838200" y="152400"/>
            <a:ext cx="75520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sp>
        <p:nvSpPr>
          <p:cNvPr id="344" name="Google Shape;344;p43"/>
          <p:cNvSpPr txBox="1"/>
          <p:nvPr/>
        </p:nvSpPr>
        <p:spPr>
          <a:xfrm>
            <a:off x="228600" y="870463"/>
            <a:ext cx="8763000" cy="5554085"/>
          </a:xfrm>
          <a:prstGeom prst="rect">
            <a:avLst/>
          </a:prstGeom>
          <a:noFill/>
          <a:ln>
            <a:noFill/>
          </a:ln>
        </p:spPr>
        <p:txBody>
          <a:bodyPr anchorCtr="0" anchor="t" bIns="0" lIns="0" spcFirstLastPara="1" rIns="0" wrap="square" tIns="62225">
            <a:spAutoFit/>
          </a:bodyPr>
          <a:lstStyle/>
          <a:p>
            <a:pPr indent="0" lvl="0" marL="0" marR="0" rtl="0" algn="just">
              <a:spcBef>
                <a:spcPts val="0"/>
              </a:spcBef>
              <a:spcAft>
                <a:spcPts val="0"/>
              </a:spcAft>
              <a:buNone/>
            </a:pPr>
            <a:r>
              <a:rPr b="1" lang="en-US" sz="2400">
                <a:solidFill>
                  <a:schemeClr val="dk1"/>
                </a:solidFill>
                <a:latin typeface="Times New Roman"/>
                <a:ea typeface="Times New Roman"/>
                <a:cs typeface="Times New Roman"/>
                <a:sym typeface="Times New Roman"/>
              </a:rPr>
              <a:t>Opcode-</a:t>
            </a:r>
            <a:r>
              <a:rPr lang="en-US" sz="2400">
                <a:solidFill>
                  <a:schemeClr val="dk1"/>
                </a:solidFill>
                <a:latin typeface="Times New Roman"/>
                <a:ea typeface="Times New Roman"/>
                <a:cs typeface="Times New Roman"/>
                <a:sym typeface="Times New Roman"/>
              </a:rPr>
              <a:t> 1, 2, or 3 bytes in length.  It include bits that specify if data is byte- or full-size, direction of data operation (to or from memory), and whether an immediate data field must be sign extended.</a:t>
            </a:r>
            <a:endParaRPr b="1"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49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Mod R/m</a:t>
            </a:r>
            <a:r>
              <a:rPr lang="en-US" sz="2400">
                <a:solidFill>
                  <a:schemeClr val="dk1"/>
                </a:solidFill>
                <a:latin typeface="Times New Roman"/>
                <a:ea typeface="Times New Roman"/>
                <a:cs typeface="Times New Roman"/>
                <a:sym typeface="Times New Roman"/>
              </a:rPr>
              <a:t>-</a:t>
            </a:r>
            <a:r>
              <a:rPr lang="en-US" sz="2400">
                <a:solidFill>
                  <a:srgbClr val="FF0000"/>
                </a:solidFill>
                <a:latin typeface="Times New Roman"/>
                <a:ea typeface="Times New Roman"/>
                <a:cs typeface="Times New Roman"/>
                <a:sym typeface="Times New Roman"/>
              </a:rPr>
              <a:t>addressing information</a:t>
            </a:r>
            <a:endParaRPr/>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-specifies whether an operand is in a register or in memory; if it is in memory, then fields within the byte specify the addressing mode to be used</a:t>
            </a:r>
            <a:endParaRPr/>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-consists of three fields: The Mod field (2 bits) combines with the r/m field to form 32 possible values: 8 registers and 24 indexing modes; </a:t>
            </a:r>
            <a:endParaRPr/>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-The Reg/Opcode field (3 bits) specifies either a register number or three more bits of opcode information; </a:t>
            </a:r>
            <a:endParaRPr/>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-the r/m field (3 bits) can specify a register as the location of an operand, or it can form part of the addressing</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4"/>
          <p:cNvSpPr txBox="1"/>
          <p:nvPr>
            <p:ph type="title"/>
          </p:nvPr>
        </p:nvSpPr>
        <p:spPr>
          <a:xfrm>
            <a:off x="609600" y="152400"/>
            <a:ext cx="749808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350" name="Google Shape;350;p44"/>
          <p:cNvSpPr txBox="1"/>
          <p:nvPr>
            <p:ph idx="1" type="body"/>
          </p:nvPr>
        </p:nvSpPr>
        <p:spPr>
          <a:xfrm>
            <a:off x="0" y="1219200"/>
            <a:ext cx="8763000" cy="4800600"/>
          </a:xfrm>
          <a:prstGeom prst="rect">
            <a:avLst/>
          </a:prstGeom>
          <a:noFill/>
          <a:ln>
            <a:noFill/>
          </a:ln>
        </p:spPr>
        <p:txBody>
          <a:bodyPr anchorCtr="0" anchor="t" bIns="45700" lIns="91425" spcFirstLastPara="1" rIns="91425" wrap="square" tIns="45700">
            <a:normAutofit/>
          </a:bodyPr>
          <a:lstStyle/>
          <a:p>
            <a:pPr indent="-287019" lvl="1" marL="756285" marR="5080" rtl="0" algn="just">
              <a:lnSpc>
                <a:spcPct val="117083"/>
              </a:lnSpc>
              <a:spcBef>
                <a:spcPts val="0"/>
              </a:spcBef>
              <a:spcAft>
                <a:spcPts val="0"/>
              </a:spcAft>
              <a:buSzPts val="2400"/>
              <a:buFont typeface="Arial"/>
              <a:buChar char="–"/>
            </a:pPr>
            <a:r>
              <a:rPr lang="en-US" sz="2400">
                <a:latin typeface="Times New Roman"/>
                <a:ea typeface="Times New Roman"/>
                <a:cs typeface="Times New Roman"/>
                <a:sym typeface="Times New Roman"/>
              </a:rPr>
              <a:t>Mod+ r/m (combined info of registers and addressing  modes)</a:t>
            </a:r>
            <a:endParaRPr sz="2400">
              <a:latin typeface="Times New Roman"/>
              <a:ea typeface="Times New Roman"/>
              <a:cs typeface="Times New Roman"/>
              <a:sym typeface="Times New Roman"/>
            </a:endParaRPr>
          </a:p>
          <a:p>
            <a:pPr indent="-287019" lvl="1" marL="756285" rtl="0" algn="just">
              <a:lnSpc>
                <a:spcPct val="100000"/>
              </a:lnSpc>
              <a:spcBef>
                <a:spcPts val="265"/>
              </a:spcBef>
              <a:spcAft>
                <a:spcPts val="0"/>
              </a:spcAft>
              <a:buSzPts val="2400"/>
              <a:buFont typeface="Arial"/>
              <a:buChar char="–"/>
            </a:pPr>
            <a:r>
              <a:rPr lang="en-US" sz="2400">
                <a:latin typeface="Times New Roman"/>
                <a:ea typeface="Times New Roman"/>
                <a:cs typeface="Times New Roman"/>
                <a:sym typeface="Times New Roman"/>
              </a:rPr>
              <a:t>Register-register or opcode info</a:t>
            </a:r>
            <a:endParaRPr sz="2400">
              <a:latin typeface="Times New Roman"/>
              <a:ea typeface="Times New Roman"/>
              <a:cs typeface="Times New Roman"/>
              <a:sym typeface="Times New Roman"/>
            </a:endParaRPr>
          </a:p>
          <a:p>
            <a:pPr indent="-343535" lvl="0" marL="355600" rtl="0" algn="l">
              <a:lnSpc>
                <a:spcPct val="100000"/>
              </a:lnSpc>
              <a:spcBef>
                <a:spcPts val="335"/>
              </a:spcBef>
              <a:spcAft>
                <a:spcPts val="0"/>
              </a:spcAft>
              <a:buSzPts val="1920"/>
              <a:buFont typeface="Arial"/>
              <a:buChar char="•"/>
            </a:pPr>
            <a:r>
              <a:rPr b="1" lang="en-US" sz="2400">
                <a:latin typeface="Times New Roman"/>
                <a:ea typeface="Times New Roman"/>
                <a:cs typeface="Times New Roman"/>
                <a:sym typeface="Times New Roman"/>
              </a:rPr>
              <a:t>SIB-</a:t>
            </a:r>
            <a:r>
              <a:rPr lang="en-US" sz="2400">
                <a:latin typeface="Times New Roman"/>
                <a:ea typeface="Times New Roman"/>
                <a:cs typeface="Times New Roman"/>
                <a:sym typeface="Times New Roman"/>
              </a:rPr>
              <a:t>specify fully the addressing mode</a:t>
            </a:r>
            <a:endParaRPr/>
          </a:p>
          <a:p>
            <a:pPr indent="-287019" lvl="1" marL="756285" rtl="0" algn="l">
              <a:lnSpc>
                <a:spcPct val="100000"/>
              </a:lnSpc>
              <a:spcBef>
                <a:spcPts val="340"/>
              </a:spcBef>
              <a:spcAft>
                <a:spcPts val="0"/>
              </a:spcAft>
              <a:buSzPts val="2400"/>
              <a:buFont typeface="Arial"/>
              <a:buChar char="–"/>
            </a:pPr>
            <a:r>
              <a:rPr b="1" lang="en-US" sz="2400">
                <a:latin typeface="Times New Roman"/>
                <a:ea typeface="Times New Roman"/>
                <a:cs typeface="Times New Roman"/>
                <a:sym typeface="Times New Roman"/>
              </a:rPr>
              <a:t>Scale (2 bits)-</a:t>
            </a:r>
            <a:r>
              <a:rPr lang="en-US" sz="2400">
                <a:latin typeface="Times New Roman"/>
                <a:ea typeface="Times New Roman"/>
                <a:cs typeface="Times New Roman"/>
                <a:sym typeface="Times New Roman"/>
              </a:rPr>
              <a:t>scale factor for scaled indexing</a:t>
            </a:r>
            <a:endParaRPr sz="2400">
              <a:latin typeface="Times New Roman"/>
              <a:ea typeface="Times New Roman"/>
              <a:cs typeface="Times New Roman"/>
              <a:sym typeface="Times New Roman"/>
            </a:endParaRPr>
          </a:p>
          <a:p>
            <a:pPr indent="-287019" lvl="1" marL="756285" rtl="0" algn="l">
              <a:lnSpc>
                <a:spcPct val="100000"/>
              </a:lnSpc>
              <a:spcBef>
                <a:spcPts val="315"/>
              </a:spcBef>
              <a:spcAft>
                <a:spcPts val="0"/>
              </a:spcAft>
              <a:buSzPts val="2400"/>
              <a:buFont typeface="Arial"/>
              <a:buChar char="–"/>
            </a:pPr>
            <a:r>
              <a:rPr b="1" lang="en-US" sz="2400">
                <a:latin typeface="Times New Roman"/>
                <a:ea typeface="Times New Roman"/>
                <a:cs typeface="Times New Roman"/>
                <a:sym typeface="Times New Roman"/>
              </a:rPr>
              <a:t>Index (3 bits)</a:t>
            </a:r>
            <a:r>
              <a:rPr lang="en-US" sz="2400">
                <a:latin typeface="Times New Roman"/>
                <a:ea typeface="Times New Roman"/>
                <a:cs typeface="Times New Roman"/>
                <a:sym typeface="Times New Roman"/>
              </a:rPr>
              <a:t>-specifies index register(SI,DI)</a:t>
            </a:r>
            <a:endParaRPr sz="2400">
              <a:latin typeface="Times New Roman"/>
              <a:ea typeface="Times New Roman"/>
              <a:cs typeface="Times New Roman"/>
              <a:sym typeface="Times New Roman"/>
            </a:endParaRPr>
          </a:p>
          <a:p>
            <a:pPr indent="-287019" lvl="1" marL="756285" rtl="0" algn="l">
              <a:lnSpc>
                <a:spcPct val="100000"/>
              </a:lnSpc>
              <a:spcBef>
                <a:spcPts val="315"/>
              </a:spcBef>
              <a:spcAft>
                <a:spcPts val="0"/>
              </a:spcAft>
              <a:buSzPts val="2400"/>
              <a:buFont typeface="Arial"/>
              <a:buChar char="–"/>
            </a:pPr>
            <a:r>
              <a:rPr b="1" lang="en-US" sz="2400">
                <a:latin typeface="Times New Roman"/>
                <a:ea typeface="Times New Roman"/>
                <a:cs typeface="Times New Roman"/>
                <a:sym typeface="Times New Roman"/>
              </a:rPr>
              <a:t>Base (3 bits)</a:t>
            </a:r>
            <a:r>
              <a:rPr lang="en-US" sz="2400">
                <a:latin typeface="Times New Roman"/>
                <a:ea typeface="Times New Roman"/>
                <a:cs typeface="Times New Roman"/>
                <a:sym typeface="Times New Roman"/>
              </a:rPr>
              <a:t>-specifies base register(BX)</a:t>
            </a:r>
            <a:endParaRPr sz="2400">
              <a:latin typeface="Times New Roman"/>
              <a:ea typeface="Times New Roman"/>
              <a:cs typeface="Times New Roman"/>
              <a:sym typeface="Times New Roman"/>
            </a:endParaRPr>
          </a:p>
          <a:p>
            <a:pPr indent="-343535" lvl="0" marL="355600" rtl="0" algn="l">
              <a:lnSpc>
                <a:spcPct val="100000"/>
              </a:lnSpc>
              <a:spcBef>
                <a:spcPts val="330"/>
              </a:spcBef>
              <a:spcAft>
                <a:spcPts val="0"/>
              </a:spcAft>
              <a:buSzPts val="1920"/>
              <a:buFont typeface="Arial"/>
              <a:buChar char="•"/>
            </a:pPr>
            <a:r>
              <a:rPr b="1" lang="en-US" sz="2400">
                <a:latin typeface="Times New Roman"/>
                <a:ea typeface="Times New Roman"/>
                <a:cs typeface="Times New Roman"/>
                <a:sym typeface="Times New Roman"/>
              </a:rPr>
              <a:t>Displacement</a:t>
            </a:r>
            <a:r>
              <a:rPr lang="en-US" sz="2400">
                <a:latin typeface="Times New Roman"/>
                <a:ea typeface="Times New Roman"/>
                <a:cs typeface="Times New Roman"/>
                <a:sym typeface="Times New Roman"/>
              </a:rPr>
              <a:t>-When the addressing-mode specifier indicates that a displacement is used, an 8-, 16-, or 32-bit signed integer displacement field is added.</a:t>
            </a:r>
            <a:endParaRPr sz="2400">
              <a:latin typeface="Times New Roman"/>
              <a:ea typeface="Times New Roman"/>
              <a:cs typeface="Times New Roman"/>
              <a:sym typeface="Times New Roman"/>
            </a:endParaRPr>
          </a:p>
          <a:p>
            <a:pPr indent="-343535" lvl="0" marL="355600" marR="628015" rtl="0" algn="l">
              <a:lnSpc>
                <a:spcPct val="135000"/>
              </a:lnSpc>
              <a:spcBef>
                <a:spcPts val="770"/>
              </a:spcBef>
              <a:spcAft>
                <a:spcPts val="0"/>
              </a:spcAft>
              <a:buSzPts val="1920"/>
              <a:buFont typeface="Arial"/>
              <a:buChar char="•"/>
            </a:pPr>
            <a:r>
              <a:rPr b="1" lang="en-US" sz="2400">
                <a:latin typeface="Times New Roman"/>
                <a:ea typeface="Times New Roman"/>
                <a:cs typeface="Times New Roman"/>
                <a:sym typeface="Times New Roman"/>
              </a:rPr>
              <a:t>Immediate</a:t>
            </a:r>
            <a:r>
              <a:rPr lang="en-US" sz="2400">
                <a:latin typeface="Times New Roman"/>
                <a:ea typeface="Times New Roman"/>
                <a:cs typeface="Times New Roman"/>
                <a:sym typeface="Times New Roman"/>
              </a:rPr>
              <a:t>-provides the value of 8/16/32 bit  operand</a:t>
            </a:r>
            <a:endParaRPr sz="2400">
              <a:latin typeface="Times New Roman"/>
              <a:ea typeface="Times New Roman"/>
              <a:cs typeface="Times New Roman"/>
              <a:sym typeface="Times New Roman"/>
            </a:endParaRPr>
          </a:p>
          <a:p>
            <a:pPr indent="-161543" lvl="0" marL="365760" rtl="0" algn="l">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4" name="Shape 354"/>
        <p:cNvGrpSpPr/>
        <p:nvPr/>
      </p:nvGrpSpPr>
      <p:grpSpPr>
        <a:xfrm>
          <a:off x="0" y="0"/>
          <a:ext cx="0" cy="0"/>
          <a:chOff x="0" y="0"/>
          <a:chExt cx="0" cy="0"/>
        </a:xfrm>
      </p:grpSpPr>
      <p:sp>
        <p:nvSpPr>
          <p:cNvPr id="355" name="Google Shape;355;p45"/>
          <p:cNvSpPr txBox="1"/>
          <p:nvPr>
            <p:ph type="ctrTitle"/>
          </p:nvPr>
        </p:nvSpPr>
        <p:spPr>
          <a:xfrm>
            <a:off x="1066800" y="1828800"/>
            <a:ext cx="7406640" cy="1472184"/>
          </a:xfrm>
          <a:prstGeom prst="rect">
            <a:avLst/>
          </a:prstGeom>
          <a:noFill/>
          <a:ln>
            <a:noFill/>
          </a:ln>
        </p:spPr>
        <p:txBody>
          <a:bodyPr anchorCtr="0" anchor="b" bIns="0" lIns="0" spcFirstLastPara="1" rIns="0" wrap="square" tIns="13325">
            <a:spAutoFit/>
          </a:bodyPr>
          <a:lstStyle/>
          <a:p>
            <a:pPr indent="5715" lvl="0" marL="25400" marR="17780" rtl="0" algn="ctr">
              <a:lnSpc>
                <a:spcPct val="100000"/>
              </a:lnSpc>
              <a:spcBef>
                <a:spcPts val="0"/>
              </a:spcBef>
              <a:spcAft>
                <a:spcPts val="0"/>
              </a:spcAft>
              <a:buClr>
                <a:srgbClr val="562214"/>
              </a:buClr>
              <a:buSzPts val="4300"/>
              <a:buFont typeface="Gill Sans"/>
              <a:buNone/>
            </a:pPr>
            <a:r>
              <a:rPr lang="en-US"/>
              <a:t>William Stallings  Computer Organization  and Architecture</a:t>
            </a:r>
            <a:endParaRPr/>
          </a:p>
          <a:p>
            <a:pPr indent="0" lvl="0" marL="3810" rtl="0" algn="ctr">
              <a:lnSpc>
                <a:spcPct val="100000"/>
              </a:lnSpc>
              <a:spcBef>
                <a:spcPts val="5"/>
              </a:spcBef>
              <a:spcAft>
                <a:spcPts val="0"/>
              </a:spcAft>
              <a:buClr>
                <a:srgbClr val="562214"/>
              </a:buClr>
              <a:buSzPts val="4300"/>
              <a:buFont typeface="Gill Sans"/>
              <a:buNone/>
            </a:pPr>
            <a:r>
              <a:rPr lang="en-US"/>
              <a:t>6</a:t>
            </a:r>
            <a:r>
              <a:rPr baseline="30000" lang="en-US" sz="4350"/>
              <a:t>th </a:t>
            </a:r>
            <a:r>
              <a:rPr lang="en-US" sz="4400"/>
              <a:t>Edition</a:t>
            </a:r>
            <a:endParaRPr sz="4400"/>
          </a:p>
        </p:txBody>
      </p:sp>
      <p:sp>
        <p:nvSpPr>
          <p:cNvPr id="356" name="Google Shape;356;p45"/>
          <p:cNvSpPr txBox="1"/>
          <p:nvPr>
            <p:ph idx="1" type="subTitle"/>
          </p:nvPr>
        </p:nvSpPr>
        <p:spPr>
          <a:xfrm>
            <a:off x="1066800" y="3886200"/>
            <a:ext cx="7406640" cy="1752600"/>
          </a:xfrm>
          <a:prstGeom prst="rect">
            <a:avLst/>
          </a:prstGeom>
          <a:noFill/>
          <a:ln>
            <a:noFill/>
          </a:ln>
        </p:spPr>
        <p:txBody>
          <a:bodyPr anchorCtr="0" anchor="t" bIns="0" lIns="0" spcFirstLastPara="1" rIns="0" wrap="square" tIns="12050">
            <a:spAutoFit/>
          </a:bodyPr>
          <a:lstStyle/>
          <a:p>
            <a:pPr indent="-1905" lvl="0" marL="1497330" marR="1491615" rtl="0" algn="ctr">
              <a:lnSpc>
                <a:spcPct val="120100"/>
              </a:lnSpc>
              <a:spcBef>
                <a:spcPts val="0"/>
              </a:spcBef>
              <a:spcAft>
                <a:spcPts val="0"/>
              </a:spcAft>
              <a:buSzPts val="2080"/>
              <a:buNone/>
            </a:pPr>
            <a:r>
              <a:rPr lang="en-US"/>
              <a:t>Chapter 11  Instruction Sets:</a:t>
            </a:r>
            <a:endParaRPr/>
          </a:p>
          <a:p>
            <a:pPr indent="0" lvl="0" marL="27432" rtl="0" algn="ctr">
              <a:lnSpc>
                <a:spcPct val="100000"/>
              </a:lnSpc>
              <a:spcBef>
                <a:spcPts val="765"/>
              </a:spcBef>
              <a:spcAft>
                <a:spcPts val="0"/>
              </a:spcAft>
              <a:buSzPts val="2080"/>
              <a:buNone/>
            </a:pPr>
            <a:r>
              <a:rPr lang="en-US"/>
              <a:t>Addressing Modes and Formats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6"/>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Addressing modes</a:t>
            </a:r>
            <a:endParaRPr/>
          </a:p>
        </p:txBody>
      </p:sp>
      <p:sp>
        <p:nvSpPr>
          <p:cNvPr id="362" name="Google Shape;362;p46"/>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way for which an operand is specified for an instruction in the accumulator, in a general purpose register or in memory location, is called </a:t>
            </a:r>
            <a:r>
              <a:rPr b="1" lang="en-US" sz="2400">
                <a:latin typeface="Times New Roman"/>
                <a:ea typeface="Times New Roman"/>
                <a:cs typeface="Times New Roman"/>
                <a:sym typeface="Times New Roman"/>
              </a:rPr>
              <a:t>addressing mode</a:t>
            </a:r>
            <a:r>
              <a:rPr lang="en-US" sz="2400">
                <a:latin typeface="Times New Roman"/>
                <a:ea typeface="Times New Roman"/>
                <a:cs typeface="Times New Roman"/>
                <a:sym typeface="Times New Roman"/>
              </a:rPr>
              <a: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Different opcodes will use different addressing modes.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one or more bits in the instruction format can be used as a mode field. The value of the </a:t>
            </a:r>
            <a:r>
              <a:rPr lang="en-US" sz="2400">
                <a:solidFill>
                  <a:srgbClr val="FF0000"/>
                </a:solidFill>
                <a:latin typeface="Times New Roman"/>
                <a:ea typeface="Times New Roman"/>
                <a:cs typeface="Times New Roman"/>
                <a:sym typeface="Times New Roman"/>
              </a:rPr>
              <a:t>mode field determines which addressing mode is to be used.</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a system without virtual memory, the effective address will be either a main memory address or a register. In a virtual memory system, the effective address is a virtual address or a register</a:t>
            </a:r>
            <a:endParaRPr sz="24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p47"/>
          <p:cNvSpPr txBox="1"/>
          <p:nvPr/>
        </p:nvSpPr>
        <p:spPr>
          <a:xfrm>
            <a:off x="535940"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35</a:t>
            </a:r>
            <a:endParaRPr sz="1200">
              <a:solidFill>
                <a:schemeClr val="dk1"/>
              </a:solidFill>
              <a:latin typeface="Times New Roman"/>
              <a:ea typeface="Times New Roman"/>
              <a:cs typeface="Times New Roman"/>
              <a:sym typeface="Times New Roman"/>
            </a:endParaRPr>
          </a:p>
        </p:txBody>
      </p:sp>
      <p:sp>
        <p:nvSpPr>
          <p:cNvPr id="368" name="Google Shape;368;p47"/>
          <p:cNvSpPr txBox="1"/>
          <p:nvPr>
            <p:ph type="title"/>
          </p:nvPr>
        </p:nvSpPr>
        <p:spPr>
          <a:xfrm>
            <a:off x="2041651" y="487502"/>
            <a:ext cx="506222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Addressing Modes</a:t>
            </a:r>
            <a:endParaRPr sz="4400">
              <a:latin typeface="Arial"/>
              <a:ea typeface="Arial"/>
              <a:cs typeface="Arial"/>
              <a:sym typeface="Arial"/>
            </a:endParaRPr>
          </a:p>
        </p:txBody>
      </p:sp>
      <p:sp>
        <p:nvSpPr>
          <p:cNvPr id="369" name="Google Shape;369;p47"/>
          <p:cNvSpPr txBox="1"/>
          <p:nvPr/>
        </p:nvSpPr>
        <p:spPr>
          <a:xfrm>
            <a:off x="535025" y="1527530"/>
            <a:ext cx="5038090" cy="4123054"/>
          </a:xfrm>
          <a:prstGeom prst="rect">
            <a:avLst/>
          </a:prstGeom>
          <a:noFill/>
          <a:ln>
            <a:noFill/>
          </a:ln>
        </p:spPr>
        <p:txBody>
          <a:bodyPr anchorCtr="0" anchor="t" bIns="0" lIns="0" spcFirstLastPara="1" rIns="0" wrap="square" tIns="110475">
            <a:spAutoFit/>
          </a:bodyPr>
          <a:lstStyle/>
          <a:p>
            <a:pPr indent="-342900"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Immediate</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Direct</a:t>
            </a:r>
            <a:endParaRPr sz="3200">
              <a:solidFill>
                <a:schemeClr val="dk1"/>
              </a:solidFill>
              <a:latin typeface="Arial"/>
              <a:ea typeface="Arial"/>
              <a:cs typeface="Arial"/>
              <a:sym typeface="Arial"/>
            </a:endParaRPr>
          </a:p>
          <a:p>
            <a:pPr indent="-342900" lvl="0" marL="355600" marR="0" rtl="0" algn="l">
              <a:lnSpc>
                <a:spcPct val="100000"/>
              </a:lnSpc>
              <a:spcBef>
                <a:spcPts val="765"/>
              </a:spcBef>
              <a:spcAft>
                <a:spcPts val="0"/>
              </a:spcAft>
              <a:buClr>
                <a:schemeClr val="dk1"/>
              </a:buClr>
              <a:buSzPts val="3200"/>
              <a:buFont typeface="Arial"/>
              <a:buChar char="•"/>
            </a:pPr>
            <a:r>
              <a:rPr lang="en-US" sz="3200">
                <a:solidFill>
                  <a:schemeClr val="dk1"/>
                </a:solidFill>
                <a:latin typeface="Arial"/>
                <a:ea typeface="Arial"/>
                <a:cs typeface="Arial"/>
                <a:sym typeface="Arial"/>
              </a:rPr>
              <a:t>Indirect</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Register</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Register Indirect</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rgbClr val="FF0000"/>
              </a:buClr>
              <a:buSzPts val="3200"/>
              <a:buFont typeface="Arial"/>
              <a:buChar char="•"/>
            </a:pPr>
            <a:r>
              <a:rPr lang="en-US" sz="3200">
                <a:solidFill>
                  <a:srgbClr val="FF0000"/>
                </a:solidFill>
                <a:latin typeface="Arial"/>
                <a:ea typeface="Arial"/>
                <a:cs typeface="Arial"/>
                <a:sym typeface="Arial"/>
              </a:rPr>
              <a:t>Displacement (Indexed)</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Stack</a:t>
            </a:r>
            <a:endParaRPr sz="32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375" name="Google Shape;375;p48"/>
          <p:cNvPicPr preferRelativeResize="0"/>
          <p:nvPr>
            <p:ph idx="1" type="body"/>
          </p:nvPr>
        </p:nvPicPr>
        <p:blipFill rotWithShape="1">
          <a:blip r:embed="rId3">
            <a:alphaModFix/>
          </a:blip>
          <a:srcRect b="9336" l="18459" r="17526" t="67127"/>
          <a:stretch/>
        </p:blipFill>
        <p:spPr>
          <a:xfrm>
            <a:off x="104825" y="2590800"/>
            <a:ext cx="9039300" cy="3279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9" name="Shape 379"/>
        <p:cNvGrpSpPr/>
        <p:nvPr/>
      </p:nvGrpSpPr>
      <p:grpSpPr>
        <a:xfrm>
          <a:off x="0" y="0"/>
          <a:ext cx="0" cy="0"/>
          <a:chOff x="0" y="0"/>
          <a:chExt cx="0" cy="0"/>
        </a:xfrm>
      </p:grpSpPr>
      <p:sp>
        <p:nvSpPr>
          <p:cNvPr id="380" name="Google Shape;380;p49"/>
          <p:cNvSpPr txBox="1"/>
          <p:nvPr/>
        </p:nvSpPr>
        <p:spPr>
          <a:xfrm>
            <a:off x="8430259"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36</a:t>
            </a:r>
            <a:endParaRPr sz="1200">
              <a:solidFill>
                <a:schemeClr val="dk1"/>
              </a:solidFill>
              <a:latin typeface="Times New Roman"/>
              <a:ea typeface="Times New Roman"/>
              <a:cs typeface="Times New Roman"/>
              <a:sym typeface="Times New Roman"/>
            </a:endParaRPr>
          </a:p>
        </p:txBody>
      </p:sp>
      <p:sp>
        <p:nvSpPr>
          <p:cNvPr id="381" name="Google Shape;381;p49"/>
          <p:cNvSpPr txBox="1"/>
          <p:nvPr>
            <p:ph type="title"/>
          </p:nvPr>
        </p:nvSpPr>
        <p:spPr>
          <a:xfrm>
            <a:off x="1450594" y="212801"/>
            <a:ext cx="61175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Immediate Addressing</a:t>
            </a:r>
            <a:endParaRPr sz="4400">
              <a:latin typeface="Arial"/>
              <a:ea typeface="Arial"/>
              <a:cs typeface="Arial"/>
              <a:sym typeface="Arial"/>
            </a:endParaRPr>
          </a:p>
        </p:txBody>
      </p:sp>
      <p:sp>
        <p:nvSpPr>
          <p:cNvPr id="382" name="Google Shape;382;p49"/>
          <p:cNvSpPr txBox="1"/>
          <p:nvPr/>
        </p:nvSpPr>
        <p:spPr>
          <a:xfrm>
            <a:off x="533400" y="1524000"/>
            <a:ext cx="5122545" cy="5207195"/>
          </a:xfrm>
          <a:prstGeom prst="rect">
            <a:avLst/>
          </a:prstGeom>
          <a:noFill/>
          <a:ln>
            <a:noFill/>
          </a:ln>
        </p:spPr>
        <p:txBody>
          <a:bodyPr anchorCtr="0" anchor="t" bIns="0" lIns="0" spcFirstLastPara="1" rIns="0" wrap="square" tIns="13325">
            <a:spAutoFit/>
          </a:bodyPr>
          <a:lstStyle/>
          <a:p>
            <a:pPr indent="-343535" lvl="0" marL="355600" marR="5080" rtl="0" algn="l">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 this mode </a:t>
            </a:r>
            <a:r>
              <a:rPr b="1" lang="en-US" sz="2000">
                <a:solidFill>
                  <a:schemeClr val="dk1"/>
                </a:solidFill>
                <a:latin typeface="Times New Roman"/>
                <a:ea typeface="Times New Roman"/>
                <a:cs typeface="Times New Roman"/>
                <a:sym typeface="Times New Roman"/>
              </a:rPr>
              <a:t>data is present in address field of  instruction .</a:t>
            </a:r>
            <a:endParaRPr b="1" sz="2000">
              <a:solidFill>
                <a:schemeClr val="dk1"/>
              </a:solidFill>
              <a:latin typeface="Times New Roman"/>
              <a:ea typeface="Times New Roman"/>
              <a:cs typeface="Times New Roman"/>
              <a:sym typeface="Times New Roman"/>
            </a:endParaRPr>
          </a:p>
          <a:p>
            <a:pPr indent="-343535" lvl="0" marL="355600" marR="0" rtl="0" algn="l">
              <a:lnSpc>
                <a:spcPct val="100000"/>
              </a:lnSpc>
              <a:spcBef>
                <a:spcPts val="48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Designed like one address instruction format</a:t>
            </a:r>
            <a:endParaRPr sz="2000">
              <a:solidFill>
                <a:schemeClr val="dk1"/>
              </a:solidFill>
              <a:latin typeface="Times New Roman"/>
              <a:ea typeface="Times New Roman"/>
              <a:cs typeface="Times New Roman"/>
              <a:sym typeface="Times New Roman"/>
            </a:endParaRPr>
          </a:p>
          <a:p>
            <a:pPr indent="-287019" lvl="1" marL="756285" marR="196850" rtl="0" algn="just">
              <a:lnSpc>
                <a:spcPct val="100000"/>
              </a:lnSpc>
              <a:spcBef>
                <a:spcPts val="414"/>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Note:Limitation in the immediate mode is that the  range of constants are restricted by size of address  field.</a:t>
            </a:r>
            <a:endParaRPr b="0" i="0" sz="20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625"/>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FEATURES</a:t>
            </a:r>
            <a:endParaRPr sz="2000">
              <a:solidFill>
                <a:schemeClr val="dk1"/>
              </a:solidFill>
              <a:latin typeface="Times New Roman"/>
              <a:ea typeface="Times New Roman"/>
              <a:cs typeface="Times New Roman"/>
              <a:sym typeface="Times New Roman"/>
            </a:endParaRPr>
          </a:p>
          <a:p>
            <a:pPr indent="-287019" lvl="1" marL="756285" marR="0" rtl="0" algn="l">
              <a:lnSpc>
                <a:spcPct val="100000"/>
              </a:lnSpc>
              <a:spcBef>
                <a:spcPts val="5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Operand is part of instruction</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Operand = address field</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No memory reference to fetch data-saving memory</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Fast</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Limited range-size of the number is restricted to the size of the address field</a:t>
            </a:r>
            <a:endParaRPr b="0" i="0" sz="4400" u="none" cap="none" strike="noStrike">
              <a:solidFill>
                <a:schemeClr val="dk1"/>
              </a:solidFill>
              <a:latin typeface="Times New Roman"/>
              <a:ea typeface="Times New Roman"/>
              <a:cs typeface="Times New Roman"/>
              <a:sym typeface="Times New Roman"/>
            </a:endParaRPr>
          </a:p>
        </p:txBody>
      </p:sp>
      <p:pic>
        <p:nvPicPr>
          <p:cNvPr id="383" name="Google Shape;383;p49"/>
          <p:cNvPicPr preferRelativeResize="0"/>
          <p:nvPr/>
        </p:nvPicPr>
        <p:blipFill rotWithShape="1">
          <a:blip r:embed="rId3">
            <a:alphaModFix/>
          </a:blip>
          <a:srcRect b="0" l="0" r="0" t="0"/>
          <a:stretch/>
        </p:blipFill>
        <p:spPr>
          <a:xfrm>
            <a:off x="6019800" y="2349500"/>
            <a:ext cx="3000375" cy="30384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7" name="Shape 387"/>
        <p:cNvGrpSpPr/>
        <p:nvPr/>
      </p:nvGrpSpPr>
      <p:grpSpPr>
        <a:xfrm>
          <a:off x="0" y="0"/>
          <a:ext cx="0" cy="0"/>
          <a:chOff x="0" y="0"/>
          <a:chExt cx="0" cy="0"/>
        </a:xfrm>
      </p:grpSpPr>
      <p:sp>
        <p:nvSpPr>
          <p:cNvPr id="388" name="Google Shape;388;p50"/>
          <p:cNvSpPr txBox="1"/>
          <p:nvPr/>
        </p:nvSpPr>
        <p:spPr>
          <a:xfrm>
            <a:off x="198450" y="1172550"/>
            <a:ext cx="4956300" cy="58023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sz="2400">
                <a:solidFill>
                  <a:schemeClr val="dk1"/>
                </a:solidFill>
                <a:latin typeface="Calibri"/>
                <a:ea typeface="Calibri"/>
                <a:cs typeface="Calibri"/>
                <a:sym typeface="Calibri"/>
              </a:rPr>
              <a:t>MOV CL, 0A  -&gt; CL = 0A</a:t>
            </a:r>
            <a:endParaRPr sz="2400">
              <a:solidFill>
                <a:schemeClr val="dk1"/>
              </a:solidFill>
              <a:latin typeface="Calibri"/>
              <a:ea typeface="Calibri"/>
              <a:cs typeface="Calibri"/>
              <a:sym typeface="Calibri"/>
            </a:endParaRPr>
          </a:p>
          <a:p>
            <a:pPr indent="0" lvl="0" marL="0" marR="0" rtl="0" algn="l">
              <a:lnSpc>
                <a:spcPct val="100000"/>
              </a:lnSpc>
              <a:spcBef>
                <a:spcPts val="2690"/>
              </a:spcBef>
              <a:spcAft>
                <a:spcPts val="0"/>
              </a:spcAft>
              <a:buNone/>
            </a:pPr>
            <a:r>
              <a:rPr lang="en-US" sz="2400">
                <a:solidFill>
                  <a:schemeClr val="dk1"/>
                </a:solidFill>
                <a:latin typeface="Calibri"/>
                <a:ea typeface="Calibri"/>
                <a:cs typeface="Calibri"/>
                <a:sym typeface="Calibri"/>
              </a:rPr>
              <a:t>ADD AL, 45  -&gt; AL += 45</a:t>
            </a:r>
            <a:endParaRPr sz="2400">
              <a:solidFill>
                <a:schemeClr val="dk1"/>
              </a:solidFill>
              <a:latin typeface="Calibri"/>
              <a:ea typeface="Calibri"/>
              <a:cs typeface="Calibri"/>
              <a:sym typeface="Calibri"/>
            </a:endParaRPr>
          </a:p>
          <a:p>
            <a:pPr indent="0" lvl="0" marL="0" marR="0" rtl="0" algn="l">
              <a:lnSpc>
                <a:spcPct val="100000"/>
              </a:lnSpc>
              <a:spcBef>
                <a:spcPts val="2690"/>
              </a:spcBef>
              <a:spcAft>
                <a:spcPts val="0"/>
              </a:spcAft>
              <a:buNone/>
            </a:pPr>
            <a:r>
              <a:rPr lang="en-US" sz="2400">
                <a:solidFill>
                  <a:schemeClr val="dk1"/>
                </a:solidFill>
                <a:latin typeface="Calibri"/>
                <a:ea typeface="Calibri"/>
                <a:cs typeface="Calibri"/>
                <a:sym typeface="Calibri"/>
              </a:rPr>
              <a:t>ADD AX, 0000  -&gt; AX += 0000</a:t>
            </a:r>
            <a:endParaRPr sz="2400">
              <a:solidFill>
                <a:schemeClr val="dk1"/>
              </a:solidFill>
              <a:latin typeface="Calibri"/>
              <a:ea typeface="Calibri"/>
              <a:cs typeface="Calibri"/>
              <a:sym typeface="Calibri"/>
            </a:endParaRPr>
          </a:p>
          <a:p>
            <a:pPr indent="0" lvl="0" marL="0" marR="0" rtl="0" algn="l">
              <a:lnSpc>
                <a:spcPct val="100000"/>
              </a:lnSpc>
              <a:spcBef>
                <a:spcPts val="2690"/>
              </a:spcBef>
              <a:spcAft>
                <a:spcPts val="0"/>
              </a:spcAft>
              <a:buNone/>
            </a:pPr>
            <a:r>
              <a:rPr lang="en-US" sz="2400">
                <a:solidFill>
                  <a:schemeClr val="dk1"/>
                </a:solidFill>
                <a:latin typeface="Calibri"/>
                <a:ea typeface="Calibri"/>
                <a:cs typeface="Calibri"/>
                <a:sym typeface="Calibri"/>
              </a:rPr>
              <a:t>MOV CX, 4929 H (source  operand-16 bit-part of instruction)  -&gt; CX = 4929 H </a:t>
            </a:r>
            <a:endParaRPr sz="2400">
              <a:solidFill>
                <a:schemeClr val="dk1"/>
              </a:solidFill>
              <a:latin typeface="Calibri"/>
              <a:ea typeface="Calibri"/>
              <a:cs typeface="Calibri"/>
              <a:sym typeface="Calibri"/>
            </a:endParaRPr>
          </a:p>
          <a:p>
            <a:pPr indent="0" lvl="0" marL="0" marR="0" rtl="0" algn="l">
              <a:lnSpc>
                <a:spcPct val="100000"/>
              </a:lnSpc>
              <a:spcBef>
                <a:spcPts val="2690"/>
              </a:spcBef>
              <a:spcAft>
                <a:spcPts val="0"/>
              </a:spcAft>
              <a:buNone/>
            </a:pPr>
            <a:r>
              <a:rPr lang="en-US" sz="2400">
                <a:solidFill>
                  <a:schemeClr val="dk1"/>
                </a:solidFill>
                <a:latin typeface="Calibri"/>
                <a:ea typeface="Calibri"/>
                <a:cs typeface="Calibri"/>
                <a:sym typeface="Calibri"/>
              </a:rPr>
              <a:t>ADD AX, 2387 H  -&gt; AX += 2387H</a:t>
            </a:r>
            <a:endParaRPr sz="2400">
              <a:solidFill>
                <a:schemeClr val="dk1"/>
              </a:solidFill>
              <a:latin typeface="Calibri"/>
              <a:ea typeface="Calibri"/>
              <a:cs typeface="Calibri"/>
              <a:sym typeface="Calibri"/>
            </a:endParaRPr>
          </a:p>
          <a:p>
            <a:pPr indent="0" lvl="0" marL="12700" rtl="0" algn="l">
              <a:spcBef>
                <a:spcPts val="0"/>
              </a:spcBef>
              <a:spcAft>
                <a:spcPts val="0"/>
              </a:spcAft>
              <a:buClr>
                <a:schemeClr val="dk1"/>
              </a:buClr>
              <a:buFont typeface="Arial"/>
              <a:buNone/>
            </a:pPr>
            <a:r>
              <a:t/>
            </a:r>
            <a:endParaRPr sz="2400">
              <a:solidFill>
                <a:schemeClr val="dk1"/>
              </a:solidFill>
              <a:latin typeface="Calibri"/>
              <a:ea typeface="Calibri"/>
              <a:cs typeface="Calibri"/>
              <a:sym typeface="Calibri"/>
            </a:endParaRPr>
          </a:p>
          <a:p>
            <a:pPr indent="0" lvl="0" marL="12700" rtl="0" algn="l">
              <a:spcBef>
                <a:spcPts val="0"/>
              </a:spcBef>
              <a:spcAft>
                <a:spcPts val="0"/>
              </a:spcAft>
              <a:buClr>
                <a:schemeClr val="dk1"/>
              </a:buClr>
              <a:buFont typeface="Arial"/>
              <a:buNone/>
            </a:pPr>
            <a:r>
              <a:rPr lang="en-US" sz="2400">
                <a:solidFill>
                  <a:schemeClr val="dk1"/>
                </a:solidFill>
                <a:latin typeface="Calibri"/>
                <a:ea typeface="Calibri"/>
                <a:cs typeface="Calibri"/>
                <a:sym typeface="Calibri"/>
              </a:rPr>
              <a:t>MOV AL, FFH (15 bit data) -&gt; AL = FFH</a:t>
            </a:r>
            <a:endParaRPr sz="2400">
              <a:solidFill>
                <a:schemeClr val="dk1"/>
              </a:solidFill>
              <a:latin typeface="Calibri"/>
              <a:ea typeface="Calibri"/>
              <a:cs typeface="Calibri"/>
              <a:sym typeface="Calibri"/>
            </a:endParaRPr>
          </a:p>
          <a:p>
            <a:pPr indent="0" lvl="0" marL="12700" rtl="0" algn="l">
              <a:spcBef>
                <a:spcPts val="0"/>
              </a:spcBef>
              <a:spcAft>
                <a:spcPts val="0"/>
              </a:spcAft>
              <a:buClr>
                <a:srgbClr val="562214"/>
              </a:buClr>
              <a:buSzPts val="3200"/>
              <a:buFont typeface="Calibri"/>
              <a:buNone/>
            </a:pPr>
            <a:r>
              <a:t/>
            </a:r>
            <a:endParaRPr sz="2400">
              <a:solidFill>
                <a:srgbClr val="562214"/>
              </a:solidFill>
              <a:latin typeface="Calibri"/>
              <a:ea typeface="Calibri"/>
              <a:cs typeface="Calibri"/>
              <a:sym typeface="Calibri"/>
            </a:endParaRPr>
          </a:p>
          <a:p>
            <a:pPr indent="0" lvl="0" marL="12700" rtl="0" algn="l">
              <a:spcBef>
                <a:spcPts val="0"/>
              </a:spcBef>
              <a:spcAft>
                <a:spcPts val="0"/>
              </a:spcAft>
              <a:buClr>
                <a:srgbClr val="562214"/>
              </a:buClr>
              <a:buSzPts val="3200"/>
              <a:buFont typeface="Calibri"/>
              <a:buNone/>
            </a:pPr>
            <a:r>
              <a:rPr lang="en-US" sz="2400">
                <a:solidFill>
                  <a:srgbClr val="562214"/>
                </a:solidFill>
                <a:latin typeface="Calibri"/>
                <a:ea typeface="Calibri"/>
                <a:cs typeface="Calibri"/>
                <a:sym typeface="Calibri"/>
              </a:rPr>
              <a:t>MOV AX, 2000  -&gt; AX = 2000</a:t>
            </a:r>
            <a:endParaRPr sz="2400">
              <a:solidFill>
                <a:srgbClr val="562214"/>
              </a:solidFill>
              <a:latin typeface="Calibri"/>
              <a:ea typeface="Calibri"/>
              <a:cs typeface="Calibri"/>
              <a:sym typeface="Calibri"/>
            </a:endParaRPr>
          </a:p>
          <a:p>
            <a:pPr indent="0" lvl="0" marL="203200" marR="0" rtl="0" algn="l">
              <a:lnSpc>
                <a:spcPct val="100000"/>
              </a:lnSpc>
              <a:spcBef>
                <a:spcPts val="2690"/>
              </a:spcBef>
              <a:spcAft>
                <a:spcPts val="0"/>
              </a:spcAft>
              <a:buNone/>
            </a:pPr>
            <a:r>
              <a:t/>
            </a:r>
            <a:endParaRPr sz="2400">
              <a:solidFill>
                <a:schemeClr val="dk1"/>
              </a:solidFill>
              <a:latin typeface="Calibri"/>
              <a:ea typeface="Calibri"/>
              <a:cs typeface="Calibri"/>
              <a:sym typeface="Calibri"/>
            </a:endParaRPr>
          </a:p>
        </p:txBody>
      </p:sp>
      <p:sp>
        <p:nvSpPr>
          <p:cNvPr id="389" name="Google Shape;389;p50"/>
          <p:cNvSpPr txBox="1"/>
          <p:nvPr/>
        </p:nvSpPr>
        <p:spPr>
          <a:xfrm>
            <a:off x="8430259"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37</a:t>
            </a:r>
            <a:endParaRPr sz="1200">
              <a:solidFill>
                <a:schemeClr val="dk1"/>
              </a:solidFill>
              <a:latin typeface="Times New Roman"/>
              <a:ea typeface="Times New Roman"/>
              <a:cs typeface="Times New Roman"/>
              <a:sym typeface="Times New Roman"/>
            </a:endParaRPr>
          </a:p>
        </p:txBody>
      </p:sp>
      <p:pic>
        <p:nvPicPr>
          <p:cNvPr id="390" name="Google Shape;390;p50"/>
          <p:cNvPicPr preferRelativeResize="0"/>
          <p:nvPr/>
        </p:nvPicPr>
        <p:blipFill rotWithShape="1">
          <a:blip r:embed="rId3">
            <a:alphaModFix/>
          </a:blip>
          <a:srcRect b="0" l="0" r="0" t="0"/>
          <a:stretch/>
        </p:blipFill>
        <p:spPr>
          <a:xfrm>
            <a:off x="4714150" y="725512"/>
            <a:ext cx="4103275" cy="2252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4" name="Shape 394"/>
        <p:cNvGrpSpPr/>
        <p:nvPr/>
      </p:nvGrpSpPr>
      <p:grpSpPr>
        <a:xfrm>
          <a:off x="0" y="0"/>
          <a:ext cx="0" cy="0"/>
          <a:chOff x="0" y="0"/>
          <a:chExt cx="0" cy="0"/>
        </a:xfrm>
      </p:grpSpPr>
      <p:sp>
        <p:nvSpPr>
          <p:cNvPr id="395" name="Google Shape;395;p51"/>
          <p:cNvSpPr txBox="1"/>
          <p:nvPr>
            <p:ph type="title"/>
          </p:nvPr>
        </p:nvSpPr>
        <p:spPr>
          <a:xfrm>
            <a:off x="1435608" y="274320"/>
            <a:ext cx="7498080" cy="1143000"/>
          </a:xfrm>
          <a:prstGeom prst="rect">
            <a:avLst/>
          </a:prstGeom>
          <a:noFill/>
          <a:ln>
            <a:noFill/>
          </a:ln>
        </p:spPr>
        <p:txBody>
          <a:bodyPr anchorCtr="0" anchor="ctr" bIns="0" lIns="0" spcFirstLastPara="1" rIns="0" wrap="square" tIns="13325">
            <a:spAutoFit/>
          </a:bodyPr>
          <a:lstStyle/>
          <a:p>
            <a:pPr indent="-1739264" lvl="0" marL="2353945" marR="508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Direct(M) Addressing  Diagram</a:t>
            </a:r>
            <a:endParaRPr sz="4400">
              <a:latin typeface="Arial"/>
              <a:ea typeface="Arial"/>
              <a:cs typeface="Arial"/>
              <a:sym typeface="Arial"/>
            </a:endParaRPr>
          </a:p>
        </p:txBody>
      </p:sp>
      <p:sp>
        <p:nvSpPr>
          <p:cNvPr id="396" name="Google Shape;396;p51"/>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397" name="Google Shape;397;p51"/>
          <p:cNvPicPr preferRelativeResize="0"/>
          <p:nvPr/>
        </p:nvPicPr>
        <p:blipFill rotWithShape="1">
          <a:blip r:embed="rId3">
            <a:alphaModFix/>
          </a:blip>
          <a:srcRect b="0" l="0" r="0" t="0"/>
          <a:stretch/>
        </p:blipFill>
        <p:spPr>
          <a:xfrm>
            <a:off x="2051050" y="1700276"/>
            <a:ext cx="4808601" cy="48243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1" name="Shape 401"/>
        <p:cNvGrpSpPr/>
        <p:nvPr/>
      </p:nvGrpSpPr>
      <p:grpSpPr>
        <a:xfrm>
          <a:off x="0" y="0"/>
          <a:ext cx="0" cy="0"/>
          <a:chOff x="0" y="0"/>
          <a:chExt cx="0" cy="0"/>
        </a:xfrm>
      </p:grpSpPr>
      <p:sp>
        <p:nvSpPr>
          <p:cNvPr id="402" name="Google Shape;402;p52"/>
          <p:cNvSpPr txBox="1"/>
          <p:nvPr>
            <p:ph type="title"/>
          </p:nvPr>
        </p:nvSpPr>
        <p:spPr>
          <a:xfrm>
            <a:off x="2106548" y="487502"/>
            <a:ext cx="493077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Direct Addressing</a:t>
            </a:r>
            <a:endParaRPr sz="4400">
              <a:latin typeface="Arial"/>
              <a:ea typeface="Arial"/>
              <a:cs typeface="Arial"/>
              <a:sym typeface="Arial"/>
            </a:endParaRPr>
          </a:p>
        </p:txBody>
      </p:sp>
      <p:sp>
        <p:nvSpPr>
          <p:cNvPr id="403" name="Google Shape;403;p52"/>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04" name="Google Shape;404;p52"/>
          <p:cNvSpPr txBox="1"/>
          <p:nvPr/>
        </p:nvSpPr>
        <p:spPr>
          <a:xfrm>
            <a:off x="535940" y="1740230"/>
            <a:ext cx="7279500" cy="3790200"/>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Address field contains address of operand</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2014"/>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EFFECTIVE ADDRESS EA = address field (A)</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Gill Sans"/>
              <a:buNone/>
            </a:pPr>
            <a:r>
              <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300"/>
              <a:buFont typeface="Gill Sans"/>
              <a:buNone/>
            </a:pPr>
            <a:r>
              <a:t/>
            </a:r>
            <a:endParaRPr sz="2300">
              <a:solidFill>
                <a:schemeClr val="dk1"/>
              </a:solidFill>
              <a:latin typeface="Times New Roman"/>
              <a:ea typeface="Times New Roman"/>
              <a:cs typeface="Times New Roman"/>
              <a:sym typeface="Times New Roman"/>
            </a:endParaRPr>
          </a:p>
          <a:p>
            <a:pPr indent="0" lvl="0" marL="4699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Look in memory at address value for operand</a:t>
            </a:r>
            <a:endParaRPr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914"/>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Single memory reference to access data</a:t>
            </a:r>
            <a:endParaRPr sz="2400">
              <a:solidFill>
                <a:srgbClr val="FF0000"/>
              </a:solidFill>
              <a:latin typeface="Times New Roman"/>
              <a:ea typeface="Times New Roman"/>
              <a:cs typeface="Times New Roman"/>
              <a:sym typeface="Times New Roman"/>
            </a:endParaRPr>
          </a:p>
          <a:p>
            <a:pPr indent="-343535" lvl="0" marL="355600" marR="5080" rtl="0" algn="just">
              <a:lnSpc>
                <a:spcPct val="150000"/>
              </a:lnSpc>
              <a:spcBef>
                <a:spcPts val="580"/>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No additional calculations to work out effective  address</a:t>
            </a:r>
            <a:endParaRPr sz="2400">
              <a:solidFill>
                <a:schemeClr val="dk1"/>
              </a:solidFill>
              <a:latin typeface="Times New Roman"/>
              <a:ea typeface="Times New Roman"/>
              <a:cs typeface="Times New Roman"/>
              <a:sym typeface="Times New Roman"/>
            </a:endParaRPr>
          </a:p>
          <a:p>
            <a:pPr indent="-343535" lvl="0" marL="355600" marR="5080" rtl="0" algn="just">
              <a:lnSpc>
                <a:spcPct val="150000"/>
              </a:lnSpc>
              <a:spcBef>
                <a:spcPts val="580"/>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Limited address space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8" name="Shape 408"/>
        <p:cNvGrpSpPr/>
        <p:nvPr/>
      </p:nvGrpSpPr>
      <p:grpSpPr>
        <a:xfrm>
          <a:off x="0" y="0"/>
          <a:ext cx="0" cy="0"/>
          <a:chOff x="0" y="0"/>
          <a:chExt cx="0" cy="0"/>
        </a:xfrm>
      </p:grpSpPr>
      <p:sp>
        <p:nvSpPr>
          <p:cNvPr id="409" name="Google Shape;409;p54"/>
          <p:cNvSpPr txBox="1"/>
          <p:nvPr/>
        </p:nvSpPr>
        <p:spPr>
          <a:xfrm>
            <a:off x="1549645" y="1607650"/>
            <a:ext cx="7064100" cy="1928400"/>
          </a:xfrm>
          <a:prstGeom prst="rect">
            <a:avLst/>
          </a:prstGeom>
          <a:noFill/>
          <a:ln>
            <a:noFill/>
          </a:ln>
        </p:spPr>
        <p:txBody>
          <a:bodyPr anchorCtr="0" anchor="t" bIns="0" lIns="0" spcFirstLastPara="1" rIns="0" wrap="square" tIns="13325">
            <a:spAutoFit/>
          </a:bodyPr>
          <a:lstStyle/>
          <a:p>
            <a:pPr indent="-216535" lvl="0" marL="320040" marR="5080" rtl="0" algn="l">
              <a:lnSpc>
                <a:spcPct val="288750"/>
              </a:lnSpc>
              <a:spcBef>
                <a:spcPts val="0"/>
              </a:spcBef>
              <a:spcAft>
                <a:spcPts val="0"/>
              </a:spcAft>
              <a:buNone/>
            </a:pPr>
            <a:r>
              <a:rPr lang="en-US" sz="3200">
                <a:solidFill>
                  <a:schemeClr val="dk1"/>
                </a:solidFill>
                <a:latin typeface="Calibri"/>
                <a:ea typeface="Calibri"/>
                <a:cs typeface="Calibri"/>
                <a:sym typeface="Calibri"/>
              </a:rPr>
              <a:t>MOV AX, [0500]   -&gt; AX = [0500]</a:t>
            </a:r>
            <a:endParaRPr sz="3200">
              <a:solidFill>
                <a:schemeClr val="dk1"/>
              </a:solidFill>
              <a:latin typeface="Calibri"/>
              <a:ea typeface="Calibri"/>
              <a:cs typeface="Calibri"/>
              <a:sym typeface="Calibri"/>
            </a:endParaRPr>
          </a:p>
          <a:p>
            <a:pPr indent="-216535" lvl="0" marL="320040" marR="5080" rtl="0" algn="l">
              <a:lnSpc>
                <a:spcPct val="288750"/>
              </a:lnSpc>
              <a:spcBef>
                <a:spcPts val="0"/>
              </a:spcBef>
              <a:spcAft>
                <a:spcPts val="0"/>
              </a:spcAft>
              <a:buNone/>
            </a:pPr>
            <a:r>
              <a:rPr lang="en-US" sz="3200">
                <a:solidFill>
                  <a:schemeClr val="dk1"/>
                </a:solidFill>
                <a:latin typeface="Calibri"/>
                <a:ea typeface="Calibri"/>
                <a:cs typeface="Calibri"/>
                <a:sym typeface="Calibri"/>
              </a:rPr>
              <a:t>ADD AL,[0301]    -&gt; AL = AL + [0301] </a:t>
            </a:r>
            <a:endParaRPr sz="3200">
              <a:solidFill>
                <a:schemeClr val="dk1"/>
              </a:solidFill>
              <a:latin typeface="Calibri"/>
              <a:ea typeface="Calibri"/>
              <a:cs typeface="Calibri"/>
              <a:sym typeface="Calibri"/>
            </a:endParaRPr>
          </a:p>
        </p:txBody>
      </p:sp>
      <p:pic>
        <p:nvPicPr>
          <p:cNvPr id="410" name="Google Shape;410;p54"/>
          <p:cNvPicPr preferRelativeResize="0"/>
          <p:nvPr/>
        </p:nvPicPr>
        <p:blipFill rotWithShape="1">
          <a:blip r:embed="rId3">
            <a:alphaModFix/>
          </a:blip>
          <a:srcRect b="0" l="0" r="0" t="0"/>
          <a:stretch/>
        </p:blipFill>
        <p:spPr>
          <a:xfrm>
            <a:off x="7938" y="4652962"/>
            <a:ext cx="8464550" cy="1223962"/>
          </a:xfrm>
          <a:prstGeom prst="rect">
            <a:avLst/>
          </a:prstGeom>
          <a:noFill/>
          <a:ln>
            <a:noFill/>
          </a:ln>
        </p:spPr>
      </p:pic>
      <p:sp>
        <p:nvSpPr>
          <p:cNvPr id="411" name="Google Shape;411;p5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5" name="Shape 415"/>
        <p:cNvGrpSpPr/>
        <p:nvPr/>
      </p:nvGrpSpPr>
      <p:grpSpPr>
        <a:xfrm>
          <a:off x="0" y="0"/>
          <a:ext cx="0" cy="0"/>
          <a:chOff x="0" y="0"/>
          <a:chExt cx="0" cy="0"/>
        </a:xfrm>
      </p:grpSpPr>
      <p:sp>
        <p:nvSpPr>
          <p:cNvPr id="416" name="Google Shape;416;p55"/>
          <p:cNvSpPr txBox="1"/>
          <p:nvPr>
            <p:ph type="title"/>
          </p:nvPr>
        </p:nvSpPr>
        <p:spPr>
          <a:xfrm>
            <a:off x="666699" y="487502"/>
            <a:ext cx="78117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Diagram</a:t>
            </a:r>
            <a:endParaRPr sz="4400">
              <a:latin typeface="Arial"/>
              <a:ea typeface="Arial"/>
              <a:cs typeface="Arial"/>
              <a:sym typeface="Arial"/>
            </a:endParaRPr>
          </a:p>
        </p:txBody>
      </p:sp>
      <p:sp>
        <p:nvSpPr>
          <p:cNvPr id="417" name="Google Shape;417;p5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18" name="Google Shape;418;p55"/>
          <p:cNvPicPr preferRelativeResize="0"/>
          <p:nvPr/>
        </p:nvPicPr>
        <p:blipFill rotWithShape="1">
          <a:blip r:embed="rId3">
            <a:alphaModFix/>
          </a:blip>
          <a:srcRect b="0" l="0" r="0" t="0"/>
          <a:stretch/>
        </p:blipFill>
        <p:spPr>
          <a:xfrm>
            <a:off x="1763776" y="1628838"/>
            <a:ext cx="4808474" cy="48243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2" name="Shape 422"/>
        <p:cNvGrpSpPr/>
        <p:nvPr/>
      </p:nvGrpSpPr>
      <p:grpSpPr>
        <a:xfrm>
          <a:off x="0" y="0"/>
          <a:ext cx="0" cy="0"/>
          <a:chOff x="0" y="0"/>
          <a:chExt cx="0" cy="0"/>
        </a:xfrm>
      </p:grpSpPr>
      <p:sp>
        <p:nvSpPr>
          <p:cNvPr id="423" name="Google Shape;423;p56"/>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24" name="Google Shape;424;p56"/>
          <p:cNvSpPr txBox="1"/>
          <p:nvPr/>
        </p:nvSpPr>
        <p:spPr>
          <a:xfrm>
            <a:off x="535940" y="1877390"/>
            <a:ext cx="8071484" cy="39179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mode address field of instruction contains the address</a:t>
            </a:r>
            <a:endParaRPr sz="2400">
              <a:solidFill>
                <a:schemeClr val="dk1"/>
              </a:solidFill>
              <a:latin typeface="Calibri"/>
              <a:ea typeface="Calibri"/>
              <a:cs typeface="Calibri"/>
              <a:sym typeface="Calibri"/>
            </a:endParaRPr>
          </a:p>
        </p:txBody>
      </p:sp>
      <p:sp>
        <p:nvSpPr>
          <p:cNvPr id="425" name="Google Shape;425;p56"/>
          <p:cNvSpPr txBox="1"/>
          <p:nvPr/>
        </p:nvSpPr>
        <p:spPr>
          <a:xfrm>
            <a:off x="535940" y="2609215"/>
            <a:ext cx="2861945" cy="1927860"/>
          </a:xfrm>
          <a:prstGeom prst="rect">
            <a:avLst/>
          </a:prstGeom>
          <a:noFill/>
          <a:ln>
            <a:noFill/>
          </a:ln>
        </p:spPr>
        <p:txBody>
          <a:bodyPr anchorCtr="0" anchor="t" bIns="0" lIns="0" spcFirstLastPara="1" rIns="0" wrap="square" tIns="12700">
            <a:spAutoFit/>
          </a:bodyPr>
          <a:lstStyle/>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of effective address.</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Here	two</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1st	reference</a:t>
            </a:r>
            <a:endParaRPr sz="2400">
              <a:solidFill>
                <a:schemeClr val="dk1"/>
              </a:solidFill>
              <a:latin typeface="Calibri"/>
              <a:ea typeface="Calibri"/>
              <a:cs typeface="Calibri"/>
              <a:sym typeface="Calibri"/>
            </a:endParaRPr>
          </a:p>
        </p:txBody>
      </p:sp>
      <p:sp>
        <p:nvSpPr>
          <p:cNvPr id="426" name="Google Shape;426;p56"/>
          <p:cNvSpPr txBox="1"/>
          <p:nvPr/>
        </p:nvSpPr>
        <p:spPr>
          <a:xfrm>
            <a:off x="3793363" y="3413836"/>
            <a:ext cx="1384300" cy="1123315"/>
          </a:xfrm>
          <a:prstGeom prst="rect">
            <a:avLst/>
          </a:prstGeom>
          <a:noFill/>
          <a:ln>
            <a:noFill/>
          </a:ln>
        </p:spPr>
        <p:txBody>
          <a:bodyPr anchorCtr="0" anchor="t" bIns="0" lIns="0" spcFirstLastPara="1" rIns="0" wrap="square" tIns="12700">
            <a:spAutoFit/>
          </a:bodyPr>
          <a:lstStyle/>
          <a:p>
            <a:pPr indent="0" lvl="0" marL="65405" marR="0" rtl="0" algn="l">
              <a:lnSpc>
                <a:spcPct val="100000"/>
              </a:lnSpc>
              <a:spcBef>
                <a:spcPts val="0"/>
              </a:spcBef>
              <a:spcAft>
                <a:spcPts val="0"/>
              </a:spcAft>
              <a:buNone/>
            </a:pPr>
            <a:r>
              <a:rPr lang="en-US" sz="2400">
                <a:solidFill>
                  <a:schemeClr val="dk1"/>
                </a:solidFill>
                <a:latin typeface="Calibri"/>
                <a:ea typeface="Calibri"/>
                <a:cs typeface="Calibri"/>
                <a:sym typeface="Calibri"/>
              </a:rPr>
              <a:t>references</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to	get</a:t>
            </a:r>
            <a:endParaRPr sz="2400">
              <a:solidFill>
                <a:schemeClr val="dk1"/>
              </a:solidFill>
              <a:latin typeface="Calibri"/>
              <a:ea typeface="Calibri"/>
              <a:cs typeface="Calibri"/>
              <a:sym typeface="Calibri"/>
            </a:endParaRPr>
          </a:p>
        </p:txBody>
      </p:sp>
      <p:sp>
        <p:nvSpPr>
          <p:cNvPr id="427" name="Google Shape;427;p56"/>
          <p:cNvSpPr txBox="1"/>
          <p:nvPr/>
        </p:nvSpPr>
        <p:spPr>
          <a:xfrm>
            <a:off x="6099809" y="3413836"/>
            <a:ext cx="42545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are</a:t>
            </a:r>
            <a:endParaRPr sz="2400">
              <a:solidFill>
                <a:schemeClr val="dk1"/>
              </a:solidFill>
              <a:latin typeface="Calibri"/>
              <a:ea typeface="Calibri"/>
              <a:cs typeface="Calibri"/>
              <a:sym typeface="Calibri"/>
            </a:endParaRPr>
          </a:p>
        </p:txBody>
      </p:sp>
      <p:sp>
        <p:nvSpPr>
          <p:cNvPr id="428" name="Google Shape;428;p56"/>
          <p:cNvSpPr txBox="1"/>
          <p:nvPr/>
        </p:nvSpPr>
        <p:spPr>
          <a:xfrm>
            <a:off x="7447280" y="3413836"/>
            <a:ext cx="116205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required.</a:t>
            </a:r>
            <a:endParaRPr sz="2400">
              <a:solidFill>
                <a:schemeClr val="dk1"/>
              </a:solidFill>
              <a:latin typeface="Calibri"/>
              <a:ea typeface="Calibri"/>
              <a:cs typeface="Calibri"/>
              <a:sym typeface="Calibri"/>
            </a:endParaRPr>
          </a:p>
        </p:txBody>
      </p:sp>
      <p:sp>
        <p:nvSpPr>
          <p:cNvPr id="429" name="Google Shape;429;p56"/>
          <p:cNvSpPr txBox="1"/>
          <p:nvPr/>
        </p:nvSpPr>
        <p:spPr>
          <a:xfrm>
            <a:off x="5801105" y="4145660"/>
            <a:ext cx="108966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effective</a:t>
            </a:r>
            <a:endParaRPr sz="2400">
              <a:solidFill>
                <a:schemeClr val="dk1"/>
              </a:solidFill>
              <a:latin typeface="Calibri"/>
              <a:ea typeface="Calibri"/>
              <a:cs typeface="Calibri"/>
              <a:sym typeface="Calibri"/>
            </a:endParaRPr>
          </a:p>
        </p:txBody>
      </p:sp>
      <p:sp>
        <p:nvSpPr>
          <p:cNvPr id="430" name="Google Shape;430;p56"/>
          <p:cNvSpPr txBox="1"/>
          <p:nvPr/>
        </p:nvSpPr>
        <p:spPr>
          <a:xfrm>
            <a:off x="7544816" y="4145660"/>
            <a:ext cx="10629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address.</a:t>
            </a:r>
            <a:endParaRPr sz="2400">
              <a:solidFill>
                <a:schemeClr val="dk1"/>
              </a:solidFill>
              <a:latin typeface="Calibri"/>
              <a:ea typeface="Calibri"/>
              <a:cs typeface="Calibri"/>
              <a:sym typeface="Calibri"/>
            </a:endParaRPr>
          </a:p>
        </p:txBody>
      </p:sp>
      <p:sp>
        <p:nvSpPr>
          <p:cNvPr id="431" name="Google Shape;431;p56"/>
          <p:cNvSpPr txBox="1"/>
          <p:nvPr/>
        </p:nvSpPr>
        <p:spPr>
          <a:xfrm>
            <a:off x="535940" y="4877561"/>
            <a:ext cx="4465320" cy="1196340"/>
          </a:xfrm>
          <a:prstGeom prst="rect">
            <a:avLst/>
          </a:prstGeom>
          <a:noFill/>
          <a:ln>
            <a:noFill/>
          </a:ln>
        </p:spPr>
        <p:txBody>
          <a:bodyPr anchorCtr="0" anchor="t" bIns="0" lIns="0" spcFirstLastPara="1" rIns="0" wrap="square" tIns="12700">
            <a:spAutoFit/>
          </a:bodyPr>
          <a:lstStyle/>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2nd reference to access the data.</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i="1"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5" name="Shape 435"/>
        <p:cNvGrpSpPr/>
        <p:nvPr/>
      </p:nvGrpSpPr>
      <p:grpSpPr>
        <a:xfrm>
          <a:off x="0" y="0"/>
          <a:ext cx="0" cy="0"/>
          <a:chOff x="0" y="0"/>
          <a:chExt cx="0" cy="0"/>
        </a:xfrm>
      </p:grpSpPr>
      <p:sp>
        <p:nvSpPr>
          <p:cNvPr id="436" name="Google Shape;436;p57"/>
          <p:cNvSpPr txBox="1"/>
          <p:nvPr>
            <p:ph type="title"/>
          </p:nvPr>
        </p:nvSpPr>
        <p:spPr>
          <a:xfrm>
            <a:off x="1203452" y="487502"/>
            <a:ext cx="673798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(1/2)</a:t>
            </a:r>
            <a:endParaRPr sz="4400">
              <a:latin typeface="Arial"/>
              <a:ea typeface="Arial"/>
              <a:cs typeface="Arial"/>
              <a:sym typeface="Arial"/>
            </a:endParaRPr>
          </a:p>
        </p:txBody>
      </p:sp>
      <p:sp>
        <p:nvSpPr>
          <p:cNvPr id="437" name="Google Shape;437;p57"/>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38" name="Google Shape;438;p57"/>
          <p:cNvSpPr txBox="1"/>
          <p:nvPr/>
        </p:nvSpPr>
        <p:spPr>
          <a:xfrm>
            <a:off x="535025" y="1876425"/>
            <a:ext cx="7895700" cy="388710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Memory cell pointed to by address field contains the address</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350"/>
              <a:buFont typeface="Gill Sans"/>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of the operand</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 = (A)</a:t>
            </a:r>
            <a:endParaRPr sz="24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450"/>
              <a:buFont typeface="Gill Sans"/>
              <a:buNone/>
            </a:pPr>
            <a:r>
              <a:t/>
            </a:r>
            <a:endParaRPr sz="2450">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Look in A, find address A and look there for operand</a:t>
            </a:r>
            <a:endParaRPr b="0" i="0" sz="2000" u="none" cap="none" strike="noStrike">
              <a:solidFill>
                <a:schemeClr val="dk1"/>
              </a:solidFill>
              <a:latin typeface="Calibri"/>
              <a:ea typeface="Calibri"/>
              <a:cs typeface="Calibri"/>
              <a:sym typeface="Calibri"/>
            </a:endParaRPr>
          </a:p>
          <a:p>
            <a:pPr indent="0" lvl="1" marL="457200" marR="0" rtl="0" algn="l">
              <a:lnSpc>
                <a:spcPct val="100000"/>
              </a:lnSpc>
              <a:spcBef>
                <a:spcPts val="50"/>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e.g. ADD AX, (A)</a:t>
            </a:r>
            <a:endParaRPr sz="18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50"/>
              <a:buFont typeface="Gill Sans"/>
              <a:buNone/>
            </a:pPr>
            <a:r>
              <a:t/>
            </a:r>
            <a:endParaRPr sz="2250">
              <a:solidFill>
                <a:schemeClr val="dk1"/>
              </a:solidFill>
              <a:latin typeface="Calibri"/>
              <a:ea typeface="Calibri"/>
              <a:cs typeface="Calibri"/>
              <a:sym typeface="Calibri"/>
            </a:endParaRPr>
          </a:p>
          <a:p>
            <a:pPr indent="-287019" lvl="1" marL="756285" marR="0" rtl="0" algn="l">
              <a:lnSpc>
                <a:spcPct val="100000"/>
              </a:lnSpc>
              <a:spcBef>
                <a:spcPts val="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Add contents of cell pointed to by contents of A to accumulator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2" name="Shape 442"/>
        <p:cNvGrpSpPr/>
        <p:nvPr/>
      </p:nvGrpSpPr>
      <p:grpSpPr>
        <a:xfrm>
          <a:off x="0" y="0"/>
          <a:ext cx="0" cy="0"/>
          <a:chOff x="0" y="0"/>
          <a:chExt cx="0" cy="0"/>
        </a:xfrm>
      </p:grpSpPr>
      <p:sp>
        <p:nvSpPr>
          <p:cNvPr id="443" name="Google Shape;443;p58"/>
          <p:cNvSpPr txBox="1"/>
          <p:nvPr>
            <p:ph type="title"/>
          </p:nvPr>
        </p:nvSpPr>
        <p:spPr>
          <a:xfrm>
            <a:off x="1203452" y="487502"/>
            <a:ext cx="673798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(2/2)</a:t>
            </a:r>
            <a:endParaRPr sz="4400">
              <a:latin typeface="Arial"/>
              <a:ea typeface="Arial"/>
              <a:cs typeface="Arial"/>
              <a:sym typeface="Arial"/>
            </a:endParaRPr>
          </a:p>
        </p:txBody>
      </p:sp>
      <p:sp>
        <p:nvSpPr>
          <p:cNvPr id="444" name="Google Shape;444;p58"/>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45" name="Google Shape;445;p58"/>
          <p:cNvSpPr txBox="1"/>
          <p:nvPr/>
        </p:nvSpPr>
        <p:spPr>
          <a:xfrm>
            <a:off x="471525" y="1739010"/>
            <a:ext cx="5735320" cy="3863975"/>
          </a:xfrm>
          <a:prstGeom prst="rect">
            <a:avLst/>
          </a:prstGeom>
          <a:noFill/>
          <a:ln>
            <a:noFill/>
          </a:ln>
        </p:spPr>
        <p:txBody>
          <a:bodyPr anchorCtr="0" anchor="t" bIns="0" lIns="0" spcFirstLastPara="1" rIns="0" wrap="square" tIns="12700">
            <a:spAutoFit/>
          </a:bodyPr>
          <a:lstStyle/>
          <a:p>
            <a:pPr indent="-342900" lvl="0" marL="4191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Large address space</a:t>
            </a:r>
            <a:endParaRPr sz="2400">
              <a:solidFill>
                <a:schemeClr val="dk1"/>
              </a:solidFill>
              <a:latin typeface="Calibri"/>
              <a:ea typeface="Calibri"/>
              <a:cs typeface="Calibri"/>
              <a:sym typeface="Calibri"/>
            </a:endParaRPr>
          </a:p>
          <a:p>
            <a:pPr indent="-342900" lvl="0" marL="4191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2</a:t>
            </a:r>
            <a:r>
              <a:rPr baseline="30000" lang="en-US" sz="2400">
                <a:solidFill>
                  <a:schemeClr val="dk1"/>
                </a:solidFill>
                <a:latin typeface="Calibri"/>
                <a:ea typeface="Calibri"/>
                <a:cs typeface="Calibri"/>
                <a:sym typeface="Calibri"/>
              </a:rPr>
              <a:t>n </a:t>
            </a:r>
            <a:r>
              <a:rPr lang="en-US" sz="2400">
                <a:solidFill>
                  <a:schemeClr val="dk1"/>
                </a:solidFill>
                <a:latin typeface="Calibri"/>
                <a:ea typeface="Calibri"/>
                <a:cs typeface="Calibri"/>
                <a:sym typeface="Calibri"/>
              </a:rPr>
              <a:t>where n = word length</a:t>
            </a:r>
            <a:endParaRPr sz="2400">
              <a:solidFill>
                <a:schemeClr val="dk1"/>
              </a:solidFill>
              <a:latin typeface="Calibri"/>
              <a:ea typeface="Calibri"/>
              <a:cs typeface="Calibri"/>
              <a:sym typeface="Calibri"/>
            </a:endParaRPr>
          </a:p>
          <a:p>
            <a:pPr indent="-342900" lvl="0" marL="4191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May be nested, multilevel, cascaded</a:t>
            </a:r>
            <a:endParaRPr sz="2400">
              <a:solidFill>
                <a:schemeClr val="dk1"/>
              </a:solidFill>
              <a:latin typeface="Calibri"/>
              <a:ea typeface="Calibri"/>
              <a:cs typeface="Calibri"/>
              <a:sym typeface="Calibri"/>
            </a:endParaRPr>
          </a:p>
          <a:p>
            <a:pPr indent="0" lvl="0" marL="533400" marR="0" rtl="0" algn="l">
              <a:lnSpc>
                <a:spcPct val="100000"/>
              </a:lnSpc>
              <a:spcBef>
                <a:spcPts val="1780"/>
              </a:spcBef>
              <a:spcAft>
                <a:spcPts val="0"/>
              </a:spcAft>
              <a:buNone/>
            </a:pPr>
            <a:r>
              <a:rPr lang="en-US" sz="2000">
                <a:solidFill>
                  <a:schemeClr val="dk1"/>
                </a:solidFill>
                <a:latin typeface="Arial"/>
                <a:ea typeface="Arial"/>
                <a:cs typeface="Arial"/>
                <a:sym typeface="Arial"/>
              </a:rPr>
              <a:t>–	</a:t>
            </a:r>
            <a:r>
              <a:rPr lang="en-US" sz="2000">
                <a:solidFill>
                  <a:schemeClr val="dk1"/>
                </a:solidFill>
                <a:latin typeface="Calibri"/>
                <a:ea typeface="Calibri"/>
                <a:cs typeface="Calibri"/>
                <a:sym typeface="Calibri"/>
              </a:rPr>
              <a:t>e.g. EA = (((A)))</a:t>
            </a:r>
            <a:endParaRPr sz="2000">
              <a:solidFill>
                <a:schemeClr val="dk1"/>
              </a:solidFill>
              <a:latin typeface="Calibri"/>
              <a:ea typeface="Calibri"/>
              <a:cs typeface="Calibri"/>
              <a:sym typeface="Calibri"/>
            </a:endParaRPr>
          </a:p>
          <a:p>
            <a:pPr indent="-229235" lvl="1" marL="1219200" marR="0" rtl="0" algn="l">
              <a:lnSpc>
                <a:spcPct val="100000"/>
              </a:lnSpc>
              <a:spcBef>
                <a:spcPts val="157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Draw the diagram yourself</a:t>
            </a:r>
            <a:endParaRPr b="0" i="0" sz="1800" u="none" cap="none" strike="noStrike">
              <a:solidFill>
                <a:schemeClr val="dk1"/>
              </a:solidFill>
              <a:latin typeface="Calibri"/>
              <a:ea typeface="Calibri"/>
              <a:cs typeface="Calibri"/>
              <a:sym typeface="Calibri"/>
            </a:endParaRPr>
          </a:p>
          <a:p>
            <a:pPr indent="-342900" lvl="0" marL="419100" marR="0" rtl="0" algn="l">
              <a:lnSpc>
                <a:spcPct val="100000"/>
              </a:lnSpc>
              <a:spcBef>
                <a:spcPts val="186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Multiple memory accesses to find operand</a:t>
            </a:r>
            <a:endParaRPr sz="2400">
              <a:solidFill>
                <a:schemeClr val="dk1"/>
              </a:solidFill>
              <a:latin typeface="Calibri"/>
              <a:ea typeface="Calibri"/>
              <a:cs typeface="Calibri"/>
              <a:sym typeface="Calibri"/>
            </a:endParaRPr>
          </a:p>
          <a:p>
            <a:pPr indent="-342900" lvl="0" marL="4191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Hence slower</a:t>
            </a:r>
            <a:endParaRPr sz="24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9" name="Shape 449"/>
        <p:cNvGrpSpPr/>
        <p:nvPr/>
      </p:nvGrpSpPr>
      <p:grpSpPr>
        <a:xfrm>
          <a:off x="0" y="0"/>
          <a:ext cx="0" cy="0"/>
          <a:chOff x="0" y="0"/>
          <a:chExt cx="0" cy="0"/>
        </a:xfrm>
      </p:grpSpPr>
      <p:sp>
        <p:nvSpPr>
          <p:cNvPr id="450" name="Google Shape;450;p59"/>
          <p:cNvSpPr txBox="1"/>
          <p:nvPr/>
        </p:nvSpPr>
        <p:spPr>
          <a:xfrm>
            <a:off x="535051" y="330900"/>
            <a:ext cx="8073900" cy="9063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900">
                <a:solidFill>
                  <a:schemeClr val="dk1"/>
                </a:solidFill>
                <a:latin typeface="Calibri"/>
                <a:ea typeface="Calibri"/>
                <a:cs typeface="Calibri"/>
                <a:sym typeface="Calibri"/>
              </a:rPr>
              <a:t>Based on the availability of Effective address, Indirect mode is of two kind:</a:t>
            </a:r>
            <a:endParaRPr sz="2900">
              <a:solidFill>
                <a:schemeClr val="dk1"/>
              </a:solidFill>
              <a:latin typeface="Calibri"/>
              <a:ea typeface="Calibri"/>
              <a:cs typeface="Calibri"/>
              <a:sym typeface="Calibri"/>
            </a:endParaRPr>
          </a:p>
        </p:txBody>
      </p:sp>
      <p:sp>
        <p:nvSpPr>
          <p:cNvPr id="451" name="Google Shape;451;p59"/>
          <p:cNvSpPr txBox="1"/>
          <p:nvPr/>
        </p:nvSpPr>
        <p:spPr>
          <a:xfrm>
            <a:off x="535940" y="1958162"/>
            <a:ext cx="8073900" cy="351600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u="sng">
                <a:solidFill>
                  <a:schemeClr val="dk1"/>
                </a:solidFill>
                <a:latin typeface="Calibri"/>
                <a:ea typeface="Calibri"/>
                <a:cs typeface="Calibri"/>
                <a:sym typeface="Calibri"/>
              </a:rPr>
              <a:t>REGISTER	INDIRECT</a:t>
            </a:r>
            <a:r>
              <a:rPr lang="en-US" sz="3200">
                <a:solidFill>
                  <a:schemeClr val="dk1"/>
                </a:solidFill>
                <a:latin typeface="Calibri"/>
                <a:ea typeface="Calibri"/>
                <a:cs typeface="Calibri"/>
                <a:sym typeface="Calibri"/>
              </a:rPr>
              <a:t>:	In	this	mode	effective address is in the register, and corresponding  register name will be maintained in the  address field of an instruction.</a:t>
            </a:r>
            <a:endParaRPr sz="32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27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one register reference,one memory reference is required to access the data</a:t>
            </a:r>
            <a:endParaRPr sz="2000">
              <a:solidFill>
                <a:schemeClr val="dk1"/>
              </a:solidFill>
              <a:latin typeface="Calibri"/>
              <a:ea typeface="Calibri"/>
              <a:cs typeface="Calibri"/>
              <a:sym typeface="Calibri"/>
            </a:endParaRPr>
          </a:p>
        </p:txBody>
      </p:sp>
      <p:sp>
        <p:nvSpPr>
          <p:cNvPr id="452" name="Google Shape;452;p59"/>
          <p:cNvSpPr txBox="1"/>
          <p:nvPr/>
        </p:nvSpPr>
        <p:spPr>
          <a:xfrm>
            <a:off x="2062773" y="5607525"/>
            <a:ext cx="26187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i="1" lang="en-US" sz="2000">
                <a:solidFill>
                  <a:schemeClr val="dk1"/>
                </a:solidFill>
                <a:latin typeface="Calibri"/>
                <a:ea typeface="Calibri"/>
                <a:cs typeface="Calibri"/>
                <a:sym typeface="Calibri"/>
              </a:rPr>
              <a:t>MOV AX, (BX)</a:t>
            </a:r>
            <a:endParaRPr i="1"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i="1" lang="en-US" sz="2000">
                <a:solidFill>
                  <a:schemeClr val="dk1"/>
                </a:solidFill>
                <a:latin typeface="Calibri"/>
                <a:ea typeface="Calibri"/>
                <a:cs typeface="Calibri"/>
                <a:sym typeface="Calibri"/>
              </a:rPr>
              <a:t>AX and BX are registers</a:t>
            </a:r>
            <a:endParaRPr i="1" sz="2000">
              <a:solidFill>
                <a:schemeClr val="dk1"/>
              </a:solidFill>
              <a:latin typeface="Calibri"/>
              <a:ea typeface="Calibri"/>
              <a:cs typeface="Calibri"/>
              <a:sym typeface="Calibri"/>
            </a:endParaRPr>
          </a:p>
        </p:txBody>
      </p:sp>
      <p:sp>
        <p:nvSpPr>
          <p:cNvPr id="453" name="Google Shape;453;p59"/>
          <p:cNvSpPr txBox="1"/>
          <p:nvPr/>
        </p:nvSpPr>
        <p:spPr>
          <a:xfrm>
            <a:off x="535940"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44</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7" name="Shape 457"/>
        <p:cNvGrpSpPr/>
        <p:nvPr/>
      </p:nvGrpSpPr>
      <p:grpSpPr>
        <a:xfrm>
          <a:off x="0" y="0"/>
          <a:ext cx="0" cy="0"/>
          <a:chOff x="0" y="0"/>
          <a:chExt cx="0" cy="0"/>
        </a:xfrm>
      </p:grpSpPr>
      <p:sp>
        <p:nvSpPr>
          <p:cNvPr id="458" name="Google Shape;458;p60"/>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59" name="Google Shape;459;p60"/>
          <p:cNvSpPr txBox="1"/>
          <p:nvPr/>
        </p:nvSpPr>
        <p:spPr>
          <a:xfrm>
            <a:off x="723975" y="576770"/>
            <a:ext cx="7823400" cy="3207900"/>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lang="en-US" sz="3200" u="sng">
                <a:solidFill>
                  <a:schemeClr val="dk1"/>
                </a:solidFill>
                <a:latin typeface="Calibri"/>
                <a:ea typeface="Calibri"/>
                <a:cs typeface="Calibri"/>
                <a:sym typeface="Calibri"/>
              </a:rPr>
              <a:t>MEMORY	INDIRECT</a:t>
            </a:r>
            <a:r>
              <a:rPr lang="en-US" sz="3200">
                <a:solidFill>
                  <a:schemeClr val="dk1"/>
                </a:solidFill>
                <a:latin typeface="Calibri"/>
                <a:ea typeface="Calibri"/>
                <a:cs typeface="Calibri"/>
                <a:sym typeface="Calibri"/>
              </a:rPr>
              <a:t>:	In	this	mode	effective address is in the memory, and corresponding  memory address will be maintained in the  address field of an instruction.</a:t>
            </a:r>
            <a:endParaRPr sz="32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27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two memory reference is required to access the data</a:t>
            </a:r>
            <a:endParaRPr sz="2000">
              <a:solidFill>
                <a:schemeClr val="dk1"/>
              </a:solidFill>
              <a:latin typeface="Calibri"/>
              <a:ea typeface="Calibri"/>
              <a:cs typeface="Calibri"/>
              <a:sym typeface="Calibri"/>
            </a:endParaRPr>
          </a:p>
        </p:txBody>
      </p:sp>
      <p:sp>
        <p:nvSpPr>
          <p:cNvPr id="460" name="Google Shape;460;p60"/>
          <p:cNvSpPr txBox="1"/>
          <p:nvPr/>
        </p:nvSpPr>
        <p:spPr>
          <a:xfrm>
            <a:off x="1127350" y="4171800"/>
            <a:ext cx="5683800" cy="8004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i="1" lang="en-US" sz="2000">
                <a:solidFill>
                  <a:schemeClr val="dk1"/>
                </a:solidFill>
                <a:latin typeface="Calibri"/>
                <a:ea typeface="Calibri"/>
                <a:cs typeface="Calibri"/>
                <a:sym typeface="Calibri"/>
              </a:rPr>
              <a:t>MOV AX, (0400)</a:t>
            </a:r>
            <a:endParaRPr i="1" sz="2000">
              <a:solidFill>
                <a:schemeClr val="dk1"/>
              </a:solidFill>
              <a:latin typeface="Calibri"/>
              <a:ea typeface="Calibri"/>
              <a:cs typeface="Calibri"/>
              <a:sym typeface="Calibri"/>
            </a:endParaRPr>
          </a:p>
          <a:p>
            <a:pPr indent="0" lvl="0" marL="12700" rtl="0" algn="l">
              <a:spcBef>
                <a:spcPts val="0"/>
              </a:spcBef>
              <a:spcAft>
                <a:spcPts val="0"/>
              </a:spcAft>
              <a:buNone/>
            </a:pPr>
            <a:r>
              <a:rPr i="1" lang="en-US" sz="2000">
                <a:solidFill>
                  <a:schemeClr val="dk1"/>
                </a:solidFill>
                <a:latin typeface="Calibri"/>
                <a:ea typeface="Calibri"/>
                <a:cs typeface="Calibri"/>
                <a:sym typeface="Calibri"/>
              </a:rPr>
              <a:t>AX is a register and 0400 is a memory location</a:t>
            </a:r>
            <a:endParaRPr i="1" sz="20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4" name="Shape 464"/>
        <p:cNvGrpSpPr/>
        <p:nvPr/>
      </p:nvGrpSpPr>
      <p:grpSpPr>
        <a:xfrm>
          <a:off x="0" y="0"/>
          <a:ext cx="0" cy="0"/>
          <a:chOff x="0" y="0"/>
          <a:chExt cx="0" cy="0"/>
        </a:xfrm>
      </p:grpSpPr>
      <p:sp>
        <p:nvSpPr>
          <p:cNvPr id="465" name="Google Shape;465;p61"/>
          <p:cNvSpPr txBox="1"/>
          <p:nvPr>
            <p:ph type="title"/>
          </p:nvPr>
        </p:nvSpPr>
        <p:spPr>
          <a:xfrm>
            <a:off x="575259" y="487502"/>
            <a:ext cx="79965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Diagram</a:t>
            </a:r>
            <a:endParaRPr sz="4400">
              <a:latin typeface="Arial"/>
              <a:ea typeface="Arial"/>
              <a:cs typeface="Arial"/>
              <a:sym typeface="Arial"/>
            </a:endParaRPr>
          </a:p>
        </p:txBody>
      </p:sp>
      <p:sp>
        <p:nvSpPr>
          <p:cNvPr id="466" name="Google Shape;466;p61"/>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67" name="Google Shape;467;p61"/>
          <p:cNvPicPr preferRelativeResize="0"/>
          <p:nvPr/>
        </p:nvPicPr>
        <p:blipFill rotWithShape="1">
          <a:blip r:embed="rId3">
            <a:alphaModFix/>
          </a:blip>
          <a:srcRect b="0" l="0" r="0" t="0"/>
          <a:stretch/>
        </p:blipFill>
        <p:spPr>
          <a:xfrm>
            <a:off x="2124075" y="1557337"/>
            <a:ext cx="4895850" cy="48799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1" name="Shape 471"/>
        <p:cNvGrpSpPr/>
        <p:nvPr/>
      </p:nvGrpSpPr>
      <p:grpSpPr>
        <a:xfrm>
          <a:off x="0" y="0"/>
          <a:ext cx="0" cy="0"/>
          <a:chOff x="0" y="0"/>
          <a:chExt cx="0" cy="0"/>
        </a:xfrm>
      </p:grpSpPr>
      <p:sp>
        <p:nvSpPr>
          <p:cNvPr id="472" name="Google Shape;472;p62"/>
          <p:cNvSpPr txBox="1"/>
          <p:nvPr/>
        </p:nvSpPr>
        <p:spPr>
          <a:xfrm>
            <a:off x="535940" y="1877390"/>
            <a:ext cx="8072755" cy="261937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register addressing the operand is placed in one of 8 bit or</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350"/>
              <a:buFont typeface="Arial"/>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16 bit general purpose registers.</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data is in the register that is specified by the instruction.</a:t>
            </a:r>
            <a:endParaRPr sz="24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24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one register reference is required to access the data.</a:t>
            </a:r>
            <a:endParaRPr sz="2000">
              <a:solidFill>
                <a:schemeClr val="dk1"/>
              </a:solidFill>
              <a:latin typeface="Calibri"/>
              <a:ea typeface="Calibri"/>
              <a:cs typeface="Calibri"/>
              <a:sym typeface="Calibri"/>
            </a:endParaRPr>
          </a:p>
        </p:txBody>
      </p:sp>
      <p:pic>
        <p:nvPicPr>
          <p:cNvPr id="473" name="Google Shape;473;p62"/>
          <p:cNvPicPr preferRelativeResize="0"/>
          <p:nvPr/>
        </p:nvPicPr>
        <p:blipFill rotWithShape="1">
          <a:blip r:embed="rId3">
            <a:alphaModFix/>
          </a:blip>
          <a:srcRect b="0" l="0" r="0" t="0"/>
          <a:stretch/>
        </p:blipFill>
        <p:spPr>
          <a:xfrm>
            <a:off x="66425" y="5300662"/>
            <a:ext cx="8585449" cy="1014412"/>
          </a:xfrm>
          <a:prstGeom prst="rect">
            <a:avLst/>
          </a:prstGeom>
          <a:noFill/>
          <a:ln>
            <a:noFill/>
          </a:ln>
        </p:spPr>
      </p:pic>
      <p:sp>
        <p:nvSpPr>
          <p:cNvPr id="474" name="Google Shape;474;p62"/>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8" name="Shape 478"/>
        <p:cNvGrpSpPr/>
        <p:nvPr/>
      </p:nvGrpSpPr>
      <p:grpSpPr>
        <a:xfrm>
          <a:off x="0" y="0"/>
          <a:ext cx="0" cy="0"/>
          <a:chOff x="0" y="0"/>
          <a:chExt cx="0" cy="0"/>
        </a:xfrm>
      </p:grpSpPr>
      <p:sp>
        <p:nvSpPr>
          <p:cNvPr id="479" name="Google Shape;479;p63"/>
          <p:cNvSpPr txBox="1"/>
          <p:nvPr>
            <p:ph type="title"/>
          </p:nvPr>
        </p:nvSpPr>
        <p:spPr>
          <a:xfrm>
            <a:off x="1112011" y="487502"/>
            <a:ext cx="692530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(1/2)</a:t>
            </a:r>
            <a:endParaRPr sz="4400">
              <a:latin typeface="Arial"/>
              <a:ea typeface="Arial"/>
              <a:cs typeface="Arial"/>
              <a:sym typeface="Arial"/>
            </a:endParaRPr>
          </a:p>
        </p:txBody>
      </p:sp>
      <p:sp>
        <p:nvSpPr>
          <p:cNvPr id="480" name="Google Shape;480;p63"/>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81" name="Google Shape;481;p63"/>
          <p:cNvSpPr txBox="1"/>
          <p:nvPr/>
        </p:nvSpPr>
        <p:spPr>
          <a:xfrm>
            <a:off x="535025" y="1739010"/>
            <a:ext cx="6495300" cy="489660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Operand is held in register named in address filed</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 = R</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Limited number of registers</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Very small address field needed</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Shorter instructions</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Faster instruction fetch</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MOV AX, BX</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ADD AX, BX</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1680"/>
              </a:spcBef>
              <a:spcAft>
                <a:spcPts val="0"/>
              </a:spcAft>
              <a:buNone/>
            </a:pPr>
            <a:r>
              <a:rPr lang="en-US" sz="2000">
                <a:solidFill>
                  <a:schemeClr val="dk1"/>
                </a:solidFill>
                <a:latin typeface="Calibri"/>
                <a:ea typeface="Calibri"/>
                <a:cs typeface="Calibri"/>
                <a:sym typeface="Calibri"/>
              </a:rPr>
              <a:t>ADD [1234h], AX               MOV AX. CX</a:t>
            </a:r>
            <a:endParaRPr sz="20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5" name="Shape 485"/>
        <p:cNvGrpSpPr/>
        <p:nvPr/>
      </p:nvGrpSpPr>
      <p:grpSpPr>
        <a:xfrm>
          <a:off x="0" y="0"/>
          <a:ext cx="0" cy="0"/>
          <a:chOff x="0" y="0"/>
          <a:chExt cx="0" cy="0"/>
        </a:xfrm>
      </p:grpSpPr>
      <p:sp>
        <p:nvSpPr>
          <p:cNvPr id="486" name="Google Shape;486;p64"/>
          <p:cNvSpPr txBox="1"/>
          <p:nvPr>
            <p:ph type="title"/>
          </p:nvPr>
        </p:nvSpPr>
        <p:spPr>
          <a:xfrm>
            <a:off x="1111402" y="487502"/>
            <a:ext cx="69189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(2/2)</a:t>
            </a:r>
            <a:endParaRPr sz="4400">
              <a:latin typeface="Arial"/>
              <a:ea typeface="Arial"/>
              <a:cs typeface="Arial"/>
              <a:sym typeface="Arial"/>
            </a:endParaRPr>
          </a:p>
        </p:txBody>
      </p:sp>
      <p:sp>
        <p:nvSpPr>
          <p:cNvPr id="487" name="Google Shape;487;p6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88" name="Google Shape;488;p64"/>
          <p:cNvSpPr txBox="1"/>
          <p:nvPr/>
        </p:nvSpPr>
        <p:spPr>
          <a:xfrm>
            <a:off x="598119" y="1740230"/>
            <a:ext cx="6735445" cy="341119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No memory access</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Very fast execution</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Very limited address space</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Multiple registers helps performance</a:t>
            </a:r>
            <a:endParaRPr sz="2400">
              <a:solidFill>
                <a:schemeClr val="dk1"/>
              </a:solidFill>
              <a:latin typeface="Calibri"/>
              <a:ea typeface="Calibri"/>
              <a:cs typeface="Calibri"/>
              <a:sym typeface="Calibri"/>
            </a:endParaRPr>
          </a:p>
          <a:p>
            <a:pPr indent="-287019" lvl="1" marL="756285" marR="0" rtl="0" algn="l">
              <a:lnSpc>
                <a:spcPct val="100000"/>
              </a:lnSpc>
              <a:spcBef>
                <a:spcPts val="178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Requires good assembly programming or compiler writing</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186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Similar to Direct addressing</a:t>
            </a:r>
            <a:endParaRPr sz="24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id="493" name="Google Shape;493;p65"/>
          <p:cNvSpPr txBox="1"/>
          <p:nvPr>
            <p:ph type="title"/>
          </p:nvPr>
        </p:nvSpPr>
        <p:spPr>
          <a:xfrm>
            <a:off x="729183" y="574675"/>
            <a:ext cx="7688580" cy="52832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3300"/>
              <a:buFont typeface="Arial"/>
              <a:buNone/>
            </a:pPr>
            <a:r>
              <a:rPr b="0" lang="en-US" sz="3300">
                <a:latin typeface="Arial"/>
                <a:ea typeface="Arial"/>
                <a:cs typeface="Arial"/>
                <a:sym typeface="Arial"/>
              </a:rPr>
              <a:t>Register Indirect Addressing Diagram</a:t>
            </a:r>
            <a:endParaRPr sz="3300">
              <a:latin typeface="Arial"/>
              <a:ea typeface="Arial"/>
              <a:cs typeface="Arial"/>
              <a:sym typeface="Arial"/>
            </a:endParaRPr>
          </a:p>
        </p:txBody>
      </p:sp>
      <p:sp>
        <p:nvSpPr>
          <p:cNvPr id="494" name="Google Shape;494;p6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95" name="Google Shape;495;p65"/>
          <p:cNvPicPr preferRelativeResize="0"/>
          <p:nvPr/>
        </p:nvPicPr>
        <p:blipFill rotWithShape="1">
          <a:blip r:embed="rId3">
            <a:alphaModFix/>
          </a:blip>
          <a:srcRect b="0" l="0" r="0" t="0"/>
          <a:stretch/>
        </p:blipFill>
        <p:spPr>
          <a:xfrm>
            <a:off x="2051050" y="1773301"/>
            <a:ext cx="4580001" cy="460844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9" name="Shape 499"/>
        <p:cNvGrpSpPr/>
        <p:nvPr/>
      </p:nvGrpSpPr>
      <p:grpSpPr>
        <a:xfrm>
          <a:off x="0" y="0"/>
          <a:ext cx="0" cy="0"/>
          <a:chOff x="0" y="0"/>
          <a:chExt cx="0" cy="0"/>
        </a:xfrm>
      </p:grpSpPr>
      <p:sp>
        <p:nvSpPr>
          <p:cNvPr id="500" name="Google Shape;500;p66"/>
          <p:cNvSpPr txBox="1"/>
          <p:nvPr/>
        </p:nvSpPr>
        <p:spPr>
          <a:xfrm>
            <a:off x="535940" y="1557228"/>
            <a:ext cx="7952740" cy="2825115"/>
          </a:xfrm>
          <a:prstGeom prst="rect">
            <a:avLst/>
          </a:prstGeom>
          <a:noFill/>
          <a:ln>
            <a:noFill/>
          </a:ln>
        </p:spPr>
        <p:txBody>
          <a:bodyPr anchorCtr="0" anchor="t" bIns="0" lIns="0" spcFirstLastPara="1" rIns="0" wrap="square" tIns="195575">
            <a:spAutoFit/>
          </a:bodyPr>
          <a:lstStyle/>
          <a:p>
            <a:pPr indent="-412115" lvl="0" marL="42418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addressing the operand’s offset is placed in any one of</a:t>
            </a:r>
            <a:endParaRPr sz="2400">
              <a:solidFill>
                <a:schemeClr val="dk1"/>
              </a:solidFill>
              <a:latin typeface="Calibri"/>
              <a:ea typeface="Calibri"/>
              <a:cs typeface="Calibri"/>
              <a:sym typeface="Calibri"/>
            </a:endParaRPr>
          </a:p>
          <a:p>
            <a:pPr indent="0" lvl="0" marL="355600" marR="0" rtl="0" algn="l">
              <a:lnSpc>
                <a:spcPct val="100000"/>
              </a:lnSpc>
              <a:spcBef>
                <a:spcPts val="1440"/>
              </a:spcBef>
              <a:spcAft>
                <a:spcPts val="0"/>
              </a:spcAft>
              <a:buNone/>
            </a:pPr>
            <a:r>
              <a:rPr lang="en-US" sz="2400">
                <a:solidFill>
                  <a:schemeClr val="dk1"/>
                </a:solidFill>
                <a:latin typeface="Calibri"/>
                <a:ea typeface="Calibri"/>
                <a:cs typeface="Calibri"/>
                <a:sym typeface="Calibri"/>
              </a:rPr>
              <a:t>the registers </a:t>
            </a:r>
            <a:r>
              <a:rPr b="1" lang="en-US" sz="2400">
                <a:solidFill>
                  <a:schemeClr val="dk1"/>
                </a:solidFill>
                <a:latin typeface="Calibri"/>
                <a:ea typeface="Calibri"/>
                <a:cs typeface="Calibri"/>
                <a:sym typeface="Calibri"/>
              </a:rPr>
              <a:t>BX,BP,SI,DI as specified in the instruction</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343535" lvl="0" marL="355600" marR="140970" rtl="0" algn="l">
              <a:lnSpc>
                <a:spcPct val="150000"/>
              </a:lnSpc>
              <a:spcBef>
                <a:spcPts val="5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effective address of the data is in the base register or an  index register that is specified by the instruction.</a:t>
            </a:r>
            <a:endParaRPr sz="2400">
              <a:solidFill>
                <a:schemeClr val="dk1"/>
              </a:solidFill>
              <a:latin typeface="Calibri"/>
              <a:ea typeface="Calibri"/>
              <a:cs typeface="Calibri"/>
              <a:sym typeface="Calibri"/>
            </a:endParaRPr>
          </a:p>
          <a:p>
            <a:pPr indent="0" lvl="0" marL="469900" marR="0" rtl="0" algn="l">
              <a:lnSpc>
                <a:spcPct val="100000"/>
              </a:lnSpc>
              <a:spcBef>
                <a:spcPts val="178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two register reference is required to access the data.</a:t>
            </a:r>
            <a:endParaRPr sz="2000">
              <a:solidFill>
                <a:schemeClr val="dk1"/>
              </a:solidFill>
              <a:latin typeface="Calibri"/>
              <a:ea typeface="Calibri"/>
              <a:cs typeface="Calibri"/>
              <a:sym typeface="Calibri"/>
            </a:endParaRPr>
          </a:p>
        </p:txBody>
      </p:sp>
      <p:pic>
        <p:nvPicPr>
          <p:cNvPr id="501" name="Google Shape;501;p66"/>
          <p:cNvPicPr preferRelativeResize="0"/>
          <p:nvPr/>
        </p:nvPicPr>
        <p:blipFill rotWithShape="1">
          <a:blip r:embed="rId3">
            <a:alphaModFix/>
          </a:blip>
          <a:srcRect b="0" l="0" r="0" t="0"/>
          <a:stretch/>
        </p:blipFill>
        <p:spPr>
          <a:xfrm>
            <a:off x="28575" y="5373687"/>
            <a:ext cx="9097899" cy="1008062"/>
          </a:xfrm>
          <a:prstGeom prst="rect">
            <a:avLst/>
          </a:prstGeom>
          <a:noFill/>
          <a:ln>
            <a:noFill/>
          </a:ln>
        </p:spPr>
      </p:pic>
      <p:sp>
        <p:nvSpPr>
          <p:cNvPr id="502" name="Google Shape;502;p66"/>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6" name="Shape 506"/>
        <p:cNvGrpSpPr/>
        <p:nvPr/>
      </p:nvGrpSpPr>
      <p:grpSpPr>
        <a:xfrm>
          <a:off x="0" y="0"/>
          <a:ext cx="0" cy="0"/>
          <a:chOff x="0" y="0"/>
          <a:chExt cx="0" cy="0"/>
        </a:xfrm>
      </p:grpSpPr>
      <p:sp>
        <p:nvSpPr>
          <p:cNvPr id="507" name="Google Shape;507;p67"/>
          <p:cNvSpPr txBox="1"/>
          <p:nvPr>
            <p:ph type="title"/>
          </p:nvPr>
        </p:nvSpPr>
        <p:spPr>
          <a:xfrm>
            <a:off x="1552447" y="49225"/>
            <a:ext cx="6038215" cy="54356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3400"/>
              <a:buFont typeface="Arial"/>
              <a:buNone/>
            </a:pPr>
            <a:r>
              <a:rPr b="0" lang="en-US" sz="3400">
                <a:latin typeface="Arial"/>
                <a:ea typeface="Arial"/>
                <a:cs typeface="Arial"/>
                <a:sym typeface="Arial"/>
              </a:rPr>
              <a:t>Register Indirect Addressing</a:t>
            </a:r>
            <a:endParaRPr sz="3400">
              <a:latin typeface="Arial"/>
              <a:ea typeface="Arial"/>
              <a:cs typeface="Arial"/>
              <a:sym typeface="Arial"/>
            </a:endParaRPr>
          </a:p>
        </p:txBody>
      </p:sp>
      <p:sp>
        <p:nvSpPr>
          <p:cNvPr id="508" name="Google Shape;508;p67"/>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09" name="Google Shape;509;p67"/>
          <p:cNvSpPr txBox="1"/>
          <p:nvPr/>
        </p:nvSpPr>
        <p:spPr>
          <a:xfrm>
            <a:off x="458927" y="993470"/>
            <a:ext cx="7973100" cy="5760000"/>
          </a:xfrm>
          <a:prstGeom prst="rect">
            <a:avLst/>
          </a:prstGeom>
          <a:noFill/>
          <a:ln>
            <a:noFill/>
          </a:ln>
        </p:spPr>
        <p:txBody>
          <a:bodyPr anchorCtr="0" anchor="t" bIns="0" lIns="0" spcFirstLastPara="1" rIns="0" wrap="square" tIns="12050">
            <a:spAutoFit/>
          </a:bodyPr>
          <a:lstStyle/>
          <a:p>
            <a:pPr indent="0" lvl="0" marL="63500" marR="0" rtl="0" algn="l">
              <a:lnSpc>
                <a:spcPct val="100000"/>
              </a:lnSpc>
              <a:spcBef>
                <a:spcPts val="0"/>
              </a:spcBef>
              <a:spcAft>
                <a:spcPts val="0"/>
              </a:spcAft>
              <a:buNone/>
            </a:pPr>
            <a:r>
              <a:rPr lang="en-US" sz="2800">
                <a:solidFill>
                  <a:schemeClr val="dk1"/>
                </a:solidFill>
                <a:latin typeface="Calibri"/>
                <a:ea typeface="Calibri"/>
                <a:cs typeface="Calibri"/>
                <a:sym typeface="Calibri"/>
              </a:rPr>
              <a:t>MOV AX, [BX]</a:t>
            </a:r>
            <a:endParaRPr sz="2800">
              <a:solidFill>
                <a:schemeClr val="dk1"/>
              </a:solidFill>
              <a:latin typeface="Calibri"/>
              <a:ea typeface="Calibri"/>
              <a:cs typeface="Calibri"/>
              <a:sym typeface="Calibri"/>
            </a:endParaRPr>
          </a:p>
          <a:p>
            <a:pPr indent="0" lvl="0" marL="63500" marR="17780" rtl="0" algn="l">
              <a:lnSpc>
                <a:spcPct val="150000"/>
              </a:lnSpc>
              <a:spcBef>
                <a:spcPts val="690"/>
              </a:spcBef>
              <a:spcAft>
                <a:spcPts val="0"/>
              </a:spcAft>
              <a:buNone/>
            </a:pPr>
            <a:r>
              <a:rPr lang="en-US" sz="1800">
                <a:solidFill>
                  <a:srgbClr val="FF0000"/>
                </a:solidFill>
                <a:latin typeface="Calibri"/>
                <a:ea typeface="Calibri"/>
                <a:cs typeface="Calibri"/>
                <a:sym typeface="Calibri"/>
              </a:rPr>
              <a:t>(move the contents of memory location s addressed by the register BX to the register  AX)</a:t>
            </a:r>
            <a:endParaRPr sz="1800">
              <a:solidFill>
                <a:schemeClr val="dk1"/>
              </a:solidFill>
              <a:latin typeface="Calibri"/>
              <a:ea typeface="Calibri"/>
              <a:cs typeface="Calibri"/>
              <a:sym typeface="Calibri"/>
            </a:endParaRPr>
          </a:p>
          <a:p>
            <a:pPr indent="0" lvl="0" marL="63500" marR="3756242" rtl="0" algn="l">
              <a:lnSpc>
                <a:spcPct val="150000"/>
              </a:lnSpc>
              <a:spcBef>
                <a:spcPts val="420"/>
              </a:spcBef>
              <a:spcAft>
                <a:spcPts val="0"/>
              </a:spcAft>
              <a:buNone/>
            </a:pPr>
            <a:r>
              <a:rPr lang="en-US" sz="2800">
                <a:solidFill>
                  <a:schemeClr val="dk1"/>
                </a:solidFill>
                <a:latin typeface="Calibri"/>
                <a:ea typeface="Calibri"/>
                <a:cs typeface="Calibri"/>
                <a:sym typeface="Calibri"/>
              </a:rPr>
              <a:t>MOV AX, [DI]  </a:t>
            </a:r>
            <a:endParaRPr sz="2800">
              <a:solidFill>
                <a:schemeClr val="dk1"/>
              </a:solidFill>
              <a:latin typeface="Calibri"/>
              <a:ea typeface="Calibri"/>
              <a:cs typeface="Calibri"/>
              <a:sym typeface="Calibri"/>
            </a:endParaRPr>
          </a:p>
          <a:p>
            <a:pPr indent="0" lvl="0" marL="63500" marR="3756242" rtl="0" algn="l">
              <a:lnSpc>
                <a:spcPct val="150000"/>
              </a:lnSpc>
              <a:spcBef>
                <a:spcPts val="420"/>
              </a:spcBef>
              <a:spcAft>
                <a:spcPts val="0"/>
              </a:spcAft>
              <a:buNone/>
            </a:pPr>
            <a:r>
              <a:rPr lang="en-US" sz="2800">
                <a:solidFill>
                  <a:schemeClr val="dk1"/>
                </a:solidFill>
                <a:latin typeface="Calibri"/>
                <a:ea typeface="Calibri"/>
                <a:cs typeface="Calibri"/>
                <a:sym typeface="Calibri"/>
              </a:rPr>
              <a:t>ADD AL, [BX]	</a:t>
            </a:r>
            <a:endParaRPr sz="2800">
              <a:solidFill>
                <a:schemeClr val="dk1"/>
              </a:solidFill>
              <a:latin typeface="Calibri"/>
              <a:ea typeface="Calibri"/>
              <a:cs typeface="Calibri"/>
              <a:sym typeface="Calibri"/>
            </a:endParaRPr>
          </a:p>
          <a:p>
            <a:pPr indent="0" lvl="0" marL="63500" marR="3756242" rtl="0" algn="l">
              <a:lnSpc>
                <a:spcPct val="150000"/>
              </a:lnSpc>
              <a:spcBef>
                <a:spcPts val="420"/>
              </a:spcBef>
              <a:spcAft>
                <a:spcPts val="0"/>
              </a:spcAft>
              <a:buNone/>
            </a:pPr>
            <a:r>
              <a:rPr lang="en-US" sz="2800">
                <a:solidFill>
                  <a:schemeClr val="dk1"/>
                </a:solidFill>
                <a:latin typeface="Calibri"/>
                <a:ea typeface="Calibri"/>
                <a:cs typeface="Calibri"/>
                <a:sym typeface="Calibri"/>
              </a:rPr>
              <a:t>ADD [BX],</a:t>
            </a:r>
            <a:r>
              <a:rPr lang="en-US" sz="2800">
                <a:solidFill>
                  <a:schemeClr val="dk1"/>
                </a:solidFill>
                <a:latin typeface="Calibri"/>
                <a:ea typeface="Calibri"/>
                <a:cs typeface="Calibri"/>
                <a:sym typeface="Calibri"/>
              </a:rPr>
              <a:t>AX</a:t>
            </a:r>
            <a:endParaRPr sz="2800">
              <a:solidFill>
                <a:schemeClr val="dk1"/>
              </a:solidFill>
              <a:latin typeface="Calibri"/>
              <a:ea typeface="Calibri"/>
              <a:cs typeface="Calibri"/>
              <a:sym typeface="Calibri"/>
            </a:endParaRPr>
          </a:p>
          <a:p>
            <a:pPr indent="0" lvl="0" marL="63500" marR="3756242" rtl="0" algn="l">
              <a:lnSpc>
                <a:spcPct val="150000"/>
              </a:lnSpc>
              <a:spcBef>
                <a:spcPts val="420"/>
              </a:spcBef>
              <a:spcAft>
                <a:spcPts val="0"/>
              </a:spcAft>
              <a:buNone/>
            </a:pPr>
            <a:r>
              <a:rPr lang="en-US" sz="2800">
                <a:solidFill>
                  <a:schemeClr val="dk1"/>
                </a:solidFill>
                <a:latin typeface="Calibri"/>
                <a:ea typeface="Calibri"/>
                <a:cs typeface="Calibri"/>
                <a:sym typeface="Calibri"/>
              </a:rPr>
              <a:t>MOV AX, [SI]</a:t>
            </a:r>
            <a:endParaRPr sz="2800">
              <a:solidFill>
                <a:schemeClr val="dk1"/>
              </a:solidFill>
              <a:latin typeface="Calibri"/>
              <a:ea typeface="Calibri"/>
              <a:cs typeface="Calibri"/>
              <a:sym typeface="Calibri"/>
            </a:endParaRPr>
          </a:p>
          <a:p>
            <a:pPr indent="-342900" lvl="0" marL="406400" marR="0" rtl="0" algn="l">
              <a:lnSpc>
                <a:spcPct val="100000"/>
              </a:lnSpc>
              <a:spcBef>
                <a:spcPts val="18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Operand is in memory cell pointed to by contents of register R</a:t>
            </a:r>
            <a:endParaRPr sz="2000">
              <a:solidFill>
                <a:schemeClr val="dk1"/>
              </a:solidFill>
              <a:latin typeface="Calibri"/>
              <a:ea typeface="Calibri"/>
              <a:cs typeface="Calibri"/>
              <a:sym typeface="Calibri"/>
            </a:endParaRPr>
          </a:p>
          <a:p>
            <a:pPr indent="-342900" lvl="0" marL="406400" marR="0" rtl="0" algn="l">
              <a:lnSpc>
                <a:spcPct val="100000"/>
              </a:lnSpc>
              <a:spcBef>
                <a:spcPts val="16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Large address space (2</a:t>
            </a:r>
            <a:r>
              <a:rPr baseline="30000" lang="en-US" sz="195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342900" lvl="0" marL="406400" marR="0" rtl="0" algn="l">
              <a:lnSpc>
                <a:spcPct val="100000"/>
              </a:lnSpc>
              <a:spcBef>
                <a:spcPts val="16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One fewer memory access than indirect addressing</a:t>
            </a:r>
            <a:endParaRPr sz="20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15" name="Google Shape;515;p68"/>
          <p:cNvSpPr txBox="1"/>
          <p:nvPr>
            <p:ph idx="1" type="body"/>
          </p:nvPr>
        </p:nvSpPr>
        <p:spPr>
          <a:xfrm>
            <a:off x="0" y="1447800"/>
            <a:ext cx="89336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solidFill>
                  <a:srgbClr val="FF0000"/>
                </a:solidFill>
                <a:latin typeface="Times New Roman"/>
                <a:ea typeface="Times New Roman"/>
                <a:cs typeface="Times New Roman"/>
                <a:sym typeface="Times New Roman"/>
              </a:rPr>
              <a:t>the address space limitation (limited range of addresses) of the address field is overcome by having that field refer to a wordlength location containing an address. </a:t>
            </a:r>
            <a:endParaRPr/>
          </a:p>
          <a:p>
            <a:pPr indent="-283464" lvl="0" marL="365760" rtl="0" algn="just">
              <a:lnSpc>
                <a:spcPct val="100000"/>
              </a:lnSpc>
              <a:spcBef>
                <a:spcPts val="600"/>
              </a:spcBef>
              <a:spcAft>
                <a:spcPts val="0"/>
              </a:spcAft>
              <a:buSzPts val="1920"/>
              <a:buChar char="⚫"/>
            </a:pPr>
            <a:r>
              <a:rPr lang="en-US" sz="2400">
                <a:solidFill>
                  <a:srgbClr val="FF0000"/>
                </a:solidFill>
                <a:latin typeface="Times New Roman"/>
                <a:ea typeface="Times New Roman"/>
                <a:cs typeface="Times New Roman"/>
                <a:sym typeface="Times New Roman"/>
              </a:rPr>
              <a:t>In addition, register indirect addressing uses one less memory reference than indirect addressing.</a:t>
            </a:r>
            <a:endParaRPr sz="2400">
              <a:solidFill>
                <a:srgbClr val="FF0000"/>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9" name="Shape 519"/>
        <p:cNvGrpSpPr/>
        <p:nvPr/>
      </p:nvGrpSpPr>
      <p:grpSpPr>
        <a:xfrm>
          <a:off x="0" y="0"/>
          <a:ext cx="0" cy="0"/>
          <a:chOff x="0" y="0"/>
          <a:chExt cx="0" cy="0"/>
        </a:xfrm>
      </p:grpSpPr>
      <p:sp>
        <p:nvSpPr>
          <p:cNvPr id="520" name="Google Shape;520;p69"/>
          <p:cNvSpPr txBox="1"/>
          <p:nvPr>
            <p:ph type="title"/>
          </p:nvPr>
        </p:nvSpPr>
        <p:spPr>
          <a:xfrm>
            <a:off x="1435608" y="274320"/>
            <a:ext cx="7498080" cy="1143000"/>
          </a:xfrm>
          <a:prstGeom prst="rect">
            <a:avLst/>
          </a:prstGeom>
          <a:noFill/>
          <a:ln>
            <a:noFill/>
          </a:ln>
        </p:spPr>
        <p:txBody>
          <a:bodyPr anchorCtr="0" anchor="ctr" bIns="0" lIns="0" spcFirstLastPara="1" rIns="0" wrap="square" tIns="13325">
            <a:spAutoFit/>
          </a:bodyPr>
          <a:lstStyle/>
          <a:p>
            <a:pPr indent="-2341245" lvl="0" marL="2353945" marR="508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Displacement Addressing  Diagram</a:t>
            </a:r>
            <a:endParaRPr sz="4400">
              <a:latin typeface="Arial"/>
              <a:ea typeface="Arial"/>
              <a:cs typeface="Arial"/>
              <a:sym typeface="Arial"/>
            </a:endParaRPr>
          </a:p>
        </p:txBody>
      </p:sp>
      <p:sp>
        <p:nvSpPr>
          <p:cNvPr id="521" name="Google Shape;521;p69"/>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522" name="Google Shape;522;p69"/>
          <p:cNvPicPr preferRelativeResize="0"/>
          <p:nvPr/>
        </p:nvPicPr>
        <p:blipFill rotWithShape="1">
          <a:blip r:embed="rId3">
            <a:alphaModFix/>
          </a:blip>
          <a:srcRect b="0" l="0" r="0" t="0"/>
          <a:stretch/>
        </p:blipFill>
        <p:spPr>
          <a:xfrm>
            <a:off x="2124075" y="1773237"/>
            <a:ext cx="4449826" cy="44640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6" name="Shape 526"/>
        <p:cNvGrpSpPr/>
        <p:nvPr/>
      </p:nvGrpSpPr>
      <p:grpSpPr>
        <a:xfrm>
          <a:off x="0" y="0"/>
          <a:ext cx="0" cy="0"/>
          <a:chOff x="0" y="0"/>
          <a:chExt cx="0" cy="0"/>
        </a:xfrm>
      </p:grpSpPr>
      <p:sp>
        <p:nvSpPr>
          <p:cNvPr id="527" name="Google Shape;527;p70"/>
          <p:cNvSpPr txBox="1"/>
          <p:nvPr>
            <p:ph type="title"/>
          </p:nvPr>
        </p:nvSpPr>
        <p:spPr>
          <a:xfrm>
            <a:off x="1072388" y="487502"/>
            <a:ext cx="700087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Displacement Addressing</a:t>
            </a:r>
            <a:endParaRPr sz="4400">
              <a:latin typeface="Arial"/>
              <a:ea typeface="Arial"/>
              <a:cs typeface="Arial"/>
              <a:sym typeface="Arial"/>
            </a:endParaRPr>
          </a:p>
        </p:txBody>
      </p:sp>
      <p:sp>
        <p:nvSpPr>
          <p:cNvPr id="528" name="Google Shape;528;p70"/>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29" name="Google Shape;529;p70"/>
          <p:cNvSpPr txBox="1"/>
          <p:nvPr/>
        </p:nvSpPr>
        <p:spPr>
          <a:xfrm>
            <a:off x="535024" y="1371600"/>
            <a:ext cx="8075575" cy="523156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Clr>
                <a:schemeClr val="dk1"/>
              </a:buClr>
              <a:buSzPts val="1750"/>
              <a:buFont typeface="Gill Sans"/>
              <a:buNone/>
            </a:pPr>
            <a:r>
              <a:t/>
            </a:r>
            <a:endParaRPr sz="175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Combination of  direct and register indirect</a:t>
            </a:r>
            <a:endParaRPr sz="2800">
              <a:solidFill>
                <a:schemeClr val="dk1"/>
              </a:solidFill>
              <a:latin typeface="Calibri"/>
              <a:ea typeface="Calibri"/>
              <a:cs typeface="Calibri"/>
              <a:sym typeface="Calibri"/>
            </a:endParaRPr>
          </a:p>
          <a:p>
            <a:pPr indent="-342900" lvl="0" marL="355600" marR="0" rtl="0" algn="l">
              <a:lnSpc>
                <a:spcPct val="100000"/>
              </a:lnSpc>
              <a:spcBef>
                <a:spcPts val="95"/>
              </a:spcBef>
              <a:spcAft>
                <a:spcPts val="0"/>
              </a:spcAft>
              <a:buClr>
                <a:schemeClr val="dk1"/>
              </a:buClr>
              <a:buSzPts val="3600"/>
              <a:buFont typeface="Arial"/>
              <a:buChar char="•"/>
            </a:pPr>
            <a:r>
              <a:rPr lang="en-US" sz="3600">
                <a:solidFill>
                  <a:schemeClr val="dk1"/>
                </a:solidFill>
                <a:latin typeface="Calibri"/>
                <a:ea typeface="Calibri"/>
                <a:cs typeface="Calibri"/>
                <a:sym typeface="Calibri"/>
              </a:rPr>
              <a:t>EA = A + (R)</a:t>
            </a:r>
            <a:endParaRPr sz="3600">
              <a:solidFill>
                <a:schemeClr val="dk1"/>
              </a:solidFill>
              <a:latin typeface="Calibri"/>
              <a:ea typeface="Calibri"/>
              <a:cs typeface="Calibri"/>
              <a:sym typeface="Calibri"/>
            </a:endParaRPr>
          </a:p>
          <a:p>
            <a:pPr indent="-342900" lvl="0" marL="355600" marR="0" rtl="0" algn="l">
              <a:lnSpc>
                <a:spcPct val="100000"/>
              </a:lnSpc>
              <a:spcBef>
                <a:spcPts val="188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Effective address=start address + displacement</a:t>
            </a:r>
            <a:endParaRPr sz="2800">
              <a:solidFill>
                <a:schemeClr val="dk1"/>
              </a:solidFill>
              <a:latin typeface="Calibri"/>
              <a:ea typeface="Calibri"/>
              <a:cs typeface="Calibri"/>
              <a:sym typeface="Calibri"/>
            </a:endParaRPr>
          </a:p>
          <a:p>
            <a:pPr indent="-342900" lvl="0" marL="355600" marR="0" rtl="0" algn="l">
              <a:lnSpc>
                <a:spcPct val="100000"/>
              </a:lnSpc>
              <a:spcBef>
                <a:spcPts val="168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Effective address=Offset + (Segment Register)</a:t>
            </a:r>
            <a:endParaRPr sz="2800">
              <a:solidFill>
                <a:schemeClr val="dk1"/>
              </a:solidFill>
              <a:latin typeface="Calibri"/>
              <a:ea typeface="Calibri"/>
              <a:cs typeface="Calibri"/>
              <a:sym typeface="Calibri"/>
            </a:endParaRPr>
          </a:p>
          <a:p>
            <a:pPr indent="-342900" lvl="0" marL="355600" marR="0" rtl="0" algn="l">
              <a:lnSpc>
                <a:spcPct val="100000"/>
              </a:lnSpc>
              <a:spcBef>
                <a:spcPts val="235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Address field hold two values</a:t>
            </a:r>
            <a:endParaRPr sz="2800">
              <a:solidFill>
                <a:schemeClr val="dk1"/>
              </a:solidFill>
              <a:latin typeface="Calibri"/>
              <a:ea typeface="Calibri"/>
              <a:cs typeface="Calibri"/>
              <a:sym typeface="Calibri"/>
            </a:endParaRPr>
          </a:p>
          <a:p>
            <a:pPr indent="-287019" lvl="1" marL="756285" marR="0" rtl="0" algn="l">
              <a:lnSpc>
                <a:spcPct val="100000"/>
              </a:lnSpc>
              <a:spcBef>
                <a:spcPts val="212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 base value</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2014"/>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 = register that holds displacement</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202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or vice versa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3" name="Shape 533"/>
        <p:cNvGrpSpPr/>
        <p:nvPr/>
      </p:nvGrpSpPr>
      <p:grpSpPr>
        <a:xfrm>
          <a:off x="0" y="0"/>
          <a:ext cx="0" cy="0"/>
          <a:chOff x="0" y="0"/>
          <a:chExt cx="0" cy="0"/>
        </a:xfrm>
      </p:grpSpPr>
      <p:sp>
        <p:nvSpPr>
          <p:cNvPr id="534" name="Google Shape;534;p53"/>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35" name="Google Shape;535;p53"/>
          <p:cNvSpPr txBox="1"/>
          <p:nvPr/>
        </p:nvSpPr>
        <p:spPr>
          <a:xfrm>
            <a:off x="609600" y="1295400"/>
            <a:ext cx="8229600" cy="4580741"/>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Address of the memory location is given directly</a:t>
            </a:r>
            <a:endParaRPr/>
          </a:p>
          <a:p>
            <a:pPr indent="-343535" lvl="0" marL="355600" marR="0" rtl="0" algn="just">
              <a:lnSpc>
                <a:spcPct val="100000"/>
              </a:lnSpc>
              <a:spcBef>
                <a:spcPts val="1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operand’s offset is given in the instruction as an 8 bit or</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10"/>
              </a:spcBef>
              <a:spcAft>
                <a:spcPts val="0"/>
              </a:spcAft>
              <a:buClr>
                <a:schemeClr val="dk1"/>
              </a:buClr>
              <a:buSzPts val="2350"/>
              <a:buFont typeface="Arial"/>
              <a:buNone/>
            </a:pPr>
            <a:r>
              <a:t/>
            </a:r>
            <a:endParaRPr sz="23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16 bit displacement element.</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40"/>
              </a:spcBef>
              <a:spcAft>
                <a:spcPts val="0"/>
              </a:spcAft>
              <a:buNone/>
            </a:pPr>
            <a:r>
              <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 this addressing mode the 16 bit effective address of the</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15"/>
              </a:spcBef>
              <a:spcAft>
                <a:spcPts val="0"/>
              </a:spcAft>
              <a:buClr>
                <a:schemeClr val="dk1"/>
              </a:buClr>
              <a:buSzPts val="2350"/>
              <a:buFont typeface="Arial"/>
              <a:buNone/>
            </a:pPr>
            <a:r>
              <a:t/>
            </a:r>
            <a:endParaRPr sz="23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data is the part of the instruction.</a:t>
            </a:r>
            <a:endParaRPr sz="2400">
              <a:solidFill>
                <a:schemeClr val="dk1"/>
              </a:solidFill>
              <a:latin typeface="Times New Roman"/>
              <a:ea typeface="Times New Roman"/>
              <a:cs typeface="Times New Roman"/>
              <a:sym typeface="Times New Roman"/>
            </a:endParaRPr>
          </a:p>
          <a:p>
            <a:pPr indent="-343535" lvl="0" marL="355600" marR="368935" rtl="0" algn="just">
              <a:lnSpc>
                <a:spcPct val="200100"/>
              </a:lnSpc>
              <a:spcBef>
                <a:spcPts val="575"/>
              </a:spcBef>
              <a:spcAft>
                <a:spcPts val="0"/>
              </a:spcAft>
              <a:buClr>
                <a:schemeClr val="dk1"/>
              </a:buClr>
              <a:buSzPts val="2400"/>
              <a:buFont typeface="Arial"/>
              <a:buChar char="•"/>
            </a:pPr>
            <a:r>
              <a:rPr i="1" lang="en-US" sz="2400">
                <a:solidFill>
                  <a:schemeClr val="dk1"/>
                </a:solidFill>
                <a:latin typeface="Times New Roman"/>
                <a:ea typeface="Times New Roman"/>
                <a:cs typeface="Times New Roman"/>
                <a:sym typeface="Times New Roman"/>
              </a:rPr>
              <a:t>Here only one memory reference operation is required to  access the data.</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41" name="Google Shape;541;p71"/>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value contained in one address field is used directly. (A)</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other address field, or an implicit reference based on opcode, refers to a register whose contents are added to A to produce the effective address.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Calibri"/>
                <a:ea typeface="Calibri"/>
                <a:cs typeface="Calibri"/>
                <a:sym typeface="Calibri"/>
              </a:rPr>
              <a:t>EA = A + (R)</a:t>
            </a:r>
            <a:endParaRPr sz="2400">
              <a:latin typeface="Calibri"/>
              <a:ea typeface="Calibri"/>
              <a:cs typeface="Calibri"/>
              <a:sym typeface="Calibri"/>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47" name="Google Shape;547;p72"/>
          <p:cNvSpPr txBox="1"/>
          <p:nvPr>
            <p:ph idx="1" type="body"/>
          </p:nvPr>
        </p:nvSpPr>
        <p:spPr>
          <a:xfrm>
            <a:off x="533400" y="1447800"/>
            <a:ext cx="8400288"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three of the most common uses of displacement addressing:</a:t>
            </a:r>
            <a:endParaRPr/>
          </a:p>
          <a:p>
            <a:pPr indent="-283464" lvl="0" marL="365760" rtl="0" algn="l">
              <a:lnSpc>
                <a:spcPct val="100000"/>
              </a:lnSpc>
              <a:spcBef>
                <a:spcPts val="600"/>
              </a:spcBef>
              <a:spcAft>
                <a:spcPts val="0"/>
              </a:spcAft>
              <a:buSzPts val="2560"/>
              <a:buChar char="⚫"/>
            </a:pPr>
            <a:r>
              <a:rPr lang="en-US"/>
              <a:t> Relative addressing</a:t>
            </a:r>
            <a:endParaRPr/>
          </a:p>
          <a:p>
            <a:pPr indent="-283464" lvl="0" marL="365760" rtl="0" algn="l">
              <a:lnSpc>
                <a:spcPct val="100000"/>
              </a:lnSpc>
              <a:spcBef>
                <a:spcPts val="600"/>
              </a:spcBef>
              <a:spcAft>
                <a:spcPts val="0"/>
              </a:spcAft>
              <a:buSzPts val="2560"/>
              <a:buChar char="⚫"/>
            </a:pPr>
            <a:r>
              <a:rPr lang="en-US"/>
              <a:t> Base-register addressing</a:t>
            </a:r>
            <a:endParaRPr/>
          </a:p>
          <a:p>
            <a:pPr indent="-283464" lvl="0" marL="365760" rtl="0" algn="l">
              <a:lnSpc>
                <a:spcPct val="100000"/>
              </a:lnSpc>
              <a:spcBef>
                <a:spcPts val="600"/>
              </a:spcBef>
              <a:spcAft>
                <a:spcPts val="0"/>
              </a:spcAft>
              <a:buSzPts val="2560"/>
              <a:buChar char="⚫"/>
            </a:pPr>
            <a:r>
              <a:rPr lang="en-US"/>
              <a:t> Indexing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Relative addressing</a:t>
            </a:r>
            <a:endParaRPr/>
          </a:p>
        </p:txBody>
      </p:sp>
      <p:sp>
        <p:nvSpPr>
          <p:cNvPr id="553" name="Google Shape;553;p73"/>
          <p:cNvSpPr txBox="1"/>
          <p:nvPr>
            <p:ph idx="1" type="body"/>
          </p:nvPr>
        </p:nvSpPr>
        <p:spPr>
          <a:xfrm>
            <a:off x="609600" y="1447800"/>
            <a:ext cx="8324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PC-relative addressing,</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implicitly referenced register is the program counter (PC).</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That is, the next instruction address is added to the address field to produce the EA.</a:t>
            </a:r>
            <a:endParaRPr sz="2400">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7" name="Shape 557"/>
        <p:cNvGrpSpPr/>
        <p:nvPr/>
      </p:nvGrpSpPr>
      <p:grpSpPr>
        <a:xfrm>
          <a:off x="0" y="0"/>
          <a:ext cx="0" cy="0"/>
          <a:chOff x="0" y="0"/>
          <a:chExt cx="0" cy="0"/>
        </a:xfrm>
      </p:grpSpPr>
      <p:sp>
        <p:nvSpPr>
          <p:cNvPr id="558" name="Google Shape;558;p74"/>
          <p:cNvSpPr txBox="1"/>
          <p:nvPr>
            <p:ph type="title"/>
          </p:nvPr>
        </p:nvSpPr>
        <p:spPr>
          <a:xfrm>
            <a:off x="1012952" y="487502"/>
            <a:ext cx="71221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Base-Register Addressing</a:t>
            </a:r>
            <a:endParaRPr sz="4400">
              <a:latin typeface="Arial"/>
              <a:ea typeface="Arial"/>
              <a:cs typeface="Arial"/>
              <a:sym typeface="Arial"/>
            </a:endParaRPr>
          </a:p>
        </p:txBody>
      </p:sp>
      <p:sp>
        <p:nvSpPr>
          <p:cNvPr id="559" name="Google Shape;559;p7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60" name="Google Shape;560;p74"/>
          <p:cNvSpPr txBox="1"/>
          <p:nvPr/>
        </p:nvSpPr>
        <p:spPr>
          <a:xfrm>
            <a:off x="535025" y="1555876"/>
            <a:ext cx="8073300" cy="3861000"/>
          </a:xfrm>
          <a:prstGeom prst="rect">
            <a:avLst/>
          </a:prstGeom>
          <a:noFill/>
          <a:ln>
            <a:noFill/>
          </a:ln>
        </p:spPr>
        <p:txBody>
          <a:bodyPr anchorCtr="0" anchor="t" bIns="0" lIns="0" spcFirstLastPara="1" rIns="0" wrap="square" tIns="12700">
            <a:spAutoFit/>
          </a:bodyPr>
          <a:lstStyle/>
          <a:p>
            <a:pPr indent="-387350" lvl="0" marL="457200" rtl="0" algn="l">
              <a:spcBef>
                <a:spcPts val="0"/>
              </a:spcBef>
              <a:spcAft>
                <a:spcPts val="0"/>
              </a:spcAft>
              <a:buSzPts val="2500"/>
              <a:buChar char="•"/>
            </a:pPr>
            <a:r>
              <a:rPr lang="en-US" sz="2500"/>
              <a:t>Base	register	addressing	mode	is	used	to	implement	inter  segment transfer of control.</a:t>
            </a:r>
            <a:endParaRPr sz="2500"/>
          </a:p>
          <a:p>
            <a:pPr indent="-387350" lvl="0" marL="457200" rtl="0" algn="l">
              <a:spcBef>
                <a:spcPts val="0"/>
              </a:spcBef>
              <a:spcAft>
                <a:spcPts val="0"/>
              </a:spcAft>
              <a:buSzPts val="2500"/>
              <a:buChar char="•"/>
            </a:pPr>
            <a:r>
              <a:rPr lang="en-US" sz="2500"/>
              <a:t>The referenced register contains a main memory address, and the address field contains a displacement</a:t>
            </a:r>
            <a:endParaRPr sz="2500"/>
          </a:p>
          <a:p>
            <a:pPr indent="-387350" lvl="0" marL="457200" rtl="0" algn="l">
              <a:spcBef>
                <a:spcPts val="0"/>
              </a:spcBef>
              <a:spcAft>
                <a:spcPts val="0"/>
              </a:spcAft>
              <a:buSzPts val="2500"/>
              <a:buChar char="•"/>
            </a:pPr>
            <a:r>
              <a:rPr lang="en-US" sz="2500"/>
              <a:t>In	this	 mode	effective	address	is	obtained	by	adding	base  register value to address field value.</a:t>
            </a:r>
            <a:endParaRPr sz="2500"/>
          </a:p>
          <a:p>
            <a:pPr indent="0" lvl="0" marL="0" rtl="0" algn="l">
              <a:spcBef>
                <a:spcPts val="0"/>
              </a:spcBef>
              <a:spcAft>
                <a:spcPts val="0"/>
              </a:spcAft>
              <a:buClr>
                <a:schemeClr val="dk1"/>
              </a:buClr>
              <a:buSzPts val="2500"/>
              <a:buFont typeface="Arial"/>
              <a:buNone/>
            </a:pPr>
            <a:r>
              <a:t/>
            </a:r>
            <a:endParaRPr sz="2500"/>
          </a:p>
          <a:p>
            <a:pPr indent="-387350" lvl="0" marL="457200" rtl="0" algn="l">
              <a:spcBef>
                <a:spcPts val="0"/>
              </a:spcBef>
              <a:spcAft>
                <a:spcPts val="0"/>
              </a:spcAft>
              <a:buSzPts val="2500"/>
              <a:buChar char="•"/>
            </a:pPr>
            <a:r>
              <a:rPr lang="en-US" sz="2500"/>
              <a:t>EA= Base register + Address field value.</a:t>
            </a:r>
            <a:endParaRPr sz="2500"/>
          </a:p>
          <a:p>
            <a:pPr indent="0" lvl="0" marL="0" rtl="0" algn="l">
              <a:spcBef>
                <a:spcPts val="0"/>
              </a:spcBef>
              <a:spcAft>
                <a:spcPts val="0"/>
              </a:spcAft>
              <a:buNone/>
            </a:pPr>
            <a:r>
              <a:t/>
            </a:r>
            <a:endParaRPr sz="25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4" name="Shape 564"/>
        <p:cNvGrpSpPr/>
        <p:nvPr/>
      </p:nvGrpSpPr>
      <p:grpSpPr>
        <a:xfrm>
          <a:off x="0" y="0"/>
          <a:ext cx="0" cy="0"/>
          <a:chOff x="0" y="0"/>
          <a:chExt cx="0" cy="0"/>
        </a:xfrm>
      </p:grpSpPr>
      <p:sp>
        <p:nvSpPr>
          <p:cNvPr id="565" name="Google Shape;565;p75"/>
          <p:cNvSpPr txBox="1"/>
          <p:nvPr>
            <p:ph type="title"/>
          </p:nvPr>
        </p:nvSpPr>
        <p:spPr>
          <a:xfrm>
            <a:off x="1828800" y="304800"/>
            <a:ext cx="54286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Indexed Addressing</a:t>
            </a:r>
            <a:endParaRPr sz="4400">
              <a:latin typeface="Arial"/>
              <a:ea typeface="Arial"/>
              <a:cs typeface="Arial"/>
              <a:sym typeface="Arial"/>
            </a:endParaRPr>
          </a:p>
        </p:txBody>
      </p:sp>
      <p:sp>
        <p:nvSpPr>
          <p:cNvPr id="566" name="Google Shape;566;p7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67" name="Google Shape;567;p75"/>
          <p:cNvSpPr txBox="1"/>
          <p:nvPr/>
        </p:nvSpPr>
        <p:spPr>
          <a:xfrm>
            <a:off x="457200" y="990601"/>
            <a:ext cx="8534400" cy="4321055"/>
          </a:xfrm>
          <a:prstGeom prst="rect">
            <a:avLst/>
          </a:prstGeom>
          <a:noFill/>
          <a:ln>
            <a:noFill/>
          </a:ln>
        </p:spPr>
        <p:txBody>
          <a:bodyPr anchorCtr="0" anchor="t" bIns="0" lIns="0" spcFirstLastPara="1" rIns="0" wrap="square" tIns="12050">
            <a:spAutoFit/>
          </a:bodyPr>
          <a:lstStyle/>
          <a:p>
            <a:pPr indent="-177800" lvl="0" marL="0" marR="0" rtl="0" algn="l">
              <a:spcBef>
                <a:spcPts val="0"/>
              </a:spcBef>
              <a:spcAft>
                <a:spcPts val="0"/>
              </a:spcAft>
              <a:buClr>
                <a:schemeClr val="dk1"/>
              </a:buClr>
              <a:buSzPts val="2800"/>
              <a:buFont typeface="Arial"/>
              <a:buChar char="•"/>
            </a:pPr>
            <a:r>
              <a:rPr lang="en-US" sz="2800">
                <a:solidFill>
                  <a:schemeClr val="dk1"/>
                </a:solidFill>
                <a:latin typeface="Gill Sans"/>
                <a:ea typeface="Gill Sans"/>
                <a:cs typeface="Gill Sans"/>
                <a:sym typeface="Gill Sans"/>
              </a:rPr>
              <a:t>The address field references a main memory address, and the referenced register contains a positive displacement from that address. </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operand’s offset is the sum of the content of an index register SI or DI and an 8 bit or 16 bit  displacement.</a:t>
            </a:r>
            <a:endParaRPr sz="2800">
              <a:solidFill>
                <a:schemeClr val="dk1"/>
              </a:solidFill>
              <a:latin typeface="Calibri"/>
              <a:ea typeface="Calibri"/>
              <a:cs typeface="Calibri"/>
              <a:sym typeface="Calibri"/>
            </a:endParaRPr>
          </a:p>
          <a:p>
            <a:pPr indent="-177800" lvl="0" marL="0" marR="0" rtl="0" algn="ctr">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MOV AX, [SI +05]</a:t>
            </a:r>
            <a:endParaRPr sz="2800">
              <a:solidFill>
                <a:schemeClr val="dk1"/>
              </a:solidFill>
              <a:latin typeface="Calibri"/>
              <a:ea typeface="Calibri"/>
              <a:cs typeface="Calibri"/>
              <a:sym typeface="Calibri"/>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efficient mechanism for performing iterative operations</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Autoindexing-typical INC/DEC</a:t>
            </a:r>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pic>
        <p:nvPicPr>
          <p:cNvPr id="568" name="Google Shape;568;p75"/>
          <p:cNvPicPr preferRelativeResize="0"/>
          <p:nvPr/>
        </p:nvPicPr>
        <p:blipFill rotWithShape="1">
          <a:blip r:embed="rId3">
            <a:alphaModFix/>
          </a:blip>
          <a:srcRect b="42708" l="43337" r="34993" t="44792"/>
          <a:stretch/>
        </p:blipFill>
        <p:spPr>
          <a:xfrm>
            <a:off x="3048000" y="4495800"/>
            <a:ext cx="2819400" cy="9144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2" name="Shape 572"/>
        <p:cNvGrpSpPr/>
        <p:nvPr/>
      </p:nvGrpSpPr>
      <p:grpSpPr>
        <a:xfrm>
          <a:off x="0" y="0"/>
          <a:ext cx="0" cy="0"/>
          <a:chOff x="0" y="0"/>
          <a:chExt cx="0" cy="0"/>
        </a:xfrm>
      </p:grpSpPr>
      <p:sp>
        <p:nvSpPr>
          <p:cNvPr id="573" name="Google Shape;573;p76"/>
          <p:cNvSpPr txBox="1"/>
          <p:nvPr>
            <p:ph type="title"/>
          </p:nvPr>
        </p:nvSpPr>
        <p:spPr>
          <a:xfrm>
            <a:off x="2103882" y="212801"/>
            <a:ext cx="48101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Stack Addressing</a:t>
            </a:r>
            <a:endParaRPr sz="4400">
              <a:latin typeface="Arial"/>
              <a:ea typeface="Arial"/>
              <a:cs typeface="Arial"/>
              <a:sym typeface="Arial"/>
            </a:endParaRPr>
          </a:p>
        </p:txBody>
      </p:sp>
      <p:sp>
        <p:nvSpPr>
          <p:cNvPr id="574" name="Google Shape;574;p76"/>
          <p:cNvSpPr txBox="1"/>
          <p:nvPr/>
        </p:nvSpPr>
        <p:spPr>
          <a:xfrm>
            <a:off x="535025" y="1005967"/>
            <a:ext cx="8304175" cy="4233851"/>
          </a:xfrm>
          <a:prstGeom prst="rect">
            <a:avLst/>
          </a:prstGeom>
          <a:noFill/>
          <a:ln>
            <a:noFill/>
          </a:ln>
        </p:spPr>
        <p:txBody>
          <a:bodyPr anchorCtr="0" anchor="t" bIns="0" lIns="0" spcFirstLastPara="1" rIns="0" wrap="square" tIns="85725">
            <a:spAutoFit/>
          </a:bodyPr>
          <a:lstStyle/>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stack is a linear array of locations. It is sometimes referred to as a </a:t>
            </a:r>
            <a:r>
              <a:rPr i="1" lang="en-US" sz="2400">
                <a:solidFill>
                  <a:schemeClr val="dk1"/>
                </a:solidFill>
                <a:latin typeface="Times New Roman"/>
                <a:ea typeface="Times New Roman"/>
                <a:cs typeface="Times New Roman"/>
                <a:sym typeface="Times New Roman"/>
              </a:rPr>
              <a:t>pushdown list or last-in-first-out queue</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stack  pointer whose value is the address of the top of the stack.</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form of implied addressing ()</a:t>
            </a:r>
            <a:r>
              <a:rPr lang="en-US" sz="2400">
                <a:solidFill>
                  <a:schemeClr val="dk1"/>
                </a:solidFill>
                <a:latin typeface="Gill Sans"/>
                <a:ea typeface="Gill Sans"/>
                <a:cs typeface="Gill Sans"/>
                <a:sym typeface="Gill Sans"/>
              </a:rPr>
              <a:t> instructions that comprise only an opcode without an operand</a:t>
            </a:r>
            <a:endParaRPr/>
          </a:p>
          <a:p>
            <a:pPr indent="0" lvl="0" marL="0" marR="0" rtl="0" algn="l">
              <a:spcBef>
                <a:spcPts val="0"/>
              </a:spcBef>
              <a:spcAft>
                <a:spcPts val="0"/>
              </a:spcAft>
              <a:buNone/>
            </a:pPr>
            <a:r>
              <a:t/>
            </a:r>
            <a:endParaRPr i="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Operand is (implicitly) on top of stack</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e.g.</a:t>
            </a:r>
            <a:endParaRPr sz="2400">
              <a:solidFill>
                <a:schemeClr val="dk1"/>
              </a:solidFill>
              <a:latin typeface="Times New Roman"/>
              <a:ea typeface="Times New Roman"/>
              <a:cs typeface="Times New Roman"/>
              <a:sym typeface="Times New Roman"/>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	ADD	Pop top two items from stack and add and push</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-PUSH AX</a:t>
            </a:r>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POP AX</a:t>
            </a:r>
            <a:endParaRPr sz="2000">
              <a:solidFill>
                <a:schemeClr val="dk1"/>
              </a:solidFill>
              <a:latin typeface="Times New Roman"/>
              <a:ea typeface="Times New Roman"/>
              <a:cs typeface="Times New Roman"/>
              <a:sym typeface="Times New Roman"/>
            </a:endParaRPr>
          </a:p>
        </p:txBody>
      </p:sp>
      <p:sp>
        <p:nvSpPr>
          <p:cNvPr id="575" name="Google Shape;575;p76"/>
          <p:cNvSpPr txBox="1"/>
          <p:nvPr/>
        </p:nvSpPr>
        <p:spPr>
          <a:xfrm>
            <a:off x="8430259" y="6448280"/>
            <a:ext cx="177800" cy="194310"/>
          </a:xfrm>
          <a:prstGeom prst="rect">
            <a:avLst/>
          </a:prstGeom>
          <a:noFill/>
          <a:ln>
            <a:noFill/>
          </a:ln>
        </p:spPr>
        <p:txBody>
          <a:bodyPr anchorCtr="0" anchor="t" bIns="0" lIns="0" spcFirstLastPara="1" rIns="0" wrap="square" tIns="0">
            <a:spAutoFit/>
          </a:bodyPr>
          <a:lstStyle/>
          <a:p>
            <a:pPr indent="0" lvl="0" marL="12700" marR="0" rtl="0" algn="l">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59</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81" name="Google Shape;581;p7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No memory reference</a:t>
            </a:r>
            <a:endParaRPr/>
          </a:p>
        </p:txBody>
      </p:sp>
      <p:pic>
        <p:nvPicPr>
          <p:cNvPr id="582" name="Google Shape;582;p77"/>
          <p:cNvPicPr preferRelativeResize="0"/>
          <p:nvPr/>
        </p:nvPicPr>
        <p:blipFill rotWithShape="1">
          <a:blip r:embed="rId3">
            <a:alphaModFix/>
          </a:blip>
          <a:srcRect b="0" l="0" r="0" t="0"/>
          <a:stretch/>
        </p:blipFill>
        <p:spPr>
          <a:xfrm>
            <a:off x="1703875" y="2129425"/>
            <a:ext cx="6475925" cy="43371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588" name="Google Shape;588;p78"/>
          <p:cNvPicPr preferRelativeResize="0"/>
          <p:nvPr>
            <p:ph idx="1" type="body"/>
          </p:nvPr>
        </p:nvPicPr>
        <p:blipFill rotWithShape="1">
          <a:blip r:embed="rId3">
            <a:alphaModFix/>
          </a:blip>
          <a:srcRect b="36446" l="17443" r="16510" t="22590"/>
          <a:stretch/>
        </p:blipFill>
        <p:spPr>
          <a:xfrm>
            <a:off x="0" y="2315314"/>
            <a:ext cx="9144000" cy="29892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2" name="Shape 592"/>
        <p:cNvGrpSpPr/>
        <p:nvPr/>
      </p:nvGrpSpPr>
      <p:grpSpPr>
        <a:xfrm>
          <a:off x="0" y="0"/>
          <a:ext cx="0" cy="0"/>
          <a:chOff x="0" y="0"/>
          <a:chExt cx="0" cy="0"/>
        </a:xfrm>
      </p:grpSpPr>
      <p:sp>
        <p:nvSpPr>
          <p:cNvPr id="593" name="Google Shape;593;p79"/>
          <p:cNvSpPr txBox="1"/>
          <p:nvPr>
            <p:ph type="title"/>
          </p:nvPr>
        </p:nvSpPr>
        <p:spPr>
          <a:xfrm>
            <a:off x="2644267" y="2824429"/>
            <a:ext cx="38061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7" name="Shape 597"/>
        <p:cNvGrpSpPr/>
        <p:nvPr/>
      </p:nvGrpSpPr>
      <p:grpSpPr>
        <a:xfrm>
          <a:off x="0" y="0"/>
          <a:ext cx="0" cy="0"/>
          <a:chOff x="0" y="0"/>
          <a:chExt cx="0" cy="0"/>
        </a:xfrm>
      </p:grpSpPr>
      <p:sp>
        <p:nvSpPr>
          <p:cNvPr id="598" name="Google Shape;598;p80"/>
          <p:cNvSpPr txBox="1"/>
          <p:nvPr>
            <p:ph type="title"/>
          </p:nvPr>
        </p:nvSpPr>
        <p:spPr>
          <a:xfrm>
            <a:off x="2669285" y="461594"/>
            <a:ext cx="380872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sp>
        <p:nvSpPr>
          <p:cNvPr id="599" name="Google Shape;599;p80"/>
          <p:cNvSpPr txBox="1"/>
          <p:nvPr/>
        </p:nvSpPr>
        <p:spPr>
          <a:xfrm>
            <a:off x="535940" y="1507044"/>
            <a:ext cx="2110740" cy="1640839"/>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Two steps:</a:t>
            </a:r>
            <a:endParaRPr sz="3200">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Fetch</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Execute</a:t>
            </a:r>
            <a:endParaRPr b="0" i="0" sz="2800" u="none" cap="none" strike="noStrike">
              <a:solidFill>
                <a:schemeClr val="dk1"/>
              </a:solidFill>
              <a:latin typeface="Calibri"/>
              <a:ea typeface="Calibri"/>
              <a:cs typeface="Calibri"/>
              <a:sym typeface="Calibri"/>
            </a:endParaRPr>
          </a:p>
        </p:txBody>
      </p:sp>
      <p:pic>
        <p:nvPicPr>
          <p:cNvPr id="600" name="Google Shape;600;p80"/>
          <p:cNvPicPr preferRelativeResize="0"/>
          <p:nvPr/>
        </p:nvPicPr>
        <p:blipFill rotWithShape="1">
          <a:blip r:embed="rId3">
            <a:alphaModFix/>
          </a:blip>
          <a:srcRect b="0" l="0" r="0" t="0"/>
          <a:stretch/>
        </p:blipFill>
        <p:spPr>
          <a:xfrm>
            <a:off x="0" y="3095625"/>
            <a:ext cx="9142411" cy="2271649"/>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4" name="Shape 604"/>
        <p:cNvGrpSpPr/>
        <p:nvPr/>
      </p:nvGrpSpPr>
      <p:grpSpPr>
        <a:xfrm>
          <a:off x="0" y="0"/>
          <a:ext cx="0" cy="0"/>
          <a:chOff x="0" y="0"/>
          <a:chExt cx="0" cy="0"/>
        </a:xfrm>
      </p:grpSpPr>
      <p:sp>
        <p:nvSpPr>
          <p:cNvPr id="605" name="Google Shape;605;p81"/>
          <p:cNvSpPr txBox="1"/>
          <p:nvPr>
            <p:ph type="title"/>
          </p:nvPr>
        </p:nvSpPr>
        <p:spPr>
          <a:xfrm>
            <a:off x="901090" y="461594"/>
            <a:ext cx="73431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with Interrupts</a:t>
            </a:r>
            <a:endParaRPr sz="4400">
              <a:latin typeface="Calibri"/>
              <a:ea typeface="Calibri"/>
              <a:cs typeface="Calibri"/>
              <a:sym typeface="Calibri"/>
            </a:endParaRPr>
          </a:p>
        </p:txBody>
      </p:sp>
      <p:pic>
        <p:nvPicPr>
          <p:cNvPr id="606" name="Google Shape;606;p81"/>
          <p:cNvPicPr preferRelativeResize="0"/>
          <p:nvPr/>
        </p:nvPicPr>
        <p:blipFill rotWithShape="1">
          <a:blip r:embed="rId3">
            <a:alphaModFix/>
          </a:blip>
          <a:srcRect b="0" l="0" r="0" t="0"/>
          <a:stretch/>
        </p:blipFill>
        <p:spPr>
          <a:xfrm>
            <a:off x="457200" y="2000250"/>
            <a:ext cx="8305800" cy="33432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0" name="Shape 610"/>
        <p:cNvGrpSpPr/>
        <p:nvPr/>
      </p:nvGrpSpPr>
      <p:grpSpPr>
        <a:xfrm>
          <a:off x="0" y="0"/>
          <a:ext cx="0" cy="0"/>
          <a:chOff x="0" y="0"/>
          <a:chExt cx="0" cy="0"/>
        </a:xfrm>
      </p:grpSpPr>
      <p:sp>
        <p:nvSpPr>
          <p:cNvPr id="611" name="Google Shape;611;p82"/>
          <p:cNvSpPr txBox="1"/>
          <p:nvPr>
            <p:ph type="title"/>
          </p:nvPr>
        </p:nvSpPr>
        <p:spPr>
          <a:xfrm>
            <a:off x="808575" y="193850"/>
            <a:ext cx="5423700" cy="6906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Gill Sans"/>
              <a:buNone/>
            </a:pPr>
            <a:r>
              <a:rPr lang="en-US" sz="4400"/>
              <a:t>Instruction Cycle</a:t>
            </a:r>
            <a:endParaRPr sz="4400"/>
          </a:p>
        </p:txBody>
      </p:sp>
      <p:sp>
        <p:nvSpPr>
          <p:cNvPr id="612" name="Google Shape;612;p82"/>
          <p:cNvSpPr txBox="1"/>
          <p:nvPr>
            <p:ph idx="1" type="body"/>
          </p:nvPr>
        </p:nvSpPr>
        <p:spPr>
          <a:xfrm>
            <a:off x="357499" y="816000"/>
            <a:ext cx="8192400" cy="6042000"/>
          </a:xfrm>
          <a:prstGeom prst="rect">
            <a:avLst/>
          </a:prstGeom>
          <a:noFill/>
          <a:ln>
            <a:noFill/>
          </a:ln>
        </p:spPr>
        <p:txBody>
          <a:bodyPr anchorCtr="0" anchor="t" bIns="0" lIns="0" spcFirstLastPara="1" rIns="0" wrap="square" tIns="13325">
            <a:spAutoFit/>
          </a:bodyPr>
          <a:lstStyle/>
          <a:p>
            <a:pPr indent="-343535" lvl="0" marL="355600" marR="5080" rtl="0" algn="l">
              <a:lnSpc>
                <a:spcPct val="150000"/>
              </a:lnSpc>
              <a:spcBef>
                <a:spcPts val="0"/>
              </a:spcBef>
              <a:spcAft>
                <a:spcPts val="0"/>
              </a:spcAft>
              <a:buSzPts val="2560"/>
              <a:buFont typeface="Arial"/>
              <a:buChar char="•"/>
            </a:pPr>
            <a:r>
              <a:rPr lang="en-US"/>
              <a:t>It is the time in which a single instruction is fetched  from memory,	decoded, and executed</a:t>
            </a:r>
            <a:endParaRPr/>
          </a:p>
          <a:p>
            <a:pPr indent="-343535" lvl="0" marL="355600" rtl="0" algn="l">
              <a:lnSpc>
                <a:spcPct val="100000"/>
              </a:lnSpc>
              <a:spcBef>
                <a:spcPts val="2350"/>
              </a:spcBef>
              <a:spcAft>
                <a:spcPts val="0"/>
              </a:spcAft>
              <a:buSzPts val="2560"/>
              <a:buFont typeface="Arial"/>
              <a:buChar char="•"/>
            </a:pPr>
            <a:r>
              <a:rPr lang="en-US"/>
              <a:t>An </a:t>
            </a:r>
            <a:r>
              <a:rPr b="1" lang="en-US">
                <a:latin typeface="Calibri"/>
                <a:ea typeface="Calibri"/>
                <a:cs typeface="Calibri"/>
                <a:sym typeface="Calibri"/>
              </a:rPr>
              <a:t>Instruction Cycle </a:t>
            </a:r>
            <a:r>
              <a:rPr lang="en-US"/>
              <a:t>requires the following subcycle:</a:t>
            </a:r>
            <a:endParaRPr/>
          </a:p>
          <a:p>
            <a:pPr indent="-287019" lvl="1" marL="756285" rtl="0" algn="l">
              <a:lnSpc>
                <a:spcPct val="100000"/>
              </a:lnSpc>
              <a:spcBef>
                <a:spcPts val="2120"/>
              </a:spcBef>
              <a:spcAft>
                <a:spcPts val="0"/>
              </a:spcAft>
              <a:buSzPts val="2400"/>
              <a:buFont typeface="Arial"/>
              <a:buChar char="–"/>
            </a:pPr>
            <a:r>
              <a:rPr b="1" lang="en-US" sz="2400">
                <a:latin typeface="Calibri"/>
                <a:ea typeface="Calibri"/>
                <a:cs typeface="Calibri"/>
                <a:sym typeface="Calibri"/>
              </a:rPr>
              <a:t>FETCH</a:t>
            </a:r>
            <a:endParaRPr sz="2400">
              <a:latin typeface="Calibri"/>
              <a:ea typeface="Calibri"/>
              <a:cs typeface="Calibri"/>
              <a:sym typeface="Calibri"/>
            </a:endParaRPr>
          </a:p>
          <a:p>
            <a:pPr indent="-287019" lvl="1" marL="756285" rtl="0" algn="l">
              <a:lnSpc>
                <a:spcPct val="100000"/>
              </a:lnSpc>
              <a:spcBef>
                <a:spcPts val="2014"/>
              </a:spcBef>
              <a:spcAft>
                <a:spcPts val="0"/>
              </a:spcAft>
              <a:buSzPts val="2400"/>
              <a:buFont typeface="Arial"/>
              <a:buChar char="–"/>
            </a:pPr>
            <a:r>
              <a:rPr b="1" lang="en-US" sz="2400">
                <a:latin typeface="Calibri"/>
                <a:ea typeface="Calibri"/>
                <a:cs typeface="Calibri"/>
                <a:sym typeface="Calibri"/>
              </a:rPr>
              <a:t>EXECUTE</a:t>
            </a:r>
            <a:endParaRPr sz="2400">
              <a:latin typeface="Calibri"/>
              <a:ea typeface="Calibri"/>
              <a:cs typeface="Calibri"/>
              <a:sym typeface="Calibri"/>
            </a:endParaRPr>
          </a:p>
          <a:p>
            <a:pPr indent="-287019" lvl="1" marL="756285" rtl="0" algn="l">
              <a:lnSpc>
                <a:spcPct val="100000"/>
              </a:lnSpc>
              <a:spcBef>
                <a:spcPts val="2020"/>
              </a:spcBef>
              <a:spcAft>
                <a:spcPts val="0"/>
              </a:spcAft>
              <a:buSzPts val="2400"/>
              <a:buFont typeface="Arial"/>
              <a:buChar char="–"/>
            </a:pPr>
            <a:r>
              <a:rPr b="1" lang="en-US" sz="2400">
                <a:solidFill>
                  <a:srgbClr val="FF0000"/>
                </a:solidFill>
                <a:latin typeface="Calibri"/>
                <a:ea typeface="Calibri"/>
                <a:cs typeface="Calibri"/>
                <a:sym typeface="Calibri"/>
              </a:rPr>
              <a:t>INDIRECT</a:t>
            </a:r>
            <a:endParaRPr sz="2400">
              <a:latin typeface="Calibri"/>
              <a:ea typeface="Calibri"/>
              <a:cs typeface="Calibri"/>
              <a:sym typeface="Calibri"/>
            </a:endParaRPr>
          </a:p>
          <a:p>
            <a:pPr indent="-287019" lvl="1" marL="756285" rtl="0" algn="l">
              <a:lnSpc>
                <a:spcPct val="100000"/>
              </a:lnSpc>
              <a:spcBef>
                <a:spcPts val="2014"/>
              </a:spcBef>
              <a:spcAft>
                <a:spcPts val="0"/>
              </a:spcAft>
              <a:buSzPts val="2400"/>
              <a:buFont typeface="Arial"/>
              <a:buChar char="–"/>
            </a:pPr>
            <a:r>
              <a:rPr b="1" lang="en-US" sz="2400">
                <a:solidFill>
                  <a:srgbClr val="00AF50"/>
                </a:solidFill>
                <a:latin typeface="Calibri"/>
                <a:ea typeface="Calibri"/>
                <a:cs typeface="Calibri"/>
                <a:sym typeface="Calibri"/>
              </a:rPr>
              <a:t>INTERRUPT</a:t>
            </a:r>
            <a:endParaRPr sz="2400">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6" name="Shape 616"/>
        <p:cNvGrpSpPr/>
        <p:nvPr/>
      </p:nvGrpSpPr>
      <p:grpSpPr>
        <a:xfrm>
          <a:off x="0" y="0"/>
          <a:ext cx="0" cy="0"/>
          <a:chOff x="0" y="0"/>
          <a:chExt cx="0" cy="0"/>
        </a:xfrm>
      </p:grpSpPr>
      <p:sp>
        <p:nvSpPr>
          <p:cNvPr id="617" name="Google Shape;617;p83"/>
          <p:cNvSpPr txBox="1"/>
          <p:nvPr>
            <p:ph type="title"/>
          </p:nvPr>
        </p:nvSpPr>
        <p:spPr>
          <a:xfrm>
            <a:off x="2631694" y="186893"/>
            <a:ext cx="388175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Gill Sans"/>
              <a:buNone/>
            </a:pPr>
            <a:r>
              <a:rPr lang="en-US" sz="4400"/>
              <a:t>Instruction Cycle</a:t>
            </a:r>
            <a:endParaRPr sz="4400"/>
          </a:p>
        </p:txBody>
      </p:sp>
      <p:sp>
        <p:nvSpPr>
          <p:cNvPr id="618" name="Google Shape;618;p83"/>
          <p:cNvSpPr txBox="1"/>
          <p:nvPr/>
        </p:nvSpPr>
        <p:spPr>
          <a:xfrm>
            <a:off x="111048" y="976122"/>
            <a:ext cx="8134350" cy="5678170"/>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Fetch</a:t>
            </a:r>
            <a:endParaRPr sz="2800">
              <a:solidFill>
                <a:schemeClr val="dk1"/>
              </a:solidFill>
              <a:latin typeface="Calibri"/>
              <a:ea typeface="Calibri"/>
              <a:cs typeface="Calibri"/>
              <a:sym typeface="Calibri"/>
            </a:endParaRPr>
          </a:p>
          <a:p>
            <a:pPr indent="0" lvl="0" marL="355600" marR="0" rtl="0" algn="l">
              <a:lnSpc>
                <a:spcPct val="100000"/>
              </a:lnSpc>
              <a:spcBef>
                <a:spcPts val="2115"/>
              </a:spcBef>
              <a:spcAft>
                <a:spcPts val="0"/>
              </a:spcAft>
              <a:buNone/>
            </a:pPr>
            <a:r>
              <a:rPr lang="en-US" sz="2400">
                <a:solidFill>
                  <a:schemeClr val="dk1"/>
                </a:solidFill>
                <a:latin typeface="Calibri"/>
                <a:ea typeface="Calibri"/>
                <a:cs typeface="Calibri"/>
                <a:sym typeface="Calibri"/>
              </a:rPr>
              <a:t>Read next instruction from memory into the processor</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Indirect Cycle (Decode Cycle)</a:t>
            </a:r>
            <a:endParaRPr sz="2800">
              <a:solidFill>
                <a:schemeClr val="dk1"/>
              </a:solidFill>
              <a:latin typeface="Calibri"/>
              <a:ea typeface="Calibri"/>
              <a:cs typeface="Calibri"/>
              <a:sym typeface="Calibri"/>
            </a:endParaRPr>
          </a:p>
          <a:p>
            <a:pPr indent="0" lvl="0" marL="355600" marR="5080" rtl="0" algn="l">
              <a:lnSpc>
                <a:spcPct val="150000"/>
              </a:lnSpc>
              <a:spcBef>
                <a:spcPts val="680"/>
              </a:spcBef>
              <a:spcAft>
                <a:spcPts val="0"/>
              </a:spcAft>
              <a:buNone/>
            </a:pPr>
            <a:r>
              <a:rPr lang="en-US" sz="2400">
                <a:solidFill>
                  <a:schemeClr val="dk1"/>
                </a:solidFill>
                <a:latin typeface="Calibri"/>
                <a:ea typeface="Calibri"/>
                <a:cs typeface="Calibri"/>
                <a:sym typeface="Calibri"/>
              </a:rPr>
              <a:t>May require memory access to fetch operands, therefore more  memory accesses.</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Interrupt</a:t>
            </a:r>
            <a:endParaRPr sz="2800">
              <a:solidFill>
                <a:schemeClr val="dk1"/>
              </a:solidFill>
              <a:latin typeface="Calibri"/>
              <a:ea typeface="Calibri"/>
              <a:cs typeface="Calibri"/>
              <a:sym typeface="Calibri"/>
            </a:endParaRPr>
          </a:p>
          <a:p>
            <a:pPr indent="0" lvl="0" marL="355600" marR="0" rtl="0" algn="l">
              <a:lnSpc>
                <a:spcPct val="100000"/>
              </a:lnSpc>
              <a:spcBef>
                <a:spcPts val="2115"/>
              </a:spcBef>
              <a:spcAft>
                <a:spcPts val="0"/>
              </a:spcAft>
              <a:buNone/>
            </a:pPr>
            <a:r>
              <a:rPr lang="en-US" sz="2400">
                <a:solidFill>
                  <a:schemeClr val="dk1"/>
                </a:solidFill>
                <a:latin typeface="Calibri"/>
                <a:ea typeface="Calibri"/>
                <a:cs typeface="Calibri"/>
                <a:sym typeface="Calibri"/>
              </a:rPr>
              <a:t>Save current instruction and service the interrupt</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Execute</a:t>
            </a:r>
            <a:endParaRPr sz="2800">
              <a:solidFill>
                <a:schemeClr val="dk1"/>
              </a:solidFill>
              <a:latin typeface="Calibri"/>
              <a:ea typeface="Calibri"/>
              <a:cs typeface="Calibri"/>
              <a:sym typeface="Calibri"/>
            </a:endParaRPr>
          </a:p>
          <a:p>
            <a:pPr indent="0" lvl="0" marL="355600" marR="0" rtl="0" algn="l">
              <a:lnSpc>
                <a:spcPct val="100000"/>
              </a:lnSpc>
              <a:spcBef>
                <a:spcPts val="2120"/>
              </a:spcBef>
              <a:spcAft>
                <a:spcPts val="0"/>
              </a:spcAft>
              <a:buNone/>
            </a:pPr>
            <a:r>
              <a:rPr lang="en-US" sz="2400">
                <a:solidFill>
                  <a:schemeClr val="dk1"/>
                </a:solidFill>
                <a:latin typeface="Calibri"/>
                <a:ea typeface="Calibri"/>
                <a:cs typeface="Calibri"/>
                <a:sym typeface="Calibri"/>
              </a:rPr>
              <a:t>Interpret the opcode and perform the indicated operation</a:t>
            </a:r>
            <a:endParaRPr sz="24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2" name="Shape 622"/>
        <p:cNvGrpSpPr/>
        <p:nvPr/>
      </p:nvGrpSpPr>
      <p:grpSpPr>
        <a:xfrm>
          <a:off x="0" y="0"/>
          <a:ext cx="0" cy="0"/>
          <a:chOff x="0" y="0"/>
          <a:chExt cx="0" cy="0"/>
        </a:xfrm>
      </p:grpSpPr>
      <p:sp>
        <p:nvSpPr>
          <p:cNvPr id="623" name="Google Shape;623;p84"/>
          <p:cNvSpPr txBox="1"/>
          <p:nvPr>
            <p:ph type="title"/>
          </p:nvPr>
        </p:nvSpPr>
        <p:spPr>
          <a:xfrm>
            <a:off x="2745485" y="568197"/>
            <a:ext cx="3810000"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pic>
        <p:nvPicPr>
          <p:cNvPr id="624" name="Google Shape;624;p84"/>
          <p:cNvPicPr preferRelativeResize="0"/>
          <p:nvPr/>
        </p:nvPicPr>
        <p:blipFill rotWithShape="1">
          <a:blip r:embed="rId3">
            <a:alphaModFix/>
          </a:blip>
          <a:srcRect b="0" l="0" r="0" t="0"/>
          <a:stretch/>
        </p:blipFill>
        <p:spPr>
          <a:xfrm>
            <a:off x="1143000" y="1600200"/>
            <a:ext cx="6691542" cy="4265427"/>
          </a:xfrm>
          <a:prstGeom prst="rect">
            <a:avLst/>
          </a:prstGeom>
          <a:noFill/>
          <a:ln>
            <a:noFill/>
          </a:ln>
        </p:spPr>
      </p:pic>
      <p:sp>
        <p:nvSpPr>
          <p:cNvPr id="625" name="Google Shape;625;p84"/>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26" name="Google Shape;626;p84"/>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27" name="Google Shape;627;p84"/>
          <p:cNvSpPr/>
          <p:nvPr/>
        </p:nvSpPr>
        <p:spPr>
          <a:xfrm>
            <a:off x="838200" y="1600199"/>
            <a:ext cx="7162800" cy="4343400"/>
          </a:xfrm>
          <a:custGeom>
            <a:rect b="b" l="l" r="r" t="t"/>
            <a:pathLst>
              <a:path extrusionOk="0" h="4343400" w="7162800">
                <a:moveTo>
                  <a:pt x="2819400" y="76200"/>
                </a:moveTo>
                <a:lnTo>
                  <a:pt x="0" y="76200"/>
                </a:lnTo>
                <a:lnTo>
                  <a:pt x="0" y="4191000"/>
                </a:lnTo>
                <a:lnTo>
                  <a:pt x="2819400" y="4191000"/>
                </a:lnTo>
                <a:lnTo>
                  <a:pt x="2819400" y="76200"/>
                </a:lnTo>
                <a:close/>
              </a:path>
              <a:path extrusionOk="0" h="4343400" w="7162800">
                <a:moveTo>
                  <a:pt x="7162800" y="0"/>
                </a:moveTo>
                <a:lnTo>
                  <a:pt x="4343400" y="0"/>
                </a:lnTo>
                <a:lnTo>
                  <a:pt x="4343400" y="4343400"/>
                </a:lnTo>
                <a:lnTo>
                  <a:pt x="7162800" y="4343400"/>
                </a:lnTo>
                <a:lnTo>
                  <a:pt x="7162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28" name="Google Shape;628;p84"/>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29" name="Google Shape;629;p84"/>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30" name="Google Shape;630;p84"/>
          <p:cNvSpPr txBox="1"/>
          <p:nvPr/>
        </p:nvSpPr>
        <p:spPr>
          <a:xfrm>
            <a:off x="6535166" y="3536229"/>
            <a:ext cx="949325"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Indirect</a:t>
            </a:r>
            <a:endParaRPr sz="2400">
              <a:solidFill>
                <a:schemeClr val="dk1"/>
              </a:solidFill>
              <a:latin typeface="Times New Roman"/>
              <a:ea typeface="Times New Roman"/>
              <a:cs typeface="Times New Roman"/>
              <a:sym typeface="Times New Roman"/>
            </a:endParaRPr>
          </a:p>
        </p:txBody>
      </p:sp>
      <p:sp>
        <p:nvSpPr>
          <p:cNvPr id="631" name="Google Shape;631;p84"/>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32" name="Google Shape;632;p84"/>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33" name="Google Shape;633;p84"/>
          <p:cNvSpPr txBox="1"/>
          <p:nvPr/>
        </p:nvSpPr>
        <p:spPr>
          <a:xfrm>
            <a:off x="1407541" y="3536229"/>
            <a:ext cx="1068070"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Interrupt</a:t>
            </a:r>
            <a:endParaRPr sz="2400">
              <a:solidFill>
                <a:schemeClr val="dk1"/>
              </a:solidFill>
              <a:latin typeface="Times New Roman"/>
              <a:ea typeface="Times New Roman"/>
              <a:cs typeface="Times New Roman"/>
              <a:sym typeface="Times New Roman"/>
            </a:endParaRPr>
          </a:p>
        </p:txBody>
      </p:sp>
      <p:graphicFrame>
        <p:nvGraphicFramePr>
          <p:cNvPr id="634" name="Google Shape;634;p84"/>
          <p:cNvGraphicFramePr/>
          <p:nvPr/>
        </p:nvGraphicFramePr>
        <p:xfrm>
          <a:off x="3652837" y="1595437"/>
          <a:ext cx="3000000" cy="3000000"/>
        </p:xfrm>
        <a:graphic>
          <a:graphicData uri="http://schemas.openxmlformats.org/drawingml/2006/table">
            <a:tbl>
              <a:tblPr bandRow="1" firstRow="1">
                <a:noFill/>
                <a:tableStyleId>{D1CD7D03-965F-4341-8A52-225D18BBEF5E}</a:tableStyleId>
              </a:tblPr>
              <a:tblGrid>
                <a:gridCol w="1524000"/>
              </a:tblGrid>
              <a:tr h="838200">
                <a:tc>
                  <a:txBody>
                    <a:bodyPr/>
                    <a:lstStyle/>
                    <a:p>
                      <a:pPr indent="0" lvl="0" marL="635" marR="0" rtl="0" algn="ctr">
                        <a:lnSpc>
                          <a:spcPct val="100000"/>
                        </a:lnSpc>
                        <a:spcBef>
                          <a:spcPts val="0"/>
                        </a:spcBef>
                        <a:spcAft>
                          <a:spcPts val="0"/>
                        </a:spcAft>
                        <a:buNone/>
                      </a:pPr>
                      <a:r>
                        <a:rPr lang="en-US" sz="2400" u="none" cap="none" strike="noStrike">
                          <a:latin typeface="Times New Roman"/>
                          <a:ea typeface="Times New Roman"/>
                          <a:cs typeface="Times New Roman"/>
                          <a:sym typeface="Times New Roman"/>
                        </a:rPr>
                        <a:t>Fetch</a:t>
                      </a:r>
                      <a:endParaRPr sz="2400" u="none" cap="none" strike="noStrike">
                        <a:latin typeface="Times New Roman"/>
                        <a:ea typeface="Times New Roman"/>
                        <a:cs typeface="Times New Roman"/>
                        <a:sym typeface="Times New Roman"/>
                      </a:endParaRPr>
                    </a:p>
                  </a:txBody>
                  <a:tcPr marT="22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14600">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lnT cap="flat" cmpd="sng" w="9525">
                      <a:solidFill>
                        <a:srgbClr val="000000"/>
                      </a:solidFill>
                      <a:prstDash val="solid"/>
                      <a:round/>
                      <a:headEnd len="sm" w="sm" type="none"/>
                      <a:tailEnd len="sm" w="sm" type="none"/>
                    </a:lnT>
                  </a:tcPr>
                </a:tc>
              </a:tr>
              <a:tr h="838200">
                <a:tc>
                  <a:txBody>
                    <a:bodyPr/>
                    <a:lstStyle/>
                    <a:p>
                      <a:pPr indent="0" lvl="0" marL="635" marR="0" rtl="0" algn="ctr">
                        <a:lnSpc>
                          <a:spcPct val="100000"/>
                        </a:lnSpc>
                        <a:spcBef>
                          <a:spcPts val="0"/>
                        </a:spcBef>
                        <a:spcAft>
                          <a:spcPts val="0"/>
                        </a:spcAft>
                        <a:buNone/>
                      </a:pPr>
                      <a:r>
                        <a:rPr lang="en-US" sz="2400" u="none" cap="none" strike="noStrike">
                          <a:latin typeface="Times New Roman"/>
                          <a:ea typeface="Times New Roman"/>
                          <a:cs typeface="Times New Roman"/>
                          <a:sym typeface="Times New Roman"/>
                        </a:rPr>
                        <a:t>Execute</a:t>
                      </a:r>
                      <a:endParaRPr sz="2400" u="none" cap="none" strike="noStrike">
                        <a:latin typeface="Times New Roman"/>
                        <a:ea typeface="Times New Roman"/>
                        <a:cs typeface="Times New Roman"/>
                        <a:sym typeface="Times New Roman"/>
                      </a:endParaRPr>
                    </a:p>
                  </a:txBody>
                  <a:tcPr marT="226700" marB="0" marR="0" marL="0"/>
                </a:tc>
              </a:tr>
            </a:tbl>
          </a:graphicData>
        </a:graphic>
      </p:graphicFrame>
      <p:grpSp>
        <p:nvGrpSpPr>
          <p:cNvPr id="635" name="Google Shape;635;p84"/>
          <p:cNvGrpSpPr/>
          <p:nvPr/>
        </p:nvGrpSpPr>
        <p:grpSpPr>
          <a:xfrm>
            <a:off x="1889887" y="1600199"/>
            <a:ext cx="6263513" cy="4191001"/>
            <a:chOff x="1889887" y="1600199"/>
            <a:chExt cx="6263513" cy="4191001"/>
          </a:xfrm>
        </p:grpSpPr>
        <p:sp>
          <p:nvSpPr>
            <p:cNvPr id="636" name="Google Shape;636;p84"/>
            <p:cNvSpPr/>
            <p:nvPr/>
          </p:nvSpPr>
          <p:spPr>
            <a:xfrm>
              <a:off x="1889887" y="1981199"/>
              <a:ext cx="1782445" cy="3373754"/>
            </a:xfrm>
            <a:custGeom>
              <a:rect b="b" l="l" r="r" t="t"/>
              <a:pathLst>
                <a:path extrusionOk="0" h="3373754" w="1782445">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extrusionOk="0" h="3373754" w="1782445">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33333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37" name="Google Shape;637;p84"/>
            <p:cNvSpPr/>
            <p:nvPr/>
          </p:nvSpPr>
          <p:spPr>
            <a:xfrm>
              <a:off x="5181600" y="1600200"/>
              <a:ext cx="2971800" cy="4191000"/>
            </a:xfrm>
            <a:custGeom>
              <a:rect b="b" l="l" r="r" t="t"/>
              <a:pathLst>
                <a:path extrusionOk="0" h="4191000" w="2971800">
                  <a:moveTo>
                    <a:pt x="2971800" y="0"/>
                  </a:moveTo>
                  <a:lnTo>
                    <a:pt x="0" y="0"/>
                  </a:lnTo>
                  <a:lnTo>
                    <a:pt x="0" y="4191000"/>
                  </a:lnTo>
                  <a:lnTo>
                    <a:pt x="2971800" y="4191000"/>
                  </a:lnTo>
                  <a:lnTo>
                    <a:pt x="2971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38" name="Google Shape;638;p84"/>
            <p:cNvSpPr/>
            <p:nvPr/>
          </p:nvSpPr>
          <p:spPr>
            <a:xfrm>
              <a:off x="3657600" y="1600199"/>
              <a:ext cx="1524000" cy="4191000"/>
            </a:xfrm>
            <a:custGeom>
              <a:rect b="b" l="l" r="r" t="t"/>
              <a:pathLst>
                <a:path extrusionOk="0" h="4191000" w="1524000">
                  <a:moveTo>
                    <a:pt x="1524000" y="3352800"/>
                  </a:moveTo>
                  <a:lnTo>
                    <a:pt x="0" y="3352800"/>
                  </a:lnTo>
                  <a:lnTo>
                    <a:pt x="0" y="4191000"/>
                  </a:lnTo>
                  <a:lnTo>
                    <a:pt x="1524000" y="4191000"/>
                  </a:lnTo>
                  <a:lnTo>
                    <a:pt x="1524000" y="3352800"/>
                  </a:lnTo>
                  <a:close/>
                </a:path>
                <a:path extrusionOk="0" h="4191000" w="1524000">
                  <a:moveTo>
                    <a:pt x="1524000" y="0"/>
                  </a:moveTo>
                  <a:lnTo>
                    <a:pt x="0" y="0"/>
                  </a:lnTo>
                  <a:lnTo>
                    <a:pt x="0" y="838200"/>
                  </a:lnTo>
                  <a:lnTo>
                    <a:pt x="1524000" y="838200"/>
                  </a:lnTo>
                  <a:lnTo>
                    <a:pt x="1524000"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39" name="Google Shape;639;p84"/>
            <p:cNvSpPr/>
            <p:nvPr/>
          </p:nvSpPr>
          <p:spPr>
            <a:xfrm>
              <a:off x="3657600" y="4953000"/>
              <a:ext cx="1524000" cy="838200"/>
            </a:xfrm>
            <a:custGeom>
              <a:rect b="b" l="l" r="r" t="t"/>
              <a:pathLst>
                <a:path extrusionOk="0" h="838200" w="1524000">
                  <a:moveTo>
                    <a:pt x="0" y="838200"/>
                  </a:moveTo>
                  <a:lnTo>
                    <a:pt x="1524000" y="838200"/>
                  </a:lnTo>
                  <a:lnTo>
                    <a:pt x="1524000" y="0"/>
                  </a:lnTo>
                  <a:lnTo>
                    <a:pt x="0" y="0"/>
                  </a:lnTo>
                  <a:lnTo>
                    <a:pt x="0" y="8382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640" name="Google Shape;640;p84"/>
          <p:cNvSpPr/>
          <p:nvPr/>
        </p:nvSpPr>
        <p:spPr>
          <a:xfrm>
            <a:off x="5167122" y="2036571"/>
            <a:ext cx="1781810" cy="3297554"/>
          </a:xfrm>
          <a:custGeom>
            <a:rect b="b" l="l" r="r" t="t"/>
            <a:pathLst>
              <a:path extrusionOk="0" h="3297554" w="1781809">
                <a:moveTo>
                  <a:pt x="1767078" y="1240028"/>
                </a:moveTo>
                <a:lnTo>
                  <a:pt x="1707210" y="1130300"/>
                </a:lnTo>
                <a:lnTo>
                  <a:pt x="1631061" y="990727"/>
                </a:lnTo>
                <a:lnTo>
                  <a:pt x="1573072" y="1074115"/>
                </a:lnTo>
                <a:lnTo>
                  <a:pt x="28956" y="0"/>
                </a:lnTo>
                <a:lnTo>
                  <a:pt x="0" y="41656"/>
                </a:lnTo>
                <a:lnTo>
                  <a:pt x="1544066" y="1115822"/>
                </a:lnTo>
                <a:lnTo>
                  <a:pt x="1486027" y="1199261"/>
                </a:lnTo>
                <a:lnTo>
                  <a:pt x="1767078" y="1240028"/>
                </a:lnTo>
                <a:close/>
              </a:path>
              <a:path extrusionOk="0" h="3297554" w="1781809">
                <a:moveTo>
                  <a:pt x="1781556" y="2099056"/>
                </a:moveTo>
                <a:lnTo>
                  <a:pt x="1752600" y="2057400"/>
                </a:lnTo>
                <a:lnTo>
                  <a:pt x="208470" y="3131515"/>
                </a:lnTo>
                <a:lnTo>
                  <a:pt x="150495" y="3048127"/>
                </a:lnTo>
                <a:lnTo>
                  <a:pt x="14478" y="3297428"/>
                </a:lnTo>
                <a:lnTo>
                  <a:pt x="295529" y="3256661"/>
                </a:lnTo>
                <a:lnTo>
                  <a:pt x="247561" y="3187712"/>
                </a:lnTo>
                <a:lnTo>
                  <a:pt x="237477" y="3173222"/>
                </a:lnTo>
                <a:lnTo>
                  <a:pt x="1781556" y="2099056"/>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41" name="Google Shape;641;p84"/>
          <p:cNvSpPr txBox="1"/>
          <p:nvPr/>
        </p:nvSpPr>
        <p:spPr>
          <a:xfrm>
            <a:off x="6172200" y="3276600"/>
            <a:ext cx="1600200" cy="838200"/>
          </a:xfrm>
          <a:prstGeom prst="rect">
            <a:avLst/>
          </a:prstGeom>
          <a:solidFill>
            <a:srgbClr val="99CC00"/>
          </a:solidFill>
          <a:ln cap="flat" cmpd="sng" w="9525">
            <a:solidFill>
              <a:srgbClr val="000000"/>
            </a:solidFill>
            <a:prstDash val="solid"/>
            <a:round/>
            <a:headEnd len="sm" w="sm" type="none"/>
            <a:tailEnd len="sm" w="sm" type="none"/>
          </a:ln>
        </p:spPr>
        <p:txBody>
          <a:bodyPr anchorCtr="0" anchor="t" bIns="0" lIns="0" spcFirstLastPara="1" rIns="0" wrap="square" tIns="226050">
            <a:spAutoFit/>
          </a:bodyPr>
          <a:lstStyle/>
          <a:p>
            <a:pPr indent="0" lvl="0" marL="324485"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Indirect</a:t>
            </a:r>
            <a:endParaRPr sz="2400">
              <a:solidFill>
                <a:schemeClr val="dk1"/>
              </a:solidFill>
              <a:latin typeface="Times New Roman"/>
              <a:ea typeface="Times New Roman"/>
              <a:cs typeface="Times New Roman"/>
              <a:sym typeface="Times New Roman"/>
            </a:endParaRPr>
          </a:p>
        </p:txBody>
      </p:sp>
      <p:sp>
        <p:nvSpPr>
          <p:cNvPr id="642" name="Google Shape;642;p84"/>
          <p:cNvSpPr/>
          <p:nvPr/>
        </p:nvSpPr>
        <p:spPr>
          <a:xfrm>
            <a:off x="1889887" y="1981199"/>
            <a:ext cx="1782445" cy="3373754"/>
          </a:xfrm>
          <a:custGeom>
            <a:rect b="b" l="l" r="r" t="t"/>
            <a:pathLst>
              <a:path extrusionOk="0" h="3373754" w="1782445">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extrusionOk="0" h="3373754" w="1782445">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43" name="Google Shape;643;p84"/>
          <p:cNvSpPr txBox="1"/>
          <p:nvPr/>
        </p:nvSpPr>
        <p:spPr>
          <a:xfrm>
            <a:off x="1143000" y="3276600"/>
            <a:ext cx="1600200" cy="838200"/>
          </a:xfrm>
          <a:prstGeom prst="rect">
            <a:avLst/>
          </a:prstGeom>
          <a:solidFill>
            <a:srgbClr val="99CC00"/>
          </a:solidFill>
          <a:ln cap="flat" cmpd="sng" w="9525">
            <a:solidFill>
              <a:srgbClr val="000000"/>
            </a:solidFill>
            <a:prstDash val="solid"/>
            <a:round/>
            <a:headEnd len="sm" w="sm" type="none"/>
            <a:tailEnd len="sm" w="sm" type="none"/>
          </a:ln>
        </p:spPr>
        <p:txBody>
          <a:bodyPr anchorCtr="0" anchor="t" bIns="0" lIns="0" spcFirstLastPara="1" rIns="0" wrap="square" tIns="226050">
            <a:spAutoFit/>
          </a:bodyPr>
          <a:lstStyle/>
          <a:p>
            <a:pPr indent="0" lvl="0" marL="26416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Interrupt</a:t>
            </a:r>
            <a:endParaRPr sz="2400">
              <a:solidFill>
                <a:schemeClr val="dk1"/>
              </a:solidFill>
              <a:latin typeface="Times New Roman"/>
              <a:ea typeface="Times New Roman"/>
              <a:cs typeface="Times New Roman"/>
              <a:sym typeface="Times New Roman"/>
            </a:endParaRPr>
          </a:p>
        </p:txBody>
      </p:sp>
      <p:sp>
        <p:nvSpPr>
          <p:cNvPr id="644" name="Google Shape;644;p84"/>
          <p:cNvSpPr/>
          <p:nvPr/>
        </p:nvSpPr>
        <p:spPr>
          <a:xfrm>
            <a:off x="3657600" y="2438400"/>
            <a:ext cx="1524000" cy="2514600"/>
          </a:xfrm>
          <a:custGeom>
            <a:rect b="b" l="l" r="r" t="t"/>
            <a:pathLst>
              <a:path extrusionOk="0" h="2514600" w="1524000">
                <a:moveTo>
                  <a:pt x="1524000" y="0"/>
                </a:moveTo>
                <a:lnTo>
                  <a:pt x="0" y="0"/>
                </a:lnTo>
                <a:lnTo>
                  <a:pt x="0" y="2514600"/>
                </a:lnTo>
                <a:lnTo>
                  <a:pt x="1524000" y="2514600"/>
                </a:lnTo>
                <a:lnTo>
                  <a:pt x="1524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8" name="Shape 648"/>
        <p:cNvGrpSpPr/>
        <p:nvPr/>
      </p:nvGrpSpPr>
      <p:grpSpPr>
        <a:xfrm>
          <a:off x="0" y="0"/>
          <a:ext cx="0" cy="0"/>
          <a:chOff x="0" y="0"/>
          <a:chExt cx="0" cy="0"/>
        </a:xfrm>
      </p:grpSpPr>
      <p:sp>
        <p:nvSpPr>
          <p:cNvPr id="649" name="Google Shape;649;p85"/>
          <p:cNvSpPr txBox="1"/>
          <p:nvPr>
            <p:ph type="title"/>
          </p:nvPr>
        </p:nvSpPr>
        <p:spPr>
          <a:xfrm>
            <a:off x="999540" y="0"/>
            <a:ext cx="71227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State Diagram</a:t>
            </a:r>
            <a:endParaRPr sz="4400">
              <a:latin typeface="Calibri"/>
              <a:ea typeface="Calibri"/>
              <a:cs typeface="Calibri"/>
              <a:sym typeface="Calibri"/>
            </a:endParaRPr>
          </a:p>
        </p:txBody>
      </p:sp>
      <p:pic>
        <p:nvPicPr>
          <p:cNvPr id="650" name="Google Shape;650;p85"/>
          <p:cNvPicPr preferRelativeResize="0"/>
          <p:nvPr/>
        </p:nvPicPr>
        <p:blipFill rotWithShape="1">
          <a:blip r:embed="rId3">
            <a:alphaModFix/>
          </a:blip>
          <a:srcRect b="0" l="0" r="0" t="0"/>
          <a:stretch/>
        </p:blipFill>
        <p:spPr>
          <a:xfrm>
            <a:off x="26987" y="633412"/>
            <a:ext cx="8982075" cy="622458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4" name="Shape 654"/>
        <p:cNvGrpSpPr/>
        <p:nvPr/>
      </p:nvGrpSpPr>
      <p:grpSpPr>
        <a:xfrm>
          <a:off x="0" y="0"/>
          <a:ext cx="0" cy="0"/>
          <a:chOff x="0" y="0"/>
          <a:chExt cx="0" cy="0"/>
        </a:xfrm>
      </p:grpSpPr>
      <p:sp>
        <p:nvSpPr>
          <p:cNvPr id="655" name="Google Shape;655;p86"/>
          <p:cNvSpPr txBox="1"/>
          <p:nvPr>
            <p:ph type="title"/>
          </p:nvPr>
        </p:nvSpPr>
        <p:spPr>
          <a:xfrm>
            <a:off x="1010818" y="461594"/>
            <a:ext cx="71304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State Diagram</a:t>
            </a:r>
            <a:endParaRPr sz="4400">
              <a:latin typeface="Calibri"/>
              <a:ea typeface="Calibri"/>
              <a:cs typeface="Calibri"/>
              <a:sym typeface="Calibri"/>
            </a:endParaRPr>
          </a:p>
        </p:txBody>
      </p:sp>
      <p:sp>
        <p:nvSpPr>
          <p:cNvPr id="656" name="Google Shape;656;p86"/>
          <p:cNvSpPr txBox="1"/>
          <p:nvPr>
            <p:ph idx="1" type="body"/>
          </p:nvPr>
        </p:nvSpPr>
        <p:spPr>
          <a:xfrm>
            <a:off x="1435608" y="1447800"/>
            <a:ext cx="7498080" cy="4800600"/>
          </a:xfrm>
          <a:prstGeom prst="rect">
            <a:avLst/>
          </a:prstGeom>
          <a:noFill/>
          <a:ln>
            <a:noFill/>
          </a:ln>
        </p:spPr>
        <p:txBody>
          <a:bodyPr anchorCtr="0" anchor="t" bIns="0" lIns="0" spcFirstLastPara="1" rIns="0" wrap="square" tIns="200225">
            <a:spAutoFit/>
          </a:bodyPr>
          <a:lstStyle/>
          <a:p>
            <a:pPr indent="-343535" lvl="0" marL="355600" rtl="0" algn="l">
              <a:lnSpc>
                <a:spcPct val="100000"/>
              </a:lnSpc>
              <a:spcBef>
                <a:spcPts val="0"/>
              </a:spcBef>
              <a:spcAft>
                <a:spcPts val="0"/>
              </a:spcAft>
              <a:buSzPts val="1760"/>
              <a:buFont typeface="Arial"/>
              <a:buChar char="•"/>
            </a:pPr>
            <a:r>
              <a:rPr lang="en-US" sz="2200"/>
              <a:t>This illustrates more correctly the nature of the instruction cycle.</a:t>
            </a:r>
            <a:endParaRPr sz="2200"/>
          </a:p>
          <a:p>
            <a:pPr indent="-343535" lvl="0" marL="355600" marR="5080" rtl="0" algn="l">
              <a:lnSpc>
                <a:spcPct val="150000"/>
              </a:lnSpc>
              <a:spcBef>
                <a:spcPts val="530"/>
              </a:spcBef>
              <a:spcAft>
                <a:spcPts val="0"/>
              </a:spcAft>
              <a:buSzPts val="1760"/>
              <a:buFont typeface="Arial"/>
              <a:buChar char="•"/>
            </a:pPr>
            <a:r>
              <a:rPr lang="en-US" sz="2200"/>
              <a:t>Once	an	instruction	is	fetched,	its	operand	specifiers	must	be  identified.</a:t>
            </a:r>
            <a:endParaRPr sz="2200"/>
          </a:p>
          <a:p>
            <a:pPr indent="-343535" lvl="0" marL="355600" marR="5715" rtl="0" algn="l">
              <a:lnSpc>
                <a:spcPct val="150000"/>
              </a:lnSpc>
              <a:spcBef>
                <a:spcPts val="530"/>
              </a:spcBef>
              <a:spcAft>
                <a:spcPts val="0"/>
              </a:spcAft>
              <a:buSzPts val="1760"/>
              <a:buFont typeface="Arial"/>
              <a:buChar char="•"/>
            </a:pPr>
            <a:r>
              <a:rPr lang="en-US" sz="2200"/>
              <a:t>Each input operand in memory is then fetched, and this process  may require indirect addressing.</a:t>
            </a:r>
            <a:endParaRPr sz="2200"/>
          </a:p>
          <a:p>
            <a:pPr indent="-343535" lvl="0" marL="355600" rtl="0" algn="l">
              <a:lnSpc>
                <a:spcPct val="100000"/>
              </a:lnSpc>
              <a:spcBef>
                <a:spcPts val="1850"/>
              </a:spcBef>
              <a:spcAft>
                <a:spcPts val="0"/>
              </a:spcAft>
              <a:buSzPts val="1760"/>
              <a:buFont typeface="Arial"/>
              <a:buChar char="•"/>
            </a:pPr>
            <a:r>
              <a:rPr lang="en-US" sz="2200"/>
              <a:t>Register-based operands need not be fetched.</a:t>
            </a:r>
            <a:endParaRPr sz="2200"/>
          </a:p>
          <a:p>
            <a:pPr indent="-343535" lvl="0" marL="355600" marR="7620" rtl="0" algn="l">
              <a:lnSpc>
                <a:spcPct val="150100"/>
              </a:lnSpc>
              <a:spcBef>
                <a:spcPts val="525"/>
              </a:spcBef>
              <a:spcAft>
                <a:spcPts val="0"/>
              </a:spcAft>
              <a:buSzPts val="1760"/>
              <a:buFont typeface="Arial"/>
              <a:buChar char="•"/>
            </a:pPr>
            <a:r>
              <a:rPr lang="en-US" sz="2200"/>
              <a:t>Once the opcode is executed, a similar process may be needed to  store the result in main memory.</a:t>
            </a:r>
            <a:endParaRPr sz="22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0" name="Shape 660"/>
        <p:cNvGrpSpPr/>
        <p:nvPr/>
      </p:nvGrpSpPr>
      <p:grpSpPr>
        <a:xfrm>
          <a:off x="0" y="0"/>
          <a:ext cx="0" cy="0"/>
          <a:chOff x="0" y="0"/>
          <a:chExt cx="0" cy="0"/>
        </a:xfrm>
      </p:grpSpPr>
      <p:sp>
        <p:nvSpPr>
          <p:cNvPr id="661" name="Google Shape;661;p87"/>
          <p:cNvSpPr txBox="1"/>
          <p:nvPr>
            <p:ph type="title"/>
          </p:nvPr>
        </p:nvSpPr>
        <p:spPr>
          <a:xfrm>
            <a:off x="3600450" y="0"/>
            <a:ext cx="2071370" cy="69659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Registers</a:t>
            </a:r>
            <a:endParaRPr sz="4400">
              <a:latin typeface="Calibri"/>
              <a:ea typeface="Calibri"/>
              <a:cs typeface="Calibri"/>
              <a:sym typeface="Calibri"/>
            </a:endParaRPr>
          </a:p>
        </p:txBody>
      </p:sp>
      <p:sp>
        <p:nvSpPr>
          <p:cNvPr id="662" name="Google Shape;662;p87"/>
          <p:cNvSpPr txBox="1"/>
          <p:nvPr/>
        </p:nvSpPr>
        <p:spPr>
          <a:xfrm>
            <a:off x="329590" y="760603"/>
            <a:ext cx="7438390" cy="537972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FF0000"/>
              </a:buClr>
              <a:buSzPts val="2400"/>
              <a:buFont typeface="Arial"/>
              <a:buChar char="•"/>
            </a:pPr>
            <a:r>
              <a:rPr b="1" lang="en-US" sz="2400">
                <a:solidFill>
                  <a:srgbClr val="FF0000"/>
                </a:solidFill>
                <a:latin typeface="Calibri"/>
                <a:ea typeface="Calibri"/>
                <a:cs typeface="Calibri"/>
                <a:sym typeface="Calibri"/>
              </a:rPr>
              <a:t>Memory Address Register (MAR)</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Connected to address bus</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Specifies address for read or write op</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1920"/>
              </a:spcBef>
              <a:spcAft>
                <a:spcPts val="0"/>
              </a:spcAft>
              <a:buClr>
                <a:srgbClr val="FF0000"/>
              </a:buClr>
              <a:buSzPts val="2400"/>
              <a:buFont typeface="Arial"/>
              <a:buChar char="•"/>
            </a:pPr>
            <a:r>
              <a:rPr b="1" lang="en-US" sz="2400">
                <a:solidFill>
                  <a:srgbClr val="FF0000"/>
                </a:solidFill>
                <a:latin typeface="Calibri"/>
                <a:ea typeface="Calibri"/>
                <a:cs typeface="Calibri"/>
                <a:sym typeface="Calibri"/>
              </a:rPr>
              <a:t>Memory Buffer Register (MBR)</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Connected to data bus</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Holds data to write or last data read</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1914"/>
              </a:spcBef>
              <a:spcAft>
                <a:spcPts val="0"/>
              </a:spcAft>
              <a:buClr>
                <a:srgbClr val="FF0000"/>
              </a:buClr>
              <a:buSzPts val="2400"/>
              <a:buFont typeface="Arial"/>
              <a:buChar char="•"/>
            </a:pPr>
            <a:r>
              <a:rPr b="1" lang="en-US" sz="2400">
                <a:solidFill>
                  <a:srgbClr val="FF0000"/>
                </a:solidFill>
                <a:latin typeface="Calibri"/>
                <a:ea typeface="Calibri"/>
                <a:cs typeface="Calibri"/>
                <a:sym typeface="Calibri"/>
              </a:rPr>
              <a:t>Program Counter (PC)</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Holds address of next instruction to be fetched</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1920"/>
              </a:spcBef>
              <a:spcAft>
                <a:spcPts val="0"/>
              </a:spcAft>
              <a:buClr>
                <a:srgbClr val="FF0000"/>
              </a:buClr>
              <a:buSzPts val="2400"/>
              <a:buFont typeface="Arial"/>
              <a:buChar char="•"/>
            </a:pPr>
            <a:r>
              <a:rPr b="1" lang="en-US" sz="2400">
                <a:solidFill>
                  <a:srgbClr val="FF0000"/>
                </a:solidFill>
                <a:latin typeface="Calibri"/>
                <a:ea typeface="Calibri"/>
                <a:cs typeface="Calibri"/>
                <a:sym typeface="Calibri"/>
              </a:rPr>
              <a:t>Instruction Register (IR)</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Holds last instruction fetched/current instruction being executed</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6" name="Shape 666"/>
        <p:cNvGrpSpPr/>
        <p:nvPr/>
      </p:nvGrpSpPr>
      <p:grpSpPr>
        <a:xfrm>
          <a:off x="0" y="0"/>
          <a:ext cx="0" cy="0"/>
          <a:chOff x="0" y="0"/>
          <a:chExt cx="0" cy="0"/>
        </a:xfrm>
      </p:grpSpPr>
      <p:sp>
        <p:nvSpPr>
          <p:cNvPr id="667" name="Google Shape;667;p88"/>
          <p:cNvSpPr txBox="1"/>
          <p:nvPr>
            <p:ph type="title"/>
          </p:nvPr>
        </p:nvSpPr>
        <p:spPr>
          <a:xfrm>
            <a:off x="3284982" y="461594"/>
            <a:ext cx="257683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Fetch Cycle</a:t>
            </a:r>
            <a:endParaRPr sz="4400">
              <a:latin typeface="Calibri"/>
              <a:ea typeface="Calibri"/>
              <a:cs typeface="Calibri"/>
              <a:sym typeface="Calibri"/>
            </a:endParaRPr>
          </a:p>
        </p:txBody>
      </p:sp>
      <p:sp>
        <p:nvSpPr>
          <p:cNvPr id="668" name="Google Shape;668;p88"/>
          <p:cNvSpPr txBox="1"/>
          <p:nvPr/>
        </p:nvSpPr>
        <p:spPr>
          <a:xfrm>
            <a:off x="535940" y="1183391"/>
            <a:ext cx="7825105" cy="4307840"/>
          </a:xfrm>
          <a:prstGeom prst="rect">
            <a:avLst/>
          </a:prstGeom>
          <a:noFill/>
          <a:ln>
            <a:noFill/>
          </a:ln>
        </p:spPr>
        <p:txBody>
          <a:bodyPr anchorCtr="0" anchor="t" bIns="0" lIns="0" spcFirstLastPara="1" rIns="0" wrap="square" tIns="180325">
            <a:spAutoFit/>
          </a:bodyPr>
          <a:lstStyle/>
          <a:p>
            <a:pPr indent="-343535" lvl="0" marL="355600" marR="0" rtl="0" algn="l">
              <a:lnSpc>
                <a:spcPct val="100000"/>
              </a:lnSpc>
              <a:spcBef>
                <a:spcPts val="0"/>
              </a:spcBef>
              <a:spcAft>
                <a:spcPts val="0"/>
              </a:spcAft>
              <a:buClr>
                <a:schemeClr val="dk1"/>
              </a:buClr>
              <a:buSzPts val="2200"/>
              <a:buFont typeface="Arial"/>
              <a:buChar char="•"/>
            </a:pPr>
            <a:r>
              <a:rPr b="1" lang="en-US" sz="2200">
                <a:solidFill>
                  <a:schemeClr val="dk1"/>
                </a:solidFill>
                <a:latin typeface="Calibri"/>
                <a:ea typeface="Calibri"/>
                <a:cs typeface="Calibri"/>
                <a:sym typeface="Calibri"/>
              </a:rPr>
              <a:t>Program Counter (PC) </a:t>
            </a:r>
            <a:r>
              <a:rPr lang="en-US" sz="2200">
                <a:solidFill>
                  <a:schemeClr val="dk1"/>
                </a:solidFill>
                <a:latin typeface="Calibri"/>
                <a:ea typeface="Calibri"/>
                <a:cs typeface="Calibri"/>
                <a:sym typeface="Calibri"/>
              </a:rPr>
              <a:t>holds address of next instruction to be</a:t>
            </a:r>
            <a:endParaRPr sz="2200">
              <a:solidFill>
                <a:schemeClr val="dk1"/>
              </a:solidFill>
              <a:latin typeface="Calibri"/>
              <a:ea typeface="Calibri"/>
              <a:cs typeface="Calibri"/>
              <a:sym typeface="Calibri"/>
            </a:endParaRPr>
          </a:p>
          <a:p>
            <a:pPr indent="0" lvl="0" marL="355600" marR="0" rtl="0" algn="l">
              <a:lnSpc>
                <a:spcPct val="100000"/>
              </a:lnSpc>
              <a:spcBef>
                <a:spcPts val="1320"/>
              </a:spcBef>
              <a:spcAft>
                <a:spcPts val="0"/>
              </a:spcAft>
              <a:buNone/>
            </a:pPr>
            <a:r>
              <a:rPr lang="en-US" sz="2200">
                <a:solidFill>
                  <a:schemeClr val="dk1"/>
                </a:solidFill>
                <a:latin typeface="Calibri"/>
                <a:ea typeface="Calibri"/>
                <a:cs typeface="Calibri"/>
                <a:sym typeface="Calibri"/>
              </a:rPr>
              <a:t>fetched</a:t>
            </a:r>
            <a:endParaRPr sz="2200">
              <a:solidFill>
                <a:schemeClr val="dk1"/>
              </a:solidFill>
              <a:latin typeface="Calibri"/>
              <a:ea typeface="Calibri"/>
              <a:cs typeface="Calibri"/>
              <a:sym typeface="Calibri"/>
            </a:endParaRPr>
          </a:p>
          <a:p>
            <a:pPr indent="-343535" lvl="0" marL="355600" marR="5080" rtl="0" algn="l">
              <a:lnSpc>
                <a:spcPct val="150100"/>
              </a:lnSpc>
              <a:spcBef>
                <a:spcPts val="52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Processor fetches instruction from memory location pointed to by  PC</a:t>
            </a:r>
            <a:endParaRPr sz="2200">
              <a:solidFill>
                <a:schemeClr val="dk1"/>
              </a:solidFill>
              <a:latin typeface="Calibri"/>
              <a:ea typeface="Calibri"/>
              <a:cs typeface="Calibri"/>
              <a:sym typeface="Calibri"/>
            </a:endParaRPr>
          </a:p>
          <a:p>
            <a:pPr indent="-343535" lvl="0" marL="355600" marR="0" rtl="0" algn="l">
              <a:lnSpc>
                <a:spcPct val="100000"/>
              </a:lnSpc>
              <a:spcBef>
                <a:spcPts val="185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Increment PC</a:t>
            </a:r>
            <a:endParaRPr sz="2200">
              <a:solidFill>
                <a:schemeClr val="dk1"/>
              </a:solidFill>
              <a:latin typeface="Calibri"/>
              <a:ea typeface="Calibri"/>
              <a:cs typeface="Calibri"/>
              <a:sym typeface="Calibri"/>
            </a:endParaRPr>
          </a:p>
          <a:p>
            <a:pPr indent="0" lvl="0" marL="469900" marR="0" rtl="0" algn="l">
              <a:lnSpc>
                <a:spcPct val="100000"/>
              </a:lnSpc>
              <a:spcBef>
                <a:spcPts val="1670"/>
              </a:spcBef>
              <a:spcAft>
                <a:spcPts val="0"/>
              </a:spcAft>
              <a:buNone/>
            </a:pPr>
            <a:r>
              <a:rPr lang="en-US" sz="1900">
                <a:solidFill>
                  <a:schemeClr val="dk1"/>
                </a:solidFill>
                <a:latin typeface="Arial"/>
                <a:ea typeface="Arial"/>
                <a:cs typeface="Arial"/>
                <a:sym typeface="Arial"/>
              </a:rPr>
              <a:t>–	</a:t>
            </a:r>
            <a:r>
              <a:rPr lang="en-US" sz="1900">
                <a:solidFill>
                  <a:schemeClr val="dk1"/>
                </a:solidFill>
                <a:latin typeface="Calibri"/>
                <a:ea typeface="Calibri"/>
                <a:cs typeface="Calibri"/>
                <a:sym typeface="Calibri"/>
              </a:rPr>
              <a:t>Unless told otherwise</a:t>
            </a:r>
            <a:endParaRPr sz="1900">
              <a:solidFill>
                <a:schemeClr val="dk1"/>
              </a:solidFill>
              <a:latin typeface="Calibri"/>
              <a:ea typeface="Calibri"/>
              <a:cs typeface="Calibri"/>
              <a:sym typeface="Calibri"/>
            </a:endParaRPr>
          </a:p>
          <a:p>
            <a:pPr indent="-343535" lvl="0" marL="355600" marR="0" rtl="0" algn="l">
              <a:lnSpc>
                <a:spcPct val="100000"/>
              </a:lnSpc>
              <a:spcBef>
                <a:spcPts val="177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Instruction loaded into Instruction Register (IR)</a:t>
            </a:r>
            <a:endParaRPr sz="2200">
              <a:solidFill>
                <a:schemeClr val="dk1"/>
              </a:solidFill>
              <a:latin typeface="Calibri"/>
              <a:ea typeface="Calibri"/>
              <a:cs typeface="Calibri"/>
              <a:sym typeface="Calibri"/>
            </a:endParaRPr>
          </a:p>
          <a:p>
            <a:pPr indent="-343535" lvl="0" marL="355600" marR="0" rtl="0" algn="l">
              <a:lnSpc>
                <a:spcPct val="100000"/>
              </a:lnSpc>
              <a:spcBef>
                <a:spcPts val="185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Processor interprets instruction and performs required actions</a:t>
            </a:r>
            <a:endParaRPr sz="2200">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2" name="Shape 672"/>
        <p:cNvGrpSpPr/>
        <p:nvPr/>
      </p:nvGrpSpPr>
      <p:grpSpPr>
        <a:xfrm>
          <a:off x="0" y="0"/>
          <a:ext cx="0" cy="0"/>
          <a:chOff x="0" y="0"/>
          <a:chExt cx="0" cy="0"/>
        </a:xfrm>
      </p:grpSpPr>
      <p:sp>
        <p:nvSpPr>
          <p:cNvPr id="673" name="Google Shape;673;p89"/>
          <p:cNvSpPr txBox="1"/>
          <p:nvPr>
            <p:ph type="title"/>
          </p:nvPr>
        </p:nvSpPr>
        <p:spPr>
          <a:xfrm>
            <a:off x="1545716" y="461594"/>
            <a:ext cx="605853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Fetch Sequence (symbolic)</a:t>
            </a:r>
            <a:endParaRPr sz="4400">
              <a:latin typeface="Calibri"/>
              <a:ea typeface="Calibri"/>
              <a:cs typeface="Calibri"/>
              <a:sym typeface="Calibri"/>
            </a:endParaRPr>
          </a:p>
        </p:txBody>
      </p:sp>
      <p:pic>
        <p:nvPicPr>
          <p:cNvPr id="674" name="Google Shape;674;p89"/>
          <p:cNvPicPr preferRelativeResize="0"/>
          <p:nvPr/>
        </p:nvPicPr>
        <p:blipFill rotWithShape="1">
          <a:blip r:embed="rId3">
            <a:alphaModFix/>
          </a:blip>
          <a:srcRect b="0" l="0" r="0" t="0"/>
          <a:stretch/>
        </p:blipFill>
        <p:spPr>
          <a:xfrm>
            <a:off x="1100315" y="1893015"/>
            <a:ext cx="6639834" cy="357533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8" name="Shape 678"/>
        <p:cNvGrpSpPr/>
        <p:nvPr/>
      </p:nvGrpSpPr>
      <p:grpSpPr>
        <a:xfrm>
          <a:off x="0" y="0"/>
          <a:ext cx="0" cy="0"/>
          <a:chOff x="0" y="0"/>
          <a:chExt cx="0" cy="0"/>
        </a:xfrm>
      </p:grpSpPr>
      <p:sp>
        <p:nvSpPr>
          <p:cNvPr id="679" name="Google Shape;679;p90"/>
          <p:cNvSpPr txBox="1"/>
          <p:nvPr/>
        </p:nvSpPr>
        <p:spPr>
          <a:xfrm>
            <a:off x="329590" y="267411"/>
            <a:ext cx="8119109" cy="1977389"/>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The Fetch Cycle –</a:t>
            </a:r>
            <a:endParaRPr sz="3200">
              <a:solidFill>
                <a:schemeClr val="dk1"/>
              </a:solidFill>
              <a:latin typeface="Calibri"/>
              <a:ea typeface="Calibri"/>
              <a:cs typeface="Calibri"/>
              <a:sym typeface="Calibri"/>
            </a:endParaRPr>
          </a:p>
          <a:p>
            <a:pPr indent="0" lvl="0" marL="355600" marR="5080" rtl="0" algn="l">
              <a:lnSpc>
                <a:spcPct val="100000"/>
              </a:lnSpc>
              <a:spcBef>
                <a:spcPts val="0"/>
              </a:spcBef>
              <a:spcAft>
                <a:spcPts val="0"/>
              </a:spcAft>
              <a:buNone/>
            </a:pPr>
            <a:r>
              <a:rPr lang="en-US" sz="3200">
                <a:solidFill>
                  <a:schemeClr val="dk1"/>
                </a:solidFill>
                <a:latin typeface="Calibri"/>
                <a:ea typeface="Calibri"/>
                <a:cs typeface="Calibri"/>
                <a:sym typeface="Calibri"/>
              </a:rPr>
              <a:t>At the beginning of the fetch cycle, the address  of the next instruction to be executed is in</a:t>
            </a:r>
            <a:endParaRPr sz="320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3200">
                <a:solidFill>
                  <a:schemeClr val="dk1"/>
                </a:solidFill>
                <a:latin typeface="Calibri"/>
                <a:ea typeface="Calibri"/>
                <a:cs typeface="Calibri"/>
                <a:sym typeface="Calibri"/>
              </a:rPr>
              <a:t>the </a:t>
            </a:r>
            <a:r>
              <a:rPr i="1" lang="en-US" sz="3200">
                <a:solidFill>
                  <a:schemeClr val="dk1"/>
                </a:solidFill>
                <a:latin typeface="Calibri"/>
                <a:ea typeface="Calibri"/>
                <a:cs typeface="Calibri"/>
                <a:sym typeface="Calibri"/>
              </a:rPr>
              <a:t>Program Counter</a:t>
            </a:r>
            <a:r>
              <a:rPr lang="en-US" sz="3200">
                <a:solidFill>
                  <a:schemeClr val="dk1"/>
                </a:solidFill>
                <a:latin typeface="Calibri"/>
                <a:ea typeface="Calibri"/>
                <a:cs typeface="Calibri"/>
                <a:sym typeface="Calibri"/>
              </a:rPr>
              <a:t>(PC).</a:t>
            </a:r>
            <a:endParaRPr sz="3200">
              <a:solidFill>
                <a:schemeClr val="dk1"/>
              </a:solidFill>
              <a:latin typeface="Calibri"/>
              <a:ea typeface="Calibri"/>
              <a:cs typeface="Calibri"/>
              <a:sym typeface="Calibri"/>
            </a:endParaRPr>
          </a:p>
        </p:txBody>
      </p:sp>
      <p:pic>
        <p:nvPicPr>
          <p:cNvPr id="680" name="Google Shape;680;p90"/>
          <p:cNvPicPr preferRelativeResize="0"/>
          <p:nvPr/>
        </p:nvPicPr>
        <p:blipFill rotWithShape="1">
          <a:blip r:embed="rId3">
            <a:alphaModFix/>
          </a:blip>
          <a:srcRect b="0" l="0" r="0" t="0"/>
          <a:stretch/>
        </p:blipFill>
        <p:spPr>
          <a:xfrm>
            <a:off x="2447925" y="2873375"/>
            <a:ext cx="3533775" cy="22098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4" name="Shape 684"/>
        <p:cNvGrpSpPr/>
        <p:nvPr/>
      </p:nvGrpSpPr>
      <p:grpSpPr>
        <a:xfrm>
          <a:off x="0" y="0"/>
          <a:ext cx="0" cy="0"/>
          <a:chOff x="0" y="0"/>
          <a:chExt cx="0" cy="0"/>
        </a:xfrm>
      </p:grpSpPr>
      <p:sp>
        <p:nvSpPr>
          <p:cNvPr id="685" name="Google Shape;685;p91"/>
          <p:cNvSpPr txBox="1"/>
          <p:nvPr>
            <p:ph type="title"/>
          </p:nvPr>
        </p:nvSpPr>
        <p:spPr>
          <a:xfrm>
            <a:off x="3847591" y="191846"/>
            <a:ext cx="1451610"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Step 1:</a:t>
            </a:r>
            <a:endParaRPr/>
          </a:p>
        </p:txBody>
      </p:sp>
      <p:sp>
        <p:nvSpPr>
          <p:cNvPr id="686" name="Google Shape;686;p91"/>
          <p:cNvSpPr txBox="1"/>
          <p:nvPr>
            <p:ph idx="1" type="body"/>
          </p:nvPr>
        </p:nvSpPr>
        <p:spPr>
          <a:xfrm>
            <a:off x="1435608" y="1447800"/>
            <a:ext cx="7498080" cy="4800600"/>
          </a:xfrm>
          <a:prstGeom prst="rect">
            <a:avLst/>
          </a:prstGeom>
          <a:noFill/>
          <a:ln>
            <a:noFill/>
          </a:ln>
        </p:spPr>
        <p:txBody>
          <a:bodyPr anchorCtr="0" anchor="t" bIns="0" lIns="0" spcFirstLastPara="1" rIns="0" wrap="square" tIns="78325">
            <a:spAutoFit/>
          </a:bodyPr>
          <a:lstStyle/>
          <a:p>
            <a:pPr indent="-343535" lvl="0" marL="355600" marR="5080" rtl="0" algn="just">
              <a:lnSpc>
                <a:spcPct val="100000"/>
              </a:lnSpc>
              <a:spcBef>
                <a:spcPts val="0"/>
              </a:spcBef>
              <a:spcAft>
                <a:spcPts val="0"/>
              </a:spcAft>
              <a:buSzPts val="2560"/>
              <a:buFont typeface="Arial"/>
              <a:buChar char="•"/>
            </a:pPr>
            <a:r>
              <a:rPr lang="en-US"/>
              <a:t>The address in the program counter is moved to the  memory address register(MAR), as this is the only  register which is connected to address lines of the  system bus.</a:t>
            </a:r>
            <a:endParaRPr/>
          </a:p>
        </p:txBody>
      </p:sp>
      <p:pic>
        <p:nvPicPr>
          <p:cNvPr id="687" name="Google Shape;687;p91"/>
          <p:cNvPicPr preferRelativeResize="0"/>
          <p:nvPr/>
        </p:nvPicPr>
        <p:blipFill rotWithShape="1">
          <a:blip r:embed="rId3">
            <a:alphaModFix/>
          </a:blip>
          <a:srcRect b="0" l="0" r="0" t="0"/>
          <a:stretch/>
        </p:blipFill>
        <p:spPr>
          <a:xfrm>
            <a:off x="3895725" y="3340100"/>
            <a:ext cx="3533775" cy="21050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1" name="Shape 691"/>
        <p:cNvGrpSpPr/>
        <p:nvPr/>
      </p:nvGrpSpPr>
      <p:grpSpPr>
        <a:xfrm>
          <a:off x="0" y="0"/>
          <a:ext cx="0" cy="0"/>
          <a:chOff x="0" y="0"/>
          <a:chExt cx="0" cy="0"/>
        </a:xfrm>
      </p:grpSpPr>
      <p:sp>
        <p:nvSpPr>
          <p:cNvPr id="692" name="Google Shape;692;p92"/>
          <p:cNvSpPr txBox="1"/>
          <p:nvPr>
            <p:ph type="title"/>
          </p:nvPr>
        </p:nvSpPr>
        <p:spPr>
          <a:xfrm>
            <a:off x="3785361" y="15620"/>
            <a:ext cx="1597025" cy="69659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Step 2:</a:t>
            </a:r>
            <a:endParaRPr sz="4400">
              <a:latin typeface="Calibri"/>
              <a:ea typeface="Calibri"/>
              <a:cs typeface="Calibri"/>
              <a:sym typeface="Calibri"/>
            </a:endParaRPr>
          </a:p>
        </p:txBody>
      </p:sp>
      <p:sp>
        <p:nvSpPr>
          <p:cNvPr id="693" name="Google Shape;693;p92"/>
          <p:cNvSpPr txBox="1"/>
          <p:nvPr/>
        </p:nvSpPr>
        <p:spPr>
          <a:xfrm>
            <a:off x="402742" y="994664"/>
            <a:ext cx="8340090" cy="2660015"/>
          </a:xfrm>
          <a:prstGeom prst="rect">
            <a:avLst/>
          </a:prstGeom>
          <a:noFill/>
          <a:ln>
            <a:noFill/>
          </a:ln>
        </p:spPr>
        <p:txBody>
          <a:bodyPr anchorCtr="0" anchor="t" bIns="0" lIns="0" spcFirstLastPara="1" rIns="0" wrap="square" tIns="12700">
            <a:spAutoFit/>
          </a:bodyPr>
          <a:lstStyle/>
          <a:p>
            <a:pPr indent="-342900" lvl="0" marL="355600" marR="5080" rtl="0" algn="just">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address in MAR is placed on the address bus, now the  control unit issues a READ command on the control bus, and the  result appears on the data bus and is then copied into the  memory buffer register(MBR).</a:t>
            </a:r>
            <a:endParaRPr sz="2400">
              <a:solidFill>
                <a:schemeClr val="dk1"/>
              </a:solidFill>
              <a:latin typeface="Calibri"/>
              <a:ea typeface="Calibri"/>
              <a:cs typeface="Calibri"/>
              <a:sym typeface="Calibri"/>
            </a:endParaRPr>
          </a:p>
          <a:p>
            <a:pPr indent="-342900" lvl="0" marL="355600" marR="6350" rtl="0" algn="just">
              <a:lnSpc>
                <a:spcPct val="100000"/>
              </a:lnSpc>
              <a:spcBef>
                <a:spcPts val="575"/>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Program counter is incremented by one, to get ready for the  next instruction.(These two action can be performed  simultaneously to save time)</a:t>
            </a:r>
            <a:endParaRPr sz="2400">
              <a:solidFill>
                <a:schemeClr val="dk1"/>
              </a:solidFill>
              <a:latin typeface="Calibri"/>
              <a:ea typeface="Calibri"/>
              <a:cs typeface="Calibri"/>
              <a:sym typeface="Calibri"/>
            </a:endParaRPr>
          </a:p>
        </p:txBody>
      </p:sp>
      <p:pic>
        <p:nvPicPr>
          <p:cNvPr id="694" name="Google Shape;694;p92"/>
          <p:cNvPicPr preferRelativeResize="0"/>
          <p:nvPr/>
        </p:nvPicPr>
        <p:blipFill rotWithShape="1">
          <a:blip r:embed="rId3">
            <a:alphaModFix/>
          </a:blip>
          <a:srcRect b="0" l="0" r="0" t="0"/>
          <a:stretch/>
        </p:blipFill>
        <p:spPr>
          <a:xfrm>
            <a:off x="3733326" y="4048361"/>
            <a:ext cx="3732982" cy="222355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8" name="Shape 698"/>
        <p:cNvGrpSpPr/>
        <p:nvPr/>
      </p:nvGrpSpPr>
      <p:grpSpPr>
        <a:xfrm>
          <a:off x="0" y="0"/>
          <a:ext cx="0" cy="0"/>
          <a:chOff x="0" y="0"/>
          <a:chExt cx="0" cy="0"/>
        </a:xfrm>
      </p:grpSpPr>
      <p:sp>
        <p:nvSpPr>
          <p:cNvPr id="699" name="Google Shape;699;p93"/>
          <p:cNvSpPr txBox="1"/>
          <p:nvPr>
            <p:ph type="title"/>
          </p:nvPr>
        </p:nvSpPr>
        <p:spPr>
          <a:xfrm>
            <a:off x="3774185" y="461594"/>
            <a:ext cx="159766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Step 3:</a:t>
            </a:r>
            <a:endParaRPr sz="4400">
              <a:latin typeface="Calibri"/>
              <a:ea typeface="Calibri"/>
              <a:cs typeface="Calibri"/>
              <a:sym typeface="Calibri"/>
            </a:endParaRPr>
          </a:p>
        </p:txBody>
      </p:sp>
      <p:sp>
        <p:nvSpPr>
          <p:cNvPr id="700" name="Google Shape;700;p93"/>
          <p:cNvSpPr txBox="1"/>
          <p:nvPr/>
        </p:nvSpPr>
        <p:spPr>
          <a:xfrm>
            <a:off x="535940" y="1607642"/>
            <a:ext cx="6959600" cy="1002030"/>
          </a:xfrm>
          <a:prstGeom prst="rect">
            <a:avLst/>
          </a:prstGeom>
          <a:noFill/>
          <a:ln>
            <a:noFill/>
          </a:ln>
        </p:spPr>
        <p:txBody>
          <a:bodyPr anchorCtr="0" anchor="t" bIns="0" lIns="0" spcFirstLastPara="1" rIns="0" wrap="square" tIns="13325">
            <a:spAutoFit/>
          </a:bodyPr>
          <a:lstStyle/>
          <a:p>
            <a:pPr indent="-343535" lvl="0" marL="355600" marR="508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content of the MBR is moved to the  instruction register(IR)</a:t>
            </a:r>
            <a:endParaRPr sz="3200">
              <a:solidFill>
                <a:schemeClr val="dk1"/>
              </a:solidFill>
              <a:latin typeface="Calibri"/>
              <a:ea typeface="Calibri"/>
              <a:cs typeface="Calibri"/>
              <a:sym typeface="Calibri"/>
            </a:endParaRPr>
          </a:p>
        </p:txBody>
      </p:sp>
      <p:grpSp>
        <p:nvGrpSpPr>
          <p:cNvPr id="701" name="Google Shape;701;p93"/>
          <p:cNvGrpSpPr/>
          <p:nvPr/>
        </p:nvGrpSpPr>
        <p:grpSpPr>
          <a:xfrm>
            <a:off x="2585510" y="3345259"/>
            <a:ext cx="4046629" cy="2517378"/>
            <a:chOff x="2585510" y="3345259"/>
            <a:chExt cx="4046629" cy="2517378"/>
          </a:xfrm>
        </p:grpSpPr>
        <p:pic>
          <p:nvPicPr>
            <p:cNvPr id="702" name="Google Shape;702;p93"/>
            <p:cNvPicPr preferRelativeResize="0"/>
            <p:nvPr/>
          </p:nvPicPr>
          <p:blipFill rotWithShape="1">
            <a:blip r:embed="rId3">
              <a:alphaModFix/>
            </a:blip>
            <a:srcRect b="0" l="0" r="0" t="0"/>
            <a:stretch/>
          </p:blipFill>
          <p:spPr>
            <a:xfrm>
              <a:off x="2585510" y="3345259"/>
              <a:ext cx="4046629" cy="2409571"/>
            </a:xfrm>
            <a:prstGeom prst="rect">
              <a:avLst/>
            </a:prstGeom>
            <a:noFill/>
            <a:ln>
              <a:noFill/>
            </a:ln>
          </p:spPr>
        </p:pic>
        <p:sp>
          <p:nvSpPr>
            <p:cNvPr id="703" name="Google Shape;703;p93"/>
            <p:cNvSpPr/>
            <p:nvPr/>
          </p:nvSpPr>
          <p:spPr>
            <a:xfrm>
              <a:off x="4211700" y="5516562"/>
              <a:ext cx="1584325" cy="346075"/>
            </a:xfrm>
            <a:custGeom>
              <a:rect b="b" l="l" r="r" t="t"/>
              <a:pathLst>
                <a:path extrusionOk="0" h="346075" w="1584325">
                  <a:moveTo>
                    <a:pt x="1584325" y="0"/>
                  </a:moveTo>
                  <a:lnTo>
                    <a:pt x="0" y="0"/>
                  </a:lnTo>
                  <a:lnTo>
                    <a:pt x="0" y="346075"/>
                  </a:lnTo>
                  <a:lnTo>
                    <a:pt x="1584325" y="346075"/>
                  </a:lnTo>
                  <a:lnTo>
                    <a:pt x="15843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04" name="Google Shape;704;p93"/>
            <p:cNvSpPr/>
            <p:nvPr/>
          </p:nvSpPr>
          <p:spPr>
            <a:xfrm>
              <a:off x="4211700" y="5516562"/>
              <a:ext cx="1584325" cy="346075"/>
            </a:xfrm>
            <a:custGeom>
              <a:rect b="b" l="l" r="r" t="t"/>
              <a:pathLst>
                <a:path extrusionOk="0" h="346075" w="1584325">
                  <a:moveTo>
                    <a:pt x="0" y="346075"/>
                  </a:moveTo>
                  <a:lnTo>
                    <a:pt x="1584325" y="346075"/>
                  </a:lnTo>
                  <a:lnTo>
                    <a:pt x="1584325" y="0"/>
                  </a:lnTo>
                  <a:lnTo>
                    <a:pt x="0" y="0"/>
                  </a:lnTo>
                  <a:lnTo>
                    <a:pt x="0" y="346075"/>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705" name="Google Shape;705;p93"/>
          <p:cNvSpPr txBox="1"/>
          <p:nvPr/>
        </p:nvSpPr>
        <p:spPr>
          <a:xfrm>
            <a:off x="3986276" y="5886399"/>
            <a:ext cx="174307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THIRD STEP</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9" name="Shape 709"/>
        <p:cNvGrpSpPr/>
        <p:nvPr/>
      </p:nvGrpSpPr>
      <p:grpSpPr>
        <a:xfrm>
          <a:off x="0" y="0"/>
          <a:ext cx="0" cy="0"/>
          <a:chOff x="0" y="0"/>
          <a:chExt cx="0" cy="0"/>
        </a:xfrm>
      </p:grpSpPr>
      <p:sp>
        <p:nvSpPr>
          <p:cNvPr id="710" name="Google Shape;710;p94"/>
          <p:cNvSpPr txBox="1"/>
          <p:nvPr>
            <p:ph type="title"/>
          </p:nvPr>
        </p:nvSpPr>
        <p:spPr>
          <a:xfrm>
            <a:off x="3028950" y="461594"/>
            <a:ext cx="30886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Indirect Cycle</a:t>
            </a:r>
            <a:endParaRPr sz="4400">
              <a:latin typeface="Calibri"/>
              <a:ea typeface="Calibri"/>
              <a:cs typeface="Calibri"/>
              <a:sym typeface="Calibri"/>
            </a:endParaRPr>
          </a:p>
        </p:txBody>
      </p:sp>
      <p:pic>
        <p:nvPicPr>
          <p:cNvPr id="711" name="Google Shape;711;p94"/>
          <p:cNvPicPr preferRelativeResize="0"/>
          <p:nvPr/>
        </p:nvPicPr>
        <p:blipFill rotWithShape="1">
          <a:blip r:embed="rId3">
            <a:alphaModFix/>
          </a:blip>
          <a:srcRect b="0" l="0" r="0" t="0"/>
          <a:stretch/>
        </p:blipFill>
        <p:spPr>
          <a:xfrm>
            <a:off x="389466" y="2078475"/>
            <a:ext cx="8381999" cy="29026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5" name="Shape 715"/>
        <p:cNvGrpSpPr/>
        <p:nvPr/>
      </p:nvGrpSpPr>
      <p:grpSpPr>
        <a:xfrm>
          <a:off x="0" y="0"/>
          <a:ext cx="0" cy="0"/>
          <a:chOff x="0" y="0"/>
          <a:chExt cx="0" cy="0"/>
        </a:xfrm>
      </p:grpSpPr>
      <p:sp>
        <p:nvSpPr>
          <p:cNvPr id="716" name="Google Shape;716;p95"/>
          <p:cNvSpPr txBox="1"/>
          <p:nvPr/>
        </p:nvSpPr>
        <p:spPr>
          <a:xfrm>
            <a:off x="329590" y="804494"/>
            <a:ext cx="8352155" cy="478155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chemeClr val="dk1"/>
                </a:solidFill>
                <a:latin typeface="Calibri"/>
                <a:ea typeface="Calibri"/>
                <a:cs typeface="Calibri"/>
                <a:sym typeface="Calibri"/>
              </a:rPr>
              <a:t>Step 1</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12700" marR="0" rtl="0" algn="l">
              <a:lnSpc>
                <a:spcPct val="100000"/>
              </a:lnSpc>
              <a:spcBef>
                <a:spcPts val="1730"/>
              </a:spcBef>
              <a:spcAft>
                <a:spcPts val="0"/>
              </a:spcAft>
              <a:buNone/>
            </a:pPr>
            <a:r>
              <a:rPr lang="en-US" sz="2400">
                <a:solidFill>
                  <a:schemeClr val="dk1"/>
                </a:solidFill>
                <a:latin typeface="Calibri"/>
                <a:ea typeface="Calibri"/>
                <a:cs typeface="Calibri"/>
                <a:sym typeface="Calibri"/>
              </a:rPr>
              <a:t>The address field of the instruction is transferred to the MAR.</a:t>
            </a:r>
            <a:endParaRPr sz="2400">
              <a:solidFill>
                <a:schemeClr val="dk1"/>
              </a:solidFill>
              <a:latin typeface="Calibri"/>
              <a:ea typeface="Calibri"/>
              <a:cs typeface="Calibri"/>
              <a:sym typeface="Calibri"/>
            </a:endParaRPr>
          </a:p>
          <a:p>
            <a:pPr indent="0" lvl="0" marL="12700" marR="0" rtl="0" algn="just">
              <a:lnSpc>
                <a:spcPct val="100000"/>
              </a:lnSpc>
              <a:spcBef>
                <a:spcPts val="1730"/>
              </a:spcBef>
              <a:spcAft>
                <a:spcPts val="0"/>
              </a:spcAft>
              <a:buNone/>
            </a:pPr>
            <a:r>
              <a:rPr lang="en-US" sz="2400">
                <a:solidFill>
                  <a:schemeClr val="dk1"/>
                </a:solidFill>
                <a:latin typeface="Calibri"/>
                <a:ea typeface="Calibri"/>
                <a:cs typeface="Calibri"/>
                <a:sym typeface="Calibri"/>
              </a:rPr>
              <a:t>This  is    used  to  fetch  the    address  of  the    operand.</a:t>
            </a:r>
            <a:endParaRPr sz="2400">
              <a:solidFill>
                <a:schemeClr val="dk1"/>
              </a:solidFill>
              <a:latin typeface="Calibri"/>
              <a:ea typeface="Calibri"/>
              <a:cs typeface="Calibri"/>
              <a:sym typeface="Calibri"/>
            </a:endParaRPr>
          </a:p>
          <a:p>
            <a:pPr indent="0" lvl="0" marL="12700" marR="0" rtl="0" algn="just">
              <a:lnSpc>
                <a:spcPct val="100000"/>
              </a:lnSpc>
              <a:spcBef>
                <a:spcPts val="1150"/>
              </a:spcBef>
              <a:spcAft>
                <a:spcPts val="0"/>
              </a:spcAft>
              <a:buNone/>
            </a:pPr>
            <a:r>
              <a:rPr b="1" lang="en-US" sz="2400">
                <a:solidFill>
                  <a:schemeClr val="dk1"/>
                </a:solidFill>
                <a:latin typeface="Calibri"/>
                <a:ea typeface="Calibri"/>
                <a:cs typeface="Calibri"/>
                <a:sym typeface="Calibri"/>
              </a:rPr>
              <a:t>Step 2</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12700" marR="5080" rtl="0" algn="just">
              <a:lnSpc>
                <a:spcPct val="140100"/>
              </a:lnSpc>
              <a:spcBef>
                <a:spcPts val="575"/>
              </a:spcBef>
              <a:spcAft>
                <a:spcPts val="0"/>
              </a:spcAft>
              <a:buNone/>
            </a:pPr>
            <a:r>
              <a:rPr lang="en-US" sz="2400">
                <a:solidFill>
                  <a:schemeClr val="dk1"/>
                </a:solidFill>
                <a:latin typeface="Calibri"/>
                <a:ea typeface="Calibri"/>
                <a:cs typeface="Calibri"/>
                <a:sym typeface="Calibri"/>
              </a:rPr>
              <a:t>The address field of the IR is updated from the MBR.(So that it now  contains a direct addressing rather than indirect addressing)  </a:t>
            </a:r>
            <a:r>
              <a:rPr b="1" lang="en-US" sz="2400">
                <a:solidFill>
                  <a:schemeClr val="dk1"/>
                </a:solidFill>
                <a:latin typeface="Calibri"/>
                <a:ea typeface="Calibri"/>
                <a:cs typeface="Calibri"/>
                <a:sym typeface="Calibri"/>
              </a:rPr>
              <a:t>Step 3</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12700" marR="0" rtl="0" algn="l">
              <a:lnSpc>
                <a:spcPct val="100000"/>
              </a:lnSpc>
              <a:spcBef>
                <a:spcPts val="1730"/>
              </a:spcBef>
              <a:spcAft>
                <a:spcPts val="0"/>
              </a:spcAft>
              <a:buNone/>
            </a:pPr>
            <a:r>
              <a:rPr lang="en-US" sz="2400">
                <a:solidFill>
                  <a:schemeClr val="dk1"/>
                </a:solidFill>
                <a:latin typeface="Calibri"/>
                <a:ea typeface="Calibri"/>
                <a:cs typeface="Calibri"/>
                <a:sym typeface="Calibri"/>
              </a:rPr>
              <a:t>The IR is now in the state, as if indirect addressing has not been</a:t>
            </a:r>
            <a:endParaRPr sz="2400">
              <a:solidFill>
                <a:schemeClr val="dk1"/>
              </a:solidFill>
              <a:latin typeface="Calibri"/>
              <a:ea typeface="Calibri"/>
              <a:cs typeface="Calibri"/>
              <a:sym typeface="Calibri"/>
            </a:endParaRPr>
          </a:p>
          <a:p>
            <a:pPr indent="0" lvl="0" marL="12700" marR="0" rtl="0" algn="l">
              <a:lnSpc>
                <a:spcPct val="100000"/>
              </a:lnSpc>
              <a:spcBef>
                <a:spcPts val="1150"/>
              </a:spcBef>
              <a:spcAft>
                <a:spcPts val="0"/>
              </a:spcAft>
              <a:buNone/>
            </a:pPr>
            <a:r>
              <a:rPr lang="en-US" sz="2400">
                <a:solidFill>
                  <a:schemeClr val="dk1"/>
                </a:solidFill>
                <a:latin typeface="Calibri"/>
                <a:ea typeface="Calibri"/>
                <a:cs typeface="Calibri"/>
                <a:sym typeface="Calibri"/>
              </a:rPr>
              <a:t>occurred.</a:t>
            </a:r>
            <a:endParaRPr sz="2400">
              <a:solidFill>
                <a:schemeClr val="dk1"/>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0" name="Shape 720"/>
        <p:cNvGrpSpPr/>
        <p:nvPr/>
      </p:nvGrpSpPr>
      <p:grpSpPr>
        <a:xfrm>
          <a:off x="0" y="0"/>
          <a:ext cx="0" cy="0"/>
          <a:chOff x="0" y="0"/>
          <a:chExt cx="0" cy="0"/>
        </a:xfrm>
      </p:grpSpPr>
      <p:sp>
        <p:nvSpPr>
          <p:cNvPr id="721" name="Google Shape;721;p96"/>
          <p:cNvSpPr txBox="1"/>
          <p:nvPr>
            <p:ph type="title"/>
          </p:nvPr>
        </p:nvSpPr>
        <p:spPr>
          <a:xfrm>
            <a:off x="2876550" y="461594"/>
            <a:ext cx="33934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Interrupt Cycle</a:t>
            </a:r>
            <a:endParaRPr sz="4400">
              <a:latin typeface="Calibri"/>
              <a:ea typeface="Calibri"/>
              <a:cs typeface="Calibri"/>
              <a:sym typeface="Calibri"/>
            </a:endParaRPr>
          </a:p>
        </p:txBody>
      </p:sp>
      <p:sp>
        <p:nvSpPr>
          <p:cNvPr id="722" name="Google Shape;722;p96"/>
          <p:cNvSpPr txBox="1"/>
          <p:nvPr/>
        </p:nvSpPr>
        <p:spPr>
          <a:xfrm>
            <a:off x="550265" y="1545716"/>
            <a:ext cx="8071484" cy="492760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At	the	completion	of	the	Execute	Cycle,	a	test	is	made	to</a:t>
            </a:r>
            <a:endParaRPr sz="2400">
              <a:solidFill>
                <a:schemeClr val="dk1"/>
              </a:solidFill>
              <a:latin typeface="Calibri"/>
              <a:ea typeface="Calibri"/>
              <a:cs typeface="Calibri"/>
              <a:sym typeface="Calibri"/>
            </a:endParaRPr>
          </a:p>
          <a:p>
            <a:pPr indent="0" lvl="0" marL="355600" marR="5080" rtl="0" algn="l">
              <a:lnSpc>
                <a:spcPct val="240000"/>
              </a:lnSpc>
              <a:spcBef>
                <a:spcPts val="670"/>
              </a:spcBef>
              <a:spcAft>
                <a:spcPts val="0"/>
              </a:spcAft>
              <a:buNone/>
            </a:pPr>
            <a:r>
              <a:rPr lang="en-US" sz="2400">
                <a:solidFill>
                  <a:schemeClr val="dk1"/>
                </a:solidFill>
                <a:latin typeface="Calibri"/>
                <a:ea typeface="Calibri"/>
                <a:cs typeface="Calibri"/>
                <a:sym typeface="Calibri"/>
              </a:rPr>
              <a:t>determine	whether	any	enabled	interrupt	has	occurred	or  not.</a:t>
            </a:r>
            <a:endParaRPr sz="2400">
              <a:solidFill>
                <a:schemeClr val="dk1"/>
              </a:solidFill>
              <a:latin typeface="Calibri"/>
              <a:ea typeface="Calibri"/>
              <a:cs typeface="Calibri"/>
              <a:sym typeface="Calibri"/>
            </a:endParaRPr>
          </a:p>
          <a:p>
            <a:pPr indent="-342900" lvl="0" marL="355600" marR="5080" rtl="0" algn="l">
              <a:lnSpc>
                <a:spcPct val="240000"/>
              </a:lnSpc>
              <a:spcBef>
                <a:spcPts val="5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an	enabled	interrupt	has	occurred	then	Interrupt	Cycle  occurs.</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Clr>
                <a:schemeClr val="dk1"/>
              </a:buClr>
              <a:buSzPts val="2250"/>
              <a:buFont typeface="Arial"/>
              <a:buNone/>
            </a:pPr>
            <a:r>
              <a:t/>
            </a:r>
            <a:endParaRPr sz="225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nature of this cycle varies greatly from one machine to</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5"/>
              </a:spcBef>
              <a:spcAft>
                <a:spcPts val="0"/>
              </a:spcAft>
              <a:buNone/>
            </a:pPr>
            <a:r>
              <a:rPr lang="en-US" sz="2400">
                <a:solidFill>
                  <a:schemeClr val="dk1"/>
                </a:solidFill>
                <a:latin typeface="Calibri"/>
                <a:ea typeface="Calibri"/>
                <a:cs typeface="Calibri"/>
                <a:sym typeface="Calibri"/>
              </a:rPr>
              <a:t>another.</a:t>
            </a:r>
            <a:endParaRPr sz="2400">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6" name="Shape 726"/>
        <p:cNvGrpSpPr/>
        <p:nvPr/>
      </p:nvGrpSpPr>
      <p:grpSpPr>
        <a:xfrm>
          <a:off x="0" y="0"/>
          <a:ext cx="0" cy="0"/>
          <a:chOff x="0" y="0"/>
          <a:chExt cx="0" cy="0"/>
        </a:xfrm>
      </p:grpSpPr>
      <p:pic>
        <p:nvPicPr>
          <p:cNvPr id="727" name="Google Shape;727;p97"/>
          <p:cNvPicPr preferRelativeResize="0"/>
          <p:nvPr/>
        </p:nvPicPr>
        <p:blipFill rotWithShape="1">
          <a:blip r:embed="rId3">
            <a:alphaModFix/>
          </a:blip>
          <a:srcRect b="0" l="0" r="0" t="0"/>
          <a:stretch/>
        </p:blipFill>
        <p:spPr>
          <a:xfrm>
            <a:off x="647349" y="2203884"/>
            <a:ext cx="7746957" cy="290549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1" name="Shape 731"/>
        <p:cNvGrpSpPr/>
        <p:nvPr/>
      </p:nvGrpSpPr>
      <p:grpSpPr>
        <a:xfrm>
          <a:off x="0" y="0"/>
          <a:ext cx="0" cy="0"/>
          <a:chOff x="0" y="0"/>
          <a:chExt cx="0" cy="0"/>
        </a:xfrm>
      </p:grpSpPr>
      <p:sp>
        <p:nvSpPr>
          <p:cNvPr id="732" name="Google Shape;732;p98"/>
          <p:cNvSpPr txBox="1"/>
          <p:nvPr/>
        </p:nvSpPr>
        <p:spPr>
          <a:xfrm>
            <a:off x="104038" y="146029"/>
            <a:ext cx="8535670" cy="5080635"/>
          </a:xfrm>
          <a:prstGeom prst="rect">
            <a:avLst/>
          </a:prstGeom>
          <a:noFill/>
          <a:ln>
            <a:noFill/>
          </a:ln>
        </p:spPr>
        <p:txBody>
          <a:bodyPr anchorCtr="0" anchor="t" bIns="0" lIns="0" spcFirstLastPara="1" rIns="0" wrap="square" tIns="12050">
            <a:spAutoFit/>
          </a:bodyPr>
          <a:lstStyle/>
          <a:p>
            <a:pPr indent="-343535" lvl="0" marL="355600" marR="150495" rtl="0" algn="l">
              <a:lnSpc>
                <a:spcPct val="1501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Step 1: Contents of the PC is transferred to the MBR, so that they  can be saved for return.</a:t>
            </a:r>
            <a:endParaRPr sz="2400">
              <a:solidFill>
                <a:schemeClr val="dk1"/>
              </a:solidFill>
              <a:latin typeface="Calibri"/>
              <a:ea typeface="Calibri"/>
              <a:cs typeface="Calibri"/>
              <a:sym typeface="Calibri"/>
            </a:endParaRPr>
          </a:p>
          <a:p>
            <a:pPr indent="0" lvl="0" marL="355600" marR="278130" rtl="0" algn="l">
              <a:lnSpc>
                <a:spcPct val="180000"/>
              </a:lnSpc>
              <a:spcBef>
                <a:spcPts val="384"/>
              </a:spcBef>
              <a:spcAft>
                <a:spcPts val="0"/>
              </a:spcAft>
              <a:buNone/>
            </a:pPr>
            <a:r>
              <a:rPr lang="en-US" sz="2400">
                <a:solidFill>
                  <a:schemeClr val="dk1"/>
                </a:solidFill>
                <a:latin typeface="Calibri"/>
                <a:ea typeface="Calibri"/>
                <a:cs typeface="Calibri"/>
                <a:sym typeface="Calibri"/>
              </a:rPr>
              <a:t>Step 2: MAR is loaded with the address at which the contents of  the PC are to be saved.</a:t>
            </a:r>
            <a:endParaRPr sz="2400">
              <a:solidFill>
                <a:schemeClr val="dk1"/>
              </a:solidFill>
              <a:latin typeface="Calibri"/>
              <a:ea typeface="Calibri"/>
              <a:cs typeface="Calibri"/>
              <a:sym typeface="Calibri"/>
            </a:endParaRPr>
          </a:p>
          <a:p>
            <a:pPr indent="0" lvl="0" marL="355600" marR="1028700" rtl="0" algn="l">
              <a:lnSpc>
                <a:spcPct val="180000"/>
              </a:lnSpc>
              <a:spcBef>
                <a:spcPts val="0"/>
              </a:spcBef>
              <a:spcAft>
                <a:spcPts val="0"/>
              </a:spcAft>
              <a:buNone/>
            </a:pPr>
            <a:r>
              <a:rPr lang="en-US" sz="2400">
                <a:solidFill>
                  <a:schemeClr val="dk1"/>
                </a:solidFill>
                <a:latin typeface="Calibri"/>
                <a:ea typeface="Calibri"/>
                <a:cs typeface="Calibri"/>
                <a:sym typeface="Calibri"/>
              </a:rPr>
              <a:t>PC is loaded with the address of the start of the interrupt-  processing routine.</a:t>
            </a:r>
            <a:endParaRPr sz="2400">
              <a:solidFill>
                <a:schemeClr val="dk1"/>
              </a:solidFill>
              <a:latin typeface="Calibri"/>
              <a:ea typeface="Calibri"/>
              <a:cs typeface="Calibri"/>
              <a:sym typeface="Calibri"/>
            </a:endParaRPr>
          </a:p>
          <a:p>
            <a:pPr indent="0" lvl="0" marL="355600" marR="0" rtl="0" algn="l">
              <a:lnSpc>
                <a:spcPct val="100000"/>
              </a:lnSpc>
              <a:spcBef>
                <a:spcPts val="1060"/>
              </a:spcBef>
              <a:spcAft>
                <a:spcPts val="0"/>
              </a:spcAft>
              <a:buNone/>
            </a:pPr>
            <a:r>
              <a:rPr lang="en-US" sz="2400">
                <a:solidFill>
                  <a:schemeClr val="dk1"/>
                </a:solidFill>
                <a:latin typeface="Calibri"/>
                <a:ea typeface="Calibri"/>
                <a:cs typeface="Calibri"/>
                <a:sym typeface="Calibri"/>
              </a:rPr>
              <a:t>Step 3: MBR, containing the old value of PC, is stored in memory.</a:t>
            </a:r>
            <a:endParaRPr sz="2400">
              <a:solidFill>
                <a:schemeClr val="dk1"/>
              </a:solidFill>
              <a:latin typeface="Calibri"/>
              <a:ea typeface="Calibri"/>
              <a:cs typeface="Calibri"/>
              <a:sym typeface="Calibri"/>
            </a:endParaRPr>
          </a:p>
          <a:p>
            <a:pPr indent="-287019" lvl="0" marL="756285" marR="5080" rtl="0" algn="l">
              <a:lnSpc>
                <a:spcPct val="100000"/>
              </a:lnSpc>
              <a:spcBef>
                <a:spcPts val="91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Calibri"/>
                <a:ea typeface="Calibri"/>
                <a:cs typeface="Calibri"/>
                <a:sym typeface="Calibri"/>
              </a:rPr>
              <a:t>Note: </a:t>
            </a:r>
            <a:r>
              <a:rPr lang="en-US" sz="1800">
                <a:solidFill>
                  <a:schemeClr val="dk1"/>
                </a:solidFill>
                <a:latin typeface="Calibri"/>
                <a:ea typeface="Calibri"/>
                <a:cs typeface="Calibri"/>
                <a:sym typeface="Calibri"/>
              </a:rPr>
              <a:t>In step 2, two actions are implemented as one micro-operation. However,  most processor provide multiple types of interrupts, it may take one or more micro-  operation to obtain the save_address and the routine_address before they are  transferred to the MAR and PC respectively.a</a:t>
            </a:r>
            <a:endParaRPr sz="180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6" name="Shape 736"/>
        <p:cNvGrpSpPr/>
        <p:nvPr/>
      </p:nvGrpSpPr>
      <p:grpSpPr>
        <a:xfrm>
          <a:off x="0" y="0"/>
          <a:ext cx="0" cy="0"/>
          <a:chOff x="0" y="0"/>
          <a:chExt cx="0" cy="0"/>
        </a:xfrm>
      </p:grpSpPr>
      <p:sp>
        <p:nvSpPr>
          <p:cNvPr id="737" name="Google Shape;737;p99"/>
          <p:cNvSpPr txBox="1"/>
          <p:nvPr>
            <p:ph type="title"/>
          </p:nvPr>
        </p:nvSpPr>
        <p:spPr>
          <a:xfrm>
            <a:off x="2280666" y="461594"/>
            <a:ext cx="458406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Execute Cycle (ADD)</a:t>
            </a:r>
            <a:endParaRPr sz="4400">
              <a:latin typeface="Calibri"/>
              <a:ea typeface="Calibri"/>
              <a:cs typeface="Calibri"/>
              <a:sym typeface="Calibri"/>
            </a:endParaRPr>
          </a:p>
        </p:txBody>
      </p:sp>
      <p:sp>
        <p:nvSpPr>
          <p:cNvPr id="738" name="Google Shape;738;p99"/>
          <p:cNvSpPr txBox="1"/>
          <p:nvPr/>
        </p:nvSpPr>
        <p:spPr>
          <a:xfrm>
            <a:off x="566216" y="1216133"/>
            <a:ext cx="8009890" cy="4329430"/>
          </a:xfrm>
          <a:prstGeom prst="rect">
            <a:avLst/>
          </a:prstGeom>
          <a:noFill/>
          <a:ln>
            <a:noFill/>
          </a:ln>
        </p:spPr>
        <p:txBody>
          <a:bodyPr anchorCtr="0" anchor="t" bIns="0" lIns="0" spcFirstLastPara="1" rIns="0" wrap="square" tIns="186675">
            <a:spAutoFit/>
          </a:bodyPr>
          <a:lstStyle/>
          <a:p>
            <a:pPr indent="0" lvl="0" marL="25400" marR="0" rtl="0" algn="l">
              <a:lnSpc>
                <a:spcPct val="100000"/>
              </a:lnSpc>
              <a:spcBef>
                <a:spcPts val="0"/>
              </a:spcBef>
              <a:spcAft>
                <a:spcPts val="0"/>
              </a:spcAft>
              <a:buNone/>
            </a:pPr>
            <a:r>
              <a:rPr lang="en-US" sz="3200">
                <a:solidFill>
                  <a:schemeClr val="dk1"/>
                </a:solidFill>
                <a:latin typeface="Calibri"/>
                <a:ea typeface="Calibri"/>
                <a:cs typeface="Calibri"/>
                <a:sym typeface="Calibri"/>
              </a:rPr>
              <a:t>Different for each instruction</a:t>
            </a:r>
            <a:endParaRPr sz="3200">
              <a:solidFill>
                <a:schemeClr val="dk1"/>
              </a:solidFill>
              <a:latin typeface="Calibri"/>
              <a:ea typeface="Calibri"/>
              <a:cs typeface="Calibri"/>
              <a:sym typeface="Calibri"/>
            </a:endParaRPr>
          </a:p>
          <a:p>
            <a:pPr indent="-342900" lvl="0" marL="368300" marR="17780" rtl="0" algn="l">
              <a:lnSpc>
                <a:spcPct val="100000"/>
              </a:lnSpc>
              <a:spcBef>
                <a:spcPts val="1365"/>
              </a:spcBef>
              <a:spcAft>
                <a:spcPts val="0"/>
              </a:spcAft>
              <a:buNone/>
            </a:pPr>
            <a:r>
              <a:rPr lang="en-US" sz="3200">
                <a:solidFill>
                  <a:schemeClr val="dk1"/>
                </a:solidFill>
                <a:latin typeface="Calibri"/>
                <a:ea typeface="Calibri"/>
                <a:cs typeface="Calibri"/>
                <a:sym typeface="Calibri"/>
              </a:rPr>
              <a:t>e.g. ADD R1,X - add the contents of location X to  Register 1 , result in R1</a:t>
            </a:r>
            <a:endParaRPr sz="3200">
              <a:solidFill>
                <a:schemeClr val="dk1"/>
              </a:solidFill>
              <a:latin typeface="Calibri"/>
              <a:ea typeface="Calibri"/>
              <a:cs typeface="Calibri"/>
              <a:sym typeface="Calibri"/>
            </a:endParaRPr>
          </a:p>
          <a:p>
            <a:pPr indent="0" lvl="0" marL="590550" marR="0" rtl="0" algn="l">
              <a:lnSpc>
                <a:spcPct val="100000"/>
              </a:lnSpc>
              <a:spcBef>
                <a:spcPts val="2515"/>
              </a:spcBef>
              <a:spcAft>
                <a:spcPts val="0"/>
              </a:spcAft>
              <a:buNone/>
            </a:pPr>
            <a:r>
              <a:rPr lang="en-US" sz="4050">
                <a:solidFill>
                  <a:schemeClr val="dk1"/>
                </a:solidFill>
                <a:latin typeface="Times New Roman"/>
                <a:ea typeface="Times New Roman"/>
                <a:cs typeface="Times New Roman"/>
                <a:sym typeface="Times New Roman"/>
              </a:rPr>
              <a:t>t</a:t>
            </a:r>
            <a:r>
              <a:rPr baseline="-25000" lang="en-US" sz="3525">
                <a:solidFill>
                  <a:schemeClr val="dk1"/>
                </a:solidFill>
                <a:latin typeface="Times New Roman"/>
                <a:ea typeface="Times New Roman"/>
                <a:cs typeface="Times New Roman"/>
                <a:sym typeface="Times New Roman"/>
              </a:rPr>
              <a:t>1 </a:t>
            </a:r>
            <a:r>
              <a:rPr lang="en-US" sz="4050">
                <a:solidFill>
                  <a:schemeClr val="dk1"/>
                </a:solidFill>
                <a:latin typeface="Times New Roman"/>
                <a:ea typeface="Times New Roman"/>
                <a:cs typeface="Times New Roman"/>
                <a:sym typeface="Times New Roman"/>
              </a:rPr>
              <a:t>: IR </a:t>
            </a:r>
            <a:r>
              <a:rPr lang="en-US" sz="4050">
                <a:solidFill>
                  <a:schemeClr val="dk1"/>
                </a:solidFill>
                <a:latin typeface="Noto Sans Symbols"/>
                <a:ea typeface="Noto Sans Symbols"/>
                <a:cs typeface="Noto Sans Symbols"/>
                <a:sym typeface="Noto Sans Symbols"/>
              </a:rPr>
              <a:t>→</a:t>
            </a:r>
            <a:r>
              <a:rPr lang="en-US" sz="4050">
                <a:solidFill>
                  <a:schemeClr val="dk1"/>
                </a:solidFill>
                <a:latin typeface="Times New Roman"/>
                <a:ea typeface="Times New Roman"/>
                <a:cs typeface="Times New Roman"/>
                <a:sym typeface="Times New Roman"/>
              </a:rPr>
              <a:t> MAR</a:t>
            </a:r>
            <a:endParaRPr sz="4050">
              <a:solidFill>
                <a:schemeClr val="dk1"/>
              </a:solidFill>
              <a:latin typeface="Times New Roman"/>
              <a:ea typeface="Times New Roman"/>
              <a:cs typeface="Times New Roman"/>
              <a:sym typeface="Times New Roman"/>
            </a:endParaRPr>
          </a:p>
          <a:p>
            <a:pPr indent="0" lvl="0" marL="590550" marR="2535555" rtl="0" algn="l">
              <a:lnSpc>
                <a:spcPct val="126000"/>
              </a:lnSpc>
              <a:spcBef>
                <a:spcPts val="10"/>
              </a:spcBef>
              <a:spcAft>
                <a:spcPts val="0"/>
              </a:spcAft>
              <a:buNone/>
            </a:pPr>
            <a:r>
              <a:rPr lang="en-US" sz="4050">
                <a:solidFill>
                  <a:schemeClr val="dk1"/>
                </a:solidFill>
                <a:latin typeface="Times New Roman"/>
                <a:ea typeface="Times New Roman"/>
                <a:cs typeface="Times New Roman"/>
                <a:sym typeface="Times New Roman"/>
              </a:rPr>
              <a:t>t</a:t>
            </a:r>
            <a:r>
              <a:rPr baseline="-25000" lang="en-US" sz="3525">
                <a:solidFill>
                  <a:schemeClr val="dk1"/>
                </a:solidFill>
                <a:latin typeface="Times New Roman"/>
                <a:ea typeface="Times New Roman"/>
                <a:cs typeface="Times New Roman"/>
                <a:sym typeface="Times New Roman"/>
              </a:rPr>
              <a:t>2	</a:t>
            </a:r>
            <a:r>
              <a:rPr lang="en-US" sz="4050">
                <a:solidFill>
                  <a:schemeClr val="dk1"/>
                </a:solidFill>
                <a:latin typeface="Times New Roman"/>
                <a:ea typeface="Times New Roman"/>
                <a:cs typeface="Times New Roman"/>
                <a:sym typeface="Times New Roman"/>
              </a:rPr>
              <a:t>: MEMORY </a:t>
            </a:r>
            <a:r>
              <a:rPr lang="en-US" sz="4050">
                <a:solidFill>
                  <a:schemeClr val="dk1"/>
                </a:solidFill>
                <a:latin typeface="Noto Sans Symbols"/>
                <a:ea typeface="Noto Sans Symbols"/>
                <a:cs typeface="Noto Sans Symbols"/>
                <a:sym typeface="Noto Sans Symbols"/>
              </a:rPr>
              <a:t>→</a:t>
            </a:r>
            <a:r>
              <a:rPr lang="en-US" sz="4050">
                <a:solidFill>
                  <a:schemeClr val="dk1"/>
                </a:solidFill>
                <a:latin typeface="Times New Roman"/>
                <a:ea typeface="Times New Roman"/>
                <a:cs typeface="Times New Roman"/>
                <a:sym typeface="Times New Roman"/>
              </a:rPr>
              <a:t> MDR  t</a:t>
            </a:r>
            <a:r>
              <a:rPr baseline="-25000" lang="en-US" sz="3525">
                <a:solidFill>
                  <a:schemeClr val="dk1"/>
                </a:solidFill>
                <a:latin typeface="Times New Roman"/>
                <a:ea typeface="Times New Roman"/>
                <a:cs typeface="Times New Roman"/>
                <a:sym typeface="Times New Roman"/>
              </a:rPr>
              <a:t>3  </a:t>
            </a:r>
            <a:r>
              <a:rPr lang="en-US" sz="4050">
                <a:solidFill>
                  <a:schemeClr val="dk1"/>
                </a:solidFill>
                <a:latin typeface="Times New Roman"/>
                <a:ea typeface="Times New Roman"/>
                <a:cs typeface="Times New Roman"/>
                <a:sym typeface="Times New Roman"/>
              </a:rPr>
              <a:t>: MDR </a:t>
            </a:r>
            <a:r>
              <a:rPr lang="en-US" sz="4050">
                <a:solidFill>
                  <a:schemeClr val="dk1"/>
                </a:solidFill>
                <a:latin typeface="Noto Sans Symbols"/>
                <a:ea typeface="Noto Sans Symbols"/>
                <a:cs typeface="Noto Sans Symbols"/>
                <a:sym typeface="Noto Sans Symbols"/>
              </a:rPr>
              <a:t>+</a:t>
            </a:r>
            <a:r>
              <a:rPr lang="en-US" sz="4050">
                <a:solidFill>
                  <a:schemeClr val="dk1"/>
                </a:solidFill>
                <a:latin typeface="Times New Roman"/>
                <a:ea typeface="Times New Roman"/>
                <a:cs typeface="Times New Roman"/>
                <a:sym typeface="Times New Roman"/>
              </a:rPr>
              <a:t> R1 </a:t>
            </a:r>
            <a:r>
              <a:rPr lang="en-US" sz="4050">
                <a:solidFill>
                  <a:schemeClr val="dk1"/>
                </a:solidFill>
                <a:latin typeface="Noto Sans Symbols"/>
                <a:ea typeface="Noto Sans Symbols"/>
                <a:cs typeface="Noto Sans Symbols"/>
                <a:sym typeface="Noto Sans Symbols"/>
              </a:rPr>
              <a:t>→</a:t>
            </a:r>
            <a:r>
              <a:rPr lang="en-US" sz="4050">
                <a:solidFill>
                  <a:schemeClr val="dk1"/>
                </a:solidFill>
                <a:latin typeface="Times New Roman"/>
                <a:ea typeface="Times New Roman"/>
                <a:cs typeface="Times New Roman"/>
                <a:sym typeface="Times New Roman"/>
              </a:rPr>
              <a:t> R1</a:t>
            </a:r>
            <a:endParaRPr sz="4050">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2" name="Shape 742"/>
        <p:cNvGrpSpPr/>
        <p:nvPr/>
      </p:nvGrpSpPr>
      <p:grpSpPr>
        <a:xfrm>
          <a:off x="0" y="0"/>
          <a:ext cx="0" cy="0"/>
          <a:chOff x="0" y="0"/>
          <a:chExt cx="0" cy="0"/>
        </a:xfrm>
      </p:grpSpPr>
      <p:sp>
        <p:nvSpPr>
          <p:cNvPr id="743" name="Google Shape;743;p100"/>
          <p:cNvSpPr txBox="1"/>
          <p:nvPr>
            <p:ph type="title"/>
          </p:nvPr>
        </p:nvSpPr>
        <p:spPr>
          <a:xfrm>
            <a:off x="1435608" y="274320"/>
            <a:ext cx="7498080" cy="1143000"/>
          </a:xfrm>
          <a:prstGeom prst="rect">
            <a:avLst/>
          </a:prstGeom>
          <a:noFill/>
          <a:ln>
            <a:noFill/>
          </a:ln>
        </p:spPr>
        <p:txBody>
          <a:bodyPr anchorCtr="0" anchor="ctr" bIns="0" lIns="0" spcFirstLastPara="1" rIns="0" wrap="square" tIns="51675">
            <a:spAutoFit/>
          </a:bodyPr>
          <a:lstStyle/>
          <a:p>
            <a:pPr indent="-541655" lvl="0" marL="1559560" marR="508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Constituent Elements of  Program Execution</a:t>
            </a:r>
            <a:endParaRPr/>
          </a:p>
        </p:txBody>
      </p:sp>
      <p:pic>
        <p:nvPicPr>
          <p:cNvPr id="744" name="Google Shape;744;p100"/>
          <p:cNvPicPr preferRelativeResize="0"/>
          <p:nvPr/>
        </p:nvPicPr>
        <p:blipFill rotWithShape="1">
          <a:blip r:embed="rId3">
            <a:alphaModFix/>
          </a:blip>
          <a:srcRect b="0" l="0" r="0" t="0"/>
          <a:stretch/>
        </p:blipFill>
        <p:spPr>
          <a:xfrm>
            <a:off x="12933" y="1530333"/>
            <a:ext cx="8988797" cy="517138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8" name="Shape 748"/>
        <p:cNvGrpSpPr/>
        <p:nvPr/>
      </p:nvGrpSpPr>
      <p:grpSpPr>
        <a:xfrm>
          <a:off x="0" y="0"/>
          <a:ext cx="0" cy="0"/>
          <a:chOff x="0" y="0"/>
          <a:chExt cx="0" cy="0"/>
        </a:xfrm>
      </p:grpSpPr>
      <p:sp>
        <p:nvSpPr>
          <p:cNvPr id="749" name="Google Shape;749;p101"/>
          <p:cNvSpPr txBox="1"/>
          <p:nvPr>
            <p:ph type="title"/>
          </p:nvPr>
        </p:nvSpPr>
        <p:spPr>
          <a:xfrm>
            <a:off x="2553461" y="461594"/>
            <a:ext cx="403606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Micro-Operations</a:t>
            </a:r>
            <a:endParaRPr sz="4400">
              <a:latin typeface="Calibri"/>
              <a:ea typeface="Calibri"/>
              <a:cs typeface="Calibri"/>
              <a:sym typeface="Calibri"/>
            </a:endParaRPr>
          </a:p>
        </p:txBody>
      </p:sp>
      <p:sp>
        <p:nvSpPr>
          <p:cNvPr id="750" name="Google Shape;750;p101"/>
          <p:cNvSpPr txBox="1"/>
          <p:nvPr/>
        </p:nvSpPr>
        <p:spPr>
          <a:xfrm>
            <a:off x="1122070" y="1622882"/>
            <a:ext cx="5781675" cy="4660265"/>
          </a:xfrm>
          <a:prstGeom prst="rect">
            <a:avLst/>
          </a:prstGeom>
          <a:noFill/>
          <a:ln>
            <a:noFill/>
          </a:ln>
        </p:spPr>
        <p:txBody>
          <a:bodyPr anchorCtr="0" anchor="t" bIns="0" lIns="0" spcFirstLastPara="1" rIns="0" wrap="square" tIns="13325">
            <a:spAutoFit/>
          </a:bodyPr>
          <a:lstStyle/>
          <a:p>
            <a:pPr indent="-342900" lvl="0" marL="354965"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A computer executes a program</a:t>
            </a:r>
            <a:endParaRPr sz="3200">
              <a:solidFill>
                <a:schemeClr val="dk1"/>
              </a:solidFill>
              <a:latin typeface="Calibri"/>
              <a:ea typeface="Calibri"/>
              <a:cs typeface="Calibri"/>
              <a:sym typeface="Calibri"/>
            </a:endParaRPr>
          </a:p>
          <a:p>
            <a:pPr indent="-342900" lvl="0" marL="354965" marR="0" rtl="0" algn="l">
              <a:lnSpc>
                <a:spcPct val="100000"/>
              </a:lnSpc>
              <a:spcBef>
                <a:spcPts val="269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Fetch/execute cycle</a:t>
            </a:r>
            <a:endParaRPr sz="3200">
              <a:solidFill>
                <a:schemeClr val="dk1"/>
              </a:solidFill>
              <a:latin typeface="Calibri"/>
              <a:ea typeface="Calibri"/>
              <a:cs typeface="Calibri"/>
              <a:sym typeface="Calibri"/>
            </a:endParaRPr>
          </a:p>
          <a:p>
            <a:pPr indent="-342900" lvl="0" marL="354965" marR="0" rtl="0" algn="l">
              <a:lnSpc>
                <a:spcPct val="100000"/>
              </a:lnSpc>
              <a:spcBef>
                <a:spcPts val="269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Each cycle has a number of steps</a:t>
            </a:r>
            <a:endParaRPr sz="3200">
              <a:solidFill>
                <a:schemeClr val="dk1"/>
              </a:solidFill>
              <a:latin typeface="Calibri"/>
              <a:ea typeface="Calibri"/>
              <a:cs typeface="Calibri"/>
              <a:sym typeface="Calibri"/>
            </a:endParaRPr>
          </a:p>
          <a:p>
            <a:pPr indent="-342900" lvl="0" marL="354965" marR="0" rtl="0" algn="l">
              <a:lnSpc>
                <a:spcPct val="100000"/>
              </a:lnSpc>
              <a:spcBef>
                <a:spcPts val="269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Called micro-operations</a:t>
            </a:r>
            <a:endParaRPr sz="3200">
              <a:solidFill>
                <a:schemeClr val="dk1"/>
              </a:solidFill>
              <a:latin typeface="Calibri"/>
              <a:ea typeface="Calibri"/>
              <a:cs typeface="Calibri"/>
              <a:sym typeface="Calibri"/>
            </a:endParaRPr>
          </a:p>
          <a:p>
            <a:pPr indent="-342900" lvl="0" marL="354965" marR="0" rtl="0" algn="l">
              <a:lnSpc>
                <a:spcPct val="100000"/>
              </a:lnSpc>
              <a:spcBef>
                <a:spcPts val="268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Each step does very little</a:t>
            </a:r>
            <a:endParaRPr sz="3200">
              <a:solidFill>
                <a:schemeClr val="dk1"/>
              </a:solidFill>
              <a:latin typeface="Calibri"/>
              <a:ea typeface="Calibri"/>
              <a:cs typeface="Calibri"/>
              <a:sym typeface="Calibri"/>
            </a:endParaRPr>
          </a:p>
          <a:p>
            <a:pPr indent="-342900" lvl="0" marL="354965" marR="0" rtl="0" algn="l">
              <a:lnSpc>
                <a:spcPct val="100000"/>
              </a:lnSpc>
              <a:spcBef>
                <a:spcPts val="269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Atomic operation of CPU</a:t>
            </a:r>
            <a:endParaRPr sz="32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4" name="Shape 754"/>
        <p:cNvGrpSpPr/>
        <p:nvPr/>
      </p:nvGrpSpPr>
      <p:grpSpPr>
        <a:xfrm>
          <a:off x="0" y="0"/>
          <a:ext cx="0" cy="0"/>
          <a:chOff x="0" y="0"/>
          <a:chExt cx="0" cy="0"/>
        </a:xfrm>
      </p:grpSpPr>
      <p:sp>
        <p:nvSpPr>
          <p:cNvPr id="755" name="Google Shape;755;p102"/>
          <p:cNvSpPr txBox="1"/>
          <p:nvPr>
            <p:ph type="title"/>
          </p:nvPr>
        </p:nvSpPr>
        <p:spPr>
          <a:xfrm>
            <a:off x="1695069" y="461594"/>
            <a:ext cx="57543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Types of Micro-operation</a:t>
            </a:r>
            <a:endParaRPr sz="4400">
              <a:latin typeface="Calibri"/>
              <a:ea typeface="Calibri"/>
              <a:cs typeface="Calibri"/>
              <a:sym typeface="Calibri"/>
            </a:endParaRPr>
          </a:p>
        </p:txBody>
      </p:sp>
      <p:sp>
        <p:nvSpPr>
          <p:cNvPr id="756" name="Google Shape;756;p102"/>
          <p:cNvSpPr txBox="1"/>
          <p:nvPr/>
        </p:nvSpPr>
        <p:spPr>
          <a:xfrm>
            <a:off x="535940" y="1958162"/>
            <a:ext cx="6640830" cy="373380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Transfer data between registers</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Transfer data from register to external</a:t>
            </a:r>
            <a:endParaRPr sz="3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Transfer data from external to register</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Perform arithmetic or logical ops</a:t>
            </a:r>
            <a:endParaRPr sz="32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0" name="Shape 760"/>
        <p:cNvGrpSpPr/>
        <p:nvPr/>
      </p:nvGrpSpPr>
      <p:grpSpPr>
        <a:xfrm>
          <a:off x="0" y="0"/>
          <a:ext cx="0" cy="0"/>
          <a:chOff x="0" y="0"/>
          <a:chExt cx="0" cy="0"/>
        </a:xfrm>
      </p:grpSpPr>
      <p:sp>
        <p:nvSpPr>
          <p:cNvPr id="761" name="Google Shape;761;p103"/>
          <p:cNvSpPr txBox="1"/>
          <p:nvPr>
            <p:ph type="title"/>
          </p:nvPr>
        </p:nvSpPr>
        <p:spPr>
          <a:xfrm>
            <a:off x="2158745" y="1601799"/>
            <a:ext cx="4827270" cy="1854835"/>
          </a:xfrm>
          <a:prstGeom prst="rect">
            <a:avLst/>
          </a:prstGeom>
          <a:noFill/>
          <a:ln>
            <a:noFill/>
          </a:ln>
        </p:spPr>
        <p:txBody>
          <a:bodyPr anchorCtr="0" anchor="ctr" bIns="0" lIns="0" spcFirstLastPara="1" rIns="0" wrap="square" tIns="12050">
            <a:spAutoFit/>
          </a:bodyPr>
          <a:lstStyle/>
          <a:p>
            <a:pPr indent="-1270" lvl="0" marL="12700" marR="5080" rtl="0" algn="ctr">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William Stallings  Computer Organization  and Architecture</a:t>
            </a:r>
            <a:endParaRPr/>
          </a:p>
        </p:txBody>
      </p:sp>
      <p:sp>
        <p:nvSpPr>
          <p:cNvPr id="762" name="Google Shape;762;p103"/>
          <p:cNvSpPr txBox="1"/>
          <p:nvPr/>
        </p:nvSpPr>
        <p:spPr>
          <a:xfrm>
            <a:off x="1598549" y="3431285"/>
            <a:ext cx="5946140" cy="1845945"/>
          </a:xfrm>
          <a:prstGeom prst="rect">
            <a:avLst/>
          </a:prstGeom>
          <a:noFill/>
          <a:ln>
            <a:noFill/>
          </a:ln>
        </p:spPr>
        <p:txBody>
          <a:bodyPr anchorCtr="0" anchor="t" bIns="0" lIns="0" spcFirstLastPara="1" rIns="0" wrap="square" tIns="12050">
            <a:spAutoFit/>
          </a:bodyPr>
          <a:lstStyle/>
          <a:p>
            <a:pPr indent="0" lvl="0" marL="0" marR="0" rtl="0" algn="ctr">
              <a:lnSpc>
                <a:spcPct val="105750"/>
              </a:lnSpc>
              <a:spcBef>
                <a:spcPts val="0"/>
              </a:spcBef>
              <a:spcAft>
                <a:spcPts val="0"/>
              </a:spcAft>
              <a:buNone/>
            </a:pPr>
            <a:r>
              <a:rPr lang="en-US" sz="4000">
                <a:solidFill>
                  <a:srgbClr val="11478A"/>
                </a:solidFill>
                <a:latin typeface="Calibri"/>
                <a:ea typeface="Calibri"/>
                <a:cs typeface="Calibri"/>
                <a:sym typeface="Calibri"/>
              </a:rPr>
              <a:t>8</a:t>
            </a:r>
            <a:r>
              <a:rPr baseline="30000" lang="en-US" sz="3975">
                <a:solidFill>
                  <a:srgbClr val="11478A"/>
                </a:solidFill>
                <a:latin typeface="Calibri"/>
                <a:ea typeface="Calibri"/>
                <a:cs typeface="Calibri"/>
                <a:sym typeface="Calibri"/>
              </a:rPr>
              <a:t>th </a:t>
            </a:r>
            <a:r>
              <a:rPr lang="en-US" sz="4000">
                <a:solidFill>
                  <a:srgbClr val="11478A"/>
                </a:solidFill>
                <a:latin typeface="Calibri"/>
                <a:ea typeface="Calibri"/>
                <a:cs typeface="Calibri"/>
                <a:sym typeface="Calibri"/>
              </a:rPr>
              <a:t>Edition</a:t>
            </a:r>
            <a:endParaRPr sz="4000">
              <a:solidFill>
                <a:schemeClr val="dk1"/>
              </a:solidFill>
              <a:latin typeface="Calibri"/>
              <a:ea typeface="Calibri"/>
              <a:cs typeface="Calibri"/>
              <a:sym typeface="Calibri"/>
            </a:endParaRPr>
          </a:p>
          <a:p>
            <a:pPr indent="0" lvl="0" marL="0" marR="0" rtl="0" algn="ctr">
              <a:lnSpc>
                <a:spcPct val="101000"/>
              </a:lnSpc>
              <a:spcBef>
                <a:spcPts val="0"/>
              </a:spcBef>
              <a:spcAft>
                <a:spcPts val="0"/>
              </a:spcAft>
              <a:buNone/>
            </a:pPr>
            <a:r>
              <a:rPr lang="en-US" sz="3000">
                <a:solidFill>
                  <a:srgbClr val="888888"/>
                </a:solidFill>
                <a:latin typeface="Calibri"/>
                <a:ea typeface="Calibri"/>
                <a:cs typeface="Calibri"/>
                <a:sym typeface="Calibri"/>
              </a:rPr>
              <a:t>Chapter 15</a:t>
            </a:r>
            <a:endParaRPr sz="3000">
              <a:solidFill>
                <a:schemeClr val="dk1"/>
              </a:solidFill>
              <a:latin typeface="Calibri"/>
              <a:ea typeface="Calibri"/>
              <a:cs typeface="Calibri"/>
              <a:sym typeface="Calibri"/>
            </a:endParaRPr>
          </a:p>
          <a:p>
            <a:pPr indent="0" lvl="0" marL="0" marR="0" rtl="0" algn="ctr">
              <a:lnSpc>
                <a:spcPct val="100000"/>
              </a:lnSpc>
              <a:spcBef>
                <a:spcPts val="1075"/>
              </a:spcBef>
              <a:spcAft>
                <a:spcPts val="0"/>
              </a:spcAft>
              <a:buNone/>
            </a:pPr>
            <a:r>
              <a:rPr lang="en-US" sz="5000">
                <a:solidFill>
                  <a:srgbClr val="001F5F"/>
                </a:solidFill>
                <a:latin typeface="Calibri"/>
                <a:ea typeface="Calibri"/>
                <a:cs typeface="Calibri"/>
                <a:sym typeface="Calibri"/>
              </a:rPr>
              <a:t>Control Unit Operation</a:t>
            </a:r>
            <a:endParaRPr sz="5000">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6" name="Shape 766"/>
        <p:cNvGrpSpPr/>
        <p:nvPr/>
      </p:nvGrpSpPr>
      <p:grpSpPr>
        <a:xfrm>
          <a:off x="0" y="0"/>
          <a:ext cx="0" cy="0"/>
          <a:chOff x="0" y="0"/>
          <a:chExt cx="0" cy="0"/>
        </a:xfrm>
      </p:grpSpPr>
      <p:sp>
        <p:nvSpPr>
          <p:cNvPr id="767" name="Google Shape;767;p104"/>
          <p:cNvSpPr txBox="1"/>
          <p:nvPr>
            <p:ph type="title"/>
          </p:nvPr>
        </p:nvSpPr>
        <p:spPr>
          <a:xfrm>
            <a:off x="872134" y="191846"/>
            <a:ext cx="7396480" cy="1244600"/>
          </a:xfrm>
          <a:prstGeom prst="rect">
            <a:avLst/>
          </a:prstGeom>
          <a:noFill/>
          <a:ln>
            <a:noFill/>
          </a:ln>
        </p:spPr>
        <p:txBody>
          <a:bodyPr anchorCtr="0" anchor="ctr" bIns="0" lIns="0" spcFirstLastPara="1" rIns="0" wrap="square" tIns="12050">
            <a:spAutoFit/>
          </a:bodyPr>
          <a:lstStyle/>
          <a:p>
            <a:pPr indent="-3170555" lvl="0" marL="3182620" marR="508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Functional Requirements(of Control  Unit)</a:t>
            </a:r>
            <a:endParaRPr/>
          </a:p>
        </p:txBody>
      </p:sp>
      <p:sp>
        <p:nvSpPr>
          <p:cNvPr id="768" name="Google Shape;768;p104"/>
          <p:cNvSpPr txBox="1"/>
          <p:nvPr/>
        </p:nvSpPr>
        <p:spPr>
          <a:xfrm>
            <a:off x="618236" y="1958162"/>
            <a:ext cx="7973695" cy="3636010"/>
          </a:xfrm>
          <a:prstGeom prst="rect">
            <a:avLst/>
          </a:prstGeom>
          <a:noFill/>
          <a:ln>
            <a:noFill/>
          </a:ln>
        </p:spPr>
        <p:txBody>
          <a:bodyPr anchorCtr="0" anchor="t" bIns="0" lIns="0" spcFirstLastPara="1" rIns="0" wrap="square" tIns="13325">
            <a:spAutoFit/>
          </a:bodyPr>
          <a:lstStyle/>
          <a:p>
            <a:pPr indent="-283844" lvl="0" marL="295910" marR="0" rtl="0" algn="l">
              <a:lnSpc>
                <a:spcPct val="100000"/>
              </a:lnSpc>
              <a:spcBef>
                <a:spcPts val="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Define basic elements of processor</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Quattrocento Sans"/>
              <a:buNone/>
            </a:pPr>
            <a:r>
              <a:t/>
            </a:r>
            <a:endParaRPr sz="3750">
              <a:solidFill>
                <a:schemeClr val="dk1"/>
              </a:solidFill>
              <a:latin typeface="Calibri"/>
              <a:ea typeface="Calibri"/>
              <a:cs typeface="Calibri"/>
              <a:sym typeface="Calibri"/>
            </a:endParaRPr>
          </a:p>
          <a:p>
            <a:pPr indent="-283844" lvl="0" marL="295910" marR="0" rtl="0" algn="l">
              <a:lnSpc>
                <a:spcPct val="100000"/>
              </a:lnSpc>
              <a:spcBef>
                <a:spcPts val="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Describe micro-operations processor performs</a:t>
            </a:r>
            <a:endParaRPr sz="3200">
              <a:solidFill>
                <a:schemeClr val="dk1"/>
              </a:solidFill>
              <a:latin typeface="Calibri"/>
              <a:ea typeface="Calibri"/>
              <a:cs typeface="Calibri"/>
              <a:sym typeface="Calibri"/>
            </a:endParaRPr>
          </a:p>
          <a:p>
            <a:pPr indent="-283844" lvl="0" marL="295910" marR="1339215" rtl="0" algn="l">
              <a:lnSpc>
                <a:spcPct val="200000"/>
              </a:lnSpc>
              <a:spcBef>
                <a:spcPts val="775"/>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Determine functions control unit must  perform</a:t>
            </a:r>
            <a:endParaRPr sz="3200">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2" name="Shape 772"/>
        <p:cNvGrpSpPr/>
        <p:nvPr/>
      </p:nvGrpSpPr>
      <p:grpSpPr>
        <a:xfrm>
          <a:off x="0" y="0"/>
          <a:ext cx="0" cy="0"/>
          <a:chOff x="0" y="0"/>
          <a:chExt cx="0" cy="0"/>
        </a:xfrm>
      </p:grpSpPr>
      <p:sp>
        <p:nvSpPr>
          <p:cNvPr id="773" name="Google Shape;773;p105"/>
          <p:cNvSpPr txBox="1"/>
          <p:nvPr>
            <p:ph type="title"/>
          </p:nvPr>
        </p:nvSpPr>
        <p:spPr>
          <a:xfrm>
            <a:off x="3600450" y="461594"/>
            <a:ext cx="207200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Registers</a:t>
            </a:r>
            <a:endParaRPr sz="4400">
              <a:latin typeface="Calibri"/>
              <a:ea typeface="Calibri"/>
              <a:cs typeface="Calibri"/>
              <a:sym typeface="Calibri"/>
            </a:endParaRPr>
          </a:p>
        </p:txBody>
      </p:sp>
      <p:sp>
        <p:nvSpPr>
          <p:cNvPr id="774" name="Google Shape;774;p105"/>
          <p:cNvSpPr txBox="1"/>
          <p:nvPr/>
        </p:nvSpPr>
        <p:spPr>
          <a:xfrm>
            <a:off x="1204366" y="1103836"/>
            <a:ext cx="7624445" cy="5378450"/>
          </a:xfrm>
          <a:prstGeom prst="rect">
            <a:avLst/>
          </a:prstGeom>
          <a:noFill/>
          <a:ln>
            <a:noFill/>
          </a:ln>
        </p:spPr>
        <p:txBody>
          <a:bodyPr anchorCtr="0" anchor="t" bIns="0" lIns="0" spcFirstLastPara="1" rIns="0" wrap="square" tIns="64750">
            <a:spAutoFit/>
          </a:bodyPr>
          <a:lstStyle/>
          <a:p>
            <a:pPr indent="-283844" lvl="0" marL="295910" marR="0" rtl="0" algn="l">
              <a:lnSpc>
                <a:spcPct val="100000"/>
              </a:lnSpc>
              <a:spcBef>
                <a:spcPts val="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Memory Address Register (MAR)</a:t>
            </a:r>
            <a:endParaRPr sz="3200">
              <a:solidFill>
                <a:schemeClr val="dk1"/>
              </a:solidFill>
              <a:latin typeface="Calibri"/>
              <a:ea typeface="Calibri"/>
              <a:cs typeface="Calibri"/>
              <a:sym typeface="Calibri"/>
            </a:endParaRPr>
          </a:p>
          <a:p>
            <a:pPr indent="-238760" lvl="1" marL="570230" marR="0" rtl="0" algn="l">
              <a:lnSpc>
                <a:spcPct val="100000"/>
              </a:lnSpc>
              <a:spcBef>
                <a:spcPts val="35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Connected to address bus</a:t>
            </a:r>
            <a:endParaRPr b="0" i="0" sz="2800" u="none" cap="none" strike="noStrike">
              <a:solidFill>
                <a:schemeClr val="dk1"/>
              </a:solidFill>
              <a:latin typeface="Calibri"/>
              <a:ea typeface="Calibri"/>
              <a:cs typeface="Calibri"/>
              <a:sym typeface="Calibri"/>
            </a:endParaRPr>
          </a:p>
          <a:p>
            <a:pPr indent="-238760" lvl="1" marL="570230" marR="0" rtl="0" algn="l">
              <a:lnSpc>
                <a:spcPct val="100000"/>
              </a:lnSpc>
              <a:spcBef>
                <a:spcPts val="33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Specifies address for read or write op</a:t>
            </a:r>
            <a:endParaRPr b="0" i="0" sz="2800" u="none" cap="none" strike="noStrike">
              <a:solidFill>
                <a:schemeClr val="dk1"/>
              </a:solidFill>
              <a:latin typeface="Calibri"/>
              <a:ea typeface="Calibri"/>
              <a:cs typeface="Calibri"/>
              <a:sym typeface="Calibri"/>
            </a:endParaRPr>
          </a:p>
          <a:p>
            <a:pPr indent="-283844" lvl="0" marL="295910" marR="0" rtl="0" algn="l">
              <a:lnSpc>
                <a:spcPct val="100000"/>
              </a:lnSpc>
              <a:spcBef>
                <a:spcPts val="37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Memory Buffer Register (MBR)</a:t>
            </a:r>
            <a:endParaRPr sz="3200">
              <a:solidFill>
                <a:schemeClr val="dk1"/>
              </a:solidFill>
              <a:latin typeface="Calibri"/>
              <a:ea typeface="Calibri"/>
              <a:cs typeface="Calibri"/>
              <a:sym typeface="Calibri"/>
            </a:endParaRPr>
          </a:p>
          <a:p>
            <a:pPr indent="-238760" lvl="1" marL="570230" marR="0" rtl="0" algn="l">
              <a:lnSpc>
                <a:spcPct val="100000"/>
              </a:lnSpc>
              <a:spcBef>
                <a:spcPts val="35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Connected to data bus</a:t>
            </a:r>
            <a:endParaRPr b="0" i="0" sz="2800" u="none" cap="none" strike="noStrike">
              <a:solidFill>
                <a:schemeClr val="dk1"/>
              </a:solidFill>
              <a:latin typeface="Calibri"/>
              <a:ea typeface="Calibri"/>
              <a:cs typeface="Calibri"/>
              <a:sym typeface="Calibri"/>
            </a:endParaRPr>
          </a:p>
          <a:p>
            <a:pPr indent="-238760" lvl="1" marL="570230" marR="0" rtl="0" algn="l">
              <a:lnSpc>
                <a:spcPct val="100000"/>
              </a:lnSpc>
              <a:spcBef>
                <a:spcPts val="33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Holds data to write or last data read</a:t>
            </a:r>
            <a:endParaRPr b="0" i="0" sz="2800" u="none" cap="none" strike="noStrike">
              <a:solidFill>
                <a:schemeClr val="dk1"/>
              </a:solidFill>
              <a:latin typeface="Calibri"/>
              <a:ea typeface="Calibri"/>
              <a:cs typeface="Calibri"/>
              <a:sym typeface="Calibri"/>
            </a:endParaRPr>
          </a:p>
          <a:p>
            <a:pPr indent="-283844" lvl="0" marL="295910" marR="0" rtl="0" algn="l">
              <a:lnSpc>
                <a:spcPct val="100000"/>
              </a:lnSpc>
              <a:spcBef>
                <a:spcPts val="37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Program Counter (PC)</a:t>
            </a:r>
            <a:endParaRPr sz="3200">
              <a:solidFill>
                <a:schemeClr val="dk1"/>
              </a:solidFill>
              <a:latin typeface="Calibri"/>
              <a:ea typeface="Calibri"/>
              <a:cs typeface="Calibri"/>
              <a:sym typeface="Calibri"/>
            </a:endParaRPr>
          </a:p>
          <a:p>
            <a:pPr indent="-238760" lvl="1" marL="570230" marR="0" rtl="0" algn="l">
              <a:lnSpc>
                <a:spcPct val="100000"/>
              </a:lnSpc>
              <a:spcBef>
                <a:spcPts val="35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Holds address of next instruction to be fetched</a:t>
            </a:r>
            <a:endParaRPr b="0" i="0" sz="2800" u="none" cap="none" strike="noStrike">
              <a:solidFill>
                <a:schemeClr val="dk1"/>
              </a:solidFill>
              <a:latin typeface="Calibri"/>
              <a:ea typeface="Calibri"/>
              <a:cs typeface="Calibri"/>
              <a:sym typeface="Calibri"/>
            </a:endParaRPr>
          </a:p>
          <a:p>
            <a:pPr indent="-283844" lvl="0" marL="295910" marR="0" rtl="0" algn="l">
              <a:lnSpc>
                <a:spcPct val="100000"/>
              </a:lnSpc>
              <a:spcBef>
                <a:spcPts val="37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Instruction Register (IR)</a:t>
            </a:r>
            <a:endParaRPr sz="3200">
              <a:solidFill>
                <a:schemeClr val="dk1"/>
              </a:solidFill>
              <a:latin typeface="Calibri"/>
              <a:ea typeface="Calibri"/>
              <a:cs typeface="Calibri"/>
              <a:sym typeface="Calibri"/>
            </a:endParaRPr>
          </a:p>
          <a:p>
            <a:pPr indent="-238125" lvl="1" marL="570230" marR="5080" rtl="0" algn="l">
              <a:lnSpc>
                <a:spcPct val="107857"/>
              </a:lnSpc>
              <a:spcBef>
                <a:spcPts val="74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Holds last instruction fetched/current instruction  being executed</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8" name="Shape 778"/>
        <p:cNvGrpSpPr/>
        <p:nvPr/>
      </p:nvGrpSpPr>
      <p:grpSpPr>
        <a:xfrm>
          <a:off x="0" y="0"/>
          <a:ext cx="0" cy="0"/>
          <a:chOff x="0" y="0"/>
          <a:chExt cx="0" cy="0"/>
        </a:xfrm>
      </p:grpSpPr>
      <p:sp>
        <p:nvSpPr>
          <p:cNvPr id="779" name="Google Shape;779;p106"/>
          <p:cNvSpPr txBox="1"/>
          <p:nvPr>
            <p:ph type="title"/>
          </p:nvPr>
        </p:nvSpPr>
        <p:spPr>
          <a:xfrm>
            <a:off x="2076069" y="461594"/>
            <a:ext cx="499872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Model of Control Unit</a:t>
            </a:r>
            <a:endParaRPr sz="4400">
              <a:latin typeface="Calibri"/>
              <a:ea typeface="Calibri"/>
              <a:cs typeface="Calibri"/>
              <a:sym typeface="Calibri"/>
            </a:endParaRPr>
          </a:p>
        </p:txBody>
      </p:sp>
      <p:pic>
        <p:nvPicPr>
          <p:cNvPr id="780" name="Google Shape;780;p106"/>
          <p:cNvPicPr preferRelativeResize="0"/>
          <p:nvPr/>
        </p:nvPicPr>
        <p:blipFill rotWithShape="1">
          <a:blip r:embed="rId3">
            <a:alphaModFix/>
          </a:blip>
          <a:srcRect b="0" l="0" r="0" t="0"/>
          <a:stretch/>
        </p:blipFill>
        <p:spPr>
          <a:xfrm>
            <a:off x="88015" y="1446275"/>
            <a:ext cx="9003660" cy="4496306"/>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4" name="Shape 784"/>
        <p:cNvGrpSpPr/>
        <p:nvPr/>
      </p:nvGrpSpPr>
      <p:grpSpPr>
        <a:xfrm>
          <a:off x="0" y="0"/>
          <a:ext cx="0" cy="0"/>
          <a:chOff x="0" y="0"/>
          <a:chExt cx="0" cy="0"/>
        </a:xfrm>
      </p:grpSpPr>
      <p:sp>
        <p:nvSpPr>
          <p:cNvPr id="785" name="Google Shape;785;p107"/>
          <p:cNvSpPr txBox="1"/>
          <p:nvPr>
            <p:ph type="title"/>
          </p:nvPr>
        </p:nvSpPr>
        <p:spPr>
          <a:xfrm>
            <a:off x="1710308" y="461594"/>
            <a:ext cx="571944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Functions of Control Unit</a:t>
            </a:r>
            <a:endParaRPr sz="4400">
              <a:latin typeface="Calibri"/>
              <a:ea typeface="Calibri"/>
              <a:cs typeface="Calibri"/>
              <a:sym typeface="Calibri"/>
            </a:endParaRPr>
          </a:p>
        </p:txBody>
      </p:sp>
      <p:sp>
        <p:nvSpPr>
          <p:cNvPr id="786" name="Google Shape;786;p107"/>
          <p:cNvSpPr txBox="1"/>
          <p:nvPr/>
        </p:nvSpPr>
        <p:spPr>
          <a:xfrm>
            <a:off x="618236" y="1831670"/>
            <a:ext cx="7484109" cy="3272154"/>
          </a:xfrm>
          <a:prstGeom prst="rect">
            <a:avLst/>
          </a:prstGeom>
          <a:noFill/>
          <a:ln>
            <a:noFill/>
          </a:ln>
        </p:spPr>
        <p:txBody>
          <a:bodyPr anchorCtr="0" anchor="t" bIns="0" lIns="0" spcFirstLastPara="1" rIns="0" wrap="square" tIns="12050">
            <a:spAutoFit/>
          </a:bodyPr>
          <a:lstStyle/>
          <a:p>
            <a:pPr indent="-283844" lvl="0" marL="295910" marR="0" rtl="0" algn="l">
              <a:lnSpc>
                <a:spcPct val="100000"/>
              </a:lnSpc>
              <a:spcBef>
                <a:spcPts val="0"/>
              </a:spcBef>
              <a:spcAft>
                <a:spcPts val="0"/>
              </a:spcAft>
              <a:buClr>
                <a:srgbClr val="FF0000"/>
              </a:buClr>
              <a:buSzPts val="2500"/>
              <a:buFont typeface="Quattrocento Sans"/>
              <a:buChar char="⚫"/>
            </a:pPr>
            <a:r>
              <a:rPr b="1" lang="en-US" sz="2500">
                <a:solidFill>
                  <a:srgbClr val="FF0000"/>
                </a:solidFill>
                <a:latin typeface="Calibri"/>
                <a:ea typeface="Calibri"/>
                <a:cs typeface="Calibri"/>
                <a:sym typeface="Calibri"/>
              </a:rPr>
              <a:t>Sequencing</a:t>
            </a:r>
            <a:endParaRPr sz="25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00"/>
              <a:buFont typeface="Gill Sans"/>
              <a:buNone/>
            </a:pPr>
            <a:r>
              <a:t/>
            </a:r>
            <a:endParaRPr sz="2200">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Causing the CPU to step through a series of micro-operations</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40"/>
              </a:spcBef>
              <a:spcAft>
                <a:spcPts val="0"/>
              </a:spcAft>
              <a:buClr>
                <a:schemeClr val="dk1"/>
              </a:buClr>
              <a:buSzPts val="2350"/>
              <a:buFont typeface="Verdana"/>
              <a:buNone/>
            </a:pPr>
            <a:r>
              <a:t/>
            </a:r>
            <a:endParaRPr b="0" i="0" sz="2350" u="none" cap="none" strike="noStrike">
              <a:solidFill>
                <a:schemeClr val="dk1"/>
              </a:solidFill>
              <a:latin typeface="Calibri"/>
              <a:ea typeface="Calibri"/>
              <a:cs typeface="Calibri"/>
              <a:sym typeface="Calibri"/>
            </a:endParaRPr>
          </a:p>
          <a:p>
            <a:pPr indent="-283844" lvl="0" marL="295910" marR="0" rtl="0" algn="l">
              <a:lnSpc>
                <a:spcPct val="100000"/>
              </a:lnSpc>
              <a:spcBef>
                <a:spcPts val="0"/>
              </a:spcBef>
              <a:spcAft>
                <a:spcPts val="0"/>
              </a:spcAft>
              <a:buClr>
                <a:srgbClr val="FF0000"/>
              </a:buClr>
              <a:buSzPts val="2500"/>
              <a:buFont typeface="Quattrocento Sans"/>
              <a:buChar char="⚫"/>
            </a:pPr>
            <a:r>
              <a:rPr b="1" lang="en-US" sz="2500">
                <a:solidFill>
                  <a:srgbClr val="FF0000"/>
                </a:solidFill>
                <a:latin typeface="Calibri"/>
                <a:ea typeface="Calibri"/>
                <a:cs typeface="Calibri"/>
                <a:sym typeface="Calibri"/>
              </a:rPr>
              <a:t>Execution</a:t>
            </a:r>
            <a:endParaRPr sz="25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00"/>
              <a:buFont typeface="Gill Sans"/>
              <a:buNone/>
            </a:pPr>
            <a:r>
              <a:t/>
            </a:r>
            <a:endParaRPr sz="2200">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Causing the performance of each micro-op</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40"/>
              </a:spcBef>
              <a:spcAft>
                <a:spcPts val="0"/>
              </a:spcAft>
              <a:buClr>
                <a:schemeClr val="dk1"/>
              </a:buClr>
              <a:buSzPts val="2350"/>
              <a:buFont typeface="Verdana"/>
              <a:buNone/>
            </a:pPr>
            <a:r>
              <a:t/>
            </a:r>
            <a:endParaRPr b="0" i="0" sz="2350" u="none" cap="none" strike="noStrike">
              <a:solidFill>
                <a:schemeClr val="dk1"/>
              </a:solidFill>
              <a:latin typeface="Calibri"/>
              <a:ea typeface="Calibri"/>
              <a:cs typeface="Calibri"/>
              <a:sym typeface="Calibri"/>
            </a:endParaRPr>
          </a:p>
          <a:p>
            <a:pPr indent="-283844" lvl="0" marL="295910" marR="0" rtl="0" algn="l">
              <a:lnSpc>
                <a:spcPct val="100000"/>
              </a:lnSpc>
              <a:spcBef>
                <a:spcPts val="0"/>
              </a:spcBef>
              <a:spcAft>
                <a:spcPts val="0"/>
              </a:spcAft>
              <a:buClr>
                <a:schemeClr val="dk1"/>
              </a:buClr>
              <a:buSzPts val="2500"/>
              <a:buFont typeface="Quattrocento Sans"/>
              <a:buChar char="⚫"/>
            </a:pPr>
            <a:r>
              <a:rPr lang="en-US" sz="2500">
                <a:solidFill>
                  <a:schemeClr val="dk1"/>
                </a:solidFill>
                <a:latin typeface="Calibri"/>
                <a:ea typeface="Calibri"/>
                <a:cs typeface="Calibri"/>
                <a:sym typeface="Calibri"/>
              </a:rPr>
              <a:t>This is done using Control Signals</a:t>
            </a:r>
            <a:r>
              <a:rPr lang="en-US" sz="2500">
                <a:solidFill>
                  <a:srgbClr val="FF0000"/>
                </a:solidFill>
                <a:latin typeface="Noto Sans Symbols"/>
                <a:ea typeface="Noto Sans Symbols"/>
                <a:cs typeface="Noto Sans Symbols"/>
                <a:sym typeface="Noto Sans Symbols"/>
              </a:rPr>
              <a:t>🡪🡪</a:t>
            </a:r>
            <a:endParaRPr sz="2500">
              <a:solidFill>
                <a:schemeClr val="dk1"/>
              </a:solidFill>
              <a:latin typeface="Noto Sans Symbols"/>
              <a:ea typeface="Noto Sans Symbols"/>
              <a:cs typeface="Noto Sans Symbols"/>
              <a:sym typeface="Noto Sans Symbol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0" name="Shape 790"/>
        <p:cNvGrpSpPr/>
        <p:nvPr/>
      </p:nvGrpSpPr>
      <p:grpSpPr>
        <a:xfrm>
          <a:off x="0" y="0"/>
          <a:ext cx="0" cy="0"/>
          <a:chOff x="0" y="0"/>
          <a:chExt cx="0" cy="0"/>
        </a:xfrm>
      </p:grpSpPr>
      <p:sp>
        <p:nvSpPr>
          <p:cNvPr id="791" name="Google Shape;791;p108"/>
          <p:cNvSpPr txBox="1"/>
          <p:nvPr>
            <p:ph type="title"/>
          </p:nvPr>
        </p:nvSpPr>
        <p:spPr>
          <a:xfrm>
            <a:off x="1836166" y="150317"/>
            <a:ext cx="51796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Control Signals( input )</a:t>
            </a:r>
            <a:endParaRPr sz="4400">
              <a:latin typeface="Calibri"/>
              <a:ea typeface="Calibri"/>
              <a:cs typeface="Calibri"/>
              <a:sym typeface="Calibri"/>
            </a:endParaRPr>
          </a:p>
        </p:txBody>
      </p:sp>
      <p:sp>
        <p:nvSpPr>
          <p:cNvPr id="792" name="Google Shape;792;p108"/>
          <p:cNvSpPr txBox="1"/>
          <p:nvPr/>
        </p:nvSpPr>
        <p:spPr>
          <a:xfrm>
            <a:off x="1132738" y="971550"/>
            <a:ext cx="7298690" cy="5649595"/>
          </a:xfrm>
          <a:prstGeom prst="rect">
            <a:avLst/>
          </a:prstGeom>
          <a:noFill/>
          <a:ln>
            <a:noFill/>
          </a:ln>
        </p:spPr>
        <p:txBody>
          <a:bodyPr anchorCtr="0" anchor="t" bIns="0" lIns="0" spcFirstLastPara="1" rIns="0" wrap="square" tIns="13325">
            <a:spAutoFit/>
          </a:bodyPr>
          <a:lstStyle/>
          <a:p>
            <a:pPr indent="-283844" lvl="0" marL="295910" marR="0" rtl="0" algn="l">
              <a:lnSpc>
                <a:spcPct val="100000"/>
              </a:lnSpc>
              <a:spcBef>
                <a:spcPts val="0"/>
              </a:spcBef>
              <a:spcAft>
                <a:spcPts val="0"/>
              </a:spcAft>
              <a:buClr>
                <a:srgbClr val="FF0000"/>
              </a:buClr>
              <a:buSzPts val="3200"/>
              <a:buFont typeface="Quattrocento Sans"/>
              <a:buChar char="⚫"/>
            </a:pPr>
            <a:r>
              <a:rPr b="1" lang="en-US" sz="3200">
                <a:solidFill>
                  <a:srgbClr val="FF0000"/>
                </a:solidFill>
                <a:latin typeface="Calibri"/>
                <a:ea typeface="Calibri"/>
                <a:cs typeface="Calibri"/>
                <a:sym typeface="Calibri"/>
              </a:rPr>
              <a:t>Clock</a:t>
            </a:r>
            <a:endParaRPr sz="3200">
              <a:solidFill>
                <a:schemeClr val="dk1"/>
              </a:solidFill>
              <a:latin typeface="Calibri"/>
              <a:ea typeface="Calibri"/>
              <a:cs typeface="Calibri"/>
              <a:sym typeface="Calibri"/>
            </a:endParaRPr>
          </a:p>
          <a:p>
            <a:pPr indent="-238125" lvl="1" marL="570230" marR="5080" rtl="0" algn="l">
              <a:lnSpc>
                <a:spcPct val="96071"/>
              </a:lnSpc>
              <a:spcBef>
                <a:spcPts val="66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One micro-instruction (or set of parallel micro-  instructions) per clock cycle</a:t>
            </a:r>
            <a:endParaRPr b="0" i="0" sz="2800" u="none" cap="none" strike="noStrike">
              <a:solidFill>
                <a:schemeClr val="dk1"/>
              </a:solidFill>
              <a:latin typeface="Calibri"/>
              <a:ea typeface="Calibri"/>
              <a:cs typeface="Calibri"/>
              <a:sym typeface="Calibri"/>
            </a:endParaRPr>
          </a:p>
          <a:p>
            <a:pPr indent="-283844" lvl="0" marL="295910" marR="0" rtl="0" algn="l">
              <a:lnSpc>
                <a:spcPct val="100000"/>
              </a:lnSpc>
              <a:spcBef>
                <a:spcPts val="0"/>
              </a:spcBef>
              <a:spcAft>
                <a:spcPts val="0"/>
              </a:spcAft>
              <a:buClr>
                <a:srgbClr val="FF0000"/>
              </a:buClr>
              <a:buSzPts val="3200"/>
              <a:buFont typeface="Quattrocento Sans"/>
              <a:buChar char="⚫"/>
            </a:pPr>
            <a:r>
              <a:rPr b="1" lang="en-US" sz="3200">
                <a:solidFill>
                  <a:srgbClr val="FF0000"/>
                </a:solidFill>
                <a:latin typeface="Calibri"/>
                <a:ea typeface="Calibri"/>
                <a:cs typeface="Calibri"/>
                <a:sym typeface="Calibri"/>
              </a:rPr>
              <a:t>Instruction register</a:t>
            </a:r>
            <a:endParaRPr sz="3200">
              <a:solidFill>
                <a:schemeClr val="dk1"/>
              </a:solidFill>
              <a:latin typeface="Calibri"/>
              <a:ea typeface="Calibri"/>
              <a:cs typeface="Calibri"/>
              <a:sym typeface="Calibri"/>
            </a:endParaRPr>
          </a:p>
          <a:p>
            <a:pPr indent="-238760" lvl="1" marL="570230" marR="0" rtl="0" algn="l">
              <a:lnSpc>
                <a:spcPct val="100000"/>
              </a:lnSpc>
              <a:spcBef>
                <a:spcPts val="2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Op-code for current instruction</a:t>
            </a:r>
            <a:endParaRPr b="0" i="0" sz="2800" u="none" cap="none" strike="noStrike">
              <a:solidFill>
                <a:schemeClr val="dk1"/>
              </a:solidFill>
              <a:latin typeface="Calibri"/>
              <a:ea typeface="Calibri"/>
              <a:cs typeface="Calibri"/>
              <a:sym typeface="Calibri"/>
            </a:endParaRPr>
          </a:p>
          <a:p>
            <a:pPr indent="-238125" lvl="1" marL="570230" marR="843280" rtl="0" algn="l">
              <a:lnSpc>
                <a:spcPct val="96071"/>
              </a:lnSpc>
              <a:spcBef>
                <a:spcPts val="65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Determines which micro-instructions are  performed</a:t>
            </a:r>
            <a:endParaRPr b="0" i="0" sz="2800" u="none" cap="none" strike="noStrike">
              <a:solidFill>
                <a:schemeClr val="dk1"/>
              </a:solidFill>
              <a:latin typeface="Calibri"/>
              <a:ea typeface="Calibri"/>
              <a:cs typeface="Calibri"/>
              <a:sym typeface="Calibri"/>
            </a:endParaRPr>
          </a:p>
          <a:p>
            <a:pPr indent="-283844" lvl="0" marL="295910" marR="0" rtl="0" algn="l">
              <a:lnSpc>
                <a:spcPct val="100000"/>
              </a:lnSpc>
              <a:spcBef>
                <a:spcPts val="0"/>
              </a:spcBef>
              <a:spcAft>
                <a:spcPts val="0"/>
              </a:spcAft>
              <a:buClr>
                <a:srgbClr val="FF0000"/>
              </a:buClr>
              <a:buSzPts val="3200"/>
              <a:buFont typeface="Quattrocento Sans"/>
              <a:buChar char="⚫"/>
            </a:pPr>
            <a:r>
              <a:rPr b="1" lang="en-US" sz="3200">
                <a:solidFill>
                  <a:srgbClr val="FF0000"/>
                </a:solidFill>
                <a:latin typeface="Calibri"/>
                <a:ea typeface="Calibri"/>
                <a:cs typeface="Calibri"/>
                <a:sym typeface="Calibri"/>
              </a:rPr>
              <a:t>Flags</a:t>
            </a:r>
            <a:endParaRPr sz="3200">
              <a:solidFill>
                <a:schemeClr val="dk1"/>
              </a:solidFill>
              <a:latin typeface="Calibri"/>
              <a:ea typeface="Calibri"/>
              <a:cs typeface="Calibri"/>
              <a:sym typeface="Calibri"/>
            </a:endParaRPr>
          </a:p>
          <a:p>
            <a:pPr indent="-238760" lvl="1" marL="570230" marR="0" rtl="0" algn="l">
              <a:lnSpc>
                <a:spcPct val="100000"/>
              </a:lnSpc>
              <a:spcBef>
                <a:spcPts val="2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State of CPU</a:t>
            </a:r>
            <a:endParaRPr b="0" i="0" sz="2800" u="none" cap="none" strike="noStrike">
              <a:solidFill>
                <a:schemeClr val="dk1"/>
              </a:solidFill>
              <a:latin typeface="Calibri"/>
              <a:ea typeface="Calibri"/>
              <a:cs typeface="Calibri"/>
              <a:sym typeface="Calibri"/>
            </a:endParaRPr>
          </a:p>
          <a:p>
            <a:pPr indent="-238760" lvl="1" marL="570230" marR="0" rtl="0" algn="l">
              <a:lnSpc>
                <a:spcPct val="119785"/>
              </a:lnSpc>
              <a:spcBef>
                <a:spcPts val="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Results of previous operations</a:t>
            </a:r>
            <a:endParaRPr b="0" i="0" sz="2800" u="none" cap="none" strike="noStrike">
              <a:solidFill>
                <a:schemeClr val="dk1"/>
              </a:solidFill>
              <a:latin typeface="Calibri"/>
              <a:ea typeface="Calibri"/>
              <a:cs typeface="Calibri"/>
              <a:sym typeface="Calibri"/>
            </a:endParaRPr>
          </a:p>
          <a:p>
            <a:pPr indent="-283844" lvl="0" marL="295910" marR="0" rtl="0" algn="l">
              <a:lnSpc>
                <a:spcPct val="119843"/>
              </a:lnSpc>
              <a:spcBef>
                <a:spcPts val="0"/>
              </a:spcBef>
              <a:spcAft>
                <a:spcPts val="0"/>
              </a:spcAft>
              <a:buClr>
                <a:srgbClr val="FF0000"/>
              </a:buClr>
              <a:buSzPts val="3200"/>
              <a:buFont typeface="Quattrocento Sans"/>
              <a:buChar char="⚫"/>
            </a:pPr>
            <a:r>
              <a:rPr b="1" lang="en-US" sz="3200">
                <a:solidFill>
                  <a:srgbClr val="FF0000"/>
                </a:solidFill>
                <a:latin typeface="Calibri"/>
                <a:ea typeface="Calibri"/>
                <a:cs typeface="Calibri"/>
                <a:sym typeface="Calibri"/>
              </a:rPr>
              <a:t>From control bus</a:t>
            </a:r>
            <a:endParaRPr sz="3200">
              <a:solidFill>
                <a:schemeClr val="dk1"/>
              </a:solidFill>
              <a:latin typeface="Calibri"/>
              <a:ea typeface="Calibri"/>
              <a:cs typeface="Calibri"/>
              <a:sym typeface="Calibri"/>
            </a:endParaRPr>
          </a:p>
          <a:p>
            <a:pPr indent="-238760" lvl="1" marL="570230" marR="0" rtl="0" algn="l">
              <a:lnSpc>
                <a:spcPct val="100000"/>
              </a:lnSpc>
              <a:spcBef>
                <a:spcPts val="15"/>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Interrupts</a:t>
            </a:r>
            <a:endParaRPr b="0" i="0" sz="2800" u="none" cap="none" strike="noStrike">
              <a:solidFill>
                <a:schemeClr val="dk1"/>
              </a:solidFill>
              <a:latin typeface="Calibri"/>
              <a:ea typeface="Calibri"/>
              <a:cs typeface="Calibri"/>
              <a:sym typeface="Calibri"/>
            </a:endParaRPr>
          </a:p>
          <a:p>
            <a:pPr indent="-238760" lvl="1" marL="570230" marR="0" rtl="0" algn="l">
              <a:lnSpc>
                <a:spcPct val="100000"/>
              </a:lnSpc>
              <a:spcBef>
                <a:spcPts val="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Acknowledgements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6" name="Shape 796"/>
        <p:cNvGrpSpPr/>
        <p:nvPr/>
      </p:nvGrpSpPr>
      <p:grpSpPr>
        <a:xfrm>
          <a:off x="0" y="0"/>
          <a:ext cx="0" cy="0"/>
          <a:chOff x="0" y="0"/>
          <a:chExt cx="0" cy="0"/>
        </a:xfrm>
      </p:grpSpPr>
      <p:sp>
        <p:nvSpPr>
          <p:cNvPr id="797" name="Google Shape;797;p109"/>
          <p:cNvSpPr txBox="1"/>
          <p:nvPr>
            <p:ph type="title"/>
          </p:nvPr>
        </p:nvSpPr>
        <p:spPr>
          <a:xfrm>
            <a:off x="1887092" y="461594"/>
            <a:ext cx="537146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Control Signals - output</a:t>
            </a:r>
            <a:endParaRPr sz="4400">
              <a:latin typeface="Calibri"/>
              <a:ea typeface="Calibri"/>
              <a:cs typeface="Calibri"/>
              <a:sym typeface="Calibri"/>
            </a:endParaRPr>
          </a:p>
        </p:txBody>
      </p:sp>
      <p:sp>
        <p:nvSpPr>
          <p:cNvPr id="798" name="Google Shape;798;p109"/>
          <p:cNvSpPr txBox="1"/>
          <p:nvPr/>
        </p:nvSpPr>
        <p:spPr>
          <a:xfrm>
            <a:off x="618236" y="1831670"/>
            <a:ext cx="3528695" cy="3863340"/>
          </a:xfrm>
          <a:prstGeom prst="rect">
            <a:avLst/>
          </a:prstGeom>
          <a:noFill/>
          <a:ln>
            <a:noFill/>
          </a:ln>
        </p:spPr>
        <p:txBody>
          <a:bodyPr anchorCtr="0" anchor="t" bIns="0" lIns="0" spcFirstLastPara="1" rIns="0" wrap="square" tIns="12050">
            <a:spAutoFit/>
          </a:bodyPr>
          <a:lstStyle/>
          <a:p>
            <a:pPr indent="-283844" lvl="0" marL="295910" marR="0" rtl="0" algn="l">
              <a:lnSpc>
                <a:spcPct val="100000"/>
              </a:lnSpc>
              <a:spcBef>
                <a:spcPts val="0"/>
              </a:spcBef>
              <a:spcAft>
                <a:spcPts val="0"/>
              </a:spcAft>
              <a:buClr>
                <a:srgbClr val="FF0000"/>
              </a:buClr>
              <a:buSzPts val="2500"/>
              <a:buFont typeface="Quattrocento Sans"/>
              <a:buChar char="⚫"/>
            </a:pPr>
            <a:r>
              <a:rPr lang="en-US" sz="2500">
                <a:solidFill>
                  <a:srgbClr val="FF0000"/>
                </a:solidFill>
                <a:latin typeface="Calibri"/>
                <a:ea typeface="Calibri"/>
                <a:cs typeface="Calibri"/>
                <a:sym typeface="Calibri"/>
              </a:rPr>
              <a:t>Within CPU</a:t>
            </a:r>
            <a:endParaRPr sz="25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rgbClr val="FF0000"/>
              </a:buClr>
              <a:buSzPts val="2200"/>
              <a:buFont typeface="Quattrocento Sans"/>
              <a:buNone/>
            </a:pPr>
            <a:r>
              <a:t/>
            </a:r>
            <a:endParaRPr sz="2200">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Cause data movement</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20"/>
              </a:spcBef>
              <a:spcAft>
                <a:spcPts val="0"/>
              </a:spcAft>
              <a:buClr>
                <a:schemeClr val="dk1"/>
              </a:buClr>
              <a:buSzPts val="2150"/>
              <a:buFont typeface="Verdana"/>
              <a:buNone/>
            </a:pPr>
            <a:r>
              <a:t/>
            </a:r>
            <a:endParaRPr b="0" i="0" sz="2150" u="none" cap="none" strike="noStrike">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Activate specific functions</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35"/>
              </a:spcBef>
              <a:spcAft>
                <a:spcPts val="0"/>
              </a:spcAft>
              <a:buClr>
                <a:schemeClr val="dk1"/>
              </a:buClr>
              <a:buSzPts val="2350"/>
              <a:buFont typeface="Verdana"/>
              <a:buNone/>
            </a:pPr>
            <a:r>
              <a:t/>
            </a:r>
            <a:endParaRPr b="0" i="0" sz="2350" u="none" cap="none" strike="noStrike">
              <a:solidFill>
                <a:schemeClr val="dk1"/>
              </a:solidFill>
              <a:latin typeface="Calibri"/>
              <a:ea typeface="Calibri"/>
              <a:cs typeface="Calibri"/>
              <a:sym typeface="Calibri"/>
            </a:endParaRPr>
          </a:p>
          <a:p>
            <a:pPr indent="-295910" lvl="0" marL="295910" marR="1306195" rtl="0" algn="r">
              <a:lnSpc>
                <a:spcPct val="100000"/>
              </a:lnSpc>
              <a:spcBef>
                <a:spcPts val="0"/>
              </a:spcBef>
              <a:spcAft>
                <a:spcPts val="0"/>
              </a:spcAft>
              <a:buClr>
                <a:srgbClr val="FF0000"/>
              </a:buClr>
              <a:buSzPts val="2500"/>
              <a:buFont typeface="Quattrocento Sans"/>
              <a:buChar char="⚫"/>
            </a:pPr>
            <a:r>
              <a:rPr lang="en-US" sz="2500">
                <a:solidFill>
                  <a:srgbClr val="FF0000"/>
                </a:solidFill>
                <a:latin typeface="Calibri"/>
                <a:ea typeface="Calibri"/>
                <a:cs typeface="Calibri"/>
                <a:sym typeface="Calibri"/>
              </a:rPr>
              <a:t>Via control bus</a:t>
            </a:r>
            <a:endParaRPr sz="25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Clr>
                <a:srgbClr val="FF0000"/>
              </a:buClr>
              <a:buSzPts val="2200"/>
              <a:buFont typeface="Quattrocento Sans"/>
              <a:buNone/>
            </a:pPr>
            <a:r>
              <a:t/>
            </a:r>
            <a:endParaRPr sz="2200">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To memory</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15"/>
              </a:spcBef>
              <a:spcAft>
                <a:spcPts val="0"/>
              </a:spcAft>
              <a:buClr>
                <a:schemeClr val="dk1"/>
              </a:buClr>
              <a:buSzPts val="2150"/>
              <a:buFont typeface="Verdana"/>
              <a:buNone/>
            </a:pPr>
            <a:r>
              <a:t/>
            </a:r>
            <a:endParaRPr b="0" i="0" sz="2150" u="none" cap="none" strike="noStrike">
              <a:solidFill>
                <a:schemeClr val="dk1"/>
              </a:solidFill>
              <a:latin typeface="Calibri"/>
              <a:ea typeface="Calibri"/>
              <a:cs typeface="Calibri"/>
              <a:sym typeface="Calibri"/>
            </a:endParaRPr>
          </a:p>
          <a:p>
            <a:pPr indent="-570230" lvl="1" marL="570230" marR="1224915" rtl="0" algn="r">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Calibri"/>
                <a:ea typeface="Calibri"/>
                <a:cs typeface="Calibri"/>
                <a:sym typeface="Calibri"/>
              </a:rPr>
              <a:t>To I/O modules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2" name="Shape 802"/>
        <p:cNvGrpSpPr/>
        <p:nvPr/>
      </p:nvGrpSpPr>
      <p:grpSpPr>
        <a:xfrm>
          <a:off x="0" y="0"/>
          <a:ext cx="0" cy="0"/>
          <a:chOff x="0" y="0"/>
          <a:chExt cx="0" cy="0"/>
        </a:xfrm>
      </p:grpSpPr>
      <p:sp>
        <p:nvSpPr>
          <p:cNvPr id="803" name="Google Shape;803;p110"/>
          <p:cNvSpPr txBox="1"/>
          <p:nvPr>
            <p:ph type="title"/>
          </p:nvPr>
        </p:nvSpPr>
        <p:spPr>
          <a:xfrm>
            <a:off x="2927730" y="1923033"/>
            <a:ext cx="4229100" cy="51371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3200"/>
              <a:buFont typeface="Calibri"/>
              <a:buNone/>
            </a:pPr>
            <a:r>
              <a:rPr b="0" lang="en-US" sz="3200">
                <a:solidFill>
                  <a:srgbClr val="11478A"/>
                </a:solidFill>
                <a:latin typeface="Calibri"/>
                <a:ea typeface="Calibri"/>
                <a:cs typeface="Calibri"/>
                <a:sym typeface="Calibri"/>
              </a:rPr>
              <a:t>Control Unit Organization</a:t>
            </a:r>
            <a:endParaRPr sz="3200">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7" name="Shape 807"/>
        <p:cNvGrpSpPr/>
        <p:nvPr/>
      </p:nvGrpSpPr>
      <p:grpSpPr>
        <a:xfrm>
          <a:off x="0" y="0"/>
          <a:ext cx="0" cy="0"/>
          <a:chOff x="0" y="0"/>
          <a:chExt cx="0" cy="0"/>
        </a:xfrm>
      </p:grpSpPr>
      <p:sp>
        <p:nvSpPr>
          <p:cNvPr id="808" name="Google Shape;808;p111"/>
          <p:cNvSpPr txBox="1"/>
          <p:nvPr>
            <p:ph type="title"/>
          </p:nvPr>
        </p:nvSpPr>
        <p:spPr>
          <a:xfrm>
            <a:off x="2661666" y="0"/>
            <a:ext cx="3342004"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Implementation</a:t>
            </a:r>
            <a:endParaRPr/>
          </a:p>
        </p:txBody>
      </p:sp>
      <p:sp>
        <p:nvSpPr>
          <p:cNvPr id="809" name="Google Shape;809;p111"/>
          <p:cNvSpPr txBox="1"/>
          <p:nvPr/>
        </p:nvSpPr>
        <p:spPr>
          <a:xfrm>
            <a:off x="104038" y="1130553"/>
            <a:ext cx="8893175" cy="4050029"/>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All the control unit does is generate a set of </a:t>
            </a:r>
            <a:r>
              <a:rPr b="1" lang="en-US" sz="2400">
                <a:solidFill>
                  <a:srgbClr val="FF0000"/>
                </a:solidFill>
                <a:latin typeface="Calibri"/>
                <a:ea typeface="Calibri"/>
                <a:cs typeface="Calibri"/>
                <a:sym typeface="Calibri"/>
              </a:rPr>
              <a:t>control signals</a:t>
            </a:r>
            <a:endParaRPr sz="2400">
              <a:solidFill>
                <a:schemeClr val="dk1"/>
              </a:solidFill>
              <a:latin typeface="Calibri"/>
              <a:ea typeface="Calibri"/>
              <a:cs typeface="Calibri"/>
              <a:sym typeface="Calibri"/>
            </a:endParaRPr>
          </a:p>
          <a:p>
            <a:pPr indent="-343535"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Each control signal is </a:t>
            </a:r>
            <a:r>
              <a:rPr b="1" lang="en-US" sz="2400">
                <a:solidFill>
                  <a:srgbClr val="FF0000"/>
                </a:solidFill>
                <a:latin typeface="Calibri"/>
                <a:ea typeface="Calibri"/>
                <a:cs typeface="Calibri"/>
                <a:sym typeface="Calibri"/>
              </a:rPr>
              <a:t>on </a:t>
            </a:r>
            <a:r>
              <a:rPr lang="en-US" sz="2400">
                <a:solidFill>
                  <a:schemeClr val="dk1"/>
                </a:solidFill>
                <a:latin typeface="Calibri"/>
                <a:ea typeface="Calibri"/>
                <a:cs typeface="Calibri"/>
                <a:sym typeface="Calibri"/>
              </a:rPr>
              <a:t>or </a:t>
            </a:r>
            <a:r>
              <a:rPr b="1" lang="en-US" sz="2400">
                <a:solidFill>
                  <a:srgbClr val="FF0000"/>
                </a:solidFill>
                <a:latin typeface="Calibri"/>
                <a:ea typeface="Calibri"/>
                <a:cs typeface="Calibri"/>
                <a:sym typeface="Calibri"/>
              </a:rPr>
              <a:t>off</a:t>
            </a:r>
            <a:endParaRPr sz="2400">
              <a:solidFill>
                <a:schemeClr val="dk1"/>
              </a:solidFill>
              <a:latin typeface="Calibri"/>
              <a:ea typeface="Calibri"/>
              <a:cs typeface="Calibri"/>
              <a:sym typeface="Calibri"/>
            </a:endParaRPr>
          </a:p>
          <a:p>
            <a:pPr indent="-343535"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Represent each control signal by a </a:t>
            </a:r>
            <a:r>
              <a:rPr b="1" lang="en-US" sz="2400">
                <a:solidFill>
                  <a:srgbClr val="FF0000"/>
                </a:solidFill>
                <a:latin typeface="Calibri"/>
                <a:ea typeface="Calibri"/>
                <a:cs typeface="Calibri"/>
                <a:sym typeface="Calibri"/>
              </a:rPr>
              <a:t>bit</a:t>
            </a:r>
            <a:endParaRPr sz="2400">
              <a:solidFill>
                <a:schemeClr val="dk1"/>
              </a:solidFill>
              <a:latin typeface="Calibri"/>
              <a:ea typeface="Calibri"/>
              <a:cs typeface="Calibri"/>
              <a:sym typeface="Calibri"/>
            </a:endParaRPr>
          </a:p>
          <a:p>
            <a:pPr indent="-343535"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Have a </a:t>
            </a:r>
            <a:r>
              <a:rPr b="1" lang="en-US" sz="2400">
                <a:solidFill>
                  <a:srgbClr val="FF0000"/>
                </a:solidFill>
                <a:latin typeface="Calibri"/>
                <a:ea typeface="Calibri"/>
                <a:cs typeface="Calibri"/>
                <a:sym typeface="Calibri"/>
              </a:rPr>
              <a:t>control word </a:t>
            </a:r>
            <a:r>
              <a:rPr lang="en-US" sz="2400">
                <a:solidFill>
                  <a:schemeClr val="dk1"/>
                </a:solidFill>
                <a:latin typeface="Calibri"/>
                <a:ea typeface="Calibri"/>
                <a:cs typeface="Calibri"/>
                <a:sym typeface="Calibri"/>
              </a:rPr>
              <a:t>for each micro-operation</a:t>
            </a:r>
            <a:endParaRPr sz="2400">
              <a:solidFill>
                <a:schemeClr val="dk1"/>
              </a:solidFill>
              <a:latin typeface="Calibri"/>
              <a:ea typeface="Calibri"/>
              <a:cs typeface="Calibri"/>
              <a:sym typeface="Calibri"/>
            </a:endParaRPr>
          </a:p>
          <a:p>
            <a:pPr indent="-343535"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Have a </a:t>
            </a:r>
            <a:r>
              <a:rPr b="1" lang="en-US" sz="2400">
                <a:solidFill>
                  <a:srgbClr val="FF0000"/>
                </a:solidFill>
                <a:latin typeface="Calibri"/>
                <a:ea typeface="Calibri"/>
                <a:cs typeface="Calibri"/>
                <a:sym typeface="Calibri"/>
              </a:rPr>
              <a:t>sequence of control words </a:t>
            </a:r>
            <a:r>
              <a:rPr lang="en-US" sz="2400">
                <a:solidFill>
                  <a:schemeClr val="dk1"/>
                </a:solidFill>
                <a:latin typeface="Calibri"/>
                <a:ea typeface="Calibri"/>
                <a:cs typeface="Calibri"/>
                <a:sym typeface="Calibri"/>
              </a:rPr>
              <a:t>for each machine code instruction</a:t>
            </a:r>
            <a:endParaRPr sz="2400">
              <a:solidFill>
                <a:schemeClr val="dk1"/>
              </a:solidFill>
              <a:latin typeface="Calibri"/>
              <a:ea typeface="Calibri"/>
              <a:cs typeface="Calibri"/>
              <a:sym typeface="Calibri"/>
            </a:endParaRPr>
          </a:p>
          <a:p>
            <a:pPr indent="-343535" lvl="0" marL="355600" marR="205740" rtl="0" algn="l">
              <a:lnSpc>
                <a:spcPct val="150000"/>
              </a:lnSpc>
              <a:spcBef>
                <a:spcPts val="575"/>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Add an </a:t>
            </a:r>
            <a:r>
              <a:rPr b="1" lang="en-US" sz="2400">
                <a:solidFill>
                  <a:srgbClr val="FF0000"/>
                </a:solidFill>
                <a:latin typeface="Calibri"/>
                <a:ea typeface="Calibri"/>
                <a:cs typeface="Calibri"/>
                <a:sym typeface="Calibri"/>
              </a:rPr>
              <a:t>address </a:t>
            </a:r>
            <a:r>
              <a:rPr lang="en-US" sz="2400">
                <a:solidFill>
                  <a:schemeClr val="dk1"/>
                </a:solidFill>
                <a:latin typeface="Calibri"/>
                <a:ea typeface="Calibri"/>
                <a:cs typeface="Calibri"/>
                <a:sym typeface="Calibri"/>
              </a:rPr>
              <a:t>to specify the next micro-instruction, depending on  conditions</a:t>
            </a:r>
            <a:endParaRPr sz="2400">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3" name="Shape 813"/>
        <p:cNvGrpSpPr/>
        <p:nvPr/>
      </p:nvGrpSpPr>
      <p:grpSpPr>
        <a:xfrm>
          <a:off x="0" y="0"/>
          <a:ext cx="0" cy="0"/>
          <a:chOff x="0" y="0"/>
          <a:chExt cx="0" cy="0"/>
        </a:xfrm>
      </p:grpSpPr>
      <p:sp>
        <p:nvSpPr>
          <p:cNvPr id="814" name="Google Shape;814;p112"/>
          <p:cNvSpPr txBox="1"/>
          <p:nvPr>
            <p:ph type="title"/>
          </p:nvPr>
        </p:nvSpPr>
        <p:spPr>
          <a:xfrm>
            <a:off x="2586735" y="3590290"/>
            <a:ext cx="4856480" cy="2874010"/>
          </a:xfrm>
          <a:prstGeom prst="rect">
            <a:avLst/>
          </a:prstGeom>
          <a:noFill/>
          <a:ln>
            <a:noFill/>
          </a:ln>
        </p:spPr>
        <p:txBody>
          <a:bodyPr anchorCtr="0" anchor="ctr" bIns="0" lIns="0" spcFirstLastPara="1" rIns="0" wrap="square" tIns="34275">
            <a:spAutoFit/>
          </a:bodyPr>
          <a:lstStyle/>
          <a:p>
            <a:pPr indent="-25400" lvl="0" marL="25400" marR="17780" rtl="0" algn="ctr">
              <a:lnSpc>
                <a:spcPct val="95700"/>
              </a:lnSpc>
              <a:spcBef>
                <a:spcPts val="0"/>
              </a:spcBef>
              <a:spcAft>
                <a:spcPts val="0"/>
              </a:spcAft>
              <a:buClr>
                <a:srgbClr val="888888"/>
              </a:buClr>
              <a:buSzPts val="3200"/>
              <a:buFont typeface="Calibri"/>
              <a:buNone/>
            </a:pPr>
            <a:r>
              <a:rPr b="0" lang="en-US" sz="3200">
                <a:solidFill>
                  <a:srgbClr val="888888"/>
                </a:solidFill>
                <a:latin typeface="Calibri"/>
                <a:ea typeface="Calibri"/>
                <a:cs typeface="Calibri"/>
                <a:sym typeface="Calibri"/>
              </a:rPr>
              <a:t>Micro-programmed Control  </a:t>
            </a:r>
            <a:r>
              <a:rPr b="0" lang="en-US">
                <a:solidFill>
                  <a:srgbClr val="11478A"/>
                </a:solidFill>
                <a:latin typeface="Calibri"/>
                <a:ea typeface="Calibri"/>
                <a:cs typeface="Calibri"/>
                <a:sym typeface="Calibri"/>
              </a:rPr>
              <a:t>William Stallings  Computer Organization  and Architecture</a:t>
            </a:r>
            <a:endParaRPr sz="3200">
              <a:latin typeface="Calibri"/>
              <a:ea typeface="Calibri"/>
              <a:cs typeface="Calibri"/>
              <a:sym typeface="Calibri"/>
            </a:endParaRPr>
          </a:p>
          <a:p>
            <a:pPr indent="0" lvl="0" marL="0" rtl="0" algn="ctr">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8</a:t>
            </a:r>
            <a:r>
              <a:rPr b="0" baseline="30000" lang="en-US" sz="3975">
                <a:solidFill>
                  <a:srgbClr val="11478A"/>
                </a:solidFill>
                <a:latin typeface="Calibri"/>
                <a:ea typeface="Calibri"/>
                <a:cs typeface="Calibri"/>
                <a:sym typeface="Calibri"/>
              </a:rPr>
              <a:t>th </a:t>
            </a:r>
            <a:r>
              <a:rPr b="0" lang="en-US" sz="4000">
                <a:solidFill>
                  <a:srgbClr val="11478A"/>
                </a:solidFill>
                <a:latin typeface="Calibri"/>
                <a:ea typeface="Calibri"/>
                <a:cs typeface="Calibri"/>
                <a:sym typeface="Calibri"/>
              </a:rPr>
              <a:t>Edition</a:t>
            </a:r>
            <a:endParaRPr sz="4000">
              <a:latin typeface="Calibri"/>
              <a:ea typeface="Calibri"/>
              <a:cs typeface="Calibri"/>
              <a:sym typeface="Calibri"/>
            </a:endParaRPr>
          </a:p>
        </p:txBody>
      </p:sp>
      <p:sp>
        <p:nvSpPr>
          <p:cNvPr id="815" name="Google Shape;815;p112"/>
          <p:cNvSpPr txBox="1"/>
          <p:nvPr/>
        </p:nvSpPr>
        <p:spPr>
          <a:xfrm>
            <a:off x="3969511" y="3005074"/>
            <a:ext cx="1845310" cy="51371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3200">
                <a:solidFill>
                  <a:srgbClr val="888888"/>
                </a:solidFill>
                <a:latin typeface="Calibri"/>
                <a:ea typeface="Calibri"/>
                <a:cs typeface="Calibri"/>
                <a:sym typeface="Calibri"/>
              </a:rPr>
              <a:t>Chapter 16</a:t>
            </a:r>
            <a:endParaRPr sz="3200">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9" name="Shape 819"/>
        <p:cNvGrpSpPr/>
        <p:nvPr/>
      </p:nvGrpSpPr>
      <p:grpSpPr>
        <a:xfrm>
          <a:off x="0" y="0"/>
          <a:ext cx="0" cy="0"/>
          <a:chOff x="0" y="0"/>
          <a:chExt cx="0" cy="0"/>
        </a:xfrm>
      </p:grpSpPr>
      <p:sp>
        <p:nvSpPr>
          <p:cNvPr id="820" name="Google Shape;820;p113"/>
          <p:cNvSpPr txBox="1"/>
          <p:nvPr>
            <p:ph type="title"/>
          </p:nvPr>
        </p:nvSpPr>
        <p:spPr>
          <a:xfrm>
            <a:off x="2118741" y="0"/>
            <a:ext cx="7096759"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Functioning of Micro programmed</a:t>
            </a:r>
            <a:endParaRPr/>
          </a:p>
        </p:txBody>
      </p:sp>
      <p:sp>
        <p:nvSpPr>
          <p:cNvPr id="821" name="Google Shape;821;p113"/>
          <p:cNvSpPr txBox="1"/>
          <p:nvPr/>
        </p:nvSpPr>
        <p:spPr>
          <a:xfrm>
            <a:off x="4399279" y="418337"/>
            <a:ext cx="2544445" cy="635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4000">
                <a:solidFill>
                  <a:srgbClr val="11478A"/>
                </a:solidFill>
                <a:latin typeface="Calibri"/>
                <a:ea typeface="Calibri"/>
                <a:cs typeface="Calibri"/>
                <a:sym typeface="Calibri"/>
              </a:rPr>
              <a:t>Control Unit</a:t>
            </a:r>
            <a:endParaRPr sz="4000">
              <a:solidFill>
                <a:schemeClr val="dk1"/>
              </a:solidFill>
              <a:latin typeface="Calibri"/>
              <a:ea typeface="Calibri"/>
              <a:cs typeface="Calibri"/>
              <a:sym typeface="Calibri"/>
            </a:endParaRPr>
          </a:p>
        </p:txBody>
      </p:sp>
      <p:pic>
        <p:nvPicPr>
          <p:cNvPr id="822" name="Google Shape;822;p113"/>
          <p:cNvPicPr preferRelativeResize="0"/>
          <p:nvPr/>
        </p:nvPicPr>
        <p:blipFill rotWithShape="1">
          <a:blip r:embed="rId3">
            <a:alphaModFix/>
          </a:blip>
          <a:srcRect b="0" l="0" r="0" t="0"/>
          <a:stretch/>
        </p:blipFill>
        <p:spPr>
          <a:xfrm>
            <a:off x="900112" y="1142999"/>
            <a:ext cx="6999224" cy="5698383"/>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6" name="Shape 826"/>
        <p:cNvGrpSpPr/>
        <p:nvPr/>
      </p:nvGrpSpPr>
      <p:grpSpPr>
        <a:xfrm>
          <a:off x="0" y="0"/>
          <a:ext cx="0" cy="0"/>
          <a:chOff x="0" y="0"/>
          <a:chExt cx="0" cy="0"/>
        </a:xfrm>
      </p:grpSpPr>
      <p:sp>
        <p:nvSpPr>
          <p:cNvPr id="827" name="Google Shape;827;p114"/>
          <p:cNvSpPr txBox="1"/>
          <p:nvPr>
            <p:ph type="title"/>
          </p:nvPr>
        </p:nvSpPr>
        <p:spPr>
          <a:xfrm>
            <a:off x="1578355" y="75133"/>
            <a:ext cx="7548245"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Micro programmed Control Unit Fun</a:t>
            </a:r>
            <a:endParaRPr/>
          </a:p>
        </p:txBody>
      </p:sp>
      <p:sp>
        <p:nvSpPr>
          <p:cNvPr id="828" name="Google Shape;828;p114"/>
          <p:cNvSpPr txBox="1"/>
          <p:nvPr/>
        </p:nvSpPr>
        <p:spPr>
          <a:xfrm>
            <a:off x="1169314" y="979169"/>
            <a:ext cx="7786370" cy="5022215"/>
          </a:xfrm>
          <a:prstGeom prst="rect">
            <a:avLst/>
          </a:prstGeom>
          <a:noFill/>
          <a:ln>
            <a:noFill/>
          </a:ln>
        </p:spPr>
        <p:txBody>
          <a:bodyPr anchorCtr="0" anchor="t" bIns="0" lIns="0" spcFirstLastPara="1" rIns="0" wrap="square" tIns="12050">
            <a:spAutoFit/>
          </a:bodyPr>
          <a:lstStyle/>
          <a:p>
            <a:pPr indent="-283844" lvl="0" marL="295910" marR="0" rtl="0" algn="l">
              <a:lnSpc>
                <a:spcPct val="100000"/>
              </a:lnSpc>
              <a:spcBef>
                <a:spcPts val="0"/>
              </a:spcBef>
              <a:spcAft>
                <a:spcPts val="0"/>
              </a:spcAft>
              <a:buClr>
                <a:schemeClr val="dk1"/>
              </a:buClr>
              <a:buSzPts val="2200"/>
              <a:buFont typeface="Quattrocento Sans"/>
              <a:buChar char="⚫"/>
            </a:pPr>
            <a:r>
              <a:rPr lang="en-US" sz="2200">
                <a:solidFill>
                  <a:schemeClr val="dk1"/>
                </a:solidFill>
                <a:latin typeface="Calibri"/>
                <a:ea typeface="Calibri"/>
                <a:cs typeface="Calibri"/>
                <a:sym typeface="Calibri"/>
              </a:rPr>
              <a:t>Sequence logic unit issues read command</a:t>
            </a:r>
            <a:endParaRPr sz="2200">
              <a:solidFill>
                <a:schemeClr val="dk1"/>
              </a:solidFill>
              <a:latin typeface="Calibri"/>
              <a:ea typeface="Calibri"/>
              <a:cs typeface="Calibri"/>
              <a:sym typeface="Calibri"/>
            </a:endParaRPr>
          </a:p>
          <a:p>
            <a:pPr indent="-283844" lvl="0" marL="295910" marR="587375" rtl="0" algn="l">
              <a:lnSpc>
                <a:spcPct val="190100"/>
              </a:lnSpc>
              <a:spcBef>
                <a:spcPts val="525"/>
              </a:spcBef>
              <a:spcAft>
                <a:spcPts val="0"/>
              </a:spcAft>
              <a:buClr>
                <a:schemeClr val="dk1"/>
              </a:buClr>
              <a:buSzPts val="2200"/>
              <a:buFont typeface="Quattrocento Sans"/>
              <a:buChar char="⚫"/>
            </a:pPr>
            <a:r>
              <a:rPr lang="en-US" sz="2200">
                <a:solidFill>
                  <a:schemeClr val="dk1"/>
                </a:solidFill>
                <a:latin typeface="Calibri"/>
                <a:ea typeface="Calibri"/>
                <a:cs typeface="Calibri"/>
                <a:sym typeface="Calibri"/>
              </a:rPr>
              <a:t>Word specified in control address register is read into control  buffer register</a:t>
            </a:r>
            <a:endParaRPr sz="2200">
              <a:solidFill>
                <a:schemeClr val="dk1"/>
              </a:solidFill>
              <a:latin typeface="Calibri"/>
              <a:ea typeface="Calibri"/>
              <a:cs typeface="Calibri"/>
              <a:sym typeface="Calibri"/>
            </a:endParaRPr>
          </a:p>
          <a:p>
            <a:pPr indent="-283844" lvl="0" marL="295910" marR="5080" rtl="0" algn="l">
              <a:lnSpc>
                <a:spcPct val="190100"/>
              </a:lnSpc>
              <a:spcBef>
                <a:spcPts val="525"/>
              </a:spcBef>
              <a:spcAft>
                <a:spcPts val="0"/>
              </a:spcAft>
              <a:buClr>
                <a:schemeClr val="dk1"/>
              </a:buClr>
              <a:buSzPts val="2200"/>
              <a:buFont typeface="Quattrocento Sans"/>
              <a:buChar char="⚫"/>
            </a:pPr>
            <a:r>
              <a:rPr lang="en-US" sz="2200">
                <a:solidFill>
                  <a:schemeClr val="dk1"/>
                </a:solidFill>
                <a:latin typeface="Calibri"/>
                <a:ea typeface="Calibri"/>
                <a:cs typeface="Calibri"/>
                <a:sym typeface="Calibri"/>
              </a:rPr>
              <a:t>Control buffer register contents generates control signals and next  address information</a:t>
            </a:r>
            <a:endParaRPr sz="2200">
              <a:solidFill>
                <a:schemeClr val="dk1"/>
              </a:solidFill>
              <a:latin typeface="Calibri"/>
              <a:ea typeface="Calibri"/>
              <a:cs typeface="Calibri"/>
              <a:sym typeface="Calibri"/>
            </a:endParaRPr>
          </a:p>
          <a:p>
            <a:pPr indent="-283844" lvl="0" marL="295910" marR="391160" rtl="0" algn="l">
              <a:lnSpc>
                <a:spcPct val="190000"/>
              </a:lnSpc>
              <a:spcBef>
                <a:spcPts val="530"/>
              </a:spcBef>
              <a:spcAft>
                <a:spcPts val="0"/>
              </a:spcAft>
              <a:buClr>
                <a:schemeClr val="dk1"/>
              </a:buClr>
              <a:buSzPts val="2200"/>
              <a:buFont typeface="Quattrocento Sans"/>
              <a:buChar char="⚫"/>
            </a:pPr>
            <a:r>
              <a:rPr lang="en-US" sz="2200">
                <a:solidFill>
                  <a:schemeClr val="dk1"/>
                </a:solidFill>
                <a:latin typeface="Calibri"/>
                <a:ea typeface="Calibri"/>
                <a:cs typeface="Calibri"/>
                <a:sym typeface="Calibri"/>
              </a:rPr>
              <a:t>Sequence logic loads new address into control buffer register  based on next address information from control buffer register  and ALU flags</a:t>
            </a:r>
            <a:endParaRPr sz="2200">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2" name="Shape 832"/>
        <p:cNvGrpSpPr/>
        <p:nvPr/>
      </p:nvGrpSpPr>
      <p:grpSpPr>
        <a:xfrm>
          <a:off x="0" y="0"/>
          <a:ext cx="0" cy="0"/>
          <a:chOff x="0" y="0"/>
          <a:chExt cx="0" cy="0"/>
        </a:xfrm>
      </p:grpSpPr>
      <p:sp>
        <p:nvSpPr>
          <p:cNvPr id="833" name="Google Shape;833;p115"/>
          <p:cNvSpPr txBox="1"/>
          <p:nvPr>
            <p:ph type="title"/>
          </p:nvPr>
        </p:nvSpPr>
        <p:spPr>
          <a:xfrm>
            <a:off x="2031873" y="461594"/>
            <a:ext cx="508000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Next Address Decision</a:t>
            </a:r>
            <a:endParaRPr sz="4400">
              <a:latin typeface="Calibri"/>
              <a:ea typeface="Calibri"/>
              <a:cs typeface="Calibri"/>
              <a:sym typeface="Calibri"/>
            </a:endParaRPr>
          </a:p>
        </p:txBody>
      </p:sp>
      <p:sp>
        <p:nvSpPr>
          <p:cNvPr id="834" name="Google Shape;834;p115"/>
          <p:cNvSpPr txBox="1"/>
          <p:nvPr/>
        </p:nvSpPr>
        <p:spPr>
          <a:xfrm>
            <a:off x="1079093" y="1293368"/>
            <a:ext cx="8006080" cy="4653280"/>
          </a:xfrm>
          <a:prstGeom prst="rect">
            <a:avLst/>
          </a:prstGeom>
          <a:noFill/>
          <a:ln>
            <a:noFill/>
          </a:ln>
        </p:spPr>
        <p:txBody>
          <a:bodyPr anchorCtr="0" anchor="t" bIns="0" lIns="0" spcFirstLastPara="1" rIns="0" wrap="square" tIns="13325">
            <a:spAutoFit/>
          </a:bodyPr>
          <a:lstStyle/>
          <a:p>
            <a:pPr indent="-343535" lvl="0" marL="355600" marR="647065"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Depending on ALU flags and control buffer  register</a:t>
            </a:r>
            <a:endParaRPr sz="3200">
              <a:solidFill>
                <a:schemeClr val="dk1"/>
              </a:solidFill>
              <a:latin typeface="Calibri"/>
              <a:ea typeface="Calibri"/>
              <a:cs typeface="Calibri"/>
              <a:sym typeface="Calibri"/>
            </a:endParaRPr>
          </a:p>
          <a:p>
            <a:pPr indent="-287019" lvl="1" marL="756285" marR="0" rtl="0" algn="l">
              <a:lnSpc>
                <a:spcPct val="100000"/>
              </a:lnSpc>
              <a:spcBef>
                <a:spcPts val="685"/>
              </a:spcBef>
              <a:spcAft>
                <a:spcPts val="0"/>
              </a:spcAft>
              <a:buClr>
                <a:srgbClr val="FF0000"/>
              </a:buClr>
              <a:buSzPts val="2800"/>
              <a:buFont typeface="Arial"/>
              <a:buChar char="–"/>
            </a:pPr>
            <a:r>
              <a:rPr b="0" i="0" lang="en-US" sz="2800" u="none" cap="none" strike="noStrike">
                <a:solidFill>
                  <a:srgbClr val="FF0000"/>
                </a:solidFill>
                <a:latin typeface="Calibri"/>
                <a:ea typeface="Calibri"/>
                <a:cs typeface="Calibri"/>
                <a:sym typeface="Calibri"/>
              </a:rPr>
              <a:t>Get next instruction</a:t>
            </a:r>
            <a:endParaRPr b="0" i="0" sz="2800" u="none" cap="none" strike="noStrike">
              <a:solidFill>
                <a:schemeClr val="dk1"/>
              </a:solidFill>
              <a:latin typeface="Calibri"/>
              <a:ea typeface="Calibri"/>
              <a:cs typeface="Calibri"/>
              <a:sym typeface="Calibri"/>
            </a:endParaRPr>
          </a:p>
          <a:p>
            <a:pPr indent="-229235" lvl="2" marL="1155700"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Add 1 to control address register</a:t>
            </a:r>
            <a:endParaRPr b="0" i="0" sz="2400" u="none" cap="none" strike="noStrike">
              <a:solidFill>
                <a:schemeClr val="dk1"/>
              </a:solidFill>
              <a:latin typeface="Calibri"/>
              <a:ea typeface="Calibri"/>
              <a:cs typeface="Calibri"/>
              <a:sym typeface="Calibri"/>
            </a:endParaRPr>
          </a:p>
          <a:p>
            <a:pPr indent="-287019" lvl="1" marL="756285" marR="2035810" rtl="0" algn="l">
              <a:lnSpc>
                <a:spcPct val="100000"/>
              </a:lnSpc>
              <a:spcBef>
                <a:spcPts val="650"/>
              </a:spcBef>
              <a:spcAft>
                <a:spcPts val="0"/>
              </a:spcAft>
              <a:buClr>
                <a:srgbClr val="FF0000"/>
              </a:buClr>
              <a:buSzPts val="2800"/>
              <a:buFont typeface="Arial"/>
              <a:buChar char="–"/>
            </a:pPr>
            <a:r>
              <a:rPr b="0" i="0" lang="en-US" sz="2800" u="none" cap="none" strike="noStrike">
                <a:solidFill>
                  <a:srgbClr val="FF0000"/>
                </a:solidFill>
                <a:latin typeface="Calibri"/>
                <a:ea typeface="Calibri"/>
                <a:cs typeface="Calibri"/>
                <a:sym typeface="Calibri"/>
              </a:rPr>
              <a:t>Jump to new routine based on jump  microinstruction</a:t>
            </a:r>
            <a:endParaRPr b="0" i="0" sz="2800" u="none" cap="none" strike="noStrike">
              <a:solidFill>
                <a:schemeClr val="dk1"/>
              </a:solidFill>
              <a:latin typeface="Calibri"/>
              <a:ea typeface="Calibri"/>
              <a:cs typeface="Calibri"/>
              <a:sym typeface="Calibri"/>
            </a:endParaRPr>
          </a:p>
          <a:p>
            <a:pPr indent="-229235" lvl="2" marL="1155700" marR="5080" rtl="0" algn="l">
              <a:lnSpc>
                <a:spcPct val="10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Load address field of control buffer register into control  address register</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650"/>
              </a:spcBef>
              <a:spcAft>
                <a:spcPts val="0"/>
              </a:spcAft>
              <a:buClr>
                <a:srgbClr val="FF0000"/>
              </a:buClr>
              <a:buSzPts val="2800"/>
              <a:buFont typeface="Arial"/>
              <a:buChar char="–"/>
            </a:pPr>
            <a:r>
              <a:rPr b="0" i="0" lang="en-US" sz="2800" u="none" cap="none" strike="noStrike">
                <a:solidFill>
                  <a:srgbClr val="FF0000"/>
                </a:solidFill>
                <a:latin typeface="Calibri"/>
                <a:ea typeface="Calibri"/>
                <a:cs typeface="Calibri"/>
                <a:sym typeface="Calibri"/>
              </a:rPr>
              <a:t>Jump to machine instruction routine</a:t>
            </a:r>
            <a:endParaRPr b="0" i="0" sz="2800" u="none" cap="none" strike="noStrike">
              <a:solidFill>
                <a:schemeClr val="dk1"/>
              </a:solidFill>
              <a:latin typeface="Calibri"/>
              <a:ea typeface="Calibri"/>
              <a:cs typeface="Calibri"/>
              <a:sym typeface="Calibri"/>
            </a:endParaRPr>
          </a:p>
          <a:p>
            <a:pPr indent="-229235" lvl="2" marL="1155700"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Load control address register based on opcode in IR</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8" name="Shape 838"/>
        <p:cNvGrpSpPr/>
        <p:nvPr/>
      </p:nvGrpSpPr>
      <p:grpSpPr>
        <a:xfrm>
          <a:off x="0" y="0"/>
          <a:ext cx="0" cy="0"/>
          <a:chOff x="0" y="0"/>
          <a:chExt cx="0" cy="0"/>
        </a:xfrm>
      </p:grpSpPr>
      <p:sp>
        <p:nvSpPr>
          <p:cNvPr id="839" name="Google Shape;839;p116"/>
          <p:cNvSpPr txBox="1"/>
          <p:nvPr>
            <p:ph type="title"/>
          </p:nvPr>
        </p:nvSpPr>
        <p:spPr>
          <a:xfrm>
            <a:off x="1435608" y="274638"/>
            <a:ext cx="7498080" cy="1143000"/>
          </a:xfrm>
          <a:prstGeom prst="rect">
            <a:avLst/>
          </a:prstGeom>
          <a:noFill/>
          <a:ln>
            <a:noFill/>
          </a:ln>
        </p:spPr>
        <p:txBody>
          <a:bodyPr anchorCtr="0" anchor="ctr" bIns="0" lIns="0" spcFirstLastPara="1" rIns="0" wrap="square" tIns="51675">
            <a:spAutoFit/>
          </a:bodyPr>
          <a:lstStyle/>
          <a:p>
            <a:pPr indent="-1447165" lvl="0" marL="1506855" marR="508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Advantages and Disadvantages of  Microprogramming</a:t>
            </a:r>
            <a:endParaRPr/>
          </a:p>
        </p:txBody>
      </p:sp>
      <p:sp>
        <p:nvSpPr>
          <p:cNvPr id="840" name="Google Shape;840;p116"/>
          <p:cNvSpPr txBox="1"/>
          <p:nvPr/>
        </p:nvSpPr>
        <p:spPr>
          <a:xfrm>
            <a:off x="535940" y="1507044"/>
            <a:ext cx="5563870" cy="2224405"/>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Simplifies design of control unit</a:t>
            </a:r>
            <a:endParaRPr sz="3200">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Cheaper</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Less error-prone</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Slower</a:t>
            </a:r>
            <a:endParaRPr sz="3200">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4" name="Shape 844"/>
        <p:cNvGrpSpPr/>
        <p:nvPr/>
      </p:nvGrpSpPr>
      <p:grpSpPr>
        <a:xfrm>
          <a:off x="0" y="0"/>
          <a:ext cx="0" cy="0"/>
          <a:chOff x="0" y="0"/>
          <a:chExt cx="0" cy="0"/>
        </a:xfrm>
      </p:grpSpPr>
      <p:sp>
        <p:nvSpPr>
          <p:cNvPr id="845" name="Google Shape;845;p117"/>
          <p:cNvSpPr txBox="1"/>
          <p:nvPr>
            <p:ph type="title"/>
          </p:nvPr>
        </p:nvSpPr>
        <p:spPr>
          <a:xfrm>
            <a:off x="1435608" y="274638"/>
            <a:ext cx="7498080" cy="1143000"/>
          </a:xfrm>
          <a:prstGeom prst="rect">
            <a:avLst/>
          </a:prstGeom>
          <a:noFill/>
          <a:ln>
            <a:noFill/>
          </a:ln>
        </p:spPr>
        <p:txBody>
          <a:bodyPr anchorCtr="0" anchor="ctr" bIns="0" lIns="0" spcFirstLastPara="1" rIns="0" wrap="square" tIns="51675">
            <a:spAutoFit/>
          </a:bodyPr>
          <a:lstStyle/>
          <a:p>
            <a:pPr indent="-2193925" lvl="0" marL="2240915" marR="508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Tasks Done By Microprogrammed  Control Unit</a:t>
            </a:r>
            <a:endParaRPr/>
          </a:p>
        </p:txBody>
      </p:sp>
      <p:sp>
        <p:nvSpPr>
          <p:cNvPr id="846" name="Google Shape;846;p117"/>
          <p:cNvSpPr txBox="1"/>
          <p:nvPr/>
        </p:nvSpPr>
        <p:spPr>
          <a:xfrm>
            <a:off x="535940" y="1510703"/>
            <a:ext cx="5113655" cy="1781810"/>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Microinstruction sequencing</a:t>
            </a:r>
            <a:endParaRPr sz="3200">
              <a:solidFill>
                <a:schemeClr val="dk1"/>
              </a:solidFill>
              <a:latin typeface="Calibri"/>
              <a:ea typeface="Calibri"/>
              <a:cs typeface="Calibri"/>
              <a:sym typeface="Calibri"/>
            </a:endParaRPr>
          </a:p>
          <a:p>
            <a:pPr indent="-343535" lvl="0" marL="355600" marR="0" rtl="0" algn="l">
              <a:lnSpc>
                <a:spcPct val="100000"/>
              </a:lnSpc>
              <a:spcBef>
                <a:spcPts val="76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Microinstruction execution</a:t>
            </a:r>
            <a:endParaRPr sz="3200">
              <a:solidFill>
                <a:schemeClr val="dk1"/>
              </a:solidFill>
              <a:latin typeface="Calibri"/>
              <a:ea typeface="Calibri"/>
              <a:cs typeface="Calibri"/>
              <a:sym typeface="Calibri"/>
            </a:endParaRPr>
          </a:p>
          <a:p>
            <a:pPr indent="-343535"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Must consider both together</a:t>
            </a:r>
            <a:endParaRPr sz="3200">
              <a:solidFill>
                <a:schemeClr val="dk1"/>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0" name="Shape 850"/>
        <p:cNvGrpSpPr/>
        <p:nvPr/>
      </p:nvGrpSpPr>
      <p:grpSpPr>
        <a:xfrm>
          <a:off x="0" y="0"/>
          <a:ext cx="0" cy="0"/>
          <a:chOff x="0" y="0"/>
          <a:chExt cx="0" cy="0"/>
        </a:xfrm>
      </p:grpSpPr>
      <p:sp>
        <p:nvSpPr>
          <p:cNvPr id="851" name="Google Shape;851;p118"/>
          <p:cNvSpPr txBox="1"/>
          <p:nvPr>
            <p:ph type="title"/>
          </p:nvPr>
        </p:nvSpPr>
        <p:spPr>
          <a:xfrm>
            <a:off x="1874901" y="461594"/>
            <a:ext cx="539496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Micro-instruction Types</a:t>
            </a:r>
            <a:endParaRPr sz="4400">
              <a:latin typeface="Calibri"/>
              <a:ea typeface="Calibri"/>
              <a:cs typeface="Calibri"/>
              <a:sym typeface="Calibri"/>
            </a:endParaRPr>
          </a:p>
        </p:txBody>
      </p:sp>
      <p:sp>
        <p:nvSpPr>
          <p:cNvPr id="852" name="Google Shape;852;p118"/>
          <p:cNvSpPr txBox="1"/>
          <p:nvPr/>
        </p:nvSpPr>
        <p:spPr>
          <a:xfrm>
            <a:off x="161036" y="1302512"/>
            <a:ext cx="8100695" cy="5203190"/>
          </a:xfrm>
          <a:prstGeom prst="rect">
            <a:avLst/>
          </a:prstGeom>
          <a:noFill/>
          <a:ln>
            <a:noFill/>
          </a:ln>
        </p:spPr>
        <p:txBody>
          <a:bodyPr anchorCtr="0" anchor="t" bIns="0" lIns="0" spcFirstLastPara="1" rIns="0" wrap="square" tIns="13325">
            <a:spAutoFit/>
          </a:bodyPr>
          <a:lstStyle/>
          <a:p>
            <a:pPr indent="-283844" lvl="0" marL="295910" marR="0" rtl="0" algn="l">
              <a:lnSpc>
                <a:spcPct val="100000"/>
              </a:lnSpc>
              <a:spcBef>
                <a:spcPts val="0"/>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Each micro-instruction specifies many </a:t>
            </a:r>
            <a:r>
              <a:rPr b="1" lang="en-US" sz="3200">
                <a:solidFill>
                  <a:schemeClr val="dk1"/>
                </a:solidFill>
                <a:latin typeface="Calibri"/>
                <a:ea typeface="Calibri"/>
                <a:cs typeface="Calibri"/>
                <a:sym typeface="Calibri"/>
              </a:rPr>
              <a:t>different</a:t>
            </a:r>
            <a:endParaRPr sz="3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Clr>
                <a:schemeClr val="dk1"/>
              </a:buClr>
              <a:buSzPts val="2800"/>
              <a:buFont typeface="Quattrocento Sans"/>
              <a:buNone/>
            </a:pPr>
            <a:r>
              <a:t/>
            </a:r>
            <a:endParaRPr sz="2800">
              <a:solidFill>
                <a:schemeClr val="dk1"/>
              </a:solidFill>
              <a:latin typeface="Calibri"/>
              <a:ea typeface="Calibri"/>
              <a:cs typeface="Calibri"/>
              <a:sym typeface="Calibri"/>
            </a:endParaRPr>
          </a:p>
          <a:p>
            <a:pPr indent="0" lvl="0" marL="295910" marR="0" rtl="0" algn="l">
              <a:lnSpc>
                <a:spcPct val="100000"/>
              </a:lnSpc>
              <a:spcBef>
                <a:spcPts val="5"/>
              </a:spcBef>
              <a:spcAft>
                <a:spcPts val="0"/>
              </a:spcAft>
              <a:buNone/>
            </a:pPr>
            <a:r>
              <a:rPr lang="en-US" sz="3200">
                <a:solidFill>
                  <a:schemeClr val="dk1"/>
                </a:solidFill>
                <a:latin typeface="Calibri"/>
                <a:ea typeface="Calibri"/>
                <a:cs typeface="Calibri"/>
                <a:sym typeface="Calibri"/>
              </a:rPr>
              <a:t>micro-operations to be performed in </a:t>
            </a:r>
            <a:r>
              <a:rPr b="1" lang="en-US" sz="3200">
                <a:solidFill>
                  <a:srgbClr val="FF0000"/>
                </a:solidFill>
                <a:latin typeface="Calibri"/>
                <a:ea typeface="Calibri"/>
                <a:cs typeface="Calibri"/>
                <a:sym typeface="Calibri"/>
              </a:rPr>
              <a:t>parallel</a:t>
            </a:r>
            <a:endParaRPr sz="3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3150">
              <a:solidFill>
                <a:schemeClr val="dk1"/>
              </a:solidFill>
              <a:latin typeface="Calibri"/>
              <a:ea typeface="Calibri"/>
              <a:cs typeface="Calibri"/>
              <a:sym typeface="Calibri"/>
            </a:endParaRPr>
          </a:p>
          <a:p>
            <a:pPr indent="-238125" lvl="1" marL="570230" marR="0" rtl="0" algn="l">
              <a:lnSpc>
                <a:spcPct val="100000"/>
              </a:lnSpc>
              <a:spcBef>
                <a:spcPts val="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a:t>
            </a:r>
            <a:r>
              <a:rPr b="1" i="1" lang="en-US" sz="2800" u="none" cap="none" strike="noStrike">
                <a:solidFill>
                  <a:srgbClr val="FF0000"/>
                </a:solidFill>
                <a:latin typeface="Calibri"/>
                <a:ea typeface="Calibri"/>
                <a:cs typeface="Calibri"/>
                <a:sym typeface="Calibri"/>
              </a:rPr>
              <a:t>horizontal </a:t>
            </a:r>
            <a:r>
              <a:rPr b="1" i="0" lang="en-US" sz="2800" u="none" cap="none" strike="noStrike">
                <a:solidFill>
                  <a:srgbClr val="FF0000"/>
                </a:solidFill>
                <a:latin typeface="Calibri"/>
                <a:ea typeface="Calibri"/>
                <a:cs typeface="Calibri"/>
                <a:sym typeface="Calibri"/>
              </a:rPr>
              <a:t>micro-programming</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283844" lvl="0" marL="295910" marR="113029" rtl="0" algn="l">
              <a:lnSpc>
                <a:spcPct val="190100"/>
              </a:lnSpc>
              <a:spcBef>
                <a:spcPts val="615"/>
              </a:spcBef>
              <a:spcAft>
                <a:spcPts val="0"/>
              </a:spcAft>
              <a:buClr>
                <a:schemeClr val="dk1"/>
              </a:buClr>
              <a:buSzPts val="3200"/>
              <a:buFont typeface="Quattrocento Sans"/>
              <a:buChar char="⚫"/>
            </a:pPr>
            <a:r>
              <a:rPr lang="en-US" sz="3200">
                <a:solidFill>
                  <a:schemeClr val="dk1"/>
                </a:solidFill>
                <a:latin typeface="Calibri"/>
                <a:ea typeface="Calibri"/>
                <a:cs typeface="Calibri"/>
                <a:sym typeface="Calibri"/>
              </a:rPr>
              <a:t>Each micro-instruction specifies </a:t>
            </a:r>
            <a:r>
              <a:rPr b="1" lang="en-US" sz="3200">
                <a:solidFill>
                  <a:schemeClr val="dk1"/>
                </a:solidFill>
                <a:latin typeface="Calibri"/>
                <a:ea typeface="Calibri"/>
                <a:cs typeface="Calibri"/>
                <a:sym typeface="Calibri"/>
              </a:rPr>
              <a:t>single </a:t>
            </a:r>
            <a:r>
              <a:rPr lang="en-US" sz="3200">
                <a:solidFill>
                  <a:schemeClr val="dk1"/>
                </a:solidFill>
                <a:latin typeface="Calibri"/>
                <a:ea typeface="Calibri"/>
                <a:cs typeface="Calibri"/>
                <a:sym typeface="Calibri"/>
              </a:rPr>
              <a:t>(or few)  micro-operations to be performed</a:t>
            </a:r>
            <a:endParaRPr sz="3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150"/>
              <a:buFont typeface="Quattrocento Sans"/>
              <a:buNone/>
            </a:pPr>
            <a:r>
              <a:t/>
            </a:r>
            <a:endParaRPr sz="3150">
              <a:solidFill>
                <a:schemeClr val="dk1"/>
              </a:solidFill>
              <a:latin typeface="Calibri"/>
              <a:ea typeface="Calibri"/>
              <a:cs typeface="Calibri"/>
              <a:sym typeface="Calibri"/>
            </a:endParaRPr>
          </a:p>
          <a:p>
            <a:pPr indent="-319404" lvl="1" marL="651510" marR="0" rtl="0" algn="l">
              <a:lnSpc>
                <a:spcPct val="100000"/>
              </a:lnSpc>
              <a:spcBef>
                <a:spcPts val="0"/>
              </a:spcBef>
              <a:spcAft>
                <a:spcPts val="0"/>
              </a:spcAft>
              <a:buClr>
                <a:schemeClr val="dk1"/>
              </a:buClr>
              <a:buSzPts val="2800"/>
              <a:buFont typeface="Verdana"/>
              <a:buChar char="◦"/>
            </a:pPr>
            <a:r>
              <a:rPr b="0" i="0" lang="en-US" sz="2800" u="none" cap="none" strike="noStrike">
                <a:solidFill>
                  <a:schemeClr val="dk1"/>
                </a:solidFill>
                <a:latin typeface="Calibri"/>
                <a:ea typeface="Calibri"/>
                <a:cs typeface="Calibri"/>
                <a:sym typeface="Calibri"/>
              </a:rPr>
              <a:t>(</a:t>
            </a:r>
            <a:r>
              <a:rPr b="1" i="1" lang="en-US" sz="2800" u="none" cap="none" strike="noStrike">
                <a:solidFill>
                  <a:srgbClr val="FF0000"/>
                </a:solidFill>
                <a:latin typeface="Calibri"/>
                <a:ea typeface="Calibri"/>
                <a:cs typeface="Calibri"/>
                <a:sym typeface="Calibri"/>
              </a:rPr>
              <a:t>vertical </a:t>
            </a:r>
            <a:r>
              <a:rPr b="1" i="0" lang="en-US" sz="2800" u="none" cap="none" strike="noStrike">
                <a:solidFill>
                  <a:srgbClr val="FF0000"/>
                </a:solidFill>
                <a:latin typeface="Calibri"/>
                <a:ea typeface="Calibri"/>
                <a:cs typeface="Calibri"/>
                <a:sym typeface="Calibri"/>
              </a:rPr>
              <a:t>micro-programming</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6" name="Shape 856"/>
        <p:cNvGrpSpPr/>
        <p:nvPr/>
      </p:nvGrpSpPr>
      <p:grpSpPr>
        <a:xfrm>
          <a:off x="0" y="0"/>
          <a:ext cx="0" cy="0"/>
          <a:chOff x="0" y="0"/>
          <a:chExt cx="0" cy="0"/>
        </a:xfrm>
      </p:grpSpPr>
      <p:sp>
        <p:nvSpPr>
          <p:cNvPr id="857" name="Google Shape;857;p119"/>
          <p:cNvSpPr txBox="1"/>
          <p:nvPr>
            <p:ph type="title"/>
          </p:nvPr>
        </p:nvSpPr>
        <p:spPr>
          <a:xfrm>
            <a:off x="1766442" y="188722"/>
            <a:ext cx="6770370"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Typical Microinstruction Formats</a:t>
            </a:r>
            <a:endParaRPr/>
          </a:p>
        </p:txBody>
      </p:sp>
      <p:pic>
        <p:nvPicPr>
          <p:cNvPr id="858" name="Google Shape;858;p119"/>
          <p:cNvPicPr preferRelativeResize="0"/>
          <p:nvPr/>
        </p:nvPicPr>
        <p:blipFill rotWithShape="1">
          <a:blip r:embed="rId3">
            <a:alphaModFix/>
          </a:blip>
          <a:srcRect b="0" l="0" r="0" t="0"/>
          <a:stretch/>
        </p:blipFill>
        <p:spPr>
          <a:xfrm>
            <a:off x="0" y="1119187"/>
            <a:ext cx="9144000" cy="547000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2" name="Shape 862"/>
        <p:cNvGrpSpPr/>
        <p:nvPr/>
      </p:nvGrpSpPr>
      <p:grpSpPr>
        <a:xfrm>
          <a:off x="0" y="0"/>
          <a:ext cx="0" cy="0"/>
          <a:chOff x="0" y="0"/>
          <a:chExt cx="0" cy="0"/>
        </a:xfrm>
      </p:grpSpPr>
      <p:sp>
        <p:nvSpPr>
          <p:cNvPr id="863" name="Google Shape;863;p120"/>
          <p:cNvSpPr txBox="1"/>
          <p:nvPr/>
        </p:nvSpPr>
        <p:spPr>
          <a:xfrm>
            <a:off x="-73660" y="631063"/>
            <a:ext cx="9152255" cy="5405120"/>
          </a:xfrm>
          <a:prstGeom prst="rect">
            <a:avLst/>
          </a:prstGeom>
          <a:noFill/>
          <a:ln>
            <a:noFill/>
          </a:ln>
        </p:spPr>
        <p:txBody>
          <a:bodyPr anchorCtr="0" anchor="t" bIns="0" lIns="0" spcFirstLastPara="1" rIns="0" wrap="square" tIns="12700">
            <a:spAutoFit/>
          </a:bodyPr>
          <a:lstStyle/>
          <a:p>
            <a:pPr indent="0" lvl="0" marL="139700" marR="0" rtl="0" algn="ctr">
              <a:lnSpc>
                <a:spcPct val="100000"/>
              </a:lnSpc>
              <a:spcBef>
                <a:spcPts val="0"/>
              </a:spcBef>
              <a:spcAft>
                <a:spcPts val="0"/>
              </a:spcAft>
              <a:buNone/>
            </a:pPr>
            <a:r>
              <a:rPr lang="en-US" sz="2400">
                <a:solidFill>
                  <a:schemeClr val="dk1"/>
                </a:solidFill>
                <a:latin typeface="Calibri"/>
                <a:ea typeface="Calibri"/>
                <a:cs typeface="Calibri"/>
                <a:sym typeface="Calibri"/>
              </a:rPr>
              <a:t>Vertical Micro-programming</a:t>
            </a:r>
            <a:endParaRPr sz="24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75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rgbClr val="FF0000"/>
              </a:buClr>
              <a:buSzPts val="3200"/>
              <a:buFont typeface="Arial"/>
              <a:buChar char="•"/>
            </a:pPr>
            <a:r>
              <a:rPr b="1" lang="en-US" sz="3200">
                <a:solidFill>
                  <a:srgbClr val="FF0000"/>
                </a:solidFill>
                <a:latin typeface="Calibri"/>
                <a:ea typeface="Calibri"/>
                <a:cs typeface="Calibri"/>
                <a:sym typeface="Calibri"/>
              </a:rPr>
              <a:t>Width </a:t>
            </a:r>
            <a:r>
              <a:rPr lang="en-US" sz="3200">
                <a:solidFill>
                  <a:schemeClr val="dk1"/>
                </a:solidFill>
                <a:latin typeface="Calibri"/>
                <a:ea typeface="Calibri"/>
                <a:cs typeface="Calibri"/>
                <a:sym typeface="Calibri"/>
              </a:rPr>
              <a:t>is </a:t>
            </a:r>
            <a:r>
              <a:rPr b="1" lang="en-US" sz="3200">
                <a:solidFill>
                  <a:srgbClr val="FF0000"/>
                </a:solidFill>
                <a:latin typeface="Calibri"/>
                <a:ea typeface="Calibri"/>
                <a:cs typeface="Calibri"/>
                <a:sym typeface="Calibri"/>
              </a:rPr>
              <a:t>narrow</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Gill Sans"/>
              <a:buNone/>
            </a:pPr>
            <a:r>
              <a:t/>
            </a:r>
            <a:endParaRPr sz="375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rgbClr val="FF0000"/>
              </a:buClr>
              <a:buSzPts val="3200"/>
              <a:buFont typeface="Arial"/>
              <a:buChar char="•"/>
            </a:pPr>
            <a:r>
              <a:rPr b="1" lang="en-US" sz="3200">
                <a:solidFill>
                  <a:srgbClr val="FF0000"/>
                </a:solidFill>
                <a:latin typeface="Calibri"/>
                <a:ea typeface="Calibri"/>
                <a:cs typeface="Calibri"/>
                <a:sym typeface="Calibri"/>
              </a:rPr>
              <a:t>Limited </a:t>
            </a:r>
            <a:r>
              <a:rPr lang="en-US" sz="3200">
                <a:solidFill>
                  <a:schemeClr val="dk1"/>
                </a:solidFill>
                <a:latin typeface="Calibri"/>
                <a:ea typeface="Calibri"/>
                <a:cs typeface="Calibri"/>
                <a:sym typeface="Calibri"/>
              </a:rPr>
              <a:t>ability to express </a:t>
            </a:r>
            <a:r>
              <a:rPr b="1" lang="en-US" sz="3200">
                <a:solidFill>
                  <a:srgbClr val="FF0000"/>
                </a:solidFill>
                <a:latin typeface="Calibri"/>
                <a:ea typeface="Calibri"/>
                <a:cs typeface="Calibri"/>
                <a:sym typeface="Calibri"/>
              </a:rPr>
              <a:t>parallelism</a:t>
            </a:r>
            <a:endParaRPr sz="3200">
              <a:solidFill>
                <a:schemeClr val="dk1"/>
              </a:solidFill>
              <a:latin typeface="Calibri"/>
              <a:ea typeface="Calibri"/>
              <a:cs typeface="Calibri"/>
              <a:sym typeface="Calibri"/>
            </a:endParaRPr>
          </a:p>
          <a:p>
            <a:pPr indent="-342900" lvl="0" marL="355600" marR="5080" rtl="0" algn="just">
              <a:lnSpc>
                <a:spcPct val="200100"/>
              </a:lnSpc>
              <a:spcBef>
                <a:spcPts val="76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Considerable encoding of control information require  </a:t>
            </a:r>
            <a:r>
              <a:rPr b="1" lang="en-US" sz="3200">
                <a:solidFill>
                  <a:srgbClr val="FF0000"/>
                </a:solidFill>
                <a:latin typeface="Calibri"/>
                <a:ea typeface="Calibri"/>
                <a:cs typeface="Calibri"/>
                <a:sym typeface="Calibri"/>
              </a:rPr>
              <a:t>external memory </a:t>
            </a:r>
            <a:r>
              <a:rPr lang="en-US" sz="3200">
                <a:solidFill>
                  <a:schemeClr val="dk1"/>
                </a:solidFill>
                <a:latin typeface="Calibri"/>
                <a:ea typeface="Calibri"/>
                <a:cs typeface="Calibri"/>
                <a:sym typeface="Calibri"/>
              </a:rPr>
              <a:t>word decoder to identify the exact  control line being manipulated</a:t>
            </a:r>
            <a:endParaRPr sz="3200">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7" name="Shape 867"/>
        <p:cNvGrpSpPr/>
        <p:nvPr/>
      </p:nvGrpSpPr>
      <p:grpSpPr>
        <a:xfrm>
          <a:off x="0" y="0"/>
          <a:ext cx="0" cy="0"/>
          <a:chOff x="0" y="0"/>
          <a:chExt cx="0" cy="0"/>
        </a:xfrm>
      </p:grpSpPr>
      <p:sp>
        <p:nvSpPr>
          <p:cNvPr id="868" name="Google Shape;868;p121"/>
          <p:cNvSpPr txBox="1"/>
          <p:nvPr>
            <p:ph type="title"/>
          </p:nvPr>
        </p:nvSpPr>
        <p:spPr>
          <a:xfrm>
            <a:off x="2644901" y="631063"/>
            <a:ext cx="3855720" cy="39116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2400"/>
              <a:buFont typeface="Calibri"/>
              <a:buNone/>
            </a:pPr>
            <a:r>
              <a:rPr b="0" lang="en-US" sz="2400">
                <a:latin typeface="Calibri"/>
                <a:ea typeface="Calibri"/>
                <a:cs typeface="Calibri"/>
                <a:sym typeface="Calibri"/>
              </a:rPr>
              <a:t>Horizontal Micro-programming</a:t>
            </a:r>
            <a:endParaRPr sz="2400">
              <a:latin typeface="Calibri"/>
              <a:ea typeface="Calibri"/>
              <a:cs typeface="Calibri"/>
              <a:sym typeface="Calibri"/>
            </a:endParaRPr>
          </a:p>
        </p:txBody>
      </p:sp>
      <p:sp>
        <p:nvSpPr>
          <p:cNvPr id="869" name="Google Shape;869;p121"/>
          <p:cNvSpPr txBox="1"/>
          <p:nvPr/>
        </p:nvSpPr>
        <p:spPr>
          <a:xfrm>
            <a:off x="535940" y="1424686"/>
            <a:ext cx="7483475" cy="266065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FF0000"/>
              </a:buClr>
              <a:buSzPts val="3200"/>
              <a:buFont typeface="Arial"/>
              <a:buChar char="•"/>
            </a:pPr>
            <a:r>
              <a:rPr b="1" lang="en-US" sz="3200">
                <a:solidFill>
                  <a:srgbClr val="FF0000"/>
                </a:solidFill>
                <a:latin typeface="Calibri"/>
                <a:ea typeface="Calibri"/>
                <a:cs typeface="Calibri"/>
                <a:sym typeface="Calibri"/>
              </a:rPr>
              <a:t>Wide </a:t>
            </a:r>
            <a:r>
              <a:rPr lang="en-US" sz="3200">
                <a:solidFill>
                  <a:schemeClr val="dk1"/>
                </a:solidFill>
                <a:latin typeface="Calibri"/>
                <a:ea typeface="Calibri"/>
                <a:cs typeface="Calibri"/>
                <a:sym typeface="Calibri"/>
              </a:rPr>
              <a:t>memory word</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Gill Sans"/>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rgbClr val="FF0000"/>
              </a:buClr>
              <a:buSzPts val="3200"/>
              <a:buFont typeface="Arial"/>
              <a:buChar char="•"/>
            </a:pPr>
            <a:r>
              <a:rPr b="1" lang="en-US" sz="3200">
                <a:solidFill>
                  <a:srgbClr val="FF0000"/>
                </a:solidFill>
                <a:latin typeface="Calibri"/>
                <a:ea typeface="Calibri"/>
                <a:cs typeface="Calibri"/>
                <a:sym typeface="Calibri"/>
              </a:rPr>
              <a:t>High degree of parallel </a:t>
            </a:r>
            <a:r>
              <a:rPr lang="en-US" sz="3200">
                <a:solidFill>
                  <a:schemeClr val="dk1"/>
                </a:solidFill>
                <a:latin typeface="Calibri"/>
                <a:ea typeface="Calibri"/>
                <a:cs typeface="Calibri"/>
                <a:sym typeface="Calibri"/>
              </a:rPr>
              <a:t>operations possible</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Gill Sans"/>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Little encoding of control information</a:t>
            </a:r>
            <a:endParaRPr sz="3200">
              <a:solidFill>
                <a:schemeClr val="dk1"/>
              </a:solidFill>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3" name="Shape 873"/>
        <p:cNvGrpSpPr/>
        <p:nvPr/>
      </p:nvGrpSpPr>
      <p:grpSpPr>
        <a:xfrm>
          <a:off x="0" y="0"/>
          <a:ext cx="0" cy="0"/>
          <a:chOff x="0" y="0"/>
          <a:chExt cx="0" cy="0"/>
        </a:xfrm>
      </p:grpSpPr>
      <p:sp>
        <p:nvSpPr>
          <p:cNvPr id="874" name="Google Shape;874;p122"/>
          <p:cNvSpPr txBox="1"/>
          <p:nvPr>
            <p:ph type="title"/>
          </p:nvPr>
        </p:nvSpPr>
        <p:spPr>
          <a:xfrm>
            <a:off x="2146045" y="1601799"/>
            <a:ext cx="4852670" cy="2464435"/>
          </a:xfrm>
          <a:prstGeom prst="rect">
            <a:avLst/>
          </a:prstGeom>
          <a:noFill/>
          <a:ln>
            <a:noFill/>
          </a:ln>
        </p:spPr>
        <p:txBody>
          <a:bodyPr anchorCtr="0" anchor="ctr" bIns="0" lIns="0" spcFirstLastPara="1" rIns="0" wrap="square" tIns="8250">
            <a:spAutoFit/>
          </a:bodyPr>
          <a:lstStyle/>
          <a:p>
            <a:pPr indent="-1270" lvl="0" marL="25400" marR="17780" rtl="0" algn="ctr">
              <a:lnSpc>
                <a:spcPct val="100699"/>
              </a:lnSpc>
              <a:spcBef>
                <a:spcPts val="0"/>
              </a:spcBef>
              <a:spcAft>
                <a:spcPts val="0"/>
              </a:spcAft>
              <a:buClr>
                <a:srgbClr val="562214"/>
              </a:buClr>
              <a:buSzPts val="4300"/>
              <a:buFont typeface="Calibri"/>
              <a:buNone/>
            </a:pPr>
            <a:r>
              <a:rPr b="0" lang="en-US">
                <a:latin typeface="Calibri"/>
                <a:ea typeface="Calibri"/>
                <a:cs typeface="Calibri"/>
                <a:sym typeface="Calibri"/>
              </a:rPr>
              <a:t>William Stallings  Computer Organization  </a:t>
            </a:r>
            <a:r>
              <a:rPr b="0" lang="en-US" sz="4000">
                <a:latin typeface="Calibri"/>
                <a:ea typeface="Calibri"/>
                <a:cs typeface="Calibri"/>
                <a:sym typeface="Calibri"/>
              </a:rPr>
              <a:t>and A</a:t>
            </a:r>
            <a:r>
              <a:rPr b="0" lang="en-US" sz="3000">
                <a:solidFill>
                  <a:srgbClr val="888888"/>
                </a:solidFill>
                <a:latin typeface="Calibri"/>
                <a:ea typeface="Calibri"/>
                <a:cs typeface="Calibri"/>
                <a:sym typeface="Calibri"/>
              </a:rPr>
              <a:t>Ch</a:t>
            </a:r>
            <a:r>
              <a:rPr b="0" lang="en-US" sz="4000">
                <a:latin typeface="Calibri"/>
                <a:ea typeface="Calibri"/>
                <a:cs typeface="Calibri"/>
                <a:sym typeface="Calibri"/>
              </a:rPr>
              <a:t>r</a:t>
            </a:r>
            <a:r>
              <a:rPr b="0" lang="en-US" sz="3000">
                <a:solidFill>
                  <a:srgbClr val="888888"/>
                </a:solidFill>
                <a:latin typeface="Calibri"/>
                <a:ea typeface="Calibri"/>
                <a:cs typeface="Calibri"/>
                <a:sym typeface="Calibri"/>
              </a:rPr>
              <a:t>a</a:t>
            </a:r>
            <a:r>
              <a:rPr b="0" lang="en-US" sz="4000">
                <a:latin typeface="Calibri"/>
                <a:ea typeface="Calibri"/>
                <a:cs typeface="Calibri"/>
                <a:sym typeface="Calibri"/>
              </a:rPr>
              <a:t>c</a:t>
            </a:r>
            <a:r>
              <a:rPr b="0" lang="en-US" sz="3000">
                <a:solidFill>
                  <a:srgbClr val="888888"/>
                </a:solidFill>
                <a:latin typeface="Calibri"/>
                <a:ea typeface="Calibri"/>
                <a:cs typeface="Calibri"/>
                <a:sym typeface="Calibri"/>
              </a:rPr>
              <a:t>p</a:t>
            </a:r>
            <a:r>
              <a:rPr b="0" lang="en-US" sz="4000">
                <a:latin typeface="Calibri"/>
                <a:ea typeface="Calibri"/>
                <a:cs typeface="Calibri"/>
                <a:sym typeface="Calibri"/>
              </a:rPr>
              <a:t>h</a:t>
            </a:r>
            <a:r>
              <a:rPr b="0" lang="en-US" sz="3000">
                <a:solidFill>
                  <a:srgbClr val="888888"/>
                </a:solidFill>
                <a:latin typeface="Calibri"/>
                <a:ea typeface="Calibri"/>
                <a:cs typeface="Calibri"/>
                <a:sym typeface="Calibri"/>
              </a:rPr>
              <a:t>t</a:t>
            </a:r>
            <a:r>
              <a:rPr b="0" lang="en-US" sz="4000">
                <a:latin typeface="Calibri"/>
                <a:ea typeface="Calibri"/>
                <a:cs typeface="Calibri"/>
                <a:sym typeface="Calibri"/>
              </a:rPr>
              <a:t>i</a:t>
            </a:r>
            <a:r>
              <a:rPr b="0" lang="en-US" sz="3000">
                <a:solidFill>
                  <a:srgbClr val="888888"/>
                </a:solidFill>
                <a:latin typeface="Calibri"/>
                <a:ea typeface="Calibri"/>
                <a:cs typeface="Calibri"/>
                <a:sym typeface="Calibri"/>
              </a:rPr>
              <a:t>e</a:t>
            </a:r>
            <a:r>
              <a:rPr b="0" lang="en-US" sz="4000">
                <a:latin typeface="Calibri"/>
                <a:ea typeface="Calibri"/>
                <a:cs typeface="Calibri"/>
                <a:sym typeface="Calibri"/>
              </a:rPr>
              <a:t>t</a:t>
            </a:r>
            <a:r>
              <a:rPr b="0" lang="en-US" sz="3000">
                <a:solidFill>
                  <a:srgbClr val="888888"/>
                </a:solidFill>
                <a:latin typeface="Calibri"/>
                <a:ea typeface="Calibri"/>
                <a:cs typeface="Calibri"/>
                <a:sym typeface="Calibri"/>
              </a:rPr>
              <a:t>r</a:t>
            </a:r>
            <a:r>
              <a:rPr b="0" lang="en-US" sz="4000">
                <a:latin typeface="Calibri"/>
                <a:ea typeface="Calibri"/>
                <a:cs typeface="Calibri"/>
                <a:sym typeface="Calibri"/>
              </a:rPr>
              <a:t>e</a:t>
            </a:r>
            <a:r>
              <a:rPr b="0" lang="en-US" sz="3000">
                <a:solidFill>
                  <a:srgbClr val="888888"/>
                </a:solidFill>
                <a:latin typeface="Calibri"/>
                <a:ea typeface="Calibri"/>
                <a:cs typeface="Calibri"/>
                <a:sym typeface="Calibri"/>
              </a:rPr>
              <a:t>1</a:t>
            </a:r>
            <a:r>
              <a:rPr b="0" lang="en-US" sz="4000">
                <a:latin typeface="Calibri"/>
                <a:ea typeface="Calibri"/>
                <a:cs typeface="Calibri"/>
                <a:sym typeface="Calibri"/>
              </a:rPr>
              <a:t>c</a:t>
            </a:r>
            <a:r>
              <a:rPr b="0" lang="en-US" sz="3000">
                <a:solidFill>
                  <a:srgbClr val="888888"/>
                </a:solidFill>
                <a:latin typeface="Calibri"/>
                <a:ea typeface="Calibri"/>
                <a:cs typeface="Calibri"/>
                <a:sym typeface="Calibri"/>
              </a:rPr>
              <a:t>3</a:t>
            </a:r>
            <a:r>
              <a:rPr b="0" lang="en-US" sz="4000">
                <a:latin typeface="Calibri"/>
                <a:ea typeface="Calibri"/>
                <a:cs typeface="Calibri"/>
                <a:sym typeface="Calibri"/>
              </a:rPr>
              <a:t>ture</a:t>
            </a:r>
            <a:endParaRPr sz="4000">
              <a:latin typeface="Calibri"/>
              <a:ea typeface="Calibri"/>
              <a:cs typeface="Calibri"/>
              <a:sym typeface="Calibri"/>
            </a:endParaRPr>
          </a:p>
          <a:p>
            <a:pPr indent="0" lvl="0" marL="0" rtl="0" algn="ctr">
              <a:lnSpc>
                <a:spcPct val="110232"/>
              </a:lnSpc>
              <a:spcBef>
                <a:spcPts val="0"/>
              </a:spcBef>
              <a:spcAft>
                <a:spcPts val="0"/>
              </a:spcAft>
              <a:buClr>
                <a:srgbClr val="562214"/>
              </a:buClr>
              <a:buSzPts val="4300"/>
              <a:buFont typeface="Calibri"/>
              <a:buNone/>
            </a:pPr>
            <a:r>
              <a:rPr b="0" lang="en-US">
                <a:latin typeface="Calibri"/>
                <a:ea typeface="Calibri"/>
                <a:cs typeface="Calibri"/>
                <a:sym typeface="Calibri"/>
              </a:rPr>
              <a:t>7</a:t>
            </a:r>
            <a:r>
              <a:rPr b="0" baseline="30000" lang="en-US" sz="3975">
                <a:latin typeface="Calibri"/>
                <a:ea typeface="Calibri"/>
                <a:cs typeface="Calibri"/>
                <a:sym typeface="Calibri"/>
              </a:rPr>
              <a:t>th </a:t>
            </a:r>
            <a:r>
              <a:rPr b="0" lang="en-US" sz="4000">
                <a:latin typeface="Calibri"/>
                <a:ea typeface="Calibri"/>
                <a:cs typeface="Calibri"/>
                <a:sym typeface="Calibri"/>
              </a:rPr>
              <a:t>Edition</a:t>
            </a:r>
            <a:endParaRPr sz="4000">
              <a:latin typeface="Calibri"/>
              <a:ea typeface="Calibri"/>
              <a:cs typeface="Calibri"/>
              <a:sym typeface="Calibri"/>
            </a:endParaRPr>
          </a:p>
        </p:txBody>
      </p:sp>
      <p:sp>
        <p:nvSpPr>
          <p:cNvPr id="875" name="Google Shape;875;p122"/>
          <p:cNvSpPr txBox="1"/>
          <p:nvPr/>
        </p:nvSpPr>
        <p:spPr>
          <a:xfrm>
            <a:off x="1903857" y="3928617"/>
            <a:ext cx="5488305" cy="2769870"/>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None/>
            </a:pPr>
            <a:r>
              <a:rPr lang="en-US" sz="3000">
                <a:solidFill>
                  <a:srgbClr val="888888"/>
                </a:solidFill>
                <a:latin typeface="Calibri"/>
                <a:ea typeface="Calibri"/>
                <a:cs typeface="Calibri"/>
                <a:sym typeface="Calibri"/>
              </a:rPr>
              <a:t>Reduced Instruction Set Computers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0" lvl="0" marL="1905" marR="0" rtl="0" algn="ctr">
              <a:lnSpc>
                <a:spcPct val="100000"/>
              </a:lnSpc>
              <a:spcBef>
                <a:spcPts val="0"/>
              </a:spcBef>
              <a:spcAft>
                <a:spcPts val="0"/>
              </a:spcAft>
              <a:buNone/>
            </a:pPr>
            <a:r>
              <a:rPr lang="en-US" sz="3000">
                <a:solidFill>
                  <a:srgbClr val="888888"/>
                </a:solidFill>
                <a:latin typeface="Calibri"/>
                <a:ea typeface="Calibri"/>
                <a:cs typeface="Calibri"/>
                <a:sym typeface="Calibri"/>
              </a:rPr>
              <a:t>v/s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000">
                <a:solidFill>
                  <a:srgbClr val="888888"/>
                </a:solidFill>
                <a:latin typeface="Calibri"/>
                <a:ea typeface="Calibri"/>
                <a:cs typeface="Calibri"/>
                <a:sym typeface="Calibri"/>
              </a:rPr>
              <a:t>Complex Instruction Set Computers</a:t>
            </a:r>
            <a:endParaRPr sz="3000">
              <a:solidFill>
                <a:schemeClr val="dk1"/>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9" name="Shape 879"/>
        <p:cNvGrpSpPr/>
        <p:nvPr/>
      </p:nvGrpSpPr>
      <p:grpSpPr>
        <a:xfrm>
          <a:off x="0" y="0"/>
          <a:ext cx="0" cy="0"/>
          <a:chOff x="0" y="0"/>
          <a:chExt cx="0" cy="0"/>
        </a:xfrm>
      </p:grpSpPr>
      <p:sp>
        <p:nvSpPr>
          <p:cNvPr id="880" name="Google Shape;880;p123"/>
          <p:cNvSpPr txBox="1"/>
          <p:nvPr>
            <p:ph type="title"/>
          </p:nvPr>
        </p:nvSpPr>
        <p:spPr>
          <a:xfrm>
            <a:off x="3144773" y="461594"/>
            <a:ext cx="28543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Introduction</a:t>
            </a:r>
            <a:endParaRPr sz="4400">
              <a:latin typeface="Calibri"/>
              <a:ea typeface="Calibri"/>
              <a:cs typeface="Calibri"/>
              <a:sym typeface="Calibri"/>
            </a:endParaRPr>
          </a:p>
        </p:txBody>
      </p:sp>
      <p:sp>
        <p:nvSpPr>
          <p:cNvPr id="881" name="Google Shape;881;p123"/>
          <p:cNvSpPr txBox="1"/>
          <p:nvPr/>
        </p:nvSpPr>
        <p:spPr>
          <a:xfrm>
            <a:off x="535940" y="1767967"/>
            <a:ext cx="7983855" cy="4215765"/>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1700"/>
              <a:buFont typeface="Arial"/>
              <a:buChar char="•"/>
            </a:pPr>
            <a:r>
              <a:rPr lang="en-US" sz="1700">
                <a:solidFill>
                  <a:schemeClr val="dk1"/>
                </a:solidFill>
                <a:latin typeface="Calibri"/>
                <a:ea typeface="Calibri"/>
                <a:cs typeface="Calibri"/>
                <a:sym typeface="Calibri"/>
              </a:rPr>
              <a:t>The architectural design of the </a:t>
            </a:r>
            <a:r>
              <a:rPr b="1" lang="en-US" sz="1700">
                <a:solidFill>
                  <a:schemeClr val="dk1"/>
                </a:solidFill>
                <a:latin typeface="Calibri"/>
                <a:ea typeface="Calibri"/>
                <a:cs typeface="Calibri"/>
                <a:sym typeface="Calibri"/>
              </a:rPr>
              <a:t>CPU </a:t>
            </a:r>
            <a:r>
              <a:rPr lang="en-US" sz="1700">
                <a:solidFill>
                  <a:schemeClr val="dk1"/>
                </a:solidFill>
                <a:latin typeface="Calibri"/>
                <a:ea typeface="Calibri"/>
                <a:cs typeface="Calibri"/>
                <a:sym typeface="Calibri"/>
              </a:rPr>
              <a:t>is RISC &amp; CISC.</a:t>
            </a:r>
            <a:endParaRPr sz="17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1800"/>
              <a:buFont typeface="Gill Sans"/>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Hardware fused with software (</a:t>
            </a:r>
            <a:r>
              <a:rPr b="1" lang="en-US" sz="1900">
                <a:solidFill>
                  <a:schemeClr val="dk1"/>
                </a:solidFill>
                <a:latin typeface="Calibri"/>
                <a:ea typeface="Calibri"/>
                <a:cs typeface="Calibri"/>
                <a:sym typeface="Calibri"/>
              </a:rPr>
              <a:t>Intel v/s Apple</a:t>
            </a:r>
            <a:r>
              <a:rPr lang="en-US" sz="1900">
                <a:solidFill>
                  <a:schemeClr val="dk1"/>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343535" lvl="0" marL="355600" marR="290830" rtl="0" algn="l">
              <a:lnSpc>
                <a:spcPct val="180100"/>
              </a:lnSpc>
              <a:spcBef>
                <a:spcPts val="455"/>
              </a:spcBef>
              <a:spcAft>
                <a:spcPts val="0"/>
              </a:spcAft>
              <a:buClr>
                <a:srgbClr val="FF0000"/>
              </a:buClr>
              <a:buSzPts val="1900"/>
              <a:buFont typeface="Arial"/>
              <a:buChar char="•"/>
            </a:pPr>
            <a:r>
              <a:rPr b="1" lang="en-US" sz="1900">
                <a:solidFill>
                  <a:srgbClr val="FF0000"/>
                </a:solidFill>
                <a:latin typeface="Calibri"/>
                <a:ea typeface="Calibri"/>
                <a:cs typeface="Calibri"/>
                <a:sym typeface="Calibri"/>
              </a:rPr>
              <a:t>Intel’s </a:t>
            </a:r>
            <a:r>
              <a:rPr lang="en-US" sz="1900">
                <a:solidFill>
                  <a:schemeClr val="dk1"/>
                </a:solidFill>
                <a:latin typeface="Calibri"/>
                <a:ea typeface="Calibri"/>
                <a:cs typeface="Calibri"/>
                <a:sym typeface="Calibri"/>
              </a:rPr>
              <a:t>hardware oriented approach is termed as CISC while that of </a:t>
            </a:r>
            <a:r>
              <a:rPr b="1" lang="en-US" sz="1900">
                <a:solidFill>
                  <a:srgbClr val="FF0000"/>
                </a:solidFill>
                <a:latin typeface="Calibri"/>
                <a:ea typeface="Calibri"/>
                <a:cs typeface="Calibri"/>
                <a:sym typeface="Calibri"/>
              </a:rPr>
              <a:t>Apple </a:t>
            </a:r>
            <a:r>
              <a:rPr lang="en-US" sz="1900">
                <a:solidFill>
                  <a:schemeClr val="dk1"/>
                </a:solidFill>
                <a:latin typeface="Calibri"/>
                <a:ea typeface="Calibri"/>
                <a:cs typeface="Calibri"/>
                <a:sym typeface="Calibri"/>
              </a:rPr>
              <a:t>is  RISC</a:t>
            </a:r>
            <a:endParaRPr sz="19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Clr>
                <a:schemeClr val="dk1"/>
              </a:buClr>
              <a:buSzPts val="1850"/>
              <a:buFont typeface="Gill Sans"/>
              <a:buNone/>
            </a:pPr>
            <a:r>
              <a:t/>
            </a:r>
            <a:endParaRPr sz="185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chemeClr val="dk1"/>
              </a:buClr>
              <a:buSzPts val="1900"/>
              <a:buFont typeface="Arial"/>
              <a:buChar char="•"/>
            </a:pPr>
            <a:r>
              <a:rPr b="1" lang="en-US" sz="1900">
                <a:solidFill>
                  <a:schemeClr val="dk1"/>
                </a:solidFill>
                <a:latin typeface="Calibri"/>
                <a:ea typeface="Calibri"/>
                <a:cs typeface="Calibri"/>
                <a:sym typeface="Calibri"/>
              </a:rPr>
              <a:t>Instruction Set Architecture- </a:t>
            </a:r>
            <a:r>
              <a:rPr b="1" lang="en-US" sz="1900">
                <a:solidFill>
                  <a:srgbClr val="FF0000"/>
                </a:solidFill>
                <a:latin typeface="Calibri"/>
                <a:ea typeface="Calibri"/>
                <a:cs typeface="Calibri"/>
                <a:sym typeface="Calibri"/>
              </a:rPr>
              <a:t>Interface </a:t>
            </a:r>
            <a:r>
              <a:rPr lang="en-US" sz="1900">
                <a:solidFill>
                  <a:schemeClr val="dk1"/>
                </a:solidFill>
                <a:latin typeface="Calibri"/>
                <a:ea typeface="Calibri"/>
                <a:cs typeface="Calibri"/>
                <a:sym typeface="Calibri"/>
              </a:rPr>
              <a:t>to allow easy communication between</a:t>
            </a:r>
            <a:endParaRPr sz="1900">
              <a:solidFill>
                <a:schemeClr val="dk1"/>
              </a:solidFill>
              <a:latin typeface="Calibri"/>
              <a:ea typeface="Calibri"/>
              <a:cs typeface="Calibri"/>
              <a:sym typeface="Calibri"/>
            </a:endParaRPr>
          </a:p>
          <a:p>
            <a:pPr indent="0" lvl="0" marL="355600" marR="0" rtl="0" algn="l">
              <a:lnSpc>
                <a:spcPct val="100000"/>
              </a:lnSpc>
              <a:spcBef>
                <a:spcPts val="1825"/>
              </a:spcBef>
              <a:spcAft>
                <a:spcPts val="0"/>
              </a:spcAft>
              <a:buNone/>
            </a:pPr>
            <a:r>
              <a:rPr lang="en-US" sz="1900">
                <a:solidFill>
                  <a:schemeClr val="dk1"/>
                </a:solidFill>
                <a:latin typeface="Calibri"/>
                <a:ea typeface="Calibri"/>
                <a:cs typeface="Calibri"/>
                <a:sym typeface="Calibri"/>
              </a:rPr>
              <a:t>the programmer and the hardware.</a:t>
            </a:r>
            <a:endParaRPr sz="19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18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ISA- execution of data, copying data, deleting it, editing</a:t>
            </a:r>
            <a:endParaRPr sz="19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Clr>
                <a:schemeClr val="dk1"/>
              </a:buClr>
              <a:buSzPts val="1850"/>
              <a:buFont typeface="Gill Sans"/>
              <a:buNone/>
            </a:pPr>
            <a:r>
              <a:t/>
            </a:r>
            <a:endParaRPr sz="18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Instruction Set , Addressing Modes,</a:t>
            </a:r>
            <a:endParaRPr sz="1900">
              <a:solidFill>
                <a:schemeClr val="dk1"/>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5" name="Shape 885"/>
        <p:cNvGrpSpPr/>
        <p:nvPr/>
      </p:nvGrpSpPr>
      <p:grpSpPr>
        <a:xfrm>
          <a:off x="0" y="0"/>
          <a:ext cx="0" cy="0"/>
          <a:chOff x="0" y="0"/>
          <a:chExt cx="0" cy="0"/>
        </a:xfrm>
      </p:grpSpPr>
      <p:sp>
        <p:nvSpPr>
          <p:cNvPr id="886" name="Google Shape;886;p124"/>
          <p:cNvSpPr txBox="1"/>
          <p:nvPr>
            <p:ph type="title"/>
          </p:nvPr>
        </p:nvSpPr>
        <p:spPr>
          <a:xfrm>
            <a:off x="1435608" y="274638"/>
            <a:ext cx="7498080" cy="1143000"/>
          </a:xfrm>
          <a:prstGeom prst="rect">
            <a:avLst/>
          </a:prstGeom>
          <a:noFill/>
          <a:ln>
            <a:noFill/>
          </a:ln>
        </p:spPr>
        <p:txBody>
          <a:bodyPr anchorCtr="0" anchor="ctr" bIns="0" lIns="0" spcFirstLastPara="1" rIns="0" wrap="square" tIns="51675">
            <a:spAutoFit/>
          </a:bodyPr>
          <a:lstStyle/>
          <a:p>
            <a:pPr indent="-1668145" lvl="0" marL="2128520" marR="508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RISC-</a:t>
            </a:r>
            <a:r>
              <a:rPr lang="en-US"/>
              <a:t>Reduced Instruction Set  Computer</a:t>
            </a:r>
            <a:endParaRPr/>
          </a:p>
        </p:txBody>
      </p:sp>
      <p:sp>
        <p:nvSpPr>
          <p:cNvPr id="887" name="Google Shape;887;p124"/>
          <p:cNvSpPr txBox="1"/>
          <p:nvPr/>
        </p:nvSpPr>
        <p:spPr>
          <a:xfrm>
            <a:off x="535940" y="1846910"/>
            <a:ext cx="7910195" cy="3989070"/>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700"/>
              <a:buFont typeface="Arial"/>
              <a:buChar char="•"/>
            </a:pPr>
            <a:r>
              <a:rPr lang="en-US" sz="2700">
                <a:solidFill>
                  <a:schemeClr val="dk1"/>
                </a:solidFill>
                <a:latin typeface="Calibri"/>
                <a:ea typeface="Calibri"/>
                <a:cs typeface="Calibri"/>
                <a:sym typeface="Calibri"/>
              </a:rPr>
              <a:t>RISC processor design has separate </a:t>
            </a:r>
            <a:r>
              <a:rPr b="1" lang="en-US" sz="2700">
                <a:solidFill>
                  <a:schemeClr val="dk1"/>
                </a:solidFill>
                <a:latin typeface="Calibri"/>
                <a:ea typeface="Calibri"/>
                <a:cs typeface="Calibri"/>
                <a:sym typeface="Calibri"/>
              </a:rPr>
              <a:t>digital circuitry </a:t>
            </a:r>
            <a:r>
              <a:rPr lang="en-US" sz="2700">
                <a:solidFill>
                  <a:schemeClr val="dk1"/>
                </a:solidFill>
                <a:latin typeface="Calibri"/>
                <a:ea typeface="Calibri"/>
                <a:cs typeface="Calibri"/>
                <a:sym typeface="Calibri"/>
              </a:rPr>
              <a:t>in</a:t>
            </a:r>
            <a:endParaRPr sz="2700">
              <a:solidFill>
                <a:schemeClr val="dk1"/>
              </a:solidFill>
              <a:latin typeface="Calibri"/>
              <a:ea typeface="Calibri"/>
              <a:cs typeface="Calibri"/>
              <a:sym typeface="Calibri"/>
            </a:endParaRPr>
          </a:p>
          <a:p>
            <a:pPr indent="0" lvl="0" marL="355600" marR="0" rtl="0" algn="l">
              <a:lnSpc>
                <a:spcPct val="100000"/>
              </a:lnSpc>
              <a:spcBef>
                <a:spcPts val="2595"/>
              </a:spcBef>
              <a:spcAft>
                <a:spcPts val="0"/>
              </a:spcAft>
              <a:buNone/>
            </a:pPr>
            <a:r>
              <a:rPr lang="en-US" sz="2700">
                <a:solidFill>
                  <a:schemeClr val="dk1"/>
                </a:solidFill>
                <a:latin typeface="Calibri"/>
                <a:ea typeface="Calibri"/>
                <a:cs typeface="Calibri"/>
                <a:sym typeface="Calibri"/>
              </a:rPr>
              <a:t>the control unit</a:t>
            </a:r>
            <a:endParaRPr sz="2700">
              <a:solidFill>
                <a:schemeClr val="dk1"/>
              </a:solidFill>
              <a:latin typeface="Calibri"/>
              <a:ea typeface="Calibri"/>
              <a:cs typeface="Calibri"/>
              <a:sym typeface="Calibri"/>
            </a:endParaRPr>
          </a:p>
          <a:p>
            <a:pPr indent="-343535" lvl="0" marL="355600" marR="5080" rtl="0" algn="l">
              <a:lnSpc>
                <a:spcPct val="180000"/>
              </a:lnSpc>
              <a:spcBef>
                <a:spcPts val="650"/>
              </a:spcBef>
              <a:spcAft>
                <a:spcPts val="0"/>
              </a:spcAft>
              <a:buClr>
                <a:schemeClr val="dk1"/>
              </a:buClr>
              <a:buSzPts val="2700"/>
              <a:buFont typeface="Arial"/>
              <a:buChar char="•"/>
            </a:pPr>
            <a:r>
              <a:rPr lang="en-US" sz="2700">
                <a:solidFill>
                  <a:schemeClr val="dk1"/>
                </a:solidFill>
                <a:latin typeface="Calibri"/>
                <a:ea typeface="Calibri"/>
                <a:cs typeface="Calibri"/>
                <a:sym typeface="Calibri"/>
              </a:rPr>
              <a:t>Signals needed for the execution of each instruction in  the instruction set of the processor.</a:t>
            </a:r>
            <a:endParaRPr sz="2700">
              <a:solidFill>
                <a:schemeClr val="dk1"/>
              </a:solidFill>
              <a:latin typeface="Calibri"/>
              <a:ea typeface="Calibri"/>
              <a:cs typeface="Calibri"/>
              <a:sym typeface="Calibri"/>
            </a:endParaRPr>
          </a:p>
          <a:p>
            <a:pPr indent="-343535" lvl="0" marL="355600" marR="0" rtl="0" algn="l">
              <a:lnSpc>
                <a:spcPct val="100000"/>
              </a:lnSpc>
              <a:spcBef>
                <a:spcPts val="805"/>
              </a:spcBef>
              <a:spcAft>
                <a:spcPts val="0"/>
              </a:spcAft>
              <a:buClr>
                <a:schemeClr val="dk1"/>
              </a:buClr>
              <a:buSzPts val="2700"/>
              <a:buFont typeface="Arial"/>
              <a:buChar char="•"/>
            </a:pPr>
            <a:r>
              <a:rPr lang="en-US" sz="2700">
                <a:solidFill>
                  <a:schemeClr val="dk1"/>
                </a:solidFill>
                <a:latin typeface="Calibri"/>
                <a:ea typeface="Calibri"/>
                <a:cs typeface="Calibri"/>
                <a:sym typeface="Calibri"/>
              </a:rPr>
              <a:t>Examples of RISC processors:</a:t>
            </a:r>
            <a:endParaRPr sz="2700">
              <a:solidFill>
                <a:schemeClr val="dk1"/>
              </a:solidFill>
              <a:latin typeface="Calibri"/>
              <a:ea typeface="Calibri"/>
              <a:cs typeface="Calibri"/>
              <a:sym typeface="Calibri"/>
            </a:endParaRPr>
          </a:p>
          <a:p>
            <a:pPr indent="0" lvl="0" marL="469900" marR="0" rtl="0" algn="l">
              <a:lnSpc>
                <a:spcPct val="100000"/>
              </a:lnSpc>
              <a:spcBef>
                <a:spcPts val="10"/>
              </a:spcBef>
              <a:spcAft>
                <a:spcPts val="0"/>
              </a:spcAft>
              <a:buNone/>
            </a:pPr>
            <a:r>
              <a:rPr lang="en-US" sz="2400">
                <a:solidFill>
                  <a:schemeClr val="dk1"/>
                </a:solidFill>
                <a:latin typeface="Arial"/>
                <a:ea typeface="Arial"/>
                <a:cs typeface="Arial"/>
                <a:sym typeface="Arial"/>
              </a:rPr>
              <a:t>– </a:t>
            </a:r>
            <a:r>
              <a:rPr lang="en-US" sz="2400">
                <a:solidFill>
                  <a:schemeClr val="dk1"/>
                </a:solidFill>
                <a:latin typeface="Calibri"/>
                <a:ea typeface="Calibri"/>
                <a:cs typeface="Calibri"/>
                <a:sym typeface="Calibri"/>
              </a:rPr>
              <a:t>IBM RS6000, MC88100</a:t>
            </a:r>
            <a:endParaRPr sz="24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400">
                <a:solidFill>
                  <a:schemeClr val="dk1"/>
                </a:solidFill>
                <a:latin typeface="Arial"/>
                <a:ea typeface="Arial"/>
                <a:cs typeface="Arial"/>
                <a:sym typeface="Arial"/>
              </a:rPr>
              <a:t>– </a:t>
            </a:r>
            <a:r>
              <a:rPr lang="en-US" sz="2400">
                <a:solidFill>
                  <a:schemeClr val="dk1"/>
                </a:solidFill>
                <a:latin typeface="Calibri"/>
                <a:ea typeface="Calibri"/>
                <a:cs typeface="Calibri"/>
                <a:sym typeface="Calibri"/>
              </a:rPr>
              <a:t>DEC’s Alpha 21064, 21164 and 21264 processors</a:t>
            </a:r>
            <a:endParaRPr sz="2400">
              <a:solidFill>
                <a:schemeClr val="dk1"/>
              </a:solidFill>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1" name="Shape 891"/>
        <p:cNvGrpSpPr/>
        <p:nvPr/>
      </p:nvGrpSpPr>
      <p:grpSpPr>
        <a:xfrm>
          <a:off x="0" y="0"/>
          <a:ext cx="0" cy="0"/>
          <a:chOff x="0" y="0"/>
          <a:chExt cx="0" cy="0"/>
        </a:xfrm>
      </p:grpSpPr>
      <p:sp>
        <p:nvSpPr>
          <p:cNvPr id="892" name="Google Shape;892;p125"/>
          <p:cNvSpPr txBox="1"/>
          <p:nvPr>
            <p:ph type="title"/>
          </p:nvPr>
        </p:nvSpPr>
        <p:spPr>
          <a:xfrm>
            <a:off x="1435608" y="274638"/>
            <a:ext cx="7498080" cy="1143000"/>
          </a:xfrm>
          <a:prstGeom prst="rect">
            <a:avLst/>
          </a:prstGeom>
          <a:noFill/>
          <a:ln>
            <a:noFill/>
          </a:ln>
        </p:spPr>
        <p:txBody>
          <a:bodyPr anchorCtr="0" anchor="ctr" bIns="0" lIns="0" spcFirstLastPara="1" rIns="0" wrap="square" tIns="51675">
            <a:spAutoFit/>
          </a:bodyPr>
          <a:lstStyle/>
          <a:p>
            <a:pPr indent="-1992629" lvl="0" marL="2448560" marR="508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CISC-</a:t>
            </a:r>
            <a:r>
              <a:rPr lang="en-US"/>
              <a:t>Complex Instruction Set  Computer</a:t>
            </a:r>
            <a:endParaRPr/>
          </a:p>
        </p:txBody>
      </p:sp>
      <p:sp>
        <p:nvSpPr>
          <p:cNvPr id="893" name="Google Shape;893;p125"/>
          <p:cNvSpPr txBox="1"/>
          <p:nvPr/>
        </p:nvSpPr>
        <p:spPr>
          <a:xfrm>
            <a:off x="535940" y="1723466"/>
            <a:ext cx="7887334" cy="417893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700"/>
              <a:buFont typeface="Arial"/>
              <a:buChar char="•"/>
            </a:pPr>
            <a:r>
              <a:rPr lang="en-US" sz="2700">
                <a:solidFill>
                  <a:schemeClr val="dk1"/>
                </a:solidFill>
                <a:latin typeface="Calibri"/>
                <a:ea typeface="Calibri"/>
                <a:cs typeface="Calibri"/>
                <a:sym typeface="Calibri"/>
              </a:rPr>
              <a:t>Control unit </a:t>
            </a:r>
            <a:r>
              <a:rPr lang="en-US" sz="2700">
                <a:solidFill>
                  <a:schemeClr val="dk1"/>
                </a:solidFill>
                <a:latin typeface="Noto Sans Symbols"/>
                <a:ea typeface="Noto Sans Symbols"/>
                <a:cs typeface="Noto Sans Symbols"/>
                <a:sym typeface="Noto Sans Symbols"/>
              </a:rPr>
              <a:t>🡪</a:t>
            </a:r>
            <a:r>
              <a:rPr lang="en-US" sz="2700">
                <a:solidFill>
                  <a:schemeClr val="dk1"/>
                </a:solidFill>
                <a:latin typeface="Calibri"/>
                <a:ea typeface="Calibri"/>
                <a:cs typeface="Calibri"/>
                <a:sym typeface="Calibri"/>
              </a:rPr>
              <a:t>micro-electronic circuitry</a:t>
            </a:r>
            <a:endParaRPr sz="2700">
              <a:solidFill>
                <a:schemeClr val="dk1"/>
              </a:solidFill>
              <a:latin typeface="Calibri"/>
              <a:ea typeface="Calibri"/>
              <a:cs typeface="Calibri"/>
              <a:sym typeface="Calibri"/>
            </a:endParaRPr>
          </a:p>
          <a:p>
            <a:pPr indent="-32383" lvl="0" marL="355600" marR="495300" rtl="0" algn="l">
              <a:lnSpc>
                <a:spcPct val="140100"/>
              </a:lnSpc>
              <a:spcBef>
                <a:spcPts val="645"/>
              </a:spcBef>
              <a:spcAft>
                <a:spcPts val="0"/>
              </a:spcAft>
              <a:buNone/>
            </a:pPr>
            <a:r>
              <a:rPr lang="en-US" sz="2700">
                <a:solidFill>
                  <a:schemeClr val="dk1"/>
                </a:solidFill>
                <a:latin typeface="Calibri"/>
                <a:ea typeface="Calibri"/>
                <a:cs typeface="Calibri"/>
                <a:sym typeface="Calibri"/>
              </a:rPr>
              <a:t>- generates a set of control signals </a:t>
            </a:r>
            <a:r>
              <a:rPr lang="en-US" sz="2700">
                <a:solidFill>
                  <a:schemeClr val="dk1"/>
                </a:solidFill>
                <a:latin typeface="Noto Sans Symbols"/>
                <a:ea typeface="Noto Sans Symbols"/>
                <a:cs typeface="Noto Sans Symbols"/>
                <a:sym typeface="Noto Sans Symbols"/>
              </a:rPr>
              <a:t>🡪</a:t>
            </a:r>
            <a:r>
              <a:rPr lang="en-US" sz="2700">
                <a:solidFill>
                  <a:schemeClr val="dk1"/>
                </a:solidFill>
                <a:latin typeface="Calibri"/>
                <a:ea typeface="Calibri"/>
                <a:cs typeface="Calibri"/>
                <a:sym typeface="Calibri"/>
              </a:rPr>
              <a:t>activated by a  micro-code</a:t>
            </a:r>
            <a:endParaRPr sz="2700">
              <a:solidFill>
                <a:schemeClr val="dk1"/>
              </a:solidFill>
              <a:latin typeface="Calibri"/>
              <a:ea typeface="Calibri"/>
              <a:cs typeface="Calibri"/>
              <a:sym typeface="Calibri"/>
            </a:endParaRPr>
          </a:p>
          <a:p>
            <a:pPr indent="-343535" lvl="0" marL="355600" marR="5080" rtl="0" algn="l">
              <a:lnSpc>
                <a:spcPct val="140100"/>
              </a:lnSpc>
              <a:spcBef>
                <a:spcPts val="645"/>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	</a:t>
            </a:r>
            <a:r>
              <a:rPr lang="en-US" sz="2700">
                <a:solidFill>
                  <a:schemeClr val="dk1"/>
                </a:solidFill>
                <a:latin typeface="Calibri"/>
                <a:ea typeface="Calibri"/>
                <a:cs typeface="Calibri"/>
                <a:sym typeface="Calibri"/>
              </a:rPr>
              <a:t>The primary goal of CISC architecture is to complete a  task in as few lines of assembly code as possible.</a:t>
            </a:r>
            <a:endParaRPr sz="2700">
              <a:solidFill>
                <a:schemeClr val="dk1"/>
              </a:solidFill>
              <a:latin typeface="Calibri"/>
              <a:ea typeface="Calibri"/>
              <a:cs typeface="Calibri"/>
              <a:sym typeface="Calibri"/>
            </a:endParaRPr>
          </a:p>
          <a:p>
            <a:pPr indent="-343535" lvl="0" marL="355600" marR="0" rtl="0" algn="l">
              <a:lnSpc>
                <a:spcPct val="100000"/>
              </a:lnSpc>
              <a:spcBef>
                <a:spcPts val="1445"/>
              </a:spcBef>
              <a:spcAft>
                <a:spcPts val="0"/>
              </a:spcAft>
              <a:buClr>
                <a:schemeClr val="dk1"/>
              </a:buClr>
              <a:buSzPts val="1700"/>
              <a:buFont typeface="Arial"/>
              <a:buChar char="•"/>
            </a:pPr>
            <a:r>
              <a:rPr b="1" lang="en-US" sz="1700">
                <a:solidFill>
                  <a:schemeClr val="dk1"/>
                </a:solidFill>
                <a:latin typeface="Calibri"/>
                <a:ea typeface="Calibri"/>
                <a:cs typeface="Calibri"/>
                <a:sym typeface="Calibri"/>
              </a:rPr>
              <a:t>Examples of CISC processors are:</a:t>
            </a:r>
            <a:endParaRPr sz="1700">
              <a:solidFill>
                <a:schemeClr val="dk1"/>
              </a:solidFill>
              <a:latin typeface="Calibri"/>
              <a:ea typeface="Calibri"/>
              <a:cs typeface="Calibri"/>
              <a:sym typeface="Calibri"/>
            </a:endParaRPr>
          </a:p>
          <a:p>
            <a:pPr indent="0" lvl="0" marL="469900" marR="0" rtl="0" algn="l">
              <a:lnSpc>
                <a:spcPct val="100000"/>
              </a:lnSpc>
              <a:spcBef>
                <a:spcPts val="1225"/>
              </a:spcBef>
              <a:spcAft>
                <a:spcPts val="0"/>
              </a:spcAft>
              <a:buNone/>
            </a:pPr>
            <a:r>
              <a:rPr lang="en-US" sz="1700">
                <a:solidFill>
                  <a:schemeClr val="dk1"/>
                </a:solidFill>
                <a:latin typeface="Arial"/>
                <a:ea typeface="Arial"/>
                <a:cs typeface="Arial"/>
                <a:sym typeface="Arial"/>
              </a:rPr>
              <a:t>–	</a:t>
            </a:r>
            <a:r>
              <a:rPr lang="en-US" sz="1700">
                <a:solidFill>
                  <a:schemeClr val="dk1"/>
                </a:solidFill>
                <a:latin typeface="Calibri"/>
                <a:ea typeface="Calibri"/>
                <a:cs typeface="Calibri"/>
                <a:sym typeface="Calibri"/>
              </a:rPr>
              <a:t>Intel 386, 486, Pentium, Pentium Pro, Pentium II, Pentium III</a:t>
            </a:r>
            <a:endParaRPr sz="1700">
              <a:solidFill>
                <a:schemeClr val="dk1"/>
              </a:solidFill>
              <a:latin typeface="Calibri"/>
              <a:ea typeface="Calibri"/>
              <a:cs typeface="Calibri"/>
              <a:sym typeface="Calibri"/>
            </a:endParaRPr>
          </a:p>
          <a:p>
            <a:pPr indent="0" lvl="0" marL="469900" marR="0" rtl="0" algn="l">
              <a:lnSpc>
                <a:spcPct val="100000"/>
              </a:lnSpc>
              <a:spcBef>
                <a:spcPts val="1225"/>
              </a:spcBef>
              <a:spcAft>
                <a:spcPts val="0"/>
              </a:spcAft>
              <a:buNone/>
            </a:pPr>
            <a:r>
              <a:rPr lang="en-US" sz="1700">
                <a:solidFill>
                  <a:schemeClr val="dk1"/>
                </a:solidFill>
                <a:latin typeface="Arial"/>
                <a:ea typeface="Arial"/>
                <a:cs typeface="Arial"/>
                <a:sym typeface="Arial"/>
              </a:rPr>
              <a:t>–	</a:t>
            </a:r>
            <a:r>
              <a:rPr lang="en-US" sz="1700">
                <a:solidFill>
                  <a:schemeClr val="dk1"/>
                </a:solidFill>
                <a:latin typeface="Calibri"/>
                <a:ea typeface="Calibri"/>
                <a:cs typeface="Calibri"/>
                <a:sym typeface="Calibri"/>
              </a:rPr>
              <a:t>Motorola’s 68000, 68020, 68040, etc.</a:t>
            </a:r>
            <a:endParaRPr sz="1700">
              <a:solidFill>
                <a:schemeClr val="dk1"/>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7" name="Shape 897"/>
        <p:cNvGrpSpPr/>
        <p:nvPr/>
      </p:nvGrpSpPr>
      <p:grpSpPr>
        <a:xfrm>
          <a:off x="0" y="0"/>
          <a:ext cx="0" cy="0"/>
          <a:chOff x="0" y="0"/>
          <a:chExt cx="0" cy="0"/>
        </a:xfrm>
      </p:grpSpPr>
      <p:sp>
        <p:nvSpPr>
          <p:cNvPr id="898" name="Google Shape;898;p126"/>
          <p:cNvSpPr txBox="1"/>
          <p:nvPr>
            <p:ph type="title"/>
          </p:nvPr>
        </p:nvSpPr>
        <p:spPr>
          <a:xfrm>
            <a:off x="1891664" y="461594"/>
            <a:ext cx="53562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processor features</a:t>
            </a:r>
            <a:endParaRPr sz="4400">
              <a:latin typeface="Calibri"/>
              <a:ea typeface="Calibri"/>
              <a:cs typeface="Calibri"/>
              <a:sym typeface="Calibri"/>
            </a:endParaRPr>
          </a:p>
        </p:txBody>
      </p:sp>
      <p:sp>
        <p:nvSpPr>
          <p:cNvPr id="899" name="Google Shape;899;p126"/>
          <p:cNvSpPr txBox="1"/>
          <p:nvPr/>
        </p:nvSpPr>
        <p:spPr>
          <a:xfrm>
            <a:off x="78739" y="1385061"/>
            <a:ext cx="6863080" cy="514731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Instruction set with 120-350 instructions</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Variable instruction/data formats</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Small set of general purpose registers(8-24)</a:t>
            </a:r>
            <a:endParaRPr sz="28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 large number of addressing modes</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High dependency on micro program</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Complex instructions to support HLL features</a:t>
            </a:r>
            <a:endParaRPr sz="2800">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3" name="Shape 903"/>
        <p:cNvGrpSpPr/>
        <p:nvPr/>
      </p:nvGrpSpPr>
      <p:grpSpPr>
        <a:xfrm>
          <a:off x="0" y="0"/>
          <a:ext cx="0" cy="0"/>
          <a:chOff x="0" y="0"/>
          <a:chExt cx="0" cy="0"/>
        </a:xfrm>
      </p:grpSpPr>
      <p:sp>
        <p:nvSpPr>
          <p:cNvPr id="904" name="Google Shape;904;p127"/>
          <p:cNvSpPr txBox="1"/>
          <p:nvPr>
            <p:ph type="title"/>
          </p:nvPr>
        </p:nvSpPr>
        <p:spPr>
          <a:xfrm>
            <a:off x="1891664" y="461594"/>
            <a:ext cx="53562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processor features</a:t>
            </a:r>
            <a:endParaRPr sz="4400">
              <a:latin typeface="Calibri"/>
              <a:ea typeface="Calibri"/>
              <a:cs typeface="Calibri"/>
              <a:sym typeface="Calibri"/>
            </a:endParaRPr>
          </a:p>
        </p:txBody>
      </p:sp>
      <p:sp>
        <p:nvSpPr>
          <p:cNvPr id="905" name="Google Shape;905;p127"/>
          <p:cNvSpPr txBox="1"/>
          <p:nvPr/>
        </p:nvSpPr>
        <p:spPr>
          <a:xfrm>
            <a:off x="78739" y="1424686"/>
            <a:ext cx="8940300" cy="3068700"/>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Complex pipelining</a:t>
            </a:r>
            <a:endParaRPr sz="3200">
              <a:solidFill>
                <a:schemeClr val="dk1"/>
              </a:solidFill>
              <a:latin typeface="Calibri"/>
              <a:ea typeface="Calibri"/>
              <a:cs typeface="Calibri"/>
              <a:sym typeface="Calibri"/>
            </a:endParaRPr>
          </a:p>
          <a:p>
            <a:pPr indent="-342900" lvl="0" marL="355600" marR="5080" rtl="0" algn="l">
              <a:lnSpc>
                <a:spcPct val="200100"/>
              </a:lnSpc>
              <a:spcBef>
                <a:spcPts val="76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Many functional chips needed to design a computer  using CISC</a:t>
            </a:r>
            <a:endParaRPr sz="375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Difficult to design a superscalar processor</a:t>
            </a:r>
            <a:endParaRPr sz="3200">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9" name="Shape 909"/>
        <p:cNvGrpSpPr/>
        <p:nvPr/>
      </p:nvGrpSpPr>
      <p:grpSpPr>
        <a:xfrm>
          <a:off x="0" y="0"/>
          <a:ext cx="0" cy="0"/>
          <a:chOff x="0" y="0"/>
          <a:chExt cx="0" cy="0"/>
        </a:xfrm>
      </p:grpSpPr>
      <p:sp>
        <p:nvSpPr>
          <p:cNvPr id="910" name="Google Shape;910;p128"/>
          <p:cNvSpPr txBox="1"/>
          <p:nvPr>
            <p:ph type="title"/>
          </p:nvPr>
        </p:nvSpPr>
        <p:spPr>
          <a:xfrm>
            <a:off x="1826132" y="461594"/>
            <a:ext cx="54971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processor features</a:t>
            </a:r>
            <a:endParaRPr sz="4400">
              <a:latin typeface="Calibri"/>
              <a:ea typeface="Calibri"/>
              <a:cs typeface="Calibri"/>
              <a:sym typeface="Calibri"/>
            </a:endParaRPr>
          </a:p>
        </p:txBody>
      </p:sp>
      <p:sp>
        <p:nvSpPr>
          <p:cNvPr id="911" name="Google Shape;911;p128"/>
          <p:cNvSpPr txBox="1"/>
          <p:nvPr/>
        </p:nvSpPr>
        <p:spPr>
          <a:xfrm>
            <a:off x="50088" y="1348486"/>
            <a:ext cx="8689340" cy="480695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Instruction set with limited number of instructions</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Simple instruction format</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Large set of CPU registers</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Very few addressing modes</a:t>
            </a:r>
            <a:endParaRPr sz="3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Easy to construct a superscalar processor</a:t>
            </a:r>
            <a:endParaRPr sz="3200">
              <a:solidFill>
                <a:schemeClr val="dk1"/>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5" name="Shape 915"/>
        <p:cNvGrpSpPr/>
        <p:nvPr/>
      </p:nvGrpSpPr>
      <p:grpSpPr>
        <a:xfrm>
          <a:off x="0" y="0"/>
          <a:ext cx="0" cy="0"/>
          <a:chOff x="0" y="0"/>
          <a:chExt cx="0" cy="0"/>
        </a:xfrm>
      </p:grpSpPr>
      <p:sp>
        <p:nvSpPr>
          <p:cNvPr id="916" name="Google Shape;916;p129"/>
          <p:cNvSpPr txBox="1"/>
          <p:nvPr>
            <p:ph type="title"/>
          </p:nvPr>
        </p:nvSpPr>
        <p:spPr>
          <a:xfrm>
            <a:off x="1890141" y="461594"/>
            <a:ext cx="53682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processor features</a:t>
            </a:r>
            <a:endParaRPr sz="4400">
              <a:latin typeface="Calibri"/>
              <a:ea typeface="Calibri"/>
              <a:cs typeface="Calibri"/>
              <a:sym typeface="Calibri"/>
            </a:endParaRPr>
          </a:p>
        </p:txBody>
      </p:sp>
      <p:sp>
        <p:nvSpPr>
          <p:cNvPr id="917" name="Google Shape;917;p129"/>
          <p:cNvSpPr txBox="1"/>
          <p:nvPr/>
        </p:nvSpPr>
        <p:spPr>
          <a:xfrm>
            <a:off x="78739" y="1508505"/>
            <a:ext cx="6245860" cy="496506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Hardwired control unit for sequencing</a:t>
            </a:r>
            <a:endParaRPr sz="30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Clr>
                <a:schemeClr val="dk1"/>
              </a:buClr>
              <a:buSzPts val="3800"/>
              <a:buFont typeface="Arial"/>
              <a:buNone/>
            </a:pPr>
            <a:r>
              <a:t/>
            </a:r>
            <a:endParaRPr sz="3800">
              <a:solidFill>
                <a:schemeClr val="dk1"/>
              </a:solidFill>
              <a:latin typeface="Calibri"/>
              <a:ea typeface="Calibri"/>
              <a:cs typeface="Calibri"/>
              <a:sym typeface="Calibri"/>
            </a:endParaRPr>
          </a:p>
          <a:p>
            <a:pPr indent="0" lvl="0" marL="355600" marR="0" rtl="0" algn="l">
              <a:lnSpc>
                <a:spcPct val="100000"/>
              </a:lnSpc>
              <a:spcBef>
                <a:spcPts val="5"/>
              </a:spcBef>
              <a:spcAft>
                <a:spcPts val="0"/>
              </a:spcAft>
              <a:buNone/>
            </a:pPr>
            <a:r>
              <a:rPr lang="en-US" sz="3000">
                <a:solidFill>
                  <a:schemeClr val="dk1"/>
                </a:solidFill>
                <a:latin typeface="Calibri"/>
                <a:ea typeface="Calibri"/>
                <a:cs typeface="Calibri"/>
                <a:sym typeface="Calibri"/>
              </a:rPr>
              <a:t>microinstructions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Supports on chip cache memory</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4400"/>
              <a:buFont typeface="Arial"/>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All functional units on a single chip</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4400"/>
              <a:buFont typeface="Arial"/>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Simple pipelining</a:t>
            </a:r>
            <a:endParaRPr sz="3000">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1" name="Shape 921"/>
        <p:cNvGrpSpPr/>
        <p:nvPr/>
      </p:nvGrpSpPr>
      <p:grpSpPr>
        <a:xfrm>
          <a:off x="0" y="0"/>
          <a:ext cx="0" cy="0"/>
          <a:chOff x="0" y="0"/>
          <a:chExt cx="0" cy="0"/>
        </a:xfrm>
      </p:grpSpPr>
      <p:pic>
        <p:nvPicPr>
          <p:cNvPr id="922" name="Google Shape;922;p130"/>
          <p:cNvPicPr preferRelativeResize="0"/>
          <p:nvPr/>
        </p:nvPicPr>
        <p:blipFill rotWithShape="1">
          <a:blip r:embed="rId3">
            <a:alphaModFix/>
          </a:blip>
          <a:srcRect b="0" l="0" r="0" t="0"/>
          <a:stretch/>
        </p:blipFill>
        <p:spPr>
          <a:xfrm>
            <a:off x="454025" y="555345"/>
            <a:ext cx="8162925" cy="546445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6" name="Shape 926"/>
        <p:cNvGrpSpPr/>
        <p:nvPr/>
      </p:nvGrpSpPr>
      <p:grpSpPr>
        <a:xfrm>
          <a:off x="0" y="0"/>
          <a:ext cx="0" cy="0"/>
          <a:chOff x="0" y="0"/>
          <a:chExt cx="0" cy="0"/>
        </a:xfrm>
      </p:grpSpPr>
      <p:pic>
        <p:nvPicPr>
          <p:cNvPr id="927" name="Google Shape;927;p131"/>
          <p:cNvPicPr preferRelativeResize="0"/>
          <p:nvPr/>
        </p:nvPicPr>
        <p:blipFill rotWithShape="1">
          <a:blip r:embed="rId3">
            <a:alphaModFix/>
          </a:blip>
          <a:srcRect b="0" l="0" r="0" t="0"/>
          <a:stretch/>
        </p:blipFill>
        <p:spPr>
          <a:xfrm>
            <a:off x="41275" y="1066800"/>
            <a:ext cx="9102724" cy="548640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1" name="Shape 931"/>
        <p:cNvGrpSpPr/>
        <p:nvPr/>
      </p:nvGrpSpPr>
      <p:grpSpPr>
        <a:xfrm>
          <a:off x="0" y="0"/>
          <a:ext cx="0" cy="0"/>
          <a:chOff x="0" y="0"/>
          <a:chExt cx="0" cy="0"/>
        </a:xfrm>
      </p:grpSpPr>
      <p:sp>
        <p:nvSpPr>
          <p:cNvPr id="932" name="Google Shape;932;p132"/>
          <p:cNvSpPr txBox="1"/>
          <p:nvPr>
            <p:ph type="title"/>
          </p:nvPr>
        </p:nvSpPr>
        <p:spPr>
          <a:xfrm>
            <a:off x="968146" y="461594"/>
            <a:ext cx="72104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PIPELINING-Ex Laundry Analogy</a:t>
            </a:r>
            <a:endParaRPr sz="4400">
              <a:latin typeface="Calibri"/>
              <a:ea typeface="Calibri"/>
              <a:cs typeface="Calibri"/>
              <a:sym typeface="Calibri"/>
            </a:endParaRPr>
          </a:p>
        </p:txBody>
      </p:sp>
      <p:pic>
        <p:nvPicPr>
          <p:cNvPr id="933" name="Google Shape;933;p132"/>
          <p:cNvPicPr preferRelativeResize="0"/>
          <p:nvPr/>
        </p:nvPicPr>
        <p:blipFill rotWithShape="1">
          <a:blip r:embed="rId3">
            <a:alphaModFix/>
          </a:blip>
          <a:srcRect b="0" l="0" r="0" t="0"/>
          <a:stretch/>
        </p:blipFill>
        <p:spPr>
          <a:xfrm>
            <a:off x="96334" y="1348699"/>
            <a:ext cx="8686178" cy="459240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7" name="Shape 937"/>
        <p:cNvGrpSpPr/>
        <p:nvPr/>
      </p:nvGrpSpPr>
      <p:grpSpPr>
        <a:xfrm>
          <a:off x="0" y="0"/>
          <a:ext cx="0" cy="0"/>
          <a:chOff x="0" y="0"/>
          <a:chExt cx="0" cy="0"/>
        </a:xfrm>
      </p:grpSpPr>
      <p:pic>
        <p:nvPicPr>
          <p:cNvPr id="938" name="Google Shape;938;p133"/>
          <p:cNvPicPr preferRelativeResize="0"/>
          <p:nvPr/>
        </p:nvPicPr>
        <p:blipFill rotWithShape="1">
          <a:blip r:embed="rId3">
            <a:alphaModFix/>
          </a:blip>
          <a:srcRect b="0" l="0" r="0" t="0"/>
          <a:stretch/>
        </p:blipFill>
        <p:spPr>
          <a:xfrm>
            <a:off x="341072" y="1111186"/>
            <a:ext cx="8770444" cy="4618973"/>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2" name="Shape 942"/>
        <p:cNvGrpSpPr/>
        <p:nvPr/>
      </p:nvGrpSpPr>
      <p:grpSpPr>
        <a:xfrm>
          <a:off x="0" y="0"/>
          <a:ext cx="0" cy="0"/>
          <a:chOff x="0" y="0"/>
          <a:chExt cx="0" cy="0"/>
        </a:xfrm>
      </p:grpSpPr>
      <p:sp>
        <p:nvSpPr>
          <p:cNvPr id="943" name="Google Shape;943;p134"/>
          <p:cNvSpPr txBox="1"/>
          <p:nvPr>
            <p:ph type="title"/>
          </p:nvPr>
        </p:nvSpPr>
        <p:spPr>
          <a:xfrm>
            <a:off x="1946529" y="461594"/>
            <a:ext cx="52463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Problems with pipeline</a:t>
            </a:r>
            <a:endParaRPr sz="4400">
              <a:latin typeface="Calibri"/>
              <a:ea typeface="Calibri"/>
              <a:cs typeface="Calibri"/>
              <a:sym typeface="Calibri"/>
            </a:endParaRPr>
          </a:p>
        </p:txBody>
      </p:sp>
      <p:sp>
        <p:nvSpPr>
          <p:cNvPr id="944" name="Google Shape;944;p134"/>
          <p:cNvSpPr txBox="1"/>
          <p:nvPr/>
        </p:nvSpPr>
        <p:spPr>
          <a:xfrm>
            <a:off x="535940" y="1507044"/>
            <a:ext cx="3417570" cy="1640839"/>
          </a:xfrm>
          <a:prstGeom prst="rect">
            <a:avLst/>
          </a:prstGeom>
          <a:noFill/>
          <a:ln>
            <a:noFill/>
          </a:ln>
        </p:spPr>
        <p:txBody>
          <a:bodyPr anchorCtr="0" anchor="t" bIns="0" lIns="0" spcFirstLastPara="1" rIns="0" wrap="square" tIns="113650">
            <a:spAutoFit/>
          </a:bodyPr>
          <a:lstStyle/>
          <a:p>
            <a:pPr indent="-342900" lvl="0" marL="342900" marR="5080" rtl="0" algn="r">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Stalling of pipeline</a:t>
            </a:r>
            <a:endParaRPr sz="3200">
              <a:solidFill>
                <a:schemeClr val="dk1"/>
              </a:solidFill>
              <a:latin typeface="Calibri"/>
              <a:ea typeface="Calibri"/>
              <a:cs typeface="Calibri"/>
              <a:sym typeface="Calibri"/>
            </a:endParaRPr>
          </a:p>
          <a:p>
            <a:pPr indent="-287020" lvl="1" marL="287020" marR="98425" rtl="0" algn="r">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Data Dependency</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Branch,etc…</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8" name="Shape 948"/>
        <p:cNvGrpSpPr/>
        <p:nvPr/>
      </p:nvGrpSpPr>
      <p:grpSpPr>
        <a:xfrm>
          <a:off x="0" y="0"/>
          <a:ext cx="0" cy="0"/>
          <a:chOff x="0" y="0"/>
          <a:chExt cx="0" cy="0"/>
        </a:xfrm>
      </p:grpSpPr>
      <p:sp>
        <p:nvSpPr>
          <p:cNvPr id="949" name="Google Shape;949;p135"/>
          <p:cNvSpPr txBox="1"/>
          <p:nvPr>
            <p:ph type="title"/>
          </p:nvPr>
        </p:nvSpPr>
        <p:spPr>
          <a:xfrm>
            <a:off x="2882645" y="461594"/>
            <a:ext cx="33839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Pipelining</a:t>
            </a:r>
            <a:endParaRPr sz="4400">
              <a:latin typeface="Calibri"/>
              <a:ea typeface="Calibri"/>
              <a:cs typeface="Calibri"/>
              <a:sym typeface="Calibri"/>
            </a:endParaRPr>
          </a:p>
        </p:txBody>
      </p:sp>
      <p:sp>
        <p:nvSpPr>
          <p:cNvPr id="950" name="Google Shape;950;p135"/>
          <p:cNvSpPr txBox="1"/>
          <p:nvPr/>
        </p:nvSpPr>
        <p:spPr>
          <a:xfrm>
            <a:off x="78739" y="990879"/>
            <a:ext cx="6595109" cy="4862830"/>
          </a:xfrm>
          <a:prstGeom prst="rect">
            <a:avLst/>
          </a:prstGeom>
          <a:noFill/>
          <a:ln>
            <a:noFill/>
          </a:ln>
        </p:spPr>
        <p:txBody>
          <a:bodyPr anchorCtr="0" anchor="t" bIns="0" lIns="0" spcFirstLastPara="1" rIns="0" wrap="square" tIns="98425">
            <a:spAutoFit/>
          </a:bodyPr>
          <a:lstStyle/>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Most instructions are </a:t>
            </a:r>
            <a:r>
              <a:rPr b="1" lang="en-US" sz="2800">
                <a:solidFill>
                  <a:srgbClr val="FF0000"/>
                </a:solidFill>
                <a:latin typeface="Calibri"/>
                <a:ea typeface="Calibri"/>
                <a:cs typeface="Calibri"/>
                <a:sym typeface="Calibri"/>
              </a:rPr>
              <a:t>register to register</a:t>
            </a:r>
            <a:endParaRPr sz="2800">
              <a:solidFill>
                <a:schemeClr val="dk1"/>
              </a:solidFill>
              <a:latin typeface="Calibri"/>
              <a:ea typeface="Calibri"/>
              <a:cs typeface="Calibri"/>
              <a:sym typeface="Calibri"/>
            </a:endParaRPr>
          </a:p>
          <a:p>
            <a:pPr indent="-342900" lvl="0" marL="355600" marR="0" rtl="0" algn="l">
              <a:lnSpc>
                <a:spcPct val="100000"/>
              </a:lnSpc>
              <a:spcBef>
                <a:spcPts val="67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Two phases of execution, </a:t>
            </a:r>
            <a:r>
              <a:rPr b="1" lang="en-US" sz="2800">
                <a:solidFill>
                  <a:srgbClr val="FF0000"/>
                </a:solidFill>
                <a:latin typeface="Calibri"/>
                <a:ea typeface="Calibri"/>
                <a:cs typeface="Calibri"/>
                <a:sym typeface="Calibri"/>
              </a:rPr>
              <a:t>I E</a:t>
            </a:r>
            <a:endParaRPr sz="2800">
              <a:solidFill>
                <a:schemeClr val="dk1"/>
              </a:solidFill>
              <a:latin typeface="Calibri"/>
              <a:ea typeface="Calibri"/>
              <a:cs typeface="Calibri"/>
              <a:sym typeface="Calibri"/>
            </a:endParaRPr>
          </a:p>
          <a:p>
            <a:pPr indent="-287019" lvl="1" marL="756285"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 Instruction fetch</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57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 Execute</a:t>
            </a:r>
            <a:endParaRPr b="0" i="0" sz="2400" u="none" cap="none" strike="noStrike">
              <a:solidFill>
                <a:schemeClr val="dk1"/>
              </a:solidFill>
              <a:latin typeface="Calibri"/>
              <a:ea typeface="Calibri"/>
              <a:cs typeface="Calibri"/>
              <a:sym typeface="Calibri"/>
            </a:endParaRPr>
          </a:p>
          <a:p>
            <a:pPr indent="-229235" lvl="2" marL="1155700" marR="0" rtl="0" algn="l">
              <a:lnSpc>
                <a:spcPct val="100000"/>
              </a:lnSpc>
              <a:spcBef>
                <a:spcPts val="509"/>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ALU operation with register input and output</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61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For </a:t>
            </a:r>
            <a:r>
              <a:rPr b="1" lang="en-US" sz="2800">
                <a:solidFill>
                  <a:schemeClr val="dk1"/>
                </a:solidFill>
                <a:latin typeface="Calibri"/>
                <a:ea typeface="Calibri"/>
                <a:cs typeface="Calibri"/>
                <a:sym typeface="Calibri"/>
              </a:rPr>
              <a:t>load and store</a:t>
            </a:r>
            <a:r>
              <a:rPr lang="en-US" sz="2800">
                <a:solidFill>
                  <a:schemeClr val="dk1"/>
                </a:solidFill>
                <a:latin typeface="Calibri"/>
                <a:ea typeface="Calibri"/>
                <a:cs typeface="Calibri"/>
                <a:sym typeface="Calibri"/>
              </a:rPr>
              <a:t>(</a:t>
            </a:r>
            <a:r>
              <a:rPr b="1" lang="en-US" sz="2800">
                <a:solidFill>
                  <a:srgbClr val="FF0000"/>
                </a:solidFill>
                <a:latin typeface="Calibri"/>
                <a:ea typeface="Calibri"/>
                <a:cs typeface="Calibri"/>
                <a:sym typeface="Calibri"/>
              </a:rPr>
              <a:t>memory</a:t>
            </a:r>
            <a:r>
              <a:rPr lang="en-US" sz="2800">
                <a:solidFill>
                  <a:schemeClr val="dk1"/>
                </a:solidFill>
                <a:latin typeface="Calibri"/>
                <a:ea typeface="Calibri"/>
                <a:cs typeface="Calibri"/>
                <a:sym typeface="Calibri"/>
              </a:rPr>
              <a:t>),</a:t>
            </a:r>
            <a:r>
              <a:rPr b="1" lang="en-US" sz="2800">
                <a:solidFill>
                  <a:srgbClr val="FF0000"/>
                </a:solidFill>
                <a:latin typeface="Calibri"/>
                <a:ea typeface="Calibri"/>
                <a:cs typeface="Calibri"/>
                <a:sym typeface="Calibri"/>
              </a:rPr>
              <a:t>I E D</a:t>
            </a:r>
            <a:endParaRPr sz="2800">
              <a:solidFill>
                <a:schemeClr val="dk1"/>
              </a:solidFill>
              <a:latin typeface="Calibri"/>
              <a:ea typeface="Calibri"/>
              <a:cs typeface="Calibri"/>
              <a:sym typeface="Calibri"/>
            </a:endParaRPr>
          </a:p>
          <a:p>
            <a:pPr indent="-287019" lvl="1" marL="756285"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 Instruction fetch</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5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 Execute</a:t>
            </a:r>
            <a:endParaRPr b="0" i="0" sz="2400" u="none" cap="none" strike="noStrike">
              <a:solidFill>
                <a:schemeClr val="dk1"/>
              </a:solidFill>
              <a:latin typeface="Calibri"/>
              <a:ea typeface="Calibri"/>
              <a:cs typeface="Calibri"/>
              <a:sym typeface="Calibri"/>
            </a:endParaRPr>
          </a:p>
          <a:p>
            <a:pPr indent="-229235" lvl="2" marL="1155700" marR="0" rtl="0" algn="l">
              <a:lnSpc>
                <a:spcPct val="100000"/>
              </a:lnSpc>
              <a:spcBef>
                <a:spcPts val="50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Calculate memory address</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55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 Memory</a:t>
            </a:r>
            <a:endParaRPr b="0" i="0" sz="2400" u="none" cap="none" strike="noStrike">
              <a:solidFill>
                <a:schemeClr val="dk1"/>
              </a:solidFill>
              <a:latin typeface="Calibri"/>
              <a:ea typeface="Calibri"/>
              <a:cs typeface="Calibri"/>
              <a:sym typeface="Calibri"/>
            </a:endParaRPr>
          </a:p>
          <a:p>
            <a:pPr indent="-229235" lvl="2" marL="1155700" marR="0" rtl="0" algn="l">
              <a:lnSpc>
                <a:spcPct val="100000"/>
              </a:lnSpc>
              <a:spcBef>
                <a:spcPts val="509"/>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Register to memory or memory to register operation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4" name="Shape 954"/>
        <p:cNvGrpSpPr/>
        <p:nvPr/>
      </p:nvGrpSpPr>
      <p:grpSpPr>
        <a:xfrm>
          <a:off x="0" y="0"/>
          <a:ext cx="0" cy="0"/>
          <a:chOff x="0" y="0"/>
          <a:chExt cx="0" cy="0"/>
        </a:xfrm>
      </p:grpSpPr>
      <p:pic>
        <p:nvPicPr>
          <p:cNvPr id="955" name="Google Shape;955;p136"/>
          <p:cNvPicPr preferRelativeResize="0"/>
          <p:nvPr/>
        </p:nvPicPr>
        <p:blipFill rotWithShape="1">
          <a:blip r:embed="rId3">
            <a:alphaModFix/>
          </a:blip>
          <a:srcRect b="0" l="0" r="0" t="0"/>
          <a:stretch/>
        </p:blipFill>
        <p:spPr>
          <a:xfrm>
            <a:off x="0" y="1219200"/>
            <a:ext cx="8798527" cy="4184542"/>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9" name="Shape 959"/>
        <p:cNvGrpSpPr/>
        <p:nvPr/>
      </p:nvGrpSpPr>
      <p:grpSpPr>
        <a:xfrm>
          <a:off x="0" y="0"/>
          <a:ext cx="0" cy="0"/>
          <a:chOff x="0" y="0"/>
          <a:chExt cx="0" cy="0"/>
        </a:xfrm>
      </p:grpSpPr>
      <p:pic>
        <p:nvPicPr>
          <p:cNvPr id="960" name="Google Shape;960;p137"/>
          <p:cNvPicPr preferRelativeResize="0"/>
          <p:nvPr/>
        </p:nvPicPr>
        <p:blipFill rotWithShape="1">
          <a:blip r:embed="rId3">
            <a:alphaModFix/>
          </a:blip>
          <a:srcRect b="0" l="0" r="0" t="0"/>
          <a:stretch/>
        </p:blipFill>
        <p:spPr>
          <a:xfrm>
            <a:off x="347496" y="1143063"/>
            <a:ext cx="7683534" cy="4381803"/>
          </a:xfrm>
          <a:prstGeom prst="rect">
            <a:avLst/>
          </a:prstGeom>
          <a:noFill/>
          <a:ln>
            <a:noFill/>
          </a:ln>
        </p:spPr>
      </p:pic>
      <p:sp>
        <p:nvSpPr>
          <p:cNvPr id="961" name="Google Shape;961;p137"/>
          <p:cNvSpPr txBox="1"/>
          <p:nvPr/>
        </p:nvSpPr>
        <p:spPr>
          <a:xfrm>
            <a:off x="979119" y="5897676"/>
            <a:ext cx="6903720" cy="7569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2400">
                <a:solidFill>
                  <a:schemeClr val="dk1"/>
                </a:solidFill>
                <a:latin typeface="Cambria"/>
                <a:ea typeface="Cambria"/>
                <a:cs typeface="Cambria"/>
                <a:sym typeface="Cambria"/>
              </a:rPr>
              <a:t>NOP </a:t>
            </a:r>
            <a:r>
              <a:rPr lang="en-US" sz="2400">
                <a:solidFill>
                  <a:schemeClr val="dk1"/>
                </a:solidFill>
                <a:latin typeface="Cambria"/>
                <a:ea typeface="Cambria"/>
                <a:cs typeface="Cambria"/>
                <a:sym typeface="Cambria"/>
              </a:rPr>
              <a:t>is typically used to generate a delay in  execution or to reserve space in code memory.</a:t>
            </a:r>
            <a:endParaRPr sz="2400">
              <a:solidFill>
                <a:schemeClr val="dk1"/>
              </a:solidFill>
              <a:latin typeface="Cambria"/>
              <a:ea typeface="Cambria"/>
              <a:cs typeface="Cambria"/>
              <a:sym typeface="Cambria"/>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5" name="Shape 965"/>
        <p:cNvGrpSpPr/>
        <p:nvPr/>
      </p:nvGrpSpPr>
      <p:grpSpPr>
        <a:xfrm>
          <a:off x="0" y="0"/>
          <a:ext cx="0" cy="0"/>
          <a:chOff x="0" y="0"/>
          <a:chExt cx="0" cy="0"/>
        </a:xfrm>
      </p:grpSpPr>
      <p:pic>
        <p:nvPicPr>
          <p:cNvPr id="966" name="Google Shape;966;p138"/>
          <p:cNvPicPr preferRelativeResize="0"/>
          <p:nvPr/>
        </p:nvPicPr>
        <p:blipFill rotWithShape="1">
          <a:blip r:embed="rId3">
            <a:alphaModFix/>
          </a:blip>
          <a:srcRect b="0" l="0" r="0" t="0"/>
          <a:stretch/>
        </p:blipFill>
        <p:spPr>
          <a:xfrm>
            <a:off x="76200" y="1808787"/>
            <a:ext cx="8022335" cy="497031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0" name="Shape 970"/>
        <p:cNvGrpSpPr/>
        <p:nvPr/>
      </p:nvGrpSpPr>
      <p:grpSpPr>
        <a:xfrm>
          <a:off x="0" y="0"/>
          <a:ext cx="0" cy="0"/>
          <a:chOff x="0" y="0"/>
          <a:chExt cx="0" cy="0"/>
        </a:xfrm>
      </p:grpSpPr>
      <p:sp>
        <p:nvSpPr>
          <p:cNvPr id="971" name="Google Shape;971;p139"/>
          <p:cNvSpPr txBox="1"/>
          <p:nvPr>
            <p:ph type="title"/>
          </p:nvPr>
        </p:nvSpPr>
        <p:spPr>
          <a:xfrm>
            <a:off x="2588514" y="461594"/>
            <a:ext cx="39681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Architecture</a:t>
            </a:r>
            <a:endParaRPr sz="4400">
              <a:latin typeface="Calibri"/>
              <a:ea typeface="Calibri"/>
              <a:cs typeface="Calibri"/>
              <a:sym typeface="Calibri"/>
            </a:endParaRPr>
          </a:p>
        </p:txBody>
      </p:sp>
      <p:sp>
        <p:nvSpPr>
          <p:cNvPr id="972" name="Google Shape;972;p139"/>
          <p:cNvSpPr txBox="1"/>
          <p:nvPr/>
        </p:nvSpPr>
        <p:spPr>
          <a:xfrm>
            <a:off x="78739" y="1023980"/>
            <a:ext cx="8747760" cy="4855210"/>
          </a:xfrm>
          <a:prstGeom prst="rect">
            <a:avLst/>
          </a:prstGeom>
          <a:noFill/>
          <a:ln>
            <a:noFill/>
          </a:ln>
        </p:spPr>
        <p:txBody>
          <a:bodyPr anchorCtr="0" anchor="t" bIns="0" lIns="0" spcFirstLastPara="1" rIns="0" wrap="square" tIns="12050">
            <a:spAutoFit/>
          </a:bodyPr>
          <a:lstStyle/>
          <a:p>
            <a:pPr indent="-342900" lvl="0" marL="355600" marR="5080" rtl="0" algn="l">
              <a:lnSpc>
                <a:spcPct val="1501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9 </a:t>
            </a:r>
            <a:r>
              <a:rPr b="1" lang="en-US" sz="2400">
                <a:solidFill>
                  <a:schemeClr val="dk1"/>
                </a:solidFill>
                <a:latin typeface="Calibri"/>
                <a:ea typeface="Calibri"/>
                <a:cs typeface="Calibri"/>
                <a:sym typeface="Calibri"/>
              </a:rPr>
              <a:t>functional units </a:t>
            </a:r>
            <a:r>
              <a:rPr lang="en-US" sz="2400">
                <a:solidFill>
                  <a:schemeClr val="dk1"/>
                </a:solidFill>
                <a:latin typeface="Calibri"/>
                <a:ea typeface="Calibri"/>
                <a:cs typeface="Calibri"/>
                <a:sym typeface="Calibri"/>
              </a:rPr>
              <a:t>interconnected by multiple data paths with width  ranging from 32-128 bits</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All internal- external buses are 32 bit wide</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Separate instruction (4KB)and data cache(8KB)</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MMU- </a:t>
            </a:r>
            <a:r>
              <a:rPr lang="en-US" sz="2400">
                <a:solidFill>
                  <a:schemeClr val="dk1"/>
                </a:solidFill>
                <a:latin typeface="Calibri"/>
                <a:ea typeface="Calibri"/>
                <a:cs typeface="Calibri"/>
                <a:sym typeface="Calibri"/>
              </a:rPr>
              <a:t>implements paged virtual memory structure</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RISC integer unit </a:t>
            </a:r>
            <a:r>
              <a:rPr lang="en-US" sz="2400">
                <a:solidFill>
                  <a:schemeClr val="dk1"/>
                </a:solidFill>
                <a:latin typeface="Calibri"/>
                <a:ea typeface="Calibri"/>
                <a:cs typeface="Calibri"/>
                <a:sym typeface="Calibri"/>
              </a:rPr>
              <a:t>executes load,store,fetch etc</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2 floating point units , multiplier unit and adder unit</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Graphics unit </a:t>
            </a:r>
            <a:r>
              <a:rPr lang="en-US" sz="2400">
                <a:solidFill>
                  <a:schemeClr val="dk1"/>
                </a:solidFill>
                <a:latin typeface="Calibri"/>
                <a:ea typeface="Calibri"/>
                <a:cs typeface="Calibri"/>
                <a:sym typeface="Calibri"/>
              </a:rPr>
              <a:t>to support 3D drawing</a:t>
            </a:r>
            <a:endParaRPr sz="2400">
              <a:solidFill>
                <a:schemeClr val="dk1"/>
              </a:solidFill>
              <a:latin typeface="Calibri"/>
              <a:ea typeface="Calibri"/>
              <a:cs typeface="Calibri"/>
              <a:sym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6" name="Shape 976"/>
        <p:cNvGrpSpPr/>
        <p:nvPr/>
      </p:nvGrpSpPr>
      <p:grpSpPr>
        <a:xfrm>
          <a:off x="0" y="0"/>
          <a:ext cx="0" cy="0"/>
          <a:chOff x="0" y="0"/>
          <a:chExt cx="0" cy="0"/>
        </a:xfrm>
      </p:grpSpPr>
      <p:sp>
        <p:nvSpPr>
          <p:cNvPr id="977" name="Google Shape;977;p140"/>
          <p:cNvSpPr txBox="1"/>
          <p:nvPr>
            <p:ph type="title"/>
          </p:nvPr>
        </p:nvSpPr>
        <p:spPr>
          <a:xfrm>
            <a:off x="2591561" y="461594"/>
            <a:ext cx="396621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Architecture</a:t>
            </a:r>
            <a:endParaRPr sz="4400">
              <a:latin typeface="Calibri"/>
              <a:ea typeface="Calibri"/>
              <a:cs typeface="Calibri"/>
              <a:sym typeface="Calibri"/>
            </a:endParaRPr>
          </a:p>
        </p:txBody>
      </p:sp>
      <p:pic>
        <p:nvPicPr>
          <p:cNvPr id="978" name="Google Shape;978;p140"/>
          <p:cNvPicPr preferRelativeResize="0"/>
          <p:nvPr/>
        </p:nvPicPr>
        <p:blipFill rotWithShape="1">
          <a:blip r:embed="rId3">
            <a:alphaModFix/>
          </a:blip>
          <a:srcRect b="0" l="0" r="0" t="0"/>
          <a:stretch/>
        </p:blipFill>
        <p:spPr>
          <a:xfrm>
            <a:off x="1623332" y="1825171"/>
            <a:ext cx="5810930" cy="4337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2023-08-21T11:06:01Z</dcterms:created>
  <dc:creator>Adrian J Pullin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2022-10-06T00:00:00Z</vt:filetime>
  </property>
  <property fmtid="{D5CDD505-2E9C-101B-9397-08002B2CF9AE}" pid="3" name="Creator">
    <vt:lpwstr>Microsoft® PowerPoint® 2010</vt:lpwstr>
  </property>
  <property fmtid="{D5CDD505-2E9C-101B-9397-08002B2CF9AE}" pid="4" name="LastSaved">
    <vt:filetime>2023-08-21T00:00:00Z</vt:filetime>
  </property>
</Properties>
</file>