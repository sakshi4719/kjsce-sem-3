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9144000" cy="6858000"/>
  <p:embeddedFontLst>
    <p:embeddedFont>
      <p:font typeface="Arial Black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JGBVwV8REAae8QzmNGqc49aMF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ArialBlack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4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4"/>
          <p:cNvSpPr txBox="1"/>
          <p:nvPr>
            <p:ph idx="1" type="body"/>
          </p:nvPr>
        </p:nvSpPr>
        <p:spPr>
          <a:xfrm>
            <a:off x="535940" y="1282953"/>
            <a:ext cx="802449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5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6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6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7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/>
          <p:nvPr/>
        </p:nvSpPr>
        <p:spPr>
          <a:xfrm>
            <a:off x="457200" y="990600"/>
            <a:ext cx="8153400" cy="0"/>
          </a:xfrm>
          <a:custGeom>
            <a:rect b="b" l="l" r="r" t="t"/>
            <a:pathLst>
              <a:path extrusionOk="0" h="120000"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42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42"/>
          <p:cNvSpPr txBox="1"/>
          <p:nvPr>
            <p:ph idx="1" type="body"/>
          </p:nvPr>
        </p:nvSpPr>
        <p:spPr>
          <a:xfrm>
            <a:off x="535940" y="1282953"/>
            <a:ext cx="802449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4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4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/>
          <p:nvPr/>
        </p:nvSpPr>
        <p:spPr>
          <a:xfrm>
            <a:off x="457200" y="2514600"/>
            <a:ext cx="8153400" cy="0"/>
          </a:xfrm>
          <a:custGeom>
            <a:rect b="b" l="l" r="r" t="t"/>
            <a:pathLst>
              <a:path extrusionOk="0" h="120000"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" name="Google Shape;49;p1"/>
          <p:cNvSpPr txBox="1"/>
          <p:nvPr/>
        </p:nvSpPr>
        <p:spPr>
          <a:xfrm>
            <a:off x="955354" y="652025"/>
            <a:ext cx="7470900" cy="2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" marR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William Stallings Computer Organization and Architecture</a:t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baseline="30000" lang="en-US" sz="2775">
                <a:latin typeface="Arial Black"/>
                <a:ea typeface="Arial Black"/>
                <a:cs typeface="Arial Black"/>
                <a:sym typeface="Arial Black"/>
              </a:rPr>
              <a:t>th </a:t>
            </a: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Edition</a:t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800" marR="2094229" rtl="0" algn="l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Chapter 7 Input/Output</a:t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>
            <p:ph idx="1" type="body"/>
          </p:nvPr>
        </p:nvSpPr>
        <p:spPr>
          <a:xfrm>
            <a:off x="535940" y="1282953"/>
            <a:ext cx="802449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2"/>
          <p:cNvPicPr preferRelativeResize="0"/>
          <p:nvPr/>
        </p:nvPicPr>
        <p:blipFill rotWithShape="1">
          <a:blip r:embed="rId3">
            <a:alphaModFix/>
          </a:blip>
          <a:srcRect b="69647" l="0" r="0" t="0"/>
          <a:stretch/>
        </p:blipFill>
        <p:spPr>
          <a:xfrm>
            <a:off x="838200" y="2286000"/>
            <a:ext cx="7899400" cy="1117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type="title"/>
          </p:nvPr>
        </p:nvSpPr>
        <p:spPr>
          <a:xfrm>
            <a:off x="1371600" y="49018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Input/Output Problems</a:t>
            </a:r>
            <a:endParaRPr/>
          </a:p>
        </p:txBody>
      </p:sp>
      <p:sp>
        <p:nvSpPr>
          <p:cNvPr id="62" name="Google Shape;62;p3"/>
          <p:cNvSpPr txBox="1"/>
          <p:nvPr/>
        </p:nvSpPr>
        <p:spPr>
          <a:xfrm>
            <a:off x="610870" y="1143000"/>
            <a:ext cx="7922260" cy="51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I/O module stands for Input/Output module, which is a device that acts as the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connective bridge between a computer system at one end and an I/O or peripheral device of some kind at the other, such as a printer, webcam or scanner.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I/O module contains logic for performing a communication function between the peripheral and the bus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Peripherals not connected directly to bus because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Wide variety of peripherals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9271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Delivering different amounts of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9271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At different speeds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9271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different formats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5" marL="3556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All slower than CPU and RAM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Peripherals use different data formats and address length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Need I/O modules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/>
        </p:nvSpPr>
        <p:spPr>
          <a:xfrm>
            <a:off x="485343" y="484073"/>
            <a:ext cx="7972857" cy="2602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Main Functions of Input/Output Module</a:t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Interface to CPU and Memory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30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Interface to one or more peripherals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Generic Model of I/O Module</a:t>
            </a:r>
            <a:endParaRPr/>
          </a:p>
        </p:txBody>
      </p:sp>
      <p:pic>
        <p:nvPicPr>
          <p:cNvPr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914462"/>
            <a:ext cx="6172200" cy="591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476874" y="381000"/>
            <a:ext cx="8353857" cy="5811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I/O Module Functions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253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Control and timing-status reporting, commands and information transfer.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Processor communication-decoding and accepting commands, reporting status updates and recognizing its own address.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Device communication-status reporting, commands and information transfer.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buffering-manage the transfer speed between the memory, processor and other peripheral devices that are connected.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Error detection-data-based issues during transmission.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2057400" y="10212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External Devices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838200" y="1066800"/>
            <a:ext cx="7696200" cy="4718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Human readable-human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Screen, printer, keyboard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Machine readable-equipment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—magnetic disk and tape systems-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Monitoring and 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Communication-remote devices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human-readable device, such as a terminal, a machine-readable</a:t>
            </a:r>
            <a:endParaRPr/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device, or even another computer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Network Interface Card (NIC-connects to N/w)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 txBox="1"/>
          <p:nvPr>
            <p:ph idx="1" type="body"/>
          </p:nvPr>
        </p:nvSpPr>
        <p:spPr>
          <a:xfrm>
            <a:off x="535940" y="1282953"/>
            <a:ext cx="80244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 b="25571" l="34167" r="13333" t="25539"/>
          <a:stretch/>
        </p:blipFill>
        <p:spPr>
          <a:xfrm>
            <a:off x="1981200" y="2036700"/>
            <a:ext cx="5943600" cy="344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471271" y="227487"/>
            <a:ext cx="8201457" cy="4872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control of the transfer of data from an </a:t>
            </a:r>
            <a:r>
              <a:rPr b="1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device to the processor 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might involve the following sequence of steps: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I/O Steps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373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CPU checks I/O module device status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I/O module returns status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device is ready, CPU requests data transfer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I/O module gets data from device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I/O module transfers data to CPU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Variations for output, DMA, etc.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981200"/>
            <a:ext cx="1466749" cy="136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Output Techniques</a:t>
            </a:r>
            <a:endParaRPr/>
          </a:p>
        </p:txBody>
      </p:sp>
      <p:sp>
        <p:nvSpPr>
          <p:cNvPr id="103" name="Google Shape;103;p10"/>
          <p:cNvSpPr txBox="1"/>
          <p:nvPr/>
        </p:nvSpPr>
        <p:spPr>
          <a:xfrm>
            <a:off x="535940" y="1705482"/>
            <a:ext cx="5577205" cy="3183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Programmed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Interrupt driven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Direct Memory Access (DMA)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535940" y="1282953"/>
            <a:ext cx="80244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Programmed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-data are exchanged between the processor and the I/O module. 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processor executes a program that gives it direct control of the I/O operation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processor issues a command to the I/O module, it must wait until the I/O operation is complete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15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b="0" i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interrupt-driven I/O, 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processor issues an I/O command, continues to execute other instructions, and is interrupted by the I/O module when the latter has completed its work. </a:t>
            </a:r>
            <a:endParaRPr/>
          </a:p>
          <a:p>
            <a:pPr indent="-215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-I/O module and main memory exchange data directly, without </a:t>
            </a:r>
            <a:r>
              <a:rPr b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 involvement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9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PROGRAMMED I/O</a:t>
            </a:r>
            <a:endParaRPr sz="3600"/>
          </a:p>
        </p:txBody>
      </p:sp>
      <p:sp>
        <p:nvSpPr>
          <p:cNvPr id="115" name="Google Shape;115;p12"/>
          <p:cNvSpPr txBox="1"/>
          <p:nvPr/>
        </p:nvSpPr>
        <p:spPr>
          <a:xfrm>
            <a:off x="78739" y="1607565"/>
            <a:ext cx="8971280" cy="389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Data transfer operations are completely controlled by </a:t>
            </a:r>
            <a:r>
              <a:rPr b="1" lang="en-US" sz="2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CPU </a:t>
            </a: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i.e. CPU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3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executes a program that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Char char="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initiates,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87019" lvl="1" marL="7569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Char char="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directs and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87019" lvl="1" marL="7569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Char char="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terminates the I/O operation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 txBox="1"/>
          <p:nvPr>
            <p:ph idx="1" type="body"/>
          </p:nvPr>
        </p:nvSpPr>
        <p:spPr>
          <a:xfrm>
            <a:off x="535940" y="1282953"/>
            <a:ext cx="802449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51480" l="35833" r="16666" t="35185"/>
          <a:stretch/>
        </p:blipFill>
        <p:spPr>
          <a:xfrm>
            <a:off x="914400" y="2286000"/>
            <a:ext cx="64008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1371600" y="152400"/>
            <a:ext cx="5708015" cy="555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Programmed I/O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/>
            </a:br>
            <a:endParaRPr/>
          </a:p>
        </p:txBody>
      </p:sp>
      <p:sp>
        <p:nvSpPr>
          <p:cNvPr id="128" name="Google Shape;128;p14"/>
          <p:cNvSpPr txBox="1"/>
          <p:nvPr>
            <p:ph idx="1" type="body"/>
          </p:nvPr>
        </p:nvSpPr>
        <p:spPr>
          <a:xfrm>
            <a:off x="535950" y="1452625"/>
            <a:ext cx="80244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processor is executing a program and encounters an instruction relating to I/O, it executes that instruction by </a:t>
            </a:r>
            <a:r>
              <a:rPr b="0" i="0" lang="en-US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issuing a command to the appropriate I/O module. </a:t>
            </a:r>
            <a:endParaRPr sz="2500"/>
          </a:p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programmed I/O, the </a:t>
            </a:r>
            <a:r>
              <a:rPr b="0" i="0" lang="en-US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module will perform the requested action </a:t>
            </a:r>
            <a:r>
              <a:rPr b="0" i="0"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then </a:t>
            </a:r>
            <a:r>
              <a:rPr b="0" i="0" lang="en-US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the appropriate bits in the I/O status register</a:t>
            </a:r>
            <a:r>
              <a:rPr lang="en-US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/>
          </a:p>
          <a:p>
            <a:pPr indent="-3492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lang="en-US" sz="2500">
                <a:latin typeface="Times New Roman"/>
                <a:ea typeface="Times New Roman"/>
                <a:cs typeface="Times New Roman"/>
                <a:sym typeface="Times New Roman"/>
              </a:rPr>
              <a:t>Processor periodically checks the status of the I/O module until it finds that the operation is complete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>
            <p:ph type="title"/>
          </p:nvPr>
        </p:nvSpPr>
        <p:spPr>
          <a:xfrm>
            <a:off x="1371600" y="264161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Commands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/>
            </a:br>
            <a:endParaRPr/>
          </a:p>
        </p:txBody>
      </p:sp>
      <p:sp>
        <p:nvSpPr>
          <p:cNvPr id="135" name="Google Shape;135;p15"/>
          <p:cNvSpPr txBox="1"/>
          <p:nvPr>
            <p:ph idx="1" type="body"/>
          </p:nvPr>
        </p:nvSpPr>
        <p:spPr>
          <a:xfrm>
            <a:off x="535940" y="1143001"/>
            <a:ext cx="8024495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rocessor issues an address, specifying the particular I/O module and external device, and an I/O command </a:t>
            </a:r>
            <a:r>
              <a:rPr b="0" i="0" lang="en-US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execute an I/O-related instruction</a:t>
            </a:r>
            <a:r>
              <a:rPr lang="en-US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activate a peripheral and tell it what to do. 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test various status conditions associated with an I/O module and its peripherals.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the I/O module to obtain an item of data from the peripheral and place it in an internal buffer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Write: </a:t>
            </a: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the I/O module to take an item of data (byte or word) from the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bus and subsequently transmit that data item to the peripheral.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br>
              <a:rPr lang="en-US"/>
            </a:b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78739" y="1012215"/>
            <a:ext cx="8638500" cy="5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Useful where h/w costs need to be minimized.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Entire I/O is handled by CPU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b="1" lang="en-US" sz="2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STEPS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1. Read I/O devices status bit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781049" lvl="0" marL="1250315" marR="1435100" rtl="0" algn="l">
              <a:lnSpc>
                <a:spcPct val="15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2. Test status bit to determine if device is ready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781049" lvl="0" marL="1250315" marR="1435100" rtl="0" algn="l">
              <a:lnSpc>
                <a:spcPct val="15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3. If device not ready return to step 1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781049" lvl="0" marL="1250315" marR="487680" rtl="0" algn="l">
              <a:lnSpc>
                <a:spcPct val="1501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4. During interval when device is not ready CPU simply </a:t>
            </a: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wastes its time until device is ready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16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9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PROGRAMMED I/O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52398"/>
            <a:ext cx="6096000" cy="670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685800" y="1209549"/>
            <a:ext cx="8024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Figure-use of programmed I/O to read in a block of data from a peripheral device (e.g., a record from tape) into memory.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are read in one word (e.g., 16 bits) at a time.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word that is read in, the processor must remain in a status-checking cycle until it determines that the word is available in the I/O module’s data register.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processor issues an I/O command, the </a:t>
            </a:r>
            <a:r>
              <a:rPr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contains the address of the desired device.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each </a:t>
            </a:r>
            <a:r>
              <a:rPr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module 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 the address lines to determine if the command is for itself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535940" y="1282953"/>
            <a:ext cx="8024495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processor, main memory, and I/O share a common bus, two modes of addressing are possible: 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mapped and isolated. 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memory-mapped I/O, there is a 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address space </a:t>
            </a:r>
            <a:r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memory locations and I/O devices.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address space for I/O is isolated from that for memory, this  is referred to as 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isolated I/O</a:t>
            </a:r>
            <a:r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Programmed I/O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35940" y="1012617"/>
            <a:ext cx="7152005" cy="3305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has direct control over I/O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Sensing status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Read/write commands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Transferring data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waits for I/O module to complete operation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Wastes CPU time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485343" y="295911"/>
            <a:ext cx="7691120" cy="432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Programmed I/O - detail</a:t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requests I/O operation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performs operation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sets status bits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checks status bits periodically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does not inform CPU directly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does not interrupt CPU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may wait or come back later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78739" y="484073"/>
            <a:ext cx="8681085" cy="5672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191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INTERRUPT DRIVEN I/O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383540" rtl="0" algn="just">
              <a:spcBef>
                <a:spcPts val="79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Major drawback of programmed I/O is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 waiting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rtl="0" algn="just">
              <a:spcBef>
                <a:spcPts val="235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Speed of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I/O devices is much slower than CPU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590550" rtl="0" algn="just"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Performance of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goes down as it has to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repeatedly check for device status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3" marL="355600" marR="304800" rtl="0" algn="just"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: Switch to another task if device is not ready and thus use interrupt mechanism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304800" rtl="0" algn="just"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issues an I/O command to a module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then go on to do some other useful work.</a:t>
            </a:r>
            <a:endParaRPr/>
          </a:p>
          <a:p>
            <a:pPr indent="-342900" lvl="0" marL="355600" marR="304800" rtl="0" algn="just">
              <a:spcBef>
                <a:spcPts val="675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module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will then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 the processor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request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when it is ready to exchange data with the processor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55600" marR="304800" rtl="0" algn="just">
              <a:spcBef>
                <a:spcPts val="675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processor then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executes the data transfer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as before, and then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resumes its former processing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49114"/>
            <a:ext cx="5314593" cy="6594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1219200" y="381000"/>
            <a:ext cx="570801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I/O module’s point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533400" y="1524000"/>
            <a:ext cx="802449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module receives a READ command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from the processor for input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module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then proceeds to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data in from an associated peripheral. </a:t>
            </a:r>
            <a:endParaRPr b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Once the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are in the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module’s data register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, the module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signals an interrupt to the processor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over a control line.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then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waits until its data are requested by the processor.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When the request is made, the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places its data on the data bus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and is then ready for another I/O operation.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485343" y="57404"/>
            <a:ext cx="570801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CPU point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535940" y="1282953"/>
            <a:ext cx="8024495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processor issues a READ command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It then goes off and does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something else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At the end of each instruction cycle, the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processor checks for interrupts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When the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interrup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 from the I/O module occurs, the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processor saves the context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(e.g., program counter and processor registers) of the current program and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processes the interrupt.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In this case, the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processor reads the word of data from the I/O module and stores it in memory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 It then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restores the context of the program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it was working on (or some other program) and resumes execution.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485343" y="57404"/>
            <a:ext cx="797285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Interrupt Processing-Occurrence of interrupt-H/W &amp; s/w</a:t>
            </a:r>
            <a:endParaRPr sz="2400"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535940" y="1282953"/>
            <a:ext cx="802449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4375" y="1371599"/>
            <a:ext cx="5175250" cy="43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1143000" y="5867400"/>
            <a:ext cx="7086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it is important to save all the state information about the interrupted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program for later resumption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/>
        </p:nvSpPr>
        <p:spPr>
          <a:xfrm>
            <a:off x="914399" y="381000"/>
            <a:ext cx="6876415" cy="4447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Interrupt Driven I/O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Overcomes CPU waiting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-Interrupt I/O is more efficient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No repeated CPU checking of device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I/O module interrupts when ready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interrupt I/O still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consumes a lot of processor time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(because every word of data that goes from memory to I/O module/or from I/O module to memory must pass through the processor)</a:t>
            </a:r>
            <a:endParaRPr/>
          </a:p>
          <a:p>
            <a:pPr indent="-190500" lvl="0" marL="4057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/>
        </p:nvSpPr>
        <p:spPr>
          <a:xfrm>
            <a:off x="-50" y="57400"/>
            <a:ext cx="91440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3397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Interrupt Driven I/O Basic Operation</a:t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24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issues read command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3535" lvl="0" marL="406400" marR="5080" rtl="0" algn="l">
              <a:lnSpc>
                <a:spcPct val="15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gets data from peripheral whilst CPU does other work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235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interrupts CPU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235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CPU requests data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235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I/O module transfers data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Viewpoint</a:t>
            </a:r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535940" y="1012215"/>
            <a:ext cx="6449695" cy="3745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Issue read command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Do other work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Check for interrupt at end of each instruction cycle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If interrupted:-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Save context (registers)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—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Process interrupt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– </a:t>
            </a: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Fetch data &amp; store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485343" y="57404"/>
            <a:ext cx="4622800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Techniques for Input of a Block of Data</a:t>
            </a:r>
            <a:endParaRPr/>
          </a:p>
        </p:txBody>
      </p:sp>
      <p:pic>
        <p:nvPicPr>
          <p:cNvPr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077975"/>
            <a:ext cx="8060390" cy="5729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 Memory Access</a:t>
            </a:r>
            <a:endParaRPr/>
          </a:p>
        </p:txBody>
      </p:sp>
      <p:sp>
        <p:nvSpPr>
          <p:cNvPr id="226" name="Google Shape;226;p31"/>
          <p:cNvSpPr txBox="1"/>
          <p:nvPr/>
        </p:nvSpPr>
        <p:spPr>
          <a:xfrm>
            <a:off x="535940" y="1098549"/>
            <a:ext cx="80238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Interrupt driven 	and	 programmed	I/O require active CPU intervention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—Transfer rate is limited (with which the processor can test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and service a device.)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—CPU is tied up (managing an I/O transfer)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large volumes of data are to be moved-DMA</a:t>
            </a:r>
            <a:endParaRPr sz="3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532626" y="3962400"/>
            <a:ext cx="80238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56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Direct	memory	access	(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DMA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)	is	a	feature	of	computer systems that 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allows certain hardware subsystems to access main system memory (RAM) independently of the central processing unit (CPU).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/>
        </p:nvSpPr>
        <p:spPr>
          <a:xfrm>
            <a:off x="485343" y="295911"/>
            <a:ext cx="7487284" cy="1592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DMA Function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Involves Additional Module (hardware) on bus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640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DMA controller takes over from CPU for I/O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2835" y="2362200"/>
            <a:ext cx="5284870" cy="39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535940" y="1282953"/>
            <a:ext cx="8024495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The DMA module is capable of mimicking the processor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-transfer data to and from memory over the system bus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DMA module must use the bus only when the processor does not need it, or it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force the processor to suspend operation temporarily-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more common and is referred to as </a:t>
            </a:r>
            <a:r>
              <a:rPr i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stealing</a:t>
            </a:r>
            <a:r>
              <a:rPr b="0" i="1" lang="en-US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because the </a:t>
            </a:r>
            <a:r>
              <a:rPr b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module in effect steals a bus cycle.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1524000" y="0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DMA Operation</a:t>
            </a:r>
            <a:endParaRPr/>
          </a:p>
        </p:txBody>
      </p:sp>
      <p:sp>
        <p:nvSpPr>
          <p:cNvPr id="245" name="Google Shape;245;p34"/>
          <p:cNvSpPr txBox="1"/>
          <p:nvPr/>
        </p:nvSpPr>
        <p:spPr>
          <a:xfrm>
            <a:off x="539250" y="1157475"/>
            <a:ext cx="8074800" cy="56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02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CPU tells DMA controller:-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755650" rtl="0" algn="l">
              <a:lnSpc>
                <a:spcPct val="100000"/>
              </a:lnSpc>
              <a:spcBef>
                <a:spcPts val="17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—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Read/Write request is made using control line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7815" lvl="1" marL="7550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—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Device address communicated on data lines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7815" lvl="1" marL="7550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—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Starting address of memory block communicated in data line &amp; stored by DMA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7815" lvl="1" marL="755015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—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Amount of data to be transferred communicated in data line &amp;stored in data count register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CPU carries on with other work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rtl="0" algn="l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DMA controller deals with transfer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rtl="0" algn="l">
              <a:lnSpc>
                <a:spcPct val="100000"/>
              </a:lnSpc>
              <a:spcBef>
                <a:spcPts val="2014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DMA controller sends interrupt when finished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rtl="0" algn="l">
              <a:lnSpc>
                <a:spcPct val="100000"/>
              </a:lnSpc>
              <a:spcBef>
                <a:spcPts val="2014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Processor involvement only at start &amp; end of transfer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485352" y="57400"/>
            <a:ext cx="7436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Typical DMA Module Diagram</a:t>
            </a:r>
            <a:endParaRPr/>
          </a:p>
        </p:txBody>
      </p:sp>
      <p:pic>
        <p:nvPicPr>
          <p:cNvPr id="251" name="Google Shape;2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142" y="1131145"/>
            <a:ext cx="5506533" cy="558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DMA data transfer modes:</a:t>
            </a:r>
            <a:endParaRPr/>
          </a:p>
        </p:txBody>
      </p:sp>
      <p:sp>
        <p:nvSpPr>
          <p:cNvPr id="257" name="Google Shape;257;p36"/>
          <p:cNvSpPr txBox="1"/>
          <p:nvPr/>
        </p:nvSpPr>
        <p:spPr>
          <a:xfrm>
            <a:off x="535940" y="1385061"/>
            <a:ext cx="3964940" cy="2329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Burst Mode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Cycle Stealing Mode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Transparent Mode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DMA data transfer modes</a:t>
            </a:r>
            <a:endParaRPr/>
          </a:p>
        </p:txBody>
      </p:sp>
      <p:sp>
        <p:nvSpPr>
          <p:cNvPr id="263" name="Google Shape;263;p37"/>
          <p:cNvSpPr txBox="1"/>
          <p:nvPr/>
        </p:nvSpPr>
        <p:spPr>
          <a:xfrm>
            <a:off x="535940" y="1343914"/>
            <a:ext cx="79224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AutoNum type="arabicPeriod"/>
            </a:pPr>
            <a:r>
              <a:rPr b="1" lang="en-US" sz="2400">
                <a:latin typeface="Verdana"/>
                <a:ea typeface="Verdana"/>
                <a:cs typeface="Verdana"/>
                <a:sym typeface="Verdana"/>
              </a:rPr>
              <a:t>DMA block transfer/Burst Mode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0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 block of data of </a:t>
            </a:r>
            <a:r>
              <a:rPr b="1" lang="en-US" sz="2000">
                <a:latin typeface="Verdana"/>
                <a:ea typeface="Verdana"/>
                <a:cs typeface="Verdana"/>
                <a:sym typeface="Verdana"/>
              </a:rPr>
              <a:t>arbitrary length </a:t>
            </a: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is transferred in a single </a:t>
            </a:r>
            <a:r>
              <a:rPr b="1" lang="en-US" sz="2000">
                <a:latin typeface="Verdana"/>
                <a:ea typeface="Verdana"/>
                <a:cs typeface="Verdana"/>
                <a:sym typeface="Verdana"/>
              </a:rPr>
              <a:t>Burst</a:t>
            </a:r>
            <a:endParaRPr b="1"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1630" lvl="1" marL="353695" marR="537845" rtl="0" algn="just">
              <a:lnSpc>
                <a:spcPct val="2001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Burst - Temporary high-speed data transmission mode 	used to facilitate </a:t>
            </a:r>
            <a:r>
              <a:rPr lang="en-US" sz="2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sequential data transfer at maximum 	throughput.</a:t>
            </a:r>
            <a:endParaRPr sz="20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Cycle stealing mode</a:t>
            </a:r>
            <a:endParaRPr/>
          </a:p>
        </p:txBody>
      </p:sp>
      <p:sp>
        <p:nvSpPr>
          <p:cNvPr id="269" name="Google Shape;269;p38"/>
          <p:cNvSpPr txBox="1"/>
          <p:nvPr>
            <p:ph idx="1" type="body"/>
          </p:nvPr>
        </p:nvSpPr>
        <p:spPr>
          <a:xfrm>
            <a:off x="535940" y="1282953"/>
            <a:ext cx="8024400" cy="4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b="0" lang="en-US" sz="2600">
                <a:latin typeface="Times New Roman"/>
                <a:ea typeface="Times New Roman"/>
                <a:cs typeface="Times New Roman"/>
                <a:sym typeface="Times New Roman"/>
              </a:rPr>
              <a:t>DMA	controller	is allowed to use	system	bus	to transfer one word of data at a time, after which it must return control of the bus to the CPU.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b="0" lang="en-US" sz="2600">
                <a:latin typeface="Times New Roman"/>
                <a:ea typeface="Times New Roman"/>
                <a:cs typeface="Times New Roman"/>
                <a:sym typeface="Times New Roman"/>
              </a:rPr>
              <a:t>The DMA module uses the system bus only when the processor does not need it, or it must force the processor to suspend operation temporarily.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b="0" lang="en-US" sz="2600">
                <a:latin typeface="Times New Roman"/>
                <a:ea typeface="Times New Roman"/>
                <a:cs typeface="Times New Roman"/>
                <a:sym typeface="Times New Roman"/>
              </a:rPr>
              <a:t>Referred to as cycle stealing, because the DMA module in effect steals a bus cycle.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DMA data transfer modes:</a:t>
            </a:r>
            <a:endParaRPr/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535940" y="1282953"/>
            <a:ext cx="802449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7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0" lang="en-US"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/>
              <a:t>Transparent DMA</a:t>
            </a:r>
            <a:endParaRPr/>
          </a:p>
          <a:p>
            <a:pPr indent="0" lvl="0" marL="12700" marR="5080" rtl="0" algn="l">
              <a:lnSpc>
                <a:spcPct val="24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b="0" lang="en-US" sz="2000">
                <a:latin typeface="Verdana"/>
                <a:ea typeface="Verdana"/>
                <a:cs typeface="Verdana"/>
                <a:sym typeface="Verdana"/>
              </a:rPr>
              <a:t>DMA is allowed to steal only those cycles </a:t>
            </a:r>
            <a:r>
              <a:rPr lang="en-US" sz="2000">
                <a:solidFill>
                  <a:srgbClr val="FF0000"/>
                </a:solidFill>
              </a:rPr>
              <a:t>when CPU is not using system bus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1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Advantages of DMA</a:t>
            </a:r>
            <a:endParaRPr/>
          </a:p>
        </p:txBody>
      </p:sp>
      <p:sp>
        <p:nvSpPr>
          <p:cNvPr id="281" name="Google Shape;281;p40"/>
          <p:cNvSpPr txBox="1"/>
          <p:nvPr/>
        </p:nvSpPr>
        <p:spPr>
          <a:xfrm>
            <a:off x="535940" y="1191514"/>
            <a:ext cx="7265034" cy="2952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High transfer rates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283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Char char="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fewer CPU cycles for each transfer.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87019" lvl="1" marL="756285" marR="5080" rtl="0" algn="l">
              <a:lnSpc>
                <a:spcPct val="200100"/>
              </a:lnSpc>
              <a:spcBef>
                <a:spcPts val="43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Char char="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DMA speedups the memory operations by bypassing the involvement of the CPU.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0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Work overload on the CPU decreases.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>
            <p:ph type="title"/>
          </p:nvPr>
        </p:nvSpPr>
        <p:spPr>
          <a:xfrm>
            <a:off x="485343" y="57404"/>
            <a:ext cx="57080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Disadvantages of DMA</a:t>
            </a:r>
            <a:endParaRPr/>
          </a:p>
        </p:txBody>
      </p:sp>
      <p:sp>
        <p:nvSpPr>
          <p:cNvPr id="287" name="Google Shape;287;p41"/>
          <p:cNvSpPr txBox="1"/>
          <p:nvPr/>
        </p:nvSpPr>
        <p:spPr>
          <a:xfrm>
            <a:off x="485350" y="1302775"/>
            <a:ext cx="78210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DMA transfer requires a DMA controller to carry out the operation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More expensive system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Synchronization mechanisms must be provided in order to avoid accessing non-updated information from RAM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Cache coherence problem (Cache and the main memory may have inconsistent copies of the same object.)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2023-10-11T08:42:48Z</dcterms:created>
  <dc:creator>Adrian J Pullin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2023-10-11T00:00:00Z</vt:filetime>
  </property>
  <property fmtid="{D5CDD505-2E9C-101B-9397-08002B2CF9AE}" pid="5" name="Producer">
    <vt:lpwstr>Microsoft® PowerPoint® 2010</vt:lpwstr>
  </property>
</Properties>
</file>