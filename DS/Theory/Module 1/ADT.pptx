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x="6858000" cy="9144000"/>
  <p:embeddedFontLs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zKDyfZKiVBO0I6SswbOimpGO2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6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9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8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3" name="Google Shape;35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2" name="Google Shape;37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3" name="Google Shape;39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7" name="Google Shape;40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3" name="Google Shape;41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9" name="Google Shape;41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7" name="Google Shape;42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1" name="Google Shape;44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8" name="Google Shape;45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9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3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39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3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3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3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39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3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3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3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3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3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3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3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39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39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3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39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39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39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39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39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3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39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3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39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39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39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3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3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39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39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3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39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3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39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3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3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39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39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39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39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39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3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41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18" name="Google Shape;118;p41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2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3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8" name="Google Shape;128;p43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9" name="Google Shape;129;p43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0" name="Google Shape;130;p43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1" name="Google Shape;131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6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46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46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46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46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4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46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46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46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46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4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46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46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46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46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46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46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46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46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46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4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46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46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4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46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4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46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46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4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4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4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46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46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46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4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6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46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46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46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6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6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47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47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47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4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4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4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47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4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4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4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47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4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4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4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4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47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47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47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47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47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47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47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47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47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47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47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47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4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47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47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4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47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4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47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47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4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4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4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47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47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47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4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47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47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7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47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7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8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9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8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38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38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38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38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3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3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3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38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3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38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38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38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38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38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38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38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38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38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38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3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3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38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38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3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38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3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38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38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3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3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3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38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38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38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38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3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3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3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3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en.wikipedia.org/wiki/Integer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comp.nus.edu.sg/~stevenha/cs1020e/lectures/L5%20-%20ADT.pdf" TargetMode="External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hyperlink" Target="https://www.comp.nus.edu.sg/~stevenha/cs1020e/lectures/L5%20-%20ADT.pdf" TargetMode="External"/><Relationship Id="rId5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hyperlink" Target="https://www.comp.nus.edu.sg/~stevenha/cs1020e/lectures/L5%20-%20ADT.pdf" TargetMode="External"/><Relationship Id="rId5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ADT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"/>
          <p:cNvSpPr txBox="1"/>
          <p:nvPr>
            <p:ph type="title"/>
          </p:nvPr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Abstract Data Type-Definition</a:t>
            </a:r>
            <a:endParaRPr b="1" sz="2400"/>
          </a:p>
        </p:txBody>
      </p:sp>
      <p:sp>
        <p:nvSpPr>
          <p:cNvPr id="266" name="Google Shape;266;p2"/>
          <p:cNvSpPr txBox="1"/>
          <p:nvPr>
            <p:ph idx="1" type="body"/>
          </p:nvPr>
        </p:nvSpPr>
        <p:spPr>
          <a:xfrm>
            <a:off x="1115616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mathematical model, together with various operations defined on the model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An ADT is a collection of data and associated operations for manipulating that data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</p:txBody>
      </p:sp>
      <p:sp>
        <p:nvSpPr>
          <p:cNvPr id="267" name="Google Shape;267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268" name="Google Shape;268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9" name="Google Shape;269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https://www.geeksforgeeks.org/abstract-data-types/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 txBox="1"/>
          <p:nvPr>
            <p:ph type="title"/>
          </p:nvPr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Abstract Data Type-Definition</a:t>
            </a:r>
            <a:endParaRPr b="1" sz="2400"/>
          </a:p>
        </p:txBody>
      </p:sp>
      <p:sp>
        <p:nvSpPr>
          <p:cNvPr id="276" name="Google Shape;276;p3"/>
          <p:cNvSpPr txBox="1"/>
          <p:nvPr>
            <p:ph idx="1" type="body"/>
          </p:nvPr>
        </p:nvSpPr>
        <p:spPr>
          <a:xfrm>
            <a:off x="1115616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Defined as a "class of objects whose logical behavior is defined by </a:t>
            </a:r>
            <a:r>
              <a:rPr b="1" lang="en-US" sz="1800"/>
              <a:t>a set of values and a set of operations“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definition of ADT only mentions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what operations are to be performed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but not how these operations will be implemented. </a:t>
            </a:r>
            <a:endParaRPr/>
          </a:p>
        </p:txBody>
      </p:sp>
      <p:sp>
        <p:nvSpPr>
          <p:cNvPr id="277" name="Google Shape;277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278" name="Google Shape;278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9" name="Google Shape;279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3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https://www.geeksforgeeks.org/abstract-data-types/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"/>
          <p:cNvSpPr txBox="1"/>
          <p:nvPr>
            <p:ph type="title"/>
          </p:nvPr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Abstract Data Type</a:t>
            </a:r>
            <a:endParaRPr b="1" sz="2400"/>
          </a:p>
        </p:txBody>
      </p:sp>
      <p:sp>
        <p:nvSpPr>
          <p:cNvPr id="286" name="Google Shape;286;p4"/>
          <p:cNvSpPr txBox="1"/>
          <p:nvPr>
            <p:ph idx="1" type="body"/>
          </p:nvPr>
        </p:nvSpPr>
        <p:spPr>
          <a:xfrm>
            <a:off x="1115616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It does not specify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how data will be organized in memory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what algorithms will be used for implementing the operations.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Not concerned with space and time complexity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Not concerned with implementation details at all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288" name="Google Shape;288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9" name="Google Shape;289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https://www.geeksforgeeks.org/abstract-data-types/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>
            <p:ph type="title"/>
          </p:nvPr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Abstract Data Type</a:t>
            </a:r>
            <a:endParaRPr b="1" sz="2400"/>
          </a:p>
        </p:txBody>
      </p:sp>
      <p:sp>
        <p:nvSpPr>
          <p:cNvPr id="296" name="Google Shape;296;p5"/>
          <p:cNvSpPr txBox="1"/>
          <p:nvPr>
            <p:ph idx="1" type="body"/>
          </p:nvPr>
        </p:nvSpPr>
        <p:spPr>
          <a:xfrm>
            <a:off x="1115616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May not even be possible to implement a particular ADT on a particular piece of hardware or using a particular software system</a:t>
            </a:r>
            <a:endParaRPr/>
          </a:p>
        </p:txBody>
      </p:sp>
      <p:sp>
        <p:nvSpPr>
          <p:cNvPr id="297" name="Google Shape;297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298" name="Google Shape;298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9" name="Google Shape;299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5"/>
          <p:cNvSpPr/>
          <p:nvPr/>
        </p:nvSpPr>
        <p:spPr>
          <a:xfrm>
            <a:off x="611560" y="6179190"/>
            <a:ext cx="8064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https://www.geeksforgeeks.org/abstract-data-types/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US" sz="2200"/>
              <a:t>Abstract-</a:t>
            </a:r>
            <a:endParaRPr/>
          </a:p>
          <a:p>
            <a:pPr indent="-274320" lvl="0" marL="342900" rtl="0" algn="l">
              <a:spcBef>
                <a:spcPts val="407"/>
              </a:spcBef>
              <a:spcAft>
                <a:spcPts val="0"/>
              </a:spcAft>
              <a:buSzPct val="76000"/>
              <a:buChar char="🞇"/>
            </a:pPr>
            <a:r>
              <a:rPr lang="en-US" sz="2200"/>
              <a:t>Because it gives an implementation-independent view. </a:t>
            </a:r>
            <a:endParaRPr/>
          </a:p>
          <a:p>
            <a:pPr indent="-274320" lvl="0" marL="342900" rtl="0" algn="l">
              <a:spcBef>
                <a:spcPts val="407"/>
              </a:spcBef>
              <a:spcAft>
                <a:spcPts val="0"/>
              </a:spcAft>
              <a:buSzPct val="76000"/>
              <a:buChar char="🞇"/>
            </a:pPr>
            <a:r>
              <a:rPr b="1" lang="en-US" sz="2200"/>
              <a:t>The process of providing only the essentials and hiding the details is known as abstraction.</a:t>
            </a:r>
            <a:endParaRPr/>
          </a:p>
          <a:p>
            <a:pPr indent="-176110" lvl="0" marL="342900" rtl="0" algn="l">
              <a:spcBef>
                <a:spcPts val="407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200"/>
          </a:p>
          <a:p>
            <a:pPr indent="0" lvl="0" marL="68580" rtl="0" algn="l">
              <a:spcBef>
                <a:spcPts val="407"/>
              </a:spcBef>
              <a:spcAft>
                <a:spcPts val="0"/>
              </a:spcAft>
              <a:buSzPct val="76000"/>
              <a:buNone/>
            </a:pPr>
            <a:r>
              <a:rPr lang="en-US" sz="2200"/>
              <a:t>Encapsulation-</a:t>
            </a:r>
            <a:endParaRPr/>
          </a:p>
          <a:p>
            <a:pPr indent="-274320" lvl="0" marL="342900" rtl="0" algn="l">
              <a:spcBef>
                <a:spcPts val="407"/>
              </a:spcBef>
              <a:spcAft>
                <a:spcPts val="0"/>
              </a:spcAft>
              <a:buSzPct val="76000"/>
              <a:buChar char="🞇"/>
            </a:pPr>
            <a:r>
              <a:rPr lang="en-US" sz="2200"/>
              <a:t>Think of ADT as a black box which hides the inner structure and design of the data type. </a:t>
            </a:r>
            <a:endParaRPr sz="2200"/>
          </a:p>
          <a:p>
            <a:pPr indent="-274320" lvl="0" marL="342900" rtl="0" algn="l">
              <a:spcBef>
                <a:spcPts val="407"/>
              </a:spcBef>
              <a:spcAft>
                <a:spcPts val="0"/>
              </a:spcAft>
              <a:buSzPct val="76000"/>
              <a:buChar char="🞇"/>
            </a:pPr>
            <a:r>
              <a:rPr lang="en-US" sz="2200"/>
              <a:t>The principle of </a:t>
            </a:r>
            <a:r>
              <a:rPr b="1" lang="en-US" sz="2200"/>
              <a:t>hiding the used data structure and to only provide a well-defined interface </a:t>
            </a:r>
            <a:r>
              <a:rPr lang="en-US" sz="2200"/>
              <a:t>is known as encapsulation.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sp>
        <p:nvSpPr>
          <p:cNvPr id="306" name="Google Shape;306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307" name="Google Shape;307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8" name="Google Shape;308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 Data Type</a:t>
            </a:r>
            <a:endParaRPr b="1" sz="24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ADTs support abstraction, encapsulation, and information hiding.</a:t>
            </a:r>
            <a:endParaRPr/>
          </a:p>
        </p:txBody>
      </p:sp>
      <p:sp>
        <p:nvSpPr>
          <p:cNvPr id="315" name="Google Shape;315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316" name="Google Shape;316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7" name="Google Shape;317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1043490" y="1027664"/>
            <a:ext cx="7024744" cy="241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Abstract Data Type</a:t>
            </a:r>
            <a:endParaRPr b="1" sz="24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 txBox="1"/>
          <p:nvPr>
            <p:ph type="title"/>
          </p:nvPr>
        </p:nvSpPr>
        <p:spPr>
          <a:xfrm>
            <a:off x="2164608" y="539227"/>
            <a:ext cx="54236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Operations </a:t>
            </a:r>
            <a:endParaRPr sz="3200"/>
          </a:p>
        </p:txBody>
      </p:sp>
      <p:sp>
        <p:nvSpPr>
          <p:cNvPr id="324" name="Google Shape;324;p8"/>
          <p:cNvSpPr txBox="1"/>
          <p:nvPr/>
        </p:nvSpPr>
        <p:spPr>
          <a:xfrm>
            <a:off x="611560" y="1709789"/>
            <a:ext cx="7736306" cy="423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Every Collection ADT should provide a way to:</a:t>
            </a:r>
            <a:endParaRPr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data structure</a:t>
            </a:r>
            <a:endParaRPr b="1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an item</a:t>
            </a:r>
            <a:endParaRPr b="1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remove an item</a:t>
            </a:r>
            <a:endParaRPr b="1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find, retrieve, or access an item</a:t>
            </a:r>
            <a:endParaRPr b="1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single data structure works well for all purposes, and so it is important to know the strengths and limitations of several of them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 txBox="1"/>
          <p:nvPr>
            <p:ph type="title"/>
          </p:nvPr>
        </p:nvSpPr>
        <p:spPr>
          <a:xfrm>
            <a:off x="1676400" y="1219583"/>
            <a:ext cx="5911857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Value Definition 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533400" y="2133601"/>
            <a:ext cx="7736306" cy="34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262626"/>
                </a:solidFill>
              </a:rPr>
              <a:t>Abstract typedef &lt; </a:t>
            </a:r>
            <a:r>
              <a:rPr i="1" lang="en-US" sz="2400">
                <a:solidFill>
                  <a:srgbClr val="262626"/>
                </a:solidFill>
              </a:rPr>
              <a:t>ParameterType Parameter1, ParameterType Parameter2……, ParameterType ParameterN </a:t>
            </a:r>
            <a:r>
              <a:rPr lang="en-US" sz="2800">
                <a:solidFill>
                  <a:srgbClr val="262626"/>
                </a:solidFill>
              </a:rPr>
              <a:t>&gt; ADTType</a:t>
            </a:r>
            <a:endParaRPr sz="28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262626"/>
                </a:solidFill>
              </a:rPr>
              <a:t>condition: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262626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 txBox="1"/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(ParameterType Parameter1, ParameterType Parameter2……, ParameterType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(Parameter1, Parameter2……,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/>
          <p:nvPr>
            <p:ph type="title"/>
          </p:nvPr>
        </p:nvSpPr>
        <p:spPr>
          <a:xfrm>
            <a:off x="2057400" y="365126"/>
            <a:ext cx="64579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</a:t>
            </a: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Definition: String is a sequence of characters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Operations: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StringLength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StringCompare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StringConcat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StringCopy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>
            <p:ph type="title"/>
          </p:nvPr>
        </p:nvSpPr>
        <p:spPr>
          <a:xfrm>
            <a:off x="2506017" y="365126"/>
            <a:ext cx="60093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</a:t>
            </a:r>
            <a:endParaRPr/>
          </a:p>
        </p:txBody>
      </p:sp>
      <p:sp>
        <p:nvSpPr>
          <p:cNvPr id="349" name="Google Shape;34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Value Definition</a:t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Abstract Typedef &lt;&lt;Char s&gt;&gt;StringType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Condition: None (A string may contain n characters where n&gt;=0)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A close up of a sign&#10;&#10;Description automatically generated" id="350" name="Google Shape;3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"/>
          <p:cNvSpPr txBox="1"/>
          <p:nvPr>
            <p:ph type="title"/>
          </p:nvPr>
        </p:nvSpPr>
        <p:spPr>
          <a:xfrm>
            <a:off x="1676400" y="1219583"/>
            <a:ext cx="5911857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Value Definition 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533400" y="2133601"/>
            <a:ext cx="7736306" cy="34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Abstract typedef &lt; </a:t>
            </a:r>
            <a:r>
              <a:rPr b="0" i="1" lang="en-US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 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&gt; ADTType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 txBox="1"/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(ParameterType Parameter1, ParameterType Parameter2……, ParameterType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(Parameter1, Parameter2……,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 txBox="1"/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br>
              <a:rPr lang="en-US"/>
            </a:br>
            <a:endParaRPr/>
          </a:p>
        </p:txBody>
      </p:sp>
      <p:sp>
        <p:nvSpPr>
          <p:cNvPr id="368" name="Google Shape;36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abstract Integer</a:t>
            </a:r>
            <a:r>
              <a:rPr b="1" lang="en-US"/>
              <a:t>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StringLength</a:t>
            </a:r>
            <a:r>
              <a:rPr b="1" lang="en-US"/>
              <a:t> (StringType String)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Precondition: None (A string may contain n characters where n=&gt;0)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Postcondition: Stringlength= NumberOfCharacters(String)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descr="A close up of a sign&#10;&#10;Description automatically generated" id="369" name="Google Shape;3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 txBox="1"/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br>
              <a:rPr lang="en-US"/>
            </a:br>
            <a:endParaRPr/>
          </a:p>
        </p:txBody>
      </p:sp>
      <p:sp>
        <p:nvSpPr>
          <p:cNvPr id="375" name="Google Shape;37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2.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b="1" lang="en-US">
                <a:solidFill>
                  <a:srgbClr val="0070C0"/>
                </a:solidFill>
              </a:rPr>
              <a:t>StringType </a:t>
            </a:r>
            <a:r>
              <a:rPr b="1" lang="en-US"/>
              <a:t>StringConcat( StringType String1, StringType String2)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Precondition: None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Postcondition: StringConcat= String1+String2 / All the characters in Strings1 immediately followed by all the characters in String2 are returned as result.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A close up of a sign&#10;&#10;Description automatically generated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 txBox="1"/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br>
              <a:rPr lang="en-US"/>
            </a:br>
            <a:endParaRPr/>
          </a:p>
        </p:txBody>
      </p:sp>
      <p:sp>
        <p:nvSpPr>
          <p:cNvPr id="382" name="Google Shape;38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3. abstract Boolean </a:t>
            </a:r>
            <a:r>
              <a:rPr b="1" lang="en-US"/>
              <a:t>StringCompare( StringType String1, StringType String2)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Precondition: None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Postcondition: StringCompare= True if strings are equal, StringCompare= False if they are unequal . (Function returns 1 if strings are same, otherwise zero)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A close up of a sign&#10;&#10;Description automatically generated" id="383" name="Google Shape;3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 txBox="1"/>
          <p:nvPr>
            <p:ph type="title"/>
          </p:nvPr>
        </p:nvSpPr>
        <p:spPr>
          <a:xfrm>
            <a:off x="2400301" y="789669"/>
            <a:ext cx="6102803" cy="957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String Operator Definition</a:t>
            </a:r>
            <a:br>
              <a:rPr lang="en-US"/>
            </a:br>
            <a:endParaRPr/>
          </a:p>
        </p:txBody>
      </p:sp>
      <p:sp>
        <p:nvSpPr>
          <p:cNvPr id="389" name="Google Shape;38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</a:t>
            </a: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b="1" lang="en-US">
                <a:solidFill>
                  <a:srgbClr val="0070C0"/>
                </a:solidFill>
              </a:rPr>
              <a:t>StringType </a:t>
            </a:r>
            <a:r>
              <a:rPr b="1" lang="en-US"/>
              <a:t>StringCopy( StringType String1, StringType String2)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Precondition: None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Postcondition: StringCopy: String1= String2 / All the characters in Strings2 are copied/overwritten into String1.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descr="A close up of a sign&#10;&#10;Description automatically generated" id="390" name="Google Shape;3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 txBox="1"/>
          <p:nvPr>
            <p:ph type="title"/>
          </p:nvPr>
        </p:nvSpPr>
        <p:spPr>
          <a:xfrm>
            <a:off x="899592" y="365126"/>
            <a:ext cx="761575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</a:t>
            </a:r>
            <a:endParaRPr sz="36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Definition:  </a:t>
            </a:r>
            <a:r>
              <a:rPr b="1" lang="en-US"/>
              <a:t>expressed as the quotient or fraction of two 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integers</a:t>
            </a:r>
            <a:r>
              <a:rPr b="1" lang="en-US"/>
              <a:t>,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Operations: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makeRational()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IsEqualRational()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MultiplyRationa()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AddRational()</a:t>
            </a:r>
            <a:endParaRPr b="1"/>
          </a:p>
        </p:txBody>
      </p:sp>
      <p:pic>
        <p:nvPicPr>
          <p:cNvPr descr="A close up of a sign&#10;&#10;Description automatically generated" id="397" name="Google Shape;3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 txBox="1"/>
          <p:nvPr>
            <p:ph type="title"/>
          </p:nvPr>
        </p:nvSpPr>
        <p:spPr>
          <a:xfrm>
            <a:off x="539552" y="365126"/>
            <a:ext cx="840034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</a:t>
            </a:r>
            <a:endParaRPr sz="3600"/>
          </a:p>
        </p:txBody>
      </p:sp>
      <p:sp>
        <p:nvSpPr>
          <p:cNvPr id="403" name="Google Shape;40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Value Definition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abstract  TypeDef&lt;integer, integer&gt; RATIONALType;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Condition: RATIONALType [1]!=0;</a:t>
            </a:r>
            <a:endParaRPr b="1"/>
          </a:p>
        </p:txBody>
      </p:sp>
      <p:pic>
        <p:nvPicPr>
          <p:cNvPr descr="A close up of a sign&#10;&#10;Description automatically generated" id="404" name="Google Shape;4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/>
          <p:nvPr>
            <p:ph type="title"/>
          </p:nvPr>
        </p:nvSpPr>
        <p:spPr>
          <a:xfrm>
            <a:off x="1676400" y="1219583"/>
            <a:ext cx="5911857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Value Definition 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533400" y="2133601"/>
            <a:ext cx="7736306" cy="34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Abstract typedef &lt; </a:t>
            </a:r>
            <a:r>
              <a:rPr b="0" i="1" lang="en-US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 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&gt; ADTType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2"/>
          <p:cNvSpPr txBox="1"/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(ParameterType Parameter1, ParameterType Parameter2……, ParameterType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(Parameter1, Parameter2……,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"/>
          <p:cNvSpPr txBox="1"/>
          <p:nvPr>
            <p:ph type="title"/>
          </p:nvPr>
        </p:nvSpPr>
        <p:spPr>
          <a:xfrm>
            <a:off x="-150876" y="838200"/>
            <a:ext cx="929487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 Operator Definition`</a:t>
            </a:r>
            <a:endParaRPr sz="2800"/>
          </a:p>
        </p:txBody>
      </p:sp>
      <p:sp>
        <p:nvSpPr>
          <p:cNvPr id="422" name="Google Shape;422;p23"/>
          <p:cNvSpPr txBox="1"/>
          <p:nvPr>
            <p:ph idx="4294967295" type="body"/>
          </p:nvPr>
        </p:nvSpPr>
        <p:spPr>
          <a:xfrm>
            <a:off x="413124" y="1905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RATIONALType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makerational&lt;a,b&gt;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integer a,b;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Preconditon:  b!=0;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postcondition 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makerational [0] =a; makerational [1] =b;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 txBox="1"/>
          <p:nvPr>
            <p:ph idx="4294967295" type="body"/>
          </p:nvPr>
        </p:nvSpPr>
        <p:spPr>
          <a:xfrm>
            <a:off x="4770731" y="1905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RATIONALtype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 add&lt;a,b&gt;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RATIONALType a,b;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postcondition :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add[0] = a[0]*b[1]+b[0]*a[1]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add[1] =  a[1] * b[1]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424" name="Google Shape;4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/>
          <p:nvPr>
            <p:ph idx="4294967295" type="body"/>
          </p:nvPr>
        </p:nvSpPr>
        <p:spPr>
          <a:xfrm>
            <a:off x="486717" y="2024889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RATIONALType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mult&lt;a, b&gt;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 RATIONALType a,b;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postcondition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mult[0] = = a[0]*b[0]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mult[1] = = a[1]*b[1] 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 txBox="1"/>
          <p:nvPr>
            <p:ph idx="4294967295" type="body"/>
          </p:nvPr>
        </p:nvSpPr>
        <p:spPr>
          <a:xfrm>
            <a:off x="4639256" y="2133600"/>
            <a:ext cx="418710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Equal&lt;a,b&gt;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RATIONALType a,b;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Precondition: none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postcondition equal =  |a[0] * b[1] = = b[0] * a[1];</a:t>
            </a:r>
            <a:endParaRPr b="1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431" name="Google Shape;4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4"/>
          <p:cNvSpPr txBox="1"/>
          <p:nvPr>
            <p:ph type="title"/>
          </p:nvPr>
        </p:nvSpPr>
        <p:spPr>
          <a:xfrm>
            <a:off x="91275" y="944944"/>
            <a:ext cx="897406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ADT : Rational Number Operator Definition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 txBox="1"/>
          <p:nvPr>
            <p:ph type="title"/>
          </p:nvPr>
        </p:nvSpPr>
        <p:spPr>
          <a:xfrm>
            <a:off x="2209800" y="602234"/>
            <a:ext cx="6299391" cy="685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ADT Syntax : Operator definition</a:t>
            </a:r>
            <a:endParaRPr sz="3200">
              <a:solidFill>
                <a:srgbClr val="C00000"/>
              </a:solidFill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533400" y="1447800"/>
            <a:ext cx="7736306" cy="457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(ParameterType Parameter1, ParameterType Parameter2……, ParameterType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b="0" i="1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Abstract ReturnType</a:t>
            </a: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OperationName (Parameter1, Parameter2……, ParameterN)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ParameterType Parameter1, ParameterType Parameter2……, ParameterType ParameterN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Precondition: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"/>
          <p:cNvSpPr txBox="1"/>
          <p:nvPr>
            <p:ph type="title"/>
          </p:nvPr>
        </p:nvSpPr>
        <p:spPr>
          <a:xfrm>
            <a:off x="433906" y="59115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-US"/>
              <a:t>Abstract Data Types: Advantages</a:t>
            </a:r>
            <a:endParaRPr/>
          </a:p>
        </p:txBody>
      </p:sp>
      <p:sp>
        <p:nvSpPr>
          <p:cNvPr id="444" name="Google Shape;44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Hide the unnecessary details by building walls around the data and operations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 that changes in either will not affect other program components that use them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Functionalities are less likely to change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Localize rather than globalize changes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Help manage software complexity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Easier software maintenance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https://www.comp.nus.edu.sg/~stevenha/cs1020e/lectures/L5%20-%20ADT.pdf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446" name="Google Shape;4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53" name="Google Shape;4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987" y="838200"/>
            <a:ext cx="8139271" cy="5605463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7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https://www.comp.nus.edu.sg/~stevenha/cs1020e/lectures/L5%20-%20ADT.pdf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455" name="Google Shape;45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1" name="Google Shape;46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62" name="Google Shape;4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488" y="539226"/>
            <a:ext cx="7684329" cy="5599637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8"/>
          <p:cNvSpPr txBox="1"/>
          <p:nvPr/>
        </p:nvSpPr>
        <p:spPr>
          <a:xfrm>
            <a:off x="990600" y="5906869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Courtsey: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https://www.comp.nus.edu.sg/~stevenha/cs1020e/lectures/L5%20-%20ADT.pdf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sign&#10;&#10;Description automatically generated" id="464" name="Google Shape;46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124" y="5835859"/>
            <a:ext cx="726409" cy="72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/>
          <p:nvPr>
            <p:ph type="title"/>
          </p:nvPr>
        </p:nvSpPr>
        <p:spPr>
          <a:xfrm>
            <a:off x="446259" y="332656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List ADT</a:t>
            </a:r>
            <a:endParaRPr/>
          </a:p>
        </p:txBody>
      </p:sp>
      <p:sp>
        <p:nvSpPr>
          <p:cNvPr id="470" name="Google Shape;470;p29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data is generally stored in key sequence in a list which has a head structure consisting of </a:t>
            </a:r>
            <a:r>
              <a:rPr i="1" lang="en-US" sz="2000"/>
              <a:t>count</a:t>
            </a:r>
            <a:r>
              <a:rPr lang="en-US" sz="2000"/>
              <a:t>, </a:t>
            </a:r>
            <a:r>
              <a:rPr i="1" lang="en-US" sz="2000"/>
              <a:t>pointers</a:t>
            </a:r>
            <a:r>
              <a:rPr lang="en-US" sz="2000"/>
              <a:t> and </a:t>
            </a:r>
            <a:r>
              <a:rPr i="1" lang="en-US" sz="2000"/>
              <a:t>address of compare function</a:t>
            </a:r>
            <a:r>
              <a:rPr lang="en-US" sz="2000"/>
              <a:t> needed to compare the data in the list.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71" name="Google Shape;471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472" name="Google Shape;472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73" name="Google Shape;473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4" name="Google Shape;4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909" y="2708920"/>
            <a:ext cx="6210300" cy="29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List ADT</a:t>
            </a:r>
            <a:endParaRPr/>
          </a:p>
        </p:txBody>
      </p:sp>
      <p:sp>
        <p:nvSpPr>
          <p:cNvPr id="480" name="Google Shape;480;p30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List ADT Functions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481" name="Google Shape;481;p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482" name="Google Shape;482;p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3" name="Google Shape;483;p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4" name="Google Shape;4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772816"/>
            <a:ext cx="7416824" cy="4104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List ADT</a:t>
            </a:r>
            <a:endParaRPr/>
          </a:p>
        </p:txBody>
      </p:sp>
      <p:sp>
        <p:nvSpPr>
          <p:cNvPr id="490" name="Google Shape;490;p31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US"/>
              <a:t>List ADT Functions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get() – Return an element from the list at any given position.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insert() – Insert an element at any position of the list.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remove() – Remove the first occurrence of any element from a non-empty list.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removeAt() – Remove the element at a specified location from a non-empty list.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replace() – Replace an element at any position by another element.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size() – Return the number of elements in the list.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isEmpty() – Return true if the list is empty, otherwise return false.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isFull() – Return true if the list is full, otherwise return false.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</p:txBody>
      </p:sp>
      <p:sp>
        <p:nvSpPr>
          <p:cNvPr id="491" name="Google Shape;491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492" name="Google Shape;492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3" name="Google Shape;493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Stack ADT</a:t>
            </a:r>
            <a:endParaRPr/>
          </a:p>
        </p:txBody>
      </p:sp>
      <p:sp>
        <p:nvSpPr>
          <p:cNvPr id="499" name="Google Shape;499;p32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Instead of data being stored in each node, the pointer to data is stored.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program allocates memory for the </a:t>
            </a:r>
            <a:r>
              <a:rPr i="1" lang="en-US" sz="2000"/>
              <a:t>data</a:t>
            </a:r>
            <a:r>
              <a:rPr lang="en-US" sz="2000"/>
              <a:t> and </a:t>
            </a:r>
            <a:r>
              <a:rPr i="1" lang="en-US" sz="2000"/>
              <a:t>address</a:t>
            </a:r>
            <a:r>
              <a:rPr lang="en-US" sz="2000"/>
              <a:t> is passed to the stack ADT.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500" name="Google Shape;5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474" y="3429000"/>
            <a:ext cx="6804248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02" name="Google Shape;502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03" name="Google Shape;503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Stack ADT</a:t>
            </a:r>
            <a:endParaRPr/>
          </a:p>
        </p:txBody>
      </p:sp>
      <p:sp>
        <p:nvSpPr>
          <p:cNvPr id="509" name="Google Shape;509;p33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head node and the data nodes are encapsulated in the ADT. The calling function can only see the pointer to the stack.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stack head structure also contains a pointer to </a:t>
            </a:r>
            <a:r>
              <a:rPr i="1" lang="en-US" sz="2000"/>
              <a:t>top</a:t>
            </a:r>
            <a:r>
              <a:rPr lang="en-US" sz="2000"/>
              <a:t> and </a:t>
            </a:r>
            <a:r>
              <a:rPr i="1" lang="en-US" sz="2000"/>
              <a:t>count</a:t>
            </a:r>
            <a:r>
              <a:rPr lang="en-US" sz="2000"/>
              <a:t> of number of entries currently in stack.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510" name="Google Shape;510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11" name="Google Shape;511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12" name="Google Shape;512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Stack ADT</a:t>
            </a:r>
            <a:endParaRPr/>
          </a:p>
        </p:txBody>
      </p:sp>
      <p:sp>
        <p:nvSpPr>
          <p:cNvPr id="518" name="Google Shape;518;p34"/>
          <p:cNvSpPr txBox="1"/>
          <p:nvPr>
            <p:ph idx="1" type="body"/>
          </p:nvPr>
        </p:nvSpPr>
        <p:spPr>
          <a:xfrm>
            <a:off x="457200" y="1235893"/>
            <a:ext cx="8229600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Stack contains elements of the same type arranged in sequential order. </a:t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All operations take place at a single end that is top of the stack and following operations can be performed: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push() – Insert an element at one end of the stack called top.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pop() – Remove and return the element at the top of the stack, if it is not empty.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peek() – Return the element at the top of the stack without removing it, if the stack is not empty.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size() – Return the number of elements in the stack.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isEmpty() – Return true if the stack is empty, otherwise return false.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isFull() – Return true if the stack is full, otherwise return fals</a:t>
            </a:r>
            <a:r>
              <a:rPr b="1" lang="en-US" sz="2000"/>
              <a:t>e.</a:t>
            </a:r>
            <a:endParaRPr/>
          </a:p>
        </p:txBody>
      </p:sp>
      <p:sp>
        <p:nvSpPr>
          <p:cNvPr id="519" name="Google Shape;519;p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20" name="Google Shape;520;p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1" name="Google Shape;521;p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"/>
          <p:cNvSpPr txBox="1"/>
          <p:nvPr>
            <p:ph type="title"/>
          </p:nvPr>
        </p:nvSpPr>
        <p:spPr>
          <a:xfrm>
            <a:off x="827584" y="404664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Queue ADT</a:t>
            </a:r>
            <a:endParaRPr/>
          </a:p>
        </p:txBody>
      </p:sp>
      <p:sp>
        <p:nvSpPr>
          <p:cNvPr id="528" name="Google Shape;528;p35"/>
          <p:cNvSpPr txBox="1"/>
          <p:nvPr>
            <p:ph idx="1" type="body"/>
          </p:nvPr>
        </p:nvSpPr>
        <p:spPr>
          <a:xfrm>
            <a:off x="1043492" y="980728"/>
            <a:ext cx="6777317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The queue abstract data type (ADT) follows the basic design of the stack abstract data type.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Each node contains a void pointer to the </a:t>
            </a:r>
            <a:r>
              <a:rPr i="1" lang="en-US" sz="1800"/>
              <a:t>data</a:t>
            </a:r>
            <a:r>
              <a:rPr lang="en-US" sz="1800"/>
              <a:t> and the </a:t>
            </a:r>
            <a:r>
              <a:rPr i="1" lang="en-US" sz="1800"/>
              <a:t>link pointer</a:t>
            </a:r>
            <a:r>
              <a:rPr lang="en-US" sz="1800"/>
              <a:t> to the next element in the queue. The program’s responsibility is to allocate memory for storing the data.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pic>
        <p:nvPicPr>
          <p:cNvPr id="529" name="Google Shape;5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1772816"/>
            <a:ext cx="6624736" cy="302433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31" name="Google Shape;531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2" name="Google Shape;532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6"/>
          <p:cNvSpPr txBox="1"/>
          <p:nvPr>
            <p:ph type="title"/>
          </p:nvPr>
        </p:nvSpPr>
        <p:spPr>
          <a:xfrm>
            <a:off x="827584" y="404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US"/>
              <a:t>Queue ADT</a:t>
            </a:r>
            <a:endParaRPr/>
          </a:p>
        </p:txBody>
      </p:sp>
      <p:sp>
        <p:nvSpPr>
          <p:cNvPr id="539" name="Google Shape;539;p36"/>
          <p:cNvSpPr txBox="1"/>
          <p:nvPr>
            <p:ph idx="1" type="body"/>
          </p:nvPr>
        </p:nvSpPr>
        <p:spPr>
          <a:xfrm>
            <a:off x="1043492" y="1628800"/>
            <a:ext cx="6777317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Queue contains elements of the same type arranged in sequential order. </a:t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Operations take place at both ends, insertion is done at the end and deletion is done at the front. </a:t>
            </a:r>
            <a:endParaRPr sz="1800"/>
          </a:p>
        </p:txBody>
      </p:sp>
      <p:sp>
        <p:nvSpPr>
          <p:cNvPr id="540" name="Google Shape;540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41" name="Google Shape;541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42" name="Google Shape;542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"/>
          <p:cNvSpPr txBox="1"/>
          <p:nvPr>
            <p:ph type="title"/>
          </p:nvPr>
        </p:nvSpPr>
        <p:spPr>
          <a:xfrm>
            <a:off x="827584" y="404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US"/>
              <a:t>Queue ADT</a:t>
            </a:r>
            <a:endParaRPr/>
          </a:p>
        </p:txBody>
      </p:sp>
      <p:sp>
        <p:nvSpPr>
          <p:cNvPr id="549" name="Google Shape;549;p37"/>
          <p:cNvSpPr txBox="1"/>
          <p:nvPr>
            <p:ph idx="1" type="body"/>
          </p:nvPr>
        </p:nvSpPr>
        <p:spPr>
          <a:xfrm>
            <a:off x="1043492" y="1628800"/>
            <a:ext cx="6777317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Following operations can be performed: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enqueue() – Insert an element at the end of the queue.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dequeue() – Remove and return the first element of the queue, if the queue is not empty.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peek() – Return the element of the queue without removing it, if the queue is not empty.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size() – Return the number of elements in the queue.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isEmpty() – Return true if the queue is empty, otherwise return false.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US" sz="1800"/>
              <a:t>isFull() – Return true if the queue is full, otherwise return false.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sz="1800"/>
          </a:p>
        </p:txBody>
      </p:sp>
      <p:sp>
        <p:nvSpPr>
          <p:cNvPr id="550" name="Google Shape;550;p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24-07-2023</a:t>
            </a:r>
            <a:endParaRPr/>
          </a:p>
        </p:txBody>
      </p:sp>
      <p:sp>
        <p:nvSpPr>
          <p:cNvPr id="551" name="Google Shape;551;p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2" name="Google Shape;552;p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2020-07-18T06:41:45Z</dcterms:created>
  <dc:creator>Admin</dc:creator>
</cp:coreProperties>
</file>