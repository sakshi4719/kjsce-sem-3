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</p:sldIdLst>
  <p:sldSz cy="6858000" cx="9144000"/>
  <p:notesSz cx="6858000" cy="9144000"/>
  <p:embeddedFontLst>
    <p:embeddedFont>
      <p:font typeface="Century Gothic"/>
      <p:regular r:id="rId105"/>
      <p:bold r:id="rId106"/>
      <p:italic r:id="rId107"/>
      <p:boldItalic r:id="rId10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09" roundtripDataSignature="AMtx7miwcpkGKGrUEV1qCtfc4aHtiq9V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338BA5-B431-4173-911F-F359B40430F7}">
  <a:tblStyle styleId="{09338BA5-B431-4173-911F-F359B40430F7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EF5E6"/>
          </a:solidFill>
        </a:fill>
      </a:tcStyle>
    </a:wholeTbl>
    <a:band1H>
      <a:tcTxStyle/>
      <a:tcStyle>
        <a:fill>
          <a:solidFill>
            <a:srgbClr val="DCEACA"/>
          </a:solidFill>
        </a:fill>
      </a:tcStyle>
    </a:band1H>
    <a:band2H>
      <a:tcTxStyle/>
    </a:band2H>
    <a:band1V>
      <a:tcTxStyle/>
      <a:tcStyle>
        <a:fill>
          <a:solidFill>
            <a:srgbClr val="DCEACA"/>
          </a:solidFill>
        </a:fill>
      </a:tcStyle>
    </a:band1V>
    <a:band2V>
      <a:tcTxStyle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font" Target="fonts/CenturyGothic-italic.fntdata"/><Relationship Id="rId106" Type="http://schemas.openxmlformats.org/officeDocument/2006/relationships/font" Target="fonts/CenturyGothic-bold.fntdata"/><Relationship Id="rId105" Type="http://schemas.openxmlformats.org/officeDocument/2006/relationships/font" Target="fonts/CenturyGothic-regular.fntdata"/><Relationship Id="rId104" Type="http://schemas.openxmlformats.org/officeDocument/2006/relationships/slide" Target="slides/slide98.xml"/><Relationship Id="rId109" Type="http://customschemas.google.com/relationships/presentationmetadata" Target="metadata"/><Relationship Id="rId108" Type="http://schemas.openxmlformats.org/officeDocument/2006/relationships/font" Target="fonts/CenturyGothic-boldItalic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01"/>
          <p:cNvGrpSpPr/>
          <p:nvPr/>
        </p:nvGrpSpPr>
        <p:grpSpPr>
          <a:xfrm>
            <a:off x="-644959" y="0"/>
            <a:ext cx="10458653" cy="7117071"/>
            <a:chOff x="-644959" y="0"/>
            <a:chExt cx="10458653" cy="7117071"/>
          </a:xfrm>
        </p:grpSpPr>
        <p:grpSp>
          <p:nvGrpSpPr>
            <p:cNvPr id="59" name="Google Shape;59;p101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60" name="Google Shape;60;p101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61" name="Google Shape;61;p101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2" name="Google Shape;62;p10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3" name="Google Shape;63;p10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64" name="Google Shape;64;p101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65" name="Google Shape;65;p101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6" name="Google Shape;66;p10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7" name="Google Shape;67;p10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68" name="Google Shape;68;p101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69" name="Google Shape;69;p101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70" name="Google Shape;70;p10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71" name="Google Shape;71;p10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72" name="Google Shape;72;p101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3" name="Google Shape;73;p101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4" name="Google Shape;74;p101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75" name="Google Shape;75;p101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" name="Google Shape;76;p101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" name="Google Shape;77;p101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8" name="Google Shape;78;p101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9" name="Google Shape;79;p101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0" name="Google Shape;80;p10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1" name="Google Shape;81;p10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2" name="Google Shape;82;p10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3" name="Google Shape;83;p101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4" name="Google Shape;84;p10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5" name="Google Shape;85;p101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6" name="Google Shape;86;p101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7" name="Google Shape;87;p10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8" name="Google Shape;88;p101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" name="Google Shape;89;p10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0" name="Google Shape;90;p101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" name="Google Shape;91;p101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" name="Google Shape;92;p101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" name="Google Shape;93;p101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" name="Google Shape;94;p10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" name="Google Shape;95;p101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" name="Google Shape;96;p101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97" name="Google Shape;97;p101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" name="Google Shape;98;p101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p101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01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424242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16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1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368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216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101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01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" name="Google Shape;103;p101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1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5" name="Google Shape;105;p101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2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02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109" name="Google Shape;109;p10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0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0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3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0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0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0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7" name="Google Shape;117;p103"/>
          <p:cNvSpPr txBox="1"/>
          <p:nvPr>
            <p:ph idx="1" type="body"/>
          </p:nvPr>
        </p:nvSpPr>
        <p:spPr>
          <a:xfrm>
            <a:off x="1042416" y="2313432"/>
            <a:ext cx="341985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118" name="Google Shape;118;p103"/>
          <p:cNvSpPr txBox="1"/>
          <p:nvPr>
            <p:ph idx="2" type="body"/>
          </p:nvPr>
        </p:nvSpPr>
        <p:spPr>
          <a:xfrm>
            <a:off x="4645152" y="2313431"/>
            <a:ext cx="341985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4"/>
          <p:cNvSpPr txBox="1"/>
          <p:nvPr>
            <p:ph type="title"/>
          </p:nvPr>
        </p:nvSpPr>
        <p:spPr>
          <a:xfrm>
            <a:off x="1258645" y="2900829"/>
            <a:ext cx="6637468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04"/>
          <p:cNvSpPr txBox="1"/>
          <p:nvPr>
            <p:ph idx="1" type="body"/>
          </p:nvPr>
        </p:nvSpPr>
        <p:spPr>
          <a:xfrm>
            <a:off x="1258645" y="4267200"/>
            <a:ext cx="6637467" cy="1520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2" name="Google Shape;122;p10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0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0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5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05"/>
          <p:cNvSpPr txBox="1"/>
          <p:nvPr>
            <p:ph idx="1" type="body"/>
          </p:nvPr>
        </p:nvSpPr>
        <p:spPr>
          <a:xfrm>
            <a:off x="1412111" y="2316009"/>
            <a:ext cx="305714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9pPr>
          </a:lstStyle>
          <a:p/>
        </p:txBody>
      </p:sp>
      <p:sp>
        <p:nvSpPr>
          <p:cNvPr id="128" name="Google Shape;128;p105"/>
          <p:cNvSpPr txBox="1"/>
          <p:nvPr>
            <p:ph idx="2" type="body"/>
          </p:nvPr>
        </p:nvSpPr>
        <p:spPr>
          <a:xfrm>
            <a:off x="1041721" y="2974694"/>
            <a:ext cx="3419856" cy="283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25119" lvl="1" marL="914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3pPr>
            <a:lvl4pPr indent="-305816" lvl="3" marL="1828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05816" lvl="5" marL="27432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6pPr>
            <a:lvl7pPr indent="-305816" lvl="6" marL="32004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7pPr>
            <a:lvl8pPr indent="-305815" lvl="7" marL="36576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8pPr>
            <a:lvl9pPr indent="-305815" lvl="8" marL="4114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9pPr>
          </a:lstStyle>
          <a:p/>
        </p:txBody>
      </p:sp>
      <p:sp>
        <p:nvSpPr>
          <p:cNvPr id="129" name="Google Shape;129;p105"/>
          <p:cNvSpPr txBox="1"/>
          <p:nvPr>
            <p:ph idx="3" type="body"/>
          </p:nvPr>
        </p:nvSpPr>
        <p:spPr>
          <a:xfrm>
            <a:off x="5011837" y="2316010"/>
            <a:ext cx="30557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9pPr>
          </a:lstStyle>
          <a:p/>
        </p:txBody>
      </p:sp>
      <p:sp>
        <p:nvSpPr>
          <p:cNvPr id="130" name="Google Shape;130;p105"/>
          <p:cNvSpPr txBox="1"/>
          <p:nvPr>
            <p:ph idx="4" type="body"/>
          </p:nvPr>
        </p:nvSpPr>
        <p:spPr>
          <a:xfrm>
            <a:off x="4645152" y="2974694"/>
            <a:ext cx="3419856" cy="283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25119" lvl="1" marL="914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3pPr>
            <a:lvl4pPr indent="-305816" lvl="3" marL="1828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05816" lvl="5" marL="27432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6pPr>
            <a:lvl7pPr indent="-305816" lvl="6" marL="32004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7pPr>
            <a:lvl8pPr indent="-305815" lvl="7" marL="36576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8pPr>
            <a:lvl9pPr indent="-305815" lvl="8" marL="4114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9pPr>
          </a:lstStyle>
          <a:p/>
        </p:txBody>
      </p:sp>
      <p:sp>
        <p:nvSpPr>
          <p:cNvPr id="131" name="Google Shape;131;p10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0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0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6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0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0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0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0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0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08"/>
          <p:cNvGrpSpPr/>
          <p:nvPr/>
        </p:nvGrpSpPr>
        <p:grpSpPr>
          <a:xfrm>
            <a:off x="-644959" y="0"/>
            <a:ext cx="10458653" cy="7117071"/>
            <a:chOff x="-644959" y="0"/>
            <a:chExt cx="10458653" cy="7117071"/>
          </a:xfrm>
        </p:grpSpPr>
        <p:grpSp>
          <p:nvGrpSpPr>
            <p:cNvPr id="145" name="Google Shape;145;p108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46" name="Google Shape;146;p108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47" name="Google Shape;147;p108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48" name="Google Shape;148;p10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49" name="Google Shape;149;p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150" name="Google Shape;150;p108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51" name="Google Shape;151;p108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2" name="Google Shape;152;p10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3" name="Google Shape;153;p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154" name="Google Shape;154;p108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55" name="Google Shape;155;p108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6" name="Google Shape;156;p10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7" name="Google Shape;157;p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158" name="Google Shape;158;p108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59" name="Google Shape;159;p10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60" name="Google Shape;160;p108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161" name="Google Shape;161;p108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2" name="Google Shape;162;p108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3" name="Google Shape;163;p108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4" name="Google Shape;164;p108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5" name="Google Shape;165;p108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6" name="Google Shape;166;p108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7" name="Google Shape;167;p108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8" name="Google Shape;168;p108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9" name="Google Shape;169;p108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0" name="Google Shape;170;p108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1" name="Google Shape;171;p10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2" name="Google Shape;172;p10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3" name="Google Shape;173;p108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4" name="Google Shape;174;p108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5" name="Google Shape;175;p10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6" name="Google Shape;176;p108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7" name="Google Shape;177;p10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8" name="Google Shape;178;p108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9" name="Google Shape;179;p108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0" name="Google Shape;180;p10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1" name="Google Shape;181;p10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2" name="Google Shape;182;p10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83" name="Google Shape;183;p108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08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5" name="Google Shape;185;p10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0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7" name="Google Shape;187;p108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p108"/>
          <p:cNvSpPr txBox="1"/>
          <p:nvPr>
            <p:ph idx="1" type="body"/>
          </p:nvPr>
        </p:nvSpPr>
        <p:spPr>
          <a:xfrm>
            <a:off x="1145894" y="856527"/>
            <a:ext cx="3090440" cy="5150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34772" lvl="1" marL="914400" algn="l">
              <a:spcBef>
                <a:spcPts val="440"/>
              </a:spcBef>
              <a:spcAft>
                <a:spcPts val="0"/>
              </a:spcAft>
              <a:buSzPts val="1672"/>
              <a:buChar char="🞇"/>
              <a:defRPr sz="2200"/>
            </a:lvl2pPr>
            <a:lvl3pPr indent="-325119" lvl="2" marL="13716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25120" lvl="5" marL="27432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6pPr>
            <a:lvl7pPr indent="-325120" lvl="6" marL="3200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7pPr>
            <a:lvl8pPr indent="-325120" lvl="7" marL="36576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8pPr>
            <a:lvl9pPr indent="-325120" lvl="8" marL="41148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9pPr>
          </a:lstStyle>
          <a:p/>
        </p:txBody>
      </p:sp>
      <p:sp>
        <p:nvSpPr>
          <p:cNvPr id="189" name="Google Shape;189;p10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0" name="Google Shape;190;p108"/>
          <p:cNvSpPr txBox="1"/>
          <p:nvPr>
            <p:ph idx="11" type="ftr"/>
          </p:nvPr>
        </p:nvSpPr>
        <p:spPr>
          <a:xfrm>
            <a:off x="4641448" y="5724835"/>
            <a:ext cx="34936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08"/>
          <p:cNvSpPr txBox="1"/>
          <p:nvPr>
            <p:ph type="title"/>
          </p:nvPr>
        </p:nvSpPr>
        <p:spPr>
          <a:xfrm>
            <a:off x="4739833" y="2657434"/>
            <a:ext cx="3304572" cy="14631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08"/>
          <p:cNvSpPr txBox="1"/>
          <p:nvPr>
            <p:ph idx="2" type="body"/>
          </p:nvPr>
        </p:nvSpPr>
        <p:spPr>
          <a:xfrm>
            <a:off x="4736592" y="4136994"/>
            <a:ext cx="3298784" cy="1517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424242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109"/>
          <p:cNvGrpSpPr/>
          <p:nvPr/>
        </p:nvGrpSpPr>
        <p:grpSpPr>
          <a:xfrm>
            <a:off x="-644959" y="0"/>
            <a:ext cx="10458653" cy="7117071"/>
            <a:chOff x="-644959" y="0"/>
            <a:chExt cx="10458653" cy="7117071"/>
          </a:xfrm>
        </p:grpSpPr>
        <p:grpSp>
          <p:nvGrpSpPr>
            <p:cNvPr id="195" name="Google Shape;195;p109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96" name="Google Shape;196;p109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97" name="Google Shape;197;p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98" name="Google Shape;198;p109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99" name="Google Shape;199;p10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200" name="Google Shape;200;p109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201" name="Google Shape;201;p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2" name="Google Shape;202;p109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3" name="Google Shape;203;p10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204" name="Google Shape;204;p10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205" name="Google Shape;205;p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6" name="Google Shape;206;p109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7" name="Google Shape;207;p10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208" name="Google Shape;208;p109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9" name="Google Shape;209;p109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0" name="Google Shape;210;p10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211" name="Google Shape;211;p109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2" name="Google Shape;212;p109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3" name="Google Shape;213;p109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4" name="Google Shape;214;p109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5" name="Google Shape;215;p109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6" name="Google Shape;216;p10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7" name="Google Shape;217;p109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8" name="Google Shape;218;p10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9" name="Google Shape;219;p109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0" name="Google Shape;220;p109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1" name="Google Shape;221;p109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2" name="Google Shape;222;p10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3" name="Google Shape;223;p10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4" name="Google Shape;224;p109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5" name="Google Shape;225;p109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6" name="Google Shape;226;p10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7" name="Google Shape;227;p109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8" name="Google Shape;228;p10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9" name="Google Shape;229;p109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0" name="Google Shape;230;p109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1" name="Google Shape;231;p10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2" name="Google Shape;232;p10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33" name="Google Shape;233;p109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p109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p109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1E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10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7" name="Google Shape;237;p109"/>
          <p:cNvSpPr txBox="1"/>
          <p:nvPr>
            <p:ph type="title"/>
          </p:nvPr>
        </p:nvSpPr>
        <p:spPr>
          <a:xfrm>
            <a:off x="4734424" y="2660904"/>
            <a:ext cx="330098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09"/>
          <p:cNvSpPr/>
          <p:nvPr>
            <p:ph idx="2" type="pic"/>
          </p:nvPr>
        </p:nvSpPr>
        <p:spPr>
          <a:xfrm>
            <a:off x="1005208" y="693795"/>
            <a:ext cx="3359623" cy="5468112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109"/>
          <p:cNvSpPr txBox="1"/>
          <p:nvPr>
            <p:ph idx="1" type="body"/>
          </p:nvPr>
        </p:nvSpPr>
        <p:spPr>
          <a:xfrm>
            <a:off x="4734630" y="4133088"/>
            <a:ext cx="3300573" cy="151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424242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9pPr>
          </a:lstStyle>
          <a:p/>
        </p:txBody>
      </p:sp>
      <p:sp>
        <p:nvSpPr>
          <p:cNvPr id="240" name="Google Shape;240;p10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09"/>
          <p:cNvSpPr txBox="1"/>
          <p:nvPr>
            <p:ph idx="11" type="ftr"/>
          </p:nvPr>
        </p:nvSpPr>
        <p:spPr>
          <a:xfrm>
            <a:off x="4641448" y="5724835"/>
            <a:ext cx="34936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0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0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110"/>
          <p:cNvSpPr txBox="1"/>
          <p:nvPr>
            <p:ph idx="1" type="body"/>
          </p:nvPr>
        </p:nvSpPr>
        <p:spPr>
          <a:xfrm rot="5400000">
            <a:off x="2677662" y="689482"/>
            <a:ext cx="3508977" cy="677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246" name="Google Shape;246;p11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11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11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1"/>
          <p:cNvSpPr txBox="1"/>
          <p:nvPr>
            <p:ph type="title"/>
          </p:nvPr>
        </p:nvSpPr>
        <p:spPr>
          <a:xfrm rot="5400000">
            <a:off x="4981455" y="2678093"/>
            <a:ext cx="4780344" cy="1484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1"/>
          <p:cNvSpPr txBox="1"/>
          <p:nvPr>
            <p:ph idx="1" type="body"/>
          </p:nvPr>
        </p:nvSpPr>
        <p:spPr>
          <a:xfrm rot="5400000">
            <a:off x="1374976" y="708467"/>
            <a:ext cx="4780344" cy="542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252" name="Google Shape;252;p11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1F15E"/>
            </a:gs>
            <a:gs pos="62000">
              <a:srgbClr val="90BA3F"/>
            </a:gs>
            <a:gs pos="100000">
              <a:srgbClr val="7FA03E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00"/>
          <p:cNvGrpSpPr/>
          <p:nvPr/>
        </p:nvGrpSpPr>
        <p:grpSpPr>
          <a:xfrm>
            <a:off x="-567355" y="0"/>
            <a:ext cx="10458653" cy="7117071"/>
            <a:chOff x="-644959" y="0"/>
            <a:chExt cx="10458653" cy="7117071"/>
          </a:xfrm>
        </p:grpSpPr>
        <p:grpSp>
          <p:nvGrpSpPr>
            <p:cNvPr id="11" name="Google Shape;11;p100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2" name="Google Shape;12;p100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3" name="Google Shape;13;p10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4" name="Google Shape;14;p10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" name="Google Shape;15;p10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16" name="Google Shape;16;p100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7" name="Google Shape;17;p10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8" name="Google Shape;18;p10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9" name="Google Shape;19;p10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20" name="Google Shape;20;p100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21" name="Google Shape;21;p10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2" name="Google Shape;22;p10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3" name="Google Shape;23;p10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24" name="Google Shape;24;p100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5" name="Google Shape;25;p100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6" name="Google Shape;26;p100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27" name="Google Shape;27;p100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" name="Google Shape;28;p100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" name="Google Shape;29;p100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" name="Google Shape;30;p100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" name="Google Shape;31;p100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32;p10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" name="Google Shape;33;p10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" name="Google Shape;34;p100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" name="Google Shape;35;p10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" name="Google Shape;36;p100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" name="Google Shape;37;p100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" name="Google Shape;38;p100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" name="Google Shape;39;p100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" name="Google Shape;40;p10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" name="Google Shape;41;p100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" name="Google Shape;42;p100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" name="Google Shape;43;p100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" name="Google Shape;44;p100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" name="Google Shape;45;p10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" name="Google Shape;46;p100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" name="Google Shape;47;p100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" name="Google Shape;48;p10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9" name="Google Shape;49;p100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" name="Google Shape;50;p100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" name="Google Shape;51;p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" name="Google Shape;52;p100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00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🞇"/>
              <a:defRPr b="0" i="0" sz="2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4772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ans Symbols"/>
              <a:buChar char="🞇"/>
              <a:defRPr b="0" i="0" sz="2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25119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5467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🞇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5816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Char char="🞇"/>
              <a:defRPr b="0" i="0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6164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6164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6164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6164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4" name="Google Shape;54;p10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5" name="Google Shape;55;p10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6" name="Google Shape;56;p10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20.png"/><Relationship Id="rId8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26.png"/><Relationship Id="rId6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6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25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0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3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1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1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1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31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4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34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IN"/>
              <a:t>Stacks</a:t>
            </a:r>
            <a:endParaRPr/>
          </a:p>
        </p:txBody>
      </p:sp>
      <p:sp>
        <p:nvSpPr>
          <p:cNvPr id="260" name="Google Shape;260;p1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  <p:sp>
        <p:nvSpPr>
          <p:cNvPr id="261" name="Google Shape;261;p1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262" name="Google Shape;262;p1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263" name="Google Shape;263;p1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"/>
          <p:cNvSpPr/>
          <p:nvPr/>
        </p:nvSpPr>
        <p:spPr>
          <a:xfrm>
            <a:off x="457200" y="1524000"/>
            <a:ext cx="8229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Stack is a linear data structure which follows a particular order in which the operations are performed. 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order may be LIFO(Last In First Out) or FILO(First In Last Out).</a:t>
            </a:r>
            <a:endParaRPr/>
          </a:p>
        </p:txBody>
      </p:sp>
      <p:sp>
        <p:nvSpPr>
          <p:cNvPr id="269" name="Google Shape;269;p2"/>
          <p:cNvSpPr txBox="1"/>
          <p:nvPr/>
        </p:nvSpPr>
        <p:spPr>
          <a:xfrm>
            <a:off x="469294" y="332656"/>
            <a:ext cx="8229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70000" lnSpcReduction="20000"/>
          </a:bodyPr>
          <a:lstStyle/>
          <a:p>
            <a:pPr indent="-9144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5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Stacks</a:t>
            </a:r>
            <a:endParaRPr b="0" i="0" sz="50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0" name="Google Shape;2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852937"/>
            <a:ext cx="4762500" cy="309634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272" name="Google Shape;272;p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273" name="Google Shape;273;p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"/>
          <p:cNvSpPr txBox="1"/>
          <p:nvPr/>
        </p:nvSpPr>
        <p:spPr>
          <a:xfrm>
            <a:off x="377868" y="228078"/>
            <a:ext cx="8229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70000" lnSpcReduction="20000"/>
          </a:bodyPr>
          <a:lstStyle/>
          <a:p>
            <a:pPr indent="-9144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5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Operation on Stacks</a:t>
            </a:r>
            <a:endParaRPr b="0" i="0" sz="50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9" name="Google Shape;279;p3"/>
          <p:cNvSpPr txBox="1"/>
          <p:nvPr>
            <p:ph idx="1" type="body"/>
          </p:nvPr>
        </p:nvSpPr>
        <p:spPr>
          <a:xfrm>
            <a:off x="393526" y="114300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Push operation</a:t>
            </a:r>
            <a:r>
              <a:rPr lang="en-IN" sz="2000"/>
              <a:t>-The insertion of an element into stack 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Pop operation </a:t>
            </a:r>
            <a:r>
              <a:rPr lang="en-IN" sz="2000"/>
              <a:t>- Deletion of an element from the stack 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In stack we always keep track of the last element present in the list with a pointer called top.</a:t>
            </a:r>
            <a:endParaRPr/>
          </a:p>
        </p:txBody>
      </p:sp>
      <p:pic>
        <p:nvPicPr>
          <p:cNvPr descr="https://lh4.ggpht.com/-yPC1y5pyEK8/UI5YdsZz_oI/AAAAAAAAA1Y/zSzytUOxVWA/clip_image001_thumb%25255B1%25255D.gif?imgmax=800" id="280" name="Google Shape;2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3124201"/>
            <a:ext cx="6553200" cy="275307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282" name="Google Shape;282;p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283" name="Google Shape;283;p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7918" l="0" r="31782" t="26877"/>
          <a:stretch/>
        </p:blipFill>
        <p:spPr>
          <a:xfrm>
            <a:off x="1187624" y="2348880"/>
            <a:ext cx="6336704" cy="320575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"/>
          <p:cNvSpPr txBox="1"/>
          <p:nvPr/>
        </p:nvSpPr>
        <p:spPr>
          <a:xfrm>
            <a:off x="1043490" y="1027664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0" i="0" lang="en-IN" sz="3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Array Implementation of Stack </a:t>
            </a:r>
            <a:endParaRPr b="0" i="0" sz="32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0" name="Google Shape;290;p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291" name="Google Shape;291;p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292" name="Google Shape;292;p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"/>
          <p:cNvSpPr txBox="1"/>
          <p:nvPr/>
        </p:nvSpPr>
        <p:spPr>
          <a:xfrm>
            <a:off x="539552" y="404664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i="0" lang="en-IN" sz="3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Array Implementation of Stack </a:t>
            </a:r>
            <a:endParaRPr b="1" i="0" sz="32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8" name="Google Shape;298;p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299" name="Google Shape;299;p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00" name="Google Shape;300;p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"/>
          <p:cNvSpPr txBox="1"/>
          <p:nvPr>
            <p:ph type="title"/>
          </p:nvPr>
        </p:nvSpPr>
        <p:spPr>
          <a:xfrm>
            <a:off x="1043490" y="1027664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3200"/>
              <a:t>Array Implementation of Stack </a:t>
            </a:r>
            <a:endParaRPr sz="3200"/>
          </a:p>
        </p:txBody>
      </p:sp>
      <p:sp>
        <p:nvSpPr>
          <p:cNvPr id="306" name="Google Shape;306;p6"/>
          <p:cNvSpPr txBox="1"/>
          <p:nvPr>
            <p:ph idx="1" type="body"/>
          </p:nvPr>
        </p:nvSpPr>
        <p:spPr>
          <a:xfrm>
            <a:off x="1043493" y="1772816"/>
            <a:ext cx="4176580" cy="4059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216"/>
              <a:buChar char="🞇"/>
            </a:pPr>
            <a:r>
              <a:rPr lang="en-IN" sz="1600"/>
              <a:t>Push element one by one onto stack from 0</a:t>
            </a:r>
            <a:r>
              <a:rPr baseline="30000" lang="en-IN" sz="1600"/>
              <a:t>th</a:t>
            </a:r>
            <a:r>
              <a:rPr lang="en-IN" sz="1600"/>
              <a:t> position to n-1 th position.</a:t>
            </a:r>
            <a:endParaRPr/>
          </a:p>
          <a:p>
            <a:pPr indent="-197104" lvl="0" marL="34290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 sz="1600"/>
          </a:p>
          <a:p>
            <a:pPr indent="-274320" lvl="0" marL="34290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lang="en-IN" sz="1600"/>
              <a:t>Variable top=position of the top element in the array</a:t>
            </a:r>
            <a:endParaRPr/>
          </a:p>
          <a:p>
            <a:pPr indent="-197104" lvl="0" marL="34290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 sz="1600"/>
          </a:p>
          <a:p>
            <a:pPr indent="-274320" lvl="0" marL="34290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lang="en-IN" sz="1600"/>
              <a:t>If there is no element in the stack, value of top will be -1</a:t>
            </a:r>
            <a:endParaRPr sz="1600"/>
          </a:p>
        </p:txBody>
      </p:sp>
      <p:pic>
        <p:nvPicPr>
          <p:cNvPr descr="ds stack,introduction to data structure,file structure,tree,graph,multiple stack,circular linked list,node,stack in data structure,data structures and algorithms lectures,data structures in c" id="307" name="Google Shape;30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0072" y="2276872"/>
            <a:ext cx="32194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309" name="Google Shape;309;p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10" name="Google Shape;310;p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3200"/>
              <a:t>Stack Overflow /FullCondition</a:t>
            </a:r>
            <a:endParaRPr sz="3200"/>
          </a:p>
        </p:txBody>
      </p:sp>
      <p:sp>
        <p:nvSpPr>
          <p:cNvPr id="316" name="Google Shape;316;p7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36576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If(top==MAX-1)</a:t>
            </a:r>
            <a:endParaRPr/>
          </a:p>
          <a:p>
            <a:pPr indent="0" lvl="1" marL="36576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Then print stack is full or overflowing</a:t>
            </a:r>
            <a:endParaRPr/>
          </a:p>
        </p:txBody>
      </p:sp>
      <p:sp>
        <p:nvSpPr>
          <p:cNvPr id="317" name="Google Shape;317;p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318" name="Google Shape;318;p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19" name="Google Shape;319;p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3200"/>
              <a:t>Stack Underflow /Empty Condition</a:t>
            </a:r>
            <a:endParaRPr sz="3200"/>
          </a:p>
        </p:txBody>
      </p:sp>
      <p:sp>
        <p:nvSpPr>
          <p:cNvPr id="325" name="Google Shape;325;p8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36576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If(top== -1)</a:t>
            </a:r>
            <a:endParaRPr/>
          </a:p>
          <a:p>
            <a:pPr indent="0" lvl="1" marL="36576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Then print stack is empty or underflowing</a:t>
            </a:r>
            <a:endParaRPr sz="2000"/>
          </a:p>
        </p:txBody>
      </p:sp>
      <p:sp>
        <p:nvSpPr>
          <p:cNvPr id="326" name="Google Shape;326;p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327" name="Google Shape;327;p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28" name="Google Shape;328;p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"/>
          <p:cNvSpPr txBox="1"/>
          <p:nvPr/>
        </p:nvSpPr>
        <p:spPr>
          <a:xfrm>
            <a:off x="1044184" y="620688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0" i="0" lang="en-IN" sz="3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PUSH Operation on Stack </a:t>
            </a:r>
            <a:endParaRPr b="0" i="0" sz="32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34" name="Google Shape;3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246" y="1365840"/>
            <a:ext cx="3528392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7660" y="2884085"/>
            <a:ext cx="3520978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246" y="4439686"/>
            <a:ext cx="3456384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2734" y="1365840"/>
            <a:ext cx="3743722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32734" y="3022025"/>
            <a:ext cx="3724325" cy="1296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32734" y="4593227"/>
            <a:ext cx="3715147" cy="1237109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9"/>
          <p:cNvSpPr/>
          <p:nvPr/>
        </p:nvSpPr>
        <p:spPr>
          <a:xfrm>
            <a:off x="4340650" y="1509856"/>
            <a:ext cx="232044" cy="410445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1" name="Google Shape;341;p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342" name="Google Shape;342;p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43" name="Google Shape;343;p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3200"/>
              <a:t>Algorithm for PUSH Operation</a:t>
            </a:r>
            <a:endParaRPr sz="3200"/>
          </a:p>
        </p:txBody>
      </p:sp>
      <p:sp>
        <p:nvSpPr>
          <p:cNvPr id="349" name="Google Shape;349;p10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25780" rtl="0" algn="l">
              <a:spcBef>
                <a:spcPts val="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IN" sz="2000"/>
              <a:t>Check Stack Full condition</a:t>
            </a:r>
            <a:endParaRPr/>
          </a:p>
          <a:p>
            <a:pPr indent="0" lvl="1" marL="36576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If(top==MAX-1)</a:t>
            </a:r>
            <a:endParaRPr/>
          </a:p>
          <a:p>
            <a:pPr indent="0" lvl="1" marL="36576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Then print stack is full or overflow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IN" sz="2000"/>
              <a:t>Otherwise increase the top value by 1</a:t>
            </a:r>
            <a:endParaRPr/>
          </a:p>
          <a:p>
            <a:pPr indent="0" lvl="1" marL="36576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top=top+1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IN" sz="2000"/>
              <a:t>Input the value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IN" sz="2000"/>
              <a:t>Assign the item at top position stack_arr[top]=pushed_item</a:t>
            </a:r>
            <a:endParaRPr sz="2000"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351" name="Google Shape;351;p1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52" name="Google Shape;352;p1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1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Try writing the code for Push Operation function</a:t>
            </a:r>
            <a:endParaRPr sz="2800"/>
          </a:p>
        </p:txBody>
      </p:sp>
      <p:sp>
        <p:nvSpPr>
          <p:cNvPr id="358" name="Google Shape;358;p11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359" name="Google Shape;359;p1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360" name="Google Shape;360;p1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61" name="Google Shape;361;p1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2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PUSH Operation</a:t>
            </a:r>
            <a:endParaRPr/>
          </a:p>
        </p:txBody>
      </p:sp>
      <p:sp>
        <p:nvSpPr>
          <p:cNvPr id="367" name="Google Shape;367;p12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lang="en-IN"/>
              <a:t>push()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{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int pushed_item;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if(top == (MAX-1))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	printf("Stack Overflow\n");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else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{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	printf("Enter the item to be pushed in stack : ");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	scanf("%d",&amp;pushed_item);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	top=top+1;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	stack_arr[top] = pushed_item;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}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}/*End of push()*/</a:t>
            </a:r>
            <a:endParaRPr/>
          </a:p>
          <a:p>
            <a:pPr indent="-201930" lvl="0" marL="34290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sp>
        <p:nvSpPr>
          <p:cNvPr id="368" name="Google Shape;368;p1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369" name="Google Shape;369;p1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70" name="Google Shape;370;p1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2492896"/>
            <a:ext cx="4905375" cy="108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3093" y="3789040"/>
            <a:ext cx="4895850" cy="1152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837" y="5229200"/>
            <a:ext cx="4876800" cy="108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3093" y="1052736"/>
            <a:ext cx="4895850" cy="1152128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3"/>
          <p:cNvSpPr txBox="1"/>
          <p:nvPr/>
        </p:nvSpPr>
        <p:spPr>
          <a:xfrm>
            <a:off x="467544" y="332656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0" i="0" lang="en-IN" sz="3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POP Operation on Stack </a:t>
            </a:r>
            <a:endParaRPr b="0" i="0" sz="32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5611040" y="1274857"/>
            <a:ext cx="242686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Stack Underflow condition</a:t>
            </a:r>
            <a:endParaRPr/>
          </a:p>
          <a:p>
            <a:pPr indent="0" lvl="1" marL="36576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If(top== -1)</a:t>
            </a:r>
            <a:endParaRPr/>
          </a:p>
        </p:txBody>
      </p:sp>
      <p:sp>
        <p:nvSpPr>
          <p:cNvPr id="381" name="Google Shape;381;p1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382" name="Google Shape;382;p1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83" name="Google Shape;383;p1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3200"/>
              <a:t>Algorithm for POP Operation</a:t>
            </a:r>
            <a:endParaRPr sz="3200"/>
          </a:p>
        </p:txBody>
      </p:sp>
      <p:sp>
        <p:nvSpPr>
          <p:cNvPr id="389" name="Google Shape;389;p14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25780" rtl="0" algn="l">
              <a:spcBef>
                <a:spcPts val="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IN" sz="2000"/>
              <a:t>Check Stack Underflow condition</a:t>
            </a:r>
            <a:endParaRPr/>
          </a:p>
          <a:p>
            <a:pPr indent="0" lvl="1" marL="36576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If(top== -1)</a:t>
            </a:r>
            <a:endParaRPr/>
          </a:p>
          <a:p>
            <a:pPr indent="0" lvl="1" marL="36576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Then print stack is underflow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IN" sz="2000"/>
              <a:t>Otherwise, delete the top position element</a:t>
            </a:r>
            <a:endParaRPr/>
          </a:p>
          <a:p>
            <a:pPr indent="0" lvl="1" marL="36576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Popped_item=stack_arr[top]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IN" sz="2000"/>
              <a:t>Decrease the position of top </a:t>
            </a:r>
            <a:endParaRPr/>
          </a:p>
          <a:p>
            <a:pPr indent="0" lvl="1" marL="36576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top=top-1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lang="en-IN" sz="2000"/>
              <a:t>Print the popped_item</a:t>
            </a:r>
            <a:endParaRPr/>
          </a:p>
        </p:txBody>
      </p:sp>
      <p:sp>
        <p:nvSpPr>
          <p:cNvPr id="390" name="Google Shape;390;p1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391" name="Google Shape;391;p1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92" name="Google Shape;392;p1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Try writing the code for Pop Operation function</a:t>
            </a:r>
            <a:endParaRPr sz="2800"/>
          </a:p>
        </p:txBody>
      </p:sp>
      <p:sp>
        <p:nvSpPr>
          <p:cNvPr id="398" name="Google Shape;398;p15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400" name="Google Shape;400;p1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01" name="Google Shape;401;p1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6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POP Operation</a:t>
            </a:r>
            <a:endParaRPr/>
          </a:p>
        </p:txBody>
      </p:sp>
      <p:sp>
        <p:nvSpPr>
          <p:cNvPr id="407" name="Google Shape;407;p16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lang="en-IN"/>
              <a:t>pop()</a:t>
            </a:r>
            <a:endParaRPr/>
          </a:p>
          <a:p>
            <a:pPr indent="0" lvl="0" marL="68580" rtl="0" algn="l">
              <a:spcBef>
                <a:spcPts val="408"/>
              </a:spcBef>
              <a:spcAft>
                <a:spcPts val="0"/>
              </a:spcAft>
              <a:buSzPct val="76000"/>
              <a:buNone/>
            </a:pPr>
            <a:r>
              <a:rPr lang="en-IN"/>
              <a:t>{</a:t>
            </a:r>
            <a:endParaRPr/>
          </a:p>
          <a:p>
            <a:pPr indent="0" lvl="0" marL="68580" rtl="0" algn="l">
              <a:spcBef>
                <a:spcPts val="408"/>
              </a:spcBef>
              <a:spcAft>
                <a:spcPts val="0"/>
              </a:spcAft>
              <a:buSzPct val="76000"/>
              <a:buNone/>
            </a:pPr>
            <a:r>
              <a:rPr lang="en-IN"/>
              <a:t>	if(top == -1)</a:t>
            </a:r>
            <a:endParaRPr/>
          </a:p>
          <a:p>
            <a:pPr indent="0" lvl="0" marL="68580" rtl="0" algn="l">
              <a:spcBef>
                <a:spcPts val="408"/>
              </a:spcBef>
              <a:spcAft>
                <a:spcPts val="0"/>
              </a:spcAft>
              <a:buSzPct val="76000"/>
              <a:buNone/>
            </a:pPr>
            <a:r>
              <a:rPr lang="en-IN"/>
              <a:t>		printf("Stack Underflow\n");</a:t>
            </a:r>
            <a:endParaRPr/>
          </a:p>
          <a:p>
            <a:pPr indent="0" lvl="0" marL="68580" rtl="0" algn="l">
              <a:spcBef>
                <a:spcPts val="408"/>
              </a:spcBef>
              <a:spcAft>
                <a:spcPts val="0"/>
              </a:spcAft>
              <a:buSzPct val="76000"/>
              <a:buNone/>
            </a:pPr>
            <a:r>
              <a:rPr lang="en-IN"/>
              <a:t>	else</a:t>
            </a:r>
            <a:endParaRPr/>
          </a:p>
          <a:p>
            <a:pPr indent="0" lvl="0" marL="68580" rtl="0" algn="l">
              <a:spcBef>
                <a:spcPts val="408"/>
              </a:spcBef>
              <a:spcAft>
                <a:spcPts val="0"/>
              </a:spcAft>
              <a:buSzPct val="76000"/>
              <a:buNone/>
            </a:pPr>
            <a:r>
              <a:rPr lang="en-IN"/>
              <a:t>	{</a:t>
            </a:r>
            <a:endParaRPr/>
          </a:p>
          <a:p>
            <a:pPr indent="0" lvl="0" marL="68580" rtl="0" algn="l">
              <a:spcBef>
                <a:spcPts val="408"/>
              </a:spcBef>
              <a:spcAft>
                <a:spcPts val="0"/>
              </a:spcAft>
              <a:buSzPct val="76000"/>
              <a:buNone/>
            </a:pPr>
            <a:r>
              <a:rPr lang="en-IN"/>
              <a:t>		printf("Popped element is : %d\n",stack_arr[top]);</a:t>
            </a:r>
            <a:endParaRPr/>
          </a:p>
          <a:p>
            <a:pPr indent="0" lvl="0" marL="68580" rtl="0" algn="l">
              <a:spcBef>
                <a:spcPts val="408"/>
              </a:spcBef>
              <a:spcAft>
                <a:spcPts val="0"/>
              </a:spcAft>
              <a:buSzPct val="76000"/>
              <a:buNone/>
            </a:pPr>
            <a:r>
              <a:rPr lang="en-IN"/>
              <a:t>		top=top-1;</a:t>
            </a:r>
            <a:endParaRPr/>
          </a:p>
          <a:p>
            <a:pPr indent="0" lvl="0" marL="68580" rtl="0" algn="l">
              <a:spcBef>
                <a:spcPts val="408"/>
              </a:spcBef>
              <a:spcAft>
                <a:spcPts val="0"/>
              </a:spcAft>
              <a:buSzPct val="76000"/>
              <a:buNone/>
            </a:pPr>
            <a:r>
              <a:rPr lang="en-IN"/>
              <a:t>	}</a:t>
            </a:r>
            <a:endParaRPr/>
          </a:p>
          <a:p>
            <a:pPr indent="0" lvl="0" marL="68580" rtl="0" algn="l">
              <a:spcBef>
                <a:spcPts val="408"/>
              </a:spcBef>
              <a:spcAft>
                <a:spcPts val="0"/>
              </a:spcAft>
              <a:buSzPct val="76000"/>
              <a:buNone/>
            </a:pPr>
            <a:r>
              <a:rPr lang="en-IN"/>
              <a:t>}/*End of pop()*/</a:t>
            </a:r>
            <a:endParaRPr/>
          </a:p>
          <a:p>
            <a:pPr indent="-175869" lvl="0" marL="342900" rtl="0" algn="l">
              <a:spcBef>
                <a:spcPts val="408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409" name="Google Shape;409;p1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10" name="Google Shape;410;p1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7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Try writing the code for Display Operation function</a:t>
            </a:r>
            <a:endParaRPr sz="2800"/>
          </a:p>
        </p:txBody>
      </p:sp>
      <p:sp>
        <p:nvSpPr>
          <p:cNvPr id="416" name="Google Shape;416;p17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417" name="Google Shape;417;p1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418" name="Google Shape;418;p1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19" name="Google Shape;419;p1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8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Display fn</a:t>
            </a:r>
            <a:endParaRPr/>
          </a:p>
        </p:txBody>
      </p:sp>
      <p:sp>
        <p:nvSpPr>
          <p:cNvPr id="425" name="Google Shape;425;p18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lang="en-IN"/>
              <a:t>display()</a:t>
            </a:r>
            <a:endParaRPr/>
          </a:p>
          <a:p>
            <a:pPr indent="0" lvl="0" marL="68580" rtl="0" algn="l">
              <a:spcBef>
                <a:spcPts val="372"/>
              </a:spcBef>
              <a:spcAft>
                <a:spcPts val="0"/>
              </a:spcAft>
              <a:buSzPct val="76000"/>
              <a:buNone/>
            </a:pPr>
            <a:r>
              <a:rPr lang="en-IN"/>
              <a:t>{</a:t>
            </a:r>
            <a:endParaRPr/>
          </a:p>
          <a:p>
            <a:pPr indent="0" lvl="0" marL="68580" rtl="0" algn="l">
              <a:spcBef>
                <a:spcPts val="372"/>
              </a:spcBef>
              <a:spcAft>
                <a:spcPts val="0"/>
              </a:spcAft>
              <a:buSzPct val="76000"/>
              <a:buNone/>
            </a:pPr>
            <a:r>
              <a:rPr lang="en-IN"/>
              <a:t>	int i;</a:t>
            </a:r>
            <a:endParaRPr/>
          </a:p>
          <a:p>
            <a:pPr indent="0" lvl="0" marL="68580" rtl="0" algn="l">
              <a:spcBef>
                <a:spcPts val="372"/>
              </a:spcBef>
              <a:spcAft>
                <a:spcPts val="0"/>
              </a:spcAft>
              <a:buSzPct val="76000"/>
              <a:buNone/>
            </a:pPr>
            <a:r>
              <a:rPr lang="en-IN"/>
              <a:t>	if(top == -1)</a:t>
            </a:r>
            <a:endParaRPr/>
          </a:p>
          <a:p>
            <a:pPr indent="0" lvl="0" marL="68580" rtl="0" algn="l">
              <a:spcBef>
                <a:spcPts val="372"/>
              </a:spcBef>
              <a:spcAft>
                <a:spcPts val="0"/>
              </a:spcAft>
              <a:buSzPct val="76000"/>
              <a:buNone/>
            </a:pPr>
            <a:r>
              <a:rPr lang="en-IN"/>
              <a:t>		printf("Stack is empty\n");</a:t>
            </a:r>
            <a:endParaRPr/>
          </a:p>
          <a:p>
            <a:pPr indent="0" lvl="0" marL="68580" rtl="0" algn="l">
              <a:spcBef>
                <a:spcPts val="372"/>
              </a:spcBef>
              <a:spcAft>
                <a:spcPts val="0"/>
              </a:spcAft>
              <a:buSzPct val="76000"/>
              <a:buNone/>
            </a:pPr>
            <a:r>
              <a:rPr lang="en-IN"/>
              <a:t>	else</a:t>
            </a:r>
            <a:endParaRPr/>
          </a:p>
          <a:p>
            <a:pPr indent="0" lvl="0" marL="68580" rtl="0" algn="l">
              <a:spcBef>
                <a:spcPts val="372"/>
              </a:spcBef>
              <a:spcAft>
                <a:spcPts val="0"/>
              </a:spcAft>
              <a:buSzPct val="76000"/>
              <a:buNone/>
            </a:pPr>
            <a:r>
              <a:rPr lang="en-IN"/>
              <a:t>	{</a:t>
            </a:r>
            <a:endParaRPr/>
          </a:p>
          <a:p>
            <a:pPr indent="0" lvl="0" marL="68580" rtl="0" algn="l">
              <a:spcBef>
                <a:spcPts val="372"/>
              </a:spcBef>
              <a:spcAft>
                <a:spcPts val="0"/>
              </a:spcAft>
              <a:buSzPct val="76000"/>
              <a:buNone/>
            </a:pPr>
            <a:r>
              <a:rPr lang="en-IN"/>
              <a:t>		printf("Stack elements :\n");</a:t>
            </a:r>
            <a:endParaRPr/>
          </a:p>
          <a:p>
            <a:pPr indent="0" lvl="0" marL="68580" rtl="0" algn="l">
              <a:spcBef>
                <a:spcPts val="372"/>
              </a:spcBef>
              <a:spcAft>
                <a:spcPts val="0"/>
              </a:spcAft>
              <a:buSzPct val="76000"/>
              <a:buNone/>
            </a:pPr>
            <a:r>
              <a:rPr lang="en-IN"/>
              <a:t>		for(i = top; i &gt;=0; i--)</a:t>
            </a:r>
            <a:endParaRPr/>
          </a:p>
          <a:p>
            <a:pPr indent="0" lvl="0" marL="68580" rtl="0" algn="l">
              <a:spcBef>
                <a:spcPts val="372"/>
              </a:spcBef>
              <a:spcAft>
                <a:spcPts val="0"/>
              </a:spcAft>
              <a:buSzPct val="76000"/>
              <a:buNone/>
            </a:pPr>
            <a:r>
              <a:rPr lang="en-IN"/>
              <a:t>			printf("%d\n", stack_arr[i] );</a:t>
            </a:r>
            <a:endParaRPr/>
          </a:p>
          <a:p>
            <a:pPr indent="0" lvl="0" marL="68580" rtl="0" algn="l">
              <a:spcBef>
                <a:spcPts val="372"/>
              </a:spcBef>
              <a:spcAft>
                <a:spcPts val="0"/>
              </a:spcAft>
              <a:buSzPct val="76000"/>
              <a:buNone/>
            </a:pPr>
            <a:r>
              <a:rPr lang="en-IN"/>
              <a:t>	}</a:t>
            </a:r>
            <a:endParaRPr/>
          </a:p>
          <a:p>
            <a:pPr indent="0" lvl="0" marL="68580" rtl="0" algn="l">
              <a:spcBef>
                <a:spcPts val="372"/>
              </a:spcBef>
              <a:spcAft>
                <a:spcPts val="0"/>
              </a:spcAft>
              <a:buSzPct val="76000"/>
              <a:buNone/>
            </a:pPr>
            <a:r>
              <a:rPr lang="en-IN"/>
              <a:t>}/*End of display()*/</a:t>
            </a:r>
            <a:endParaRPr/>
          </a:p>
          <a:p>
            <a:pPr indent="-184556" lvl="0" marL="342900" rtl="0" algn="l">
              <a:spcBef>
                <a:spcPts val="372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sp>
        <p:nvSpPr>
          <p:cNvPr id="426" name="Google Shape;426;p1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427" name="Google Shape;427;p1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28" name="Google Shape;428;p1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9"/>
          <p:cNvSpPr txBox="1"/>
          <p:nvPr>
            <p:ph type="title"/>
          </p:nvPr>
        </p:nvSpPr>
        <p:spPr>
          <a:xfrm>
            <a:off x="1043490" y="1027664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IN" sz="2800"/>
              <a:t>Peek Operation</a:t>
            </a:r>
            <a:endParaRPr b="1" sz="2800"/>
          </a:p>
        </p:txBody>
      </p:sp>
      <p:sp>
        <p:nvSpPr>
          <p:cNvPr id="434" name="Google Shape;434;p19"/>
          <p:cNvSpPr txBox="1"/>
          <p:nvPr>
            <p:ph idx="1" type="body"/>
          </p:nvPr>
        </p:nvSpPr>
        <p:spPr>
          <a:xfrm>
            <a:off x="1043492" y="1772816"/>
            <a:ext cx="6777317" cy="4059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An operation on certain abstract data types, specifically sequential collections such as stacks and queues, </a:t>
            </a:r>
            <a:endParaRPr sz="20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which returns the value of the top ("front") of the collection </a:t>
            </a:r>
            <a:endParaRPr sz="1800"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without removing the element from the collection. </a:t>
            </a:r>
            <a:endParaRPr sz="1800"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It thus returns the same value as operations such as "pop" or "dequeue", but does not modify the data.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435" name="Google Shape;435;p1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436" name="Google Shape;436;p1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37" name="Google Shape;437;p1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0"/>
          <p:cNvSpPr txBox="1"/>
          <p:nvPr>
            <p:ph type="title"/>
          </p:nvPr>
        </p:nvSpPr>
        <p:spPr>
          <a:xfrm>
            <a:off x="1043490" y="1027664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IN" sz="2800"/>
              <a:t>Peek Operation</a:t>
            </a:r>
            <a:endParaRPr b="1" sz="2800"/>
          </a:p>
        </p:txBody>
      </p:sp>
      <p:sp>
        <p:nvSpPr>
          <p:cNvPr id="443" name="Google Shape;443;p20"/>
          <p:cNvSpPr txBox="1"/>
          <p:nvPr>
            <p:ph idx="1" type="body"/>
          </p:nvPr>
        </p:nvSpPr>
        <p:spPr>
          <a:xfrm>
            <a:off x="1043492" y="1772816"/>
            <a:ext cx="6777317" cy="4059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The name "peek" </a:t>
            </a:r>
            <a:endParaRPr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the name for this operation varies depending on data type and language. </a:t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Peek is generally considered an inessential operation, </a:t>
            </a:r>
            <a:endParaRPr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not included in the basic definition of these data types. </a:t>
            </a:r>
            <a:endParaRPr/>
          </a:p>
        </p:txBody>
      </p:sp>
      <p:sp>
        <p:nvSpPr>
          <p:cNvPr id="444" name="Google Shape;444;p2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445" name="Google Shape;445;p2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46" name="Google Shape;446;p2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1"/>
          <p:cNvSpPr txBox="1"/>
          <p:nvPr>
            <p:ph type="title"/>
          </p:nvPr>
        </p:nvSpPr>
        <p:spPr>
          <a:xfrm>
            <a:off x="1043490" y="1027664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IN" sz="2800"/>
              <a:t>Peek Operation</a:t>
            </a:r>
            <a:endParaRPr b="1" sz="2800"/>
          </a:p>
        </p:txBody>
      </p:sp>
      <p:sp>
        <p:nvSpPr>
          <p:cNvPr id="452" name="Google Shape;452;p21"/>
          <p:cNvSpPr txBox="1"/>
          <p:nvPr>
            <p:ph idx="1" type="body"/>
          </p:nvPr>
        </p:nvSpPr>
        <p:spPr>
          <a:xfrm>
            <a:off x="1043492" y="1772816"/>
            <a:ext cx="6777317" cy="4059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Sequential types for which peek is often implemented include: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    Stack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    Queue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    Priority queue (such as a heap)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    Double-ended queue (deque)</a:t>
            </a:r>
            <a:endParaRPr/>
          </a:p>
          <a:p>
            <a:pPr indent="-274320" lvl="1" marL="64008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lang="en-IN" sz="1600"/>
              <a:t>    Double-ended priority queue (DEPQ)</a:t>
            </a:r>
            <a:endParaRPr/>
          </a:p>
        </p:txBody>
      </p:sp>
      <p:sp>
        <p:nvSpPr>
          <p:cNvPr id="453" name="Google Shape;453;p2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454" name="Google Shape;454;p2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55" name="Google Shape;455;p2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2"/>
          <p:cNvSpPr txBox="1"/>
          <p:nvPr>
            <p:ph type="title"/>
          </p:nvPr>
        </p:nvSpPr>
        <p:spPr>
          <a:xfrm>
            <a:off x="1043490" y="1027664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IN" sz="2800"/>
              <a:t>Peek Operation</a:t>
            </a:r>
            <a:endParaRPr b="1" sz="2800"/>
          </a:p>
        </p:txBody>
      </p:sp>
      <p:sp>
        <p:nvSpPr>
          <p:cNvPr id="461" name="Google Shape;461;p22"/>
          <p:cNvSpPr txBox="1"/>
          <p:nvPr>
            <p:ph idx="1" type="body"/>
          </p:nvPr>
        </p:nvSpPr>
        <p:spPr>
          <a:xfrm>
            <a:off x="1043492" y="1772816"/>
            <a:ext cx="6777317" cy="4059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Single-ended types, such as stack, </a:t>
            </a:r>
            <a:endParaRPr sz="20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generally only admit a single peek, at the end that is modified. </a:t>
            </a:r>
            <a:endParaRPr sz="18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Double-ended types, such as deques, </a:t>
            </a:r>
            <a:endParaRPr sz="20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admit two peeks, one at each end.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Names for peek vary. </a:t>
            </a:r>
            <a:endParaRPr sz="20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For queues "front" is common. </a:t>
            </a:r>
            <a:endParaRPr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Dequeues have varied names, often "front" and "back" or "first" and "last". </a:t>
            </a:r>
            <a:endParaRPr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The name "peak" is also occasionally found</a:t>
            </a:r>
            <a:endParaRPr sz="1400"/>
          </a:p>
        </p:txBody>
      </p:sp>
      <p:sp>
        <p:nvSpPr>
          <p:cNvPr id="462" name="Google Shape;462;p2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463" name="Google Shape;463;p2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64" name="Google Shape;464;p2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3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Linked List Representationof Stack</a:t>
            </a:r>
            <a:endParaRPr/>
          </a:p>
        </p:txBody>
      </p:sp>
      <p:sp>
        <p:nvSpPr>
          <p:cNvPr id="470" name="Google Shape;470;p23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  <p:sp>
        <p:nvSpPr>
          <p:cNvPr id="471" name="Google Shape;471;p23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472" name="Google Shape;472;p23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73" name="Google Shape;473;p23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4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3200"/>
              <a:t>Linked List Representation of Stack</a:t>
            </a:r>
            <a:endParaRPr/>
          </a:p>
        </p:txBody>
      </p:sp>
      <p:sp>
        <p:nvSpPr>
          <p:cNvPr id="479" name="Google Shape;479;p24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The info field of the node holds the elements of the stack 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Link fields hold pointers to the neighbouring element in the stack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The start pointer behaves as the TOP pointer variable of the stack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Null pointer of the last node in the linked list signals the bottom of the stack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480" name="Google Shape;480;p24"/>
          <p:cNvSpPr/>
          <p:nvPr/>
        </p:nvSpPr>
        <p:spPr>
          <a:xfrm>
            <a:off x="611560" y="3933056"/>
            <a:ext cx="7632848" cy="936104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1" name="Google Shape;481;p2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482" name="Google Shape;482;p2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83" name="Google Shape;483;p2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5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3200"/>
              <a:t>Linked List Representation of Stack</a:t>
            </a:r>
            <a:endParaRPr sz="3200"/>
          </a:p>
        </p:txBody>
      </p:sp>
      <p:sp>
        <p:nvSpPr>
          <p:cNvPr id="489" name="Google Shape;489;p25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lang="en-IN"/>
              <a:t>struct node</a:t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rPr lang="en-IN"/>
              <a:t>{</a:t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rPr lang="en-IN"/>
              <a:t>	int info;</a:t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rPr lang="en-IN"/>
              <a:t>	struct node *link;</a:t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rPr lang="en-IN"/>
              <a:t>} </a:t>
            </a:r>
            <a:r>
              <a:rPr b="1" lang="en-IN"/>
              <a:t>*top=NULL;</a:t>
            </a:r>
            <a:endParaRPr b="1"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490" name="Google Shape;490;p2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491" name="Google Shape;491;p2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92" name="Google Shape;492;p2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6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3200"/>
              <a:t>Push Operation</a:t>
            </a:r>
            <a:endParaRPr sz="3200"/>
          </a:p>
        </p:txBody>
      </p:sp>
      <p:sp>
        <p:nvSpPr>
          <p:cNvPr id="498" name="Google Shape;498;p26"/>
          <p:cNvSpPr txBox="1"/>
          <p:nvPr>
            <p:ph idx="1" type="body"/>
          </p:nvPr>
        </p:nvSpPr>
        <p:spPr>
          <a:xfrm>
            <a:off x="1043492" y="191683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Inserting a node into the front or start of the list. i.e. at the top of the stack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Stack after Before Push Operation, 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Stack after Push Operation, </a:t>
            </a:r>
            <a:r>
              <a:rPr b="1" lang="en-IN" sz="2000"/>
              <a:t>Push www into stack, inserted at Top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graphicFrame>
        <p:nvGraphicFramePr>
          <p:cNvPr id="499" name="Google Shape;499;p26"/>
          <p:cNvGraphicFramePr/>
          <p:nvPr/>
        </p:nvGraphicFramePr>
        <p:xfrm>
          <a:off x="1547664" y="3789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720075"/>
                <a:gridCol w="720075"/>
              </a:tblGrid>
              <a:tr h="3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XXX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00" name="Google Shape;500;p26"/>
          <p:cNvGraphicFramePr/>
          <p:nvPr/>
        </p:nvGraphicFramePr>
        <p:xfrm>
          <a:off x="3491880" y="3789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720075"/>
                <a:gridCol w="720075"/>
              </a:tblGrid>
              <a:tr h="3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YYY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01" name="Google Shape;501;p26"/>
          <p:cNvGraphicFramePr/>
          <p:nvPr/>
        </p:nvGraphicFramePr>
        <p:xfrm>
          <a:off x="5436096" y="3789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720075"/>
                <a:gridCol w="720075"/>
              </a:tblGrid>
              <a:tr h="3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ZZZ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02" name="Google Shape;502;p26"/>
          <p:cNvSpPr/>
          <p:nvPr/>
        </p:nvSpPr>
        <p:spPr>
          <a:xfrm>
            <a:off x="2987824" y="3933056"/>
            <a:ext cx="504056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4932040" y="3861048"/>
            <a:ext cx="504056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1043608" y="3933056"/>
            <a:ext cx="504056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505" name="Google Shape;505;p26"/>
          <p:cNvGraphicFramePr/>
          <p:nvPr/>
        </p:nvGraphicFramePr>
        <p:xfrm>
          <a:off x="3059832" y="5223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720075"/>
                <a:gridCol w="720075"/>
              </a:tblGrid>
              <a:tr h="3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XXX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06" name="Google Shape;506;p26"/>
          <p:cNvGraphicFramePr/>
          <p:nvPr/>
        </p:nvGraphicFramePr>
        <p:xfrm>
          <a:off x="5004048" y="5223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720075"/>
                <a:gridCol w="720075"/>
              </a:tblGrid>
              <a:tr h="3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YYY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07" name="Google Shape;507;p26"/>
          <p:cNvGraphicFramePr/>
          <p:nvPr/>
        </p:nvGraphicFramePr>
        <p:xfrm>
          <a:off x="6948264" y="5223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720075"/>
                <a:gridCol w="720075"/>
              </a:tblGrid>
              <a:tr h="3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ZZZ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08" name="Google Shape;508;p26"/>
          <p:cNvSpPr/>
          <p:nvPr/>
        </p:nvSpPr>
        <p:spPr>
          <a:xfrm>
            <a:off x="4499992" y="5367496"/>
            <a:ext cx="504056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9" name="Google Shape;509;p26"/>
          <p:cNvSpPr/>
          <p:nvPr/>
        </p:nvSpPr>
        <p:spPr>
          <a:xfrm>
            <a:off x="6444208" y="5295488"/>
            <a:ext cx="504056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0" name="Google Shape;510;p26"/>
          <p:cNvSpPr/>
          <p:nvPr/>
        </p:nvSpPr>
        <p:spPr>
          <a:xfrm>
            <a:off x="2555776" y="5367496"/>
            <a:ext cx="504056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511" name="Google Shape;511;p26"/>
          <p:cNvGraphicFramePr/>
          <p:nvPr/>
        </p:nvGraphicFramePr>
        <p:xfrm>
          <a:off x="1187624" y="5229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864100"/>
                <a:gridCol w="648075"/>
              </a:tblGrid>
              <a:tr h="361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800"/>
                        <a:t>WWW</a:t>
                      </a:r>
                      <a:endParaRPr b="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12" name="Google Shape;512;p26"/>
          <p:cNvSpPr/>
          <p:nvPr/>
        </p:nvSpPr>
        <p:spPr>
          <a:xfrm>
            <a:off x="683568" y="5373216"/>
            <a:ext cx="504056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3" name="Google Shape;513;p26"/>
          <p:cNvSpPr txBox="1"/>
          <p:nvPr/>
        </p:nvSpPr>
        <p:spPr>
          <a:xfrm>
            <a:off x="539552" y="3645024"/>
            <a:ext cx="6480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Top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4" name="Google Shape;514;p26"/>
          <p:cNvSpPr txBox="1"/>
          <p:nvPr/>
        </p:nvSpPr>
        <p:spPr>
          <a:xfrm>
            <a:off x="467544" y="5075892"/>
            <a:ext cx="6480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Top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5" name="Google Shape;515;p26"/>
          <p:cNvSpPr txBox="1"/>
          <p:nvPr/>
        </p:nvSpPr>
        <p:spPr>
          <a:xfrm>
            <a:off x="5603451" y="3460358"/>
            <a:ext cx="2185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Bottom of Stack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6" name="Google Shape;516;p26"/>
          <p:cNvSpPr txBox="1"/>
          <p:nvPr/>
        </p:nvSpPr>
        <p:spPr>
          <a:xfrm>
            <a:off x="7524328" y="4609626"/>
            <a:ext cx="14908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Bottom of Stack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7" name="Google Shape;517;p2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518" name="Google Shape;518;p2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19" name="Google Shape;519;p2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19165"/>
          <a:stretch/>
        </p:blipFill>
        <p:spPr>
          <a:xfrm>
            <a:off x="899592" y="2060848"/>
            <a:ext cx="7334101" cy="3096344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27"/>
          <p:cNvSpPr txBox="1"/>
          <p:nvPr/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32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Linked List Representation of Stack</a:t>
            </a:r>
            <a:endParaRPr sz="32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6" name="Google Shape;526;p2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527" name="Google Shape;527;p2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28" name="Google Shape;528;p2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1196752"/>
            <a:ext cx="36957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608" y="2420888"/>
            <a:ext cx="36957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3608" y="4437112"/>
            <a:ext cx="36957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28"/>
          <p:cNvSpPr/>
          <p:nvPr/>
        </p:nvSpPr>
        <p:spPr>
          <a:xfrm>
            <a:off x="4950296" y="2924944"/>
            <a:ext cx="365415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tmp = (struct node *)malloc(sizeof(struct node));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7" name="Google Shape;537;p28"/>
          <p:cNvSpPr txBox="1"/>
          <p:nvPr/>
        </p:nvSpPr>
        <p:spPr>
          <a:xfrm>
            <a:off x="467544" y="332656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32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PUSH Operation on Stack </a:t>
            </a:r>
            <a:endParaRPr sz="32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8" name="Google Shape;538;p2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539" name="Google Shape;539;p2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40" name="Google Shape;540;p2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41" name="Google Shape;541;p28"/>
          <p:cNvSpPr/>
          <p:nvPr/>
        </p:nvSpPr>
        <p:spPr>
          <a:xfrm>
            <a:off x="4950296" y="4971196"/>
            <a:ext cx="293407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tmp-&gt;link=top;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top=tmp;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9"/>
          <p:cNvSpPr txBox="1"/>
          <p:nvPr>
            <p:ph type="title"/>
          </p:nvPr>
        </p:nvSpPr>
        <p:spPr>
          <a:xfrm>
            <a:off x="467544" y="404664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Push Operation</a:t>
            </a:r>
            <a:endParaRPr/>
          </a:p>
        </p:txBody>
      </p:sp>
      <p:sp>
        <p:nvSpPr>
          <p:cNvPr id="547" name="Google Shape;547;p29"/>
          <p:cNvSpPr txBox="1"/>
          <p:nvPr>
            <p:ph idx="1" type="body"/>
          </p:nvPr>
        </p:nvSpPr>
        <p:spPr>
          <a:xfrm>
            <a:off x="1043608" y="1340768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push()</a:t>
            </a:r>
            <a:endParaRPr sz="1600"/>
          </a:p>
          <a:p>
            <a:pPr indent="0" lvl="0" marL="685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{</a:t>
            </a:r>
            <a:endParaRPr sz="1600"/>
          </a:p>
          <a:p>
            <a:pPr indent="0" lvl="0" marL="685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	struct node *tmp;</a:t>
            </a:r>
            <a:endParaRPr sz="1600"/>
          </a:p>
          <a:p>
            <a:pPr indent="0" lvl="0" marL="685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	int pushed_item;</a:t>
            </a:r>
            <a:endParaRPr sz="1600"/>
          </a:p>
          <a:p>
            <a:pPr indent="0" lvl="0" marL="685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	tmp = (struct node *)malloc(sizeof(struct node));</a:t>
            </a:r>
            <a:endParaRPr sz="1600"/>
          </a:p>
          <a:p>
            <a:pPr indent="0" lvl="0" marL="685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	printf("Input the new value to be pushed on the stack : ");</a:t>
            </a:r>
            <a:endParaRPr sz="1600"/>
          </a:p>
          <a:p>
            <a:pPr indent="0" lvl="0" marL="685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	scanf("%d",&amp;pushed_item);</a:t>
            </a:r>
            <a:endParaRPr sz="1600"/>
          </a:p>
          <a:p>
            <a:pPr indent="0" lvl="0" marL="685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	tmp-&gt;info=pushed_item;</a:t>
            </a:r>
            <a:endParaRPr sz="1600"/>
          </a:p>
          <a:p>
            <a:pPr indent="0" lvl="0" marL="685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	tmp-&gt;link=top;</a:t>
            </a:r>
            <a:endParaRPr sz="1600"/>
          </a:p>
          <a:p>
            <a:pPr indent="0" lvl="0" marL="685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	top=tmp;</a:t>
            </a:r>
            <a:endParaRPr sz="1600"/>
          </a:p>
          <a:p>
            <a:pPr indent="0" lvl="0" marL="685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}/*End of push()*/</a:t>
            </a:r>
            <a:endParaRPr sz="1600"/>
          </a:p>
          <a:p>
            <a:pPr indent="-197104" lvl="0" marL="34290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 sz="1600"/>
          </a:p>
        </p:txBody>
      </p:sp>
      <p:sp>
        <p:nvSpPr>
          <p:cNvPr id="548" name="Google Shape;548;p2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549" name="Google Shape;549;p2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50" name="Google Shape;550;p2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0"/>
          <p:cNvSpPr txBox="1"/>
          <p:nvPr>
            <p:ph type="title"/>
          </p:nvPr>
        </p:nvSpPr>
        <p:spPr>
          <a:xfrm>
            <a:off x="386226" y="332656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3200"/>
              <a:t>Pop Operation</a:t>
            </a:r>
            <a:endParaRPr sz="3200"/>
          </a:p>
        </p:txBody>
      </p:sp>
      <p:sp>
        <p:nvSpPr>
          <p:cNvPr id="556" name="Google Shape;556;p30"/>
          <p:cNvSpPr txBox="1"/>
          <p:nvPr>
            <p:ph idx="1" type="body"/>
          </p:nvPr>
        </p:nvSpPr>
        <p:spPr>
          <a:xfrm>
            <a:off x="1043492" y="1916832"/>
            <a:ext cx="7056900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Deleting a node pointed to by start pointer of the list. i.e. at the top of the stack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Stack after Before Pop Operation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Stack after Pop Operation, element at top deleted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graphicFrame>
        <p:nvGraphicFramePr>
          <p:cNvPr id="557" name="Google Shape;557;p30"/>
          <p:cNvGraphicFramePr/>
          <p:nvPr/>
        </p:nvGraphicFramePr>
        <p:xfrm>
          <a:off x="1547664" y="3789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720075"/>
                <a:gridCol w="720075"/>
              </a:tblGrid>
              <a:tr h="3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XXX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58" name="Google Shape;558;p30"/>
          <p:cNvGraphicFramePr/>
          <p:nvPr/>
        </p:nvGraphicFramePr>
        <p:xfrm>
          <a:off x="3491880" y="3789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720075"/>
                <a:gridCol w="720075"/>
              </a:tblGrid>
              <a:tr h="3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YYY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59" name="Google Shape;559;p30"/>
          <p:cNvGraphicFramePr/>
          <p:nvPr/>
        </p:nvGraphicFramePr>
        <p:xfrm>
          <a:off x="5436096" y="3789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720075"/>
                <a:gridCol w="720075"/>
              </a:tblGrid>
              <a:tr h="3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ZZZ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60" name="Google Shape;560;p30"/>
          <p:cNvSpPr/>
          <p:nvPr/>
        </p:nvSpPr>
        <p:spPr>
          <a:xfrm>
            <a:off x="2987824" y="3933056"/>
            <a:ext cx="504056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1" name="Google Shape;561;p30"/>
          <p:cNvSpPr/>
          <p:nvPr/>
        </p:nvSpPr>
        <p:spPr>
          <a:xfrm>
            <a:off x="4932040" y="3861048"/>
            <a:ext cx="504056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2" name="Google Shape;562;p30"/>
          <p:cNvSpPr/>
          <p:nvPr/>
        </p:nvSpPr>
        <p:spPr>
          <a:xfrm>
            <a:off x="1043608" y="3933056"/>
            <a:ext cx="504056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563" name="Google Shape;563;p30"/>
          <p:cNvGraphicFramePr/>
          <p:nvPr/>
        </p:nvGraphicFramePr>
        <p:xfrm>
          <a:off x="1259632" y="55115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720075"/>
                <a:gridCol w="720075"/>
              </a:tblGrid>
              <a:tr h="3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YYY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64" name="Google Shape;564;p30"/>
          <p:cNvGraphicFramePr/>
          <p:nvPr/>
        </p:nvGraphicFramePr>
        <p:xfrm>
          <a:off x="3203848" y="55115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720075"/>
                <a:gridCol w="720075"/>
              </a:tblGrid>
              <a:tr h="3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ZZZ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65" name="Google Shape;565;p30"/>
          <p:cNvSpPr/>
          <p:nvPr/>
        </p:nvSpPr>
        <p:spPr>
          <a:xfrm>
            <a:off x="755576" y="5655528"/>
            <a:ext cx="504056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6" name="Google Shape;566;p30"/>
          <p:cNvSpPr/>
          <p:nvPr/>
        </p:nvSpPr>
        <p:spPr>
          <a:xfrm>
            <a:off x="2699792" y="5583520"/>
            <a:ext cx="504056" cy="1440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7" name="Google Shape;567;p30"/>
          <p:cNvSpPr txBox="1"/>
          <p:nvPr/>
        </p:nvSpPr>
        <p:spPr>
          <a:xfrm>
            <a:off x="539552" y="3645024"/>
            <a:ext cx="6480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Top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8" name="Google Shape;568;p30"/>
          <p:cNvSpPr txBox="1"/>
          <p:nvPr/>
        </p:nvSpPr>
        <p:spPr>
          <a:xfrm>
            <a:off x="611560" y="5085184"/>
            <a:ext cx="6480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Top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9" name="Google Shape;569;p30"/>
          <p:cNvSpPr txBox="1"/>
          <p:nvPr/>
        </p:nvSpPr>
        <p:spPr>
          <a:xfrm>
            <a:off x="5457444" y="4195215"/>
            <a:ext cx="14908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Bottom of Stack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0" name="Google Shape;570;p30"/>
          <p:cNvSpPr txBox="1"/>
          <p:nvPr/>
        </p:nvSpPr>
        <p:spPr>
          <a:xfrm>
            <a:off x="3153188" y="5879013"/>
            <a:ext cx="14908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Bottom of Stack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1" name="Google Shape;571;p3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572" name="Google Shape;572;p3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73" name="Google Shape;573;p3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1196752"/>
            <a:ext cx="3096344" cy="16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31"/>
          <p:cNvSpPr txBox="1"/>
          <p:nvPr/>
        </p:nvSpPr>
        <p:spPr>
          <a:xfrm>
            <a:off x="467544" y="332656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32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POP Operation on Stack </a:t>
            </a:r>
            <a:endParaRPr sz="32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80" name="Google Shape;58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552" y="3247628"/>
            <a:ext cx="3096344" cy="1981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9992" y="1196752"/>
            <a:ext cx="36004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9992" y="3324200"/>
            <a:ext cx="36004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31"/>
          <p:cNvSpPr/>
          <p:nvPr/>
        </p:nvSpPr>
        <p:spPr>
          <a:xfrm>
            <a:off x="3979916" y="1124744"/>
            <a:ext cx="232044" cy="410445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4" name="Google Shape;584;p31"/>
          <p:cNvSpPr/>
          <p:nvPr/>
        </p:nvSpPr>
        <p:spPr>
          <a:xfrm>
            <a:off x="8300396" y="1124744"/>
            <a:ext cx="232044" cy="410445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5" name="Google Shape;585;p3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586" name="Google Shape;586;p3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87" name="Google Shape;587;p3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2"/>
          <p:cNvSpPr txBox="1"/>
          <p:nvPr>
            <p:ph type="title"/>
          </p:nvPr>
        </p:nvSpPr>
        <p:spPr>
          <a:xfrm>
            <a:off x="467544" y="332656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POP Operation</a:t>
            </a:r>
            <a:endParaRPr/>
          </a:p>
        </p:txBody>
      </p:sp>
      <p:sp>
        <p:nvSpPr>
          <p:cNvPr id="593" name="Google Shape;593;p32"/>
          <p:cNvSpPr txBox="1"/>
          <p:nvPr>
            <p:ph idx="1" type="body"/>
          </p:nvPr>
        </p:nvSpPr>
        <p:spPr>
          <a:xfrm>
            <a:off x="971600" y="1628800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lang="en-IN"/>
              <a:t>pop()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{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struct node *tmp;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if(top == NULL)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	printf("Stack is empty\n");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else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{       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	tmp=top;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	printf("Popped item is %d\n",tmp-&gt;info);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	top=top-&gt;link;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	free(tmp);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	}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 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}/*End of pop()*/</a:t>
            </a:r>
            <a:endParaRPr/>
          </a:p>
          <a:p>
            <a:pPr indent="0" lvl="0" marL="68580" rtl="0" algn="l">
              <a:spcBef>
                <a:spcPts val="300"/>
              </a:spcBef>
              <a:spcAft>
                <a:spcPts val="0"/>
              </a:spcAft>
              <a:buSzPct val="76000"/>
              <a:buNone/>
            </a:pPr>
            <a:r>
              <a:rPr lang="en-IN"/>
              <a:t> </a:t>
            </a:r>
            <a:endParaRPr/>
          </a:p>
        </p:txBody>
      </p:sp>
      <p:sp>
        <p:nvSpPr>
          <p:cNvPr id="594" name="Google Shape;594;p3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595" name="Google Shape;595;p3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96" name="Google Shape;596;p3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3"/>
          <p:cNvSpPr txBox="1"/>
          <p:nvPr>
            <p:ph type="title"/>
          </p:nvPr>
        </p:nvSpPr>
        <p:spPr>
          <a:xfrm>
            <a:off x="467544" y="332656"/>
            <a:ext cx="7024744" cy="6731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Display Operation</a:t>
            </a:r>
            <a:endParaRPr/>
          </a:p>
        </p:txBody>
      </p:sp>
      <p:sp>
        <p:nvSpPr>
          <p:cNvPr id="602" name="Google Shape;602;p33"/>
          <p:cNvSpPr txBox="1"/>
          <p:nvPr>
            <p:ph idx="1" type="body"/>
          </p:nvPr>
        </p:nvSpPr>
        <p:spPr>
          <a:xfrm>
            <a:off x="1043492" y="1340768"/>
            <a:ext cx="6777317" cy="4491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lang="en-IN"/>
              <a:t>display()</a:t>
            </a:r>
            <a:endParaRPr/>
          </a:p>
          <a:p>
            <a:pPr indent="0" lvl="0" marL="68580" rtl="0" algn="l">
              <a:spcBef>
                <a:spcPts val="336"/>
              </a:spcBef>
              <a:spcAft>
                <a:spcPts val="0"/>
              </a:spcAft>
              <a:buSzPct val="76000"/>
              <a:buNone/>
            </a:pPr>
            <a:r>
              <a:rPr lang="en-IN"/>
              <a:t>{       struct node *ptr;</a:t>
            </a:r>
            <a:endParaRPr/>
          </a:p>
          <a:p>
            <a:pPr indent="0" lvl="0" marL="68580" rtl="0" algn="l">
              <a:spcBef>
                <a:spcPts val="336"/>
              </a:spcBef>
              <a:spcAft>
                <a:spcPts val="0"/>
              </a:spcAft>
              <a:buSzPct val="76000"/>
              <a:buNone/>
            </a:pPr>
            <a:r>
              <a:rPr lang="en-IN"/>
              <a:t>	ptr=top;</a:t>
            </a:r>
            <a:endParaRPr/>
          </a:p>
          <a:p>
            <a:pPr indent="0" lvl="0" marL="68580" rtl="0" algn="l">
              <a:spcBef>
                <a:spcPts val="336"/>
              </a:spcBef>
              <a:spcAft>
                <a:spcPts val="0"/>
              </a:spcAft>
              <a:buSzPct val="76000"/>
              <a:buNone/>
            </a:pPr>
            <a:r>
              <a:rPr lang="en-IN"/>
              <a:t>	if(top==NULL)</a:t>
            </a:r>
            <a:endParaRPr/>
          </a:p>
          <a:p>
            <a:pPr indent="0" lvl="0" marL="68580" rtl="0" algn="l">
              <a:spcBef>
                <a:spcPts val="336"/>
              </a:spcBef>
              <a:spcAft>
                <a:spcPts val="0"/>
              </a:spcAft>
              <a:buSzPct val="76000"/>
              <a:buNone/>
            </a:pPr>
            <a:r>
              <a:rPr lang="en-IN"/>
              <a:t>		printf("Stack is empty\n");</a:t>
            </a:r>
            <a:endParaRPr/>
          </a:p>
          <a:p>
            <a:pPr indent="0" lvl="0" marL="68580" rtl="0" algn="l">
              <a:spcBef>
                <a:spcPts val="336"/>
              </a:spcBef>
              <a:spcAft>
                <a:spcPts val="0"/>
              </a:spcAft>
              <a:buSzPct val="76000"/>
              <a:buNone/>
            </a:pPr>
            <a:r>
              <a:rPr lang="en-IN"/>
              <a:t>	else</a:t>
            </a:r>
            <a:endParaRPr/>
          </a:p>
          <a:p>
            <a:pPr indent="0" lvl="0" marL="68580" rtl="0" algn="l">
              <a:spcBef>
                <a:spcPts val="336"/>
              </a:spcBef>
              <a:spcAft>
                <a:spcPts val="0"/>
              </a:spcAft>
              <a:buSzPct val="76000"/>
              <a:buNone/>
            </a:pPr>
            <a:r>
              <a:rPr lang="en-IN"/>
              <a:t>	{</a:t>
            </a:r>
            <a:endParaRPr/>
          </a:p>
          <a:p>
            <a:pPr indent="0" lvl="0" marL="68580" rtl="0" algn="l">
              <a:spcBef>
                <a:spcPts val="336"/>
              </a:spcBef>
              <a:spcAft>
                <a:spcPts val="0"/>
              </a:spcAft>
              <a:buSzPct val="76000"/>
              <a:buNone/>
            </a:pPr>
            <a:r>
              <a:rPr lang="en-IN"/>
              <a:t>		printf("Stack elements :\n");</a:t>
            </a:r>
            <a:endParaRPr/>
          </a:p>
          <a:p>
            <a:pPr indent="0" lvl="0" marL="68580" rtl="0" algn="l">
              <a:spcBef>
                <a:spcPts val="336"/>
              </a:spcBef>
              <a:spcAft>
                <a:spcPts val="0"/>
              </a:spcAft>
              <a:buSzPct val="76000"/>
              <a:buNone/>
            </a:pPr>
            <a:r>
              <a:rPr lang="en-IN"/>
              <a:t>		while(ptr!= NULL)</a:t>
            </a:r>
            <a:endParaRPr/>
          </a:p>
          <a:p>
            <a:pPr indent="0" lvl="0" marL="68580" rtl="0" algn="l">
              <a:spcBef>
                <a:spcPts val="336"/>
              </a:spcBef>
              <a:spcAft>
                <a:spcPts val="0"/>
              </a:spcAft>
              <a:buSzPct val="76000"/>
              <a:buNone/>
            </a:pPr>
            <a:r>
              <a:rPr lang="en-IN"/>
              <a:t>		{</a:t>
            </a:r>
            <a:endParaRPr/>
          </a:p>
          <a:p>
            <a:pPr indent="0" lvl="0" marL="68580" rtl="0" algn="l">
              <a:spcBef>
                <a:spcPts val="336"/>
              </a:spcBef>
              <a:spcAft>
                <a:spcPts val="0"/>
              </a:spcAft>
              <a:buSzPct val="76000"/>
              <a:buNone/>
            </a:pPr>
            <a:r>
              <a:rPr lang="en-IN"/>
              <a:t>			printf("%d\n",ptr-&gt;info);</a:t>
            </a:r>
            <a:endParaRPr/>
          </a:p>
          <a:p>
            <a:pPr indent="0" lvl="0" marL="68580" rtl="0" algn="l">
              <a:spcBef>
                <a:spcPts val="336"/>
              </a:spcBef>
              <a:spcAft>
                <a:spcPts val="0"/>
              </a:spcAft>
              <a:buSzPct val="76000"/>
              <a:buNone/>
            </a:pPr>
            <a:r>
              <a:rPr lang="en-IN"/>
              <a:t>			ptr = ptr-&gt;link;</a:t>
            </a:r>
            <a:endParaRPr/>
          </a:p>
          <a:p>
            <a:pPr indent="0" lvl="0" marL="68580" rtl="0" algn="l">
              <a:spcBef>
                <a:spcPts val="336"/>
              </a:spcBef>
              <a:spcAft>
                <a:spcPts val="0"/>
              </a:spcAft>
              <a:buSzPct val="76000"/>
              <a:buNone/>
            </a:pPr>
            <a:r>
              <a:rPr lang="en-IN"/>
              <a:t>		}/*End of while */</a:t>
            </a:r>
            <a:endParaRPr/>
          </a:p>
          <a:p>
            <a:pPr indent="0" lvl="0" marL="68580" rtl="0" algn="l">
              <a:spcBef>
                <a:spcPts val="336"/>
              </a:spcBef>
              <a:spcAft>
                <a:spcPts val="0"/>
              </a:spcAft>
              <a:buSzPct val="76000"/>
              <a:buNone/>
            </a:pPr>
            <a:r>
              <a:rPr lang="en-IN"/>
              <a:t>	}/*End of else*/</a:t>
            </a:r>
            <a:endParaRPr/>
          </a:p>
          <a:p>
            <a:pPr indent="0" lvl="0" marL="68580" rtl="0" algn="l">
              <a:spcBef>
                <a:spcPts val="336"/>
              </a:spcBef>
              <a:spcAft>
                <a:spcPts val="0"/>
              </a:spcAft>
              <a:buSzPct val="76000"/>
              <a:buNone/>
            </a:pPr>
            <a:r>
              <a:rPr lang="en-IN"/>
              <a:t>}/*End of display()*/</a:t>
            </a:r>
            <a:endParaRPr/>
          </a:p>
          <a:p>
            <a:pPr indent="0" lvl="0" marL="68580" rtl="0" algn="l">
              <a:spcBef>
                <a:spcPts val="336"/>
              </a:spcBef>
              <a:spcAft>
                <a:spcPts val="0"/>
              </a:spcAft>
              <a:buSzPct val="76000"/>
              <a:buNone/>
            </a:pPr>
            <a:r>
              <a:rPr lang="en-IN"/>
              <a:t> </a:t>
            </a:r>
            <a:endParaRPr/>
          </a:p>
        </p:txBody>
      </p:sp>
      <p:sp>
        <p:nvSpPr>
          <p:cNvPr id="603" name="Google Shape;603;p3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604" name="Google Shape;604;p3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05" name="Google Shape;605;p3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4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IN"/>
              <a:t>Application of Stack</a:t>
            </a:r>
            <a:endParaRPr/>
          </a:p>
        </p:txBody>
      </p:sp>
      <p:sp>
        <p:nvSpPr>
          <p:cNvPr id="611" name="Google Shape;611;p34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  <p:sp>
        <p:nvSpPr>
          <p:cNvPr id="612" name="Google Shape;612;p34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613" name="Google Shape;613;p34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14" name="Google Shape;614;p34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5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2800"/>
              <a:t>Application of Stack –Reversal of a String</a:t>
            </a:r>
            <a:endParaRPr sz="2800"/>
          </a:p>
        </p:txBody>
      </p:sp>
      <p:sp>
        <p:nvSpPr>
          <p:cNvPr id="620" name="Google Shape;620;p35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IN"/>
              <a:t>Push each character of the string on the stack.</a:t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IN"/>
              <a:t>When whole string is pushed on the stack</a:t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IN"/>
              <a:t>Pop the characters from the stack to get the reversed string</a:t>
            </a:r>
            <a:endParaRPr/>
          </a:p>
        </p:txBody>
      </p:sp>
      <p:sp>
        <p:nvSpPr>
          <p:cNvPr id="621" name="Google Shape;621;p3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622" name="Google Shape;622;p3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23" name="Google Shape;623;p3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6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2800"/>
              <a:t>Application of Stack –Reversal of a String</a:t>
            </a:r>
            <a:endParaRPr sz="2800"/>
          </a:p>
        </p:txBody>
      </p:sp>
      <p:sp>
        <p:nvSpPr>
          <p:cNvPr id="629" name="Google Shape;629;p36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IN"/>
              <a:t>Try Writing the Code snippet for it……..</a:t>
            </a:r>
            <a:endParaRPr/>
          </a:p>
        </p:txBody>
      </p:sp>
      <p:sp>
        <p:nvSpPr>
          <p:cNvPr id="630" name="Google Shape;630;p3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631" name="Google Shape;631;p3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32" name="Google Shape;632;p3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7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Application of Stack –Polish Notation</a:t>
            </a:r>
            <a:endParaRPr sz="2800"/>
          </a:p>
        </p:txBody>
      </p:sp>
      <p:sp>
        <p:nvSpPr>
          <p:cNvPr id="638" name="Google Shape;638;p37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IN"/>
              <a:t>Polish notation (PN), also known as </a:t>
            </a:r>
            <a:endParaRPr/>
          </a:p>
          <a:p>
            <a:pPr indent="-274320" lvl="1" marL="640080" rtl="0" algn="l">
              <a:spcBef>
                <a:spcPts val="440"/>
              </a:spcBef>
              <a:spcAft>
                <a:spcPts val="0"/>
              </a:spcAft>
              <a:buSzPts val="1672"/>
              <a:buChar char="🞇"/>
            </a:pPr>
            <a:r>
              <a:rPr lang="en-IN"/>
              <a:t>normal Polish notation (NPN)</a:t>
            </a:r>
            <a:endParaRPr/>
          </a:p>
          <a:p>
            <a:pPr indent="-274320" lvl="1" marL="640080" rtl="0" algn="l">
              <a:spcBef>
                <a:spcPts val="440"/>
              </a:spcBef>
              <a:spcAft>
                <a:spcPts val="0"/>
              </a:spcAft>
              <a:buSzPts val="1672"/>
              <a:buChar char="🞇"/>
            </a:pPr>
            <a:r>
              <a:rPr lang="en-IN"/>
              <a:t>Łukasiewicz notation</a:t>
            </a:r>
            <a:endParaRPr/>
          </a:p>
          <a:p>
            <a:pPr indent="-274320" lvl="1" marL="640080" rtl="0" algn="l">
              <a:spcBef>
                <a:spcPts val="440"/>
              </a:spcBef>
              <a:spcAft>
                <a:spcPts val="0"/>
              </a:spcAft>
              <a:buSzPts val="1672"/>
              <a:buChar char="🞇"/>
            </a:pPr>
            <a:r>
              <a:rPr lang="en-IN"/>
              <a:t>Warsaw notation, </a:t>
            </a:r>
            <a:endParaRPr/>
          </a:p>
          <a:p>
            <a:pPr indent="-274320" lvl="1" marL="640080" rtl="0" algn="l">
              <a:spcBef>
                <a:spcPts val="440"/>
              </a:spcBef>
              <a:spcAft>
                <a:spcPts val="0"/>
              </a:spcAft>
              <a:buSzPts val="1672"/>
              <a:buChar char="🞇"/>
            </a:pPr>
            <a:r>
              <a:rPr lang="en-IN"/>
              <a:t>Polish prefix notation or </a:t>
            </a:r>
            <a:endParaRPr/>
          </a:p>
          <a:p>
            <a:pPr indent="-274320" lvl="1" marL="640080" rtl="0" algn="l">
              <a:spcBef>
                <a:spcPts val="440"/>
              </a:spcBef>
              <a:spcAft>
                <a:spcPts val="0"/>
              </a:spcAft>
              <a:buSzPts val="1672"/>
              <a:buChar char="🞇"/>
            </a:pPr>
            <a:r>
              <a:rPr lang="en-IN"/>
              <a:t>simply prefix notation, 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639" name="Google Shape;639;p3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640" name="Google Shape;640;p3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41" name="Google Shape;641;p3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8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Polish Notation-Prefix Notation</a:t>
            </a:r>
            <a:endParaRPr sz="2800"/>
          </a:p>
        </p:txBody>
      </p:sp>
      <p:sp>
        <p:nvSpPr>
          <p:cNvPr id="647" name="Google Shape;647;p38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Is a mathematical notation in which operators precede their operands, 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The description "Polish" refers to the nationality of logician Jan Łukasiewicz who invented Polish notation in 1924.</a:t>
            </a:r>
            <a:endParaRPr sz="2000"/>
          </a:p>
        </p:txBody>
      </p:sp>
      <p:sp>
        <p:nvSpPr>
          <p:cNvPr id="648" name="Google Shape;648;p3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649" name="Google Shape;649;p3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50" name="Google Shape;650;p3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9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Reverse Polish Notation-Postfix Notation</a:t>
            </a:r>
            <a:endParaRPr sz="2800"/>
          </a:p>
        </p:txBody>
      </p:sp>
      <p:sp>
        <p:nvSpPr>
          <p:cNvPr id="656" name="Google Shape;656;p39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Reverse Polish notation (RPN), in which operators follow their operands. 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The term Polish notation is sometimes taken (as the opposite of infix notation) to also include reverse Polish notation.</a:t>
            </a:r>
            <a:endParaRPr b="1" sz="2000"/>
          </a:p>
        </p:txBody>
      </p:sp>
      <p:sp>
        <p:nvSpPr>
          <p:cNvPr id="657" name="Google Shape;657;p3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658" name="Google Shape;658;p3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59" name="Google Shape;659;p3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0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Expression Representation</a:t>
            </a:r>
            <a:endParaRPr sz="2800"/>
          </a:p>
        </p:txBody>
      </p:sp>
      <p:sp>
        <p:nvSpPr>
          <p:cNvPr id="665" name="Google Shape;665;p40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An expression is defined as a number of operands or data items combined using several operators.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3 popular methods for representation: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Infix Notation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Prefix Notation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Postfix Notation</a:t>
            </a:r>
            <a:endParaRPr/>
          </a:p>
        </p:txBody>
      </p:sp>
      <p:sp>
        <p:nvSpPr>
          <p:cNvPr id="666" name="Google Shape;666;p4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667" name="Google Shape;667;p4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68" name="Google Shape;668;p4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1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Infix Notation</a:t>
            </a:r>
            <a:endParaRPr/>
          </a:p>
        </p:txBody>
      </p:sp>
      <p:sp>
        <p:nvSpPr>
          <p:cNvPr id="674" name="Google Shape;674;p41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Used in General Mathematics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Operator is written in between the operands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Eg- a+b, x+y*z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Called infix because of the position of the operator in expression.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>
                <a:solidFill>
                  <a:schemeClr val="accent1"/>
                </a:solidFill>
              </a:rPr>
              <a:t>Evaluation-</a:t>
            </a:r>
            <a:endParaRPr sz="2000">
              <a:solidFill>
                <a:schemeClr val="dk1"/>
              </a:solidFill>
            </a:endParaRPr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>
                <a:solidFill>
                  <a:schemeClr val="dk1"/>
                </a:solidFill>
              </a:rPr>
              <a:t>Evaluated left to right but operator precedence must be taken into consideration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>
                <a:solidFill>
                  <a:schemeClr val="dk1"/>
                </a:solidFill>
              </a:rPr>
              <a:t>Not used inside computer, due to additional complexity of handling of precedence</a:t>
            </a:r>
            <a:endParaRPr/>
          </a:p>
          <a:p>
            <a:pPr indent="-197104" lvl="1" marL="6400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 sz="1600"/>
          </a:p>
        </p:txBody>
      </p:sp>
      <p:sp>
        <p:nvSpPr>
          <p:cNvPr id="675" name="Google Shape;675;p4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676" name="Google Shape;676;p4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77" name="Google Shape;677;p4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2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Prefix Notation</a:t>
            </a:r>
            <a:endParaRPr/>
          </a:p>
        </p:txBody>
      </p:sp>
      <p:sp>
        <p:nvSpPr>
          <p:cNvPr id="683" name="Google Shape;683;p42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Operator is written before the operands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Also called Polish Notation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Eg- +ab, +x*yz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684" name="Google Shape;684;p4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685" name="Google Shape;685;p4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86" name="Google Shape;686;p4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3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Postfix Notation</a:t>
            </a:r>
            <a:endParaRPr/>
          </a:p>
        </p:txBody>
      </p:sp>
      <p:sp>
        <p:nvSpPr>
          <p:cNvPr id="692" name="Google Shape;692;p43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Operator is written after the operands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Also called Reverse Polish or Suffix Notation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Eg- ab+, xyz*+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693" name="Google Shape;693;p4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694" name="Google Shape;694;p4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95" name="Google Shape;695;p4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4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Polish Notation</a:t>
            </a:r>
            <a:endParaRPr/>
          </a:p>
        </p:txBody>
      </p:sp>
      <p:sp>
        <p:nvSpPr>
          <p:cNvPr id="701" name="Google Shape;701;p44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Prefix and Postfix are free from any precedence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Computers use postfix form </a:t>
            </a:r>
            <a:endParaRPr sz="1600"/>
          </a:p>
        </p:txBody>
      </p:sp>
      <p:sp>
        <p:nvSpPr>
          <p:cNvPr id="702" name="Google Shape;702;p4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703" name="Google Shape;703;p4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04" name="Google Shape;704;p4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5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Notation Conversion</a:t>
            </a:r>
            <a:endParaRPr sz="2800"/>
          </a:p>
        </p:txBody>
      </p:sp>
      <p:sp>
        <p:nvSpPr>
          <p:cNvPr id="710" name="Google Shape;710;p45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ct val="76000"/>
              <a:buChar char="🞇"/>
            </a:pPr>
            <a:r>
              <a:rPr b="1" lang="en-IN" sz="2000">
                <a:solidFill>
                  <a:schemeClr val="dk1"/>
                </a:solidFill>
              </a:rPr>
              <a:t>Scan the expression from left to right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b="1" lang="en-IN" sz="2000">
                <a:solidFill>
                  <a:schemeClr val="accent1"/>
                </a:solidFill>
              </a:rPr>
              <a:t>Operator Precedence-</a:t>
            </a:r>
            <a:endParaRPr/>
          </a:p>
          <a:p>
            <a:pPr indent="-274320" lvl="1" marL="640080" rtl="0" algn="l">
              <a:spcBef>
                <a:spcPts val="333"/>
              </a:spcBef>
              <a:spcAft>
                <a:spcPts val="0"/>
              </a:spcAft>
              <a:buSzPct val="76000"/>
              <a:buChar char="🞇"/>
            </a:pPr>
            <a:r>
              <a:rPr b="1" lang="en-IN" sz="1800">
                <a:solidFill>
                  <a:schemeClr val="dk1"/>
                </a:solidFill>
              </a:rPr>
              <a:t>Paranthesis evaluated first</a:t>
            </a:r>
            <a:endParaRPr/>
          </a:p>
          <a:p>
            <a:pPr indent="-274320" lvl="1" marL="640080" rtl="0" algn="l">
              <a:spcBef>
                <a:spcPts val="333"/>
              </a:spcBef>
              <a:spcAft>
                <a:spcPts val="0"/>
              </a:spcAft>
              <a:buSzPct val="76000"/>
              <a:buChar char="🞇"/>
            </a:pPr>
            <a:r>
              <a:rPr b="1" lang="en-IN" sz="1800">
                <a:solidFill>
                  <a:schemeClr val="dk1"/>
                </a:solidFill>
              </a:rPr>
              <a:t>After that evaluation is on the basis of operator precedence</a:t>
            </a:r>
            <a:endParaRPr/>
          </a:p>
          <a:p>
            <a:pPr indent="-193967" lvl="1" marL="640080" rtl="0" algn="l">
              <a:spcBef>
                <a:spcPts val="333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b="1" sz="1800">
              <a:solidFill>
                <a:schemeClr val="accent1"/>
              </a:solidFill>
            </a:endParaRPr>
          </a:p>
          <a:p>
            <a:pPr indent="-228600" lvl="3" marL="1124712" rtl="0" algn="l">
              <a:spcBef>
                <a:spcPts val="259"/>
              </a:spcBef>
              <a:spcAft>
                <a:spcPts val="0"/>
              </a:spcAft>
              <a:buSzPct val="76000"/>
              <a:buChar char="🞇"/>
            </a:pPr>
            <a:r>
              <a:rPr b="1" lang="en-IN" sz="1400">
                <a:solidFill>
                  <a:schemeClr val="dk1"/>
                </a:solidFill>
              </a:rPr>
              <a:t>Logical Not</a:t>
            </a:r>
            <a:endParaRPr/>
          </a:p>
          <a:p>
            <a:pPr indent="-228600" lvl="3" marL="1124712" rtl="0" algn="l">
              <a:spcBef>
                <a:spcPts val="259"/>
              </a:spcBef>
              <a:spcAft>
                <a:spcPts val="0"/>
              </a:spcAft>
              <a:buSzPct val="76000"/>
              <a:buChar char="🞇"/>
            </a:pPr>
            <a:r>
              <a:rPr b="1" lang="en-IN" sz="1400">
                <a:solidFill>
                  <a:schemeClr val="dk1"/>
                </a:solidFill>
              </a:rPr>
              <a:t>Exponential Operator</a:t>
            </a:r>
            <a:endParaRPr/>
          </a:p>
          <a:p>
            <a:pPr indent="-228600" lvl="3" marL="1124712" rtl="0" algn="l">
              <a:spcBef>
                <a:spcPts val="259"/>
              </a:spcBef>
              <a:spcAft>
                <a:spcPts val="0"/>
              </a:spcAft>
              <a:buSzPct val="76000"/>
              <a:buChar char="🞇"/>
            </a:pPr>
            <a:r>
              <a:rPr b="1" lang="en-IN" sz="1400">
                <a:solidFill>
                  <a:schemeClr val="dk1"/>
                </a:solidFill>
              </a:rPr>
              <a:t>Multiplication/division/modulus</a:t>
            </a:r>
            <a:endParaRPr/>
          </a:p>
          <a:p>
            <a:pPr indent="-228600" lvl="3" marL="1124712" rtl="0" algn="l">
              <a:spcBef>
                <a:spcPts val="259"/>
              </a:spcBef>
              <a:spcAft>
                <a:spcPts val="0"/>
              </a:spcAft>
              <a:buSzPct val="76000"/>
              <a:buChar char="🞇"/>
            </a:pPr>
            <a:r>
              <a:rPr b="1" lang="en-IN" sz="1400">
                <a:solidFill>
                  <a:schemeClr val="dk1"/>
                </a:solidFill>
              </a:rPr>
              <a:t>Addition/Subtraction</a:t>
            </a:r>
            <a:endParaRPr/>
          </a:p>
          <a:p>
            <a:pPr indent="-228600" lvl="3" marL="1124712" rtl="0" algn="l">
              <a:spcBef>
                <a:spcPts val="259"/>
              </a:spcBef>
              <a:spcAft>
                <a:spcPts val="0"/>
              </a:spcAft>
              <a:buSzPct val="76000"/>
              <a:buChar char="🞇"/>
            </a:pPr>
            <a:r>
              <a:rPr b="1" lang="en-IN" sz="1400">
                <a:solidFill>
                  <a:schemeClr val="dk1"/>
                </a:solidFill>
              </a:rPr>
              <a:t>Left shift,Right Shift</a:t>
            </a:r>
            <a:endParaRPr/>
          </a:p>
          <a:p>
            <a:pPr indent="-228600" lvl="3" marL="1124712" rtl="0" algn="l">
              <a:spcBef>
                <a:spcPts val="259"/>
              </a:spcBef>
              <a:spcAft>
                <a:spcPts val="0"/>
              </a:spcAft>
              <a:buSzPct val="76000"/>
              <a:buChar char="🞇"/>
            </a:pPr>
            <a:r>
              <a:rPr b="1" lang="en-IN" sz="1400">
                <a:solidFill>
                  <a:schemeClr val="dk1"/>
                </a:solidFill>
              </a:rPr>
              <a:t>Relational</a:t>
            </a:r>
            <a:endParaRPr/>
          </a:p>
          <a:p>
            <a:pPr indent="-228600" lvl="3" marL="1124712" rtl="0" algn="l">
              <a:spcBef>
                <a:spcPts val="259"/>
              </a:spcBef>
              <a:spcAft>
                <a:spcPts val="0"/>
              </a:spcAft>
              <a:buSzPct val="76000"/>
              <a:buChar char="🞇"/>
            </a:pPr>
            <a:r>
              <a:rPr b="1" lang="en-IN" sz="1400">
                <a:solidFill>
                  <a:schemeClr val="dk1"/>
                </a:solidFill>
              </a:rPr>
              <a:t>Logical And</a:t>
            </a:r>
            <a:endParaRPr/>
          </a:p>
          <a:p>
            <a:pPr indent="-228600" lvl="3" marL="1124712" rtl="0" algn="l">
              <a:spcBef>
                <a:spcPts val="259"/>
              </a:spcBef>
              <a:spcAft>
                <a:spcPts val="0"/>
              </a:spcAft>
              <a:buSzPct val="76000"/>
              <a:buChar char="🞇"/>
            </a:pPr>
            <a:r>
              <a:rPr b="1" lang="en-IN" sz="1400">
                <a:solidFill>
                  <a:schemeClr val="dk1"/>
                </a:solidFill>
              </a:rPr>
              <a:t>Logical Or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711" name="Google Shape;711;p45"/>
          <p:cNvSpPr/>
          <p:nvPr/>
        </p:nvSpPr>
        <p:spPr>
          <a:xfrm>
            <a:off x="5796136" y="3284984"/>
            <a:ext cx="432048" cy="201622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2" name="Google Shape;712;p4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713" name="Google Shape;713;p4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14" name="Google Shape;714;p4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6"/>
          <p:cNvSpPr txBox="1"/>
          <p:nvPr>
            <p:ph type="title"/>
          </p:nvPr>
        </p:nvSpPr>
        <p:spPr>
          <a:xfrm>
            <a:off x="467544" y="260648"/>
            <a:ext cx="7024744" cy="3851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entury Gothic"/>
              <a:buNone/>
            </a:pPr>
            <a:r>
              <a:rPr b="1" lang="en-IN" sz="1800"/>
              <a:t>Operator Precedence Table              </a:t>
            </a:r>
            <a:endParaRPr sz="1800"/>
          </a:p>
        </p:txBody>
      </p:sp>
      <p:pic>
        <p:nvPicPr>
          <p:cNvPr id="720" name="Google Shape;720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5383" l="31611" r="30243" t="7568"/>
          <a:stretch/>
        </p:blipFill>
        <p:spPr>
          <a:xfrm>
            <a:off x="467550" y="640699"/>
            <a:ext cx="8208900" cy="386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46"/>
          <p:cNvPicPr preferRelativeResize="0"/>
          <p:nvPr/>
        </p:nvPicPr>
        <p:blipFill rotWithShape="1">
          <a:blip r:embed="rId4">
            <a:alphaModFix/>
          </a:blip>
          <a:srcRect b="16197" l="33283" r="29786" t="36342"/>
          <a:stretch/>
        </p:blipFill>
        <p:spPr>
          <a:xfrm>
            <a:off x="827575" y="4508299"/>
            <a:ext cx="7848875" cy="204874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4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723" name="Google Shape;723;p4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24" name="Google Shape;724;p4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7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Manual Conversion -Infix to Postfix</a:t>
            </a:r>
            <a:endParaRPr sz="2800"/>
          </a:p>
        </p:txBody>
      </p:sp>
      <p:sp>
        <p:nvSpPr>
          <p:cNvPr id="730" name="Google Shape;730;p47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IN"/>
              <a:t>A+ B * C 		Given infix form</a:t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IN">
                <a:solidFill>
                  <a:schemeClr val="dk1"/>
                </a:solidFill>
              </a:rPr>
              <a:t>Left to right scan, Brackets first then Operator Precedence</a:t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IN"/>
              <a:t>A + </a:t>
            </a:r>
            <a:r>
              <a:rPr lang="en-IN" u="sng"/>
              <a:t>B C * </a:t>
            </a:r>
            <a:r>
              <a:rPr lang="en-IN"/>
              <a:t>		Convert the multiplication</a:t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IN"/>
              <a:t>A B C * + 		Convert the addition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1" name="Google Shape;731;p4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732" name="Google Shape;732;p4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33" name="Google Shape;733;p4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8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Manual Conversion -Infix to Postfix</a:t>
            </a:r>
            <a:endParaRPr sz="2800"/>
          </a:p>
        </p:txBody>
      </p:sp>
      <p:sp>
        <p:nvSpPr>
          <p:cNvPr id="739" name="Google Shape;739;p48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IN">
                <a:solidFill>
                  <a:schemeClr val="dk1"/>
                </a:solidFill>
              </a:rPr>
              <a:t>A+[(B+C)+(D+E)*F]/G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40" name="Google Shape;740;p4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741" name="Google Shape;741;p4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42" name="Google Shape;742;p4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9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Manual Conversion -Infix to Postfix</a:t>
            </a:r>
            <a:endParaRPr sz="2800"/>
          </a:p>
        </p:txBody>
      </p:sp>
      <p:sp>
        <p:nvSpPr>
          <p:cNvPr id="748" name="Google Shape;748;p49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ct val="76000"/>
              <a:buChar char="🞇"/>
            </a:pPr>
            <a:r>
              <a:rPr lang="en-IN">
                <a:solidFill>
                  <a:schemeClr val="dk1"/>
                </a:solidFill>
              </a:rPr>
              <a:t>A+[(B+C)+(D+E)*F]/G</a:t>
            </a:r>
            <a:endParaRPr/>
          </a:p>
          <a:p>
            <a:pPr indent="-274319" lvl="0" marL="342900" rtl="0" algn="l">
              <a:spcBef>
                <a:spcPts val="444"/>
              </a:spcBef>
              <a:spcAft>
                <a:spcPts val="0"/>
              </a:spcAft>
              <a:buSzPct val="76000"/>
              <a:buChar char="🞇"/>
            </a:pPr>
            <a:r>
              <a:rPr lang="en-IN">
                <a:solidFill>
                  <a:schemeClr val="dk1"/>
                </a:solidFill>
              </a:rPr>
              <a:t>Left to right scan, Brackets first then Operator Precedence</a:t>
            </a:r>
            <a:endParaRPr/>
          </a:p>
          <a:p>
            <a:pPr indent="-274319" lvl="0" marL="342900" rtl="0" algn="l">
              <a:spcBef>
                <a:spcPts val="444"/>
              </a:spcBef>
              <a:spcAft>
                <a:spcPts val="0"/>
              </a:spcAft>
              <a:buSzPct val="76000"/>
              <a:buChar char="🞇"/>
            </a:pPr>
            <a:r>
              <a:rPr lang="en-IN">
                <a:solidFill>
                  <a:schemeClr val="dk1"/>
                </a:solidFill>
              </a:rPr>
              <a:t>A+[(</a:t>
            </a:r>
            <a:r>
              <a:rPr lang="en-IN" u="sng">
                <a:solidFill>
                  <a:schemeClr val="dk1"/>
                </a:solidFill>
              </a:rPr>
              <a:t>BC+</a:t>
            </a:r>
            <a:r>
              <a:rPr lang="en-IN">
                <a:solidFill>
                  <a:schemeClr val="dk1"/>
                </a:solidFill>
              </a:rPr>
              <a:t>)+(D+E)*F]/G</a:t>
            </a:r>
            <a:endParaRPr/>
          </a:p>
          <a:p>
            <a:pPr indent="-274319" lvl="0" marL="342900" rtl="0" algn="l">
              <a:spcBef>
                <a:spcPts val="444"/>
              </a:spcBef>
              <a:spcAft>
                <a:spcPts val="0"/>
              </a:spcAft>
              <a:buSzPct val="76000"/>
              <a:buChar char="🞇"/>
            </a:pPr>
            <a:r>
              <a:rPr lang="en-IN">
                <a:solidFill>
                  <a:schemeClr val="dk1"/>
                </a:solidFill>
              </a:rPr>
              <a:t>A+[(</a:t>
            </a:r>
            <a:r>
              <a:rPr lang="en-IN" u="sng">
                <a:solidFill>
                  <a:schemeClr val="dk1"/>
                </a:solidFill>
              </a:rPr>
              <a:t>BC+</a:t>
            </a:r>
            <a:r>
              <a:rPr lang="en-IN">
                <a:solidFill>
                  <a:schemeClr val="dk1"/>
                </a:solidFill>
              </a:rPr>
              <a:t>)+(</a:t>
            </a:r>
            <a:r>
              <a:rPr lang="en-IN" u="sng">
                <a:solidFill>
                  <a:schemeClr val="dk1"/>
                </a:solidFill>
              </a:rPr>
              <a:t>DE+</a:t>
            </a:r>
            <a:r>
              <a:rPr lang="en-IN">
                <a:solidFill>
                  <a:schemeClr val="dk1"/>
                </a:solidFill>
              </a:rPr>
              <a:t>)*F]/G</a:t>
            </a:r>
            <a:endParaRPr/>
          </a:p>
          <a:p>
            <a:pPr indent="-274319" lvl="0" marL="342900" rtl="0" algn="l">
              <a:spcBef>
                <a:spcPts val="444"/>
              </a:spcBef>
              <a:spcAft>
                <a:spcPts val="0"/>
              </a:spcAft>
              <a:buSzPct val="76000"/>
              <a:buChar char="🞇"/>
            </a:pPr>
            <a:r>
              <a:rPr lang="en-IN">
                <a:solidFill>
                  <a:schemeClr val="dk1"/>
                </a:solidFill>
              </a:rPr>
              <a:t>A+[(</a:t>
            </a:r>
            <a:r>
              <a:rPr lang="en-IN" u="sng">
                <a:solidFill>
                  <a:schemeClr val="dk1"/>
                </a:solidFill>
              </a:rPr>
              <a:t>BC+</a:t>
            </a:r>
            <a:r>
              <a:rPr lang="en-IN">
                <a:solidFill>
                  <a:schemeClr val="dk1"/>
                </a:solidFill>
              </a:rPr>
              <a:t>)+(</a:t>
            </a:r>
            <a:r>
              <a:rPr lang="en-IN" u="sng">
                <a:solidFill>
                  <a:schemeClr val="dk1"/>
                </a:solidFill>
              </a:rPr>
              <a:t>DE+</a:t>
            </a:r>
            <a:r>
              <a:rPr lang="en-IN">
                <a:solidFill>
                  <a:schemeClr val="dk1"/>
                </a:solidFill>
              </a:rPr>
              <a:t>)F*]/G</a:t>
            </a:r>
            <a:endParaRPr/>
          </a:p>
          <a:p>
            <a:pPr indent="-274319" lvl="0" marL="342900" rtl="0" algn="l">
              <a:spcBef>
                <a:spcPts val="444"/>
              </a:spcBef>
              <a:spcAft>
                <a:spcPts val="0"/>
              </a:spcAft>
              <a:buSzPct val="76000"/>
              <a:buChar char="🞇"/>
            </a:pPr>
            <a:r>
              <a:rPr lang="en-IN">
                <a:solidFill>
                  <a:schemeClr val="dk1"/>
                </a:solidFill>
              </a:rPr>
              <a:t>A+[(BC+)(DE+)F*+]/G</a:t>
            </a:r>
            <a:endParaRPr/>
          </a:p>
          <a:p>
            <a:pPr indent="-274319" lvl="0" marL="342900" rtl="0" algn="l">
              <a:spcBef>
                <a:spcPts val="444"/>
              </a:spcBef>
              <a:spcAft>
                <a:spcPts val="0"/>
              </a:spcAft>
              <a:buSzPct val="76000"/>
              <a:buChar char="🞇"/>
            </a:pPr>
            <a:r>
              <a:rPr lang="en-IN">
                <a:solidFill>
                  <a:schemeClr val="dk1"/>
                </a:solidFill>
              </a:rPr>
              <a:t>A+[(BC+)(DE+)F*+]G/</a:t>
            </a:r>
            <a:endParaRPr>
              <a:solidFill>
                <a:schemeClr val="dk1"/>
              </a:solidFill>
            </a:endParaRPr>
          </a:p>
          <a:p>
            <a:pPr indent="-274319" lvl="0" marL="342900" rtl="0" algn="l">
              <a:spcBef>
                <a:spcPts val="444"/>
              </a:spcBef>
              <a:spcAft>
                <a:spcPts val="0"/>
              </a:spcAft>
              <a:buSzPct val="76000"/>
              <a:buChar char="🞇"/>
            </a:pPr>
            <a:r>
              <a:rPr lang="en-IN">
                <a:solidFill>
                  <a:schemeClr val="dk1"/>
                </a:solidFill>
              </a:rPr>
              <a:t>A[(BC+)(DE+)F*+]G/+</a:t>
            </a:r>
            <a:endParaRPr>
              <a:solidFill>
                <a:schemeClr val="dk1"/>
              </a:solidFill>
            </a:endParaRPr>
          </a:p>
          <a:p>
            <a:pPr indent="-274319" lvl="0" marL="342900" rtl="0" algn="l">
              <a:spcBef>
                <a:spcPts val="444"/>
              </a:spcBef>
              <a:spcAft>
                <a:spcPts val="0"/>
              </a:spcAft>
              <a:buSzPct val="76000"/>
              <a:buChar char="🞇"/>
            </a:pPr>
            <a:r>
              <a:rPr lang="en-IN">
                <a:solidFill>
                  <a:schemeClr val="dk1"/>
                </a:solidFill>
              </a:rPr>
              <a:t>ABC+DE+F*+G/+</a:t>
            </a:r>
            <a:endParaRPr/>
          </a:p>
          <a:p>
            <a:pPr indent="-167182" lvl="0" marL="342900" rtl="0" algn="l">
              <a:spcBef>
                <a:spcPts val="444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67182" lvl="0" marL="342900" rtl="0" algn="l">
              <a:spcBef>
                <a:spcPts val="444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68580" rtl="0" algn="l">
              <a:spcBef>
                <a:spcPts val="444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67182" lvl="0" marL="342900" rtl="0" algn="l">
              <a:spcBef>
                <a:spcPts val="444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49" name="Google Shape;749;p4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750" name="Google Shape;750;p4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51" name="Google Shape;751;p4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0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Manual Conversion -Infix to Postfix</a:t>
            </a:r>
            <a:endParaRPr sz="2800"/>
          </a:p>
        </p:txBody>
      </p:sp>
      <p:sp>
        <p:nvSpPr>
          <p:cNvPr id="757" name="Google Shape;757;p50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>
                <a:solidFill>
                  <a:schemeClr val="dk1"/>
                </a:solidFill>
              </a:rPr>
              <a:t>Convert the following expressions from Infix to Postfix;</a:t>
            </a:r>
            <a:endParaRPr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/>
              <a:t>A + B + C + D</a:t>
            </a:r>
            <a:endParaRPr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/>
              <a:t> (A + B) / (C – D) </a:t>
            </a:r>
            <a:endParaRPr b="1" sz="1800"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>
                <a:solidFill>
                  <a:schemeClr val="dk1"/>
                </a:solidFill>
              </a:rPr>
              <a:t>(A + B) * C - (D - E) * (F + G)</a:t>
            </a:r>
            <a:endParaRPr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>
                <a:solidFill>
                  <a:schemeClr val="dk1"/>
                </a:solidFill>
              </a:rPr>
              <a:t> </a:t>
            </a:r>
            <a:r>
              <a:rPr b="1" lang="en-IN" sz="1800"/>
              <a:t>( (A+B) — C * (D/E ) ) + F</a:t>
            </a:r>
            <a:endParaRPr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/>
              <a:t> </a:t>
            </a:r>
            <a:r>
              <a:rPr b="1" lang="en-IN" sz="1800">
                <a:solidFill>
                  <a:schemeClr val="dk1"/>
                </a:solidFill>
              </a:rPr>
              <a:t>( (A + B) * (C– D) + E ) / (F + G)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58" name="Google Shape;758;p5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759" name="Google Shape;759;p5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60" name="Google Shape;760;p5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1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Manual Conversion -Infix to Postfix</a:t>
            </a:r>
            <a:endParaRPr sz="2800"/>
          </a:p>
        </p:txBody>
      </p:sp>
      <p:sp>
        <p:nvSpPr>
          <p:cNvPr id="766" name="Google Shape;766;p51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>
                <a:solidFill>
                  <a:schemeClr val="dk1"/>
                </a:solidFill>
              </a:rPr>
              <a:t>Convert the following expressions from Infix to Postfix;</a:t>
            </a:r>
            <a:endParaRPr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/>
              <a:t>A + B + C + D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=</a:t>
            </a:r>
            <a:r>
              <a:rPr b="1" lang="en-IN" sz="1800" u="sng"/>
              <a:t>AB+ </a:t>
            </a:r>
            <a:r>
              <a:rPr b="1" lang="en-IN" sz="1800"/>
              <a:t>+C +D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=</a:t>
            </a:r>
            <a:r>
              <a:rPr b="1" lang="en-IN" sz="1800" u="sng"/>
              <a:t>AB+C+</a:t>
            </a:r>
            <a:r>
              <a:rPr b="1" lang="en-IN" sz="1800"/>
              <a:t> +D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=AB+C+D+</a:t>
            </a:r>
            <a:endParaRPr/>
          </a:p>
        </p:txBody>
      </p:sp>
      <p:sp>
        <p:nvSpPr>
          <p:cNvPr id="767" name="Google Shape;767;p5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768" name="Google Shape;768;p5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69" name="Google Shape;769;p5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2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Manual Conversion -Infix to Postfix</a:t>
            </a:r>
            <a:endParaRPr sz="2800"/>
          </a:p>
        </p:txBody>
      </p:sp>
      <p:sp>
        <p:nvSpPr>
          <p:cNvPr id="775" name="Google Shape;775;p52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>
                <a:solidFill>
                  <a:schemeClr val="dk1"/>
                </a:solidFill>
              </a:rPr>
              <a:t>Convert the following expressions from Infix to Postfix;</a:t>
            </a:r>
            <a:endParaRPr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/>
              <a:t>A + B + C + D=A B + C + D +</a:t>
            </a:r>
            <a:endParaRPr b="1" sz="1800"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/>
              <a:t>(A + B) / (C – D) =A B + C D - /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76" name="Google Shape;776;p5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777" name="Google Shape;777;p5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78" name="Google Shape;778;p5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3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Manual Conversion -Infix to Postfix</a:t>
            </a:r>
            <a:endParaRPr sz="2800"/>
          </a:p>
        </p:txBody>
      </p:sp>
      <p:sp>
        <p:nvSpPr>
          <p:cNvPr id="784" name="Google Shape;784;p53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>
                <a:solidFill>
                  <a:schemeClr val="dk1"/>
                </a:solidFill>
              </a:rPr>
              <a:t>Convert the following expressions from Infix to Postfix;</a:t>
            </a:r>
            <a:endParaRPr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/>
              <a:t>A + B + C + D=A B + C + D +</a:t>
            </a:r>
            <a:endParaRPr b="1" sz="1800"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/>
              <a:t>(A + B) / (C – D) =A B + C D - /</a:t>
            </a:r>
            <a:endParaRPr b="1" sz="1800">
              <a:solidFill>
                <a:schemeClr val="dk1"/>
              </a:solidFill>
            </a:endParaRPr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>
                <a:solidFill>
                  <a:schemeClr val="dk1"/>
                </a:solidFill>
              </a:rPr>
              <a:t>(A + B) * C - (D - E) * (F + G)=AB+C*DE-FG+*-</a:t>
            </a:r>
            <a:endParaRPr/>
          </a:p>
        </p:txBody>
      </p:sp>
      <p:sp>
        <p:nvSpPr>
          <p:cNvPr id="785" name="Google Shape;785;p5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786" name="Google Shape;786;p5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87" name="Google Shape;787;p5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54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Manual Conversion -Infix to Postfix</a:t>
            </a:r>
            <a:endParaRPr sz="2800"/>
          </a:p>
        </p:txBody>
      </p:sp>
      <p:sp>
        <p:nvSpPr>
          <p:cNvPr id="793" name="Google Shape;793;p54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>
                <a:solidFill>
                  <a:schemeClr val="dk1"/>
                </a:solidFill>
              </a:rPr>
              <a:t>Convert the following expressions from Infix to Postfix;</a:t>
            </a:r>
            <a:endParaRPr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/>
              <a:t>A + B + C + D=A B + C + D +</a:t>
            </a:r>
            <a:endParaRPr b="1" sz="1800"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/>
              <a:t>(A + B) / (C – D) =A B + C D - /</a:t>
            </a:r>
            <a:endParaRPr b="1" sz="1800">
              <a:solidFill>
                <a:schemeClr val="dk1"/>
              </a:solidFill>
            </a:endParaRPr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>
                <a:solidFill>
                  <a:schemeClr val="dk1"/>
                </a:solidFill>
              </a:rPr>
              <a:t>(A + B) * C - (D - E) * (F + G)=AB+C*DE-FG+*-</a:t>
            </a:r>
            <a:endParaRPr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/>
              <a:t>( (A+B) — C * (D/E ) ) + F=A B + C D E / * - F +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94" name="Google Shape;794;p5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795" name="Google Shape;795;p5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96" name="Google Shape;796;p5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55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Manual Conversion -Infix to Postfix</a:t>
            </a:r>
            <a:endParaRPr sz="2800"/>
          </a:p>
        </p:txBody>
      </p:sp>
      <p:sp>
        <p:nvSpPr>
          <p:cNvPr id="802" name="Google Shape;802;p55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>
                <a:solidFill>
                  <a:schemeClr val="dk1"/>
                </a:solidFill>
              </a:rPr>
              <a:t>Convert the following expressions from Infix to Postfix;</a:t>
            </a:r>
            <a:endParaRPr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/>
              <a:t>A + B + C + D=A B + C + D +</a:t>
            </a:r>
            <a:endParaRPr b="1" sz="1800"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/>
              <a:t>(A + B) / (C – D) =A B + C D - /</a:t>
            </a:r>
            <a:endParaRPr b="1" sz="1800">
              <a:solidFill>
                <a:schemeClr val="dk1"/>
              </a:solidFill>
            </a:endParaRPr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>
                <a:solidFill>
                  <a:schemeClr val="dk1"/>
                </a:solidFill>
              </a:rPr>
              <a:t>(A + B) * C - (D - E) * (F + G)=AB+C*DE-FG+*-</a:t>
            </a:r>
            <a:endParaRPr/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/>
              <a:t>( (A+B) — C * (D/E ) ) + F=A B + C D E / * - F +</a:t>
            </a:r>
            <a:endParaRPr b="1" sz="1800">
              <a:solidFill>
                <a:schemeClr val="dk1"/>
              </a:solidFill>
            </a:endParaRPr>
          </a:p>
          <a:p>
            <a:pPr indent="-457200" lvl="0" marL="525780" rtl="0" algn="l">
              <a:spcBef>
                <a:spcPts val="360"/>
              </a:spcBef>
              <a:spcAft>
                <a:spcPts val="0"/>
              </a:spcAft>
              <a:buSzPts val="1368"/>
              <a:buFont typeface="Century Gothic"/>
              <a:buAutoNum type="arabicParenR"/>
            </a:pPr>
            <a:r>
              <a:rPr b="1" lang="en-IN" sz="1800">
                <a:solidFill>
                  <a:schemeClr val="dk1"/>
                </a:solidFill>
              </a:rPr>
              <a:t>( (A + B) * (C– D) + E ) / (F + G)=</a:t>
            </a:r>
            <a:r>
              <a:rPr b="1" lang="en-IN" sz="1800"/>
              <a:t>A B + C D - * E + F G + /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803" name="Google Shape;803;p5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804" name="Google Shape;804;p5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05" name="Google Shape;805;p5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6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Manual Conversion -Infix to Prefix</a:t>
            </a:r>
            <a:endParaRPr sz="2800"/>
          </a:p>
        </p:txBody>
      </p:sp>
      <p:sp>
        <p:nvSpPr>
          <p:cNvPr id="811" name="Google Shape;811;p56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>
                <a:solidFill>
                  <a:schemeClr val="dk1"/>
                </a:solidFill>
              </a:rPr>
              <a:t>A/B^C+D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2" name="Google Shape;812;p5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813" name="Google Shape;813;p5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14" name="Google Shape;814;p5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57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Manual Conversion -Infix to Prefix</a:t>
            </a:r>
            <a:endParaRPr sz="2800"/>
          </a:p>
        </p:txBody>
      </p:sp>
      <p:sp>
        <p:nvSpPr>
          <p:cNvPr id="820" name="Google Shape;820;p57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>
                <a:solidFill>
                  <a:schemeClr val="dk1"/>
                </a:solidFill>
              </a:rPr>
              <a:t>A/B^C+D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>
                <a:solidFill>
                  <a:schemeClr val="dk1"/>
                </a:solidFill>
              </a:rPr>
              <a:t>Left to right scan, Brackets fist then Operator Precedence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>
                <a:solidFill>
                  <a:schemeClr val="dk1"/>
                </a:solidFill>
              </a:rPr>
              <a:t>A/^BC+D</a:t>
            </a:r>
            <a:endParaRPr sz="2000">
              <a:solidFill>
                <a:schemeClr val="dk1"/>
              </a:solidFill>
            </a:endParaRPr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 u="sng">
                <a:solidFill>
                  <a:schemeClr val="dk1"/>
                </a:solidFill>
              </a:rPr>
              <a:t>/A^BC</a:t>
            </a:r>
            <a:r>
              <a:rPr lang="en-IN" sz="2000">
                <a:solidFill>
                  <a:schemeClr val="dk1"/>
                </a:solidFill>
              </a:rPr>
              <a:t>+D</a:t>
            </a:r>
            <a:endParaRPr sz="2000">
              <a:solidFill>
                <a:schemeClr val="dk1"/>
              </a:solidFill>
            </a:endParaRPr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>
                <a:solidFill>
                  <a:schemeClr val="dk1"/>
                </a:solidFill>
              </a:rPr>
              <a:t>+/A^BCD</a:t>
            </a:r>
            <a:endParaRPr sz="2000">
              <a:solidFill>
                <a:schemeClr val="dk1"/>
              </a:solidFill>
            </a:endParaRPr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1" name="Google Shape;821;p5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822" name="Google Shape;822;p5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23" name="Google Shape;823;p5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8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Manual Conversion -Infix to Prefix</a:t>
            </a:r>
            <a:endParaRPr sz="2800"/>
          </a:p>
        </p:txBody>
      </p:sp>
      <p:sp>
        <p:nvSpPr>
          <p:cNvPr id="829" name="Google Shape;829;p58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>
                <a:solidFill>
                  <a:schemeClr val="dk1"/>
                </a:solidFill>
              </a:rPr>
              <a:t>Convert the following expressions from Infix to Prefix;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IN" sz="2000">
                <a:solidFill>
                  <a:schemeClr val="dk1"/>
                </a:solidFill>
              </a:rPr>
              <a:t>(P*Q^R+S)</a:t>
            </a:r>
            <a:endParaRPr/>
          </a:p>
          <a:p>
            <a:pPr indent="-457200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AutoNum type="arabicParenR"/>
            </a:pPr>
            <a:r>
              <a:rPr b="1" lang="en-IN">
                <a:solidFill>
                  <a:schemeClr val="dk1"/>
                </a:solidFill>
              </a:rPr>
              <a:t>(A-B/C)*(D*E-F)</a:t>
            </a:r>
            <a:endParaRPr/>
          </a:p>
          <a:p>
            <a:pPr indent="-457200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AutoNum type="arabicParenR"/>
            </a:pPr>
            <a:r>
              <a:rPr b="1" lang="en-IN">
                <a:solidFill>
                  <a:schemeClr val="dk1"/>
                </a:solidFill>
              </a:rPr>
              <a:t>(A*B+(C/D))-F</a:t>
            </a:r>
            <a:endParaRPr/>
          </a:p>
          <a:p>
            <a:pPr indent="-457200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AutoNum type="arabicParenR"/>
            </a:pPr>
            <a:r>
              <a:rPr b="1" lang="en-IN">
                <a:solidFill>
                  <a:schemeClr val="dk1"/>
                </a:solidFill>
              </a:rPr>
              <a:t>A+B*C-(D/E^F)*G*H</a:t>
            </a:r>
            <a:endParaRPr/>
          </a:p>
          <a:p>
            <a:pPr indent="-457200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AutoNum type="arabicParenR"/>
            </a:pPr>
            <a:r>
              <a:rPr b="1" lang="en-IN">
                <a:solidFill>
                  <a:schemeClr val="dk1"/>
                </a:solidFill>
              </a:rPr>
              <a:t>(A+B)*C/D+E^F/G</a:t>
            </a:r>
            <a:endParaRPr/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0" name="Google Shape;830;p5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831" name="Google Shape;831;p5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32" name="Google Shape;832;p5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59"/>
          <p:cNvSpPr txBox="1"/>
          <p:nvPr>
            <p:ph type="title"/>
          </p:nvPr>
        </p:nvSpPr>
        <p:spPr>
          <a:xfrm>
            <a:off x="827584" y="404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Manual Conversion -Infix to Prefix</a:t>
            </a:r>
            <a:endParaRPr sz="2800"/>
          </a:p>
        </p:txBody>
      </p:sp>
      <p:sp>
        <p:nvSpPr>
          <p:cNvPr id="838" name="Google Shape;838;p59"/>
          <p:cNvSpPr txBox="1"/>
          <p:nvPr>
            <p:ph idx="1" type="body"/>
          </p:nvPr>
        </p:nvSpPr>
        <p:spPr>
          <a:xfrm>
            <a:off x="1043492" y="1556793"/>
            <a:ext cx="6777317" cy="4752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>
                <a:solidFill>
                  <a:schemeClr val="dk1"/>
                </a:solidFill>
              </a:rPr>
              <a:t>Convert the following expressions from Infix to Prefix;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IN" sz="2000">
                <a:solidFill>
                  <a:schemeClr val="dk1"/>
                </a:solidFill>
              </a:rPr>
              <a:t>(P*Q^R+S)=+*P^QRS</a:t>
            </a:r>
            <a:endParaRPr/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9" name="Google Shape;839;p5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840" name="Google Shape;840;p5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41" name="Google Shape;841;p5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60"/>
          <p:cNvSpPr txBox="1"/>
          <p:nvPr>
            <p:ph type="title"/>
          </p:nvPr>
        </p:nvSpPr>
        <p:spPr>
          <a:xfrm>
            <a:off x="827584" y="404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Manual Conversion -Infix to Prefix</a:t>
            </a:r>
            <a:endParaRPr sz="2800"/>
          </a:p>
        </p:txBody>
      </p:sp>
      <p:sp>
        <p:nvSpPr>
          <p:cNvPr id="847" name="Google Shape;847;p60"/>
          <p:cNvSpPr txBox="1"/>
          <p:nvPr>
            <p:ph idx="1" type="body"/>
          </p:nvPr>
        </p:nvSpPr>
        <p:spPr>
          <a:xfrm>
            <a:off x="1043492" y="1556793"/>
            <a:ext cx="6777317" cy="4752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>
                <a:solidFill>
                  <a:schemeClr val="dk1"/>
                </a:solidFill>
              </a:rPr>
              <a:t>Convert the following expressions from Infix to Prefix;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IN" sz="2000">
                <a:solidFill>
                  <a:schemeClr val="dk1"/>
                </a:solidFill>
              </a:rPr>
              <a:t>(P*Q^R+S)=+*P^QRS</a:t>
            </a:r>
            <a:endParaRPr/>
          </a:p>
          <a:p>
            <a:pPr indent="-457200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AutoNum type="arabicParenR"/>
            </a:pPr>
            <a:r>
              <a:rPr b="1" lang="en-IN">
                <a:solidFill>
                  <a:schemeClr val="dk1"/>
                </a:solidFill>
              </a:rPr>
              <a:t>(A-B/C)*(D*E-F)=*(-A/BC)(-*DEF)</a:t>
            </a:r>
            <a:endParaRPr/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8" name="Google Shape;848;p6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849" name="Google Shape;849;p6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50" name="Google Shape;850;p6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61"/>
          <p:cNvSpPr txBox="1"/>
          <p:nvPr>
            <p:ph type="title"/>
          </p:nvPr>
        </p:nvSpPr>
        <p:spPr>
          <a:xfrm>
            <a:off x="827584" y="404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Manual Conversion -Infix to Prefix</a:t>
            </a:r>
            <a:endParaRPr sz="2800"/>
          </a:p>
        </p:txBody>
      </p:sp>
      <p:sp>
        <p:nvSpPr>
          <p:cNvPr id="856" name="Google Shape;856;p61"/>
          <p:cNvSpPr txBox="1"/>
          <p:nvPr>
            <p:ph idx="1" type="body"/>
          </p:nvPr>
        </p:nvSpPr>
        <p:spPr>
          <a:xfrm>
            <a:off x="1043492" y="1556793"/>
            <a:ext cx="6777317" cy="4752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>
                <a:solidFill>
                  <a:schemeClr val="dk1"/>
                </a:solidFill>
              </a:rPr>
              <a:t>Convert the following expressions from Infix to Prefix;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IN" sz="2000">
                <a:solidFill>
                  <a:schemeClr val="dk1"/>
                </a:solidFill>
              </a:rPr>
              <a:t>(P*Q^R+S)=+*P^QRS</a:t>
            </a:r>
            <a:endParaRPr/>
          </a:p>
          <a:p>
            <a:pPr indent="-457200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AutoNum type="arabicParenR"/>
            </a:pPr>
            <a:r>
              <a:rPr b="1" lang="en-IN">
                <a:solidFill>
                  <a:schemeClr val="dk1"/>
                </a:solidFill>
              </a:rPr>
              <a:t>(A-B/C)*(D*E-F)=*(-A/BC)(-*DEF)</a:t>
            </a:r>
            <a:endParaRPr/>
          </a:p>
          <a:p>
            <a:pPr indent="-457200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AutoNum type="arabicParenR"/>
            </a:pPr>
            <a:r>
              <a:rPr b="1" lang="en-IN">
                <a:solidFill>
                  <a:schemeClr val="dk1"/>
                </a:solidFill>
              </a:rPr>
              <a:t>(A*B+(C/D))-F=-+*AB/CDF</a:t>
            </a:r>
            <a:endParaRPr/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57" name="Google Shape;857;p6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858" name="Google Shape;858;p6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59" name="Google Shape;859;p6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62"/>
          <p:cNvSpPr txBox="1"/>
          <p:nvPr>
            <p:ph type="title"/>
          </p:nvPr>
        </p:nvSpPr>
        <p:spPr>
          <a:xfrm>
            <a:off x="827584" y="404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Manual Conversion -Infix to Prefix</a:t>
            </a:r>
            <a:endParaRPr sz="2800"/>
          </a:p>
        </p:txBody>
      </p:sp>
      <p:sp>
        <p:nvSpPr>
          <p:cNvPr id="865" name="Google Shape;865;p62"/>
          <p:cNvSpPr txBox="1"/>
          <p:nvPr>
            <p:ph idx="1" type="body"/>
          </p:nvPr>
        </p:nvSpPr>
        <p:spPr>
          <a:xfrm>
            <a:off x="1043492" y="1556793"/>
            <a:ext cx="6777317" cy="4752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>
                <a:solidFill>
                  <a:schemeClr val="dk1"/>
                </a:solidFill>
              </a:rPr>
              <a:t>Convert the following expressions from Infix to Prefix;</a:t>
            </a:r>
            <a:endParaRPr/>
          </a:p>
          <a:p>
            <a:pPr indent="-45720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AutoNum type="arabicParenR"/>
            </a:pPr>
            <a:r>
              <a:rPr b="1" lang="en-IN" sz="2000">
                <a:solidFill>
                  <a:schemeClr val="dk1"/>
                </a:solidFill>
              </a:rPr>
              <a:t>(P*Q^R+S)=+*P^QRS</a:t>
            </a:r>
            <a:endParaRPr/>
          </a:p>
          <a:p>
            <a:pPr indent="-457200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AutoNum type="arabicParenR"/>
            </a:pPr>
            <a:r>
              <a:rPr b="1" lang="en-IN">
                <a:solidFill>
                  <a:schemeClr val="dk1"/>
                </a:solidFill>
              </a:rPr>
              <a:t>(A-B/C)*(D*E-F)=*-A/BC-*DEF)</a:t>
            </a:r>
            <a:endParaRPr/>
          </a:p>
          <a:p>
            <a:pPr indent="-457200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AutoNum type="arabicParenR"/>
            </a:pPr>
            <a:r>
              <a:rPr b="1" lang="en-IN">
                <a:solidFill>
                  <a:schemeClr val="dk1"/>
                </a:solidFill>
              </a:rPr>
              <a:t>(A*B+(C/D))-F=-+*AB/CDF</a:t>
            </a:r>
            <a:endParaRPr/>
          </a:p>
          <a:p>
            <a:pPr indent="-457200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AutoNum type="arabicParenR"/>
            </a:pPr>
            <a:r>
              <a:rPr b="1" lang="en-IN">
                <a:solidFill>
                  <a:schemeClr val="dk1"/>
                </a:solidFill>
              </a:rPr>
              <a:t>A+B*C-(D/E^F)*G*H</a:t>
            </a:r>
            <a:endParaRPr/>
          </a:p>
          <a:p>
            <a:pPr indent="0" lvl="1" marL="365760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rPr b="1" lang="en-IN">
                <a:solidFill>
                  <a:schemeClr val="dk1"/>
                </a:solidFill>
              </a:rPr>
              <a:t>=A+</a:t>
            </a:r>
            <a:r>
              <a:rPr b="1" lang="en-IN" u="sng">
                <a:solidFill>
                  <a:schemeClr val="dk1"/>
                </a:solidFill>
              </a:rPr>
              <a:t>*BC</a:t>
            </a:r>
            <a:r>
              <a:rPr b="1" lang="en-IN">
                <a:solidFill>
                  <a:schemeClr val="dk1"/>
                </a:solidFill>
              </a:rPr>
              <a:t>-</a:t>
            </a:r>
            <a:r>
              <a:rPr b="1" lang="en-IN" u="sng">
                <a:solidFill>
                  <a:schemeClr val="dk1"/>
                </a:solidFill>
              </a:rPr>
              <a:t>(/D^EF</a:t>
            </a:r>
            <a:r>
              <a:rPr b="1" lang="en-IN">
                <a:solidFill>
                  <a:schemeClr val="dk1"/>
                </a:solidFill>
              </a:rPr>
              <a:t>)*G*H</a:t>
            </a:r>
            <a:endParaRPr/>
          </a:p>
          <a:p>
            <a:pPr indent="0" lvl="1" marL="365760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rPr b="1" lang="en-IN">
                <a:solidFill>
                  <a:schemeClr val="dk1"/>
                </a:solidFill>
              </a:rPr>
              <a:t>=A+*BC-</a:t>
            </a:r>
            <a:r>
              <a:rPr b="1" lang="en-IN" u="sng">
                <a:solidFill>
                  <a:schemeClr val="dk1"/>
                </a:solidFill>
              </a:rPr>
              <a:t>*/D^EFG</a:t>
            </a:r>
            <a:r>
              <a:rPr b="1" lang="en-IN">
                <a:solidFill>
                  <a:schemeClr val="dk1"/>
                </a:solidFill>
              </a:rPr>
              <a:t>*H</a:t>
            </a:r>
            <a:endParaRPr/>
          </a:p>
          <a:p>
            <a:pPr indent="0" lvl="1" marL="365760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rPr b="1" lang="en-IN">
                <a:solidFill>
                  <a:schemeClr val="dk1"/>
                </a:solidFill>
              </a:rPr>
              <a:t>=A+</a:t>
            </a:r>
            <a:r>
              <a:rPr b="1" lang="en-IN" u="sng">
                <a:solidFill>
                  <a:schemeClr val="dk1"/>
                </a:solidFill>
              </a:rPr>
              <a:t>*BC</a:t>
            </a:r>
            <a:r>
              <a:rPr b="1" lang="en-IN">
                <a:solidFill>
                  <a:schemeClr val="dk1"/>
                </a:solidFill>
              </a:rPr>
              <a:t>-</a:t>
            </a:r>
            <a:r>
              <a:rPr b="1" lang="en-IN" u="sng">
                <a:solidFill>
                  <a:schemeClr val="dk1"/>
                </a:solidFill>
              </a:rPr>
              <a:t>**/D^EFGH</a:t>
            </a:r>
            <a:endParaRPr/>
          </a:p>
          <a:p>
            <a:pPr indent="0" lvl="1" marL="365760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rPr b="1" lang="en-IN">
                <a:solidFill>
                  <a:schemeClr val="dk1"/>
                </a:solidFill>
              </a:rPr>
              <a:t>=</a:t>
            </a:r>
            <a:r>
              <a:rPr b="1" lang="en-IN" u="sng">
                <a:solidFill>
                  <a:schemeClr val="dk1"/>
                </a:solidFill>
              </a:rPr>
              <a:t>+A*BC</a:t>
            </a:r>
            <a:r>
              <a:rPr b="1" lang="en-IN">
                <a:solidFill>
                  <a:schemeClr val="dk1"/>
                </a:solidFill>
              </a:rPr>
              <a:t>-</a:t>
            </a:r>
            <a:r>
              <a:rPr b="1" lang="en-IN" u="sng">
                <a:solidFill>
                  <a:schemeClr val="dk1"/>
                </a:solidFill>
              </a:rPr>
              <a:t>**/D^EFGH</a:t>
            </a:r>
            <a:endParaRPr/>
          </a:p>
          <a:p>
            <a:pPr indent="0" lvl="1" marL="365760" rtl="0" algn="l">
              <a:spcBef>
                <a:spcPts val="440"/>
              </a:spcBef>
              <a:spcAft>
                <a:spcPts val="0"/>
              </a:spcAft>
              <a:buSzPts val="1672"/>
              <a:buNone/>
            </a:pPr>
            <a:r>
              <a:rPr b="1" lang="en-IN">
                <a:solidFill>
                  <a:schemeClr val="dk1"/>
                </a:solidFill>
              </a:rPr>
              <a:t>=-+A*BC**/D ^EFGH</a:t>
            </a:r>
            <a:endParaRPr/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1376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66" name="Google Shape;866;p6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867" name="Google Shape;867;p6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68" name="Google Shape;868;p6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63"/>
          <p:cNvSpPr txBox="1"/>
          <p:nvPr>
            <p:ph type="title"/>
          </p:nvPr>
        </p:nvSpPr>
        <p:spPr>
          <a:xfrm>
            <a:off x="827584" y="404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Manual Conversion -Infix to Prefix</a:t>
            </a:r>
            <a:endParaRPr sz="2800"/>
          </a:p>
        </p:txBody>
      </p:sp>
      <p:sp>
        <p:nvSpPr>
          <p:cNvPr id="874" name="Google Shape;874;p63"/>
          <p:cNvSpPr txBox="1"/>
          <p:nvPr>
            <p:ph idx="1" type="body"/>
          </p:nvPr>
        </p:nvSpPr>
        <p:spPr>
          <a:xfrm>
            <a:off x="1043492" y="1556793"/>
            <a:ext cx="6777317" cy="4752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lang="en-IN" sz="2000">
                <a:solidFill>
                  <a:schemeClr val="dk1"/>
                </a:solidFill>
              </a:rPr>
              <a:t>Convert the following expressions from Infix to Prefix;</a:t>
            </a:r>
            <a:endParaRPr/>
          </a:p>
          <a:p>
            <a:pPr indent="-457200" lvl="0" marL="525780" rtl="0" algn="l">
              <a:spcBef>
                <a:spcPts val="310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b="1" lang="en-IN" sz="2000">
                <a:solidFill>
                  <a:schemeClr val="dk1"/>
                </a:solidFill>
              </a:rPr>
              <a:t>(P*Q^R+S)=+*P^QRS</a:t>
            </a:r>
            <a:endParaRPr/>
          </a:p>
          <a:p>
            <a:pPr indent="-457200" lvl="0" marL="525780" rtl="0" algn="l">
              <a:spcBef>
                <a:spcPts val="372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b="1" lang="en-IN">
                <a:solidFill>
                  <a:schemeClr val="dk1"/>
                </a:solidFill>
              </a:rPr>
              <a:t>(A-B/C)*(D*E-F)=*(-A/BC)(-*DEF)</a:t>
            </a:r>
            <a:endParaRPr/>
          </a:p>
          <a:p>
            <a:pPr indent="-457200" lvl="0" marL="525780" rtl="0" algn="l">
              <a:spcBef>
                <a:spcPts val="372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b="1" lang="en-IN">
                <a:solidFill>
                  <a:schemeClr val="dk1"/>
                </a:solidFill>
              </a:rPr>
              <a:t>(A*B+(C/D))-F=-+*AB/CDF</a:t>
            </a:r>
            <a:endParaRPr/>
          </a:p>
          <a:p>
            <a:pPr indent="-457200" lvl="0" marL="525780" rtl="0" algn="l">
              <a:spcBef>
                <a:spcPts val="372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b="1" lang="en-IN">
                <a:solidFill>
                  <a:schemeClr val="dk1"/>
                </a:solidFill>
              </a:rPr>
              <a:t>A+B*C-(D/E^F)*G*H</a:t>
            </a:r>
            <a:endParaRPr/>
          </a:p>
          <a:p>
            <a:pPr indent="0" lvl="1" marL="36576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rPr b="1" lang="en-IN">
                <a:solidFill>
                  <a:schemeClr val="dk1"/>
                </a:solidFill>
              </a:rPr>
              <a:t>=A+*BC-(/D^EF)*G*H</a:t>
            </a:r>
            <a:endParaRPr/>
          </a:p>
          <a:p>
            <a:pPr indent="0" lvl="1" marL="36576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rPr b="1" lang="en-IN">
                <a:solidFill>
                  <a:schemeClr val="dk1"/>
                </a:solidFill>
              </a:rPr>
              <a:t>=A+*BC-*/D^EFG*H</a:t>
            </a:r>
            <a:endParaRPr/>
          </a:p>
          <a:p>
            <a:pPr indent="0" lvl="1" marL="36576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rPr b="1" lang="en-IN">
                <a:solidFill>
                  <a:schemeClr val="dk1"/>
                </a:solidFill>
              </a:rPr>
              <a:t>=A+*BC-**/D^EFGH</a:t>
            </a:r>
            <a:endParaRPr/>
          </a:p>
          <a:p>
            <a:pPr indent="0" lvl="1" marL="36576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rPr b="1" lang="en-IN">
                <a:solidFill>
                  <a:schemeClr val="dk1"/>
                </a:solidFill>
              </a:rPr>
              <a:t>=+A*BC-**/D^EFGH</a:t>
            </a:r>
            <a:endParaRPr/>
          </a:p>
          <a:p>
            <a:pPr indent="0" lvl="1" marL="36576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rPr b="1" lang="en-IN">
                <a:solidFill>
                  <a:schemeClr val="dk1"/>
                </a:solidFill>
              </a:rPr>
              <a:t>=-+A*BC**/D ^EFGH</a:t>
            </a:r>
            <a:endParaRPr/>
          </a:p>
          <a:p>
            <a:pPr indent="-457200" lvl="0" marL="525780" rtl="0" algn="l">
              <a:spcBef>
                <a:spcPts val="372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b="1" lang="en-IN">
                <a:solidFill>
                  <a:schemeClr val="dk1"/>
                </a:solidFill>
              </a:rPr>
              <a:t>(A+B)*C/D+E^F/G</a:t>
            </a:r>
            <a:endParaRPr/>
          </a:p>
          <a:p>
            <a:pPr indent="0" lvl="1" marL="36576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rPr b="1" lang="en-IN">
                <a:solidFill>
                  <a:schemeClr val="dk1"/>
                </a:solidFill>
              </a:rPr>
              <a:t>=</a:t>
            </a:r>
            <a:r>
              <a:rPr b="1" lang="en-IN" u="sng">
                <a:solidFill>
                  <a:schemeClr val="dk1"/>
                </a:solidFill>
              </a:rPr>
              <a:t>+AB</a:t>
            </a:r>
            <a:r>
              <a:rPr b="1" lang="en-IN">
                <a:solidFill>
                  <a:schemeClr val="dk1"/>
                </a:solidFill>
              </a:rPr>
              <a:t>*C/D+E^F/G</a:t>
            </a:r>
            <a:endParaRPr/>
          </a:p>
          <a:p>
            <a:pPr indent="0" lvl="1" marL="36576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rPr b="1" lang="en-IN">
                <a:solidFill>
                  <a:schemeClr val="dk1"/>
                </a:solidFill>
              </a:rPr>
              <a:t>=</a:t>
            </a:r>
            <a:r>
              <a:rPr b="1" lang="en-IN" u="sng">
                <a:solidFill>
                  <a:schemeClr val="dk1"/>
                </a:solidFill>
              </a:rPr>
              <a:t>+AB</a:t>
            </a:r>
            <a:r>
              <a:rPr b="1" lang="en-IN">
                <a:solidFill>
                  <a:schemeClr val="dk1"/>
                </a:solidFill>
              </a:rPr>
              <a:t>*C/D+</a:t>
            </a:r>
            <a:r>
              <a:rPr b="1" lang="en-IN" u="sng">
                <a:solidFill>
                  <a:schemeClr val="dk1"/>
                </a:solidFill>
              </a:rPr>
              <a:t>^EF</a:t>
            </a:r>
            <a:r>
              <a:rPr b="1" lang="en-IN">
                <a:solidFill>
                  <a:schemeClr val="dk1"/>
                </a:solidFill>
              </a:rPr>
              <a:t>/G</a:t>
            </a:r>
            <a:endParaRPr/>
          </a:p>
          <a:p>
            <a:pPr indent="0" lvl="1" marL="36576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rPr b="1" lang="en-IN">
                <a:solidFill>
                  <a:schemeClr val="dk1"/>
                </a:solidFill>
              </a:rPr>
              <a:t>=</a:t>
            </a:r>
            <a:r>
              <a:rPr b="1" lang="en-IN" u="sng">
                <a:solidFill>
                  <a:schemeClr val="dk1"/>
                </a:solidFill>
              </a:rPr>
              <a:t>*+ABC</a:t>
            </a:r>
            <a:r>
              <a:rPr b="1" lang="en-IN">
                <a:solidFill>
                  <a:schemeClr val="dk1"/>
                </a:solidFill>
              </a:rPr>
              <a:t>/D+</a:t>
            </a:r>
            <a:r>
              <a:rPr b="1" lang="en-IN" u="sng">
                <a:solidFill>
                  <a:schemeClr val="dk1"/>
                </a:solidFill>
              </a:rPr>
              <a:t>^EF</a:t>
            </a:r>
            <a:r>
              <a:rPr b="1" lang="en-IN">
                <a:solidFill>
                  <a:schemeClr val="dk1"/>
                </a:solidFill>
              </a:rPr>
              <a:t>/G</a:t>
            </a:r>
            <a:endParaRPr/>
          </a:p>
          <a:p>
            <a:pPr indent="0" lvl="1" marL="36576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rPr b="1" lang="en-IN">
                <a:solidFill>
                  <a:schemeClr val="dk1"/>
                </a:solidFill>
              </a:rPr>
              <a:t>=</a:t>
            </a:r>
            <a:r>
              <a:rPr b="1" lang="en-IN" u="sng">
                <a:solidFill>
                  <a:schemeClr val="dk1"/>
                </a:solidFill>
              </a:rPr>
              <a:t>/*+ABCD</a:t>
            </a:r>
            <a:r>
              <a:rPr b="1" lang="en-IN">
                <a:solidFill>
                  <a:schemeClr val="dk1"/>
                </a:solidFill>
              </a:rPr>
              <a:t>+^EF/G</a:t>
            </a:r>
            <a:endParaRPr/>
          </a:p>
          <a:p>
            <a:pPr indent="0" lvl="1" marL="36576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rPr b="1" lang="en-IN">
                <a:solidFill>
                  <a:schemeClr val="dk1"/>
                </a:solidFill>
              </a:rPr>
              <a:t>=/*+ABCD+</a:t>
            </a:r>
            <a:r>
              <a:rPr b="1" lang="en-IN" u="sng">
                <a:solidFill>
                  <a:schemeClr val="dk1"/>
                </a:solidFill>
              </a:rPr>
              <a:t>/^EFG</a:t>
            </a:r>
            <a:endParaRPr/>
          </a:p>
          <a:p>
            <a:pPr indent="0" lvl="1" marL="365760" rtl="0" algn="l">
              <a:spcBef>
                <a:spcPts val="341"/>
              </a:spcBef>
              <a:spcAft>
                <a:spcPts val="0"/>
              </a:spcAft>
              <a:buSzPct val="76000"/>
              <a:buNone/>
            </a:pPr>
            <a:r>
              <a:rPr b="1" lang="en-IN">
                <a:solidFill>
                  <a:schemeClr val="dk1"/>
                </a:solidFill>
              </a:rPr>
              <a:t>=+/*+ABCD/^EFG</a:t>
            </a:r>
            <a:endParaRPr/>
          </a:p>
          <a:p>
            <a:pPr indent="-367436" lvl="0" marL="525780" rtl="0" algn="l">
              <a:spcBef>
                <a:spcPts val="372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67436" lvl="0" marL="525780" rtl="0" algn="l">
              <a:spcBef>
                <a:spcPts val="372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67436" lvl="0" marL="525780" rtl="0" algn="l">
              <a:spcBef>
                <a:spcPts val="372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5" name="Google Shape;875;p6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876" name="Google Shape;876;p6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77" name="Google Shape;877;p6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64"/>
          <p:cNvSpPr txBox="1"/>
          <p:nvPr>
            <p:ph type="title"/>
          </p:nvPr>
        </p:nvSpPr>
        <p:spPr>
          <a:xfrm>
            <a:off x="467544" y="404664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Algorithm for Infix to Postfix using stack</a:t>
            </a:r>
            <a:endParaRPr sz="2800"/>
          </a:p>
        </p:txBody>
      </p:sp>
      <p:sp>
        <p:nvSpPr>
          <p:cNvPr id="883" name="Google Shape;883;p64"/>
          <p:cNvSpPr txBox="1"/>
          <p:nvPr>
            <p:ph idx="1" type="body"/>
          </p:nvPr>
        </p:nvSpPr>
        <p:spPr>
          <a:xfrm>
            <a:off x="1043492" y="1268760"/>
            <a:ext cx="6777317" cy="4563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Step 1-Put the opening bracket ‘(‘ on the start of the expression and add the closing bracket ‘)’ at the end of the input expression ‘P’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Step 2-Scan the Expression P from left to right and repeat steps 3 to 6 for each element of P until the stack is empty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Step 3-If an operand is encountered, add it to the output expression ‘Q’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Step 4-If a left bracket is encountered push it onto the stack</a:t>
            </a:r>
            <a:endParaRPr/>
          </a:p>
        </p:txBody>
      </p:sp>
      <p:sp>
        <p:nvSpPr>
          <p:cNvPr id="884" name="Google Shape;884;p6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885" name="Google Shape;885;p6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86" name="Google Shape;886;p6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65"/>
          <p:cNvSpPr txBox="1"/>
          <p:nvPr>
            <p:ph type="title"/>
          </p:nvPr>
        </p:nvSpPr>
        <p:spPr>
          <a:xfrm>
            <a:off x="467544" y="404664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Algorithm for Infix to Postfix using stack</a:t>
            </a:r>
            <a:endParaRPr/>
          </a:p>
        </p:txBody>
      </p:sp>
      <p:sp>
        <p:nvSpPr>
          <p:cNvPr id="892" name="Google Shape;892;p65"/>
          <p:cNvSpPr txBox="1"/>
          <p:nvPr>
            <p:ph idx="1" type="body"/>
          </p:nvPr>
        </p:nvSpPr>
        <p:spPr>
          <a:xfrm>
            <a:off x="1043492" y="1268760"/>
            <a:ext cx="6777317" cy="4563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Step 5-If an operator  is encountered then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5a)Repatedly pop from the stack and add to the output expression Q, </a:t>
            </a:r>
            <a:r>
              <a:rPr b="1" lang="en-IN" sz="2000"/>
              <a:t>each operator which has the same or higher priority </a:t>
            </a:r>
            <a:r>
              <a:rPr lang="en-IN" sz="2000"/>
              <a:t>compared to the operator just scanned.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5b) then Add the operator just scanned to the stack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Step 6-Ifa right bracket ‘)’ is encountered then repeatedly pop from the stack and add to the output expression Q until a left bracket is encountered. </a:t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Pop the left bracket also</a:t>
            </a:r>
            <a:endParaRPr/>
          </a:p>
        </p:txBody>
      </p:sp>
      <p:sp>
        <p:nvSpPr>
          <p:cNvPr id="893" name="Google Shape;893;p6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894" name="Google Shape;894;p6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95" name="Google Shape;895;p6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66"/>
          <p:cNvSpPr txBox="1"/>
          <p:nvPr>
            <p:ph type="title"/>
          </p:nvPr>
        </p:nvSpPr>
        <p:spPr>
          <a:xfrm>
            <a:off x="467544" y="667624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Infix to Postfix Conversion using stack </a:t>
            </a:r>
            <a:endParaRPr sz="2800"/>
          </a:p>
        </p:txBody>
      </p:sp>
      <p:sp>
        <p:nvSpPr>
          <p:cNvPr id="901" name="Google Shape;901;p66"/>
          <p:cNvSpPr txBox="1"/>
          <p:nvPr>
            <p:ph idx="1" type="body"/>
          </p:nvPr>
        </p:nvSpPr>
        <p:spPr>
          <a:xfrm>
            <a:off x="1043492" y="1268760"/>
            <a:ext cx="6777317" cy="4563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Eg- P=(A+B)*C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	</a:t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				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902" name="Google Shape;902;p6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903" name="Google Shape;903;p6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04" name="Google Shape;904;p6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67"/>
          <p:cNvSpPr txBox="1"/>
          <p:nvPr>
            <p:ph type="title"/>
          </p:nvPr>
        </p:nvSpPr>
        <p:spPr>
          <a:xfrm>
            <a:off x="467544" y="667624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Infix to Postfix Conversion using stack </a:t>
            </a:r>
            <a:endParaRPr sz="2800"/>
          </a:p>
        </p:txBody>
      </p:sp>
      <p:sp>
        <p:nvSpPr>
          <p:cNvPr id="910" name="Google Shape;910;p67"/>
          <p:cNvSpPr txBox="1"/>
          <p:nvPr>
            <p:ph idx="1" type="body"/>
          </p:nvPr>
        </p:nvSpPr>
        <p:spPr>
          <a:xfrm>
            <a:off x="1043492" y="1268760"/>
            <a:ext cx="6777317" cy="4563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Eg- P=(A+B)*C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	P=( (A+B) * C )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				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graphicFrame>
        <p:nvGraphicFramePr>
          <p:cNvPr id="911" name="Google Shape;911;p67"/>
          <p:cNvGraphicFramePr/>
          <p:nvPr/>
        </p:nvGraphicFramePr>
        <p:xfrm>
          <a:off x="1475656" y="22768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2032000"/>
                <a:gridCol w="2032000"/>
                <a:gridCol w="2032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Scan 	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Stack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Expression Q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(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(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(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((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((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+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((+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B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((+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AB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(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AB+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*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(*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lang="en-IN" sz="1800"/>
                        <a:t>AB+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(*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AB+C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NULL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AB+C*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12" name="Google Shape;912;p6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913" name="Google Shape;913;p6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14" name="Google Shape;914;p6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8"/>
          <p:cNvSpPr txBox="1"/>
          <p:nvPr>
            <p:ph type="title"/>
          </p:nvPr>
        </p:nvSpPr>
        <p:spPr>
          <a:xfrm>
            <a:off x="467544" y="260648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Infix to Postfix Conversion using stack </a:t>
            </a:r>
            <a:endParaRPr b="1" sz="2000"/>
          </a:p>
        </p:txBody>
      </p:sp>
      <p:sp>
        <p:nvSpPr>
          <p:cNvPr id="920" name="Google Shape;920;p68"/>
          <p:cNvSpPr txBox="1"/>
          <p:nvPr>
            <p:ph idx="1" type="body"/>
          </p:nvPr>
        </p:nvSpPr>
        <p:spPr>
          <a:xfrm>
            <a:off x="611560" y="692696"/>
            <a:ext cx="6777317" cy="4563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Convert P/(Q-R)*S+T</a:t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				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921" name="Google Shape;921;p6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922" name="Google Shape;922;p6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23" name="Google Shape;923;p6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69"/>
          <p:cNvSpPr txBox="1"/>
          <p:nvPr>
            <p:ph type="title"/>
          </p:nvPr>
        </p:nvSpPr>
        <p:spPr>
          <a:xfrm>
            <a:off x="467544" y="260648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Infix to Postfix Conversion using stack </a:t>
            </a:r>
            <a:endParaRPr b="1" sz="2000"/>
          </a:p>
        </p:txBody>
      </p:sp>
      <p:sp>
        <p:nvSpPr>
          <p:cNvPr id="929" name="Google Shape;929;p69"/>
          <p:cNvSpPr txBox="1"/>
          <p:nvPr>
            <p:ph idx="1" type="body"/>
          </p:nvPr>
        </p:nvSpPr>
        <p:spPr>
          <a:xfrm>
            <a:off x="611560" y="692696"/>
            <a:ext cx="6777317" cy="4563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Convert P/(Q-R)*S+T=</a:t>
            </a:r>
            <a:r>
              <a:rPr b="1" lang="en-IN" sz="2000"/>
              <a:t>(P/(Q-R)*S+T)</a:t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				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930" name="Google Shape;930;p6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931" name="Google Shape;931;p6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32" name="Google Shape;932;p6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933" name="Google Shape;933;p69"/>
          <p:cNvGraphicFramePr/>
          <p:nvPr/>
        </p:nvGraphicFramePr>
        <p:xfrm>
          <a:off x="755576" y="1268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2448275"/>
                <a:gridCol w="2448275"/>
                <a:gridCol w="2448275"/>
              </a:tblGrid>
              <a:tr h="32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Scan 	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Stack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Expression Q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2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(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( 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2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P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(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P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2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/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( /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P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2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(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( / (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P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2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Q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( / (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PQ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2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-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( / (-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PQ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2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R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( / (-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PQR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2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)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( /   </a:t>
                      </a:r>
                      <a:r>
                        <a:rPr b="1" lang="en-IN" sz="1600">
                          <a:solidFill>
                            <a:srgbClr val="FF0000"/>
                          </a:solidFill>
                        </a:rPr>
                        <a:t>Rule 5a)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PQR-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2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*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( *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PQR-/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2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S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( *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PQR-/S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2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+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( +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PQR-/S*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2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T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( +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PQR-/S*T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20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)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NULL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PQR-/S*T+</a:t>
                      </a:r>
                      <a:endParaRPr sz="16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70"/>
          <p:cNvPicPr preferRelativeResize="0"/>
          <p:nvPr/>
        </p:nvPicPr>
        <p:blipFill rotWithShape="1">
          <a:blip r:embed="rId3">
            <a:alphaModFix/>
          </a:blip>
          <a:srcRect b="26091" l="2124" r="49521" t="18717"/>
          <a:stretch/>
        </p:blipFill>
        <p:spPr>
          <a:xfrm>
            <a:off x="1168343" y="1263855"/>
            <a:ext cx="6291619" cy="4037353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70"/>
          <p:cNvSpPr txBox="1"/>
          <p:nvPr>
            <p:ph type="title"/>
          </p:nvPr>
        </p:nvSpPr>
        <p:spPr>
          <a:xfrm>
            <a:off x="467544" y="260648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Infix to Postfix Conversion using stack </a:t>
            </a:r>
            <a:endParaRPr b="1" sz="2000"/>
          </a:p>
        </p:txBody>
      </p:sp>
      <p:sp>
        <p:nvSpPr>
          <p:cNvPr id="940" name="Google Shape;940;p70"/>
          <p:cNvSpPr txBox="1"/>
          <p:nvPr>
            <p:ph idx="1" type="body"/>
          </p:nvPr>
        </p:nvSpPr>
        <p:spPr>
          <a:xfrm>
            <a:off x="611560" y="692696"/>
            <a:ext cx="6777317" cy="4563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Convert (P/(Q-R)*S+T)</a:t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				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941" name="Google Shape;941;p70"/>
          <p:cNvSpPr/>
          <p:nvPr/>
        </p:nvSpPr>
        <p:spPr>
          <a:xfrm>
            <a:off x="5436096" y="5189130"/>
            <a:ext cx="1944216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None/>
            </a:pPr>
            <a:r>
              <a:rPr b="1" i="1" lang="en-I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PQR-/S*T+</a:t>
            </a:r>
            <a:endParaRPr i="1"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42" name="Google Shape;942;p70"/>
          <p:cNvSpPr/>
          <p:nvPr/>
        </p:nvSpPr>
        <p:spPr>
          <a:xfrm>
            <a:off x="3828098" y="5227744"/>
            <a:ext cx="97210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None/>
            </a:pPr>
            <a:r>
              <a:rPr b="1" i="1" lang="en-I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null</a:t>
            </a:r>
            <a:endParaRPr i="1"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43" name="Google Shape;943;p7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944" name="Google Shape;944;p7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45" name="Google Shape;945;p7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71"/>
          <p:cNvSpPr txBox="1"/>
          <p:nvPr>
            <p:ph type="title"/>
          </p:nvPr>
        </p:nvSpPr>
        <p:spPr>
          <a:xfrm>
            <a:off x="467544" y="260648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Infix to Postfix Conversion using stack </a:t>
            </a:r>
            <a:endParaRPr b="1" sz="2000"/>
          </a:p>
        </p:txBody>
      </p:sp>
      <p:sp>
        <p:nvSpPr>
          <p:cNvPr id="951" name="Google Shape;951;p71"/>
          <p:cNvSpPr txBox="1"/>
          <p:nvPr>
            <p:ph idx="1" type="body"/>
          </p:nvPr>
        </p:nvSpPr>
        <p:spPr>
          <a:xfrm>
            <a:off x="611560" y="692696"/>
            <a:ext cx="6777317" cy="4563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Convert P=a &amp;&amp; b||c || ! ( e &gt; f ) 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				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952" name="Google Shape;952;p7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953" name="Google Shape;953;p7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54" name="Google Shape;954;p7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72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Notation Conversion</a:t>
            </a:r>
            <a:endParaRPr sz="2800"/>
          </a:p>
        </p:txBody>
      </p:sp>
      <p:sp>
        <p:nvSpPr>
          <p:cNvPr id="960" name="Google Shape;960;p72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ct val="76000"/>
              <a:buChar char="🞇"/>
            </a:pPr>
            <a:r>
              <a:rPr b="1" lang="en-IN" sz="2000">
                <a:solidFill>
                  <a:schemeClr val="dk1"/>
                </a:solidFill>
              </a:rPr>
              <a:t>Scan the expression from left to right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b="1" lang="en-IN" sz="2000">
                <a:solidFill>
                  <a:schemeClr val="accent1"/>
                </a:solidFill>
              </a:rPr>
              <a:t>Operator Precedence-</a:t>
            </a:r>
            <a:endParaRPr/>
          </a:p>
          <a:p>
            <a:pPr indent="-274320" lvl="1" marL="640080" rtl="0" algn="l">
              <a:spcBef>
                <a:spcPts val="333"/>
              </a:spcBef>
              <a:spcAft>
                <a:spcPts val="0"/>
              </a:spcAft>
              <a:buSzPct val="76000"/>
              <a:buChar char="🞇"/>
            </a:pPr>
            <a:r>
              <a:rPr b="1" lang="en-IN" sz="1800">
                <a:solidFill>
                  <a:schemeClr val="dk1"/>
                </a:solidFill>
              </a:rPr>
              <a:t>Paranthesis evaluated first</a:t>
            </a:r>
            <a:endParaRPr/>
          </a:p>
          <a:p>
            <a:pPr indent="-274320" lvl="1" marL="640080" rtl="0" algn="l">
              <a:spcBef>
                <a:spcPts val="333"/>
              </a:spcBef>
              <a:spcAft>
                <a:spcPts val="0"/>
              </a:spcAft>
              <a:buSzPct val="76000"/>
              <a:buChar char="🞇"/>
            </a:pPr>
            <a:r>
              <a:rPr b="1" lang="en-IN" sz="1800">
                <a:solidFill>
                  <a:schemeClr val="dk1"/>
                </a:solidFill>
              </a:rPr>
              <a:t>After that evaluation is on the basis of operator precedence</a:t>
            </a:r>
            <a:endParaRPr/>
          </a:p>
          <a:p>
            <a:pPr indent="-193967" lvl="1" marL="640080" rtl="0" algn="l">
              <a:spcBef>
                <a:spcPts val="333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b="1" sz="1800">
              <a:solidFill>
                <a:schemeClr val="accent1"/>
              </a:solidFill>
            </a:endParaRPr>
          </a:p>
          <a:p>
            <a:pPr indent="-228600" lvl="3" marL="1124712" rtl="0" algn="l">
              <a:spcBef>
                <a:spcPts val="259"/>
              </a:spcBef>
              <a:spcAft>
                <a:spcPts val="0"/>
              </a:spcAft>
              <a:buSzPct val="76000"/>
              <a:buChar char="🞇"/>
            </a:pPr>
            <a:r>
              <a:rPr b="1" lang="en-IN" sz="1400">
                <a:solidFill>
                  <a:schemeClr val="dk1"/>
                </a:solidFill>
              </a:rPr>
              <a:t>Logical Not</a:t>
            </a:r>
            <a:endParaRPr/>
          </a:p>
          <a:p>
            <a:pPr indent="-228600" lvl="3" marL="1124712" rtl="0" algn="l">
              <a:spcBef>
                <a:spcPts val="259"/>
              </a:spcBef>
              <a:spcAft>
                <a:spcPts val="0"/>
              </a:spcAft>
              <a:buSzPct val="76000"/>
              <a:buChar char="🞇"/>
            </a:pPr>
            <a:r>
              <a:rPr b="1" lang="en-IN" sz="1400">
                <a:solidFill>
                  <a:schemeClr val="dk1"/>
                </a:solidFill>
              </a:rPr>
              <a:t>Exponential Operator</a:t>
            </a:r>
            <a:endParaRPr/>
          </a:p>
          <a:p>
            <a:pPr indent="-228600" lvl="3" marL="1124712" rtl="0" algn="l">
              <a:spcBef>
                <a:spcPts val="259"/>
              </a:spcBef>
              <a:spcAft>
                <a:spcPts val="0"/>
              </a:spcAft>
              <a:buSzPct val="76000"/>
              <a:buChar char="🞇"/>
            </a:pPr>
            <a:r>
              <a:rPr b="1" lang="en-IN" sz="1400">
                <a:solidFill>
                  <a:schemeClr val="dk1"/>
                </a:solidFill>
              </a:rPr>
              <a:t>Multiplication/division/modulus</a:t>
            </a:r>
            <a:endParaRPr/>
          </a:p>
          <a:p>
            <a:pPr indent="-228600" lvl="3" marL="1124712" rtl="0" algn="l">
              <a:spcBef>
                <a:spcPts val="259"/>
              </a:spcBef>
              <a:spcAft>
                <a:spcPts val="0"/>
              </a:spcAft>
              <a:buSzPct val="76000"/>
              <a:buChar char="🞇"/>
            </a:pPr>
            <a:r>
              <a:rPr b="1" lang="en-IN" sz="1400">
                <a:solidFill>
                  <a:schemeClr val="dk1"/>
                </a:solidFill>
              </a:rPr>
              <a:t>Addition/Subtraction</a:t>
            </a:r>
            <a:endParaRPr/>
          </a:p>
          <a:p>
            <a:pPr indent="-228600" lvl="3" marL="1124712" rtl="0" algn="l">
              <a:spcBef>
                <a:spcPts val="259"/>
              </a:spcBef>
              <a:spcAft>
                <a:spcPts val="0"/>
              </a:spcAft>
              <a:buSzPct val="76000"/>
              <a:buChar char="🞇"/>
            </a:pPr>
            <a:r>
              <a:rPr b="1" lang="en-IN" sz="1400">
                <a:solidFill>
                  <a:schemeClr val="dk1"/>
                </a:solidFill>
              </a:rPr>
              <a:t>Left shift,Right Shift</a:t>
            </a:r>
            <a:endParaRPr/>
          </a:p>
          <a:p>
            <a:pPr indent="-228600" lvl="3" marL="1124712" rtl="0" algn="l">
              <a:spcBef>
                <a:spcPts val="259"/>
              </a:spcBef>
              <a:spcAft>
                <a:spcPts val="0"/>
              </a:spcAft>
              <a:buSzPct val="76000"/>
              <a:buChar char="🞇"/>
            </a:pPr>
            <a:r>
              <a:rPr b="1" lang="en-IN" sz="1400">
                <a:solidFill>
                  <a:schemeClr val="dk1"/>
                </a:solidFill>
              </a:rPr>
              <a:t>Relational</a:t>
            </a:r>
            <a:endParaRPr/>
          </a:p>
          <a:p>
            <a:pPr indent="-228600" lvl="3" marL="1124712" rtl="0" algn="l">
              <a:spcBef>
                <a:spcPts val="259"/>
              </a:spcBef>
              <a:spcAft>
                <a:spcPts val="0"/>
              </a:spcAft>
              <a:buSzPct val="76000"/>
              <a:buChar char="🞇"/>
            </a:pPr>
            <a:r>
              <a:rPr b="1" lang="en-IN" sz="1400">
                <a:solidFill>
                  <a:schemeClr val="dk1"/>
                </a:solidFill>
              </a:rPr>
              <a:t>Logical And</a:t>
            </a:r>
            <a:endParaRPr/>
          </a:p>
          <a:p>
            <a:pPr indent="-228600" lvl="3" marL="1124712" rtl="0" algn="l">
              <a:spcBef>
                <a:spcPts val="259"/>
              </a:spcBef>
              <a:spcAft>
                <a:spcPts val="0"/>
              </a:spcAft>
              <a:buSzPct val="76000"/>
              <a:buChar char="🞇"/>
            </a:pPr>
            <a:r>
              <a:rPr b="1" lang="en-IN" sz="1400">
                <a:solidFill>
                  <a:schemeClr val="dk1"/>
                </a:solidFill>
              </a:rPr>
              <a:t>Logical Or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961" name="Google Shape;961;p72"/>
          <p:cNvSpPr/>
          <p:nvPr/>
        </p:nvSpPr>
        <p:spPr>
          <a:xfrm>
            <a:off x="5796136" y="3284984"/>
            <a:ext cx="432048" cy="201622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2" name="Google Shape;962;p7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963" name="Google Shape;963;p7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64" name="Google Shape;964;p7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73"/>
          <p:cNvSpPr txBox="1"/>
          <p:nvPr>
            <p:ph type="title"/>
          </p:nvPr>
        </p:nvSpPr>
        <p:spPr>
          <a:xfrm>
            <a:off x="467544" y="188640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Infix to Postfix Conversion using stack </a:t>
            </a:r>
            <a:endParaRPr b="1" sz="2000"/>
          </a:p>
        </p:txBody>
      </p:sp>
      <p:sp>
        <p:nvSpPr>
          <p:cNvPr id="970" name="Google Shape;970;p73"/>
          <p:cNvSpPr txBox="1"/>
          <p:nvPr>
            <p:ph idx="1" type="body"/>
          </p:nvPr>
        </p:nvSpPr>
        <p:spPr>
          <a:xfrm>
            <a:off x="611560" y="548680"/>
            <a:ext cx="6777317" cy="4563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Convert P=(a &amp;&amp; b||c || ! ( e &gt; f ) )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				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graphicFrame>
        <p:nvGraphicFramePr>
          <p:cNvPr id="971" name="Google Shape;971;p73"/>
          <p:cNvGraphicFramePr/>
          <p:nvPr/>
        </p:nvGraphicFramePr>
        <p:xfrm>
          <a:off x="755576" y="90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2448275"/>
                <a:gridCol w="2448275"/>
                <a:gridCol w="2448275"/>
              </a:tblGrid>
              <a:tr h="3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Scan 	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Stack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Expression Q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(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(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a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(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a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&amp;&amp;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(&amp;&amp;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a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b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(&amp;&amp; </a:t>
                      </a:r>
                      <a:r>
                        <a:rPr b="1" lang="en-IN" sz="1600">
                          <a:solidFill>
                            <a:srgbClr val="FF0000"/>
                          </a:solidFill>
                        </a:rPr>
                        <a:t>Rule 5a</a:t>
                      </a:r>
                      <a:endParaRPr b="1" sz="16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ab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||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(||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ab&amp;&amp;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c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(||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ab&amp;&amp;c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||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(|| </a:t>
                      </a:r>
                      <a:r>
                        <a:rPr b="1" lang="en-IN" sz="1600">
                          <a:solidFill>
                            <a:srgbClr val="FF0000"/>
                          </a:solidFill>
                        </a:rPr>
                        <a:t>Rule 5a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ab&amp;&amp;c||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!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(||!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ab&amp;&amp;c||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(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(||!(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ab&amp;&amp;c||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e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(||!(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ab&amp;&amp;c||e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&gt;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(||!(&gt;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ab&amp;&amp;c||e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f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(||!(&gt;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lang="en-IN" sz="1600"/>
                        <a:t>ab&amp;&amp;c||ef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)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(||!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ab&amp;&amp;c||ef&gt;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)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NULL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ab&amp;&amp;c||ef&gt;!||</a:t>
                      </a:r>
                      <a:endParaRPr sz="16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72" name="Google Shape;972;p7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973" name="Google Shape;973;p7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74" name="Google Shape;974;p7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75" name="Google Shape;975;p73"/>
          <p:cNvSpPr txBox="1"/>
          <p:nvPr/>
        </p:nvSpPr>
        <p:spPr>
          <a:xfrm>
            <a:off x="6660232" y="764704"/>
            <a:ext cx="2483768" cy="2644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7432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Operator Precedence</a:t>
            </a:r>
            <a:endParaRPr/>
          </a:p>
          <a:p>
            <a:pPr indent="-274320" lvl="0" marL="3429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lang="en-I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Logical Not</a:t>
            </a:r>
            <a:endParaRPr/>
          </a:p>
          <a:p>
            <a:pPr indent="-274320" lvl="0" marL="3429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lang="en-I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Exponential Operator</a:t>
            </a:r>
            <a:endParaRPr/>
          </a:p>
          <a:p>
            <a:pPr indent="-274320" lvl="0" marL="3429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lang="en-I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Multiplication/division/modulus</a:t>
            </a:r>
            <a:endParaRPr/>
          </a:p>
          <a:p>
            <a:pPr indent="-274320" lvl="0" marL="3429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lang="en-I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Addition/Subtraction</a:t>
            </a:r>
            <a:endParaRPr/>
          </a:p>
          <a:p>
            <a:pPr indent="-274320" lvl="0" marL="3429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lang="en-I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shift,Right Shift</a:t>
            </a:r>
            <a:endParaRPr/>
          </a:p>
          <a:p>
            <a:pPr indent="-274320" lvl="0" marL="3429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lang="en-I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Relational</a:t>
            </a:r>
            <a:endParaRPr/>
          </a:p>
          <a:p>
            <a:pPr indent="-274320" lvl="0" marL="3429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lang="en-I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Logical And &amp;&amp;</a:t>
            </a:r>
            <a:endParaRPr/>
          </a:p>
          <a:p>
            <a:pPr indent="-274320" lvl="0" marL="3429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lang="en-I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Logical Or ||</a:t>
            </a:r>
            <a:endParaRPr b="1"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74"/>
          <p:cNvSpPr txBox="1"/>
          <p:nvPr>
            <p:ph type="title"/>
          </p:nvPr>
        </p:nvSpPr>
        <p:spPr>
          <a:xfrm>
            <a:off x="467544" y="260648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Infix to Postfix Conversion using stack </a:t>
            </a:r>
            <a:endParaRPr b="1" sz="2000"/>
          </a:p>
        </p:txBody>
      </p:sp>
      <p:sp>
        <p:nvSpPr>
          <p:cNvPr id="981" name="Google Shape;981;p74"/>
          <p:cNvSpPr txBox="1"/>
          <p:nvPr>
            <p:ph idx="1" type="body"/>
          </p:nvPr>
        </p:nvSpPr>
        <p:spPr>
          <a:xfrm>
            <a:off x="611560" y="692696"/>
            <a:ext cx="6777317" cy="4563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Convert P=A+(B*C-(D/E^F)*G*H )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				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982" name="Google Shape;982;p7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983" name="Google Shape;983;p7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84" name="Google Shape;984;p7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75"/>
          <p:cNvSpPr txBox="1"/>
          <p:nvPr>
            <p:ph type="title"/>
          </p:nvPr>
        </p:nvSpPr>
        <p:spPr>
          <a:xfrm>
            <a:off x="467544" y="260648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Infix to Postfix Conversion using stack </a:t>
            </a:r>
            <a:endParaRPr b="1" sz="2000"/>
          </a:p>
        </p:txBody>
      </p:sp>
      <p:sp>
        <p:nvSpPr>
          <p:cNvPr id="990" name="Google Shape;990;p75"/>
          <p:cNvSpPr txBox="1"/>
          <p:nvPr>
            <p:ph idx="1" type="body"/>
          </p:nvPr>
        </p:nvSpPr>
        <p:spPr>
          <a:xfrm>
            <a:off x="611560" y="692696"/>
            <a:ext cx="6777317" cy="4563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Convert P=(A+(B*C-(D/E^F)*G*H ))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				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graphicFrame>
        <p:nvGraphicFramePr>
          <p:cNvPr id="991" name="Google Shape;991;p75"/>
          <p:cNvGraphicFramePr/>
          <p:nvPr/>
        </p:nvGraphicFramePr>
        <p:xfrm>
          <a:off x="899593" y="10856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2472275"/>
                <a:gridCol w="2472275"/>
                <a:gridCol w="2472275"/>
              </a:tblGrid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900"/>
                        <a:t>Scan 	</a:t>
                      </a:r>
                      <a:endParaRPr sz="9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900"/>
                        <a:t>Stack</a:t>
                      </a:r>
                      <a:endParaRPr sz="9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900"/>
                        <a:t>Expression Q</a:t>
                      </a:r>
                      <a:endParaRPr sz="900"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(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(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A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(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A</a:t>
                      </a:r>
                      <a:endParaRPr sz="1050"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+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(+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A</a:t>
                      </a:r>
                      <a:endParaRPr sz="1050"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(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(+(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AB</a:t>
                      </a:r>
                      <a:endParaRPr sz="1050"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B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(+(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AB</a:t>
                      </a:r>
                      <a:endParaRPr sz="1050"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*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(+(*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AB</a:t>
                      </a:r>
                      <a:endParaRPr sz="1050"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C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(+(*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ABC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-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(+(-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ABC*</a:t>
                      </a:r>
                      <a:endParaRPr sz="1050"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(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(+(-(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ABC*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D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(+(-(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ABC*D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/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(+(-( /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ABC*D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E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(+(-( /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ABC*DE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^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(+(-( / ^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ABC*DE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F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(+(-(/^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ABC*DEF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)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(+(-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ABC*DEF^/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*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(+(-*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ABC*DEF^/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G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(+(-*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ABC*DEF^/G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*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(+(-*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ABC*DEF^/G*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H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(+(-*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ABC*DEF^/G*H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3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)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(+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ABC*DEF^/G*H*-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1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/>
                        <a:t>)</a:t>
                      </a:r>
                      <a:endParaRPr sz="10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null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entury Gothic"/>
                        <a:buNone/>
                      </a:pPr>
                      <a:r>
                        <a:rPr lang="en-IN" sz="1050"/>
                        <a:t>ABC*DEF^/G*H*-+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92" name="Google Shape;992;p7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993" name="Google Shape;993;p7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94" name="Google Shape;994;p7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76"/>
          <p:cNvPicPr preferRelativeResize="0"/>
          <p:nvPr/>
        </p:nvPicPr>
        <p:blipFill rotWithShape="1">
          <a:blip r:embed="rId3">
            <a:alphaModFix/>
          </a:blip>
          <a:srcRect b="21094" l="43192" r="27086" t="22656"/>
          <a:stretch/>
        </p:blipFill>
        <p:spPr>
          <a:xfrm>
            <a:off x="827584" y="908720"/>
            <a:ext cx="7560840" cy="4968552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76"/>
          <p:cNvSpPr/>
          <p:nvPr/>
        </p:nvSpPr>
        <p:spPr>
          <a:xfrm>
            <a:off x="827584" y="404664"/>
            <a:ext cx="40738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Convert P=(A+(B*C-(D/E^F)*G*H ))</a:t>
            </a:r>
            <a:endParaRPr/>
          </a:p>
        </p:txBody>
      </p:sp>
      <p:sp>
        <p:nvSpPr>
          <p:cNvPr id="1001" name="Google Shape;1001;p7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002" name="Google Shape;1002;p7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03" name="Google Shape;1003;p7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77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Manual Evaluation of a Prefix notation</a:t>
            </a:r>
            <a:endParaRPr b="1" sz="2800"/>
          </a:p>
        </p:txBody>
      </p:sp>
      <p:sp>
        <p:nvSpPr>
          <p:cNvPr id="1009" name="Google Shape;1009;p77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IN">
                <a:solidFill>
                  <a:schemeClr val="dk1"/>
                </a:solidFill>
              </a:rPr>
              <a:t>+5*32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0" name="Google Shape;1010;p7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011" name="Google Shape;1011;p7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12" name="Google Shape;1012;p7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78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Manual Evaluation of a Prefix notation</a:t>
            </a:r>
            <a:endParaRPr b="1" sz="2800"/>
          </a:p>
        </p:txBody>
      </p:sp>
      <p:sp>
        <p:nvSpPr>
          <p:cNvPr id="1018" name="Google Shape;1018;p78"/>
          <p:cNvSpPr txBox="1"/>
          <p:nvPr>
            <p:ph idx="1" type="body"/>
          </p:nvPr>
        </p:nvSpPr>
        <p:spPr>
          <a:xfrm>
            <a:off x="1043492" y="1864239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IN">
                <a:solidFill>
                  <a:schemeClr val="dk1"/>
                </a:solidFill>
              </a:rPr>
              <a:t>Lets take an eg:  +5*32</a:t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IN">
                <a:solidFill>
                  <a:schemeClr val="dk1"/>
                </a:solidFill>
              </a:rPr>
              <a:t>Find an operator from left to right having 2 operands after it</a:t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IN">
                <a:solidFill>
                  <a:schemeClr val="dk1"/>
                </a:solidFill>
              </a:rPr>
              <a:t>Multiplication of 3 and 2 is carried out</a:t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IN">
                <a:solidFill>
                  <a:schemeClr val="dk1"/>
                </a:solidFill>
              </a:rPr>
              <a:t>Expression becomes +56</a:t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IN">
                <a:solidFill>
                  <a:schemeClr val="dk1"/>
                </a:solidFill>
              </a:rPr>
              <a:t>Now + has two operands so evaluated </a:t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IN">
                <a:solidFill>
                  <a:schemeClr val="dk1"/>
                </a:solidFill>
              </a:rPr>
              <a:t>Exp=11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9" name="Google Shape;1019;p7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020" name="Google Shape;1020;p7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21" name="Google Shape;1021;p7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79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Manual Evaluation of a Postfix notation</a:t>
            </a:r>
            <a:endParaRPr/>
          </a:p>
        </p:txBody>
      </p:sp>
      <p:sp>
        <p:nvSpPr>
          <p:cNvPr id="1027" name="Google Shape;1027;p79"/>
          <p:cNvSpPr txBox="1"/>
          <p:nvPr>
            <p:ph idx="1" type="body"/>
          </p:nvPr>
        </p:nvSpPr>
        <p:spPr>
          <a:xfrm>
            <a:off x="1043492" y="1792231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IN">
                <a:solidFill>
                  <a:schemeClr val="dk1"/>
                </a:solidFill>
              </a:rPr>
              <a:t>532*+</a:t>
            </a:r>
            <a:endParaRPr sz="1800"/>
          </a:p>
        </p:txBody>
      </p:sp>
      <p:sp>
        <p:nvSpPr>
          <p:cNvPr id="1028" name="Google Shape;1028;p7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029" name="Google Shape;1029;p7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30" name="Google Shape;1030;p7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80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Manual Evaluation of a Postfix notation</a:t>
            </a:r>
            <a:endParaRPr/>
          </a:p>
        </p:txBody>
      </p:sp>
      <p:sp>
        <p:nvSpPr>
          <p:cNvPr id="1036" name="Google Shape;1036;p80"/>
          <p:cNvSpPr txBox="1"/>
          <p:nvPr>
            <p:ph idx="1" type="body"/>
          </p:nvPr>
        </p:nvSpPr>
        <p:spPr>
          <a:xfrm>
            <a:off x="1043492" y="1792231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IN">
                <a:solidFill>
                  <a:schemeClr val="dk1"/>
                </a:solidFill>
              </a:rPr>
              <a:t>Lets take an eg:  532*+</a:t>
            </a:r>
            <a:endParaRPr sz="1800"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IN">
                <a:solidFill>
                  <a:schemeClr val="dk1"/>
                </a:solidFill>
              </a:rPr>
              <a:t>Find first operator from left to right having 2 operands before it</a:t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IN">
                <a:solidFill>
                  <a:schemeClr val="dk1"/>
                </a:solidFill>
              </a:rPr>
              <a:t> perform the operation</a:t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IN">
                <a:solidFill>
                  <a:schemeClr val="dk1"/>
                </a:solidFill>
              </a:rPr>
              <a:t>Multiplication of 3 and 2 is carried out</a:t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IN">
                <a:solidFill>
                  <a:schemeClr val="dk1"/>
                </a:solidFill>
              </a:rPr>
              <a:t>Expression becomes 56+</a:t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IN">
                <a:solidFill>
                  <a:schemeClr val="dk1"/>
                </a:solidFill>
              </a:rPr>
              <a:t>Now + is evaluated </a:t>
            </a:r>
            <a:endParaRPr/>
          </a:p>
          <a:p>
            <a:pPr indent="-274319" lvl="0" marL="342900" rtl="0" algn="l">
              <a:spcBef>
                <a:spcPts val="480"/>
              </a:spcBef>
              <a:spcAft>
                <a:spcPts val="0"/>
              </a:spcAft>
              <a:buSzPts val="1824"/>
              <a:buChar char="🞇"/>
            </a:pPr>
            <a:r>
              <a:rPr lang="en-IN">
                <a:solidFill>
                  <a:schemeClr val="dk1"/>
                </a:solidFill>
              </a:rPr>
              <a:t>Exp=11</a:t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1037" name="Google Shape;1037;p8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038" name="Google Shape;1038;p8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39" name="Google Shape;1039;p8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81"/>
          <p:cNvSpPr txBox="1"/>
          <p:nvPr>
            <p:ph idx="1" type="body"/>
          </p:nvPr>
        </p:nvSpPr>
        <p:spPr>
          <a:xfrm>
            <a:off x="1039325" y="11967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lang="en-IN"/>
              <a:t>Evaluate the following expression-</a:t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rPr lang="en-IN"/>
              <a:t>P=653+9*+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1045" name="Google Shape;1045;p81"/>
          <p:cNvSpPr txBox="1"/>
          <p:nvPr/>
        </p:nvSpPr>
        <p:spPr>
          <a:xfrm>
            <a:off x="467544" y="332656"/>
            <a:ext cx="7920880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Manual Evaluation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6" name="Google Shape;1046;p8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047" name="Google Shape;1047;p8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48" name="Google Shape;1048;p8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82"/>
          <p:cNvSpPr txBox="1"/>
          <p:nvPr>
            <p:ph type="title"/>
          </p:nvPr>
        </p:nvSpPr>
        <p:spPr>
          <a:xfrm>
            <a:off x="467544" y="332656"/>
            <a:ext cx="7920880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Algorithm for Evaluation of Postfix using stack</a:t>
            </a:r>
            <a:endParaRPr sz="2800"/>
          </a:p>
        </p:txBody>
      </p:sp>
      <p:sp>
        <p:nvSpPr>
          <p:cNvPr id="1054" name="Google Shape;1054;p82"/>
          <p:cNvSpPr txBox="1"/>
          <p:nvPr>
            <p:ph idx="1" type="body"/>
          </p:nvPr>
        </p:nvSpPr>
        <p:spPr>
          <a:xfrm>
            <a:off x="963035" y="1268760"/>
            <a:ext cx="6777317" cy="4563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Step 1-Scan the Expression P from left to right and repeat steps 2 and 3 for each element of ‘P’ until the last element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Step 2- If an operand is encountered, push it on the stack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	</a:t>
            </a:r>
            <a:r>
              <a:rPr b="1" lang="en-IN" sz="1800"/>
              <a:t>1</a:t>
            </a:r>
            <a:r>
              <a:rPr b="1" baseline="30000" lang="en-IN" sz="1800"/>
              <a:t>st</a:t>
            </a:r>
            <a:r>
              <a:rPr b="1" lang="en-IN" sz="1800"/>
              <a:t> operand  say ‘a’ is pushed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	2</a:t>
            </a:r>
            <a:r>
              <a:rPr b="1" baseline="30000" lang="en-IN" sz="1800"/>
              <a:t>nd</a:t>
            </a:r>
            <a:r>
              <a:rPr b="1" lang="en-IN" sz="1800"/>
              <a:t> operand say ‘b’ is pushed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Step 3-If an operator is encountered then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3a) Remove the top two elements of stack and perform </a:t>
            </a:r>
            <a:endParaRPr/>
          </a:p>
          <a:p>
            <a:pPr indent="0" lvl="0" marL="68580" rtl="0" algn="ctr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a operator b</a:t>
            </a:r>
            <a:endParaRPr b="1"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(where b is the top element and a is the next element to top element)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3b)Push the result onto the stack</a:t>
            </a:r>
            <a:endParaRPr/>
          </a:p>
        </p:txBody>
      </p:sp>
      <p:graphicFrame>
        <p:nvGraphicFramePr>
          <p:cNvPr id="1055" name="Google Shape;1055;p82"/>
          <p:cNvGraphicFramePr/>
          <p:nvPr/>
        </p:nvGraphicFramePr>
        <p:xfrm>
          <a:off x="7596336" y="24208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936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Stack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b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56" name="Google Shape;1056;p82"/>
          <p:cNvSpPr/>
          <p:nvPr/>
        </p:nvSpPr>
        <p:spPr>
          <a:xfrm>
            <a:off x="8172400" y="2924944"/>
            <a:ext cx="216024" cy="194421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57" name="Google Shape;1057;p8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058" name="Google Shape;1058;p8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59" name="Google Shape;1059;p8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83"/>
          <p:cNvSpPr txBox="1"/>
          <p:nvPr>
            <p:ph idx="1" type="body"/>
          </p:nvPr>
        </p:nvSpPr>
        <p:spPr>
          <a:xfrm>
            <a:off x="1039325" y="11967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lang="en-IN"/>
              <a:t>Evaluate the following expression-</a:t>
            </a:r>
            <a:endParaRPr/>
          </a:p>
          <a:p>
            <a:pPr indent="0" lvl="0" marL="6858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rPr lang="en-IN"/>
              <a:t>P=653+9*+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1065" name="Google Shape;1065;p83"/>
          <p:cNvSpPr txBox="1"/>
          <p:nvPr/>
        </p:nvSpPr>
        <p:spPr>
          <a:xfrm>
            <a:off x="467544" y="332656"/>
            <a:ext cx="7920880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Algorithm for Evaluation of Postfix using stack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6" name="Google Shape;1066;p8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067" name="Google Shape;1067;p8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68" name="Google Shape;1068;p8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84"/>
          <p:cNvSpPr txBox="1"/>
          <p:nvPr>
            <p:ph type="title"/>
          </p:nvPr>
        </p:nvSpPr>
        <p:spPr>
          <a:xfrm>
            <a:off x="467544" y="332656"/>
            <a:ext cx="7920880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Algorithm for Evaluation of Postfix using stack</a:t>
            </a:r>
            <a:endParaRPr sz="2800"/>
          </a:p>
        </p:txBody>
      </p:sp>
      <p:sp>
        <p:nvSpPr>
          <p:cNvPr id="1074" name="Google Shape;1074;p84"/>
          <p:cNvSpPr txBox="1"/>
          <p:nvPr>
            <p:ph idx="1" type="body"/>
          </p:nvPr>
        </p:nvSpPr>
        <p:spPr>
          <a:xfrm>
            <a:off x="963035" y="1268760"/>
            <a:ext cx="6777317" cy="4563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P=653+9*+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P=53+9*+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P=3+9*+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P=+9*+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Evaluate 5+3=8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Push 8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P=9*+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P=*+</a:t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Evaluate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8*9=72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Push 72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P=+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Evaluate 6+72=78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lang="en-IN" sz="1800"/>
              <a:t>Ans=78</a:t>
            </a:r>
            <a:endParaRPr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0" lvl="0" marL="685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graphicFrame>
        <p:nvGraphicFramePr>
          <p:cNvPr id="1075" name="Google Shape;1075;p84"/>
          <p:cNvGraphicFramePr/>
          <p:nvPr/>
        </p:nvGraphicFramePr>
        <p:xfrm>
          <a:off x="3635896" y="8367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936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Stack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76" name="Google Shape;1076;p84"/>
          <p:cNvSpPr/>
          <p:nvPr/>
        </p:nvSpPr>
        <p:spPr>
          <a:xfrm>
            <a:off x="4716016" y="1921414"/>
            <a:ext cx="216024" cy="388385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1077" name="Google Shape;1077;p84"/>
          <p:cNvGraphicFramePr/>
          <p:nvPr/>
        </p:nvGraphicFramePr>
        <p:xfrm>
          <a:off x="3635896" y="20608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936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Stack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78" name="Google Shape;1078;p84"/>
          <p:cNvGraphicFramePr/>
          <p:nvPr/>
        </p:nvGraphicFramePr>
        <p:xfrm>
          <a:off x="3635896" y="33407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936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Stack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5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79" name="Google Shape;1079;p84"/>
          <p:cNvGraphicFramePr/>
          <p:nvPr/>
        </p:nvGraphicFramePr>
        <p:xfrm>
          <a:off x="3635896" y="45811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936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Stack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5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80" name="Google Shape;1080;p84"/>
          <p:cNvGraphicFramePr/>
          <p:nvPr/>
        </p:nvGraphicFramePr>
        <p:xfrm>
          <a:off x="5076056" y="8367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936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Stack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81" name="Google Shape;1081;p84"/>
          <p:cNvGraphicFramePr/>
          <p:nvPr/>
        </p:nvGraphicFramePr>
        <p:xfrm>
          <a:off x="5076056" y="29249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936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Stack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9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8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82" name="Google Shape;1082;p84"/>
          <p:cNvGraphicFramePr/>
          <p:nvPr/>
        </p:nvGraphicFramePr>
        <p:xfrm>
          <a:off x="6372200" y="8367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{09338BA5-B431-4173-911F-F359B40430F7}</a:tableStyleId>
              </a:tblPr>
              <a:tblGrid>
                <a:gridCol w="936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Stack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72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83" name="Google Shape;1083;p84"/>
          <p:cNvSpPr/>
          <p:nvPr/>
        </p:nvSpPr>
        <p:spPr>
          <a:xfrm>
            <a:off x="6084168" y="1988840"/>
            <a:ext cx="216024" cy="388385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84" name="Google Shape;1084;p84"/>
          <p:cNvSpPr/>
          <p:nvPr/>
        </p:nvSpPr>
        <p:spPr>
          <a:xfrm>
            <a:off x="7524328" y="1988840"/>
            <a:ext cx="216024" cy="388385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85" name="Google Shape;1085;p8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086" name="Google Shape;1086;p8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87" name="Google Shape;1087;p8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85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rPr lang="en-IN"/>
              <a:t>Evaluate the following expression-</a:t>
            </a:r>
            <a:endParaRPr/>
          </a:p>
          <a:p>
            <a:pPr indent="-457200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AutoNum type="arabicParenR"/>
            </a:pPr>
            <a:r>
              <a:rPr lang="en-IN"/>
              <a:t>432*+5-</a:t>
            </a:r>
            <a:endParaRPr/>
          </a:p>
          <a:p>
            <a:pPr indent="-457200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AutoNum type="arabicParenR"/>
            </a:pPr>
            <a:r>
              <a:rPr lang="en-IN"/>
              <a:t>532*+4-5+</a:t>
            </a:r>
            <a:endParaRPr/>
          </a:p>
          <a:p>
            <a:pPr indent="-457200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AutoNum type="arabicParenR"/>
            </a:pPr>
            <a:r>
              <a:rPr lang="en-IN"/>
              <a:t>53+82-*</a:t>
            </a:r>
            <a:endParaRPr/>
          </a:p>
          <a:p>
            <a:pPr indent="-457200" lvl="0" marL="525780" rtl="0" algn="l">
              <a:spcBef>
                <a:spcPts val="480"/>
              </a:spcBef>
              <a:spcAft>
                <a:spcPts val="0"/>
              </a:spcAft>
              <a:buSzPts val="1824"/>
              <a:buFont typeface="Century Gothic"/>
              <a:buAutoNum type="arabicParenR"/>
            </a:pPr>
            <a:r>
              <a:rPr lang="en-IN"/>
              <a:t>Evaluate 562+*(12)4/-</a:t>
            </a:r>
            <a:br>
              <a:rPr lang="en-IN"/>
            </a:br>
            <a:r>
              <a:rPr lang="en-IN"/>
              <a:t>taking 12 as a single number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1093" name="Google Shape;1093;p85"/>
          <p:cNvSpPr txBox="1"/>
          <p:nvPr/>
        </p:nvSpPr>
        <p:spPr>
          <a:xfrm>
            <a:off x="467544" y="332656"/>
            <a:ext cx="7920880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Algorithm for Evaluation of Postfix using stack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94" name="Google Shape;1094;p8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095" name="Google Shape;1095;p8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96" name="Google Shape;1096;p8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86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Evaluate 432*+5-</a:t>
            </a:r>
            <a:endParaRPr b="1" sz="2400"/>
          </a:p>
        </p:txBody>
      </p:sp>
      <p:pic>
        <p:nvPicPr>
          <p:cNvPr id="1102" name="Google Shape;1102;p8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2060848"/>
            <a:ext cx="6768752" cy="3731791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8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104" name="Google Shape;1104;p8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05" name="Google Shape;1105;p8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87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111" name="Google Shape;1111;p87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pic>
        <p:nvPicPr>
          <p:cNvPr descr="https://files.transtutors.com/book/qimg/544ee96b-e2d7-4e22-bc22-19d4e890faf4.png" id="1112" name="Google Shape;1112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980728"/>
            <a:ext cx="6552728" cy="4824536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8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114" name="Google Shape;1114;p8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15" name="Google Shape;1115;p8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0" name="Google Shape;1120;p88"/>
          <p:cNvPicPr preferRelativeResize="0"/>
          <p:nvPr/>
        </p:nvPicPr>
        <p:blipFill rotWithShape="1">
          <a:blip r:embed="rId3">
            <a:alphaModFix/>
          </a:blip>
          <a:srcRect b="52665" l="0" r="0" t="0"/>
          <a:stretch/>
        </p:blipFill>
        <p:spPr>
          <a:xfrm>
            <a:off x="1043608" y="1916832"/>
            <a:ext cx="3024336" cy="3528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88"/>
          <p:cNvPicPr preferRelativeResize="0"/>
          <p:nvPr/>
        </p:nvPicPr>
        <p:blipFill rotWithShape="1">
          <a:blip r:embed="rId3">
            <a:alphaModFix/>
          </a:blip>
          <a:srcRect b="0" l="0" r="0" t="47335"/>
          <a:stretch/>
        </p:blipFill>
        <p:spPr>
          <a:xfrm>
            <a:off x="4788024" y="1916832"/>
            <a:ext cx="2808312" cy="36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608" y="1052736"/>
            <a:ext cx="53244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88"/>
          <p:cNvSpPr/>
          <p:nvPr/>
        </p:nvSpPr>
        <p:spPr>
          <a:xfrm>
            <a:off x="951408" y="5661248"/>
            <a:ext cx="73448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Courtesy:http://btechsmartclass.com/data_structures/postfix-evaluation.html</a:t>
            </a:r>
            <a:endParaRPr/>
          </a:p>
        </p:txBody>
      </p:sp>
      <p:sp>
        <p:nvSpPr>
          <p:cNvPr id="1124" name="Google Shape;1124;p8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125" name="Google Shape;1125;p8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26" name="Google Shape;1126;p8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89"/>
          <p:cNvSpPr txBox="1"/>
          <p:nvPr>
            <p:ph type="title"/>
          </p:nvPr>
        </p:nvSpPr>
        <p:spPr>
          <a:xfrm>
            <a:off x="1043490" y="1027664"/>
            <a:ext cx="7024744" cy="601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Evaluate 562+*(12)4/-</a:t>
            </a:r>
            <a:br>
              <a:rPr b="1" lang="en-IN" sz="2000"/>
            </a:br>
            <a:r>
              <a:rPr b="1" lang="en-IN" sz="2000"/>
              <a:t>taking 12 as a single number</a:t>
            </a:r>
            <a:endParaRPr b="1" sz="2000"/>
          </a:p>
        </p:txBody>
      </p:sp>
      <p:pic>
        <p:nvPicPr>
          <p:cNvPr id="1132" name="Google Shape;1132;p8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5536"/>
          <a:stretch/>
        </p:blipFill>
        <p:spPr>
          <a:xfrm>
            <a:off x="1043608" y="1772816"/>
            <a:ext cx="6912768" cy="39771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3" name="Google Shape;1133;p89"/>
          <p:cNvSpPr/>
          <p:nvPr/>
        </p:nvSpPr>
        <p:spPr>
          <a:xfrm>
            <a:off x="729870" y="5615662"/>
            <a:ext cx="79208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Courtesy:https://unacademy.com/lesson/evaluation-of-a-postfix-expression-in-tabular-form/8Z5PDFL5</a:t>
            </a:r>
            <a:endParaRPr/>
          </a:p>
        </p:txBody>
      </p:sp>
      <p:sp>
        <p:nvSpPr>
          <p:cNvPr id="1134" name="Google Shape;1134;p8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135" name="Google Shape;1135;p8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36" name="Google Shape;1136;p8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90"/>
          <p:cNvSpPr txBox="1"/>
          <p:nvPr/>
        </p:nvSpPr>
        <p:spPr>
          <a:xfrm>
            <a:off x="467544" y="332656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Application of Stack –Recursion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Activation Records" id="1142" name="Google Shape;1142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1412777"/>
            <a:ext cx="7272808" cy="4392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9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144" name="Google Shape;1144;p9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45" name="Google Shape;1145;p9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91"/>
          <p:cNvSpPr txBox="1"/>
          <p:nvPr>
            <p:ph idx="1" type="body"/>
          </p:nvPr>
        </p:nvSpPr>
        <p:spPr>
          <a:xfrm>
            <a:off x="683568" y="1052736"/>
            <a:ext cx="7416824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Many programming languages implement recursion by means of </a:t>
            </a:r>
            <a:r>
              <a:rPr b="1" lang="en-IN" sz="1800"/>
              <a:t>stacks</a:t>
            </a:r>
            <a:r>
              <a:rPr lang="en-IN" sz="1800"/>
              <a:t>. </a:t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A function (</a:t>
            </a:r>
            <a:r>
              <a:rPr b="1" lang="en-IN" sz="1800"/>
              <a:t>caller</a:t>
            </a:r>
            <a:r>
              <a:rPr lang="en-IN" sz="1800"/>
              <a:t>) calls another function (</a:t>
            </a:r>
            <a:r>
              <a:rPr b="1" lang="en-IN" sz="1800"/>
              <a:t>callee</a:t>
            </a:r>
            <a:r>
              <a:rPr lang="en-IN" sz="1800"/>
              <a:t>) or itself as callee, </a:t>
            </a:r>
            <a:endParaRPr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The caller function transfers execution control to the callee. </a:t>
            </a:r>
            <a:endParaRPr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This transfer process may also involve some data to be passed from the caller to the callee.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151" name="Google Shape;1151;p91"/>
          <p:cNvSpPr txBox="1"/>
          <p:nvPr/>
        </p:nvSpPr>
        <p:spPr>
          <a:xfrm>
            <a:off x="467544" y="332656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Application of Stack –Recursion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Activation Records" id="1152" name="Google Shape;1152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3919" y="3789040"/>
            <a:ext cx="6048672" cy="167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9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154" name="Google Shape;1154;p91"/>
          <p:cNvSpPr txBox="1"/>
          <p:nvPr>
            <p:ph idx="11" type="ftr"/>
          </p:nvPr>
        </p:nvSpPr>
        <p:spPr>
          <a:xfrm>
            <a:off x="4644008" y="5805264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55" name="Google Shape;1155;p9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92"/>
          <p:cNvSpPr txBox="1"/>
          <p:nvPr>
            <p:ph idx="1" type="body"/>
          </p:nvPr>
        </p:nvSpPr>
        <p:spPr>
          <a:xfrm>
            <a:off x="683568" y="1052736"/>
            <a:ext cx="7416824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The caller function has </a:t>
            </a:r>
            <a:endParaRPr sz="1800"/>
          </a:p>
          <a:p>
            <a:pPr indent="-274320" lvl="1" marL="64008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lang="en-IN" sz="1600"/>
              <a:t>to suspend its execution temporarily and </a:t>
            </a:r>
            <a:endParaRPr sz="1600"/>
          </a:p>
          <a:p>
            <a:pPr indent="-274320" lvl="1" marL="64008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lang="en-IN" sz="1600"/>
              <a:t>resume later </a:t>
            </a:r>
            <a:endParaRPr sz="1600"/>
          </a:p>
          <a:p>
            <a:pPr indent="-274320" lvl="1" marL="64008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lang="en-IN" sz="1600"/>
              <a:t>when the execution control returns from the callee function. </a:t>
            </a:r>
            <a:endParaRPr sz="1600"/>
          </a:p>
          <a:p>
            <a:pPr indent="-197104" lvl="1" marL="6400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 sz="1600"/>
          </a:p>
        </p:txBody>
      </p:sp>
      <p:sp>
        <p:nvSpPr>
          <p:cNvPr id="1161" name="Google Shape;1161;p92"/>
          <p:cNvSpPr txBox="1"/>
          <p:nvPr/>
        </p:nvSpPr>
        <p:spPr>
          <a:xfrm>
            <a:off x="467544" y="332656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Application of Stack –Recursion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Activation Records" id="1162" name="Google Shape;1162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1680" y="2924944"/>
            <a:ext cx="6048672" cy="167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9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164" name="Google Shape;1164;p9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65" name="Google Shape;1165;p9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93"/>
          <p:cNvSpPr txBox="1"/>
          <p:nvPr>
            <p:ph idx="1" type="body"/>
          </p:nvPr>
        </p:nvSpPr>
        <p:spPr>
          <a:xfrm>
            <a:off x="683568" y="1052736"/>
            <a:ext cx="7416824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Here, the caller function needs to start exactly from the point of execution where it puts itself on hold. </a:t>
            </a:r>
            <a:endParaRPr/>
          </a:p>
          <a:p>
            <a:pPr indent="-274320" lvl="1" marL="64008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lang="en-IN" sz="1600"/>
              <a:t>It also needs the exact same data values it was working on. </a:t>
            </a:r>
            <a:endParaRPr/>
          </a:p>
          <a:p>
            <a:pPr indent="-274320" lvl="1" marL="64008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lang="en-IN" sz="1600"/>
              <a:t>So, an activation record (or stack frame) is created for the caller function.</a:t>
            </a:r>
            <a:endParaRPr/>
          </a:p>
          <a:p>
            <a:pPr indent="-274320" lvl="1" marL="64008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lang="en-IN" sz="1600"/>
              <a:t>Activation record keeps the information about </a:t>
            </a:r>
            <a:endParaRPr sz="1600"/>
          </a:p>
          <a:p>
            <a:pPr indent="-228600" lvl="2" marL="914400" rtl="0" algn="l">
              <a:spcBef>
                <a:spcPts val="280"/>
              </a:spcBef>
              <a:spcAft>
                <a:spcPts val="0"/>
              </a:spcAft>
              <a:buSzPts val="1064"/>
              <a:buChar char="🞇"/>
            </a:pPr>
            <a:r>
              <a:rPr lang="en-IN" sz="1400"/>
              <a:t>local variables, </a:t>
            </a:r>
            <a:endParaRPr sz="1400"/>
          </a:p>
          <a:p>
            <a:pPr indent="-228600" lvl="2" marL="914400" rtl="0" algn="l">
              <a:spcBef>
                <a:spcPts val="280"/>
              </a:spcBef>
              <a:spcAft>
                <a:spcPts val="0"/>
              </a:spcAft>
              <a:buSzPts val="1064"/>
              <a:buChar char="🞇"/>
            </a:pPr>
            <a:r>
              <a:rPr lang="en-IN" sz="1400"/>
              <a:t>formal parameters, </a:t>
            </a:r>
            <a:endParaRPr/>
          </a:p>
          <a:p>
            <a:pPr indent="-228600" lvl="2" marL="914400" rtl="0" algn="l">
              <a:spcBef>
                <a:spcPts val="280"/>
              </a:spcBef>
              <a:spcAft>
                <a:spcPts val="0"/>
              </a:spcAft>
              <a:buSzPts val="1064"/>
              <a:buChar char="🞇"/>
            </a:pPr>
            <a:r>
              <a:rPr lang="en-IN" sz="1400"/>
              <a:t>return address and </a:t>
            </a:r>
            <a:endParaRPr sz="1400"/>
          </a:p>
          <a:p>
            <a:pPr indent="-228600" lvl="2" marL="914400" rtl="0" algn="l">
              <a:spcBef>
                <a:spcPts val="280"/>
              </a:spcBef>
              <a:spcAft>
                <a:spcPts val="0"/>
              </a:spcAft>
              <a:buSzPts val="1064"/>
              <a:buChar char="🞇"/>
            </a:pPr>
            <a:r>
              <a:rPr lang="en-IN" sz="1400"/>
              <a:t>all information passed to the callee function.</a:t>
            </a:r>
            <a:endParaRPr/>
          </a:p>
          <a:p>
            <a:pPr indent="-197104" lvl="1" marL="6400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 sz="1600"/>
          </a:p>
          <a:p>
            <a:pPr indent="-197104" lvl="1" marL="6400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 sz="1600"/>
          </a:p>
        </p:txBody>
      </p:sp>
      <p:sp>
        <p:nvSpPr>
          <p:cNvPr id="1171" name="Google Shape;1171;p93"/>
          <p:cNvSpPr txBox="1"/>
          <p:nvPr/>
        </p:nvSpPr>
        <p:spPr>
          <a:xfrm>
            <a:off x="467544" y="332656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Application of Stack –Recursion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Activation Records" id="1172" name="Google Shape;1172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1680" y="4077072"/>
            <a:ext cx="6048672" cy="167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9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174" name="Google Shape;1174;p9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75" name="Google Shape;1175;p9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94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Application of Stack –Recursion</a:t>
            </a:r>
            <a:endParaRPr sz="2800"/>
          </a:p>
        </p:txBody>
      </p:sp>
      <p:sp>
        <p:nvSpPr>
          <p:cNvPr id="1181" name="Google Shape;1181;p94"/>
          <p:cNvSpPr txBox="1"/>
          <p:nvPr>
            <p:ph idx="1" type="body"/>
          </p:nvPr>
        </p:nvSpPr>
        <p:spPr>
          <a:xfrm>
            <a:off x="1043608" y="1916832"/>
            <a:ext cx="6552728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A recursive function to find the factorial of a positive whole number</a:t>
            </a:r>
            <a:endParaRPr/>
          </a:p>
          <a:p>
            <a:pPr indent="0" lvl="0" marL="685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t/>
            </a:r>
            <a:endParaRPr sz="1600"/>
          </a:p>
          <a:p>
            <a:pPr indent="0" lvl="0" marL="685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 int factorial(n) </a:t>
            </a:r>
            <a:endParaRPr sz="1600"/>
          </a:p>
          <a:p>
            <a:pPr indent="0" lvl="0" marL="685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{</a:t>
            </a:r>
            <a:br>
              <a:rPr lang="en-IN" sz="1600"/>
            </a:br>
            <a:r>
              <a:rPr lang="en-IN" sz="1600"/>
              <a:t>	if (n == 1) </a:t>
            </a:r>
            <a:endParaRPr sz="1600"/>
          </a:p>
          <a:p>
            <a:pPr indent="0" lvl="0" marL="685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	{ </a:t>
            </a:r>
            <a:endParaRPr/>
          </a:p>
          <a:p>
            <a:pPr indent="0" lvl="0" marL="685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		// base case</a:t>
            </a:r>
            <a:br>
              <a:rPr lang="en-IN" sz="1600"/>
            </a:br>
            <a:r>
              <a:rPr lang="en-IN" sz="1600"/>
              <a:t>		return 1;</a:t>
            </a:r>
            <a:br>
              <a:rPr lang="en-IN" sz="1600"/>
            </a:br>
            <a:r>
              <a:rPr lang="en-IN" sz="1600"/>
              <a:t>	} </a:t>
            </a:r>
            <a:endParaRPr/>
          </a:p>
          <a:p>
            <a:pPr indent="0" lvl="0" marL="685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	else </a:t>
            </a:r>
            <a:endParaRPr/>
          </a:p>
          <a:p>
            <a:pPr indent="0" lvl="0" marL="685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	{</a:t>
            </a:r>
            <a:br>
              <a:rPr lang="en-IN" sz="1600"/>
            </a:br>
            <a:r>
              <a:rPr lang="en-IN" sz="1600"/>
              <a:t>		return n * factorial(n - 1); </a:t>
            </a:r>
            <a:endParaRPr sz="1600"/>
          </a:p>
          <a:p>
            <a:pPr indent="0" lvl="0" marL="68580" rtl="0" algn="l">
              <a:spcBef>
                <a:spcPts val="320"/>
              </a:spcBef>
              <a:spcAft>
                <a:spcPts val="0"/>
              </a:spcAft>
              <a:buSzPts val="1216"/>
              <a:buNone/>
            </a:pPr>
            <a:r>
              <a:rPr lang="en-IN" sz="1600"/>
              <a:t>		// function calls itself</a:t>
            </a:r>
            <a:br>
              <a:rPr lang="en-IN" sz="1600"/>
            </a:br>
            <a:r>
              <a:rPr lang="en-IN" sz="1600"/>
              <a:t>	}</a:t>
            </a:r>
            <a:br>
              <a:rPr lang="en-IN" sz="1600"/>
            </a:br>
            <a:r>
              <a:rPr lang="en-IN" sz="1600"/>
              <a:t>}</a:t>
            </a:r>
            <a:endParaRPr/>
          </a:p>
        </p:txBody>
      </p:sp>
      <p:sp>
        <p:nvSpPr>
          <p:cNvPr id="1182" name="Google Shape;1182;p9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183" name="Google Shape;1183;p9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84" name="Google Shape;1184;p9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95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pic>
        <p:nvPicPr>
          <p:cNvPr descr="Image for post" id="1190" name="Google Shape;1190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1268760"/>
            <a:ext cx="6840760" cy="4684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95"/>
          <p:cNvSpPr txBox="1"/>
          <p:nvPr/>
        </p:nvSpPr>
        <p:spPr>
          <a:xfrm>
            <a:off x="467544" y="332656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Application of Stack –Recursion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2" name="Google Shape;1192;p9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193" name="Google Shape;1193;p9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94" name="Google Shape;1194;p9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96"/>
          <p:cNvSpPr txBox="1"/>
          <p:nvPr>
            <p:ph idx="1" type="body"/>
          </p:nvPr>
        </p:nvSpPr>
        <p:spPr>
          <a:xfrm>
            <a:off x="827584" y="861784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Functions calls are ‘stacked’ one on top of the other, </a:t>
            </a:r>
            <a:endParaRPr sz="1800"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This is called the call stack (or execution stack)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The call stack operates on a “Last In, First Out” basis. An item is “pushed” onto a stack  on function call, and an item is “popped” off the stack when that function returns a value.</a:t>
            </a:r>
            <a:endParaRPr sz="1800"/>
          </a:p>
        </p:txBody>
      </p:sp>
      <p:pic>
        <p:nvPicPr>
          <p:cNvPr descr="Image for post" id="1200" name="Google Shape;1200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640" y="3501008"/>
            <a:ext cx="5664637" cy="2448272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p96"/>
          <p:cNvSpPr txBox="1"/>
          <p:nvPr/>
        </p:nvSpPr>
        <p:spPr>
          <a:xfrm>
            <a:off x="467544" y="332656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Application of Stack –Recursion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2" name="Google Shape;1202;p9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203" name="Google Shape;1203;p9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04" name="Google Shape;1204;p9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98"/>
          <p:cNvSpPr txBox="1"/>
          <p:nvPr>
            <p:ph idx="1" type="body"/>
          </p:nvPr>
        </p:nvSpPr>
        <p:spPr>
          <a:xfrm>
            <a:off x="1042416" y="1196752"/>
            <a:ext cx="3419856" cy="4609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216"/>
              <a:buNone/>
            </a:pPr>
            <a:r>
              <a:rPr b="1" lang="en-IN" sz="1600"/>
              <a:t>Time Complexity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In iterations, </a:t>
            </a:r>
            <a:endParaRPr sz="20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we take number of iterations to count the time complexity. </a:t>
            </a:r>
            <a:endParaRPr sz="18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In recursion, </a:t>
            </a:r>
            <a:endParaRPr sz="20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assuming everything is constant, </a:t>
            </a:r>
            <a:endParaRPr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count the number of times a recursive call is being made. </a:t>
            </a:r>
            <a:endParaRPr/>
          </a:p>
          <a:p>
            <a:pPr indent="0" lvl="0" marL="68580" rtl="0" algn="l">
              <a:spcBef>
                <a:spcPts val="56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b="1" sz="2800"/>
          </a:p>
        </p:txBody>
      </p:sp>
      <p:sp>
        <p:nvSpPr>
          <p:cNvPr id="1210" name="Google Shape;1210;p98"/>
          <p:cNvSpPr txBox="1"/>
          <p:nvPr>
            <p:ph idx="2" type="body"/>
          </p:nvPr>
        </p:nvSpPr>
        <p:spPr>
          <a:xfrm>
            <a:off x="4645152" y="1268760"/>
            <a:ext cx="3743272" cy="46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216"/>
              <a:buNone/>
            </a:pPr>
            <a:r>
              <a:rPr b="1" lang="en-IN" sz="1600"/>
              <a:t>Space Complexity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Space complexity is counted as </a:t>
            </a:r>
            <a:endParaRPr sz="20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what amount of extra space is required for a module to execute. 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In iterations, </a:t>
            </a:r>
            <a:endParaRPr sz="20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the compiler hardly requires any extra space. </a:t>
            </a:r>
            <a:endParaRPr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The compiler keeps updating the values of variables used in the iterations. </a:t>
            </a:r>
            <a:endParaRPr/>
          </a:p>
        </p:txBody>
      </p:sp>
      <p:sp>
        <p:nvSpPr>
          <p:cNvPr id="1211" name="Google Shape;1211;p98"/>
          <p:cNvSpPr txBox="1"/>
          <p:nvPr/>
        </p:nvSpPr>
        <p:spPr>
          <a:xfrm>
            <a:off x="467544" y="332656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Application of Stack –Recursion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2" name="Google Shape;1212;p9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213" name="Google Shape;1213;p9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14" name="Google Shape;1214;p9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99"/>
          <p:cNvSpPr txBox="1"/>
          <p:nvPr>
            <p:ph idx="1" type="body"/>
          </p:nvPr>
        </p:nvSpPr>
        <p:spPr>
          <a:xfrm>
            <a:off x="1042416" y="1196752"/>
            <a:ext cx="3419856" cy="4609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216"/>
              <a:buNone/>
            </a:pPr>
            <a:r>
              <a:rPr b="1" lang="en-IN" sz="1600"/>
              <a:t>Time Complexity</a:t>
            </a:r>
            <a:endParaRPr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A call made to a function is Ο(1), </a:t>
            </a:r>
            <a:endParaRPr/>
          </a:p>
          <a:p>
            <a:pPr indent="-141732" lvl="2" marL="9144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hence the (n) number of times a recursive call is made 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makes the recursive function Ο(n).</a:t>
            </a:r>
            <a:endParaRPr/>
          </a:p>
          <a:p>
            <a:pPr indent="0" lvl="0" marL="68580" rtl="0" algn="l">
              <a:spcBef>
                <a:spcPts val="56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b="1" sz="2800"/>
          </a:p>
        </p:txBody>
      </p:sp>
      <p:sp>
        <p:nvSpPr>
          <p:cNvPr id="1220" name="Google Shape;1220;p99"/>
          <p:cNvSpPr txBox="1"/>
          <p:nvPr>
            <p:ph idx="2" type="body"/>
          </p:nvPr>
        </p:nvSpPr>
        <p:spPr>
          <a:xfrm>
            <a:off x="4645152" y="1268760"/>
            <a:ext cx="3743272" cy="46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216"/>
              <a:buNone/>
            </a:pPr>
            <a:r>
              <a:rPr b="1" lang="en-IN" sz="1600"/>
              <a:t>Space Complexity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In recursion,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the system needs to store activation record each time a recursive call is made. </a:t>
            </a:r>
            <a:endParaRPr/>
          </a:p>
          <a:p>
            <a:pPr indent="-177800" lvl="1" marL="6400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1" marL="64008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Thus, space complexity of recursive function </a:t>
            </a:r>
            <a:endParaRPr/>
          </a:p>
          <a:p>
            <a:pPr indent="-228600" lvl="2" marL="9144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may go higher than that of a function with iteration.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1221" name="Google Shape;1221;p99"/>
          <p:cNvSpPr txBox="1"/>
          <p:nvPr/>
        </p:nvSpPr>
        <p:spPr>
          <a:xfrm>
            <a:off x="467544" y="332656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Application of Stack –Recursion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2" name="Google Shape;1222;p9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01-08-2023</a:t>
            </a:r>
            <a:endParaRPr/>
          </a:p>
        </p:txBody>
      </p:sp>
      <p:sp>
        <p:nvSpPr>
          <p:cNvPr id="1223" name="Google Shape;1223;p9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24" name="Google Shape;1224;p9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ustin">
  <a:themeElements>
    <a:clrScheme name="Austin">
      <a:dk1>
        <a:srgbClr val="000000"/>
      </a:dk1>
      <a:lt1>
        <a:srgbClr val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2020-07-23T11:45:28Z</dcterms:created>
  <dc:creator>Admin</dc:creator>
</cp:coreProperties>
</file>