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y="6858000" cx="9144000"/>
  <p:notesSz cx="6858000" cy="9144000"/>
  <p:embeddedFontLst>
    <p:embeddedFont>
      <p:font typeface="Century Gothic"/>
      <p:regular r:id="rId107"/>
      <p:bold r:id="rId108"/>
      <p:italic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1" roundtripDataSignature="AMtx7mjBG89PfS5p7E6rrV70LJo3iHS4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70A626-C71C-47AA-B21C-966C5B745C66}">
  <a:tblStyle styleId="{4D70A626-C71C-47AA-B21C-966C5B745C66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5E6"/>
          </a:solidFill>
        </a:fill>
      </a:tcStyle>
    </a:wholeTbl>
    <a:band1H>
      <a:tcTxStyle/>
      <a:tcStyle>
        <a:fill>
          <a:solidFill>
            <a:srgbClr val="DCEACA"/>
          </a:solidFill>
        </a:fill>
      </a:tcStyle>
    </a:band1H>
    <a:band2H>
      <a:tcTxStyle/>
    </a:band2H>
    <a:band1V>
      <a:tcTxStyle/>
      <a:tcStyle>
        <a:fill>
          <a:solidFill>
            <a:srgbClr val="DCE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CenturyGothic-regular.fntdata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font" Target="fonts/CenturyGothic-italic.fntdata"/><Relationship Id="rId108" Type="http://schemas.openxmlformats.org/officeDocument/2006/relationships/font" Target="fonts/CenturyGothic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10" Type="http://schemas.openxmlformats.org/officeDocument/2006/relationships/font" Target="fonts/CenturyGothic-boldItalic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11" Type="http://customschemas.google.com/relationships/presentationmetadata" Target="meta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9" name="Google Shape;1239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02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102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102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10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10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10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102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10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10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10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102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10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10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10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102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102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102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102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102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102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102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02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10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10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102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10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102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10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102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102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10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102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10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102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102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102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102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10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102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102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102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02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2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02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2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02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2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02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3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10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5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5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10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0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0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06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29" name="Google Shape;129;p106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7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3" name="Google Shape;133;p107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4" name="Google Shape;134;p107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5" name="Google Shape;135;p107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6" name="Google Shape;136;p10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09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10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109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109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10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109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109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10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109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109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109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109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109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10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09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10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109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109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09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10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10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109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09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10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109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10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109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109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10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0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109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09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10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0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109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109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10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109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09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09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10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11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110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11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11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110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11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11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110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11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11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110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110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110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110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10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10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10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110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11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1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10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1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10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10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10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10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1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10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10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10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110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11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110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110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11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110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1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10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11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110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0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110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1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10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1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1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2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2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1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1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101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101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101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101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101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101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101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101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01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01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01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01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0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0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0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01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10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101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101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10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101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10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101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101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101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101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10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101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101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101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101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101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10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0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10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10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10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4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png"/><Relationship Id="rId4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jpg"/><Relationship Id="rId4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39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Relationship Id="rId4" Type="http://schemas.openxmlformats.org/officeDocument/2006/relationships/image" Target="../media/image4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Relationship Id="rId4" Type="http://schemas.openxmlformats.org/officeDocument/2006/relationships/image" Target="../media/image5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3.png"/><Relationship Id="rId4" Type="http://schemas.openxmlformats.org/officeDocument/2006/relationships/image" Target="../media/image5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3.png"/><Relationship Id="rId4" Type="http://schemas.openxmlformats.org/officeDocument/2006/relationships/image" Target="../media/image5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3.png"/><Relationship Id="rId4" Type="http://schemas.openxmlformats.org/officeDocument/2006/relationships/image" Target="../media/image5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3.png"/><Relationship Id="rId4" Type="http://schemas.openxmlformats.org/officeDocument/2006/relationships/image" Target="../media/image5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2.png"/><Relationship Id="rId4" Type="http://schemas.openxmlformats.org/officeDocument/2006/relationships/image" Target="../media/image63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7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7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8.jpg"/><Relationship Id="rId4" Type="http://schemas.openxmlformats.org/officeDocument/2006/relationships/image" Target="../media/image6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7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Graphs</a:t>
            </a:r>
            <a:endParaRPr/>
          </a:p>
        </p:txBody>
      </p:sp>
      <p:sp>
        <p:nvSpPr>
          <p:cNvPr id="260" name="Google Shape;260;p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261" name="Google Shape;261;p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2" name="Google Shape;262;p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US"/>
              <a:t>Graph</a:t>
            </a:r>
            <a:endParaRPr/>
          </a:p>
        </p:txBody>
      </p:sp>
      <p:sp>
        <p:nvSpPr>
          <p:cNvPr id="268" name="Google Shape;268;p2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Collection of 2 sets V &amp;E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V=Set of Nodes=(v1,v1,v2……vn)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E=Set of Edges=(e1,e2,e3………en)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Edge=an arc that connects 2 nodes</a:t>
            </a:r>
            <a:endParaRPr/>
          </a:p>
        </p:txBody>
      </p:sp>
      <p:sp>
        <p:nvSpPr>
          <p:cNvPr id="269" name="Google Shape;269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270" name="Google Shape;270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1" name="Google Shape;271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US"/>
              <a:t>Graph</a:t>
            </a:r>
            <a:endParaRPr/>
          </a:p>
        </p:txBody>
      </p:sp>
      <p:sp>
        <p:nvSpPr>
          <p:cNvPr id="277" name="Google Shape;277;p3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2 Types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Undirected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Directed</a:t>
            </a:r>
            <a:endParaRPr sz="2000"/>
          </a:p>
        </p:txBody>
      </p:sp>
      <p:sp>
        <p:nvSpPr>
          <p:cNvPr id="278" name="Google Shape;278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279" name="Google Shape;279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0" name="Google Shape;280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"/>
          <p:cNvSpPr txBox="1"/>
          <p:nvPr>
            <p:ph type="title"/>
          </p:nvPr>
        </p:nvSpPr>
        <p:spPr>
          <a:xfrm>
            <a:off x="1066800" y="4572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/>
              <a:t>Undirected Graph </a:t>
            </a:r>
            <a:endParaRPr/>
          </a:p>
        </p:txBody>
      </p:sp>
      <p:sp>
        <p:nvSpPr>
          <p:cNvPr id="286" name="Google Shape;286;p4"/>
          <p:cNvSpPr txBox="1"/>
          <p:nvPr>
            <p:ph idx="1" type="body"/>
          </p:nvPr>
        </p:nvSpPr>
        <p:spPr>
          <a:xfrm>
            <a:off x="1066800" y="11430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graph, which has </a:t>
            </a:r>
            <a:r>
              <a:rPr b="1" i="1" lang="en-US" sz="2000"/>
              <a:t>unordered pair of vertices</a:t>
            </a:r>
            <a:r>
              <a:rPr i="1" lang="en-US" sz="2000"/>
              <a:t>, is called undirected graph.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Suppose there is an edge between v</a:t>
            </a:r>
            <a:r>
              <a:rPr baseline="-25000" i="1" lang="en-US" sz="2000"/>
              <a:t>0 </a:t>
            </a:r>
            <a:r>
              <a:rPr i="1" lang="en-US" sz="2000"/>
              <a:t>&amp; v</a:t>
            </a:r>
            <a:r>
              <a:rPr baseline="-25000" i="1" lang="en-US" sz="2000"/>
              <a:t>1</a:t>
            </a:r>
            <a:r>
              <a:rPr i="1" lang="en-US" sz="2000"/>
              <a:t> then it can be represented as </a:t>
            </a:r>
            <a:r>
              <a:rPr b="1" i="1" lang="en-US" sz="2000"/>
              <a:t>(v</a:t>
            </a:r>
            <a:r>
              <a:rPr b="1" baseline="-25000" i="1" lang="en-US" sz="2000"/>
              <a:t>0</a:t>
            </a:r>
            <a:r>
              <a:rPr b="1" i="1" lang="en-US" sz="2000"/>
              <a:t>,v</a:t>
            </a:r>
            <a:r>
              <a:rPr b="1" baseline="-25000" i="1" lang="en-US" sz="2000"/>
              <a:t>1</a:t>
            </a:r>
            <a:r>
              <a:rPr b="1" i="1" lang="en-US" sz="2000"/>
              <a:t>) or (v</a:t>
            </a:r>
            <a:r>
              <a:rPr b="1" baseline="-25000" i="1" lang="en-US" sz="2000"/>
              <a:t>1</a:t>
            </a:r>
            <a:r>
              <a:rPr b="1" i="1" lang="en-US" sz="2000"/>
              <a:t>,v</a:t>
            </a:r>
            <a:r>
              <a:rPr b="1" baseline="-25000" i="1" lang="en-US" sz="2000"/>
              <a:t>0</a:t>
            </a:r>
            <a:r>
              <a:rPr b="1" i="1" lang="en-US" sz="2000"/>
              <a:t>) also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V(G) = {1,2,3,4}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E(G) = { (1,2), (1,3), (1,4), (2,3), (2,4), (3,4) }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287" name="Google Shape;2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3733800"/>
            <a:ext cx="30480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289" name="Google Shape;289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0" name="Google Shape;290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/>
              <a:t>Directed Graph</a:t>
            </a:r>
            <a:endParaRPr/>
          </a:p>
        </p:txBody>
      </p:sp>
      <p:sp>
        <p:nvSpPr>
          <p:cNvPr id="296" name="Google Shape;296;p5"/>
          <p:cNvSpPr txBox="1"/>
          <p:nvPr>
            <p:ph idx="1" type="body"/>
          </p:nvPr>
        </p:nvSpPr>
        <p:spPr>
          <a:xfrm>
            <a:off x="762000" y="1066800"/>
            <a:ext cx="7315200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graph which has </a:t>
            </a:r>
            <a:r>
              <a:rPr b="1" i="1" lang="en-US" sz="2000"/>
              <a:t>ordered pair of vertices &lt;v1,v2&gt; where edge starts from v1 and ends at v2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Each edge has direction, means </a:t>
            </a:r>
            <a:r>
              <a:rPr b="1" i="1" lang="en-US" sz="2000"/>
              <a:t>&lt;v1,v2&gt; and &lt;v2,v1&gt; will represent different edges.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Directed means that a direction will be associated with that edge.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Also known as </a:t>
            </a:r>
            <a:r>
              <a:rPr b="1" i="1" lang="en-US" sz="2000"/>
              <a:t>digraph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97" name="Google Shape;297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298" name="Google Shape;298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9" name="Google Shape;299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/>
              <a:t>Directed Graph</a:t>
            </a:r>
            <a:endParaRPr/>
          </a:p>
        </p:txBody>
      </p:sp>
      <p:sp>
        <p:nvSpPr>
          <p:cNvPr id="305" name="Google Shape;305;p6"/>
          <p:cNvSpPr txBox="1"/>
          <p:nvPr>
            <p:ph idx="1" type="body"/>
          </p:nvPr>
        </p:nvSpPr>
        <p:spPr>
          <a:xfrm>
            <a:off x="762000" y="1066800"/>
            <a:ext cx="7315200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V(G) = {1,2,3,4,5}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E(G) = { &lt;1,2&gt;, &lt;2,3&gt;, &lt;4,3&gt;, &lt;4,1&gt;, &lt;4,5&gt;, &lt;5,1&gt; }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descr="https://2.bp.blogspot.com/-AfJ_e54AD7A/XBUvEz8Q0ZI/AAAAAAAAFjg/BR-jPff3rn8qvqh-aEN8LJIzke1ePmijgCLcBGAs/s400/New%2BDoc%2B2018-12-15%2B20.52.37_2.jpg" id="306" name="Google Shape;3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590800"/>
            <a:ext cx="3429000" cy="165735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08" name="Google Shape;308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9" name="Google Shape;309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15" name="Google Shape;315;p7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Weighted Graph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graph is said to be weighted if it's edges have been assigned some </a:t>
            </a:r>
            <a:r>
              <a:rPr b="1" i="1" lang="en-US" sz="2000"/>
              <a:t>non negative value as weight</a:t>
            </a:r>
            <a:r>
              <a:rPr i="1" lang="en-US" sz="2000"/>
              <a:t>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weighted graph is also known as network.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Graph G9 is a weighted graph.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316" name="Google Shape;3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3477490"/>
            <a:ext cx="4831773" cy="193271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18" name="Google Shape;318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9" name="Google Shape;319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25" name="Google Shape;325;p8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Adjacent nodes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node u is adjacent to another node or is a neighbor of another node v </a:t>
            </a:r>
            <a:r>
              <a:rPr b="1" i="1" lang="en-US" sz="2000"/>
              <a:t>if there is an edge from node u to node v. 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undirected graph if </a:t>
            </a:r>
            <a:r>
              <a:rPr b="1" i="1" lang="en-US" sz="2000"/>
              <a:t>(v0,v1)</a:t>
            </a:r>
            <a:r>
              <a:rPr i="1" lang="en-US" sz="2000"/>
              <a:t> is an edge then v0 is adjacent to v1 and v1 is adjacent to v0. </a:t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a digraph if </a:t>
            </a:r>
            <a:r>
              <a:rPr b="1" i="1" lang="en-US" sz="2000"/>
              <a:t>&lt;v0,v1&gt; </a:t>
            </a:r>
            <a:r>
              <a:rPr i="1" lang="en-US" sz="2000"/>
              <a:t>is an edge then v0 is adjacent to v1 and v1 is adjacent from v0</a:t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26" name="Google Shape;326;p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27" name="Google Shape;327;p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8" name="Google Shape;328;p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34" name="Google Shape;334;p9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Incidence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an undirected graph the </a:t>
            </a:r>
            <a:r>
              <a:rPr b="1" i="1" lang="en-US" sz="2000"/>
              <a:t>edge (v0,v1) is incident on nodes v0 and v1</a:t>
            </a:r>
            <a:r>
              <a:rPr i="1" lang="en-US" sz="2000"/>
              <a:t>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a digraph the </a:t>
            </a:r>
            <a:r>
              <a:rPr b="1" i="1" lang="en-US" sz="2000"/>
              <a:t>edge &lt;v0,v1&gt; is incident from node v0 and is incident to node v1.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Path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path from node u0 to node un is a sequence or nodes u</a:t>
            </a:r>
            <a:r>
              <a:rPr baseline="-25000" i="1" lang="en-US" sz="2000"/>
              <a:t>0</a:t>
            </a:r>
            <a:r>
              <a:rPr i="1" lang="en-US" sz="2000"/>
              <a:t>,u</a:t>
            </a:r>
            <a:r>
              <a:rPr baseline="-25000" i="1" lang="en-US" sz="2000"/>
              <a:t>1</a:t>
            </a:r>
            <a:r>
              <a:rPr i="1" lang="en-US" sz="2000"/>
              <a:t>,u</a:t>
            </a:r>
            <a:r>
              <a:rPr baseline="-25000" i="1" lang="en-US" sz="2000"/>
              <a:t>2</a:t>
            </a:r>
            <a:r>
              <a:rPr i="1" lang="en-US" sz="2000"/>
              <a:t>,u</a:t>
            </a:r>
            <a:r>
              <a:rPr baseline="-25000" i="1" lang="en-US" sz="2000"/>
              <a:t>3</a:t>
            </a:r>
            <a:r>
              <a:rPr i="1" lang="en-US" sz="2000"/>
              <a:t>.......u</a:t>
            </a:r>
            <a:r>
              <a:rPr baseline="-25000" i="1" lang="en-US" sz="2000"/>
              <a:t>n-1</a:t>
            </a:r>
            <a:r>
              <a:rPr i="1" lang="en-US" sz="2000"/>
              <a:t>,u</a:t>
            </a:r>
            <a:r>
              <a:rPr baseline="-25000" i="1" lang="en-US" sz="2000"/>
              <a:t>n </a:t>
            </a:r>
            <a:r>
              <a:rPr i="1" lang="en-US" sz="2000"/>
              <a:t> such that </a:t>
            </a:r>
            <a:r>
              <a:rPr b="1" i="1" lang="en-US" sz="2000"/>
              <a:t>u</a:t>
            </a:r>
            <a:r>
              <a:rPr b="1" baseline="-25000" i="1" lang="en-US" sz="2000"/>
              <a:t>0</a:t>
            </a:r>
            <a:r>
              <a:rPr b="1" i="1" lang="en-US" sz="2000"/>
              <a:t> is adjacent to u</a:t>
            </a:r>
            <a:r>
              <a:rPr b="1" baseline="-25000" i="1" lang="en-US" sz="2000"/>
              <a:t>1</a:t>
            </a:r>
            <a:r>
              <a:rPr b="1" i="1" lang="en-US" sz="2000"/>
              <a:t>, u</a:t>
            </a:r>
            <a:r>
              <a:rPr b="1" baseline="-25000" i="1" lang="en-US" sz="2000"/>
              <a:t>1</a:t>
            </a:r>
            <a:r>
              <a:rPr b="1" i="1" lang="en-US" sz="2000"/>
              <a:t> is adjacent to u</a:t>
            </a:r>
            <a:r>
              <a:rPr b="1" baseline="-25000" i="1" lang="en-US" sz="2000"/>
              <a:t>2</a:t>
            </a:r>
            <a:r>
              <a:rPr b="1" i="1" lang="en-US" sz="2000"/>
              <a:t>,...........,u</a:t>
            </a:r>
            <a:r>
              <a:rPr b="1" baseline="-25000" i="1" lang="en-US" sz="2000"/>
              <a:t>n-1</a:t>
            </a:r>
            <a:r>
              <a:rPr b="1" i="1" lang="en-US" sz="2000"/>
              <a:t> is adjacent to u</a:t>
            </a:r>
            <a:r>
              <a:rPr b="1" baseline="-25000" i="1" lang="en-US" sz="2000"/>
              <a:t>n </a:t>
            </a:r>
            <a:r>
              <a:rPr b="1" i="1" lang="en-US" sz="2000"/>
              <a:t>. 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Length of path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Length of a path is the </a:t>
            </a:r>
            <a:r>
              <a:rPr b="1" i="1" lang="en-US" sz="2000"/>
              <a:t>total number of edges included in the path.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35" name="Google Shape;335;p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36" name="Google Shape;336;p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7" name="Google Shape;337;p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43" name="Google Shape;343;p10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Closed path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path is said to be closed </a:t>
            </a:r>
            <a:r>
              <a:rPr b="1" i="1" lang="en-US" sz="2000"/>
              <a:t>if first and last nodes of the path are same.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Simple path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Simple path is a path in which </a:t>
            </a:r>
            <a:r>
              <a:rPr b="1" i="1" lang="en-US" sz="2000"/>
              <a:t>all the nodes are distinct with an exception that the first and last nodes of the path can be same.</a:t>
            </a:r>
            <a:endParaRPr b="1" sz="2000"/>
          </a:p>
        </p:txBody>
      </p:sp>
      <p:sp>
        <p:nvSpPr>
          <p:cNvPr id="344" name="Google Shape;344;p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45" name="Google Shape;345;p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6" name="Google Shape;346;p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52" name="Google Shape;352;p11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Cycle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Cycle is a simple path in which </a:t>
            </a:r>
            <a:r>
              <a:rPr b="1" i="1" lang="en-US" sz="2000"/>
              <a:t>first and last nodes are the same</a:t>
            </a:r>
            <a:r>
              <a:rPr i="1" lang="en-US" sz="2000"/>
              <a:t> or we can say that </a:t>
            </a:r>
            <a:r>
              <a:rPr b="1" i="1" lang="en-US" sz="2000"/>
              <a:t>a closed simple path </a:t>
            </a:r>
            <a:r>
              <a:rPr i="1" lang="en-US" sz="2000"/>
              <a:t>is a cycle.</a:t>
            </a:r>
            <a:endParaRPr sz="2000"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Char char="⮚"/>
            </a:pPr>
            <a:r>
              <a:rPr i="1" lang="en-US"/>
              <a:t>In graph G7, path ACBA is a cycle</a:t>
            </a:r>
            <a:endParaRPr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Font typeface="Noto Sans Symbols"/>
              <a:buChar char="⮚"/>
            </a:pPr>
            <a:r>
              <a:rPr i="1" lang="en-US"/>
              <a:t>In graph G9 path ABA is a cycle.</a:t>
            </a:r>
            <a:endParaRPr/>
          </a:p>
        </p:txBody>
      </p:sp>
      <p:pic>
        <p:nvPicPr>
          <p:cNvPr id="353" name="Google Shape;3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810000"/>
            <a:ext cx="2209800" cy="193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3821962"/>
            <a:ext cx="2347913" cy="219783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56" name="Google Shape;356;p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7" name="Google Shape;357;p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63" name="Google Shape;363;p12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Cyclic graph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A graph that has cycles </a:t>
            </a:r>
            <a:r>
              <a:rPr i="1" lang="en-US" sz="2000"/>
              <a:t>is called a cyclic graph.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Acyclic graph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A graph that has no cycles </a:t>
            </a:r>
            <a:r>
              <a:rPr i="1" lang="en-US" sz="2000"/>
              <a:t>is called an acyclic graph.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b="1"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Dag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 </a:t>
            </a:r>
            <a:r>
              <a:rPr b="1" i="1" lang="en-US" sz="2000"/>
              <a:t>directed acyclic graph </a:t>
            </a:r>
            <a:r>
              <a:rPr i="1" lang="en-US" sz="2000"/>
              <a:t>is named as dag after its acronym.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Graph G5 is an example of a dag.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</p:txBody>
      </p:sp>
      <p:pic>
        <p:nvPicPr>
          <p:cNvPr id="364" name="Google Shape;3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4419600"/>
            <a:ext cx="2233561" cy="162401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66" name="Google Shape;366;p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7" name="Google Shape;367;p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73" name="Google Shape;373;p13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Degree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an undirected graph,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the number of edges connected to a node</a:t>
            </a:r>
            <a:r>
              <a:rPr i="1" lang="en-US" sz="2000"/>
              <a:t> is called the degree of that node, </a:t>
            </a:r>
            <a:endParaRPr i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i="1" lang="en-US" sz="2000"/>
              <a:t>			or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we can say that degree of a node is the number of edges incident on it. </a:t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graph G2 degree of node A is 1, degree of node B is zero. </a:t>
            </a:r>
            <a:endParaRPr i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</p:txBody>
      </p:sp>
      <p:pic>
        <p:nvPicPr>
          <p:cNvPr id="374" name="Google Shape;3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4572000"/>
            <a:ext cx="2366963" cy="156686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76" name="Google Shape;376;p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77" name="Google Shape;377;p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4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83" name="Google Shape;383;p14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In a digraph, there are two degrees for every node known as indegree and outdegree.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br>
              <a:rPr i="1" lang="en-US" sz="1800"/>
            </a:br>
            <a:r>
              <a:rPr b="1" i="1" lang="en-US" sz="1800"/>
              <a:t>Indegree  </a:t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Outdegree</a:t>
            </a:r>
            <a:endParaRPr b="1" i="1" sz="1800"/>
          </a:p>
        </p:txBody>
      </p:sp>
      <p:sp>
        <p:nvSpPr>
          <p:cNvPr id="384" name="Google Shape;384;p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85" name="Google Shape;385;p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86" name="Google Shape;386;p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 Terminology</a:t>
            </a:r>
            <a:endParaRPr b="1" sz="2400"/>
          </a:p>
        </p:txBody>
      </p:sp>
      <p:sp>
        <p:nvSpPr>
          <p:cNvPr id="393" name="Google Shape;393;p15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Indegree :- </a:t>
            </a:r>
            <a:endParaRPr b="1"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The indegree of a node is the number of edges coming to that node or in other words edges incident to it. </a:t>
            </a:r>
            <a:endParaRPr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In graph G8, the indegree of nodes A, B, D and G are 0, 2, 6 and 1 respectively.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Outdegree :- </a:t>
            </a:r>
            <a:endParaRPr b="1"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The outdegree of node is the number of edges going outside from that node, or in other words the edges incident from it. </a:t>
            </a:r>
            <a:endParaRPr i="1" sz="18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In graph G8, outdegrees of nodes A, B, D, F, and G are 3, 1, 0, 3, and 2 respectively.</a:t>
            </a:r>
            <a:br>
              <a:rPr lang="en-US" sz="2000"/>
            </a:br>
            <a:endParaRPr b="1" i="1" sz="2000"/>
          </a:p>
        </p:txBody>
      </p:sp>
      <p:pic>
        <p:nvPicPr>
          <p:cNvPr id="394" name="Google Shape;3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9" y="3962400"/>
            <a:ext cx="254047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396" name="Google Shape;396;p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97" name="Google Shape;397;p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03" name="Google Shape;403;p16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There are two ways for representing the graph in computer memory. </a:t>
            </a:r>
            <a:endParaRPr b="1" i="1"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sequential representation and </a:t>
            </a:r>
            <a:endParaRPr b="1" i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linked list representation.</a:t>
            </a:r>
            <a:endParaRPr sz="18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b="1" i="1" sz="2000"/>
          </a:p>
        </p:txBody>
      </p:sp>
      <p:sp>
        <p:nvSpPr>
          <p:cNvPr id="404" name="Google Shape;404;p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05" name="Google Shape;405;p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06" name="Google Shape;406;p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12" name="Google Shape;412;p17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Adjacency Matrix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Keeps the information of adjacent nodes. </a:t>
            </a:r>
            <a:endParaRPr i="1"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that whether this node is adjacent to any other node or not. </a:t>
            </a:r>
            <a:endParaRPr i="1" sz="1800"/>
          </a:p>
        </p:txBody>
      </p:sp>
      <p:sp>
        <p:nvSpPr>
          <p:cNvPr id="413" name="Google Shape;413;p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14" name="Google Shape;414;p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15" name="Google Shape;415;p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21" name="Google Shape;421;p18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Adjacency Matrix :- 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Represent a matrix in two dimensional array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array[n][n]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 Suppose there are 4 nodes in graph then row1 represents the node1, row2 represents the node2 and so on. </a:t>
            </a:r>
            <a:endParaRPr i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Similarly column1 represents node1, column2 represents nde2 and so on. </a:t>
            </a:r>
            <a:endParaRPr i="1" sz="18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 entry of this matrix will be as-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Arr[i][j] = 1 If there is an edge from node i to node j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              = 0 If there is no edge from node i to node j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Hence, all the entries of this matrix will be either 1 or 0.</a:t>
            </a:r>
            <a:endParaRPr sz="2000"/>
          </a:p>
        </p:txBody>
      </p:sp>
      <p:sp>
        <p:nvSpPr>
          <p:cNvPr id="422" name="Google Shape;422;p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23" name="Google Shape;423;p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24" name="Google Shape;424;p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30" name="Google Shape;430;p19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Adjacency Matrix :- </a:t>
            </a:r>
            <a:endParaRPr b="1" i="1" sz="2000"/>
          </a:p>
        </p:txBody>
      </p:sp>
      <p:pic>
        <p:nvPicPr>
          <p:cNvPr id="431" name="Google Shape;4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28765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1.bp.blogspot.com/-UJVFegfBUe4/XBXdcDJsjsI/AAAAAAAAFj8/lQYIxBkiosoZ1Yibd_VMatjgrsDh-dRggCLcBGAs/s400/New%2BDoc%2B2018-12-16%2B10.21.22_2.jpg" id="432" name="Google Shape;4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3352800"/>
            <a:ext cx="4267200" cy="176991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9"/>
          <p:cNvSpPr/>
          <p:nvPr/>
        </p:nvSpPr>
        <p:spPr>
          <a:xfrm>
            <a:off x="990600" y="5486400"/>
            <a:ext cx="7086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arr[0][1] = 1, which represents there is an edge in the graph from node A to node B.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1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35" name="Google Shape;435;p1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36" name="Google Shape;436;p1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42" name="Google Shape;442;p20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Adjacency Matrix :- </a:t>
            </a:r>
            <a:endParaRPr b="1" i="1" sz="2000"/>
          </a:p>
        </p:txBody>
      </p:sp>
      <p:sp>
        <p:nvSpPr>
          <p:cNvPr id="443" name="Google Shape;443;p20"/>
          <p:cNvSpPr/>
          <p:nvPr/>
        </p:nvSpPr>
        <p:spPr>
          <a:xfrm>
            <a:off x="990600" y="5486400"/>
            <a:ext cx="7086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arr[0][1] = 1, which represents there is an edge in the graph from node A to node B.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4" name="Google Shape;4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676401"/>
            <a:ext cx="30480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3.bp.blogspot.com/-YiLjLC2e444/XBZyS10oToI/AAAAAAAACOE/swmqL22fVhAQ7VTJc7TA6320817hYweDgCLcBGAs/s400/New%2BDoc%2B2018-12-16%2B10.21.22_4.jpg" id="445" name="Google Shape;4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3733800"/>
            <a:ext cx="45720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47" name="Google Shape;447;p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48" name="Google Shape;448;p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 txBox="1"/>
          <p:nvPr>
            <p:ph idx="1" type="body"/>
          </p:nvPr>
        </p:nvSpPr>
        <p:spPr>
          <a:xfrm>
            <a:off x="1066800" y="1219200"/>
            <a:ext cx="6777317" cy="514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Adjacency Matrix :- 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US" sz="1800"/>
              <a:t>In an undirected graph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rowsum and columnsum for a node is same and represents the degree of that node and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454" name="Google Shape;454;p21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55" name="Google Shape;455;p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56" name="Google Shape;456;p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57" name="Google Shape;457;p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3.bp.blogspot.com/-YiLjLC2e444/XBZyS10oToI/AAAAAAAACOE/swmqL22fVhAQ7VTJc7TA6320817hYweDgCLcBGAs/s400/New%2BDoc%2B2018-12-16%2B10.21.22_4.jpg" id="458" name="Google Shape;4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4572000"/>
            <a:ext cx="4572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9400" y="2743200"/>
            <a:ext cx="2413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"/>
          <p:cNvSpPr txBox="1"/>
          <p:nvPr>
            <p:ph idx="1" type="body"/>
          </p:nvPr>
        </p:nvSpPr>
        <p:spPr>
          <a:xfrm>
            <a:off x="1066800" y="1066800"/>
            <a:ext cx="6777317" cy="514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Adjacency Matrix :- 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US" sz="1800"/>
              <a:t>In directed graph,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rowsum represents the outdegree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columnsum represents the indegree of that node.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US" sz="1800"/>
              <a:t>  </a:t>
            </a:r>
            <a:endParaRPr sz="1800"/>
          </a:p>
        </p:txBody>
      </p:sp>
      <p:sp>
        <p:nvSpPr>
          <p:cNvPr id="465" name="Google Shape;465;p22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66" name="Google Shape;466;p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67" name="Google Shape;467;p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8" name="Google Shape;468;p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9" name="Google Shape;4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497282"/>
            <a:ext cx="28765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1.bp.blogspot.com/-UJVFegfBUe4/XBXdcDJsjsI/AAAAAAAAFj8/lQYIxBkiosoZ1Yibd_VMatjgrsDh-dRggCLcBGAs/s400/New%2BDoc%2B2018-12-16%2B10.21.22_2.jpg" id="470" name="Google Shape;4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4249882"/>
            <a:ext cx="4267200" cy="1769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3"/>
          <p:cNvSpPr txBox="1"/>
          <p:nvPr>
            <p:ph idx="1" type="body"/>
          </p:nvPr>
        </p:nvSpPr>
        <p:spPr>
          <a:xfrm>
            <a:off x="1066800" y="1219200"/>
            <a:ext cx="6777317" cy="514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i="1" lang="en-US" sz="1800"/>
              <a:t>Adjacency Matrix :- 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US" sz="1800"/>
              <a:t>Weighted Graph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US" sz="1800"/>
              <a:t>  </a:t>
            </a:r>
            <a:endParaRPr sz="1800"/>
          </a:p>
        </p:txBody>
      </p:sp>
      <p:pic>
        <p:nvPicPr>
          <p:cNvPr id="476" name="Google Shape;4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891" y="2209800"/>
            <a:ext cx="5953124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3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78" name="Google Shape;478;p2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79" name="Google Shape;479;p2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0" name="Google Shape;480;p2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 txBox="1"/>
          <p:nvPr>
            <p:ph type="title"/>
          </p:nvPr>
        </p:nvSpPr>
        <p:spPr>
          <a:xfrm>
            <a:off x="914400" y="4942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i="1" lang="en-US" sz="2400"/>
              <a:t>Representation of Graph </a:t>
            </a:r>
            <a:endParaRPr b="1" sz="2400"/>
          </a:p>
        </p:txBody>
      </p:sp>
      <p:sp>
        <p:nvSpPr>
          <p:cNvPr id="486" name="Google Shape;486;p24"/>
          <p:cNvSpPr txBox="1"/>
          <p:nvPr>
            <p:ph idx="1" type="body"/>
          </p:nvPr>
        </p:nvSpPr>
        <p:spPr>
          <a:xfrm>
            <a:off x="762000" y="1066800"/>
            <a:ext cx="7315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Adjacency Matrix :- </a:t>
            </a:r>
            <a:endParaRPr b="1" i="1" sz="2000"/>
          </a:p>
        </p:txBody>
      </p:sp>
      <p:sp>
        <p:nvSpPr>
          <p:cNvPr id="487" name="Google Shape;487;p24"/>
          <p:cNvSpPr/>
          <p:nvPr/>
        </p:nvSpPr>
        <p:spPr>
          <a:xfrm>
            <a:off x="990600" y="5486400"/>
            <a:ext cx="7086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arr[0][1] = weight, which represents there is an weighted edge in the graph from node A to node B.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1.bp.blogspot.com/-OF4JGHqRvY4/XBZzjoeDKjI/AAAAAAAACOQ/avrEXI1tmCArbB6dz22Vv_Pjoh8LTlttACLcBGAs/s320/New%2BDoc%2B2018-12-16%2B10.21.22_5.jpg" id="488" name="Google Shape;4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524000"/>
            <a:ext cx="2438400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4.bp.blogspot.com/-NhP_t2R5aAo/XBZzyVn4smI/AAAAAAAACOU/rQlv_grr3a4OAAp22J_Xzc-z4zUPRLWiQCLcBGAs/s400/New%2BDoc%2B2018-12-16%2B10.21.22_6.jpg" id="489" name="Google Shape;4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3657600"/>
            <a:ext cx="4191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491" name="Google Shape;491;p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2" name="Google Shape;492;p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"/>
          <p:cNvSpPr txBox="1"/>
          <p:nvPr>
            <p:ph type="title"/>
          </p:nvPr>
        </p:nvSpPr>
        <p:spPr>
          <a:xfrm>
            <a:off x="1043490" y="10276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 sz="2800"/>
              <a:t>Adjacency List :-</a:t>
            </a:r>
            <a:endParaRPr sz="2800"/>
          </a:p>
        </p:txBody>
      </p:sp>
      <p:sp>
        <p:nvSpPr>
          <p:cNvPr id="498" name="Google Shape;498;p25"/>
          <p:cNvSpPr txBox="1"/>
          <p:nvPr>
            <p:ph idx="1" type="body"/>
          </p:nvPr>
        </p:nvSpPr>
        <p:spPr>
          <a:xfrm>
            <a:off x="1043492" y="1676400"/>
            <a:ext cx="6777317" cy="4156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b="1" i="1" lang="en-US"/>
              <a:t> </a:t>
            </a:r>
            <a:r>
              <a:rPr i="1" lang="en-US" sz="2000"/>
              <a:t>If the adjacency matrix of the graph is sparse then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 it is more efficient to represent the graph through adjacency list.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We will maintain </a:t>
            </a:r>
            <a:r>
              <a:rPr b="1" i="1" lang="en-US" sz="2000"/>
              <a:t>two lists.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First list will keep </a:t>
            </a:r>
            <a:r>
              <a:rPr b="1" i="1" lang="en-US" sz="2000"/>
              <a:t>track of all the nodes </a:t>
            </a:r>
            <a:r>
              <a:rPr i="1" lang="en-US" sz="2000"/>
              <a:t>in the graph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Second list will maintain </a:t>
            </a:r>
            <a:r>
              <a:rPr b="1" i="1" lang="en-US" sz="2000"/>
              <a:t>a list of adjacent nodes for each node. </a:t>
            </a:r>
            <a:endParaRPr b="1" i="1" sz="2000"/>
          </a:p>
        </p:txBody>
      </p:sp>
      <p:sp>
        <p:nvSpPr>
          <p:cNvPr id="499" name="Google Shape;499;p2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00" name="Google Shape;500;p2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01" name="Google Shape;501;p2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/>
          <p:nvPr>
            <p:ph type="title"/>
          </p:nvPr>
        </p:nvSpPr>
        <p:spPr>
          <a:xfrm>
            <a:off x="1043490" y="10276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 sz="2800"/>
              <a:t>Adjacency List :-</a:t>
            </a:r>
            <a:endParaRPr sz="2800"/>
          </a:p>
        </p:txBody>
      </p:sp>
      <p:sp>
        <p:nvSpPr>
          <p:cNvPr id="507" name="Google Shape;507;p26"/>
          <p:cNvSpPr txBox="1"/>
          <p:nvPr>
            <p:ph idx="1" type="body"/>
          </p:nvPr>
        </p:nvSpPr>
        <p:spPr>
          <a:xfrm>
            <a:off x="609600" y="1676400"/>
            <a:ext cx="4724399" cy="41562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b="1" i="1" lang="en-US"/>
              <a:t> </a:t>
            </a:r>
            <a:r>
              <a:rPr b="1" i="1" lang="en-US" sz="2000"/>
              <a:t>Suppose there are n nodes then we will create one list which will keep information of all nodes in the graph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After that we will create n lists, where each list will keep information of all adjacent nodes of that particular node.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 Each list has a header node, which will be the corresponding node in the first list.</a:t>
            </a:r>
            <a:endParaRPr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508" name="Google Shape;508;p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09" name="Google Shape;509;p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1" name="Google Shape;5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676400"/>
            <a:ext cx="31242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"/>
          <p:cNvSpPr txBox="1"/>
          <p:nvPr>
            <p:ph type="title"/>
          </p:nvPr>
        </p:nvSpPr>
        <p:spPr>
          <a:xfrm>
            <a:off x="1043490" y="1027664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Structure of header node :</a:t>
            </a:r>
            <a:endParaRPr sz="2800"/>
          </a:p>
        </p:txBody>
      </p:sp>
      <p:pic>
        <p:nvPicPr>
          <p:cNvPr id="517" name="Google Shape;51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905000"/>
            <a:ext cx="66294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19" name="Google Shape;519;p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0" name="Google Shape;520;p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 txBox="1"/>
          <p:nvPr>
            <p:ph type="title"/>
          </p:nvPr>
        </p:nvSpPr>
        <p:spPr>
          <a:xfrm>
            <a:off x="1043490" y="1027664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Structure of edge :</a:t>
            </a:r>
            <a:endParaRPr sz="2800"/>
          </a:p>
        </p:txBody>
      </p:sp>
      <p:pic>
        <p:nvPicPr>
          <p:cNvPr id="526" name="Google Shape;52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209800"/>
            <a:ext cx="6781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28" name="Google Shape;528;p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9" name="Google Shape;529;p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"/>
          <p:cNvSpPr txBox="1"/>
          <p:nvPr>
            <p:ph type="title"/>
          </p:nvPr>
        </p:nvSpPr>
        <p:spPr>
          <a:xfrm>
            <a:off x="1043490" y="1027664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Adjacency list:</a:t>
            </a:r>
            <a:endParaRPr sz="2800"/>
          </a:p>
        </p:txBody>
      </p:sp>
      <p:pic>
        <p:nvPicPr>
          <p:cNvPr id="535" name="Google Shape;535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74068"/>
            <a:ext cx="3048000" cy="249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1676400"/>
            <a:ext cx="45720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38" name="Google Shape;538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9" name="Google Shape;539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0"/>
          <p:cNvSpPr txBox="1"/>
          <p:nvPr>
            <p:ph type="title"/>
          </p:nvPr>
        </p:nvSpPr>
        <p:spPr>
          <a:xfrm>
            <a:off x="1043490" y="1027664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Adjacency list:</a:t>
            </a:r>
            <a:endParaRPr sz="2800"/>
          </a:p>
        </p:txBody>
      </p:sp>
      <p:pic>
        <p:nvPicPr>
          <p:cNvPr id="545" name="Google Shape;545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09800"/>
            <a:ext cx="3048000" cy="1957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1.bp.blogspot.com/-41l5macW4Aw/XBc5jt7YSUI/AAAAAAAACPI/AomkDIxotw83B8PvxCPjF2OzASR0AoCtwCLcBGAs/s400/New%2BDoc%2B2018-12-17%2B11.08.24_6.jpg" id="546" name="Google Shape;5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1828800"/>
            <a:ext cx="41148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48" name="Google Shape;548;p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49" name="Google Shape;549;p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Adjacency Matrix Representation:</a:t>
            </a:r>
            <a:endParaRPr/>
          </a:p>
        </p:txBody>
      </p:sp>
      <p:pic>
        <p:nvPicPr>
          <p:cNvPr id="555" name="Google Shape;555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667000"/>
            <a:ext cx="2949766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2819400"/>
            <a:ext cx="37338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58" name="Google Shape;558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9" name="Google Shape;559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/>
              <a:t>Adjacency Matrix Representation:</a:t>
            </a:r>
            <a:endParaRPr/>
          </a:p>
        </p:txBody>
      </p:sp>
      <p:pic>
        <p:nvPicPr>
          <p:cNvPr id="565" name="Google Shape;56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399292"/>
            <a:ext cx="3254566" cy="2858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2428047"/>
            <a:ext cx="4172977" cy="2524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68" name="Google Shape;568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69" name="Google Shape;569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i="1" lang="en-US"/>
              <a:t>Operations on graph</a:t>
            </a:r>
            <a:endParaRPr/>
          </a:p>
        </p:txBody>
      </p:sp>
      <p:sp>
        <p:nvSpPr>
          <p:cNvPr id="575" name="Google Shape;575;p33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The two main operations on graph will be-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Insertion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Deletion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Here insertion and deletion will be also on two things-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On node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On edge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576" name="Google Shape;576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77" name="Google Shape;577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78" name="Google Shape;578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4"/>
          <p:cNvSpPr txBox="1"/>
          <p:nvPr>
            <p:ph type="title"/>
          </p:nvPr>
        </p:nvSpPr>
        <p:spPr>
          <a:xfrm>
            <a:off x="1059628" y="381000"/>
            <a:ext cx="7024744" cy="5725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/>
              <a:t>Insertion in Adjacency Matrix :</a:t>
            </a:r>
            <a:endParaRPr/>
          </a:p>
        </p:txBody>
      </p:sp>
      <p:sp>
        <p:nvSpPr>
          <p:cNvPr id="584" name="Google Shape;584;p34"/>
          <p:cNvSpPr txBox="1"/>
          <p:nvPr>
            <p:ph idx="1" type="body"/>
          </p:nvPr>
        </p:nvSpPr>
        <p:spPr>
          <a:xfrm>
            <a:off x="762000" y="1295400"/>
            <a:ext cx="7620000" cy="538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insertion :- 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Insertion of node requires only addition of one row and one column with zero entries in that row and column. </a:t>
            </a:r>
            <a:endParaRPr b="1" sz="2000"/>
          </a:p>
        </p:txBody>
      </p:sp>
      <p:sp>
        <p:nvSpPr>
          <p:cNvPr id="585" name="Google Shape;585;p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86" name="Google Shape;586;p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87" name="Google Shape;587;p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5"/>
          <p:cNvSpPr txBox="1"/>
          <p:nvPr>
            <p:ph type="title"/>
          </p:nvPr>
        </p:nvSpPr>
        <p:spPr>
          <a:xfrm>
            <a:off x="1059628" y="381000"/>
            <a:ext cx="7024744" cy="5725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1" lang="en-US"/>
              <a:t>Insertion in Adjacency Matrix :</a:t>
            </a:r>
            <a:endParaRPr/>
          </a:p>
        </p:txBody>
      </p:sp>
      <p:sp>
        <p:nvSpPr>
          <p:cNvPr id="593" name="Google Shape;593;p35"/>
          <p:cNvSpPr txBox="1"/>
          <p:nvPr>
            <p:ph idx="1" type="body"/>
          </p:nvPr>
        </p:nvSpPr>
        <p:spPr>
          <a:xfrm>
            <a:off x="762000" y="914400"/>
            <a:ext cx="7620000" cy="5385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insertion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take an adjacency matrix-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Suppose we want to add one node E in the graph then we have a need to </a:t>
            </a:r>
            <a:r>
              <a:rPr b="1" i="1" lang="en-US" sz="2000"/>
              <a:t>add one row and one column with all zero entries for node E.</a:t>
            </a:r>
            <a:endParaRPr b="1" sz="2000"/>
          </a:p>
        </p:txBody>
      </p:sp>
      <p:pic>
        <p:nvPicPr>
          <p:cNvPr id="594" name="Google Shape;5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1638926"/>
            <a:ext cx="3048000" cy="1348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267200"/>
            <a:ext cx="2895600" cy="1637824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597" name="Google Shape;597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98" name="Google Shape;598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Edge insertion :- 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Insertion of edge requires changing the value 0 into 1 for those particular nodes</a:t>
            </a:r>
            <a:r>
              <a:rPr i="1" lang="en-US" sz="2000"/>
              <a:t>.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</p:txBody>
      </p:sp>
      <p:sp>
        <p:nvSpPr>
          <p:cNvPr id="604" name="Google Shape;604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05" name="Google Shape;605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06" name="Google Shape;606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Edge insertion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take an adjacency matrix-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There is no edge between D to B.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Suppose we want to insert an edge between D to B, then we have a need to change the </a:t>
            </a:r>
            <a:r>
              <a:rPr b="1" i="1" lang="en-US" sz="2000"/>
              <a:t>0 entry into 1 at the position 4th row 2nd column.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Now the adjacency matrix will be-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612" name="Google Shape;6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371600"/>
            <a:ext cx="2300377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4818" y="4648200"/>
            <a:ext cx="2300377" cy="14673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15" name="Google Shape;615;p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16" name="Google Shape;616;p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8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Deletion in Adjacency Matrix :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deletion :- 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Deletion of node requires deletion of that </a:t>
            </a:r>
            <a:r>
              <a:rPr b="1" i="1" lang="en-US" sz="2000"/>
              <a:t>particular row and column in adjacency matrix for node to be deleted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As node deletion requires deletion of all the edges which are connected to that particular node.</a:t>
            </a:r>
            <a:endParaRPr sz="2000"/>
          </a:p>
        </p:txBody>
      </p:sp>
      <p:sp>
        <p:nvSpPr>
          <p:cNvPr id="622" name="Google Shape;622;p3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23" name="Google Shape;623;p3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24" name="Google Shape;624;p3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9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Deletion in Adjacency Matrix :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deletion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take an adjacency matrix-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Suppose we want to delete the node D, </a:t>
            </a:r>
            <a:r>
              <a:rPr b="1" i="1" lang="en-US" sz="2000"/>
              <a:t>then 4th row and 4th column of adjacency matrix will be deleted</a:t>
            </a:r>
            <a:r>
              <a:rPr i="1" lang="en-US" sz="2000"/>
              <a:t>. Now the adjacency matrix will be-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b="1" i="1"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630" name="Google Shape;6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3418" y="1905000"/>
            <a:ext cx="2590800" cy="15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4772891"/>
            <a:ext cx="3048000" cy="1508847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33" name="Google Shape;633;p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34" name="Google Shape;634;p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0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Edge deletion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Deletion of an edge requires </a:t>
            </a:r>
            <a:r>
              <a:rPr b="1" i="1" lang="en-US" sz="2000"/>
              <a:t>changing the value 1 to 0 for those particular nodes.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640" name="Google Shape;640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41" name="Google Shape;641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42" name="Google Shape;642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1"/>
          <p:cNvSpPr txBox="1"/>
          <p:nvPr>
            <p:ph idx="1" type="body"/>
          </p:nvPr>
        </p:nvSpPr>
        <p:spPr>
          <a:xfrm>
            <a:off x="762000" y="609601"/>
            <a:ext cx="7467599" cy="4876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Edge deletion :- </a:t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Let us take an adjacency matrix-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To </a:t>
            </a:r>
            <a:r>
              <a:rPr b="1" i="1" lang="en-US" sz="2000"/>
              <a:t>delete the edge which is in between B and C, </a:t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Change the </a:t>
            </a:r>
            <a:r>
              <a:rPr b="1" i="1" lang="en-US" sz="2000"/>
              <a:t>entry 1 to 0 at the position 2nd row, 3rd column</a:t>
            </a:r>
            <a:r>
              <a:rPr i="1" lang="en-US" sz="2000"/>
              <a:t>.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Adjacency matrix will be-</a:t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br>
              <a:rPr i="1" lang="en-US" sz="2000"/>
            </a:b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br>
              <a:rPr i="1" lang="en-US" sz="2000"/>
            </a:b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pic>
        <p:nvPicPr>
          <p:cNvPr descr="https://1.bp.blogspot.com/-W8Tp920Yozs/XBdg6cN6RgI/AAAAAAAACQU/0GbOm7DKb5Y3c8cRUpNkJCS1EhDA57Q6wCLcBGAs/s320/New%2BDoc%2B2018-12-17%2B11.32.33_7.jpg" id="648" name="Google Shape;64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4182" y="1295400"/>
            <a:ext cx="2101819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4308764"/>
            <a:ext cx="2362200" cy="153543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51" name="Google Shape;651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52" name="Google Shape;652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Insertion in Adjacency list </a:t>
            </a:r>
            <a:endParaRPr sz="2800"/>
          </a:p>
        </p:txBody>
      </p:sp>
      <p:sp>
        <p:nvSpPr>
          <p:cNvPr id="658" name="Google Shape;658;p42"/>
          <p:cNvSpPr txBox="1"/>
          <p:nvPr>
            <p:ph idx="1" type="body"/>
          </p:nvPr>
        </p:nvSpPr>
        <p:spPr>
          <a:xfrm>
            <a:off x="1043492" y="10668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insertion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Insertion of node in adjacency list requires only </a:t>
            </a:r>
            <a:r>
              <a:rPr b="1" i="1" lang="en-US" sz="2000"/>
              <a:t>insertion of that node in header nodes </a:t>
            </a:r>
            <a:r>
              <a:rPr i="1" lang="en-US" sz="2000"/>
              <a:t>of adjacency list.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take a graph G-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The adjacency list for this graph will be as-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659" name="Google Shape;6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754085"/>
            <a:ext cx="1600199" cy="1565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3533775"/>
            <a:ext cx="38100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62" name="Google Shape;662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63" name="Google Shape;663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3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Insertion in Adjacency list </a:t>
            </a:r>
            <a:endParaRPr sz="2800"/>
          </a:p>
        </p:txBody>
      </p:sp>
      <p:sp>
        <p:nvSpPr>
          <p:cNvPr id="669" name="Google Shape;669;p43"/>
          <p:cNvSpPr txBox="1"/>
          <p:nvPr>
            <p:ph idx="1" type="body"/>
          </p:nvPr>
        </p:nvSpPr>
        <p:spPr>
          <a:xfrm>
            <a:off x="1043492" y="10668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Suppose we want to </a:t>
            </a:r>
            <a:r>
              <a:rPr b="1" i="1" lang="en-US" sz="2000"/>
              <a:t>insert one node E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Addition of node E in header node only.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Now the adjacency list will be-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b="1"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670" name="Google Shape;67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5146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72" name="Google Shape;672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73" name="Google Shape;673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4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Edge insertion in Adjacency list </a:t>
            </a:r>
            <a:endParaRPr sz="2800"/>
          </a:p>
        </p:txBody>
      </p:sp>
      <p:sp>
        <p:nvSpPr>
          <p:cNvPr id="679" name="Google Shape;679;p44"/>
          <p:cNvSpPr txBox="1"/>
          <p:nvPr>
            <p:ph idx="1" type="body"/>
          </p:nvPr>
        </p:nvSpPr>
        <p:spPr>
          <a:xfrm>
            <a:off x="1066800" y="9144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i="1" lang="en-US" sz="2000"/>
              <a:t>Insertion of an edge </a:t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Requires add operation in the list of the starting node of edge. </a:t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Remember here graph is directed graph.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In undirected graph, it will be added in the list of both nodes.</a:t>
            </a:r>
            <a:endParaRPr b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Add the edge which </a:t>
            </a:r>
            <a:r>
              <a:rPr b="1" i="1" lang="en-US" sz="2000"/>
              <a:t>starts from node C and ends at node B,</a:t>
            </a:r>
            <a:r>
              <a:rPr i="1" lang="en-US" sz="2000"/>
              <a:t> then add operation is needed in the list if C node. </a:t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br>
              <a:rPr lang="en-US" sz="2000"/>
            </a:b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pic>
        <p:nvPicPr>
          <p:cNvPr id="680" name="Google Shape;6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3733800"/>
            <a:ext cx="38100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82" name="Google Shape;682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83" name="Google Shape;683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4" name="Google Shape;68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733800"/>
            <a:ext cx="3810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9880" y="2932825"/>
            <a:ext cx="1374120" cy="1344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5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Deletion in Adjacency list :</a:t>
            </a:r>
            <a:endParaRPr sz="2800"/>
          </a:p>
        </p:txBody>
      </p:sp>
      <p:sp>
        <p:nvSpPr>
          <p:cNvPr id="691" name="Google Shape;691;p45"/>
          <p:cNvSpPr txBox="1"/>
          <p:nvPr>
            <p:ph idx="1" type="body"/>
          </p:nvPr>
        </p:nvSpPr>
        <p:spPr>
          <a:xfrm>
            <a:off x="1043492" y="10668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deletion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Deletion of node requires </a:t>
            </a:r>
            <a:r>
              <a:rPr b="1" i="1" lang="en-US" sz="2000"/>
              <a:t>deletion of that particular node from header node and from the entire list wherever it's coming.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Deletion of node from header </a:t>
            </a:r>
            <a:r>
              <a:rPr b="1" i="1" lang="en-US" sz="2000"/>
              <a:t>will automatically free the list attached to that node.                              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692" name="Google Shape;692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693" name="Google Shape;693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94" name="Google Shape;694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6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Deletion in Adjacency list :</a:t>
            </a:r>
            <a:endParaRPr sz="2800"/>
          </a:p>
        </p:txBody>
      </p:sp>
      <p:sp>
        <p:nvSpPr>
          <p:cNvPr id="700" name="Google Shape;700;p46"/>
          <p:cNvSpPr txBox="1"/>
          <p:nvPr>
            <p:ph idx="1" type="body"/>
          </p:nvPr>
        </p:nvSpPr>
        <p:spPr>
          <a:xfrm>
            <a:off x="1043492" y="10668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Node deletion :-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Delete the node D </a:t>
            </a:r>
            <a:r>
              <a:rPr i="1" lang="en-US" sz="2000"/>
              <a:t>from graph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Delete node D </a:t>
            </a:r>
            <a:r>
              <a:rPr b="1" i="1" lang="en-US" sz="2000"/>
              <a:t>from header node </a:t>
            </a:r>
            <a:r>
              <a:rPr i="1" lang="en-US" sz="2000"/>
              <a:t>and </a:t>
            </a:r>
            <a:r>
              <a:rPr b="1" i="1" lang="en-US" sz="2000"/>
              <a:t>from the list of A, B and C nodes. </a:t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701" name="Google Shape;70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333750"/>
            <a:ext cx="40386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2.bp.blogspot.com/-5JNRIVkPaCo/XBeFFneoOgI/AAAAAAAACRQ/Pol3wP7ROy0rtkHT9Xi9MuhM7c-URUcqQCLcBGAs/s400/New%2BDoc%2B2018-12-17%2B11.32.33_13.jpg" id="702" name="Google Shape;70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3429000"/>
            <a:ext cx="36576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04" name="Google Shape;704;p4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05" name="Google Shape;705;p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7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Deletion in Adjacency list :</a:t>
            </a:r>
            <a:endParaRPr sz="2800"/>
          </a:p>
        </p:txBody>
      </p:sp>
      <p:sp>
        <p:nvSpPr>
          <p:cNvPr id="711" name="Google Shape;711;p47"/>
          <p:cNvSpPr txBox="1"/>
          <p:nvPr>
            <p:ph idx="1" type="body"/>
          </p:nvPr>
        </p:nvSpPr>
        <p:spPr>
          <a:xfrm>
            <a:off x="990600" y="9144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Edge deletion :- </a:t>
            </a:r>
            <a:endParaRPr b="1" i="1" sz="20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Deletion in the list of that node where edge starts, and that element of the list will be deleted where the edge ends.</a:t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i="1" sz="18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712" name="Google Shape;712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13" name="Google Shape;713;p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14" name="Google Shape;714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Deletion in Adjacency list :</a:t>
            </a:r>
            <a:endParaRPr sz="2800"/>
          </a:p>
        </p:txBody>
      </p:sp>
      <p:sp>
        <p:nvSpPr>
          <p:cNvPr id="720" name="Google Shape;720;p48"/>
          <p:cNvSpPr txBox="1"/>
          <p:nvPr>
            <p:ph idx="1" type="body"/>
          </p:nvPr>
        </p:nvSpPr>
        <p:spPr>
          <a:xfrm>
            <a:off x="990600" y="914400"/>
            <a:ext cx="6777317" cy="4765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i="1" lang="en-US" sz="2000"/>
              <a:t>Edge deletion :- </a:t>
            </a:r>
            <a:endParaRPr b="1" i="1" sz="20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Delete the edge which starts from D and ends at A </a:t>
            </a:r>
            <a:endParaRPr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Delete in the list of node D and element in the list deleted will be A. 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i="1" sz="18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721" name="Google Shape;7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276600"/>
            <a:ext cx="40386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4.bp.blogspot.com/-kvuaPvSV2u4/XBeGBd4MyHI/AAAAAAAACRY/-N0SGoX3qFYOpgCgIcD3HUm0rY3xGhi5QCLcBGAs/s400/New%2BDoc%2B2018-12-17%2B11.32.33_14.jpg" id="722" name="Google Shape;72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283527"/>
            <a:ext cx="38100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24" name="Google Shape;724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25" name="Google Shape;725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i="1" lang="en-US" sz="2000"/>
              <a:t>The various graph traversals are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Depth first search (DFS)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Breadth first search (BFS)</a:t>
            </a:r>
            <a:endParaRPr sz="2000"/>
          </a:p>
        </p:txBody>
      </p:sp>
      <p:sp>
        <p:nvSpPr>
          <p:cNvPr id="731" name="Google Shape;731;p49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i="1" lang="en-US" sz="2800"/>
              <a:t>Traversal of Graph </a:t>
            </a:r>
            <a:endParaRPr sz="2800"/>
          </a:p>
        </p:txBody>
      </p:sp>
      <p:sp>
        <p:nvSpPr>
          <p:cNvPr id="732" name="Google Shape;732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33" name="Google Shape;733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34" name="Google Shape;734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0"/>
          <p:cNvSpPr txBox="1"/>
          <p:nvPr>
            <p:ph idx="1" type="body"/>
          </p:nvPr>
        </p:nvSpPr>
        <p:spPr>
          <a:xfrm>
            <a:off x="1066800" y="1136073"/>
            <a:ext cx="6777317" cy="3664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This method is called depth first search since searching is done forward (deeper) from current node. 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The distance from start vertex is called depth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</p:txBody>
      </p:sp>
      <p:sp>
        <p:nvSpPr>
          <p:cNvPr id="740" name="Google Shape;740;p50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741" name="Google Shape;741;p5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42" name="Google Shape;742;p5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43" name="Google Shape;743;p5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1"/>
          <p:cNvSpPr txBox="1"/>
          <p:nvPr>
            <p:ph idx="1" type="body"/>
          </p:nvPr>
        </p:nvSpPr>
        <p:spPr>
          <a:xfrm>
            <a:off x="1066800" y="1136073"/>
            <a:ext cx="6777317" cy="3664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Choose a </a:t>
            </a:r>
            <a:r>
              <a:rPr b="1" i="1" lang="en-US" sz="2000"/>
              <a:t>starting node, mark it visited ,traverse it  Push it into the stack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Rule 1 : If possible, </a:t>
            </a:r>
            <a:r>
              <a:rPr b="1" i="1" lang="en-US" sz="2000"/>
              <a:t>visit an adjacent </a:t>
            </a:r>
            <a:r>
              <a:rPr i="1" lang="en-US" sz="2000"/>
              <a:t>unvisited vertex, </a:t>
            </a:r>
            <a:r>
              <a:rPr b="1" i="1" lang="en-US" sz="2000"/>
              <a:t>mark it visited, traverse it and push it </a:t>
            </a:r>
            <a:r>
              <a:rPr i="1" lang="en-US" sz="2000"/>
              <a:t>on the stack.</a:t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Rule 2 : If Rule 1 fails, then </a:t>
            </a:r>
            <a:r>
              <a:rPr b="1" i="1" lang="en-US" sz="2000"/>
              <a:t>pop a vertex </a:t>
            </a:r>
            <a:r>
              <a:rPr i="1" lang="en-US" sz="2000"/>
              <a:t>off the stack </a:t>
            </a:r>
            <a:r>
              <a:rPr b="1" i="1" lang="en-US" sz="2000"/>
              <a:t>follow Rule 1 </a:t>
            </a:r>
            <a:r>
              <a:rPr i="1" lang="en-US" sz="2000"/>
              <a:t>from it.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i.e. For the Vertex on the top of the stack, If there is no unvisited adjacent node only then we pop it.</a:t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Rule 3 : </a:t>
            </a:r>
            <a:r>
              <a:rPr b="1" i="1" lang="en-US" sz="2000"/>
              <a:t>Repeat Rule 1 and Rule 2 </a:t>
            </a:r>
            <a:r>
              <a:rPr i="1" lang="en-US" sz="2000"/>
              <a:t>until the all the vertices are visited.</a:t>
            </a: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sp>
        <p:nvSpPr>
          <p:cNvPr id="749" name="Google Shape;749;p51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750" name="Google Shape;750;p5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51" name="Google Shape;751;p5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52" name="Google Shape;752;p5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2"/>
          <p:cNvSpPr txBox="1"/>
          <p:nvPr>
            <p:ph idx="1" type="body"/>
          </p:nvPr>
        </p:nvSpPr>
        <p:spPr>
          <a:xfrm>
            <a:off x="1043492" y="838200"/>
            <a:ext cx="6777317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b="1" i="1" lang="en-US"/>
              <a:t>Example of Depth First Search :</a:t>
            </a:r>
            <a:br>
              <a:rPr lang="en-US"/>
            </a:br>
            <a:br>
              <a:rPr b="1" i="1" lang="en-US"/>
            </a:br>
            <a:r>
              <a:rPr i="1" lang="en-US" sz="2000"/>
              <a:t>Let us consider the following graph-</a:t>
            </a:r>
            <a:br>
              <a:rPr lang="en-US" sz="2000"/>
            </a:br>
            <a:br>
              <a:rPr i="1" lang="en-US" sz="2000"/>
            </a:br>
            <a:br>
              <a:rPr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 depth-first search (DFS) uses </a:t>
            </a:r>
            <a:r>
              <a:rPr b="1" i="1" lang="en-US" sz="2000"/>
              <a:t>a stack to remember </a:t>
            </a:r>
            <a:r>
              <a:rPr i="1" lang="en-US" sz="2000"/>
              <a:t>where it should go when it reaches a dead end.</a:t>
            </a:r>
            <a:endParaRPr sz="2000"/>
          </a:p>
        </p:txBody>
      </p:sp>
      <p:pic>
        <p:nvPicPr>
          <p:cNvPr id="758" name="Google Shape;75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365" y="2209800"/>
            <a:ext cx="3273625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60" name="Google Shape;760;p5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61" name="Google Shape;761;p5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3"/>
          <p:cNvSpPr txBox="1"/>
          <p:nvPr>
            <p:ph idx="1" type="body"/>
          </p:nvPr>
        </p:nvSpPr>
        <p:spPr>
          <a:xfrm>
            <a:off x="1043492" y="838200"/>
            <a:ext cx="6777317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To carry out the depth-first search, we pick a starting point, vertex A. </a:t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We can do three things: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Visit the vertex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Push it onto stack so we can remember it, and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Mark it, so it is not visited again.</a:t>
            </a:r>
            <a:endParaRPr sz="2000"/>
          </a:p>
        </p:txBody>
      </p:sp>
      <p:pic>
        <p:nvPicPr>
          <p:cNvPr id="767" name="Google Shape;76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057400"/>
            <a:ext cx="38862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3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769" name="Google Shape;769;p5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70" name="Google Shape;770;p5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71" name="Google Shape;771;p5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4"/>
          <p:cNvSpPr txBox="1"/>
          <p:nvPr>
            <p:ph idx="1" type="body"/>
          </p:nvPr>
        </p:nvSpPr>
        <p:spPr>
          <a:xfrm>
            <a:off x="457200" y="838200"/>
            <a:ext cx="4366708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8148" lvl="0" marL="342900" rtl="0" algn="l"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i="1" sz="2200"/>
          </a:p>
        </p:txBody>
      </p:sp>
      <p:pic>
        <p:nvPicPr>
          <p:cNvPr id="777" name="Google Shape;77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14400"/>
            <a:ext cx="2889052" cy="1487571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4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779" name="Google Shape;779;p5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80" name="Google Shape;780;p5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81" name="Google Shape;781;p5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787" name="Google Shape;787;p5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788" name="Google Shape;788;p5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89" name="Google Shape;789;p5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90" name="Google Shape;790;p5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796" name="Google Shape;796;p56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797" name="Google Shape;797;p5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798" name="Google Shape;798;p5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99" name="Google Shape;799;p5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0" name="Google Shape;8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" y="914400"/>
            <a:ext cx="8139455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7"/>
          <p:cNvSpPr txBox="1"/>
          <p:nvPr>
            <p:ph idx="1" type="body"/>
          </p:nvPr>
        </p:nvSpPr>
        <p:spPr>
          <a:xfrm>
            <a:off x="457200" y="838200"/>
            <a:ext cx="4366708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92036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192036" lvl="0" marL="34290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200"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Assuming the vertex are visited in alphabetical manner </a:t>
            </a:r>
            <a:endParaRPr i="1" sz="2200"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Visit the next vertex connected to A. </a:t>
            </a:r>
            <a:endParaRPr i="1" sz="2200"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It is B</a:t>
            </a:r>
            <a:endParaRPr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The vertex </a:t>
            </a:r>
            <a:r>
              <a:rPr b="1" i="1" lang="en-US" sz="2200"/>
              <a:t>B is pushed </a:t>
            </a:r>
            <a:r>
              <a:rPr i="1" lang="en-US" sz="2200"/>
              <a:t>into the stack and marked as visited, </a:t>
            </a:r>
            <a:r>
              <a:rPr b="1" i="1" lang="en-US" sz="2200"/>
              <a:t>traverse it </a:t>
            </a:r>
            <a:br>
              <a:rPr b="1" lang="en-US" sz="2200"/>
            </a:br>
            <a:r>
              <a:rPr i="1" lang="en-US" sz="2200"/>
              <a:t>We are now at B. </a:t>
            </a:r>
            <a:endParaRPr i="1" sz="2200"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The adjacent unvisited vertex of B i.e. </a:t>
            </a:r>
            <a:r>
              <a:rPr b="1" i="1" lang="en-US" sz="2200"/>
              <a:t>F is visited</a:t>
            </a:r>
            <a:r>
              <a:rPr i="1" lang="en-US" sz="2200"/>
              <a:t>, </a:t>
            </a:r>
            <a:r>
              <a:rPr b="1" i="1" lang="en-US" sz="2200"/>
              <a:t>traversed, pushed</a:t>
            </a:r>
            <a:r>
              <a:rPr i="1" lang="en-US" sz="2200"/>
              <a:t> into stack</a:t>
            </a:r>
            <a:endParaRPr/>
          </a:p>
          <a:p>
            <a:pPr indent="-274320" lvl="0" marL="342900" rtl="0" algn="l">
              <a:spcBef>
                <a:spcPts val="341"/>
              </a:spcBef>
              <a:spcAft>
                <a:spcPts val="0"/>
              </a:spcAft>
              <a:buSzPct val="76000"/>
              <a:buChar char="🞇"/>
            </a:pPr>
            <a:r>
              <a:rPr i="1" lang="en-US" sz="2200"/>
              <a:t>We call this process Rule 1</a:t>
            </a:r>
            <a:endParaRPr/>
          </a:p>
        </p:txBody>
      </p:sp>
      <p:pic>
        <p:nvPicPr>
          <p:cNvPr id="806" name="Google Shape;80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01435"/>
            <a:ext cx="3574852" cy="1840689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57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pic>
        <p:nvPicPr>
          <p:cNvPr id="808" name="Google Shape;80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1530927"/>
            <a:ext cx="3124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5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10" name="Google Shape;810;p5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11" name="Google Shape;811;p5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8"/>
          <p:cNvSpPr txBox="1"/>
          <p:nvPr>
            <p:ph idx="1" type="body"/>
          </p:nvPr>
        </p:nvSpPr>
        <p:spPr>
          <a:xfrm>
            <a:off x="533400" y="838200"/>
            <a:ext cx="4267201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b="1" i="1" lang="en-US" sz="1800">
                <a:solidFill>
                  <a:srgbClr val="0070C0"/>
                </a:solidFill>
              </a:rPr>
              <a:t>Rule 1 </a:t>
            </a:r>
            <a:endParaRPr b="1" i="1" sz="1800">
              <a:solidFill>
                <a:srgbClr val="0070C0"/>
              </a:solidFill>
            </a:endParaRPr>
          </a:p>
          <a:p>
            <a:pPr indent="0" lvl="0" marL="68580" rtl="0" algn="l">
              <a:spcBef>
                <a:spcPts val="296"/>
              </a:spcBef>
              <a:spcAft>
                <a:spcPts val="0"/>
              </a:spcAft>
              <a:buSzPct val="76000"/>
              <a:buNone/>
            </a:pPr>
            <a:r>
              <a:rPr b="1" i="1" lang="en-US" sz="1600">
                <a:solidFill>
                  <a:srgbClr val="0070C0"/>
                </a:solidFill>
              </a:rPr>
              <a:t>If possible, visit an adjacent unvisited vertex, mark it visited, and push it on the stack.</a:t>
            </a:r>
            <a:endParaRPr b="1" sz="1600">
              <a:solidFill>
                <a:srgbClr val="0070C0"/>
              </a:solidFill>
            </a:endParaRPr>
          </a:p>
          <a:p>
            <a:pPr indent="0" lvl="0" marL="68580" rtl="0" algn="l">
              <a:spcBef>
                <a:spcPts val="296"/>
              </a:spcBef>
              <a:spcAft>
                <a:spcPts val="0"/>
              </a:spcAft>
              <a:buSzPct val="76000"/>
              <a:buNone/>
            </a:pPr>
            <a:br>
              <a:rPr b="1" lang="en-US" sz="1600">
                <a:solidFill>
                  <a:srgbClr val="0070C0"/>
                </a:solidFill>
              </a:rPr>
            </a:br>
            <a:endParaRPr b="1" sz="1600">
              <a:solidFill>
                <a:srgbClr val="0070C0"/>
              </a:solidFill>
            </a:endParaRPr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Applying Rule 1 the vertex </a:t>
            </a:r>
            <a:r>
              <a:rPr b="1" i="1" lang="en-US" sz="2000"/>
              <a:t>H is visited. </a:t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Now from here there is no further unvisited adjacent vertex that we can visit.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This condition is called </a:t>
            </a:r>
            <a:r>
              <a:rPr b="1" i="1" lang="en-US" sz="2000"/>
              <a:t>dead end. Now we apply Rule 2.</a:t>
            </a:r>
            <a:endParaRPr b="1" sz="2000"/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pic>
        <p:nvPicPr>
          <p:cNvPr id="817" name="Google Shape;81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773383"/>
            <a:ext cx="3193852" cy="16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58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pic>
        <p:nvPicPr>
          <p:cNvPr id="819" name="Google Shape;81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143000"/>
            <a:ext cx="3657600" cy="419792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21" name="Google Shape;821;p5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22" name="Google Shape;822;p5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9"/>
          <p:cNvSpPr txBox="1"/>
          <p:nvPr>
            <p:ph idx="1" type="body"/>
          </p:nvPr>
        </p:nvSpPr>
        <p:spPr>
          <a:xfrm>
            <a:off x="1043492" y="838200"/>
            <a:ext cx="6777317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b="1" i="1" lang="en-US">
                <a:solidFill>
                  <a:srgbClr val="0070C0"/>
                </a:solidFill>
              </a:rPr>
              <a:t>Rule 2 </a:t>
            </a:r>
            <a:endParaRPr b="1" i="1">
              <a:solidFill>
                <a:srgbClr val="0070C0"/>
              </a:solidFill>
            </a:endParaRPr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>
                <a:solidFill>
                  <a:srgbClr val="0070C0"/>
                </a:solidFill>
              </a:rPr>
              <a:t>If Rule 1 fails, then pop a vertex off the stack follow Rule 1 from it.</a:t>
            </a:r>
            <a:br>
              <a:rPr b="1" lang="en-US" sz="2000">
                <a:solidFill>
                  <a:srgbClr val="0070C0"/>
                </a:solidFill>
              </a:rPr>
            </a:br>
            <a:br>
              <a:rPr b="1" i="1" lang="en-US" sz="2000">
                <a:solidFill>
                  <a:srgbClr val="0070C0"/>
                </a:solidFill>
              </a:rPr>
            </a:br>
            <a:endParaRPr b="1" sz="2000">
              <a:solidFill>
                <a:srgbClr val="0070C0"/>
              </a:solidFill>
            </a:endParaRPr>
          </a:p>
        </p:txBody>
      </p:sp>
      <p:sp>
        <p:nvSpPr>
          <p:cNvPr id="828" name="Google Shape;828;p59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829" name="Google Shape;829;p5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30" name="Google Shape;830;p5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31" name="Google Shape;831;p5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0"/>
          <p:cNvSpPr txBox="1"/>
          <p:nvPr>
            <p:ph idx="1" type="body"/>
          </p:nvPr>
        </p:nvSpPr>
        <p:spPr>
          <a:xfrm>
            <a:off x="579744" y="838200"/>
            <a:ext cx="4519108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Following Rule 2, we </a:t>
            </a:r>
            <a:r>
              <a:rPr b="1" i="1" lang="en-US" sz="2000"/>
              <a:t>pop H</a:t>
            </a:r>
            <a:r>
              <a:rPr i="1" lang="en-US" sz="2000"/>
              <a:t> off the stack, which brings us back to F.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F also has no unvisited adjacent vertices</a:t>
            </a:r>
            <a:r>
              <a:rPr i="1" lang="en-US" sz="2000"/>
              <a:t>, so we </a:t>
            </a:r>
            <a:r>
              <a:rPr b="1" i="1" lang="en-US" sz="2000"/>
              <a:t>pop it </a:t>
            </a:r>
            <a:r>
              <a:rPr i="1" lang="en-US" sz="2000"/>
              <a:t>also.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It applies to </a:t>
            </a:r>
            <a:r>
              <a:rPr b="1" i="1" lang="en-US" sz="2000"/>
              <a:t>B also.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Now only A is left on the stack.</a:t>
            </a:r>
            <a:br>
              <a:rPr lang="en-US" sz="2000"/>
            </a:br>
            <a:r>
              <a:rPr i="1" lang="en-US" sz="2000"/>
              <a:t>A, however, </a:t>
            </a:r>
            <a:r>
              <a:rPr b="1" i="1" lang="en-US" sz="2000"/>
              <a:t>does have unvisited adjacen</a:t>
            </a:r>
            <a:r>
              <a:rPr i="1" lang="en-US" sz="2000"/>
              <a:t>t vertices, so we now </a:t>
            </a:r>
            <a:r>
              <a:rPr b="1" i="1" lang="en-US" sz="2000"/>
              <a:t>visit C and push C.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But </a:t>
            </a:r>
            <a:r>
              <a:rPr b="1" i="1" lang="en-US" sz="2000"/>
              <a:t>C also becomes a dead end.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Hence we </a:t>
            </a:r>
            <a:r>
              <a:rPr b="1" i="1" lang="en-US" sz="2000"/>
              <a:t>pop it</a:t>
            </a:r>
            <a:r>
              <a:rPr i="1" lang="en-US" sz="2000"/>
              <a:t>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Again we are </a:t>
            </a:r>
            <a:r>
              <a:rPr b="1" i="1" lang="en-US" sz="2000"/>
              <a:t>left with A. 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837" name="Google Shape;837;p60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pic>
        <p:nvPicPr>
          <p:cNvPr id="838" name="Google Shape;83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826" y="4724400"/>
            <a:ext cx="2965252" cy="1679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852" y="914400"/>
            <a:ext cx="3505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6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41" name="Google Shape;841;p6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42" name="Google Shape;842;p6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1"/>
          <p:cNvSpPr txBox="1"/>
          <p:nvPr>
            <p:ph idx="1" type="body"/>
          </p:nvPr>
        </p:nvSpPr>
        <p:spPr>
          <a:xfrm>
            <a:off x="609600" y="990600"/>
            <a:ext cx="3680908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We </a:t>
            </a:r>
            <a:r>
              <a:rPr b="1" i="1" lang="en-US" sz="2000"/>
              <a:t>visit D, G, I</a:t>
            </a:r>
            <a:r>
              <a:rPr i="1" lang="en-US" sz="2000"/>
              <a:t>, and then </a:t>
            </a:r>
            <a:r>
              <a:rPr b="1" i="1" lang="en-US" sz="2000"/>
              <a:t>pop them all </a:t>
            </a:r>
            <a:r>
              <a:rPr i="1" lang="en-US" sz="2000"/>
              <a:t>when we reach a </a:t>
            </a:r>
            <a:r>
              <a:rPr b="1" i="1" lang="en-US" sz="2000"/>
              <a:t>dead end at I 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Now we are </a:t>
            </a:r>
            <a:r>
              <a:rPr b="1" i="1" lang="en-US" sz="2000"/>
              <a:t>back to A 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We </a:t>
            </a:r>
            <a:r>
              <a:rPr b="1" i="1" lang="en-US" sz="2000"/>
              <a:t>visit E</a:t>
            </a:r>
            <a:r>
              <a:rPr i="1" lang="en-US" sz="2000"/>
              <a:t>, and again we are </a:t>
            </a:r>
            <a:r>
              <a:rPr b="1" i="1" lang="en-US" sz="2000"/>
              <a:t>back to A</a:t>
            </a:r>
            <a:br>
              <a:rPr b="1" lang="en-US" sz="2000"/>
            </a:br>
            <a:r>
              <a:rPr i="1" lang="en-US" sz="2000"/>
              <a:t>This time, however </a:t>
            </a:r>
            <a:r>
              <a:rPr b="1" i="1" lang="en-US" sz="2000"/>
              <a:t>A has no unvisited adjacent </a:t>
            </a:r>
            <a:r>
              <a:rPr i="1" lang="en-US" sz="2000"/>
              <a:t>vertices. 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So we </a:t>
            </a:r>
            <a:r>
              <a:rPr b="1" i="1" lang="en-US" sz="2000"/>
              <a:t>pop it off the stack. 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But now there is nothing left to pop, which brings us to Rule 3.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So Stop</a:t>
            </a:r>
            <a:br>
              <a:rPr lang="en-US" sz="2000"/>
            </a:br>
            <a:br>
              <a:rPr i="1" lang="en-US" sz="2000"/>
            </a:br>
            <a:endParaRPr i="1" sz="2000"/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848" name="Google Shape;848;p61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pic>
        <p:nvPicPr>
          <p:cNvPr id="849" name="Google Shape;84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826" y="4724400"/>
            <a:ext cx="2965252" cy="1679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8852" y="914400"/>
            <a:ext cx="35052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52" name="Google Shape;852;p6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53" name="Google Shape;853;p6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2"/>
          <p:cNvSpPr txBox="1"/>
          <p:nvPr>
            <p:ph idx="1" type="body"/>
          </p:nvPr>
        </p:nvSpPr>
        <p:spPr>
          <a:xfrm>
            <a:off x="1043492" y="838200"/>
            <a:ext cx="6777317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Rule 3 : Repeat Rule 1 and Rule 2 until the all the vertices are visited.</a:t>
            </a:r>
            <a:endParaRPr b="1"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859" name="Google Shape;859;p62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sp>
        <p:nvSpPr>
          <p:cNvPr id="860" name="Google Shape;860;p6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61" name="Google Shape;861;p6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62" name="Google Shape;862;p6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3"/>
          <p:cNvSpPr txBox="1"/>
          <p:nvPr>
            <p:ph idx="1" type="body"/>
          </p:nvPr>
        </p:nvSpPr>
        <p:spPr>
          <a:xfrm>
            <a:off x="1043492" y="838200"/>
            <a:ext cx="6777317" cy="49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The table below shows the stack contents at each push and pop operations: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pic>
        <p:nvPicPr>
          <p:cNvPr id="868" name="Google Shape;8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426" y="1530927"/>
            <a:ext cx="446097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63"/>
          <p:cNvSpPr/>
          <p:nvPr/>
        </p:nvSpPr>
        <p:spPr>
          <a:xfrm>
            <a:off x="1189171" y="5715000"/>
            <a:ext cx="32223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Required DFS is ABFHCDGIE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0" name="Google Shape;870;p63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Depth First Search  </a:t>
            </a:r>
            <a:endParaRPr/>
          </a:p>
        </p:txBody>
      </p:sp>
      <p:pic>
        <p:nvPicPr>
          <p:cNvPr id="871" name="Google Shape;871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39531"/>
            <a:ext cx="2854226" cy="3392792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6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73" name="Google Shape;873;p6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74" name="Google Shape;874;p6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4"/>
          <p:cNvSpPr txBox="1"/>
          <p:nvPr>
            <p:ph type="title"/>
          </p:nvPr>
        </p:nvSpPr>
        <p:spPr>
          <a:xfrm>
            <a:off x="1043490" y="10276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400"/>
              <a:t>DFS-Procedure using Stack</a:t>
            </a:r>
            <a:r>
              <a:rPr lang="en-US" sz="2400"/>
              <a:t>-</a:t>
            </a:r>
            <a:endParaRPr sz="2400"/>
          </a:p>
        </p:txBody>
      </p:sp>
      <p:sp>
        <p:nvSpPr>
          <p:cNvPr id="880" name="Google Shape;880;p64"/>
          <p:cNvSpPr txBox="1"/>
          <p:nvPr>
            <p:ph idx="1" type="body"/>
          </p:nvPr>
        </p:nvSpPr>
        <p:spPr>
          <a:xfrm>
            <a:off x="1043492" y="1447800"/>
            <a:ext cx="6777317" cy="4384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Use array implementation of stack to keep the unvisited neighbors of the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Initially stack is empty and top =-1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Take a Boolean Array, visited[n]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 which value ,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visited[i]=false, If node has not been visited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visited[i]=true, If node has been visited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Initially visited[i]=false where i=1 to n, n is total no of nodes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881" name="Google Shape;881;p6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82" name="Google Shape;882;p6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83" name="Google Shape;883;p6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5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US" sz="2800"/>
              <a:t>Perform DFS</a:t>
            </a:r>
            <a:endParaRPr sz="2800"/>
          </a:p>
        </p:txBody>
      </p:sp>
      <p:pic>
        <p:nvPicPr>
          <p:cNvPr id="889" name="Google Shape;889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05000"/>
            <a:ext cx="30480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891" name="Google Shape;891;p6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92" name="Google Shape;892;p6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6"/>
          <p:cNvSpPr txBox="1"/>
          <p:nvPr>
            <p:ph type="title"/>
          </p:nvPr>
        </p:nvSpPr>
        <p:spPr>
          <a:xfrm>
            <a:off x="457200" y="381000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US" sz="2800"/>
              <a:t>Perform DFS</a:t>
            </a:r>
            <a:endParaRPr sz="2800"/>
          </a:p>
        </p:txBody>
      </p:sp>
      <p:pic>
        <p:nvPicPr>
          <p:cNvPr id="898" name="Google Shape;898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255" y="1600200"/>
            <a:ext cx="2590800" cy="23802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4.bp.blogspot.com/-v6s2zn-gScM/XBi50nPLneI/AAAAAAAACSE/c6uENsy87X4dIlb9fbICli_0wRJikQPSwCLcBGAs/s400/New%2BDoc%2B2018-12-18%2B12.38.11_4.jpg" id="899" name="Google Shape;89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762000"/>
            <a:ext cx="57912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66"/>
          <p:cNvSpPr/>
          <p:nvPr/>
        </p:nvSpPr>
        <p:spPr>
          <a:xfrm>
            <a:off x="762000" y="5562600"/>
            <a:ext cx="6172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required DFS is 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1" name="Google Shape;901;p6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02" name="Google Shape;902;p6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03" name="Google Shape;903;p6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67"/>
          <p:cNvSpPr txBox="1"/>
          <p:nvPr>
            <p:ph type="title"/>
          </p:nvPr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US" sz="3200"/>
              <a:t>Depth-first search using Backtracking</a:t>
            </a:r>
            <a:endParaRPr b="1" sz="2800"/>
          </a:p>
        </p:txBody>
      </p:sp>
      <p:pic>
        <p:nvPicPr>
          <p:cNvPr id="909" name="Google Shape;909;p6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0570"/>
            <a:ext cx="3162300" cy="494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1676400"/>
            <a:ext cx="28956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9800" y="1676400"/>
            <a:ext cx="28194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67"/>
          <p:cNvSpPr/>
          <p:nvPr/>
        </p:nvSpPr>
        <p:spPr>
          <a:xfrm>
            <a:off x="152400" y="6393825"/>
            <a:ext cx="8839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 https://www.tutorialspoint.com/data_structures_algorithms/depth_first_traversal.htm</a:t>
            </a:r>
            <a:endParaRPr/>
          </a:p>
        </p:txBody>
      </p:sp>
      <p:pic>
        <p:nvPicPr>
          <p:cNvPr id="913" name="Google Shape;913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0" y="3257550"/>
            <a:ext cx="31242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6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15" name="Google Shape;915;p6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16" name="Google Shape;916;p6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8"/>
          <p:cNvSpPr txBox="1"/>
          <p:nvPr>
            <p:ph type="title"/>
          </p:nvPr>
        </p:nvSpPr>
        <p:spPr>
          <a:xfrm>
            <a:off x="914400" y="152400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US"/>
              <a:t>DFS</a:t>
            </a:r>
            <a:endParaRPr/>
          </a:p>
        </p:txBody>
      </p:sp>
      <p:pic>
        <p:nvPicPr>
          <p:cNvPr id="922" name="Google Shape;922;p6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885" y="2324100"/>
            <a:ext cx="5077243" cy="35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24" name="Google Shape;924;p6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25" name="Google Shape;925;p6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68"/>
          <p:cNvSpPr/>
          <p:nvPr/>
        </p:nvSpPr>
        <p:spPr>
          <a:xfrm>
            <a:off x="1981200" y="1449895"/>
            <a:ext cx="6477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DFS of a graph is analogous to the pre-order traversal of an ordered tree. 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9"/>
          <p:cNvSpPr txBox="1"/>
          <p:nvPr>
            <p:ph idx="1" type="body"/>
          </p:nvPr>
        </p:nvSpPr>
        <p:spPr>
          <a:xfrm>
            <a:off x="838200" y="609600"/>
            <a:ext cx="7467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67182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Algorithm DFS ( G )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for i = 1 to n do // Initialize all vertices are unvisited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status[i] = unvisited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parent[i] = NULL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for i = 1 to n do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if (status[i] == unvisited) // If there exits an unvisited vertex, 	start traversal</a:t>
            </a:r>
            <a:endParaRPr/>
          </a:p>
          <a:p>
            <a:pPr indent="0" lvl="2" marL="68580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	DF-Travel(i)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Algorithm DF-Travel ( v )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status[v] = visited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for each vertex u adjacent to v do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  	 if status[u] == unvisited then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	parent[u] = v</a:t>
            </a:r>
            <a:endParaRPr/>
          </a:p>
          <a:p>
            <a:pPr indent="0" lvl="0" marL="68580" rtl="0" algn="l">
              <a:spcBef>
                <a:spcPts val="351"/>
              </a:spcBef>
              <a:spcAft>
                <a:spcPts val="0"/>
              </a:spcAft>
              <a:buSzPct val="760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		DF-Travel ( u ) </a:t>
            </a:r>
            <a:endParaRPr/>
          </a:p>
        </p:txBody>
      </p:sp>
      <p:sp>
        <p:nvSpPr>
          <p:cNvPr id="932" name="Google Shape;932;p69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lang="en-US" sz="2800"/>
              <a:t>Recursive Defn of DFS</a:t>
            </a:r>
            <a:endParaRPr b="1" i="1" sz="2800"/>
          </a:p>
        </p:txBody>
      </p:sp>
      <p:sp>
        <p:nvSpPr>
          <p:cNvPr id="933" name="Google Shape;933;p6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34" name="Google Shape;934;p6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35" name="Google Shape;935;p6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0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BFS of a graph is analogous to level-by-level traversal of an ordered tree.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method is called breadth first search, since it </a:t>
            </a:r>
            <a:r>
              <a:rPr b="1" lang="en-US" sz="2000"/>
              <a:t>works outward from a center point, much like the ripples created when throwing a stone into a pond.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It moves </a:t>
            </a:r>
            <a:r>
              <a:rPr b="1" lang="en-US" sz="2000"/>
              <a:t>outward in all directions, one level at a time.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</p:txBody>
      </p:sp>
      <p:sp>
        <p:nvSpPr>
          <p:cNvPr id="941" name="Google Shape;941;p70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 b="1" i="1" sz="2800"/>
          </a:p>
        </p:txBody>
      </p:sp>
      <p:sp>
        <p:nvSpPr>
          <p:cNvPr id="942" name="Google Shape;942;p7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43" name="Google Shape;943;p7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4" name="Google Shape;944;p7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1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Choose the </a:t>
            </a:r>
            <a:r>
              <a:rPr b="1" i="1" lang="en-US" sz="2000"/>
              <a:t>start node, mark it visited, traverse it, enqueue it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 Rule 1 : Visit all the next unvisited vertices (if any) that is adjacent to the current vertex(</a:t>
            </a:r>
            <a:r>
              <a:rPr b="1" i="1" lang="en-US" sz="2000"/>
              <a:t>At Front end</a:t>
            </a:r>
            <a:r>
              <a:rPr i="1" lang="en-US" sz="2000"/>
              <a:t>), and </a:t>
            </a:r>
            <a:r>
              <a:rPr b="1" i="1" lang="en-US" sz="2000"/>
              <a:t>insert them </a:t>
            </a:r>
            <a:r>
              <a:rPr i="1" lang="en-US" sz="2000"/>
              <a:t>into a queue </a:t>
            </a:r>
            <a:r>
              <a:rPr b="1" i="1" lang="en-US" sz="2000"/>
              <a:t>one at a time on every visit.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Rule 2 : If there is </a:t>
            </a:r>
            <a:r>
              <a:rPr b="1" i="1" lang="en-US" sz="2000"/>
              <a:t>no unvisited vertex, remove a vertex </a:t>
            </a:r>
            <a:r>
              <a:rPr i="1" lang="en-US" sz="2000"/>
              <a:t>from the Queue and </a:t>
            </a:r>
            <a:r>
              <a:rPr b="1" i="1" lang="en-US" sz="2000"/>
              <a:t>make it the current vertex and then follow Rule 1.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Rule 3 : Repeat Rule 1 and Rule 2 until the all the vertices visited.</a:t>
            </a:r>
            <a:br>
              <a:rPr lang="en-US" sz="2000"/>
            </a:br>
            <a:br>
              <a:rPr i="1" lang="en-US" sz="2000"/>
            </a:br>
            <a:endParaRPr sz="2000"/>
          </a:p>
        </p:txBody>
      </p:sp>
      <p:sp>
        <p:nvSpPr>
          <p:cNvPr id="950" name="Google Shape;950;p71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sp>
        <p:nvSpPr>
          <p:cNvPr id="951" name="Google Shape;951;p7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52" name="Google Shape;952;p7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53" name="Google Shape;953;p7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2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consider the following graph-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In BFS, all the vertices adjacent to start vertex are visited, In first pass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This kind of search is implemented </a:t>
            </a:r>
            <a:r>
              <a:rPr b="1" i="1" lang="en-US" sz="2000"/>
              <a:t>using a Queue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</p:txBody>
      </p:sp>
      <p:sp>
        <p:nvSpPr>
          <p:cNvPr id="959" name="Google Shape;959;p72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960" name="Google Shape;96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2202543" cy="223045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62" name="Google Shape;962;p7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63" name="Google Shape;963;p7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3"/>
          <p:cNvSpPr txBox="1"/>
          <p:nvPr>
            <p:ph idx="1" type="body"/>
          </p:nvPr>
        </p:nvSpPr>
        <p:spPr>
          <a:xfrm>
            <a:off x="453571" y="647700"/>
            <a:ext cx="4038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</p:txBody>
      </p:sp>
      <p:sp>
        <p:nvSpPr>
          <p:cNvPr id="969" name="Google Shape;969;p73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970" name="Google Shape;97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14400"/>
            <a:ext cx="2202543" cy="223045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72" name="Google Shape;972;p7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73" name="Google Shape;973;p7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4"/>
          <p:cNvSpPr txBox="1"/>
          <p:nvPr>
            <p:ph idx="1" type="body"/>
          </p:nvPr>
        </p:nvSpPr>
        <p:spPr>
          <a:xfrm>
            <a:off x="453571" y="647700"/>
            <a:ext cx="4038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</p:txBody>
      </p:sp>
      <p:sp>
        <p:nvSpPr>
          <p:cNvPr id="979" name="Google Shape;979;p74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980" name="Google Shape;98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14400"/>
            <a:ext cx="2202543" cy="2230459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82" name="Google Shape;982;p7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83" name="Google Shape;983;p7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5"/>
          <p:cNvSpPr txBox="1"/>
          <p:nvPr>
            <p:ph idx="1" type="body"/>
          </p:nvPr>
        </p:nvSpPr>
        <p:spPr>
          <a:xfrm>
            <a:off x="453571" y="647700"/>
            <a:ext cx="4038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Let us consider the following graph-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i="1" lang="en-US" sz="2000"/>
            </a:b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Pick a starting point, 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Lets </a:t>
            </a:r>
            <a:r>
              <a:rPr b="1" lang="en-US" sz="2000"/>
              <a:t>start with vertex A. 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We </a:t>
            </a:r>
            <a:r>
              <a:rPr b="1" lang="en-US" sz="2000"/>
              <a:t>mark it as visited, traverse it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Then rules are applied</a:t>
            </a:r>
            <a:endParaRPr sz="2000"/>
          </a:p>
        </p:txBody>
      </p:sp>
      <p:sp>
        <p:nvSpPr>
          <p:cNvPr id="989" name="Google Shape;989;p75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990" name="Google Shape;99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905000"/>
            <a:ext cx="2202543" cy="223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1430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993" name="Google Shape;993;p7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94" name="Google Shape;994;p7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6"/>
          <p:cNvSpPr txBox="1"/>
          <p:nvPr>
            <p:ph idx="1" type="body"/>
          </p:nvPr>
        </p:nvSpPr>
        <p:spPr>
          <a:xfrm>
            <a:off x="609600" y="762000"/>
            <a:ext cx="3650343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67182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br>
              <a:rPr lang="en-US" sz="2000"/>
            </a:b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Visit all the vertices adjacent to A, inserting each one into the queue during each visit.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We visit A, B, C, D and E.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At this point the queue (from front to rear) contains </a:t>
            </a:r>
            <a:r>
              <a:rPr b="1" i="1" lang="en-US" sz="2000"/>
              <a:t>B, C D and E.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There are </a:t>
            </a:r>
            <a:r>
              <a:rPr b="1" i="1" lang="en-US" sz="2000"/>
              <a:t>no more unvisited vertices adjacent to A</a:t>
            </a:r>
            <a:r>
              <a:rPr i="1" lang="en-US" sz="2000"/>
              <a:t>, 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2000"/>
          </a:p>
        </p:txBody>
      </p:sp>
      <p:sp>
        <p:nvSpPr>
          <p:cNvPr id="1000" name="Google Shape;1000;p76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01" name="Google Shape;100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990600"/>
            <a:ext cx="2202543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8382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76"/>
          <p:cNvSpPr/>
          <p:nvPr/>
        </p:nvSpPr>
        <p:spPr>
          <a:xfrm>
            <a:off x="3733800" y="5410200"/>
            <a:ext cx="50292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Rule 1 : Visit all the next unvisited vertices (if any) that is adjacent to the current vertex, and insert them into a queue one at a time on every visit.</a:t>
            </a:r>
            <a:endParaRPr b="1" sz="14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4" name="Google Shape;1004;p7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05" name="Google Shape;1005;p7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06" name="Google Shape;1006;p7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7"/>
          <p:cNvSpPr txBox="1"/>
          <p:nvPr>
            <p:ph idx="1" type="body"/>
          </p:nvPr>
        </p:nvSpPr>
        <p:spPr>
          <a:xfrm>
            <a:off x="533400" y="685800"/>
            <a:ext cx="3429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So we </a:t>
            </a:r>
            <a:r>
              <a:rPr b="1" i="1" lang="en-US" sz="2000"/>
              <a:t>remove B</a:t>
            </a:r>
            <a:r>
              <a:rPr i="1" lang="en-US" sz="2000"/>
              <a:t> from the queue and </a:t>
            </a:r>
            <a:r>
              <a:rPr b="1" i="1" lang="en-US" sz="2000"/>
              <a:t>look for vertices adjacent to it</a:t>
            </a:r>
            <a:endParaRPr b="1"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We find </a:t>
            </a:r>
            <a:r>
              <a:rPr b="1" i="1" lang="en-US" sz="2000"/>
              <a:t>F, so we insert </a:t>
            </a:r>
            <a:r>
              <a:rPr i="1" lang="en-US" sz="2000"/>
              <a:t>it in the queue.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There are </a:t>
            </a:r>
            <a:r>
              <a:rPr b="1" i="1" lang="en-US" sz="2000"/>
              <a:t>no more unvisited vertices adjacent to B, </a:t>
            </a:r>
            <a:endParaRPr b="1" i="1" sz="2000"/>
          </a:p>
        </p:txBody>
      </p:sp>
      <p:sp>
        <p:nvSpPr>
          <p:cNvPr id="1012" name="Google Shape;1012;p77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13" name="Google Shape;101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914400"/>
            <a:ext cx="220254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9144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7"/>
          <p:cNvSpPr/>
          <p:nvPr/>
        </p:nvSpPr>
        <p:spPr>
          <a:xfrm>
            <a:off x="3733800" y="5410200"/>
            <a:ext cx="50292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Rule 2 : If there is no unvisited vertex, remove a vertex from the Queue and make it the current vertex and then follow Rule 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6" name="Google Shape;1016;p7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17" name="Google Shape;1017;p7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18" name="Google Shape;1018;p7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8"/>
          <p:cNvSpPr txBox="1"/>
          <p:nvPr>
            <p:ph idx="1" type="body"/>
          </p:nvPr>
        </p:nvSpPr>
        <p:spPr>
          <a:xfrm>
            <a:off x="533400" y="685800"/>
            <a:ext cx="3429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67182" lvl="0" marL="34290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br>
              <a:rPr lang="en-US" sz="2000"/>
            </a:br>
            <a:endParaRPr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Remove C</a:t>
            </a:r>
            <a:r>
              <a:rPr i="1" lang="en-US" sz="2000"/>
              <a:t> from the queue, It has </a:t>
            </a:r>
            <a:r>
              <a:rPr b="1" i="1" lang="en-US" sz="2000"/>
              <a:t>no unvisited vertices</a:t>
            </a:r>
            <a:endParaRPr i="1"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i="1" lang="en-US" sz="2000"/>
              <a:t> </a:t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Remove D</a:t>
            </a:r>
            <a:r>
              <a:rPr i="1" lang="en-US" sz="2000"/>
              <a:t> from the queue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i="1" lang="en-US" sz="2000"/>
              <a:t>D has an </a:t>
            </a:r>
            <a:r>
              <a:rPr b="1" i="1" lang="en-US" sz="2000"/>
              <a:t>unvisited vertex G</a:t>
            </a:r>
            <a:r>
              <a:rPr i="1" lang="en-US" sz="2000"/>
              <a:t> adjacent to it, </a:t>
            </a:r>
            <a:r>
              <a:rPr b="1" i="1" lang="en-US" sz="2000"/>
              <a:t>insert G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i="1" lang="en-US" sz="2000"/>
              <a:t>Remove E</a:t>
            </a:r>
            <a:r>
              <a:rPr i="1" lang="en-US" sz="2000"/>
              <a:t> as it has no adjacent vertices</a:t>
            </a:r>
            <a:endParaRPr/>
          </a:p>
        </p:txBody>
      </p:sp>
      <p:sp>
        <p:nvSpPr>
          <p:cNvPr id="1024" name="Google Shape;1024;p78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25" name="Google Shape;102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914400"/>
            <a:ext cx="220254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1430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28" name="Google Shape;1028;p7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29" name="Google Shape;1029;p7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9"/>
          <p:cNvSpPr txBox="1"/>
          <p:nvPr>
            <p:ph idx="1" type="body"/>
          </p:nvPr>
        </p:nvSpPr>
        <p:spPr>
          <a:xfrm>
            <a:off x="533400" y="609600"/>
            <a:ext cx="3352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Now the </a:t>
            </a:r>
            <a:r>
              <a:rPr b="1" i="1" lang="en-US" sz="2000"/>
              <a:t>queue is FG.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Remove F</a:t>
            </a:r>
            <a:r>
              <a:rPr i="1" lang="en-US" sz="2000"/>
              <a:t> , F has an </a:t>
            </a:r>
            <a:r>
              <a:rPr b="1" i="1" lang="en-US" sz="2000"/>
              <a:t>unvisited node H </a:t>
            </a:r>
            <a:r>
              <a:rPr i="1" lang="en-US" sz="2000"/>
              <a:t>, </a:t>
            </a:r>
            <a:r>
              <a:rPr b="1" i="1" lang="en-US" sz="2000"/>
              <a:t>insert H</a:t>
            </a:r>
            <a:r>
              <a:rPr i="1" lang="en-US" sz="2000"/>
              <a:t> in Queue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Remove G</a:t>
            </a:r>
            <a:r>
              <a:rPr i="1" lang="en-US" sz="2000"/>
              <a:t>, G has an </a:t>
            </a:r>
            <a:r>
              <a:rPr b="1" i="1" lang="en-US" sz="2000"/>
              <a:t>unvisited node I, insert I in queue </a:t>
            </a:r>
            <a:endParaRPr/>
          </a:p>
        </p:txBody>
      </p:sp>
      <p:sp>
        <p:nvSpPr>
          <p:cNvPr id="1035" name="Google Shape;1035;p79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36" name="Google Shape;103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143000"/>
            <a:ext cx="220254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1430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39" name="Google Shape;1039;p7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40" name="Google Shape;1040;p7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0"/>
          <p:cNvSpPr txBox="1"/>
          <p:nvPr>
            <p:ph idx="1" type="body"/>
          </p:nvPr>
        </p:nvSpPr>
        <p:spPr>
          <a:xfrm>
            <a:off x="533400" y="609600"/>
            <a:ext cx="3352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Now the </a:t>
            </a:r>
            <a:r>
              <a:rPr b="1" i="1" lang="en-US" sz="2000"/>
              <a:t>queue is HI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Visit H, Remove H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Visit I, Remove I</a:t>
            </a:r>
            <a:endParaRPr b="1" sz="2000"/>
          </a:p>
        </p:txBody>
      </p:sp>
      <p:sp>
        <p:nvSpPr>
          <p:cNvPr id="1046" name="Google Shape;1046;p80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47" name="Google Shape;104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143000"/>
            <a:ext cx="2202543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1430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50" name="Google Shape;1050;p8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51" name="Google Shape;1051;p8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1"/>
          <p:cNvSpPr txBox="1"/>
          <p:nvPr>
            <p:ph idx="1" type="body"/>
          </p:nvPr>
        </p:nvSpPr>
        <p:spPr>
          <a:xfrm>
            <a:off x="533400" y="685800"/>
            <a:ext cx="3650343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br>
              <a:rPr lang="en-US" sz="2000"/>
            </a:b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While removing each of these and found no adjacent unvisited vertices, </a:t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 queue is empty. </a:t>
            </a:r>
            <a:endParaRPr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BFS terminates </a:t>
            </a:r>
            <a:endParaRPr sz="2000"/>
          </a:p>
        </p:txBody>
      </p:sp>
      <p:sp>
        <p:nvSpPr>
          <p:cNvPr id="1057" name="Google Shape;1057;p81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r>
              <a:rPr b="1" i="1" lang="en-US" sz="2800"/>
              <a:t>Breadth First Search </a:t>
            </a:r>
            <a:endParaRPr/>
          </a:p>
        </p:txBody>
      </p:sp>
      <p:pic>
        <p:nvPicPr>
          <p:cNvPr id="1058" name="Google Shape;105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143000"/>
            <a:ext cx="2202543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143000"/>
            <a:ext cx="3962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61" name="Google Shape;1061;p8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62" name="Google Shape;1062;p8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>
            <p:ph type="title"/>
          </p:nvPr>
        </p:nvSpPr>
        <p:spPr>
          <a:xfrm>
            <a:off x="1043490" y="10276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400"/>
              <a:t>BFS-Procedure-using Queue</a:t>
            </a:r>
            <a:endParaRPr b="1" sz="2400"/>
          </a:p>
        </p:txBody>
      </p:sp>
      <p:sp>
        <p:nvSpPr>
          <p:cNvPr id="1068" name="Google Shape;1068;p82"/>
          <p:cNvSpPr txBox="1"/>
          <p:nvPr>
            <p:ph idx="1" type="body"/>
          </p:nvPr>
        </p:nvSpPr>
        <p:spPr>
          <a:xfrm>
            <a:off x="1043492" y="1447800"/>
            <a:ext cx="6777317" cy="4384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Use array implementation of queue to keep the unvisited neighbors of the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Initially </a:t>
            </a:r>
            <a:r>
              <a:rPr b="1" lang="en-US" sz="1800"/>
              <a:t>Queue is empty</a:t>
            </a:r>
            <a:r>
              <a:rPr lang="en-US" sz="1800"/>
              <a:t>, </a:t>
            </a:r>
            <a:r>
              <a:rPr b="1" lang="en-US" sz="1800"/>
              <a:t>front=-1,rear=-1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Take a </a:t>
            </a:r>
            <a:r>
              <a:rPr b="1" lang="en-US" sz="2000"/>
              <a:t>Boolean Array, visited[n]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 which value ,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visited[i]=false, If node has not been visited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US" sz="1800"/>
              <a:t>visited[i]=true, If node has been visited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Initially </a:t>
            </a:r>
            <a:r>
              <a:rPr b="1" lang="en-US" sz="2000"/>
              <a:t>visited[i]=false where i=1 to n</a:t>
            </a:r>
            <a:r>
              <a:rPr lang="en-US" sz="2000"/>
              <a:t>, n is total no of nodes</a:t>
            </a:r>
            <a:endParaRPr/>
          </a:p>
        </p:txBody>
      </p:sp>
      <p:sp>
        <p:nvSpPr>
          <p:cNvPr id="1069" name="Google Shape;1069;p8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70" name="Google Shape;1070;p8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71" name="Google Shape;1071;p8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3"/>
          <p:cNvSpPr txBox="1"/>
          <p:nvPr>
            <p:ph type="title"/>
          </p:nvPr>
        </p:nvSpPr>
        <p:spPr>
          <a:xfrm>
            <a:off x="1043490" y="1027664"/>
            <a:ext cx="7024744" cy="420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400"/>
              <a:t>BFS- Procedure using Queue</a:t>
            </a:r>
            <a:endParaRPr b="1" sz="2400"/>
          </a:p>
        </p:txBody>
      </p:sp>
      <p:sp>
        <p:nvSpPr>
          <p:cNvPr id="1077" name="Google Shape;1077;p83"/>
          <p:cNvSpPr txBox="1"/>
          <p:nvPr>
            <p:ph idx="1" type="body"/>
          </p:nvPr>
        </p:nvSpPr>
        <p:spPr>
          <a:xfrm>
            <a:off x="1043492" y="1447800"/>
            <a:ext cx="6777317" cy="4384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Insert </a:t>
            </a:r>
            <a:r>
              <a:rPr b="1" lang="en-US" sz="2000"/>
              <a:t>starting node into the queue </a:t>
            </a:r>
            <a:r>
              <a:rPr lang="en-US" sz="2000"/>
              <a:t>and </a:t>
            </a:r>
            <a:r>
              <a:rPr b="1" lang="en-US" sz="2000"/>
              <a:t>traverse it</a:t>
            </a:r>
            <a:r>
              <a:rPr lang="en-US" sz="2000"/>
              <a:t>, make </a:t>
            </a:r>
            <a:r>
              <a:rPr b="1" lang="en-US" sz="2000"/>
              <a:t>visited[i]=true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US" sz="2000"/>
              <a:t>Delete front element </a:t>
            </a:r>
            <a:r>
              <a:rPr lang="en-US" sz="2000"/>
              <a:t>from the queue and </a:t>
            </a:r>
            <a:r>
              <a:rPr b="1" lang="en-US" sz="2000"/>
              <a:t>insert all its unvisited neighbors</a:t>
            </a:r>
            <a:r>
              <a:rPr lang="en-US" sz="2000"/>
              <a:t> into the queue at the end, and </a:t>
            </a:r>
            <a:r>
              <a:rPr b="1" lang="en-US" sz="2000"/>
              <a:t>traverse them</a:t>
            </a:r>
            <a:r>
              <a:rPr lang="en-US" sz="2000"/>
              <a:t>. Also make the value of </a:t>
            </a:r>
            <a:r>
              <a:rPr b="1" lang="en-US" sz="2000"/>
              <a:t>visited array true </a:t>
            </a:r>
            <a:r>
              <a:rPr lang="en-US" sz="2000"/>
              <a:t>for these nodes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US" sz="2000"/>
              <a:t>Repeat </a:t>
            </a:r>
            <a:r>
              <a:rPr b="1" lang="en-US" sz="2000"/>
              <a:t>step 2 until the queue is empty</a:t>
            </a:r>
            <a:endParaRPr b="1" sz="2000"/>
          </a:p>
        </p:txBody>
      </p:sp>
      <p:sp>
        <p:nvSpPr>
          <p:cNvPr id="1078" name="Google Shape;1078;p8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79" name="Google Shape;1079;p8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80" name="Google Shape;1080;p8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4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US" sz="2800"/>
              <a:t>Perform BFS</a:t>
            </a:r>
            <a:endParaRPr sz="2800"/>
          </a:p>
        </p:txBody>
      </p:sp>
      <p:pic>
        <p:nvPicPr>
          <p:cNvPr id="1086" name="Google Shape;1086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981200"/>
            <a:ext cx="304800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8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88" name="Google Shape;1088;p8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89" name="Google Shape;1089;p8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5"/>
          <p:cNvSpPr txBox="1"/>
          <p:nvPr>
            <p:ph type="title"/>
          </p:nvPr>
        </p:nvSpPr>
        <p:spPr>
          <a:xfrm>
            <a:off x="1043490" y="1027664"/>
            <a:ext cx="7024744" cy="496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US" sz="2800"/>
              <a:t>Perform BFS</a:t>
            </a:r>
            <a:endParaRPr sz="2800"/>
          </a:p>
        </p:txBody>
      </p:sp>
      <p:pic>
        <p:nvPicPr>
          <p:cNvPr id="1095" name="Google Shape;1095;p8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843087"/>
            <a:ext cx="30480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85"/>
          <p:cNvSpPr/>
          <p:nvPr/>
        </p:nvSpPr>
        <p:spPr>
          <a:xfrm>
            <a:off x="762000" y="5562600"/>
            <a:ext cx="6172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required BFS is 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 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V</a:t>
            </a:r>
            <a:r>
              <a:rPr b="1" baseline="-25000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r>
              <a:rPr b="1" i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1.bp.blogspot.com/-KJmJuzAoz0w/XBjATh8ha8I/AAAAAAAACSs/pEX4xDo9RygleY9bTjpc_xjgIG43QZ6jgCLcBGAs/s400/New%2BDoc%2B2018-12-18%2B12.38.11_8.jpg" id="1097" name="Google Shape;109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8100" y="762000"/>
            <a:ext cx="46101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099" name="Google Shape;1099;p8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00" name="Google Shape;1100;p8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6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The rules for a DFS traversal of a graph same as for undirected graph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i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i="1" lang="en-US" sz="2000"/>
              <a:t>Difference-Adjacent nodes for a node A exists </a:t>
            </a:r>
            <a:r>
              <a:rPr b="1" i="1" lang="en-US" sz="2000"/>
              <a:t>only if there exists an edge starting from A and incident to any other node</a:t>
            </a:r>
            <a:endParaRPr sz="2000"/>
          </a:p>
        </p:txBody>
      </p:sp>
      <p:sp>
        <p:nvSpPr>
          <p:cNvPr id="1106" name="Google Shape;1106;p86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DFS in a di-graph </a:t>
            </a:r>
            <a:endParaRPr sz="2800"/>
          </a:p>
        </p:txBody>
      </p:sp>
      <p:sp>
        <p:nvSpPr>
          <p:cNvPr id="1107" name="Google Shape;1107;p8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08" name="Google Shape;1108;p8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09" name="Google Shape;1109;p8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7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i="1" lang="en-US" sz="2000"/>
              <a:t>Let us consider the following di-graph-</a:t>
            </a:r>
            <a:endParaRPr sz="2000"/>
          </a:p>
        </p:txBody>
      </p:sp>
      <p:sp>
        <p:nvSpPr>
          <p:cNvPr id="1115" name="Google Shape;1115;p87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DFS &amp; BFS in a di-graph </a:t>
            </a:r>
            <a:endParaRPr sz="2800"/>
          </a:p>
        </p:txBody>
      </p:sp>
      <p:pic>
        <p:nvPicPr>
          <p:cNvPr id="1116" name="Google Shape;111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81200"/>
            <a:ext cx="401618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7"/>
          <p:cNvSpPr/>
          <p:nvPr/>
        </p:nvSpPr>
        <p:spPr>
          <a:xfrm>
            <a:off x="3733800" y="5410200"/>
            <a:ext cx="5029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Covering nodes in Alphabetical Order</a:t>
            </a:r>
            <a:endParaRPr b="1" sz="1400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8" name="Google Shape;1118;p8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19" name="Google Shape;1119;p8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20" name="Google Shape;1120;p8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8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DFS &amp; BFS in a di-graph </a:t>
            </a:r>
            <a:endParaRPr sz="2800"/>
          </a:p>
        </p:txBody>
      </p:sp>
      <p:pic>
        <p:nvPicPr>
          <p:cNvPr id="1126" name="Google Shape;112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762000"/>
            <a:ext cx="2873188" cy="2289572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28" name="Google Shape;1128;p8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29" name="Google Shape;1129;p8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9"/>
          <p:cNvSpPr txBox="1"/>
          <p:nvPr>
            <p:ph idx="1" type="body"/>
          </p:nvPr>
        </p:nvSpPr>
        <p:spPr>
          <a:xfrm>
            <a:off x="457201" y="990600"/>
            <a:ext cx="4191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7452" lvl="0" marL="34290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The table below shows the stack contents at each push and pop operations:</a:t>
            </a:r>
            <a:br>
              <a:rPr lang="en-US" sz="1800"/>
            </a:br>
            <a:br>
              <a:rPr b="1" i="1" lang="en-US" sz="1800"/>
            </a:br>
            <a:br>
              <a:rPr lang="en-US" sz="1800"/>
            </a:b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The required DFS is A C B G D F E.</a:t>
            </a:r>
            <a:endParaRPr sz="1800"/>
          </a:p>
        </p:txBody>
      </p:sp>
      <p:sp>
        <p:nvSpPr>
          <p:cNvPr id="1136" name="Google Shape;1136;p89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DFS in a di-graph </a:t>
            </a:r>
            <a:endParaRPr sz="2800"/>
          </a:p>
        </p:txBody>
      </p:sp>
      <p:pic>
        <p:nvPicPr>
          <p:cNvPr id="1137" name="Google Shape;1137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81200"/>
            <a:ext cx="2286000" cy="28238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8" name="Google Shape;1138;p89"/>
          <p:cNvGraphicFramePr/>
          <p:nvPr/>
        </p:nvGraphicFramePr>
        <p:xfrm>
          <a:off x="5029200" y="11071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{4D70A626-C71C-47AA-B21C-966C5B745C66}</a:tableStyleId>
              </a:tblPr>
              <a:tblGrid>
                <a:gridCol w="1117600"/>
                <a:gridCol w="1117600"/>
                <a:gridCol w="11176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Event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Stack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DFS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A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B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G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ACBG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ACBG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G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B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D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ACD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ACBGD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F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ACDF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ACBGDF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Visit E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ACDFE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ACBGDFE</a:t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E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ACDF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F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ACD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D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AC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C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A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Pop A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NULL</a:t>
                      </a:r>
                      <a:endParaRPr b="1"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39" name="Google Shape;1139;p8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40" name="Google Shape;1140;p8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41" name="Google Shape;1141;p8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90"/>
          <p:cNvSpPr txBox="1"/>
          <p:nvPr>
            <p:ph idx="1" type="body"/>
          </p:nvPr>
        </p:nvSpPr>
        <p:spPr>
          <a:xfrm>
            <a:off x="1066800" y="6858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The rules for a BFS traversal of a graph are: -</a:t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i="1" lang="en-US" sz="1800"/>
              <a:t> Same as for Undirected Graph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Only concept of Directed Edges , Adjacency will differ</a:t>
            </a:r>
            <a:endParaRPr sz="2000"/>
          </a:p>
        </p:txBody>
      </p:sp>
      <p:sp>
        <p:nvSpPr>
          <p:cNvPr id="1147" name="Google Shape;1147;p90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BFS in a di-graph </a:t>
            </a:r>
            <a:endParaRPr sz="2800"/>
          </a:p>
        </p:txBody>
      </p:sp>
      <p:sp>
        <p:nvSpPr>
          <p:cNvPr id="1148" name="Google Shape;1148;p9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49" name="Google Shape;1149;p9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50" name="Google Shape;1150;p9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1"/>
          <p:cNvSpPr txBox="1"/>
          <p:nvPr>
            <p:ph idx="1" type="body"/>
          </p:nvPr>
        </p:nvSpPr>
        <p:spPr>
          <a:xfrm>
            <a:off x="990600" y="914400"/>
            <a:ext cx="6777317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The table below shows the Queue contents at every insert and remove operations:</a:t>
            </a:r>
            <a:br>
              <a:rPr lang="en-US" sz="1800"/>
            </a:b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b="1" i="1"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i="1" lang="en-US" sz="1800"/>
              <a:t>The required BFS is A C F B D E G.</a:t>
            </a:r>
            <a:endParaRPr sz="1800"/>
          </a:p>
        </p:txBody>
      </p:sp>
      <p:sp>
        <p:nvSpPr>
          <p:cNvPr id="1156" name="Google Shape;1156;p91"/>
          <p:cNvSpPr txBox="1"/>
          <p:nvPr>
            <p:ph type="title"/>
          </p:nvPr>
        </p:nvSpPr>
        <p:spPr>
          <a:xfrm>
            <a:off x="1066800" y="5334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br>
              <a:rPr lang="en-US" sz="2800"/>
            </a:br>
            <a:br>
              <a:rPr i="1" lang="en-US" sz="2800"/>
            </a:br>
            <a:r>
              <a:rPr b="1" i="1" lang="en-US" sz="2800"/>
              <a:t>Find BFS in a di-graph </a:t>
            </a:r>
            <a:endParaRPr sz="2800"/>
          </a:p>
        </p:txBody>
      </p:sp>
      <p:pic>
        <p:nvPicPr>
          <p:cNvPr descr="https://3.bp.blogspot.com/-4FZCLx82uWY/XBjDeszJOKI/AAAAAAAACTM/P9jjoqnOq-0jE_wwivvw26ldNZceCLl-QCLcBGAs/s400/New%2BDoc%2B2018-12-18%2B12.38.11_11.jpg" id="1157" name="Google Shape;1157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1676400"/>
            <a:ext cx="3810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1797627"/>
            <a:ext cx="2590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60" name="Google Shape;1160;p9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61" name="Google Shape;1161;p9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92"/>
          <p:cNvSpPr txBox="1"/>
          <p:nvPr>
            <p:ph type="title"/>
          </p:nvPr>
        </p:nvSpPr>
        <p:spPr>
          <a:xfrm>
            <a:off x="1066800" y="762000"/>
            <a:ext cx="7024744" cy="343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US" sz="2800"/>
              <a:t>Why Use Graphs?</a:t>
            </a:r>
            <a:endParaRPr/>
          </a:p>
        </p:txBody>
      </p:sp>
      <p:sp>
        <p:nvSpPr>
          <p:cNvPr id="1167" name="Google Shape;1167;p92"/>
          <p:cNvSpPr txBox="1"/>
          <p:nvPr>
            <p:ph idx="1" type="body"/>
          </p:nvPr>
        </p:nvSpPr>
        <p:spPr>
          <a:xfrm>
            <a:off x="990600" y="13716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Graphs serve as models of a wide range of objects: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roadmap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map of airline routes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layout of an adventure game world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schematic of the computers and connections that make up the Internet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links between pages on the Web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relationship between students and courses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A diagram of the flow capacities in a communications or transportation network</a:t>
            </a:r>
            <a:endParaRPr/>
          </a:p>
        </p:txBody>
      </p:sp>
      <p:sp>
        <p:nvSpPr>
          <p:cNvPr id="1168" name="Google Shape;1168;p9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69" name="Google Shape;1169;p9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70" name="Google Shape;1170;p9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93"/>
          <p:cNvSpPr txBox="1"/>
          <p:nvPr>
            <p:ph type="title"/>
          </p:nvPr>
        </p:nvSpPr>
        <p:spPr>
          <a:xfrm>
            <a:off x="1032540" y="381000"/>
            <a:ext cx="70247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US" sz="2400"/>
              <a:t>GRAPHS Representation </a:t>
            </a:r>
            <a:r>
              <a:rPr lang="en-US" sz="2400"/>
              <a:t>: </a:t>
            </a:r>
            <a:endParaRPr/>
          </a:p>
        </p:txBody>
      </p:sp>
      <p:sp>
        <p:nvSpPr>
          <p:cNvPr id="1176" name="Google Shape;1176;p93"/>
          <p:cNvSpPr txBox="1"/>
          <p:nvPr>
            <p:ph idx="1" type="body"/>
          </p:nvPr>
        </p:nvSpPr>
        <p:spPr>
          <a:xfrm>
            <a:off x="990600" y="9906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Graph representation of a </a:t>
            </a:r>
            <a:r>
              <a:rPr b="1" lang="en-US" sz="1800"/>
              <a:t>road network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A road network is a simple example of a graph, </a:t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US" sz="1800"/>
              <a:t>Vertices represents </a:t>
            </a:r>
            <a:r>
              <a:rPr b="1" lang="en-US" sz="1800"/>
              <a:t>cities and road </a:t>
            </a:r>
            <a:r>
              <a:rPr lang="en-US" sz="1800"/>
              <a:t>connecting them are correspond to edges.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i="1"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i="1" lang="en-US" sz="1800"/>
              <a:t>V= { Delhi, Chenai, Kolkata, Mumbai, Nagpur } </a:t>
            </a:r>
            <a:br>
              <a:rPr i="1" lang="en-US" sz="1800"/>
            </a:br>
            <a:endParaRPr i="1"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i="1" lang="en-US" sz="1800"/>
              <a:t>E= { (Delhi, Kolkata), (Delhi, Mumbai}, (Delhi, Nagpur), (Chenai, Kolkata), (Chenai, Mumbai), (Chenai, Nagpur), (Kolkata, Nagpur), (Mumbai, Nagpur) }</a:t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pic>
        <p:nvPicPr>
          <p:cNvPr id="1177" name="Google Shape;117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1" y="4419600"/>
            <a:ext cx="4876800" cy="201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9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79" name="Google Shape;1179;p9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80" name="Google Shape;1180;p9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4"/>
          <p:cNvSpPr txBox="1"/>
          <p:nvPr>
            <p:ph type="title"/>
          </p:nvPr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US" sz="3200"/>
              <a:t>Applications of Graph Data Structure</a:t>
            </a:r>
            <a:endParaRPr sz="3200"/>
          </a:p>
        </p:txBody>
      </p:sp>
      <p:sp>
        <p:nvSpPr>
          <p:cNvPr id="1186" name="Google Shape;1186;p94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672"/>
              <a:buChar char="🞇"/>
            </a:pPr>
            <a:r>
              <a:rPr lang="en-US" sz="2200"/>
              <a:t>Google maps </a:t>
            </a:r>
            <a:endParaRPr/>
          </a:p>
          <a:p>
            <a:pPr indent="-274319" lvl="0" marL="34290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 sz="2200"/>
              <a:t>Facebook</a:t>
            </a:r>
            <a:endParaRPr/>
          </a:p>
          <a:p>
            <a:pPr indent="-274319" lvl="0" marL="34290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 sz="2200"/>
              <a:t>World Wide Web</a:t>
            </a:r>
            <a:endParaRPr/>
          </a:p>
          <a:p>
            <a:pPr indent="-274319" lvl="0" marL="34290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 sz="2200"/>
              <a:t>Operating System</a:t>
            </a:r>
            <a:endParaRPr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  <a:p>
            <a:pPr indent="-168148" lvl="0" marL="34290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  <a:p>
            <a:pPr indent="-274319" lvl="0" marL="34290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US" sz="2200"/>
              <a:t>??</a:t>
            </a:r>
            <a:endParaRPr/>
          </a:p>
        </p:txBody>
      </p:sp>
      <p:sp>
        <p:nvSpPr>
          <p:cNvPr id="1187" name="Google Shape;1187;p9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88" name="Google Shape;1188;p9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89" name="Google Shape;1189;p9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5"/>
          <p:cNvSpPr txBox="1"/>
          <p:nvPr>
            <p:ph type="title"/>
          </p:nvPr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b="1" lang="en-US" sz="3200"/>
              <a:t>Applications of Graph Data Structure</a:t>
            </a:r>
            <a:endParaRPr sz="3200"/>
          </a:p>
        </p:txBody>
      </p:sp>
      <p:sp>
        <p:nvSpPr>
          <p:cNvPr id="1195" name="Google Shape;1195;p95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    In Computer science graphs are used to represent the flow of computation.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Google maps –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uses graphs for building </a:t>
            </a:r>
            <a:r>
              <a:rPr b="1" lang="en-US" sz="2000"/>
              <a:t>transportation systems,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where </a:t>
            </a:r>
            <a:r>
              <a:rPr b="1" lang="en-US" sz="2000"/>
              <a:t>intersection of two(or more) roads are considered to be a vertex</a:t>
            </a:r>
            <a:r>
              <a:rPr lang="en-US" sz="2000"/>
              <a:t> and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the </a:t>
            </a:r>
            <a:r>
              <a:rPr b="1" lang="en-US" sz="2000"/>
              <a:t>road connecting two vertices </a:t>
            </a:r>
            <a:r>
              <a:rPr lang="en-US" sz="2000"/>
              <a:t>is considered to be an edge,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 thus their navigation system is based on the algorithm to calculate the </a:t>
            </a:r>
            <a:r>
              <a:rPr b="1" lang="en-US" sz="2000"/>
              <a:t>shortest path between two vertices.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b="1" sz="2200"/>
          </a:p>
        </p:txBody>
      </p:sp>
      <p:sp>
        <p:nvSpPr>
          <p:cNvPr id="1196" name="Google Shape;1196;p9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197" name="Google Shape;1197;p9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98" name="Google Shape;1198;p9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96"/>
          <p:cNvSpPr txBox="1"/>
          <p:nvPr>
            <p:ph type="title"/>
          </p:nvPr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 sz="3600"/>
              <a:t>Applications of Graph Data Structure</a:t>
            </a:r>
            <a:endParaRPr sz="3600"/>
          </a:p>
        </p:txBody>
      </p:sp>
      <p:sp>
        <p:nvSpPr>
          <p:cNvPr id="1204" name="Google Shape;1204;p96"/>
          <p:cNvSpPr txBox="1"/>
          <p:nvPr>
            <p:ph idx="1" type="body"/>
          </p:nvPr>
        </p:nvSpPr>
        <p:spPr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 Facebook,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users</a:t>
            </a:r>
            <a:r>
              <a:rPr lang="en-US" sz="2000"/>
              <a:t> are considered to be the </a:t>
            </a:r>
            <a:r>
              <a:rPr b="1" lang="en-US" sz="2000"/>
              <a:t>vertices</a:t>
            </a:r>
            <a:r>
              <a:rPr lang="en-US" sz="2000"/>
              <a:t> and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they are </a:t>
            </a:r>
            <a:r>
              <a:rPr b="1" lang="en-US" sz="2000"/>
              <a:t>friend</a:t>
            </a:r>
            <a:r>
              <a:rPr lang="en-US" sz="2000"/>
              <a:t>s then there is an </a:t>
            </a:r>
            <a:r>
              <a:rPr b="1" lang="en-US" sz="2000"/>
              <a:t>edge running between them. </a:t>
            </a:r>
            <a:endParaRPr b="1"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Facebook’s </a:t>
            </a:r>
            <a:r>
              <a:rPr b="1" lang="en-US" sz="2000"/>
              <a:t>Friend suggestion algorithm uses graph theory</a:t>
            </a:r>
            <a:r>
              <a:rPr lang="en-US" sz="2000"/>
              <a:t>.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Facebook is an example of </a:t>
            </a:r>
            <a:r>
              <a:rPr b="1" lang="en-US" sz="2000"/>
              <a:t>undirected graph.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205" name="Google Shape;1205;p9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206" name="Google Shape;1206;p9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07" name="Google Shape;1207;p9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7"/>
          <p:cNvSpPr txBox="1"/>
          <p:nvPr>
            <p:ph idx="1" type="body"/>
          </p:nvPr>
        </p:nvSpPr>
        <p:spPr>
          <a:xfrm>
            <a:off x="990600" y="17526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 World Wide Web,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 sz="2000"/>
              <a:t>web pages =</a:t>
            </a:r>
            <a:r>
              <a:rPr lang="en-US" sz="2000"/>
              <a:t> vertices.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 There is an edge from a page u to other page v if there is </a:t>
            </a:r>
            <a:r>
              <a:rPr b="1" lang="en-US" sz="2000"/>
              <a:t>a link of page v on page u</a:t>
            </a:r>
            <a:r>
              <a:rPr lang="en-US" sz="2000"/>
              <a:t>.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This is an example of Directed graph.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It was the basic idea behind </a:t>
            </a:r>
            <a:r>
              <a:rPr b="1" lang="en-US" sz="2000"/>
              <a:t>Google Page Ranking Algorithm.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213" name="Google Shape;1213;p9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214" name="Google Shape;1214;p9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15" name="Google Shape;1215;p9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6" name="Google Shape;1216;p97"/>
          <p:cNvSpPr txBox="1"/>
          <p:nvPr/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 sz="3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Applications of Graph Data Structure</a:t>
            </a:r>
            <a:endParaRPr b="0" sz="36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98"/>
          <p:cNvSpPr txBox="1"/>
          <p:nvPr>
            <p:ph idx="1" type="body"/>
          </p:nvPr>
        </p:nvSpPr>
        <p:spPr>
          <a:xfrm>
            <a:off x="1066800" y="18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In Operating System,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we come across the </a:t>
            </a:r>
            <a:r>
              <a:rPr b="1" lang="en-US" sz="2000"/>
              <a:t>Resource Allocation Graph </a:t>
            </a:r>
            <a:r>
              <a:rPr lang="en-US" sz="2000"/>
              <a:t>where </a:t>
            </a:r>
            <a:endParaRPr sz="2000"/>
          </a:p>
          <a:p>
            <a:pPr indent="-228600" lvl="2" marL="9144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US"/>
              <a:t>each process and resources are considered to be vertices. </a:t>
            </a:r>
            <a:endParaRPr b="1"/>
          </a:p>
        </p:txBody>
      </p:sp>
      <p:sp>
        <p:nvSpPr>
          <p:cNvPr id="1222" name="Google Shape;1222;p9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223" name="Google Shape;1223;p9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24" name="Google Shape;1224;p9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5" name="Google Shape;1225;p98"/>
          <p:cNvSpPr txBox="1"/>
          <p:nvPr/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 sz="3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Applications of Graph Data Structure</a:t>
            </a:r>
            <a:endParaRPr b="0" sz="36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9"/>
          <p:cNvSpPr txBox="1"/>
          <p:nvPr>
            <p:ph idx="1" type="body"/>
          </p:nvPr>
        </p:nvSpPr>
        <p:spPr>
          <a:xfrm>
            <a:off x="838200" y="1447800"/>
            <a:ext cx="3505200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Edges are drawn from </a:t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resources to the </a:t>
            </a:r>
            <a:r>
              <a:rPr b="1" lang="en-US" sz="2000"/>
              <a:t>allocated</a:t>
            </a:r>
            <a:r>
              <a:rPr lang="en-US" sz="2000"/>
              <a:t> process, or 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from </a:t>
            </a:r>
            <a:r>
              <a:rPr b="1" lang="en-US" sz="2000"/>
              <a:t>requesting</a:t>
            </a:r>
            <a:r>
              <a:rPr lang="en-US" sz="2000"/>
              <a:t> process to the requested resource.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US" sz="2000"/>
              <a:t>If this leads to any </a:t>
            </a:r>
            <a:r>
              <a:rPr b="1" lang="en-US" sz="2000"/>
              <a:t>formation of a cycle then a deadlock may occur.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231" name="Google Shape;1231;p9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232" name="Google Shape;1232;p9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33" name="Google Shape;1233;p9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4" name="Google Shape;1234;p99"/>
          <p:cNvSpPr txBox="1"/>
          <p:nvPr/>
        </p:nvSpPr>
        <p:spPr>
          <a:xfrm>
            <a:off x="457200" y="704088"/>
            <a:ext cx="8229600" cy="515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b="1" lang="en-US" sz="3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Applications of Graph Data Structure</a:t>
            </a:r>
            <a:endParaRPr b="0" sz="36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35" name="Google Shape;1235;p99"/>
          <p:cNvPicPr preferRelativeResize="0"/>
          <p:nvPr/>
        </p:nvPicPr>
        <p:blipFill rotWithShape="1">
          <a:blip r:embed="rId3">
            <a:alphaModFix/>
          </a:blip>
          <a:srcRect b="1532" l="25286" r="25286" t="926"/>
          <a:stretch/>
        </p:blipFill>
        <p:spPr>
          <a:xfrm>
            <a:off x="5181600" y="1447800"/>
            <a:ext cx="2741612" cy="405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00"/>
          <p:cNvSpPr txBox="1"/>
          <p:nvPr>
            <p:ph type="title"/>
          </p:nvPr>
        </p:nvSpPr>
        <p:spPr>
          <a:xfrm>
            <a:off x="1033463" y="273050"/>
            <a:ext cx="83788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US" sz="2800"/>
              <a:t>Resource Allocation Graph With A Deadlock</a:t>
            </a:r>
            <a:endParaRPr/>
          </a:p>
        </p:txBody>
      </p:sp>
      <p:pic>
        <p:nvPicPr>
          <p:cNvPr id="1242" name="Google Shape;124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252538"/>
            <a:ext cx="1905000" cy="40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00"/>
          <p:cNvSpPr txBox="1"/>
          <p:nvPr/>
        </p:nvSpPr>
        <p:spPr>
          <a:xfrm>
            <a:off x="4800600" y="1447800"/>
            <a:ext cx="419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Suppose P3 requests for R2,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no resource instance is free, a request edge P3-&gt;R2 is added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So, Now Two cycles exist –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P1-&gt;R1-&gt;P2-&gt;R3-&gt;P3-&gt;R2-&gt;P1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P2-&gt;R3-&gt;P3-&gt;R2-&gt;P2 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P1,P2,P3 are deadlocked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4" name="Google Shape;1244;p100"/>
          <p:cNvPicPr preferRelativeResize="0"/>
          <p:nvPr/>
        </p:nvPicPr>
        <p:blipFill rotWithShape="1">
          <a:blip r:embed="rId4">
            <a:alphaModFix/>
          </a:blip>
          <a:srcRect b="1532" l="25286" r="25286" t="926"/>
          <a:stretch/>
        </p:blipFill>
        <p:spPr>
          <a:xfrm>
            <a:off x="315047" y="1252538"/>
            <a:ext cx="1818553" cy="40592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5" name="Google Shape;1245;p100"/>
          <p:cNvCxnSpPr/>
          <p:nvPr/>
        </p:nvCxnSpPr>
        <p:spPr>
          <a:xfrm>
            <a:off x="1447800" y="5791200"/>
            <a:ext cx="1981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46" name="Google Shape;1246;p10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10/23/2023</a:t>
            </a:r>
            <a:endParaRPr/>
          </a:p>
        </p:txBody>
      </p:sp>
      <p:sp>
        <p:nvSpPr>
          <p:cNvPr id="1247" name="Google Shape;1247;p10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48" name="Google Shape;1248;p10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2020-10-13T13:49:48Z</dcterms:created>
  <dc:creator>Admin</dc:creator>
</cp:coreProperties>
</file>