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y="6858000" cx="9144000"/>
  <p:notesSz cx="6858000" cy="9144000"/>
  <p:embeddedFontLst>
    <p:embeddedFont>
      <p:font typeface="Century Gothic"/>
      <p:regular r:id="rId81"/>
      <p:bold r:id="rId82"/>
      <p:italic r:id="rId83"/>
      <p:boldItalic r:id="rId8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85" roundtripDataSignature="AMtx7mjHoPFDLYFvmoOfn3RRiOTNf+Ko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DA5840-6FCF-4B20-8186-7DBA3F2DDF43}">
  <a:tblStyle styleId="{66DA5840-6FCF-4B20-8186-7DBA3F2DDF43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5E6"/>
          </a:solidFill>
        </a:fill>
      </a:tcStyle>
    </a:wholeTbl>
    <a:band1H>
      <a:tcTxStyle/>
      <a:tcStyle>
        <a:fill>
          <a:solidFill>
            <a:srgbClr val="DCEACA"/>
          </a:solidFill>
        </a:fill>
      </a:tcStyle>
    </a:band1H>
    <a:band2H>
      <a:tcTxStyle/>
    </a:band2H>
    <a:band1V>
      <a:tcTxStyle/>
      <a:tcStyle>
        <a:fill>
          <a:solidFill>
            <a:srgbClr val="DCEA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CenturyGothic-boldItalic.fntdata"/><Relationship Id="rId83" Type="http://schemas.openxmlformats.org/officeDocument/2006/relationships/font" Target="fonts/CenturyGothic-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customschemas.google.com/relationships/presentationmetadata" Target="meta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font" Target="fonts/CenturyGothic-bold.fntdata"/><Relationship Id="rId81" Type="http://schemas.openxmlformats.org/officeDocument/2006/relationships/font" Target="fonts/CenturyGothi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76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59" name="Google Shape;59;p76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60" name="Google Shape;60;p76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61" name="Google Shape;61;p7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2" name="Google Shape;62;p76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3" name="Google Shape;63;p76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4" name="Google Shape;64;p76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65" name="Google Shape;65;p7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6" name="Google Shape;66;p76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7" name="Google Shape;67;p76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8" name="Google Shape;68;p76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69" name="Google Shape;69;p7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0" name="Google Shape;70;p76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1" name="Google Shape;71;p76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72" name="Google Shape;72;p76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3" name="Google Shape;73;p76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" name="Google Shape;74;p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75" name="Google Shape;75;p76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" name="Google Shape;76;p76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" name="Google Shape;77;p76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" name="Google Shape;78;p76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" name="Google Shape;79;p76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" name="Google Shape;80;p76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" name="Google Shape;81;p76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" name="Google Shape;82;p76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" name="Google Shape;83;p76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" name="Google Shape;84;p7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" name="Google Shape;85;p76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" name="Google Shape;86;p76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7" name="Google Shape;87;p7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76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7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76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76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7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p7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7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p76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76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7" name="Google Shape;97;p76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" name="Google Shape;98;p7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76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76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424242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16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1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36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21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76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6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76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6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76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7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77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09" name="Google Shape;109;p7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7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8"/>
          <p:cNvSpPr txBox="1"/>
          <p:nvPr>
            <p:ph type="title"/>
          </p:nvPr>
        </p:nvSpPr>
        <p:spPr>
          <a:xfrm>
            <a:off x="1258645" y="2900829"/>
            <a:ext cx="6637468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78"/>
          <p:cNvSpPr txBox="1"/>
          <p:nvPr>
            <p:ph idx="1" type="body"/>
          </p:nvPr>
        </p:nvSpPr>
        <p:spPr>
          <a:xfrm>
            <a:off x="1258645" y="4267200"/>
            <a:ext cx="6637467" cy="152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7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7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9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79"/>
          <p:cNvSpPr txBox="1"/>
          <p:nvPr>
            <p:ph idx="1" type="body"/>
          </p:nvPr>
        </p:nvSpPr>
        <p:spPr>
          <a:xfrm>
            <a:off x="1042416" y="2313432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24" name="Google Shape;124;p79"/>
          <p:cNvSpPr txBox="1"/>
          <p:nvPr>
            <p:ph idx="2" type="body"/>
          </p:nvPr>
        </p:nvSpPr>
        <p:spPr>
          <a:xfrm>
            <a:off x="4645152" y="2313431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0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80"/>
          <p:cNvSpPr txBox="1"/>
          <p:nvPr>
            <p:ph idx="1" type="body"/>
          </p:nvPr>
        </p:nvSpPr>
        <p:spPr>
          <a:xfrm>
            <a:off x="1412111" y="2316009"/>
            <a:ext cx="305714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28" name="Google Shape;128;p80"/>
          <p:cNvSpPr txBox="1"/>
          <p:nvPr>
            <p:ph idx="2" type="body"/>
          </p:nvPr>
        </p:nvSpPr>
        <p:spPr>
          <a:xfrm>
            <a:off x="1041721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29" name="Google Shape;129;p80"/>
          <p:cNvSpPr txBox="1"/>
          <p:nvPr>
            <p:ph idx="3" type="body"/>
          </p:nvPr>
        </p:nvSpPr>
        <p:spPr>
          <a:xfrm>
            <a:off x="5011837" y="2316010"/>
            <a:ext cx="30557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30" name="Google Shape;130;p80"/>
          <p:cNvSpPr txBox="1"/>
          <p:nvPr>
            <p:ph idx="4" type="body"/>
          </p:nvPr>
        </p:nvSpPr>
        <p:spPr>
          <a:xfrm>
            <a:off x="4645152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31" name="Google Shape;131;p8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8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8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8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83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45" name="Google Shape;145;p83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46" name="Google Shape;146;p83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47" name="Google Shape;147;p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8" name="Google Shape;148;p83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9" name="Google Shape;149;p8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0" name="Google Shape;150;p83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51" name="Google Shape;151;p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2" name="Google Shape;152;p83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3" name="Google Shape;153;p8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4" name="Google Shape;154;p83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55" name="Google Shape;155;p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6" name="Google Shape;156;p83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7" name="Google Shape;157;p8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158" name="Google Shape;158;p8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59" name="Google Shape;159;p83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60" name="Google Shape;160;p83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161" name="Google Shape;161;p83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83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83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83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83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83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8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8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83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8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83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8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3" name="Google Shape;173;p83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4" name="Google Shape;174;p83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8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83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8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83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83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83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83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8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3" name="Google Shape;183;p8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83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p8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8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83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83"/>
          <p:cNvSpPr txBox="1"/>
          <p:nvPr>
            <p:ph idx="1" type="body"/>
          </p:nvPr>
        </p:nvSpPr>
        <p:spPr>
          <a:xfrm>
            <a:off x="1145894" y="856527"/>
            <a:ext cx="3090440" cy="5150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34772" lvl="1" marL="914400" algn="l">
              <a:spcBef>
                <a:spcPts val="440"/>
              </a:spcBef>
              <a:spcAft>
                <a:spcPts val="0"/>
              </a:spcAft>
              <a:buSzPts val="1672"/>
              <a:buChar char="🞇"/>
              <a:defRPr sz="2200"/>
            </a:lvl2pPr>
            <a:lvl3pPr indent="-325119" lvl="2" marL="1371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25120" lvl="5" marL="27432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6pPr>
            <a:lvl7pPr indent="-325120" lvl="6" marL="3200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7pPr>
            <a:lvl8pPr indent="-325120" lvl="7" marL="3657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8pPr>
            <a:lvl9pPr indent="-325120" lvl="8" marL="41148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9pPr>
          </a:lstStyle>
          <a:p/>
        </p:txBody>
      </p:sp>
      <p:sp>
        <p:nvSpPr>
          <p:cNvPr id="189" name="Google Shape;189;p83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83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83"/>
          <p:cNvSpPr txBox="1"/>
          <p:nvPr>
            <p:ph type="title"/>
          </p:nvPr>
        </p:nvSpPr>
        <p:spPr>
          <a:xfrm>
            <a:off x="4739833" y="2657434"/>
            <a:ext cx="3304572" cy="14631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83"/>
          <p:cNvSpPr txBox="1"/>
          <p:nvPr>
            <p:ph idx="2" type="body"/>
          </p:nvPr>
        </p:nvSpPr>
        <p:spPr>
          <a:xfrm>
            <a:off x="4736592" y="4136994"/>
            <a:ext cx="3298784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84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95" name="Google Shape;195;p8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96" name="Google Shape;196;p8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97" name="Google Shape;197;p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8" name="Google Shape;198;p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9" name="Google Shape;199;p84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0" name="Google Shape;200;p84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201" name="Google Shape;201;p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2" name="Google Shape;202;p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3" name="Google Shape;203;p84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4" name="Google Shape;204;p84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05" name="Google Shape;205;p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6" name="Google Shape;206;p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7" name="Google Shape;207;p84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08" name="Google Shape;208;p8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9" name="Google Shape;209;p8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0" name="Google Shape;210;p84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11" name="Google Shape;211;p84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84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3" name="Google Shape;213;p84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4" name="Google Shape;214;p84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84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6" name="Google Shape;216;p84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7" name="Google Shape;217;p84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8" name="Google Shape;218;p8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9" name="Google Shape;219;p8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0" name="Google Shape;220;p84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1" name="Google Shape;221;p8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2" name="Google Shape;222;p84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3" name="Google Shape;223;p8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84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p84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8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8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8" name="Google Shape;228;p8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9" name="Google Shape;229;p84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0" name="Google Shape;230;p84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1" name="Google Shape;231;p84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2" name="Google Shape;232;p84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33" name="Google Shape;233;p84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84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84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1E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8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84"/>
          <p:cNvSpPr txBox="1"/>
          <p:nvPr>
            <p:ph type="title"/>
          </p:nvPr>
        </p:nvSpPr>
        <p:spPr>
          <a:xfrm>
            <a:off x="4734424" y="2660904"/>
            <a:ext cx="33009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84"/>
          <p:cNvSpPr/>
          <p:nvPr>
            <p:ph idx="2" type="pic"/>
          </p:nvPr>
        </p:nvSpPr>
        <p:spPr>
          <a:xfrm>
            <a:off x="1005208" y="693795"/>
            <a:ext cx="3359623" cy="5468112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84"/>
          <p:cNvSpPr txBox="1"/>
          <p:nvPr>
            <p:ph idx="1" type="body"/>
          </p:nvPr>
        </p:nvSpPr>
        <p:spPr>
          <a:xfrm>
            <a:off x="4734630" y="4133088"/>
            <a:ext cx="3300573" cy="151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  <p:sp>
        <p:nvSpPr>
          <p:cNvPr id="240" name="Google Shape;240;p8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84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8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85"/>
          <p:cNvSpPr txBox="1"/>
          <p:nvPr>
            <p:ph idx="1" type="body"/>
          </p:nvPr>
        </p:nvSpPr>
        <p:spPr>
          <a:xfrm rot="5400000">
            <a:off x="2677662" y="689482"/>
            <a:ext cx="3508977" cy="677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46" name="Google Shape;246;p8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8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8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6"/>
          <p:cNvSpPr txBox="1"/>
          <p:nvPr>
            <p:ph type="title"/>
          </p:nvPr>
        </p:nvSpPr>
        <p:spPr>
          <a:xfrm rot="5400000">
            <a:off x="4981455" y="2678093"/>
            <a:ext cx="4780344" cy="14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86"/>
          <p:cNvSpPr txBox="1"/>
          <p:nvPr>
            <p:ph idx="1" type="body"/>
          </p:nvPr>
        </p:nvSpPr>
        <p:spPr>
          <a:xfrm rot="5400000">
            <a:off x="1374976" y="708467"/>
            <a:ext cx="4780344" cy="542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52" name="Google Shape;252;p8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8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8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1F15E"/>
            </a:gs>
            <a:gs pos="62000">
              <a:srgbClr val="90BA3F"/>
            </a:gs>
            <a:gs pos="100000">
              <a:srgbClr val="7FA03E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5"/>
          <p:cNvGrpSpPr/>
          <p:nvPr/>
        </p:nvGrpSpPr>
        <p:grpSpPr>
          <a:xfrm>
            <a:off x="-567355" y="0"/>
            <a:ext cx="10458653" cy="7117071"/>
            <a:chOff x="-644959" y="0"/>
            <a:chExt cx="10458653" cy="7117071"/>
          </a:xfrm>
        </p:grpSpPr>
        <p:grpSp>
          <p:nvGrpSpPr>
            <p:cNvPr id="11" name="Google Shape;11;p75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2" name="Google Shape;12;p75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3" name="Google Shape;13;p75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" name="Google Shape;14;p7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" name="Google Shape;15;p7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6" name="Google Shape;16;p7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7" name="Google Shape;17;p75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8" name="Google Shape;18;p7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" name="Google Shape;19;p7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" name="Google Shape;20;p75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1" name="Google Shape;21;p75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2" name="Google Shape;22;p7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3" name="Google Shape;23;p7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4" name="Google Shape;24;p75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5" name="Google Shape;25;p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6" name="Google Shape;26;p7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7" name="Google Shape;27;p75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75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75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75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75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75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75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75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7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36;p7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" name="Google Shape;37;p75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" name="Google Shape;38;p7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" name="Google Shape;39;p75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" name="Google Shape;40;p7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" name="Google Shape;41;p75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" name="Google Shape;42;p75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" name="Google Shape;43;p7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" name="Google Shape;44;p7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" name="Google Shape;45;p7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" name="Google Shape;46;p75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" name="Google Shape;47;p75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75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9" name="Google Shape;49;p7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75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75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7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🞇"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4772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🞇"/>
              <a:defRPr b="0" i="0" sz="2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5119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5467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5816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6164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6164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6164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6164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4" name="Google Shape;54;p7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5" name="Google Shape;55;p7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6" name="Google Shape;56;p7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ondor.depaul.edu/ichu/csc383/notes/notes7/B-Trees_files/tree-search.gif" TargetMode="External"/><Relationship Id="rId4" Type="http://schemas.openxmlformats.org/officeDocument/2006/relationships/hyperlink" Target="https://condor.depaul.edu/ichu/csc383/notes/notes7/B-Trees_files/tree-insert2.gif" TargetMode="External"/><Relationship Id="rId5" Type="http://schemas.openxmlformats.org/officeDocument/2006/relationships/hyperlink" Target="https://condor.depaul.edu/ichu/csc383/notes/notes7/B-Trees_files/tree-insert2.gif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jpg"/><Relationship Id="rId4" Type="http://schemas.openxmlformats.org/officeDocument/2006/relationships/image" Target="../media/image2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jpg"/><Relationship Id="rId4" Type="http://schemas.openxmlformats.org/officeDocument/2006/relationships/image" Target="../media/image2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Relationship Id="rId4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jpg"/><Relationship Id="rId4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7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1.png"/><Relationship Id="rId4" Type="http://schemas.openxmlformats.org/officeDocument/2006/relationships/image" Target="../media/image50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Relationship Id="rId4" Type="http://schemas.openxmlformats.org/officeDocument/2006/relationships/image" Target="../media/image4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3.1 Multiway Search Tree</a:t>
            </a:r>
            <a:endParaRPr/>
          </a:p>
        </p:txBody>
      </p:sp>
      <p:sp>
        <p:nvSpPr>
          <p:cNvPr id="260" name="Google Shape;260;p1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US"/>
              <a:t>BTree</a:t>
            </a:r>
            <a:endParaRPr/>
          </a:p>
        </p:txBody>
      </p:sp>
      <p:sp>
        <p:nvSpPr>
          <p:cNvPr id="261" name="Google Shape;261;p1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262" name="Google Shape;262;p1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3" name="Google Shape;263;p1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Multiway Search Tree</a:t>
            </a:r>
            <a:endParaRPr b="1" sz="2800"/>
          </a:p>
        </p:txBody>
      </p:sp>
      <p:sp>
        <p:nvSpPr>
          <p:cNvPr id="269" name="Google Shape;269;p2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Generalised versions of binary trees where each node contains multiple elements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Multiway Search Tree of </a:t>
            </a:r>
            <a:r>
              <a:rPr b="1" lang="en-US" sz="2000"/>
              <a:t>order n</a:t>
            </a:r>
            <a:r>
              <a:rPr lang="en-US" sz="2000"/>
              <a:t> is a general tree in which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each node has </a:t>
            </a:r>
            <a:r>
              <a:rPr b="1" lang="en-US" sz="1800"/>
              <a:t>n or fewer subtrees </a:t>
            </a:r>
            <a:r>
              <a:rPr lang="en-US" sz="1800"/>
              <a:t>and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contains no of keys as </a:t>
            </a:r>
            <a:r>
              <a:rPr b="1" lang="en-US" sz="1800"/>
              <a:t>one less than no of subtrees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i.e. In an </a:t>
            </a:r>
            <a:r>
              <a:rPr b="1" lang="en-US" sz="2000"/>
              <a:t>m-Way tree of order n</a:t>
            </a:r>
            <a:r>
              <a:rPr lang="en-US" sz="2000"/>
              <a:t>,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each node contains a </a:t>
            </a:r>
            <a:r>
              <a:rPr b="1" lang="en-US" sz="1800"/>
              <a:t>maximum of n – 1 elements and n children.</a:t>
            </a:r>
            <a:endParaRPr b="1" sz="18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If the Node has </a:t>
            </a:r>
            <a:r>
              <a:rPr b="1" lang="en-US" sz="2000"/>
              <a:t>4 subtrees, it contains 3 keys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270" name="Google Shape;270;p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271" name="Google Shape;271;p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2" name="Google Shape;272;p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Multiway Search Tree</a:t>
            </a:r>
            <a:endParaRPr b="1" sz="2800"/>
          </a:p>
        </p:txBody>
      </p:sp>
      <p:sp>
        <p:nvSpPr>
          <p:cNvPr id="278" name="Google Shape;278;p3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goal of m-Way search tree of </a:t>
            </a:r>
            <a:r>
              <a:rPr b="1" lang="en-US" sz="2000"/>
              <a:t>height h</a:t>
            </a:r>
            <a:r>
              <a:rPr lang="en-US" sz="2000"/>
              <a:t> calls for </a:t>
            </a:r>
            <a:r>
              <a:rPr b="1" lang="en-US" sz="2000"/>
              <a:t>O(h) no. of accesses for an insert/delete/retrieval operation.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279" name="Google Shape;279;p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280" name="Google Shape;280;p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1" name="Google Shape;281;p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"/>
          <p:cNvSpPr txBox="1"/>
          <p:nvPr>
            <p:ph type="title"/>
          </p:nvPr>
        </p:nvSpPr>
        <p:spPr>
          <a:xfrm>
            <a:off x="934692" y="3810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Multiway Search Tree</a:t>
            </a:r>
            <a:endParaRPr b="1" sz="2800"/>
          </a:p>
        </p:txBody>
      </p:sp>
      <p:sp>
        <p:nvSpPr>
          <p:cNvPr id="287" name="Google Shape;287;p4"/>
          <p:cNvSpPr txBox="1"/>
          <p:nvPr>
            <p:ph idx="1" type="body"/>
          </p:nvPr>
        </p:nvSpPr>
        <p:spPr>
          <a:xfrm>
            <a:off x="990600" y="9144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5-Way search tree 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Each node has at most </a:t>
            </a:r>
            <a:r>
              <a:rPr b="1" lang="en-US" sz="2000"/>
              <a:t>5 child nodes and at most 4 keys</a:t>
            </a:r>
            <a:endParaRPr b="1" sz="2000"/>
          </a:p>
        </p:txBody>
      </p:sp>
      <p:sp>
        <p:nvSpPr>
          <p:cNvPr id="288" name="Google Shape;288;p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289" name="Google Shape;289;p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0" name="Google Shape;290;p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1" name="Google Shape;2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81200"/>
            <a:ext cx="8229598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"/>
          <p:cNvSpPr txBox="1"/>
          <p:nvPr>
            <p:ph type="title"/>
          </p:nvPr>
        </p:nvSpPr>
        <p:spPr>
          <a:xfrm>
            <a:off x="990600" y="3810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Multiway Search Tree</a:t>
            </a:r>
            <a:endParaRPr b="1" sz="2800"/>
          </a:p>
        </p:txBody>
      </p:sp>
      <p:sp>
        <p:nvSpPr>
          <p:cNvPr id="297" name="Google Shape;297;p5"/>
          <p:cNvSpPr txBox="1"/>
          <p:nvPr>
            <p:ph idx="1" type="body"/>
          </p:nvPr>
        </p:nvSpPr>
        <p:spPr>
          <a:xfrm>
            <a:off x="990600" y="996796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5-Way search tree 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Multiway tree of </a:t>
            </a:r>
            <a:r>
              <a:rPr b="1" lang="en-US" sz="2000"/>
              <a:t>order 5</a:t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Each node has at most </a:t>
            </a:r>
            <a:r>
              <a:rPr b="1" lang="en-US" sz="2000"/>
              <a:t>5 child nodes and at most 4 keys</a:t>
            </a:r>
            <a:endParaRPr b="1" sz="2000"/>
          </a:p>
        </p:txBody>
      </p:sp>
      <p:sp>
        <p:nvSpPr>
          <p:cNvPr id="298" name="Google Shape;298;p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299" name="Google Shape;299;p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0" name="Google Shape;300;p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www.tutorialspoint.com/assets/questions/media/33770/135.jpg" id="301" name="Google Shape;3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667000"/>
            <a:ext cx="701040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"/>
          <p:cNvSpPr txBox="1"/>
          <p:nvPr>
            <p:ph type="title"/>
          </p:nvPr>
        </p:nvSpPr>
        <p:spPr>
          <a:xfrm>
            <a:off x="990600" y="5334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Multiway Search Tree</a:t>
            </a:r>
            <a:endParaRPr b="1" sz="2800"/>
          </a:p>
        </p:txBody>
      </p:sp>
      <p:sp>
        <p:nvSpPr>
          <p:cNvPr id="307" name="Google Shape;307;p6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Structure of a node of an m-Way tree </a:t>
            </a:r>
            <a:endParaRPr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rPr b="1" lang="en-US" sz="2000"/>
              <a:t>struct node { </a:t>
            </a:r>
            <a:endParaRPr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rPr b="1" lang="en-US" sz="2000"/>
              <a:t>	int count; </a:t>
            </a:r>
            <a:endParaRPr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rPr b="1" lang="en-US" sz="2000"/>
              <a:t>	int value[MAX]; </a:t>
            </a:r>
            <a:endParaRPr b="1"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rPr b="1" lang="en-US" sz="2000"/>
              <a:t>	struct node* child[MAX + 1]; </a:t>
            </a:r>
            <a:endParaRPr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rPr b="1" lang="en-US" sz="2000"/>
              <a:t>	}; </a:t>
            </a:r>
            <a:endParaRPr b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lang="en-US" sz="2000"/>
              <a:t>count</a:t>
            </a:r>
            <a:r>
              <a:rPr lang="en-US" sz="2000"/>
              <a:t> represents the </a:t>
            </a:r>
            <a:r>
              <a:rPr b="1" lang="en-US" sz="2000">
                <a:solidFill>
                  <a:srgbClr val="00B0F0"/>
                </a:solidFill>
              </a:rPr>
              <a:t>number of children that a particular node has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The </a:t>
            </a:r>
            <a:r>
              <a:rPr b="1" lang="en-US" sz="2000">
                <a:solidFill>
                  <a:schemeClr val="dk1"/>
                </a:solidFill>
              </a:rPr>
              <a:t>values of a node </a:t>
            </a:r>
            <a:r>
              <a:rPr lang="en-US" sz="2000"/>
              <a:t>stored in the array </a:t>
            </a:r>
            <a:r>
              <a:rPr b="1" lang="en-US" sz="2000"/>
              <a:t>value</a:t>
            </a:r>
            <a:endParaRPr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The </a:t>
            </a:r>
            <a:r>
              <a:rPr b="1" lang="en-US" sz="2000"/>
              <a:t>addresses of child</a:t>
            </a:r>
            <a:r>
              <a:rPr lang="en-US" sz="2000"/>
              <a:t> nodes are stored in the </a:t>
            </a:r>
            <a:r>
              <a:rPr b="1" lang="en-US" sz="2000"/>
              <a:t>child</a:t>
            </a:r>
            <a:r>
              <a:rPr lang="en-US" sz="2000"/>
              <a:t> array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The </a:t>
            </a:r>
            <a:r>
              <a:rPr b="1" lang="en-US" sz="2000"/>
              <a:t>MAX</a:t>
            </a:r>
            <a:r>
              <a:rPr lang="en-US" sz="2000"/>
              <a:t> macro signifies the </a:t>
            </a:r>
            <a:r>
              <a:rPr b="1" lang="en-US" sz="2000">
                <a:solidFill>
                  <a:srgbClr val="00B0F0"/>
                </a:solidFill>
              </a:rPr>
              <a:t>maximum number of values that a particular node can contain</a:t>
            </a:r>
            <a:endParaRPr/>
          </a:p>
        </p:txBody>
      </p:sp>
      <p:sp>
        <p:nvSpPr>
          <p:cNvPr id="308" name="Google Shape;308;p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309" name="Google Shape;309;p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0" name="Google Shape;310;p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"/>
          <p:cNvSpPr txBox="1"/>
          <p:nvPr>
            <p:ph type="title"/>
          </p:nvPr>
        </p:nvSpPr>
        <p:spPr>
          <a:xfrm>
            <a:off x="990600" y="5334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US" sz="2400"/>
              <a:t>Structure of M-Way Search Tree Node</a:t>
            </a:r>
            <a:endParaRPr b="1" sz="2800"/>
          </a:p>
        </p:txBody>
      </p:sp>
      <p:sp>
        <p:nvSpPr>
          <p:cNvPr id="316" name="Google Shape;316;p7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92278" lvl="0" marL="34290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92278" lvl="0" marL="34290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92278" lvl="0" marL="34290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P0, P1 …, Pn are the </a:t>
            </a:r>
            <a:r>
              <a:rPr b="1" lang="en-US" sz="2000"/>
              <a:t>pointers to the node’s sub-trees </a:t>
            </a:r>
            <a:endParaRPr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K0, k1, …, Kn-1 are the </a:t>
            </a:r>
            <a:r>
              <a:rPr b="1" lang="en-US" sz="2000"/>
              <a:t>key values of the node. </a:t>
            </a:r>
            <a:endParaRPr b="1" sz="2000"/>
          </a:p>
          <a:p>
            <a:pPr indent="-192278" lvl="0" marL="34290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All the key values are stored in </a:t>
            </a:r>
            <a:r>
              <a:rPr b="1" lang="en-US" sz="2000"/>
              <a:t>ascending order.</a:t>
            </a:r>
            <a:endParaRPr/>
          </a:p>
          <a:p>
            <a:pPr indent="-192278" lvl="0" marL="34290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The basic properties of M-way search trees:</a:t>
            </a:r>
            <a:endParaRPr/>
          </a:p>
          <a:p>
            <a:pPr indent="-457200" lvl="0" marL="525780" rtl="0" algn="l">
              <a:spcBef>
                <a:spcPts val="340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US" sz="2000"/>
              <a:t>Key vales </a:t>
            </a:r>
            <a:r>
              <a:rPr lang="en-US" sz="2000"/>
              <a:t>in the sub tree pointed by </a:t>
            </a:r>
            <a:r>
              <a:rPr b="1" lang="en-US" sz="2000"/>
              <a:t>P0 &lt; key value K0</a:t>
            </a:r>
            <a:r>
              <a:rPr lang="en-US" sz="2000"/>
              <a:t>. </a:t>
            </a:r>
            <a:endParaRPr sz="2000"/>
          </a:p>
          <a:p>
            <a:pPr indent="-457200" lvl="0" marL="525780" rtl="0" algn="l">
              <a:spcBef>
                <a:spcPts val="340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US" sz="2000"/>
              <a:t>Key values </a:t>
            </a:r>
            <a:r>
              <a:rPr lang="en-US" sz="2000"/>
              <a:t>in the sub-tree pointed by </a:t>
            </a:r>
            <a:r>
              <a:rPr b="1" lang="en-US" sz="2000"/>
              <a:t>P1 &gt; key value K0 </a:t>
            </a:r>
            <a:endParaRPr/>
          </a:p>
          <a:p>
            <a:pPr indent="0" lvl="0" marL="6858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rPr lang="en-US" sz="2000"/>
              <a:t>Similar pattern for the rest of the P’s and K’s.</a:t>
            </a:r>
            <a:endParaRPr/>
          </a:p>
        </p:txBody>
      </p:sp>
      <p:sp>
        <p:nvSpPr>
          <p:cNvPr id="317" name="Google Shape;317;p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318" name="Google Shape;318;p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9" name="Google Shape;319;p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0" name="Google Shape;3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395" y="1828800"/>
            <a:ext cx="66675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"/>
          <p:cNvSpPr txBox="1"/>
          <p:nvPr>
            <p:ph type="title"/>
          </p:nvPr>
        </p:nvSpPr>
        <p:spPr>
          <a:xfrm>
            <a:off x="990600" y="5334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Searching in an m-Way search tree</a:t>
            </a:r>
            <a:endParaRPr b="1" sz="2800"/>
          </a:p>
        </p:txBody>
      </p:sp>
      <p:sp>
        <p:nvSpPr>
          <p:cNvPr id="326" name="Google Shape;326;p8"/>
          <p:cNvSpPr txBox="1"/>
          <p:nvPr>
            <p:ph idx="1" type="body"/>
          </p:nvPr>
        </p:nvSpPr>
        <p:spPr>
          <a:xfrm>
            <a:off x="381000" y="1219200"/>
            <a:ext cx="3428999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b="1" lang="en-US" sz="2000"/>
              <a:t>Similar to that of binary search tree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To search for </a:t>
            </a:r>
            <a:r>
              <a:rPr b="1" lang="en-US" sz="2000"/>
              <a:t>77 in the 5-Way search tree,</a:t>
            </a:r>
            <a:endParaRPr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lang="en-US" sz="2000"/>
              <a:t>Begin at the root </a:t>
            </a:r>
            <a:endParaRPr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As 77&gt; 76&gt; 44&gt; 18, move to the </a:t>
            </a:r>
            <a:r>
              <a:rPr b="1" lang="en-US" sz="2000"/>
              <a:t>fourth sub-tree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In the root node of the fourth sub-tree, </a:t>
            </a:r>
            <a:r>
              <a:rPr b="1" lang="en-US" sz="2000"/>
              <a:t>77&lt; 80 </a:t>
            </a:r>
            <a:r>
              <a:rPr lang="en-US" sz="2000"/>
              <a:t>&amp; therefore we move to the </a:t>
            </a:r>
            <a:r>
              <a:rPr b="1" lang="en-US" sz="2000"/>
              <a:t>first sub-tree of the node.</a:t>
            </a:r>
            <a:r>
              <a:rPr lang="en-US" sz="2000"/>
              <a:t> </a:t>
            </a:r>
            <a:endParaRPr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Since 77 is available in the only node of this sub-tree</a:t>
            </a:r>
            <a:endParaRPr sz="2000"/>
          </a:p>
        </p:txBody>
      </p:sp>
      <p:sp>
        <p:nvSpPr>
          <p:cNvPr id="327" name="Google Shape;327;p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328" name="Google Shape;328;p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9" name="Google Shape;329;p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0" name="Google Shape;330;p8"/>
          <p:cNvPicPr preferRelativeResize="0"/>
          <p:nvPr/>
        </p:nvPicPr>
        <p:blipFill rotWithShape="1">
          <a:blip r:embed="rId3">
            <a:alphaModFix/>
          </a:blip>
          <a:srcRect b="0" l="0" r="12226" t="0"/>
          <a:stretch/>
        </p:blipFill>
        <p:spPr>
          <a:xfrm>
            <a:off x="3886200" y="1066800"/>
            <a:ext cx="48006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B Tree</a:t>
            </a:r>
            <a:endParaRPr/>
          </a:p>
        </p:txBody>
      </p:sp>
      <p:sp>
        <p:nvSpPr>
          <p:cNvPr id="336" name="Google Shape;336;p9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338" name="Google Shape;338;p9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9" name="Google Shape;339;p9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B Tree</a:t>
            </a:r>
            <a:endParaRPr b="1" sz="2800"/>
          </a:p>
        </p:txBody>
      </p:sp>
      <p:sp>
        <p:nvSpPr>
          <p:cNvPr id="345" name="Google Shape;345;p10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</a:t>
            </a:r>
            <a:r>
              <a:rPr b="1" lang="en-US" sz="2000"/>
              <a:t>balanced order n multiway search tree </a:t>
            </a:r>
            <a:r>
              <a:rPr lang="en-US" sz="2000"/>
              <a:t>in which each </a:t>
            </a:r>
            <a:r>
              <a:rPr b="1" lang="en-US" sz="2000"/>
              <a:t>non-root node contains atleast (n-1)/2 keys</a:t>
            </a:r>
            <a:r>
              <a:rPr lang="en-US" sz="2000"/>
              <a:t> is called B Tree of Order n 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B Tree of O(n)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>
                <a:solidFill>
                  <a:schemeClr val="dk1"/>
                </a:solidFill>
              </a:rPr>
              <a:t>Max no of keys in each node (root/non-root)=n-1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Min</a:t>
            </a:r>
            <a:r>
              <a:rPr lang="en-US" sz="2000"/>
              <a:t> no of keys in </a:t>
            </a:r>
            <a:r>
              <a:rPr b="1" lang="en-US" sz="2000"/>
              <a:t>each non-root node=(n-1)/2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346" name="Google Shape;346;p1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347" name="Google Shape;347;p1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8" name="Google Shape;348;p1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Properties of B Tree</a:t>
            </a:r>
            <a:endParaRPr b="1" sz="2800"/>
          </a:p>
        </p:txBody>
      </p:sp>
      <p:sp>
        <p:nvSpPr>
          <p:cNvPr id="354" name="Google Shape;354;p11"/>
          <p:cNvSpPr txBox="1"/>
          <p:nvPr>
            <p:ph idx="1" type="body"/>
          </p:nvPr>
        </p:nvSpPr>
        <p:spPr>
          <a:xfrm>
            <a:off x="1043493" y="1600200"/>
            <a:ext cx="6500308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>
                <a:solidFill>
                  <a:srgbClr val="0070C0"/>
                </a:solidFill>
              </a:rPr>
              <a:t>All leaf nodes will be at same level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Every node except root must contain at least </a:t>
            </a:r>
            <a:r>
              <a:rPr b="1" lang="en-US" sz="2000">
                <a:solidFill>
                  <a:srgbClr val="0070C0"/>
                </a:solidFill>
              </a:rPr>
              <a:t>([n-1]/2) keys</a:t>
            </a:r>
            <a:r>
              <a:rPr b="1" lang="en-US" sz="2000"/>
              <a:t>. The root may contain minimum 1 key.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All </a:t>
            </a:r>
            <a:r>
              <a:rPr b="1" lang="en-US" sz="2000">
                <a:solidFill>
                  <a:srgbClr val="0070C0"/>
                </a:solidFill>
              </a:rPr>
              <a:t>nodes (including root</a:t>
            </a:r>
            <a:r>
              <a:rPr b="1" lang="en-US" sz="2000"/>
              <a:t>) may contain at </a:t>
            </a:r>
            <a:r>
              <a:rPr b="1" lang="en-US" sz="2000">
                <a:solidFill>
                  <a:srgbClr val="0070C0"/>
                </a:solidFill>
              </a:rPr>
              <a:t>most n – 1 keys.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>
                <a:solidFill>
                  <a:srgbClr val="0070C0"/>
                </a:solidFill>
              </a:rPr>
              <a:t>Number of children of a node is equal to the number of keys in it plus 1.</a:t>
            </a:r>
            <a:endParaRPr b="1" sz="2000">
              <a:solidFill>
                <a:srgbClr val="0070C0"/>
              </a:solidFill>
            </a:endParaRPr>
          </a:p>
        </p:txBody>
      </p:sp>
      <p:sp>
        <p:nvSpPr>
          <p:cNvPr id="355" name="Google Shape;355;p1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356" name="Google Shape;356;p1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7" name="Google Shape;357;p1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Properties of B Tree</a:t>
            </a:r>
            <a:endParaRPr b="1" sz="2800"/>
          </a:p>
        </p:txBody>
      </p:sp>
      <p:sp>
        <p:nvSpPr>
          <p:cNvPr id="363" name="Google Shape;363;p12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 startAt="5"/>
            </a:pPr>
            <a:r>
              <a:rPr b="1" lang="en-US" sz="2000"/>
              <a:t>All keys of a node are </a:t>
            </a:r>
            <a:r>
              <a:rPr b="1" lang="en-US" sz="2000">
                <a:solidFill>
                  <a:srgbClr val="0070C0"/>
                </a:solidFill>
              </a:rPr>
              <a:t>sorted in increasing order. </a:t>
            </a:r>
            <a:endParaRPr b="1" sz="2000">
              <a:solidFill>
                <a:srgbClr val="0070C0"/>
              </a:solidFill>
            </a:endParaRPr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 startAt="5"/>
            </a:pPr>
            <a:r>
              <a:rPr b="1" lang="en-US" sz="2000"/>
              <a:t>The child between two keys k1 and k2 contains all keys in the range from k1 and k2.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 startAt="5"/>
            </a:pPr>
            <a:r>
              <a:rPr b="1" lang="en-US" sz="2000"/>
              <a:t>B-Tree grows and shrinks from the root which is unlike Binary Search Tree. Binary Search Trees grow downward and also shrink from downward.</a:t>
            </a:r>
            <a:endParaRPr/>
          </a:p>
        </p:txBody>
      </p:sp>
      <p:sp>
        <p:nvSpPr>
          <p:cNvPr id="364" name="Google Shape;364;p1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365" name="Google Shape;365;p1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66" name="Google Shape;366;p1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Properties of B Tree</a:t>
            </a:r>
            <a:endParaRPr b="1" sz="2800"/>
          </a:p>
        </p:txBody>
      </p:sp>
      <p:sp>
        <p:nvSpPr>
          <p:cNvPr id="372" name="Google Shape;372;p13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The B stands for balanced, </a:t>
            </a:r>
            <a:endParaRPr sz="2000"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In a B-tree the left and right side of each node is roughly kept to the same size (number of subnodes)</a:t>
            </a:r>
            <a:endParaRPr b="1" sz="2000"/>
          </a:p>
        </p:txBody>
      </p:sp>
      <p:sp>
        <p:nvSpPr>
          <p:cNvPr id="373" name="Google Shape;373;p1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374" name="Google Shape;374;p1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75" name="Google Shape;375;p1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Example </a:t>
            </a:r>
            <a:endParaRPr b="1" sz="2800"/>
          </a:p>
        </p:txBody>
      </p:sp>
      <p:sp>
        <p:nvSpPr>
          <p:cNvPr id="381" name="Google Shape;381;p14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B-Tree of minimum order 5. </a:t>
            </a:r>
            <a:endParaRPr sz="2000"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All the leaf nodes are at the same level </a:t>
            </a:r>
            <a:endParaRPr sz="2000"/>
          </a:p>
        </p:txBody>
      </p:sp>
      <p:sp>
        <p:nvSpPr>
          <p:cNvPr id="382" name="Google Shape;382;p1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383" name="Google Shape;383;p1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84" name="Google Shape;384;p1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5" name="Google Shape;3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656" y="3657600"/>
            <a:ext cx="67818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US"/>
              <a:t>Animation for Searching in B Tree</a:t>
            </a:r>
            <a:endParaRPr/>
          </a:p>
        </p:txBody>
      </p:sp>
      <p:sp>
        <p:nvSpPr>
          <p:cNvPr id="391" name="Google Shape;391;p1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https://condor.depaul.edu/ichu/csc383/notes/notes7/B-Trees_files/tree-search.gif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5"/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393" name="Google Shape;393;p1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94" name="Google Shape;394;p1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838200" y="6248400"/>
            <a:ext cx="670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Courtesy: https://condor.depaul.edu/ichu/csc383/notes/notes7/btree.html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"/>
          <p:cNvSpPr txBox="1"/>
          <p:nvPr>
            <p:ph type="title"/>
          </p:nvPr>
        </p:nvSpPr>
        <p:spPr>
          <a:xfrm>
            <a:off x="1043490" y="1027664"/>
            <a:ext cx="70248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Searching in B Tree</a:t>
            </a:r>
            <a:endParaRPr b="1" sz="2800"/>
          </a:p>
        </p:txBody>
      </p:sp>
      <p:sp>
        <p:nvSpPr>
          <p:cNvPr id="401" name="Google Shape;401;p16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Searching in B Trees is similar to that in Binary search tree.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Let the key to be searched be k.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Start from the root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Recursively traverse down.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For every visited non-leaf node, if the node has the key, we simply return the node.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Otherwise, we recur down to the appropriate child (The child which is just before the first greater key) of the node.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If we reach a leaf node and don’t find k in the leaf node, we return NULL.</a:t>
            </a:r>
            <a:endParaRPr/>
          </a:p>
        </p:txBody>
      </p:sp>
      <p:sp>
        <p:nvSpPr>
          <p:cNvPr id="402" name="Google Shape;402;p1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403" name="Google Shape;403;p1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04" name="Google Shape;404;p1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Searching in B Tree</a:t>
            </a:r>
            <a:endParaRPr b="1" sz="2800"/>
          </a:p>
        </p:txBody>
      </p:sp>
      <p:sp>
        <p:nvSpPr>
          <p:cNvPr id="410" name="Google Shape;410;p1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411" name="Google Shape;411;p1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12" name="Google Shape;412;p1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3" name="Google Shape;4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752600"/>
            <a:ext cx="6432406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4114800"/>
            <a:ext cx="6777037" cy="177245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7"/>
          <p:cNvSpPr txBox="1"/>
          <p:nvPr/>
        </p:nvSpPr>
        <p:spPr>
          <a:xfrm>
            <a:off x="6172200" y="1219200"/>
            <a:ext cx="1905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Search for 120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8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Searching in B Tree</a:t>
            </a:r>
            <a:endParaRPr b="1" sz="2800"/>
          </a:p>
        </p:txBody>
      </p:sp>
      <p:sp>
        <p:nvSpPr>
          <p:cNvPr id="421" name="Google Shape;421;p1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422" name="Google Shape;422;p1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23" name="Google Shape;423;p1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4" name="Google Shape;4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589" y="3581400"/>
            <a:ext cx="7244667" cy="2298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5" name="Google Shape;425;p18"/>
          <p:cNvGrpSpPr/>
          <p:nvPr/>
        </p:nvGrpSpPr>
        <p:grpSpPr>
          <a:xfrm>
            <a:off x="1143000" y="1752600"/>
            <a:ext cx="6619875" cy="1740124"/>
            <a:chOff x="1143000" y="1752600"/>
            <a:chExt cx="6619875" cy="1740124"/>
          </a:xfrm>
        </p:grpSpPr>
        <p:pic>
          <p:nvPicPr>
            <p:cNvPr id="426" name="Google Shape;42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000" y="1752600"/>
              <a:ext cx="6619875" cy="1740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48050" y="2571750"/>
              <a:ext cx="2114550" cy="5375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/>
              <a:t>Insertion in B Tree</a:t>
            </a:r>
            <a:endParaRPr/>
          </a:p>
        </p:txBody>
      </p:sp>
      <p:sp>
        <p:nvSpPr>
          <p:cNvPr id="433" name="Google Shape;433;p19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434" name="Google Shape;434;p19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435" name="Google Shape;435;p19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36" name="Google Shape;436;p19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442" name="Google Shape;442;p20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Insertion requires first traversal in B Tree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Check key to be inserted is already existing or not</a:t>
            </a:r>
            <a:r>
              <a:rPr lang="en-US" sz="2000"/>
              <a:t>, through traversal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Suppose the key does not exist in tree then through traversal , it will reach the leaf node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We will have 2 cases for inserting the keys</a:t>
            </a:r>
            <a:endParaRPr/>
          </a:p>
        </p:txBody>
      </p:sp>
      <p:sp>
        <p:nvSpPr>
          <p:cNvPr id="443" name="Google Shape;443;p2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444" name="Google Shape;444;p2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45" name="Google Shape;445;p2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451" name="Google Shape;451;p21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 sz="2000"/>
              <a:t>The 2 cases are-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Case 1: Node is Not Full</a:t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Case 2: Node is already full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id="452" name="Google Shape;452;p2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453" name="Google Shape;453;p2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54" name="Google Shape;454;p2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2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460" name="Google Shape;460;p22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Case 1: Node is Not Full-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We simply add the key in the Node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Case 2: Node is already full-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0070C0"/>
                </a:solidFill>
              </a:rPr>
              <a:t>Split the Node in 2 nodes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0070C0"/>
                </a:solidFill>
              </a:rPr>
              <a:t>Median key goes to the parent of that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0070C0"/>
                </a:solidFill>
              </a:rPr>
              <a:t>If parent is also full then same process will be repeated until it will get non-full parent node</a:t>
            </a:r>
            <a:endParaRPr b="1" sz="1800">
              <a:solidFill>
                <a:srgbClr val="0070C0"/>
              </a:solidFill>
            </a:endParaRPr>
          </a:p>
        </p:txBody>
      </p:sp>
      <p:sp>
        <p:nvSpPr>
          <p:cNvPr id="461" name="Google Shape;461;p2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462" name="Google Shape;462;p2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63" name="Google Shape;463;p2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3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Algorithm for Insertion in B Tree</a:t>
            </a:r>
            <a:endParaRPr b="1" sz="2800"/>
          </a:p>
        </p:txBody>
      </p:sp>
      <p:sp>
        <p:nvSpPr>
          <p:cNvPr id="469" name="Google Shape;469;p23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following algorithm applies: 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Run the search operation and find the appropriate place of insertion.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>
                <a:solidFill>
                  <a:srgbClr val="0070C0"/>
                </a:solidFill>
              </a:rPr>
              <a:t>Insert the new key at the proper location, but if the node has a maximum number of keys </a:t>
            </a:r>
            <a:r>
              <a:rPr lang="en-US" sz="2000"/>
              <a:t>already: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The node, along with a newly inserted key, will split from the middle element.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The </a:t>
            </a:r>
            <a:r>
              <a:rPr b="1" lang="en-US" sz="2000"/>
              <a:t>middle element will become the parent </a:t>
            </a:r>
            <a:r>
              <a:rPr lang="en-US" sz="2000"/>
              <a:t>for the other two child nodes.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The nodes must re-arrange keys in ascending order.</a:t>
            </a:r>
            <a:endParaRPr/>
          </a:p>
        </p:txBody>
      </p:sp>
      <p:sp>
        <p:nvSpPr>
          <p:cNvPr id="470" name="Google Shape;470;p2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471" name="Google Shape;471;p2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72" name="Google Shape;472;p2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3" name="Google Shape;473;p23"/>
          <p:cNvSpPr/>
          <p:nvPr/>
        </p:nvSpPr>
        <p:spPr>
          <a:xfrm>
            <a:off x="457200" y="6175177"/>
            <a:ext cx="6629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Courtesy-https://www.guru99.com/b-tree-example.html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4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Algorithm for Insertion in B Tree</a:t>
            </a:r>
            <a:endParaRPr b="1" sz="2800"/>
          </a:p>
        </p:txBody>
      </p:sp>
      <p:sp>
        <p:nvSpPr>
          <p:cNvPr id="479" name="Google Shape;479;p24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TIP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The following is not true about the insertion algorithm: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Since the node is full, therefore it will split, and then a new value will be inserted 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US" sz="2000">
                <a:solidFill>
                  <a:schemeClr val="accent1"/>
                </a:solidFill>
              </a:rPr>
              <a:t>CORRECT METHOD-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The node, along with a newly inserted key, will split from the middle element.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480" name="Google Shape;480;p2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481" name="Google Shape;481;p2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82" name="Google Shape;482;p2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24"/>
          <p:cNvSpPr/>
          <p:nvPr/>
        </p:nvSpPr>
        <p:spPr>
          <a:xfrm>
            <a:off x="457200" y="6175177"/>
            <a:ext cx="6629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Courtesy-https://www.guru99.com/b-tree-example.html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/>
              <a:t>Insertion with Odd Order</a:t>
            </a:r>
            <a:endParaRPr b="1"/>
          </a:p>
        </p:txBody>
      </p:sp>
      <p:sp>
        <p:nvSpPr>
          <p:cNvPr id="489" name="Google Shape;489;p25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490" name="Google Shape;490;p25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491" name="Google Shape;491;p25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92" name="Google Shape;492;p25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6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498" name="Google Shape;498;p26"/>
          <p:cNvSpPr txBox="1"/>
          <p:nvPr>
            <p:ph idx="1" type="body"/>
          </p:nvPr>
        </p:nvSpPr>
        <p:spPr>
          <a:xfrm>
            <a:off x="838200" y="1600200"/>
            <a:ext cx="7315200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Create a B Tree of Order 5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n=5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List of Keys=10,70,60,20,110,40,80,130,100,50,190,90,180,240,30,120,140,160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Max no of keys in each node (root/non-root)=n-1=4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Min no of keys in each non-root node=(n-1)/2=2</a:t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499" name="Google Shape;499;p2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500" name="Google Shape;500;p2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01" name="Google Shape;501;p2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7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507" name="Google Shape;507;p2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508" name="Google Shape;508;p2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09" name="Google Shape;509;p2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0" name="Google Shape;510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1828800"/>
            <a:ext cx="27432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7"/>
          <p:cNvSpPr txBox="1"/>
          <p:nvPr/>
        </p:nvSpPr>
        <p:spPr>
          <a:xfrm>
            <a:off x="685800" y="1600200"/>
            <a:ext cx="4495801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of Keys=10,70,60,20,110,40,80,130,100,50,190,90,180,240,30,120,140,160</a:t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10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70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Inserting 70, the keys in the node will be sorted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60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Inserting 60, the keys in the node will be sorted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12" name="Google Shape;5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3131344"/>
            <a:ext cx="2743200" cy="1062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0" y="4572000"/>
            <a:ext cx="2743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8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519" name="Google Shape;519;p2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520" name="Google Shape;520;p2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21" name="Google Shape;521;p2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2" name="Google Shape;522;p28"/>
          <p:cNvSpPr txBox="1"/>
          <p:nvPr/>
        </p:nvSpPr>
        <p:spPr>
          <a:xfrm>
            <a:off x="1043493" y="1600200"/>
            <a:ext cx="398570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of Keys=10,70,60,20,110,40,80,130,100,50,190,90,180,240,30,120,140,160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20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Inserting 20, the keys in the node will be sorted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110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was already full, 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insertion of 110 , It splits into 2 nodes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60 is the median key, so it goes to parent or becomes root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23" name="Google Shape;5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1600200"/>
            <a:ext cx="27432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8275" y="3124200"/>
            <a:ext cx="291465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9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530" name="Google Shape;530;p2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531" name="Google Shape;531;p2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32" name="Google Shape;532;p2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3" name="Google Shape;533;p29"/>
          <p:cNvSpPr txBox="1"/>
          <p:nvPr/>
        </p:nvSpPr>
        <p:spPr>
          <a:xfrm>
            <a:off x="1043493" y="1600200"/>
            <a:ext cx="398570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of Keys=10,70,60,20,110,40,80,130,100,50,190,90,180,240,30,120,140,160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40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Inserting 40, the keys in the node will be sorted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80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Inserting 80, the keys in the node will be sorted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34" name="Google Shape;5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266" y="1600200"/>
            <a:ext cx="312931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5339" y="3716414"/>
            <a:ext cx="3136242" cy="1617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0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541" name="Google Shape;541;p3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542" name="Google Shape;542;p3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43" name="Google Shape;543;p3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4" name="Google Shape;544;p30"/>
          <p:cNvSpPr txBox="1"/>
          <p:nvPr/>
        </p:nvSpPr>
        <p:spPr>
          <a:xfrm>
            <a:off x="457200" y="1600199"/>
            <a:ext cx="398570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of Keys=10,70,60,20,110,40,80,130,100,50,190,90,180,240,30,120,140,160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130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100 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was already full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insertion of 100, it splits in 2 nodes, 100 is the median key , 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100 goes up to the parent node</a:t>
            </a:r>
            <a:endParaRPr/>
          </a:p>
        </p:txBody>
      </p:sp>
      <p:pic>
        <p:nvPicPr>
          <p:cNvPr id="545" name="Google Shape;545;p30"/>
          <p:cNvPicPr preferRelativeResize="0"/>
          <p:nvPr/>
        </p:nvPicPr>
        <p:blipFill rotWithShape="1">
          <a:blip r:embed="rId3">
            <a:alphaModFix/>
          </a:blip>
          <a:srcRect b="18384" l="26060" r="32728" t="61009"/>
          <a:stretch/>
        </p:blipFill>
        <p:spPr>
          <a:xfrm>
            <a:off x="4343400" y="4170215"/>
            <a:ext cx="4038599" cy="1413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0"/>
          <p:cNvPicPr preferRelativeResize="0"/>
          <p:nvPr/>
        </p:nvPicPr>
        <p:blipFill rotWithShape="1">
          <a:blip r:embed="rId4">
            <a:alphaModFix/>
          </a:blip>
          <a:srcRect b="69056" l="26343" r="27866" t="15472"/>
          <a:stretch/>
        </p:blipFill>
        <p:spPr>
          <a:xfrm>
            <a:off x="4442907" y="2286000"/>
            <a:ext cx="3862893" cy="143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1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552" name="Google Shape;552;p3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553" name="Google Shape;553;p3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54" name="Google Shape;554;p3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5" name="Google Shape;555;p31"/>
          <p:cNvSpPr txBox="1"/>
          <p:nvPr/>
        </p:nvSpPr>
        <p:spPr>
          <a:xfrm>
            <a:off x="762001" y="1600200"/>
            <a:ext cx="3581400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of Keys=10,70,60,20,110,40,80,130,100,50,190,90,180,240,30,120,140,160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50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190</a:t>
            </a:r>
            <a:endParaRPr/>
          </a:p>
        </p:txBody>
      </p:sp>
      <p:pic>
        <p:nvPicPr>
          <p:cNvPr id="556" name="Google Shape;55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4729" y="4114800"/>
            <a:ext cx="3816966" cy="1578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4729" y="1905000"/>
            <a:ext cx="3909671" cy="1590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2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563" name="Google Shape;563;p3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564" name="Google Shape;564;p3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65" name="Google Shape;565;p3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6" name="Google Shape;566;p32"/>
          <p:cNvSpPr txBox="1"/>
          <p:nvPr/>
        </p:nvSpPr>
        <p:spPr>
          <a:xfrm>
            <a:off x="533400" y="1586344"/>
            <a:ext cx="3581400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of Keys=10,70,60,20,110,40,80,130,100,50,190,90,180,240,30,120,140,160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90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180</a:t>
            </a:r>
            <a:endParaRPr/>
          </a:p>
        </p:txBody>
      </p:sp>
      <p:pic>
        <p:nvPicPr>
          <p:cNvPr id="567" name="Google Shape;5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0742" y="3702559"/>
            <a:ext cx="3861258" cy="1846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0743" y="1066801"/>
            <a:ext cx="3861257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574" name="Google Shape;574;p3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575" name="Google Shape;575;p3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76" name="Google Shape;576;p3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7" name="Google Shape;577;p33"/>
          <p:cNvSpPr txBox="1"/>
          <p:nvPr/>
        </p:nvSpPr>
        <p:spPr>
          <a:xfrm>
            <a:off x="457200" y="1600199"/>
            <a:ext cx="3581400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of Keys=10,70,60,20,110,40,80,130,100,50,190,90,180,240,30,120,140,160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240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30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was already full, so after insertion of 30, splits in 2 nodes, 30 is the median key so it will go to the parent</a:t>
            </a:r>
            <a:endParaRPr/>
          </a:p>
        </p:txBody>
      </p:sp>
      <p:pic>
        <p:nvPicPr>
          <p:cNvPr id="578" name="Google Shape;5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6180" y="1447800"/>
            <a:ext cx="394296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6180" y="3581400"/>
            <a:ext cx="3942965" cy="1947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4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585" name="Google Shape;585;p3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586" name="Google Shape;586;p3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87" name="Google Shape;587;p3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8" name="Google Shape;588;p34"/>
          <p:cNvSpPr txBox="1"/>
          <p:nvPr/>
        </p:nvSpPr>
        <p:spPr>
          <a:xfrm>
            <a:off x="457200" y="1600199"/>
            <a:ext cx="3505200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of Keys=10,70,60,20,110,40,80,130,100,50,190,90,180,240,30,120,140,160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120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140</a:t>
            </a:r>
            <a:endParaRPr/>
          </a:p>
        </p:txBody>
      </p:sp>
      <p:pic>
        <p:nvPicPr>
          <p:cNvPr id="589" name="Google Shape;5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199" y="1524000"/>
            <a:ext cx="3874787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3505200"/>
            <a:ext cx="3874787" cy="2025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5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596" name="Google Shape;596;p3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597" name="Google Shape;597;p3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98" name="Google Shape;598;p3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9" name="Google Shape;599;p35"/>
          <p:cNvSpPr txBox="1"/>
          <p:nvPr/>
        </p:nvSpPr>
        <p:spPr>
          <a:xfrm>
            <a:off x="457200" y="1600199"/>
            <a:ext cx="3505200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of Keys=10,70,60,20,110,40,80,130,100,50,190,90,180,240,30,120,140,160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160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was already full, 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insertion of 160 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Splits into 2 nodes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130 is the median so it goes up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Root is already full, so it splits in 2 nodes , 100 is the median so it becomes new root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00" name="Google Shape;6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1" y="3581977"/>
            <a:ext cx="4114800" cy="225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8765" y="838200"/>
            <a:ext cx="4149436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5"/>
          <p:cNvSpPr/>
          <p:nvPr/>
        </p:nvSpPr>
        <p:spPr>
          <a:xfrm>
            <a:off x="6019800" y="3092773"/>
            <a:ext cx="484632" cy="48920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6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608" name="Google Shape;608;p36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Illustrate the steps to build a B Tree of order 5 for the following data 78, 20, 10, 93, 82, 75, 69, 45, 42, 13, 36 Show all the intermediate steps. </a:t>
            </a:r>
            <a:endParaRPr/>
          </a:p>
        </p:txBody>
      </p:sp>
      <p:sp>
        <p:nvSpPr>
          <p:cNvPr id="609" name="Google Shape;609;p3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610" name="Google Shape;610;p3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11" name="Google Shape;611;p3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7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/>
              <a:t>Insertion with Even Order</a:t>
            </a:r>
            <a:endParaRPr b="1"/>
          </a:p>
        </p:txBody>
      </p:sp>
      <p:sp>
        <p:nvSpPr>
          <p:cNvPr id="617" name="Google Shape;617;p37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618" name="Google Shape;618;p37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619" name="Google Shape;619;p37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20" name="Google Shape;620;p37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8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626" name="Google Shape;626;p3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627" name="Google Shape;627;p3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28" name="Google Shape;628;p3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9" name="Google Shape;629;p38"/>
          <p:cNvSpPr txBox="1"/>
          <p:nvPr/>
        </p:nvSpPr>
        <p:spPr>
          <a:xfrm>
            <a:off x="457200" y="1600199"/>
            <a:ext cx="3505200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0" name="Google Shape;630;p38"/>
          <p:cNvSpPr/>
          <p:nvPr/>
        </p:nvSpPr>
        <p:spPr>
          <a:xfrm>
            <a:off x="838200" y="1905000"/>
            <a:ext cx="685800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case of </a:t>
            </a:r>
            <a:r>
              <a:rPr b="1"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 number of keys, </a:t>
            </a:r>
            <a:endParaRPr b="1" sz="2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middle node will be selected by 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bias or </a:t>
            </a:r>
            <a:endParaRPr b="1" i="0" sz="2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bias</a:t>
            </a:r>
            <a:endParaRPr b="1" i="0" sz="2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9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636" name="Google Shape;636;p3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637" name="Google Shape;637;p3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38" name="Google Shape;638;p3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9" name="Google Shape;639;p39"/>
          <p:cNvSpPr txBox="1"/>
          <p:nvPr/>
        </p:nvSpPr>
        <p:spPr>
          <a:xfrm>
            <a:off x="457200" y="1600199"/>
            <a:ext cx="3505200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40" name="Google Shape;64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8927" y="3362325"/>
            <a:ext cx="3819525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9"/>
          <p:cNvSpPr/>
          <p:nvPr/>
        </p:nvSpPr>
        <p:spPr>
          <a:xfrm>
            <a:off x="838200" y="1905000"/>
            <a:ext cx="342900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Order =4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List=5,3,21,9,1,13,2,7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 no of nodes(non-root)=(n-1)/2=3/2=1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9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 number of keys, 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middle node will be selected by 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bias or </a:t>
            </a:r>
            <a:endParaRPr b="1" i="0" sz="2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bias</a:t>
            </a:r>
            <a:endParaRPr b="1" i="0" sz="2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642" name="Google Shape;642;p39"/>
          <p:cNvGraphicFramePr/>
          <p:nvPr/>
        </p:nvGraphicFramePr>
        <p:xfrm>
          <a:off x="5638800" y="2362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{66DA5840-6FCF-4B20-8186-7DBA3F2DDF43}</a:tableStyleId>
              </a:tblPr>
              <a:tblGrid>
                <a:gridCol w="690425"/>
                <a:gridCol w="690425"/>
                <a:gridCol w="690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43" name="Google Shape;643;p39"/>
          <p:cNvSpPr/>
          <p:nvPr/>
        </p:nvSpPr>
        <p:spPr>
          <a:xfrm>
            <a:off x="6857189" y="1824020"/>
            <a:ext cx="242316" cy="48920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4" name="Google Shape;644;p39"/>
          <p:cNvSpPr txBox="1"/>
          <p:nvPr/>
        </p:nvSpPr>
        <p:spPr>
          <a:xfrm>
            <a:off x="6863845" y="1399306"/>
            <a:ext cx="5275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Insertion in B Tree</a:t>
            </a:r>
            <a:endParaRPr b="1" sz="2800"/>
          </a:p>
        </p:txBody>
      </p:sp>
      <p:sp>
        <p:nvSpPr>
          <p:cNvPr id="650" name="Google Shape;650;p4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651" name="Google Shape;651;p4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52" name="Google Shape;652;p4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" name="Google Shape;653;p40"/>
          <p:cNvSpPr txBox="1"/>
          <p:nvPr/>
        </p:nvSpPr>
        <p:spPr>
          <a:xfrm>
            <a:off x="457200" y="1600199"/>
            <a:ext cx="3505200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4" name="Google Shape;654;p40"/>
          <p:cNvSpPr/>
          <p:nvPr/>
        </p:nvSpPr>
        <p:spPr>
          <a:xfrm>
            <a:off x="838200" y="1905000"/>
            <a:ext cx="34290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Order =4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List=5,3,21,9,1,13,2,7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Middle key by </a:t>
            </a:r>
            <a:r>
              <a:rPr b="1"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bias </a:t>
            </a:r>
            <a:endParaRPr/>
          </a:p>
        </p:txBody>
      </p:sp>
      <p:pic>
        <p:nvPicPr>
          <p:cNvPr id="655" name="Google Shape;655;p40"/>
          <p:cNvPicPr preferRelativeResize="0"/>
          <p:nvPr/>
        </p:nvPicPr>
        <p:blipFill rotWithShape="1">
          <a:blip r:embed="rId3">
            <a:alphaModFix/>
          </a:blip>
          <a:srcRect b="0" l="0" r="0" t="7895"/>
          <a:stretch/>
        </p:blipFill>
        <p:spPr>
          <a:xfrm>
            <a:off x="4565073" y="1371600"/>
            <a:ext cx="3505200" cy="400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1"/>
          <p:cNvSpPr txBox="1"/>
          <p:nvPr>
            <p:ph type="title"/>
          </p:nvPr>
        </p:nvSpPr>
        <p:spPr>
          <a:xfrm>
            <a:off x="914400" y="328468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Splitting in B Tree</a:t>
            </a:r>
            <a:endParaRPr b="1" sz="2800"/>
          </a:p>
        </p:txBody>
      </p:sp>
      <p:sp>
        <p:nvSpPr>
          <p:cNvPr id="661" name="Google Shape;661;p4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662" name="Google Shape;662;p4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63" name="Google Shape;663;p4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4" name="Google Shape;664;p41"/>
          <p:cNvSpPr txBox="1"/>
          <p:nvPr/>
        </p:nvSpPr>
        <p:spPr>
          <a:xfrm>
            <a:off x="1108074" y="1600200"/>
            <a:ext cx="7121525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List=10, 20, 30, 40, 50, 60, 70, 80 and 90 </a:t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76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in an initially empty B-Tree of </a:t>
            </a:r>
            <a:r>
              <a:rPr b="1" lang="en-US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Order 6 </a:t>
            </a:r>
            <a:endParaRPr/>
          </a:p>
          <a:p>
            <a:pPr indent="0" lvl="0" marL="685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n=6</a:t>
            </a:r>
            <a:endParaRPr/>
          </a:p>
          <a:p>
            <a:pPr indent="-192278" lvl="0" marL="34290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19" lvl="0" marL="34290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 no of keys in each node (root/non-root)=n-1=5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19" lvl="0" marL="34290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 no of keys in each non-root node=(n-1)/2</a:t>
            </a:r>
            <a:endParaRPr/>
          </a:p>
          <a:p>
            <a:pPr indent="0" lvl="1" marL="365760" marR="0" rtl="0" algn="l">
              <a:spcBef>
                <a:spcPts val="306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=(6-1)/2</a:t>
            </a:r>
            <a:endParaRPr/>
          </a:p>
          <a:p>
            <a:pPr indent="0" lvl="1" marL="365760" marR="0" rtl="0" algn="l">
              <a:spcBef>
                <a:spcPts val="306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=5/2</a:t>
            </a:r>
            <a:endParaRPr/>
          </a:p>
          <a:p>
            <a:pPr indent="0" lvl="1" marL="365760" marR="0" rtl="0" algn="l">
              <a:spcBef>
                <a:spcPts val="306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=2</a:t>
            </a:r>
            <a:endParaRPr b="1" i="0" sz="1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Btree1" id="665" name="Google Shape;665;p41"/>
          <p:cNvSpPr/>
          <p:nvPr/>
        </p:nvSpPr>
        <p:spPr>
          <a:xfrm>
            <a:off x="155575" y="-204788"/>
            <a:ext cx="1905000" cy="4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BTree2Ins" id="666" name="Google Shape;666;p41"/>
          <p:cNvSpPr/>
          <p:nvPr/>
        </p:nvSpPr>
        <p:spPr>
          <a:xfrm>
            <a:off x="155575" y="-250825"/>
            <a:ext cx="2286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2"/>
          <p:cNvSpPr txBox="1"/>
          <p:nvPr>
            <p:ph type="title"/>
          </p:nvPr>
        </p:nvSpPr>
        <p:spPr>
          <a:xfrm>
            <a:off x="990600" y="4572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Splitting in B Tree</a:t>
            </a:r>
            <a:endParaRPr b="1" sz="2800"/>
          </a:p>
        </p:txBody>
      </p:sp>
      <p:sp>
        <p:nvSpPr>
          <p:cNvPr id="672" name="Google Shape;672;p4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673" name="Google Shape;673;p4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74" name="Google Shape;674;p4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5" name="Google Shape;675;p42"/>
          <p:cNvSpPr txBox="1"/>
          <p:nvPr/>
        </p:nvSpPr>
        <p:spPr>
          <a:xfrm>
            <a:off x="685800" y="1600200"/>
            <a:ext cx="4495801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List=10, 20, 30, 40, 50, 60, 70, 80 and 90 </a:t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20,30,40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60</a:t>
            </a:r>
            <a:endParaRPr/>
          </a:p>
          <a:p>
            <a:pPr indent="-45720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AutoNum type="arabicParenR"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Since root node is full, </a:t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AutoNum type="arabicParenR"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will split into two nodes </a:t>
            </a:r>
            <a:endParaRPr/>
          </a:p>
          <a:p>
            <a:pPr indent="-45720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AutoNum type="arabicParenR"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Median=30, </a:t>
            </a:r>
            <a:r>
              <a:rPr b="1"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using Left Bias </a:t>
            </a: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 30 goes to parent or becomes root, </a:t>
            </a:r>
            <a:endParaRPr/>
          </a:p>
        </p:txBody>
      </p:sp>
      <p:sp>
        <p:nvSpPr>
          <p:cNvPr descr="Btree1" id="676" name="Google Shape;676;p42"/>
          <p:cNvSpPr/>
          <p:nvPr/>
        </p:nvSpPr>
        <p:spPr>
          <a:xfrm>
            <a:off x="155575" y="-204788"/>
            <a:ext cx="1905000" cy="4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77" name="Google Shape;67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850" y="1524000"/>
            <a:ext cx="285750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BTree2Ins" id="678" name="Google Shape;678;p42"/>
          <p:cNvSpPr/>
          <p:nvPr/>
        </p:nvSpPr>
        <p:spPr>
          <a:xfrm>
            <a:off x="155575" y="-250825"/>
            <a:ext cx="2286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79" name="Google Shape;67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9700" y="2209800"/>
            <a:ext cx="33909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6850" y="3048000"/>
            <a:ext cx="3333750" cy="2616777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2"/>
          <p:cNvSpPr txBox="1"/>
          <p:nvPr/>
        </p:nvSpPr>
        <p:spPr>
          <a:xfrm>
            <a:off x="8153400" y="2514600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60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3"/>
          <p:cNvSpPr txBox="1"/>
          <p:nvPr>
            <p:ph type="title"/>
          </p:nvPr>
        </p:nvSpPr>
        <p:spPr>
          <a:xfrm>
            <a:off x="914400" y="328468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Splitting in B Tree</a:t>
            </a:r>
            <a:endParaRPr b="1" sz="2800"/>
          </a:p>
        </p:txBody>
      </p:sp>
      <p:sp>
        <p:nvSpPr>
          <p:cNvPr id="687" name="Google Shape;687;p4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688" name="Google Shape;688;p4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89" name="Google Shape;689;p4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0" name="Google Shape;690;p43"/>
          <p:cNvSpPr txBox="1"/>
          <p:nvPr/>
        </p:nvSpPr>
        <p:spPr>
          <a:xfrm>
            <a:off x="1108074" y="1600200"/>
            <a:ext cx="7121525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Construct a B-Tree with data  75,52,81,40,33,90,85,20,38</a:t>
            </a:r>
            <a:endParaRPr/>
          </a:p>
          <a:p>
            <a:pPr indent="0" lvl="0" marL="6858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in an initially empty B-Tree of </a:t>
            </a:r>
            <a:r>
              <a:rPr b="1" lang="en-US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Order 4 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n=4</a:t>
            </a:r>
            <a:endParaRPr/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 no of keys in each node (root/non-root)=n-1=3</a:t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 no of keys in each non-root node=(n-1)/2</a:t>
            </a:r>
            <a:r>
              <a:rPr lang="en-US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=(3)/2=1</a:t>
            </a:r>
            <a:endParaRPr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Btree1" id="691" name="Google Shape;691;p43"/>
          <p:cNvSpPr/>
          <p:nvPr/>
        </p:nvSpPr>
        <p:spPr>
          <a:xfrm>
            <a:off x="155575" y="-204788"/>
            <a:ext cx="1905000" cy="4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BTree2Ins" id="692" name="Google Shape;692;p43"/>
          <p:cNvSpPr/>
          <p:nvPr/>
        </p:nvSpPr>
        <p:spPr>
          <a:xfrm>
            <a:off x="155575" y="-250825"/>
            <a:ext cx="2286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4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698" name="Google Shape;698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2684" l="0" r="0" t="0"/>
          <a:stretch/>
        </p:blipFill>
        <p:spPr>
          <a:xfrm>
            <a:off x="838200" y="685800"/>
            <a:ext cx="7315200" cy="5310188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00" name="Google Shape;700;p4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01" name="Google Shape;701;p4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707" name="Google Shape;707;p4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08" name="Google Shape;708;p4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09" name="Google Shape;709;p4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0" name="Google Shape;710;p4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pic>
        <p:nvPicPr>
          <p:cNvPr id="711" name="Google Shape;711;p45"/>
          <p:cNvPicPr preferRelativeResize="0"/>
          <p:nvPr/>
        </p:nvPicPr>
        <p:blipFill rotWithShape="1">
          <a:blip r:embed="rId3">
            <a:alphaModFix/>
          </a:blip>
          <a:srcRect b="0" l="16684" r="9089" t="0"/>
          <a:stretch/>
        </p:blipFill>
        <p:spPr>
          <a:xfrm rot="-5400000">
            <a:off x="717275" y="554934"/>
            <a:ext cx="6033052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6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/>
              <a:t>Deletion in B Tree</a:t>
            </a:r>
            <a:endParaRPr/>
          </a:p>
        </p:txBody>
      </p:sp>
      <p:sp>
        <p:nvSpPr>
          <p:cNvPr id="717" name="Google Shape;717;p46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718" name="Google Shape;718;p46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19" name="Google Shape;719;p46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20" name="Google Shape;720;p46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7"/>
          <p:cNvSpPr txBox="1"/>
          <p:nvPr>
            <p:ph type="title"/>
          </p:nvPr>
        </p:nvSpPr>
        <p:spPr>
          <a:xfrm>
            <a:off x="1043490" y="1027664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Deletion in B Tree</a:t>
            </a:r>
            <a:endParaRPr b="1"/>
          </a:p>
        </p:txBody>
      </p:sp>
      <p:sp>
        <p:nvSpPr>
          <p:cNvPr id="726" name="Google Shape;726;p4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27" name="Google Shape;727;p4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28" name="Google Shape;728;p4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9" name="Google Shape;729;p47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Deletion also requires traversal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After reaching a particular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2 cases may occur-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b="1" lang="en-US" sz="1800">
                <a:solidFill>
                  <a:srgbClr val="0070C0"/>
                </a:solidFill>
              </a:rPr>
              <a:t>Node is a leaf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b="1" lang="en-US" sz="1800">
                <a:solidFill>
                  <a:srgbClr val="0070C0"/>
                </a:solidFill>
              </a:rPr>
              <a:t>Node is non leaf node</a:t>
            </a:r>
            <a:endParaRPr b="1" sz="18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8"/>
          <p:cNvSpPr txBox="1"/>
          <p:nvPr>
            <p:ph type="title"/>
          </p:nvPr>
        </p:nvSpPr>
        <p:spPr>
          <a:xfrm>
            <a:off x="1043490" y="1027664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Deletion in B Tree</a:t>
            </a:r>
            <a:endParaRPr b="1"/>
          </a:p>
        </p:txBody>
      </p:sp>
      <p:sp>
        <p:nvSpPr>
          <p:cNvPr id="735" name="Google Shape;735;p4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36" name="Google Shape;736;p4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37" name="Google Shape;737;p4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8" name="Google Shape;738;p48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Case 1-Node is a leaf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If node has more than minimum of keys then it can be easily deleted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00B0F0"/>
                </a:solidFill>
              </a:rPr>
              <a:t>Just delete it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Deleting this will not violate the property of B Tree</a:t>
            </a:r>
            <a:endParaRPr b="1"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9"/>
          <p:cNvSpPr txBox="1"/>
          <p:nvPr>
            <p:ph type="title"/>
          </p:nvPr>
        </p:nvSpPr>
        <p:spPr>
          <a:xfrm>
            <a:off x="927376" y="374521"/>
            <a:ext cx="7024744" cy="3112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Deletion in B Tree</a:t>
            </a:r>
            <a:endParaRPr b="1" sz="2400"/>
          </a:p>
        </p:txBody>
      </p:sp>
      <p:sp>
        <p:nvSpPr>
          <p:cNvPr id="744" name="Google Shape;744;p4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45" name="Google Shape;745;p4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46" name="Google Shape;746;p4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7" name="Google Shape;747;p49"/>
          <p:cNvSpPr txBox="1"/>
          <p:nvPr>
            <p:ph idx="1" type="body"/>
          </p:nvPr>
        </p:nvSpPr>
        <p:spPr>
          <a:xfrm>
            <a:off x="990600" y="7620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Case 1-Node is a leaf node</a:t>
            </a:r>
            <a:endParaRPr/>
          </a:p>
        </p:txBody>
      </p:sp>
      <p:pic>
        <p:nvPicPr>
          <p:cNvPr id="748" name="Google Shape;74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219200"/>
            <a:ext cx="81534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54" name="Google Shape;754;p5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55" name="Google Shape;755;p5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6" name="Google Shape;756;p50"/>
          <p:cNvSpPr txBox="1"/>
          <p:nvPr>
            <p:ph idx="1" type="body"/>
          </p:nvPr>
        </p:nvSpPr>
        <p:spPr>
          <a:xfrm>
            <a:off x="1043492" y="914400"/>
            <a:ext cx="6777317" cy="4918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Case 1-Node is a leaf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If it has minimum no of keys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Deleting this will violate the property of B Tree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Target node can borrow key from immediate left node, or immediate right node (sibling)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sibling will say yes if it has more than minimum number of keys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The key will be borrowed from the parent node, the max value of sibling will be transferred to a parent </a:t>
            </a:r>
            <a:r>
              <a:rPr b="1" lang="en-US" sz="1800">
                <a:solidFill>
                  <a:srgbClr val="00B0F0"/>
                </a:solidFill>
              </a:rPr>
              <a:t>[Left Sibling]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The max value of the parent node will be transferred to the target node, and remove the target value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id="757" name="Google Shape;757;p50"/>
          <p:cNvSpPr txBox="1"/>
          <p:nvPr>
            <p:ph type="title"/>
          </p:nvPr>
        </p:nvSpPr>
        <p:spPr>
          <a:xfrm>
            <a:off x="927376" y="374521"/>
            <a:ext cx="7024744" cy="3112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Deletion in B Tree</a:t>
            </a:r>
            <a:endParaRPr b="1" sz="2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63" name="Google Shape;763;p5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64" name="Google Shape;764;p5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5" name="Google Shape;765;p51"/>
          <p:cNvSpPr txBox="1"/>
          <p:nvPr>
            <p:ph idx="1" type="body"/>
          </p:nvPr>
        </p:nvSpPr>
        <p:spPr>
          <a:xfrm>
            <a:off x="1043492" y="914400"/>
            <a:ext cx="6777317" cy="4918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Case 1-Node is a leaf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If it has minimum no of keys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00B0F0"/>
                </a:solidFill>
              </a:rPr>
              <a:t>Pull up one key from adjacent node to father and pull down the father</a:t>
            </a:r>
            <a:endParaRPr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>
              <a:solidFill>
                <a:srgbClr val="00B0F0"/>
              </a:solidFill>
            </a:endParaRPr>
          </a:p>
        </p:txBody>
      </p:sp>
      <p:sp>
        <p:nvSpPr>
          <p:cNvPr id="766" name="Google Shape;766;p51"/>
          <p:cNvSpPr txBox="1"/>
          <p:nvPr>
            <p:ph type="title"/>
          </p:nvPr>
        </p:nvSpPr>
        <p:spPr>
          <a:xfrm>
            <a:off x="927376" y="374521"/>
            <a:ext cx="7024744" cy="3112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Deletion in B Tree</a:t>
            </a:r>
            <a:endParaRPr b="1" sz="2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2"/>
          <p:cNvSpPr txBox="1"/>
          <p:nvPr>
            <p:ph type="title"/>
          </p:nvPr>
        </p:nvSpPr>
        <p:spPr>
          <a:xfrm>
            <a:off x="927376" y="374521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Deletion in B Tree</a:t>
            </a:r>
            <a:endParaRPr b="1"/>
          </a:p>
        </p:txBody>
      </p:sp>
      <p:sp>
        <p:nvSpPr>
          <p:cNvPr id="772" name="Google Shape;772;p5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73" name="Google Shape;773;p5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74" name="Google Shape;774;p5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5" name="Google Shape;775;p52"/>
          <p:cNvSpPr txBox="1"/>
          <p:nvPr>
            <p:ph idx="1" type="body"/>
          </p:nvPr>
        </p:nvSpPr>
        <p:spPr>
          <a:xfrm>
            <a:off x="720437" y="9906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Case 1-Node is a leaf node</a:t>
            </a:r>
            <a:endParaRPr/>
          </a:p>
        </p:txBody>
      </p:sp>
      <p:pic>
        <p:nvPicPr>
          <p:cNvPr id="776" name="Google Shape;77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1" y="1447800"/>
            <a:ext cx="77724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3"/>
          <p:cNvSpPr txBox="1"/>
          <p:nvPr>
            <p:ph type="title"/>
          </p:nvPr>
        </p:nvSpPr>
        <p:spPr>
          <a:xfrm>
            <a:off x="927376" y="374521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Deletion in B Tree</a:t>
            </a:r>
            <a:endParaRPr b="1"/>
          </a:p>
        </p:txBody>
      </p:sp>
      <p:sp>
        <p:nvSpPr>
          <p:cNvPr id="782" name="Google Shape;782;p5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83" name="Google Shape;783;p5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84" name="Google Shape;784;p5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5" name="Google Shape;785;p53"/>
          <p:cNvSpPr txBox="1"/>
          <p:nvPr>
            <p:ph idx="1" type="body"/>
          </p:nvPr>
        </p:nvSpPr>
        <p:spPr>
          <a:xfrm>
            <a:off x="720437" y="9906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Case 1-Node is a leaf node</a:t>
            </a:r>
            <a:endParaRPr/>
          </a:p>
        </p:txBody>
      </p:sp>
      <p:pic>
        <p:nvPicPr>
          <p:cNvPr id="786" name="Google Shape;78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82296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4"/>
          <p:cNvSpPr txBox="1"/>
          <p:nvPr>
            <p:ph type="title"/>
          </p:nvPr>
        </p:nvSpPr>
        <p:spPr>
          <a:xfrm>
            <a:off x="1043490" y="1027664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Deletion in B Tree</a:t>
            </a:r>
            <a:endParaRPr b="1"/>
          </a:p>
        </p:txBody>
      </p:sp>
      <p:sp>
        <p:nvSpPr>
          <p:cNvPr id="792" name="Google Shape;792;p5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793" name="Google Shape;793;p5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94" name="Google Shape;794;p5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5" name="Google Shape;795;p54"/>
          <p:cNvSpPr txBox="1"/>
          <p:nvPr>
            <p:ph idx="1" type="body"/>
          </p:nvPr>
        </p:nvSpPr>
        <p:spPr>
          <a:xfrm>
            <a:off x="990600" y="1676400"/>
            <a:ext cx="677731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Case 1-Node is a leaf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If it has minimum no of keys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>
                <a:solidFill>
                  <a:srgbClr val="00B0F0"/>
                </a:solidFill>
              </a:rPr>
              <a:t>Key cannot be borrowed from Sibling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Merge the target node with any of its immediate siblings along with parent key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That key from the parent node is merged which comes in between the two merging sibling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Delete the target key from the merged node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5"/>
          <p:cNvSpPr txBox="1"/>
          <p:nvPr>
            <p:ph type="title"/>
          </p:nvPr>
        </p:nvSpPr>
        <p:spPr>
          <a:xfrm>
            <a:off x="1043490" y="1027664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Deletion in B Tree</a:t>
            </a:r>
            <a:endParaRPr b="1"/>
          </a:p>
        </p:txBody>
      </p:sp>
      <p:sp>
        <p:nvSpPr>
          <p:cNvPr id="801" name="Google Shape;801;p5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802" name="Google Shape;802;p5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03" name="Google Shape;803;p5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4" name="Google Shape;804;p55"/>
          <p:cNvSpPr txBox="1"/>
          <p:nvPr>
            <p:ph idx="1" type="body"/>
          </p:nvPr>
        </p:nvSpPr>
        <p:spPr>
          <a:xfrm>
            <a:off x="990600" y="1676400"/>
            <a:ext cx="677731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Case 1-Node is a leaf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If it has minimum no of keys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>
                <a:solidFill>
                  <a:srgbClr val="00B0F0"/>
                </a:solidFill>
              </a:rPr>
              <a:t>If adjacent node also has minimum no of keys, then the two adjacent leaves and the median key from the parent can be combined as one new leaf</a:t>
            </a:r>
            <a:endParaRPr b="1" sz="2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6"/>
          <p:cNvSpPr txBox="1"/>
          <p:nvPr>
            <p:ph type="title"/>
          </p:nvPr>
        </p:nvSpPr>
        <p:spPr>
          <a:xfrm>
            <a:off x="990600" y="457200"/>
            <a:ext cx="7024744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Deletion in B Tree</a:t>
            </a:r>
            <a:endParaRPr b="1" sz="2800"/>
          </a:p>
        </p:txBody>
      </p:sp>
      <p:sp>
        <p:nvSpPr>
          <p:cNvPr id="810" name="Google Shape;810;p5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811" name="Google Shape;811;p5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12" name="Google Shape;812;p5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3" name="Google Shape;813;p56"/>
          <p:cNvSpPr txBox="1"/>
          <p:nvPr>
            <p:ph idx="1" type="body"/>
          </p:nvPr>
        </p:nvSpPr>
        <p:spPr>
          <a:xfrm>
            <a:off x="990600" y="838200"/>
            <a:ext cx="677731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b="1" lang="en-US" sz="1600"/>
              <a:t>Case 1-Node is a leaf node</a:t>
            </a:r>
            <a:endParaRPr/>
          </a:p>
          <a:p>
            <a:pPr indent="-274320" lvl="0" marL="34290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US" sz="1600"/>
              <a:t>If it has minimum no of keys</a:t>
            </a:r>
            <a:endParaRPr/>
          </a:p>
          <a:p>
            <a:pPr indent="-274320" lvl="0" marL="34290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US" sz="1600"/>
              <a:t>Key cannot be borrowed from Sibling</a:t>
            </a:r>
            <a:endParaRPr/>
          </a:p>
        </p:txBody>
      </p:sp>
      <p:pic>
        <p:nvPicPr>
          <p:cNvPr id="814" name="Google Shape;81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76400"/>
            <a:ext cx="81534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7"/>
          <p:cNvSpPr txBox="1"/>
          <p:nvPr>
            <p:ph type="title"/>
          </p:nvPr>
        </p:nvSpPr>
        <p:spPr>
          <a:xfrm>
            <a:off x="1043490" y="1027664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Deletion in B Tree</a:t>
            </a:r>
            <a:endParaRPr b="1"/>
          </a:p>
        </p:txBody>
      </p:sp>
      <p:sp>
        <p:nvSpPr>
          <p:cNvPr id="820" name="Google Shape;820;p5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821" name="Google Shape;821;p5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22" name="Google Shape;822;p5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3" name="Google Shape;823;p57"/>
          <p:cNvSpPr txBox="1"/>
          <p:nvPr>
            <p:ph idx="1" type="body"/>
          </p:nvPr>
        </p:nvSpPr>
        <p:spPr>
          <a:xfrm>
            <a:off x="990600" y="1676400"/>
            <a:ext cx="677731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>
                <a:solidFill>
                  <a:srgbClr val="00B0F0"/>
                </a:solidFill>
              </a:rPr>
              <a:t>Case 2-Node is a non leaf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The key will be deleted and its predecessor or successor key will come on its place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(Inorder Predecessor or Inorder Successor, depending on which child node has extra keys)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If suppose both nodes of predecessor and successor have minimum keys then the nodes of predecessor and successor will be combined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8"/>
          <p:cNvSpPr txBox="1"/>
          <p:nvPr>
            <p:ph type="title"/>
          </p:nvPr>
        </p:nvSpPr>
        <p:spPr>
          <a:xfrm>
            <a:off x="838200" y="304800"/>
            <a:ext cx="7024744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Deletion in B Tree</a:t>
            </a:r>
            <a:endParaRPr b="1" sz="2400"/>
          </a:p>
        </p:txBody>
      </p:sp>
      <p:sp>
        <p:nvSpPr>
          <p:cNvPr id="829" name="Google Shape;829;p5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830" name="Google Shape;830;p5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31" name="Google Shape;831;p5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2" name="Google Shape;832;p58"/>
          <p:cNvSpPr txBox="1"/>
          <p:nvPr>
            <p:ph idx="1" type="body"/>
          </p:nvPr>
        </p:nvSpPr>
        <p:spPr>
          <a:xfrm>
            <a:off x="685800" y="1408088"/>
            <a:ext cx="3505199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4290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Delete 190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Case 1-Node is a leaf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If node has more than minimum of keys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>
                <a:solidFill>
                  <a:srgbClr val="00B0F0"/>
                </a:solidFill>
              </a:rPr>
              <a:t>Just delete it</a:t>
            </a:r>
            <a:endParaRPr sz="2000">
              <a:solidFill>
                <a:srgbClr val="00B0F0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pic>
        <p:nvPicPr>
          <p:cNvPr id="833" name="Google Shape;83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398" y="3581400"/>
            <a:ext cx="4267201" cy="229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58"/>
          <p:cNvPicPr preferRelativeResize="0"/>
          <p:nvPr/>
        </p:nvPicPr>
        <p:blipFill rotWithShape="1">
          <a:blip r:embed="rId4">
            <a:alphaModFix/>
          </a:blip>
          <a:srcRect b="12020" l="28316" r="39091" t="9394"/>
          <a:stretch/>
        </p:blipFill>
        <p:spPr>
          <a:xfrm rot="-5400000">
            <a:off x="5427517" y="-93517"/>
            <a:ext cx="2133601" cy="430183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58"/>
          <p:cNvSpPr/>
          <p:nvPr/>
        </p:nvSpPr>
        <p:spPr>
          <a:xfrm>
            <a:off x="5910692" y="3164465"/>
            <a:ext cx="273629" cy="41693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9"/>
          <p:cNvSpPr txBox="1"/>
          <p:nvPr>
            <p:ph type="title"/>
          </p:nvPr>
        </p:nvSpPr>
        <p:spPr>
          <a:xfrm>
            <a:off x="838200" y="457200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Deletion in B Tree</a:t>
            </a:r>
            <a:endParaRPr b="1"/>
          </a:p>
        </p:txBody>
      </p:sp>
      <p:sp>
        <p:nvSpPr>
          <p:cNvPr id="841" name="Google Shape;841;p5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842" name="Google Shape;842;p5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43" name="Google Shape;843;p5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4" name="Google Shape;844;p59"/>
          <p:cNvSpPr txBox="1"/>
          <p:nvPr>
            <p:ph idx="1" type="body"/>
          </p:nvPr>
        </p:nvSpPr>
        <p:spPr>
          <a:xfrm>
            <a:off x="762001" y="1676400"/>
            <a:ext cx="2639290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Delete 60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US" sz="2000">
                <a:solidFill>
                  <a:srgbClr val="00B0F0"/>
                </a:solidFill>
              </a:rPr>
              <a:t>Case 2-Node is a non leaf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The key will be deleted and its predecessor or successor key will come on its place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pic>
        <p:nvPicPr>
          <p:cNvPr id="845" name="Google Shape;8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291" y="1066800"/>
            <a:ext cx="5257800" cy="190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5145" y="3886200"/>
            <a:ext cx="52578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59"/>
          <p:cNvSpPr/>
          <p:nvPr/>
        </p:nvSpPr>
        <p:spPr>
          <a:xfrm>
            <a:off x="5839691" y="3052330"/>
            <a:ext cx="381000" cy="83387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48" name="Google Shape;848;p59"/>
          <p:cNvCxnSpPr/>
          <p:nvPr/>
        </p:nvCxnSpPr>
        <p:spPr>
          <a:xfrm rot="10800000">
            <a:off x="5389421" y="2166939"/>
            <a:ext cx="225136" cy="340734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0"/>
          <p:cNvSpPr txBox="1"/>
          <p:nvPr>
            <p:ph type="title"/>
          </p:nvPr>
        </p:nvSpPr>
        <p:spPr>
          <a:xfrm>
            <a:off x="838200" y="304800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Deletion in B Tree</a:t>
            </a:r>
            <a:endParaRPr b="1"/>
          </a:p>
        </p:txBody>
      </p:sp>
      <p:sp>
        <p:nvSpPr>
          <p:cNvPr id="854" name="Google Shape;854;p6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855" name="Google Shape;855;p6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56" name="Google Shape;856;p6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7" name="Google Shape;857;p60"/>
          <p:cNvSpPr txBox="1"/>
          <p:nvPr>
            <p:ph idx="1" type="body"/>
          </p:nvPr>
        </p:nvSpPr>
        <p:spPr>
          <a:xfrm>
            <a:off x="533400" y="1219200"/>
            <a:ext cx="2857501" cy="4613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Delete 40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If it has minimum no of keys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00B0F0"/>
                </a:solidFill>
              </a:rPr>
              <a:t>Pull up one key from adjacent node to father and pull down the father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pic>
        <p:nvPicPr>
          <p:cNvPr id="858" name="Google Shape;85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0900" y="3810000"/>
            <a:ext cx="52578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0900" y="990600"/>
            <a:ext cx="52578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60"/>
          <p:cNvSpPr/>
          <p:nvPr/>
        </p:nvSpPr>
        <p:spPr>
          <a:xfrm>
            <a:off x="5638800" y="3124200"/>
            <a:ext cx="381000" cy="60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61" name="Google Shape;861;p60"/>
          <p:cNvCxnSpPr/>
          <p:nvPr/>
        </p:nvCxnSpPr>
        <p:spPr>
          <a:xfrm flipH="1" rot="10800000">
            <a:off x="4038600" y="1905000"/>
            <a:ext cx="762000" cy="609600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62" name="Google Shape;862;p60"/>
          <p:cNvCxnSpPr/>
          <p:nvPr/>
        </p:nvCxnSpPr>
        <p:spPr>
          <a:xfrm flipH="1">
            <a:off x="4648200" y="2209800"/>
            <a:ext cx="381000" cy="329045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63" name="Google Shape;863;p60"/>
          <p:cNvSpPr/>
          <p:nvPr/>
        </p:nvSpPr>
        <p:spPr>
          <a:xfrm>
            <a:off x="4495800" y="2514600"/>
            <a:ext cx="381000" cy="432955"/>
          </a:xfrm>
          <a:prstGeom prst="ellipse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1"/>
          <p:cNvSpPr txBox="1"/>
          <p:nvPr>
            <p:ph type="title"/>
          </p:nvPr>
        </p:nvSpPr>
        <p:spPr>
          <a:xfrm>
            <a:off x="990600" y="381000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Deletion in B Tree</a:t>
            </a:r>
            <a:endParaRPr b="1" sz="2400"/>
          </a:p>
        </p:txBody>
      </p:sp>
      <p:sp>
        <p:nvSpPr>
          <p:cNvPr id="869" name="Google Shape;869;p6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870" name="Google Shape;870;p6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71" name="Google Shape;871;p6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2" name="Google Shape;872;p61"/>
          <p:cNvSpPr txBox="1"/>
          <p:nvPr>
            <p:ph idx="1" type="body"/>
          </p:nvPr>
        </p:nvSpPr>
        <p:spPr>
          <a:xfrm>
            <a:off x="609600" y="1295400"/>
            <a:ext cx="2895601" cy="4537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Delete 140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Case 1-Node is a leaf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If it has minimum no of keys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>
                <a:solidFill>
                  <a:srgbClr val="00B0F0"/>
                </a:solidFill>
              </a:rPr>
              <a:t>If adjacent node also has minimum no of keys, then the leaves and the median key from the parent can be combined as one new leaf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id="873" name="Google Shape;87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7764" y="3568843"/>
            <a:ext cx="4752975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61"/>
          <p:cNvSpPr/>
          <p:nvPr/>
        </p:nvSpPr>
        <p:spPr>
          <a:xfrm>
            <a:off x="5857438" y="3124199"/>
            <a:ext cx="273629" cy="41693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75" name="Google Shape;87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764" y="914400"/>
            <a:ext cx="475297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61"/>
          <p:cNvSpPr/>
          <p:nvPr/>
        </p:nvSpPr>
        <p:spPr>
          <a:xfrm>
            <a:off x="6934200" y="2438400"/>
            <a:ext cx="381000" cy="432955"/>
          </a:xfrm>
          <a:prstGeom prst="ellipse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62"/>
          <p:cNvSpPr txBox="1"/>
          <p:nvPr>
            <p:ph type="title"/>
          </p:nvPr>
        </p:nvSpPr>
        <p:spPr>
          <a:xfrm>
            <a:off x="990600" y="381000"/>
            <a:ext cx="7024744" cy="648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Deletion in B Tree</a:t>
            </a:r>
            <a:endParaRPr b="1" sz="2400"/>
          </a:p>
        </p:txBody>
      </p:sp>
      <p:sp>
        <p:nvSpPr>
          <p:cNvPr id="882" name="Google Shape;882;p6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883" name="Google Shape;883;p6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84" name="Google Shape;884;p6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5" name="Google Shape;885;p62"/>
          <p:cNvSpPr txBox="1"/>
          <p:nvPr>
            <p:ph idx="1" type="body"/>
          </p:nvPr>
        </p:nvSpPr>
        <p:spPr>
          <a:xfrm>
            <a:off x="609600" y="1295400"/>
            <a:ext cx="2895601" cy="4537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Merging at Level 0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Final Tree</a:t>
            </a:r>
            <a:endParaRPr/>
          </a:p>
        </p:txBody>
      </p:sp>
      <p:pic>
        <p:nvPicPr>
          <p:cNvPr id="886" name="Google Shape;88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990600"/>
            <a:ext cx="4752975" cy="213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1399" y="3541134"/>
            <a:ext cx="4676776" cy="2326266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62"/>
          <p:cNvSpPr/>
          <p:nvPr/>
        </p:nvSpPr>
        <p:spPr>
          <a:xfrm>
            <a:off x="5857438" y="3124199"/>
            <a:ext cx="273629" cy="41693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9" name="Google Shape;889;p62"/>
          <p:cNvSpPr/>
          <p:nvPr/>
        </p:nvSpPr>
        <p:spPr>
          <a:xfrm>
            <a:off x="4267200" y="1059872"/>
            <a:ext cx="3505200" cy="1302327"/>
          </a:xfrm>
          <a:prstGeom prst="ellipse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3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US" sz="2800"/>
              <a:t>Uses/Application of B Tree</a:t>
            </a:r>
            <a:endParaRPr b="1" sz="2800"/>
          </a:p>
        </p:txBody>
      </p:sp>
      <p:sp>
        <p:nvSpPr>
          <p:cNvPr id="895" name="Google Shape;895;p63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896" name="Google Shape;896;p63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897" name="Google Shape;897;p63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98" name="Google Shape;898;p63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64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Use of B Tree</a:t>
            </a:r>
            <a:endParaRPr b="1" sz="2800"/>
          </a:p>
        </p:txBody>
      </p:sp>
      <p:sp>
        <p:nvSpPr>
          <p:cNvPr id="904" name="Google Shape;904;p64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B-trees are balanced search trees designed to work well </a:t>
            </a:r>
            <a:r>
              <a:rPr b="1" lang="en-US" sz="2000"/>
              <a:t>on magnetic disks or other direct-access secondary storage devices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Better at </a:t>
            </a:r>
            <a:r>
              <a:rPr b="1" lang="en-US" sz="2000"/>
              <a:t>minimizing disk I/O operations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There is  huge amount of data that cannot fit in main memory.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When the number of keys is high, </a:t>
            </a:r>
            <a:r>
              <a:rPr b="1" lang="en-US" sz="1800"/>
              <a:t>the data is read from disk in the form of blocks. </a:t>
            </a:r>
            <a:endParaRPr b="1"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b="1" lang="en-US" sz="1800"/>
              <a:t>Disk access time is very high compared to the main memory access time. </a:t>
            </a:r>
            <a:endParaRPr b="1" sz="1800"/>
          </a:p>
        </p:txBody>
      </p:sp>
      <p:sp>
        <p:nvSpPr>
          <p:cNvPr id="905" name="Google Shape;905;p6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06" name="Google Shape;906;p6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07" name="Google Shape;907;p6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13" name="Google Shape;913;p6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14" name="Google Shape;914;p6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5" name="Google Shape;915;p6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24000"/>
            <a:ext cx="7772400" cy="460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66"/>
          <p:cNvSpPr txBox="1"/>
          <p:nvPr>
            <p:ph type="title"/>
          </p:nvPr>
        </p:nvSpPr>
        <p:spPr>
          <a:xfrm>
            <a:off x="990600" y="3810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Use of B Tree</a:t>
            </a:r>
            <a:endParaRPr b="1" sz="2800"/>
          </a:p>
        </p:txBody>
      </p:sp>
      <p:sp>
        <p:nvSpPr>
          <p:cNvPr id="921" name="Google Shape;921;p66"/>
          <p:cNvSpPr txBox="1"/>
          <p:nvPr>
            <p:ph idx="1" type="body"/>
          </p:nvPr>
        </p:nvSpPr>
        <p:spPr>
          <a:xfrm>
            <a:off x="609600" y="1129280"/>
            <a:ext cx="4519107" cy="4689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time it takes to access data on secondary storage is a function of three variables: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The time it takes for the </a:t>
            </a:r>
            <a:r>
              <a:rPr b="1" lang="en-US" sz="1800"/>
              <a:t>arm to move to the track </a:t>
            </a:r>
            <a:r>
              <a:rPr lang="en-US" sz="1800"/>
              <a:t>where the requested sector lies. Usually around 10 milliseconds.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The time it takes for the </a:t>
            </a:r>
            <a:r>
              <a:rPr b="1" lang="en-US" sz="1800"/>
              <a:t>right sector to spin under the arm</a:t>
            </a:r>
            <a:r>
              <a:rPr lang="en-US" sz="1800"/>
              <a:t>. For a 7200 RPM drive, this is 4.1 milliseconds.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The time it takes </a:t>
            </a:r>
            <a:r>
              <a:rPr b="1" lang="en-US" sz="1800"/>
              <a:t>to read or write the data. </a:t>
            </a:r>
            <a:r>
              <a:rPr lang="en-US" sz="1800"/>
              <a:t>Depending on the density of the data, this time is negligible compared to the other two. </a:t>
            </a:r>
            <a:endParaRPr/>
          </a:p>
        </p:txBody>
      </p:sp>
      <p:sp>
        <p:nvSpPr>
          <p:cNvPr id="922" name="Google Shape;922;p6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23" name="Google Shape;923;p6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24" name="Google Shape;924;p6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5" name="Google Shape;92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447800"/>
            <a:ext cx="30480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7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Use of B Tree</a:t>
            </a:r>
            <a:endParaRPr b="1" sz="2800"/>
          </a:p>
        </p:txBody>
      </p:sp>
      <p:sp>
        <p:nvSpPr>
          <p:cNvPr id="931" name="Google Shape;931;p67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Data can be </a:t>
            </a:r>
            <a:r>
              <a:rPr b="1" lang="en-US" sz="2000"/>
              <a:t>arranged into "blocks" that are these adjacent multi-sector aggregates. 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Contrast this to access times to RAM.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 typical non-sequential RAM access took </a:t>
            </a:r>
            <a:r>
              <a:rPr b="1" lang="en-US" sz="1800"/>
              <a:t>about 5 microseconds. </a:t>
            </a:r>
            <a:endParaRPr b="1"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This is 3000 times faster; we can do </a:t>
            </a:r>
            <a:r>
              <a:rPr b="1" lang="en-US" sz="1800"/>
              <a:t>at least 3000 memory accesses in the time it takes to do one disk access,</a:t>
            </a:r>
            <a:endParaRPr/>
          </a:p>
        </p:txBody>
      </p:sp>
      <p:sp>
        <p:nvSpPr>
          <p:cNvPr id="932" name="Google Shape;932;p6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33" name="Google Shape;933;p6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34" name="Google Shape;934;p6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8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Use of B Tree</a:t>
            </a:r>
            <a:endParaRPr b="1" sz="2800"/>
          </a:p>
        </p:txBody>
      </p:sp>
      <p:sp>
        <p:nvSpPr>
          <p:cNvPr id="940" name="Google Shape;940;p68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One of the main reason of using B tree is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its capability to </a:t>
            </a:r>
            <a:r>
              <a:rPr b="1" lang="en-US" sz="1800"/>
              <a:t>store large number of keys in a single node and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by </a:t>
            </a:r>
            <a:r>
              <a:rPr b="1" lang="en-US" sz="1800"/>
              <a:t>keeping the height of the tree relatively small.</a:t>
            </a:r>
            <a:endParaRPr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The main idea of using B-Trees is to reduce the number of disk accesses. </a:t>
            </a:r>
            <a:endParaRPr sz="2000"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b="1" sz="2000"/>
          </a:p>
        </p:txBody>
      </p:sp>
      <p:sp>
        <p:nvSpPr>
          <p:cNvPr id="941" name="Google Shape;941;p6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42" name="Google Shape;942;p6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43" name="Google Shape;943;p6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9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Use of B Tree</a:t>
            </a:r>
            <a:endParaRPr b="1" sz="2800"/>
          </a:p>
        </p:txBody>
      </p:sp>
      <p:sp>
        <p:nvSpPr>
          <p:cNvPr id="949" name="Google Shape;949;p69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Most of the tree operations </a:t>
            </a:r>
            <a:r>
              <a:rPr b="1" lang="en-US" sz="2000"/>
              <a:t>(search, insert, delete, max, min, ..etc ) require O(h) disk accesses </a:t>
            </a:r>
            <a:endParaRPr b="1"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where h is the height of the tree. </a:t>
            </a:r>
            <a:endParaRPr sz="1800"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The height of B-Trees is </a:t>
            </a:r>
            <a:r>
              <a:rPr b="1" lang="en-US" sz="2000"/>
              <a:t>kept low by putting maximum possible keys in a B-Tree node. </a:t>
            </a:r>
            <a:endParaRPr b="1" sz="2000"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>
                <a:solidFill>
                  <a:srgbClr val="0070C0"/>
                </a:solidFill>
              </a:rPr>
              <a:t>Generally, the B-Tree node size is kept equal to the disk block size.</a:t>
            </a:r>
            <a:endParaRPr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b="1" sz="2000">
              <a:solidFill>
                <a:srgbClr val="0070C0"/>
              </a:solidFill>
            </a:endParaRPr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b="1" sz="2000">
              <a:solidFill>
                <a:srgbClr val="0070C0"/>
              </a:solidFill>
            </a:endParaRPr>
          </a:p>
        </p:txBody>
      </p:sp>
      <p:sp>
        <p:nvSpPr>
          <p:cNvPr id="950" name="Google Shape;950;p6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51" name="Google Shape;951;p6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52" name="Google Shape;952;p6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0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Use of B Tree</a:t>
            </a:r>
            <a:endParaRPr b="1" sz="2800"/>
          </a:p>
        </p:txBody>
      </p:sp>
      <p:sp>
        <p:nvSpPr>
          <p:cNvPr id="958" name="Google Shape;958;p70"/>
          <p:cNvSpPr txBox="1"/>
          <p:nvPr>
            <p:ph idx="1" type="body"/>
          </p:nvPr>
        </p:nvSpPr>
        <p:spPr>
          <a:xfrm>
            <a:off x="1043492" y="1600200"/>
            <a:ext cx="6777317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lang="en-US" sz="1800"/>
              <a:t>In a typical B-tree application, the amount of data handled is so large that all the data do not fit into main memory at once. </a:t>
            </a:r>
            <a:endParaRPr sz="1800"/>
          </a:p>
          <a:p>
            <a:pPr indent="-370332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None/>
            </a:pPr>
            <a:r>
              <a:t/>
            </a:r>
            <a:endParaRPr sz="1800"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The B-tree algorithms copy selected blocks from disk into main memory as needed and write back onto disk pages that have changed. </a:t>
            </a:r>
            <a:endParaRPr b="1" sz="1800"/>
          </a:p>
          <a:p>
            <a:pPr indent="-370332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None/>
            </a:pPr>
            <a:r>
              <a:t/>
            </a:r>
            <a:endParaRPr sz="1800"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lang="en-US" sz="1800"/>
              <a:t>Since the B-tree algorithms only </a:t>
            </a:r>
            <a:r>
              <a:rPr b="1" lang="en-US" sz="1800"/>
              <a:t>need a constant number of blocks in main memory at any time, the size of main memory does not limit the size of B-trees that can be handled.</a:t>
            </a:r>
            <a:endParaRPr b="1" sz="1800"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b="1" sz="2000"/>
          </a:p>
        </p:txBody>
      </p:sp>
      <p:sp>
        <p:nvSpPr>
          <p:cNvPr id="959" name="Google Shape;959;p7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60" name="Google Shape;960;p7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61" name="Google Shape;961;p7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1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Use of B Tree</a:t>
            </a:r>
            <a:endParaRPr b="1" sz="2800"/>
          </a:p>
        </p:txBody>
      </p:sp>
      <p:sp>
        <p:nvSpPr>
          <p:cNvPr id="967" name="Google Shape;967;p71"/>
          <p:cNvSpPr txBox="1"/>
          <p:nvPr>
            <p:ph idx="1" type="body"/>
          </p:nvPr>
        </p:nvSpPr>
        <p:spPr>
          <a:xfrm>
            <a:off x="1043492" y="1600200"/>
            <a:ext cx="7414708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 sz="2000"/>
              <a:t>Pseudocode for disk operations-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lang="en-US" sz="1800"/>
              <a:t> </a:t>
            </a:r>
            <a:r>
              <a:rPr b="1" lang="en-US" sz="1800"/>
              <a:t>. . .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x  a pointer to some object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DISK-READ(x)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operations that access and/or modify the fields of x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DISK-WRITE(x)     Omitted if no fields of x were changed.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other operations that access but do not modify fields of x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...</a:t>
            </a:r>
            <a:endParaRPr b="1"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968" name="Google Shape;968;p7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69" name="Google Shape;969;p7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70" name="Google Shape;970;p7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2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Use of B Tree</a:t>
            </a:r>
            <a:endParaRPr b="1" sz="2800"/>
          </a:p>
        </p:txBody>
      </p:sp>
      <p:sp>
        <p:nvSpPr>
          <p:cNvPr id="976" name="Google Shape;976;p72"/>
          <p:cNvSpPr txBox="1"/>
          <p:nvPr>
            <p:ph idx="1" type="body"/>
          </p:nvPr>
        </p:nvSpPr>
        <p:spPr>
          <a:xfrm>
            <a:off x="1043492" y="1600200"/>
            <a:ext cx="7414708" cy="423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745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B-trees are balanced trees that are optimized for situations </a:t>
            </a:r>
            <a:endParaRPr sz="1800"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Char char="⮚"/>
            </a:pPr>
            <a:r>
              <a:rPr lang="en-US" sz="1600"/>
              <a:t>when part or all of the tree must be maintained in secondary storage such as a magnetic disk. </a:t>
            </a:r>
            <a:endParaRPr sz="16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Since disk accesses are expensive (time consuming) operations, a b-tree tries to minimize the number of disk accesses.</a:t>
            </a:r>
            <a:endParaRPr/>
          </a:p>
        </p:txBody>
      </p:sp>
      <p:sp>
        <p:nvSpPr>
          <p:cNvPr id="977" name="Google Shape;977;p7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78" name="Google Shape;978;p7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79" name="Google Shape;979;p7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3"/>
          <p:cNvSpPr txBox="1"/>
          <p:nvPr>
            <p:ph type="title"/>
          </p:nvPr>
        </p:nvSpPr>
        <p:spPr>
          <a:xfrm>
            <a:off x="990600" y="3810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Use of B Tree</a:t>
            </a:r>
            <a:endParaRPr b="1" sz="2800"/>
          </a:p>
        </p:txBody>
      </p:sp>
      <p:sp>
        <p:nvSpPr>
          <p:cNvPr id="985" name="Google Shape;985;p73"/>
          <p:cNvSpPr txBox="1"/>
          <p:nvPr>
            <p:ph idx="1" type="body"/>
          </p:nvPr>
        </p:nvSpPr>
        <p:spPr>
          <a:xfrm>
            <a:off x="838200" y="990600"/>
            <a:ext cx="7414708" cy="49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745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A B-tree of height 2 containing over one billion keys. </a:t>
            </a:r>
            <a:endParaRPr b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Each internal node and leaf contains 1000 keys. </a:t>
            </a:r>
            <a:endParaRPr b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There are </a:t>
            </a:r>
            <a:r>
              <a:rPr b="1" lang="en-US" sz="1800">
                <a:solidFill>
                  <a:srgbClr val="0070C0"/>
                </a:solidFill>
              </a:rPr>
              <a:t>1001 nodes at depth 1 and over one million leaves at depth 2. 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986" name="Google Shape;986;p7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87" name="Google Shape;987;p7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88" name="Google Shape;988;p7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9" name="Google Shape;98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219200"/>
            <a:ext cx="670560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74"/>
          <p:cNvSpPr txBox="1"/>
          <p:nvPr>
            <p:ph type="title"/>
          </p:nvPr>
        </p:nvSpPr>
        <p:spPr>
          <a:xfrm>
            <a:off x="990600" y="3810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Use of B Tree</a:t>
            </a:r>
            <a:endParaRPr b="1" sz="2800"/>
          </a:p>
        </p:txBody>
      </p:sp>
      <p:sp>
        <p:nvSpPr>
          <p:cNvPr id="995" name="Google Shape;995;p74"/>
          <p:cNvSpPr txBox="1"/>
          <p:nvPr>
            <p:ph idx="1" type="body"/>
          </p:nvPr>
        </p:nvSpPr>
        <p:spPr>
          <a:xfrm>
            <a:off x="838200" y="990600"/>
            <a:ext cx="7414708" cy="49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745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 b-tree with a </a:t>
            </a:r>
            <a:r>
              <a:rPr b="1" lang="en-US" sz="1800">
                <a:solidFill>
                  <a:srgbClr val="0070C0"/>
                </a:solidFill>
              </a:rPr>
              <a:t>height of 2 and a branching factor of 1001 can store over one billion keys </a:t>
            </a:r>
            <a:endParaRPr b="1" sz="1800">
              <a:solidFill>
                <a:srgbClr val="0070C0"/>
              </a:solidFill>
            </a:endParaRPr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But requires </a:t>
            </a:r>
            <a:r>
              <a:rPr b="1" lang="en-US" sz="1800">
                <a:solidFill>
                  <a:srgbClr val="0070C0"/>
                </a:solidFill>
              </a:rPr>
              <a:t>at most two disk accesses to search for any node </a:t>
            </a:r>
            <a:r>
              <a:rPr lang="en-US" sz="1800"/>
              <a:t>.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996" name="Google Shape;996;p7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10/3/2023</a:t>
            </a:r>
            <a:endParaRPr/>
          </a:p>
        </p:txBody>
      </p:sp>
      <p:sp>
        <p:nvSpPr>
          <p:cNvPr id="997" name="Google Shape;997;p7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98" name="Google Shape;998;p7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9" name="Google Shape;99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219200"/>
            <a:ext cx="670560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stin">
  <a:themeElements>
    <a:clrScheme name="Austin">
      <a:dk1>
        <a:srgbClr val="000000"/>
      </a:dk1>
      <a:lt1>
        <a:srgbClr val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2020-10-22T11:20:14Z</dcterms:created>
  <dc:creator>Admin</dc:creator>
</cp:coreProperties>
</file>