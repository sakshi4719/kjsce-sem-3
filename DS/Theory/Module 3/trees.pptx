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33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135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29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31.xml"/>
  <Override ContentType="application/vnd.openxmlformats-officedocument.presentationml.notesSlide+xml" PartName="/ppt/notesSlides/notesSlide127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126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1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36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3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132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36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18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125.xml"/>
  <Override ContentType="application/vnd.openxmlformats-officedocument.presentationml.slide+xml" PartName="/ppt/slides/slide72.xml"/>
  <Override ContentType="application/vnd.openxmlformats-officedocument.presentationml.slide+xml" PartName="/ppt/slides/slide135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129.xml"/>
  <Override ContentType="application/vnd.openxmlformats-officedocument.presentationml.slide+xml" PartName="/ppt/slides/slide63.xml"/>
  <Override ContentType="application/vnd.openxmlformats-officedocument.presentationml.slide+xml" PartName="/ppt/slides/slide131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133.xml"/>
  <Override ContentType="application/vnd.openxmlformats-officedocument.presentationml.slide+xml" PartName="/ppt/slides/slide91.xml"/>
  <Override ContentType="application/vnd.openxmlformats-officedocument.presentationml.slide+xml" PartName="/ppt/slides/slide114.xml"/>
  <Override ContentType="application/vnd.openxmlformats-officedocument.presentationml.slide+xml" PartName="/ppt/slides/slide31.xml"/>
  <Override ContentType="application/vnd.openxmlformats-officedocument.presentationml.slide+xml" PartName="/ppt/slides/slide127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22.xml"/>
  <Override ContentType="application/vnd.openxmlformats-officedocument.presentationml.slide+xml" PartName="/ppt/slides/slide130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110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124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126.xml"/>
  <Override ContentType="application/vnd.openxmlformats-officedocument.presentationml.slide+xml" PartName="/ppt/slides/slide109.xml"/>
  <Override ContentType="application/vnd.openxmlformats-officedocument.presentationml.slide+xml" PartName="/ppt/slides/slide134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117.xml"/>
  <Override ContentType="application/vnd.openxmlformats-officedocument.presentationml.slide+xml" PartName="/ppt/slides/slide132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128.xml"/>
  <Override ContentType="application/vnd.openxmlformats-officedocument.presentationml.slide+xml" PartName="/ppt/slides/slide92.xml"/>
  <Override ContentType="application/vnd.openxmlformats-officedocument.presentationml.slide+xml" PartName="/ppt/slides/slide115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</p:sldIdLst>
  <p:sldSz cy="6858000" cx="9144000"/>
  <p:notesSz cx="6858000" cy="9144000"/>
  <p:embeddedFontLst>
    <p:embeddedFont>
      <p:font typeface="Century Gothic"/>
      <p:regular r:id="rId143"/>
      <p:bold r:id="rId144"/>
      <p:italic r:id="rId145"/>
      <p:boldItalic r:id="rId1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47" roundtripDataSignature="AMtx7mglE0i7K6F1dM95cvuIgpJJGacs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5077E9C-5C52-42E2-86E2-A713F48B8A36}">
  <a:tblStyle styleId="{35077E9C-5C52-42E2-86E2-A713F48B8A36}" styleName="Table_0">
    <a:wholeTbl>
      <a:tcTxStyle b="off" i="off">
        <a:font>
          <a:latin typeface="Century Gothic"/>
          <a:ea typeface="Century Gothic"/>
          <a:cs typeface="Century Gothic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EF5E6"/>
          </a:solidFill>
        </a:fill>
      </a:tcStyle>
    </a:wholeTbl>
    <a:band1H>
      <a:tcTxStyle/>
      <a:tcStyle>
        <a:fill>
          <a:solidFill>
            <a:srgbClr val="DCEACA"/>
          </a:solidFill>
        </a:fill>
      </a:tcStyle>
    </a:band1H>
    <a:band2H>
      <a:tcTxStyle/>
    </a:band2H>
    <a:band1V>
      <a:tcTxStyle/>
      <a:tcStyle>
        <a:fill>
          <a:solidFill>
            <a:srgbClr val="DCEACA"/>
          </a:solidFill>
        </a:fill>
      </a:tcStyle>
    </a:band1V>
    <a:band2V>
      <a:tcTxStyle/>
    </a:band2V>
    <a:lastCol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07" Type="http://schemas.openxmlformats.org/officeDocument/2006/relationships/slide" Target="slides/slide101.xml"/><Relationship Id="rId106" Type="http://schemas.openxmlformats.org/officeDocument/2006/relationships/slide" Target="slides/slide100.xml"/><Relationship Id="rId105" Type="http://schemas.openxmlformats.org/officeDocument/2006/relationships/slide" Target="slides/slide99.xml"/><Relationship Id="rId104" Type="http://schemas.openxmlformats.org/officeDocument/2006/relationships/slide" Target="slides/slide98.xml"/><Relationship Id="rId109" Type="http://schemas.openxmlformats.org/officeDocument/2006/relationships/slide" Target="slides/slide103.xml"/><Relationship Id="rId108" Type="http://schemas.openxmlformats.org/officeDocument/2006/relationships/slide" Target="slides/slide102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103" Type="http://schemas.openxmlformats.org/officeDocument/2006/relationships/slide" Target="slides/slide97.xml"/><Relationship Id="rId102" Type="http://schemas.openxmlformats.org/officeDocument/2006/relationships/slide" Target="slides/slide96.xml"/><Relationship Id="rId101" Type="http://schemas.openxmlformats.org/officeDocument/2006/relationships/slide" Target="slides/slide95.xml"/><Relationship Id="rId100" Type="http://schemas.openxmlformats.org/officeDocument/2006/relationships/slide" Target="slides/slide94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29" Type="http://schemas.openxmlformats.org/officeDocument/2006/relationships/slide" Target="slides/slide123.xml"/><Relationship Id="rId128" Type="http://schemas.openxmlformats.org/officeDocument/2006/relationships/slide" Target="slides/slide122.xml"/><Relationship Id="rId127" Type="http://schemas.openxmlformats.org/officeDocument/2006/relationships/slide" Target="slides/slide121.xml"/><Relationship Id="rId126" Type="http://schemas.openxmlformats.org/officeDocument/2006/relationships/slide" Target="slides/slide120.xml"/><Relationship Id="rId26" Type="http://schemas.openxmlformats.org/officeDocument/2006/relationships/slide" Target="slides/slide20.xml"/><Relationship Id="rId121" Type="http://schemas.openxmlformats.org/officeDocument/2006/relationships/slide" Target="slides/slide115.xml"/><Relationship Id="rId25" Type="http://schemas.openxmlformats.org/officeDocument/2006/relationships/slide" Target="slides/slide19.xml"/><Relationship Id="rId120" Type="http://schemas.openxmlformats.org/officeDocument/2006/relationships/slide" Target="slides/slide114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125" Type="http://schemas.openxmlformats.org/officeDocument/2006/relationships/slide" Target="slides/slide119.xml"/><Relationship Id="rId29" Type="http://schemas.openxmlformats.org/officeDocument/2006/relationships/slide" Target="slides/slide23.xml"/><Relationship Id="rId124" Type="http://schemas.openxmlformats.org/officeDocument/2006/relationships/slide" Target="slides/slide118.xml"/><Relationship Id="rId123" Type="http://schemas.openxmlformats.org/officeDocument/2006/relationships/slide" Target="slides/slide117.xml"/><Relationship Id="rId122" Type="http://schemas.openxmlformats.org/officeDocument/2006/relationships/slide" Target="slides/slide116.xml"/><Relationship Id="rId95" Type="http://schemas.openxmlformats.org/officeDocument/2006/relationships/slide" Target="slides/slide89.xml"/><Relationship Id="rId94" Type="http://schemas.openxmlformats.org/officeDocument/2006/relationships/slide" Target="slides/slide88.xml"/><Relationship Id="rId97" Type="http://schemas.openxmlformats.org/officeDocument/2006/relationships/slide" Target="slides/slide91.xml"/><Relationship Id="rId96" Type="http://schemas.openxmlformats.org/officeDocument/2006/relationships/slide" Target="slides/slide90.xml"/><Relationship Id="rId11" Type="http://schemas.openxmlformats.org/officeDocument/2006/relationships/slide" Target="slides/slide5.xml"/><Relationship Id="rId99" Type="http://schemas.openxmlformats.org/officeDocument/2006/relationships/slide" Target="slides/slide93.xml"/><Relationship Id="rId10" Type="http://schemas.openxmlformats.org/officeDocument/2006/relationships/slide" Target="slides/slide4.xml"/><Relationship Id="rId98" Type="http://schemas.openxmlformats.org/officeDocument/2006/relationships/slide" Target="slides/slide92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18" Type="http://schemas.openxmlformats.org/officeDocument/2006/relationships/slide" Target="slides/slide112.xml"/><Relationship Id="rId117" Type="http://schemas.openxmlformats.org/officeDocument/2006/relationships/slide" Target="slides/slide111.xml"/><Relationship Id="rId116" Type="http://schemas.openxmlformats.org/officeDocument/2006/relationships/slide" Target="slides/slide110.xml"/><Relationship Id="rId115" Type="http://schemas.openxmlformats.org/officeDocument/2006/relationships/slide" Target="slides/slide109.xml"/><Relationship Id="rId119" Type="http://schemas.openxmlformats.org/officeDocument/2006/relationships/slide" Target="slides/slide113.xml"/><Relationship Id="rId15" Type="http://schemas.openxmlformats.org/officeDocument/2006/relationships/slide" Target="slides/slide9.xml"/><Relationship Id="rId110" Type="http://schemas.openxmlformats.org/officeDocument/2006/relationships/slide" Target="slides/slide104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14" Type="http://schemas.openxmlformats.org/officeDocument/2006/relationships/slide" Target="slides/slide108.xml"/><Relationship Id="rId18" Type="http://schemas.openxmlformats.org/officeDocument/2006/relationships/slide" Target="slides/slide12.xml"/><Relationship Id="rId113" Type="http://schemas.openxmlformats.org/officeDocument/2006/relationships/slide" Target="slides/slide107.xml"/><Relationship Id="rId112" Type="http://schemas.openxmlformats.org/officeDocument/2006/relationships/slide" Target="slides/slide106.xml"/><Relationship Id="rId111" Type="http://schemas.openxmlformats.org/officeDocument/2006/relationships/slide" Target="slides/slide105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43" Type="http://schemas.openxmlformats.org/officeDocument/2006/relationships/font" Target="fonts/CenturyGothic-regular.fntdata"/><Relationship Id="rId142" Type="http://schemas.openxmlformats.org/officeDocument/2006/relationships/slide" Target="slides/slide136.xml"/><Relationship Id="rId141" Type="http://schemas.openxmlformats.org/officeDocument/2006/relationships/slide" Target="slides/slide135.xml"/><Relationship Id="rId140" Type="http://schemas.openxmlformats.org/officeDocument/2006/relationships/slide" Target="slides/slide134.xml"/><Relationship Id="rId5" Type="http://schemas.openxmlformats.org/officeDocument/2006/relationships/slideMaster" Target="slideMasters/slideMaster1.xml"/><Relationship Id="rId147" Type="http://customschemas.google.com/relationships/presentationmetadata" Target="metadata"/><Relationship Id="rId6" Type="http://schemas.openxmlformats.org/officeDocument/2006/relationships/notesMaster" Target="notesMasters/notesMaster1.xml"/><Relationship Id="rId146" Type="http://schemas.openxmlformats.org/officeDocument/2006/relationships/font" Target="fonts/CenturyGothic-boldItalic.fntdata"/><Relationship Id="rId7" Type="http://schemas.openxmlformats.org/officeDocument/2006/relationships/slide" Target="slides/slide1.xml"/><Relationship Id="rId145" Type="http://schemas.openxmlformats.org/officeDocument/2006/relationships/font" Target="fonts/CenturyGothic-italic.fntdata"/><Relationship Id="rId8" Type="http://schemas.openxmlformats.org/officeDocument/2006/relationships/slide" Target="slides/slide2.xml"/><Relationship Id="rId144" Type="http://schemas.openxmlformats.org/officeDocument/2006/relationships/font" Target="fonts/CenturyGothic-bold.fntdata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139" Type="http://schemas.openxmlformats.org/officeDocument/2006/relationships/slide" Target="slides/slide133.xml"/><Relationship Id="rId138" Type="http://schemas.openxmlformats.org/officeDocument/2006/relationships/slide" Target="slides/slide132.xml"/><Relationship Id="rId137" Type="http://schemas.openxmlformats.org/officeDocument/2006/relationships/slide" Target="slides/slide131.xml"/><Relationship Id="rId132" Type="http://schemas.openxmlformats.org/officeDocument/2006/relationships/slide" Target="slides/slide126.xml"/><Relationship Id="rId131" Type="http://schemas.openxmlformats.org/officeDocument/2006/relationships/slide" Target="slides/slide125.xml"/><Relationship Id="rId130" Type="http://schemas.openxmlformats.org/officeDocument/2006/relationships/slide" Target="slides/slide124.xml"/><Relationship Id="rId136" Type="http://schemas.openxmlformats.org/officeDocument/2006/relationships/slide" Target="slides/slide130.xml"/><Relationship Id="rId135" Type="http://schemas.openxmlformats.org/officeDocument/2006/relationships/slide" Target="slides/slide129.xml"/><Relationship Id="rId134" Type="http://schemas.openxmlformats.org/officeDocument/2006/relationships/slide" Target="slides/slide128.xml"/><Relationship Id="rId133" Type="http://schemas.openxmlformats.org/officeDocument/2006/relationships/slide" Target="slides/slide127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5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5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5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5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p5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6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6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6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p6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8" name="Google Shape;1008;p6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6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6" name="Google Shape;1026;p6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5" name="Google Shape;1035;p6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4" name="Google Shape;1044;p6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p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3" name="Google Shape;1053;p6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p7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1" name="Google Shape;1071;p7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0" name="Google Shape;1080;p7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p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9" name="Google Shape;1089;p7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p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8" name="Google Shape;1098;p7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p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7" name="Google Shape;1107;p7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6" name="Google Shape;1116;p7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p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1" name="Google Shape;1131;p7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p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5" name="Google Shape;1145;p7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2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p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4" name="Google Shape;1164;p7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p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8" name="Google Shape;1178;p8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p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2" name="Google Shape;1192;p8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p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3" name="Google Shape;1203;p8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0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p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2" name="Google Shape;1212;p8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0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Google Shape;1221;p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2" name="Google Shape;1222;p8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0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p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2" name="Google Shape;1232;p8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p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3" name="Google Shape;1243;p8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3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5" name="Google Shape;1255;p8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6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p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8" name="Google Shape;1268;p8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p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3" name="Google Shape;1283;p8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9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p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1" name="Google Shape;1291;p9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7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p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9" name="Google Shape;1299;p9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7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Google Shape;1308;p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9" name="Google Shape;1309;p9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6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Google Shape;1317;p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8" name="Google Shape;1318;p9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p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8" name="Google Shape;1328;p9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6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Google Shape;1337;p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8" name="Google Shape;1338;p9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7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Google Shape;1348;p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9" name="Google Shape;1349;p9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6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Google Shape;1357;p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8" name="Google Shape;1358;p9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6" name="Shape 1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Google Shape;1367;p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8" name="Google Shape;1368;p9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5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Google Shape;1376;p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7" name="Google Shape;1377;p9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4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Google Shape;1385;p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6" name="Google Shape;1386;p10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3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" name="Google Shape;1394;p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5" name="Google Shape;1395;p10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2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Google Shape;1403;p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4" name="Google Shape;1404;p10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1" name="Shape 1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Google Shape;1412;p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3" name="Google Shape;1413;p10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p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3" name="Google Shape;1423;p10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0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p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2" name="Google Shape;1432;p10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9" name="Shape 1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" name="Google Shape;1440;p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1" name="Google Shape;1441;p10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9" name="Shape 1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Google Shape;1450;p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1" name="Google Shape;1451;p10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8" name="Shape 1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9" name="Google Shape;1459;p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0" name="Google Shape;1460;p10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7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p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9" name="Google Shape;1469;p10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5" name="Shape 1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6" name="Google Shape;1476;p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7" name="Google Shape;1477;p1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3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p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5" name="Google Shape;1485;p1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2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Google Shape;1493;p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4" name="Google Shape;1494;p1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1" name="Shape 1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" name="Google Shape;1502;p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3" name="Google Shape;1503;p1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p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3" name="Google Shape;1513;p1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0" name="Shape 1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Google Shape;1521;p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2" name="Google Shape;1522;p1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9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p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1" name="Google Shape;1531;p1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9" name="Shape 1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" name="Google Shape;1540;p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1" name="Google Shape;1541;p1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9" name="Shape 1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Google Shape;1550;p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1" name="Google Shape;1551;p1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8" name="Shape 1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Google Shape;1559;p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0" name="Google Shape;1560;p1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7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Google Shape;1568;p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9" name="Google Shape;1569;p1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7" name="Shape 1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8" name="Google Shape;1578;p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9" name="Google Shape;1579;p1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6" name="Shape 1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" name="Google Shape;1587;p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8" name="Google Shape;1588;p1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6" name="Shape 1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Google Shape;1597;p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8" name="Google Shape;1598;p1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5" name="Shape 1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6" name="Google Shape;1606;p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7" name="Google Shape;1607;p1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5" name="Shape 1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" name="Google Shape;1616;p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7" name="Google Shape;1617;p1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5" name="Shape 1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6" name="Google Shape;1626;p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7" name="Google Shape;1627;p1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4" name="Shape 1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5" name="Google Shape;1635;p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6" name="Google Shape;1636;p1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4" name="Shape 1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5" name="Google Shape;1645;p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6" name="Google Shape;1646;p1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2" name="Shape 1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3" name="Google Shape;1653;p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4" name="Google Shape;1654;p1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1" name="Shape 1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2" name="Google Shape;1662;p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3" name="Google Shape;1663;p1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0" name="Shape 1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1" name="Google Shape;1671;p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2" name="Google Shape;1672;p1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9" name="Shape 1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0" name="Google Shape;1680;p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1" name="Google Shape;1681;p1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7" name="Shape 1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" name="Google Shape;1688;p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9" name="Google Shape;1689;p1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6" name="Shape 1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7" name="Google Shape;1697;p1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8" name="Google Shape;1698;p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9" name="Google Shape;1699;p13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6" name="Shape 1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7" name="Google Shape;1707;p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8" name="Google Shape;1708;p1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5" name="Shape 1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6" name="Google Shape;1716;p1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7" name="Google Shape;1717;p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8" name="Google Shape;1718;p13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138"/>
          <p:cNvGrpSpPr/>
          <p:nvPr/>
        </p:nvGrpSpPr>
        <p:grpSpPr>
          <a:xfrm>
            <a:off x="-644959" y="0"/>
            <a:ext cx="10458653" cy="7117071"/>
            <a:chOff x="-644959" y="0"/>
            <a:chExt cx="10458653" cy="7117071"/>
          </a:xfrm>
        </p:grpSpPr>
        <p:grpSp>
          <p:nvGrpSpPr>
            <p:cNvPr id="59" name="Google Shape;59;p138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60" name="Google Shape;60;p138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61" name="Google Shape;61;p138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62" name="Google Shape;62;p13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63" name="Google Shape;63;p13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</p:grpSp>
          <p:grpSp>
            <p:nvGrpSpPr>
              <p:cNvPr id="64" name="Google Shape;64;p138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65" name="Google Shape;65;p138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66" name="Google Shape;66;p13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67" name="Google Shape;67;p13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</p:grpSp>
          <p:grpSp>
            <p:nvGrpSpPr>
              <p:cNvPr id="68" name="Google Shape;68;p138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69" name="Google Shape;69;p138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70" name="Google Shape;70;p13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71" name="Google Shape;71;p13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</p:grpSp>
          <p:sp>
            <p:nvSpPr>
              <p:cNvPr id="72" name="Google Shape;72;p138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lt1">
                  <a:alpha val="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73" name="Google Shape;73;p13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lt1">
                  <a:alpha val="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74" name="Google Shape;74;p138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lt1">
                  <a:alpha val="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sp>
          <p:nvSpPr>
            <p:cNvPr id="75" name="Google Shape;75;p138"/>
            <p:cNvSpPr/>
            <p:nvPr/>
          </p:nvSpPr>
          <p:spPr>
            <a:xfrm>
              <a:off x="-11875" y="5035138"/>
              <a:ext cx="9144000" cy="1175655"/>
            </a:xfrm>
            <a:custGeom>
              <a:rect b="b" l="l" r="r" t="t"/>
              <a:pathLst>
                <a:path extrusionOk="0" h="1175655" w="9144000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6" name="Google Shape;76;p138"/>
            <p:cNvSpPr/>
            <p:nvPr/>
          </p:nvSpPr>
          <p:spPr>
            <a:xfrm>
              <a:off x="-11875" y="3467595"/>
              <a:ext cx="9144000" cy="890650"/>
            </a:xfrm>
            <a:custGeom>
              <a:rect b="b" l="l" r="r" t="t"/>
              <a:pathLst>
                <a:path extrusionOk="0" h="890650" w="914400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7" name="Google Shape;77;p138"/>
            <p:cNvSpPr/>
            <p:nvPr/>
          </p:nvSpPr>
          <p:spPr>
            <a:xfrm>
              <a:off x="-23751" y="5640779"/>
              <a:ext cx="3004457" cy="1211283"/>
            </a:xfrm>
            <a:custGeom>
              <a:rect b="b" l="l" r="r" t="t"/>
              <a:pathLst>
                <a:path extrusionOk="0" h="1211283" w="3004457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8" name="Google Shape;78;p138"/>
            <p:cNvSpPr/>
            <p:nvPr/>
          </p:nvSpPr>
          <p:spPr>
            <a:xfrm>
              <a:off x="-11875" y="5284519"/>
              <a:ext cx="9144000" cy="1478478"/>
            </a:xfrm>
            <a:custGeom>
              <a:rect b="b" l="l" r="r" t="t"/>
              <a:pathLst>
                <a:path extrusionOk="0" h="1478478" w="9144000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9" name="Google Shape;79;p138"/>
            <p:cNvSpPr/>
            <p:nvPr/>
          </p:nvSpPr>
          <p:spPr>
            <a:xfrm>
              <a:off x="2137558" y="5132120"/>
              <a:ext cx="6982691" cy="1719942"/>
            </a:xfrm>
            <a:custGeom>
              <a:rect b="b" l="l" r="r" t="t"/>
              <a:pathLst>
                <a:path extrusionOk="0" h="1719942" w="6982691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0" name="Google Shape;80;p138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1" name="Google Shape;81;p138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2" name="Google Shape;82;p138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3" name="Google Shape;83;p138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3921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4" name="Google Shape;84;p138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5882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5" name="Google Shape;85;p13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rect b="b" l="l" r="r" t="t"/>
              <a:pathLst>
                <a:path extrusionOk="0" h="1388236" w="1261499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6" name="Google Shape;86;p13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7" name="Google Shape;87;p138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8" name="Google Shape;88;p138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9" name="Google Shape;89;p13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0" name="Google Shape;90;p138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1" name="Google Shape;91;p13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2" name="Google Shape;92;p138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3" name="Google Shape;93;p138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4" name="Google Shape;94;p13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5" name="Google Shape;95;p13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rect b="b" l="l" r="r" t="t"/>
              <a:pathLst>
                <a:path extrusionOk="0" h="1388236" w="1243407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lt1">
                <a:alpha val="3921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6" name="Google Shape;96;p13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rect b="b" l="l" r="r" t="t"/>
              <a:pathLst>
                <a:path extrusionOk="0" h="1388822" w="1241871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97" name="Google Shape;97;p138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 cap="flat" cmpd="sng" w="15875">
            <a:solidFill>
              <a:srgbClr val="74A5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8" name="Google Shape;98;p138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9" name="Google Shape;99;p138"/>
          <p:cNvSpPr txBox="1"/>
          <p:nvPr>
            <p:ph type="ctrTitle"/>
          </p:nvPr>
        </p:nvSpPr>
        <p:spPr>
          <a:xfrm>
            <a:off x="4733365" y="2708476"/>
            <a:ext cx="3313355" cy="1702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entury Gothic"/>
              <a:buNone/>
              <a:defRPr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38"/>
          <p:cNvSpPr txBox="1"/>
          <p:nvPr>
            <p:ph idx="1" type="subTitle"/>
          </p:nvPr>
        </p:nvSpPr>
        <p:spPr>
          <a:xfrm>
            <a:off x="4733365" y="4421080"/>
            <a:ext cx="3309803" cy="12606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360"/>
              </a:spcBef>
              <a:spcAft>
                <a:spcPts val="0"/>
              </a:spcAft>
              <a:buSzPts val="1368"/>
              <a:buNone/>
              <a:defRPr sz="1800">
                <a:solidFill>
                  <a:srgbClr val="424242"/>
                </a:solidFill>
              </a:defRPr>
            </a:lvl1pPr>
            <a:lvl2pPr lvl="1" algn="ctr">
              <a:spcBef>
                <a:spcPts val="440"/>
              </a:spcBef>
              <a:spcAft>
                <a:spcPts val="0"/>
              </a:spcAft>
              <a:buSzPts val="1672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152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60"/>
              </a:spcBef>
              <a:spcAft>
                <a:spcPts val="0"/>
              </a:spcAft>
              <a:buSzPts val="1368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SzPts val="1216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80"/>
              </a:spcBef>
              <a:spcAft>
                <a:spcPts val="0"/>
              </a:spcAft>
              <a:buSzPts val="1064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80"/>
              </a:spcBef>
              <a:spcAft>
                <a:spcPts val="0"/>
              </a:spcAft>
              <a:buSzPts val="1064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80"/>
              </a:spcBef>
              <a:spcAft>
                <a:spcPts val="0"/>
              </a:spcAft>
              <a:buSzPts val="1064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80"/>
              </a:spcBef>
              <a:spcAft>
                <a:spcPts val="0"/>
              </a:spcAft>
              <a:buSzPts val="1064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1" name="Google Shape;101;p138"/>
          <p:cNvSpPr txBox="1"/>
          <p:nvPr>
            <p:ph idx="10" type="dt"/>
          </p:nvPr>
        </p:nvSpPr>
        <p:spPr>
          <a:xfrm>
            <a:off x="4738744" y="1516828"/>
            <a:ext cx="2133600" cy="7509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3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3" name="Google Shape;103;p138"/>
          <p:cNvSpPr txBox="1"/>
          <p:nvPr>
            <p:ph idx="11" type="ftr"/>
          </p:nvPr>
        </p:nvSpPr>
        <p:spPr>
          <a:xfrm>
            <a:off x="5303520" y="5719966"/>
            <a:ext cx="28315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38"/>
          <p:cNvSpPr txBox="1"/>
          <p:nvPr>
            <p:ph idx="12" type="sldNum"/>
          </p:nvPr>
        </p:nvSpPr>
        <p:spPr>
          <a:xfrm>
            <a:off x="4649096" y="5719966"/>
            <a:ext cx="64366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05" name="Google Shape;105;p13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39"/>
          <p:cNvSpPr txBox="1"/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39"/>
          <p:cNvSpPr txBox="1"/>
          <p:nvPr>
            <p:ph idx="1" type="body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1pPr>
            <a:lvl2pPr indent="-315468" lvl="1" marL="9144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2pPr>
            <a:lvl3pPr indent="-315467" lvl="2" marL="13716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3pPr>
            <a:lvl4pPr indent="-315467" lvl="3" marL="18288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4pPr>
            <a:lvl5pPr indent="-315467" lvl="4" marL="22860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5pPr>
            <a:lvl6pPr indent="-315467" lvl="5" marL="27432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6pPr>
            <a:lvl7pPr indent="-315467" lvl="6" marL="32004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7pPr>
            <a:lvl8pPr indent="-315467" lvl="7" marL="36576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8pPr>
            <a:lvl9pPr indent="-315467" lvl="8" marL="41148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9pPr>
          </a:lstStyle>
          <a:p/>
        </p:txBody>
      </p:sp>
      <p:sp>
        <p:nvSpPr>
          <p:cNvPr id="109" name="Google Shape;109;p139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39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39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40"/>
          <p:cNvSpPr txBox="1"/>
          <p:nvPr>
            <p:ph type="title"/>
          </p:nvPr>
        </p:nvSpPr>
        <p:spPr>
          <a:xfrm>
            <a:off x="1258645" y="2900829"/>
            <a:ext cx="6637468" cy="1362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40"/>
          <p:cNvSpPr txBox="1"/>
          <p:nvPr>
            <p:ph idx="1" type="body"/>
          </p:nvPr>
        </p:nvSpPr>
        <p:spPr>
          <a:xfrm>
            <a:off x="1258645" y="4267200"/>
            <a:ext cx="6637467" cy="15204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52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368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216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064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064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1064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1064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1064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1064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5" name="Google Shape;115;p140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40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40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1"/>
          <p:cNvSpPr txBox="1"/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41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41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41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23" name="Google Shape;123;p141"/>
          <p:cNvSpPr txBox="1"/>
          <p:nvPr>
            <p:ph idx="1" type="body"/>
          </p:nvPr>
        </p:nvSpPr>
        <p:spPr>
          <a:xfrm>
            <a:off x="1042416" y="2313432"/>
            <a:ext cx="3419856" cy="3493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1pPr>
            <a:lvl2pPr indent="-315468" lvl="1" marL="9144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2pPr>
            <a:lvl3pPr indent="-315467" lvl="2" marL="13716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3pPr>
            <a:lvl4pPr indent="-315467" lvl="3" marL="18288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4pPr>
            <a:lvl5pPr indent="-315467" lvl="4" marL="22860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5pPr>
            <a:lvl6pPr indent="-315467" lvl="5" marL="27432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6pPr>
            <a:lvl7pPr indent="-315467" lvl="6" marL="32004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7pPr>
            <a:lvl8pPr indent="-315467" lvl="7" marL="36576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8pPr>
            <a:lvl9pPr indent="-315467" lvl="8" marL="41148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9pPr>
          </a:lstStyle>
          <a:p/>
        </p:txBody>
      </p:sp>
      <p:sp>
        <p:nvSpPr>
          <p:cNvPr id="124" name="Google Shape;124;p141"/>
          <p:cNvSpPr txBox="1"/>
          <p:nvPr>
            <p:ph idx="2" type="body"/>
          </p:nvPr>
        </p:nvSpPr>
        <p:spPr>
          <a:xfrm>
            <a:off x="4645152" y="2313431"/>
            <a:ext cx="3419856" cy="3493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1pPr>
            <a:lvl2pPr indent="-315468" lvl="1" marL="9144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2pPr>
            <a:lvl3pPr indent="-315467" lvl="2" marL="13716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3pPr>
            <a:lvl4pPr indent="-315467" lvl="3" marL="18288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4pPr>
            <a:lvl5pPr indent="-315467" lvl="4" marL="22860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5pPr>
            <a:lvl6pPr indent="-315467" lvl="5" marL="27432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6pPr>
            <a:lvl7pPr indent="-315467" lvl="6" marL="32004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7pPr>
            <a:lvl8pPr indent="-315467" lvl="7" marL="36576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8pPr>
            <a:lvl9pPr indent="-315467" lvl="8" marL="41148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42"/>
          <p:cNvSpPr txBox="1"/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142"/>
          <p:cNvSpPr txBox="1"/>
          <p:nvPr>
            <p:ph idx="1" type="body"/>
          </p:nvPr>
        </p:nvSpPr>
        <p:spPr>
          <a:xfrm>
            <a:off x="1412111" y="2316009"/>
            <a:ext cx="305714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824"/>
              <a:buNone/>
              <a:defRPr b="1"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52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368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216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216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216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216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216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216"/>
              <a:buNone/>
              <a:defRPr b="1" sz="1600"/>
            </a:lvl9pPr>
          </a:lstStyle>
          <a:p/>
        </p:txBody>
      </p:sp>
      <p:sp>
        <p:nvSpPr>
          <p:cNvPr id="128" name="Google Shape;128;p142"/>
          <p:cNvSpPr txBox="1"/>
          <p:nvPr>
            <p:ph idx="2" type="body"/>
          </p:nvPr>
        </p:nvSpPr>
        <p:spPr>
          <a:xfrm>
            <a:off x="1041721" y="2974694"/>
            <a:ext cx="3419856" cy="28357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4424" lvl="0" marL="457200" algn="l">
              <a:spcBef>
                <a:spcPts val="480"/>
              </a:spcBef>
              <a:spcAft>
                <a:spcPts val="0"/>
              </a:spcAft>
              <a:buSzPts val="1824"/>
              <a:buChar char="🞇"/>
              <a:defRPr sz="2400"/>
            </a:lvl1pPr>
            <a:lvl2pPr indent="-325119" lvl="1" marL="914400" algn="l">
              <a:spcBef>
                <a:spcPts val="400"/>
              </a:spcBef>
              <a:spcAft>
                <a:spcPts val="0"/>
              </a:spcAft>
              <a:buSzPts val="1520"/>
              <a:buChar char="🞇"/>
              <a:defRPr sz="2000"/>
            </a:lvl2pPr>
            <a:lvl3pPr indent="-315467" lvl="2" marL="13716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 sz="1800"/>
            </a:lvl3pPr>
            <a:lvl4pPr indent="-305816" lvl="3" marL="18288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4pPr>
            <a:lvl5pPr indent="-305816" lvl="4" marL="22860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5pPr>
            <a:lvl6pPr indent="-305816" lvl="5" marL="27432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6pPr>
            <a:lvl7pPr indent="-305816" lvl="6" marL="32004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7pPr>
            <a:lvl8pPr indent="-305815" lvl="7" marL="36576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8pPr>
            <a:lvl9pPr indent="-305815" lvl="8" marL="41148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9pPr>
          </a:lstStyle>
          <a:p/>
        </p:txBody>
      </p:sp>
      <p:sp>
        <p:nvSpPr>
          <p:cNvPr id="129" name="Google Shape;129;p142"/>
          <p:cNvSpPr txBox="1"/>
          <p:nvPr>
            <p:ph idx="3" type="body"/>
          </p:nvPr>
        </p:nvSpPr>
        <p:spPr>
          <a:xfrm>
            <a:off x="5011837" y="2316010"/>
            <a:ext cx="30557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824"/>
              <a:buNone/>
              <a:defRPr b="1"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52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368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216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216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216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216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216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216"/>
              <a:buNone/>
              <a:defRPr b="1" sz="1600"/>
            </a:lvl9pPr>
          </a:lstStyle>
          <a:p/>
        </p:txBody>
      </p:sp>
      <p:sp>
        <p:nvSpPr>
          <p:cNvPr id="130" name="Google Shape;130;p142"/>
          <p:cNvSpPr txBox="1"/>
          <p:nvPr>
            <p:ph idx="4" type="body"/>
          </p:nvPr>
        </p:nvSpPr>
        <p:spPr>
          <a:xfrm>
            <a:off x="4645152" y="2974694"/>
            <a:ext cx="3419856" cy="28357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4424" lvl="0" marL="457200" algn="l">
              <a:spcBef>
                <a:spcPts val="480"/>
              </a:spcBef>
              <a:spcAft>
                <a:spcPts val="0"/>
              </a:spcAft>
              <a:buSzPts val="1824"/>
              <a:buChar char="🞇"/>
              <a:defRPr sz="2400"/>
            </a:lvl1pPr>
            <a:lvl2pPr indent="-325119" lvl="1" marL="914400" algn="l">
              <a:spcBef>
                <a:spcPts val="400"/>
              </a:spcBef>
              <a:spcAft>
                <a:spcPts val="0"/>
              </a:spcAft>
              <a:buSzPts val="1520"/>
              <a:buChar char="🞇"/>
              <a:defRPr sz="2000"/>
            </a:lvl2pPr>
            <a:lvl3pPr indent="-315467" lvl="2" marL="13716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 sz="1800"/>
            </a:lvl3pPr>
            <a:lvl4pPr indent="-305816" lvl="3" marL="18288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4pPr>
            <a:lvl5pPr indent="-305816" lvl="4" marL="22860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5pPr>
            <a:lvl6pPr indent="-305816" lvl="5" marL="27432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6pPr>
            <a:lvl7pPr indent="-305816" lvl="6" marL="32004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7pPr>
            <a:lvl8pPr indent="-305815" lvl="7" marL="36576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8pPr>
            <a:lvl9pPr indent="-305815" lvl="8" marL="41148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9pPr>
          </a:lstStyle>
          <a:p/>
        </p:txBody>
      </p:sp>
      <p:sp>
        <p:nvSpPr>
          <p:cNvPr id="131" name="Google Shape;131;p142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42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142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3"/>
          <p:cNvSpPr txBox="1"/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43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143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43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4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144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144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oogle Shape;144;p145"/>
          <p:cNvGrpSpPr/>
          <p:nvPr/>
        </p:nvGrpSpPr>
        <p:grpSpPr>
          <a:xfrm>
            <a:off x="-644959" y="0"/>
            <a:ext cx="10458653" cy="7117071"/>
            <a:chOff x="-644959" y="0"/>
            <a:chExt cx="10458653" cy="7117071"/>
          </a:xfrm>
        </p:grpSpPr>
        <p:grpSp>
          <p:nvGrpSpPr>
            <p:cNvPr id="145" name="Google Shape;145;p145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46" name="Google Shape;146;p145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47" name="Google Shape;147;p145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148" name="Google Shape;148;p14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149" name="Google Shape;149;p14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</p:grpSp>
          <p:grpSp>
            <p:nvGrpSpPr>
              <p:cNvPr id="150" name="Google Shape;150;p14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51" name="Google Shape;151;p145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152" name="Google Shape;152;p14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153" name="Google Shape;153;p14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</p:grpSp>
          <p:grpSp>
            <p:nvGrpSpPr>
              <p:cNvPr id="154" name="Google Shape;154;p145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55" name="Google Shape;155;p145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156" name="Google Shape;156;p14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157" name="Google Shape;157;p14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</p:grpSp>
          <p:sp>
            <p:nvSpPr>
              <p:cNvPr id="158" name="Google Shape;158;p145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lt1">
                  <a:alpha val="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159" name="Google Shape;159;p14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lt1">
                  <a:alpha val="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160" name="Google Shape;160;p14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lt1">
                  <a:alpha val="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sp>
          <p:nvSpPr>
            <p:cNvPr id="161" name="Google Shape;161;p145"/>
            <p:cNvSpPr/>
            <p:nvPr/>
          </p:nvSpPr>
          <p:spPr>
            <a:xfrm>
              <a:off x="-11875" y="5035138"/>
              <a:ext cx="9144000" cy="1175655"/>
            </a:xfrm>
            <a:custGeom>
              <a:rect b="b" l="l" r="r" t="t"/>
              <a:pathLst>
                <a:path extrusionOk="0" h="1175655" w="9144000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2" name="Google Shape;162;p145"/>
            <p:cNvSpPr/>
            <p:nvPr/>
          </p:nvSpPr>
          <p:spPr>
            <a:xfrm>
              <a:off x="-11875" y="3467595"/>
              <a:ext cx="9144000" cy="890650"/>
            </a:xfrm>
            <a:custGeom>
              <a:rect b="b" l="l" r="r" t="t"/>
              <a:pathLst>
                <a:path extrusionOk="0" h="890650" w="914400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3" name="Google Shape;163;p145"/>
            <p:cNvSpPr/>
            <p:nvPr/>
          </p:nvSpPr>
          <p:spPr>
            <a:xfrm>
              <a:off x="-23751" y="5640779"/>
              <a:ext cx="3004457" cy="1211283"/>
            </a:xfrm>
            <a:custGeom>
              <a:rect b="b" l="l" r="r" t="t"/>
              <a:pathLst>
                <a:path extrusionOk="0" h="1211283" w="3004457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4" name="Google Shape;164;p145"/>
            <p:cNvSpPr/>
            <p:nvPr/>
          </p:nvSpPr>
          <p:spPr>
            <a:xfrm>
              <a:off x="-11875" y="5284519"/>
              <a:ext cx="9144000" cy="1478478"/>
            </a:xfrm>
            <a:custGeom>
              <a:rect b="b" l="l" r="r" t="t"/>
              <a:pathLst>
                <a:path extrusionOk="0" h="1478478" w="9144000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5" name="Google Shape;165;p145"/>
            <p:cNvSpPr/>
            <p:nvPr/>
          </p:nvSpPr>
          <p:spPr>
            <a:xfrm>
              <a:off x="2137558" y="5132120"/>
              <a:ext cx="6982691" cy="1719942"/>
            </a:xfrm>
            <a:custGeom>
              <a:rect b="b" l="l" r="r" t="t"/>
              <a:pathLst>
                <a:path extrusionOk="0" h="1719942" w="6982691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6" name="Google Shape;166;p145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7" name="Google Shape;167;p145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8" name="Google Shape;168;p145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9" name="Google Shape;169;p14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3921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0" name="Google Shape;170;p14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5882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1" name="Google Shape;171;p145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rect b="b" l="l" r="r" t="t"/>
              <a:pathLst>
                <a:path extrusionOk="0" h="1388236" w="1261499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2" name="Google Shape;172;p14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3" name="Google Shape;173;p145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4" name="Google Shape;174;p14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5" name="Google Shape;175;p145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6" name="Google Shape;176;p145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7" name="Google Shape;177;p14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8" name="Google Shape;178;p14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9" name="Google Shape;179;p14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0" name="Google Shape;180;p145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1" name="Google Shape;181;p145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rect b="b" l="l" r="r" t="t"/>
              <a:pathLst>
                <a:path extrusionOk="0" h="1388236" w="1243407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lt1">
                <a:alpha val="3921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2" name="Google Shape;182;p145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rect b="b" l="l" r="r" t="t"/>
              <a:pathLst>
                <a:path extrusionOk="0" h="1388822" w="1241871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183" name="Google Shape;183;p1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 cap="flat" cmpd="sng" w="15875">
            <a:solidFill>
              <a:srgbClr val="74A5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4" name="Google Shape;184;p145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5" name="Google Shape;185;p145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145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87" name="Google Shape;187;p145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8" name="Google Shape;188;p145"/>
          <p:cNvSpPr txBox="1"/>
          <p:nvPr>
            <p:ph idx="1" type="body"/>
          </p:nvPr>
        </p:nvSpPr>
        <p:spPr>
          <a:xfrm>
            <a:off x="1145894" y="856527"/>
            <a:ext cx="3090440" cy="5150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4424" lvl="0" marL="457200" algn="l">
              <a:spcBef>
                <a:spcPts val="480"/>
              </a:spcBef>
              <a:spcAft>
                <a:spcPts val="0"/>
              </a:spcAft>
              <a:buSzPts val="1824"/>
              <a:buChar char="🞇"/>
              <a:defRPr sz="2400"/>
            </a:lvl1pPr>
            <a:lvl2pPr indent="-334772" lvl="1" marL="914400" algn="l">
              <a:spcBef>
                <a:spcPts val="440"/>
              </a:spcBef>
              <a:spcAft>
                <a:spcPts val="0"/>
              </a:spcAft>
              <a:buSzPts val="1672"/>
              <a:buChar char="🞇"/>
              <a:defRPr sz="2200"/>
            </a:lvl2pPr>
            <a:lvl3pPr indent="-325119" lvl="2" marL="1371600" algn="l">
              <a:spcBef>
                <a:spcPts val="400"/>
              </a:spcBef>
              <a:spcAft>
                <a:spcPts val="0"/>
              </a:spcAft>
              <a:buSzPts val="1520"/>
              <a:buChar char="🞇"/>
              <a:defRPr sz="2000"/>
            </a:lvl3pPr>
            <a:lvl4pPr indent="-315467" lvl="3" marL="18288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 sz="1800"/>
            </a:lvl4pPr>
            <a:lvl5pPr indent="-305816" lvl="4" marL="22860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5pPr>
            <a:lvl6pPr indent="-325120" lvl="5" marL="2743200" algn="l">
              <a:spcBef>
                <a:spcPts val="400"/>
              </a:spcBef>
              <a:spcAft>
                <a:spcPts val="0"/>
              </a:spcAft>
              <a:buSzPts val="1520"/>
              <a:buChar char="🞇"/>
              <a:defRPr sz="2000"/>
            </a:lvl6pPr>
            <a:lvl7pPr indent="-325120" lvl="6" marL="3200400" algn="l">
              <a:spcBef>
                <a:spcPts val="400"/>
              </a:spcBef>
              <a:spcAft>
                <a:spcPts val="0"/>
              </a:spcAft>
              <a:buSzPts val="1520"/>
              <a:buChar char="🞇"/>
              <a:defRPr sz="2000"/>
            </a:lvl7pPr>
            <a:lvl8pPr indent="-325120" lvl="7" marL="3657600" algn="l">
              <a:spcBef>
                <a:spcPts val="400"/>
              </a:spcBef>
              <a:spcAft>
                <a:spcPts val="0"/>
              </a:spcAft>
              <a:buSzPts val="1520"/>
              <a:buChar char="🞇"/>
              <a:defRPr sz="2000"/>
            </a:lvl8pPr>
            <a:lvl9pPr indent="-325120" lvl="8" marL="4114800" algn="l">
              <a:spcBef>
                <a:spcPts val="400"/>
              </a:spcBef>
              <a:spcAft>
                <a:spcPts val="0"/>
              </a:spcAft>
              <a:buSzPts val="1520"/>
              <a:buChar char="🞇"/>
              <a:defRPr sz="2000"/>
            </a:lvl9pPr>
          </a:lstStyle>
          <a:p/>
        </p:txBody>
      </p:sp>
      <p:sp>
        <p:nvSpPr>
          <p:cNvPr id="189" name="Google Shape;189;p145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0" name="Google Shape;190;p145"/>
          <p:cNvSpPr txBox="1"/>
          <p:nvPr>
            <p:ph idx="11" type="ftr"/>
          </p:nvPr>
        </p:nvSpPr>
        <p:spPr>
          <a:xfrm>
            <a:off x="4641448" y="5724835"/>
            <a:ext cx="34936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145"/>
          <p:cNvSpPr txBox="1"/>
          <p:nvPr>
            <p:ph type="title"/>
          </p:nvPr>
        </p:nvSpPr>
        <p:spPr>
          <a:xfrm>
            <a:off x="4739833" y="2657434"/>
            <a:ext cx="3304572" cy="146315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  <a:defRPr b="0" sz="2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145"/>
          <p:cNvSpPr txBox="1"/>
          <p:nvPr>
            <p:ph idx="2" type="body"/>
          </p:nvPr>
        </p:nvSpPr>
        <p:spPr>
          <a:xfrm>
            <a:off x="4736592" y="4136994"/>
            <a:ext cx="3298784" cy="15179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SzPts val="1216"/>
              <a:buNone/>
              <a:defRPr sz="1600">
                <a:solidFill>
                  <a:srgbClr val="424242"/>
                </a:solidFill>
              </a:defRPr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912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76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684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684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684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684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684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684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" name="Google Shape;194;p146"/>
          <p:cNvGrpSpPr/>
          <p:nvPr/>
        </p:nvGrpSpPr>
        <p:grpSpPr>
          <a:xfrm>
            <a:off x="-644959" y="0"/>
            <a:ext cx="10458653" cy="7117071"/>
            <a:chOff x="-644959" y="0"/>
            <a:chExt cx="10458653" cy="7117071"/>
          </a:xfrm>
        </p:grpSpPr>
        <p:grpSp>
          <p:nvGrpSpPr>
            <p:cNvPr id="195" name="Google Shape;195;p146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96" name="Google Shape;196;p146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97" name="Google Shape;197;p14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198" name="Google Shape;198;p146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199" name="Google Shape;199;p146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</p:grpSp>
          <p:grpSp>
            <p:nvGrpSpPr>
              <p:cNvPr id="200" name="Google Shape;200;p146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201" name="Google Shape;201;p14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202" name="Google Shape;202;p146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203" name="Google Shape;203;p146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</p:grpSp>
          <p:grpSp>
            <p:nvGrpSpPr>
              <p:cNvPr id="204" name="Google Shape;204;p146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205" name="Google Shape;205;p14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206" name="Google Shape;206;p146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207" name="Google Shape;207;p146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</p:grpSp>
          <p:sp>
            <p:nvSpPr>
              <p:cNvPr id="208" name="Google Shape;208;p146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lt1">
                  <a:alpha val="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209" name="Google Shape;209;p146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lt1">
                  <a:alpha val="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210" name="Google Shape;210;p14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lt1">
                  <a:alpha val="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sp>
          <p:nvSpPr>
            <p:cNvPr id="211" name="Google Shape;211;p146"/>
            <p:cNvSpPr/>
            <p:nvPr/>
          </p:nvSpPr>
          <p:spPr>
            <a:xfrm>
              <a:off x="-11875" y="5035138"/>
              <a:ext cx="9144000" cy="1175655"/>
            </a:xfrm>
            <a:custGeom>
              <a:rect b="b" l="l" r="r" t="t"/>
              <a:pathLst>
                <a:path extrusionOk="0" h="1175655" w="9144000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2" name="Google Shape;212;p146"/>
            <p:cNvSpPr/>
            <p:nvPr/>
          </p:nvSpPr>
          <p:spPr>
            <a:xfrm>
              <a:off x="-11875" y="3467595"/>
              <a:ext cx="9144000" cy="890650"/>
            </a:xfrm>
            <a:custGeom>
              <a:rect b="b" l="l" r="r" t="t"/>
              <a:pathLst>
                <a:path extrusionOk="0" h="890650" w="914400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3" name="Google Shape;213;p146"/>
            <p:cNvSpPr/>
            <p:nvPr/>
          </p:nvSpPr>
          <p:spPr>
            <a:xfrm>
              <a:off x="-23751" y="5640779"/>
              <a:ext cx="3004457" cy="1211283"/>
            </a:xfrm>
            <a:custGeom>
              <a:rect b="b" l="l" r="r" t="t"/>
              <a:pathLst>
                <a:path extrusionOk="0" h="1211283" w="3004457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4" name="Google Shape;214;p146"/>
            <p:cNvSpPr/>
            <p:nvPr/>
          </p:nvSpPr>
          <p:spPr>
            <a:xfrm>
              <a:off x="-11875" y="5284519"/>
              <a:ext cx="9144000" cy="1478478"/>
            </a:xfrm>
            <a:custGeom>
              <a:rect b="b" l="l" r="r" t="t"/>
              <a:pathLst>
                <a:path extrusionOk="0" h="1478478" w="9144000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5" name="Google Shape;215;p146"/>
            <p:cNvSpPr/>
            <p:nvPr/>
          </p:nvSpPr>
          <p:spPr>
            <a:xfrm>
              <a:off x="2137558" y="5132120"/>
              <a:ext cx="6982691" cy="1719942"/>
            </a:xfrm>
            <a:custGeom>
              <a:rect b="b" l="l" r="r" t="t"/>
              <a:pathLst>
                <a:path extrusionOk="0" h="1719942" w="6982691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6" name="Google Shape;216;p146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7" name="Google Shape;217;p146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8" name="Google Shape;218;p146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9" name="Google Shape;219;p146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3921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0" name="Google Shape;220;p14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5882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1" name="Google Shape;221;p146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rect b="b" l="l" r="r" t="t"/>
              <a:pathLst>
                <a:path extrusionOk="0" h="1388236" w="1261499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2" name="Google Shape;222;p146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3" name="Google Shape;223;p14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4" name="Google Shape;224;p146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5" name="Google Shape;225;p14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6" name="Google Shape;226;p146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7" name="Google Shape;227;p146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8" name="Google Shape;228;p14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9" name="Google Shape;229;p14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30" name="Google Shape;230;p14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31" name="Google Shape;231;p146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rect b="b" l="l" r="r" t="t"/>
              <a:pathLst>
                <a:path extrusionOk="0" h="1388236" w="1243407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lt1">
                <a:alpha val="3921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32" name="Google Shape;232;p146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rect b="b" l="l" r="r" t="t"/>
              <a:pathLst>
                <a:path extrusionOk="0" h="1388822" w="1241871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233" name="Google Shape;233;p146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 cap="flat" cmpd="sng" w="15875">
            <a:solidFill>
              <a:srgbClr val="74A5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4" name="Google Shape;234;p14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5" name="Google Shape;235;p146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1E1E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6" name="Google Shape;236;p146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7" name="Google Shape;237;p146"/>
          <p:cNvSpPr txBox="1"/>
          <p:nvPr>
            <p:ph type="title"/>
          </p:nvPr>
        </p:nvSpPr>
        <p:spPr>
          <a:xfrm>
            <a:off x="4734424" y="2660904"/>
            <a:ext cx="3300984" cy="14630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  <a:defRPr b="0" sz="2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146"/>
          <p:cNvSpPr/>
          <p:nvPr>
            <p:ph idx="2" type="pic"/>
          </p:nvPr>
        </p:nvSpPr>
        <p:spPr>
          <a:xfrm>
            <a:off x="1005208" y="693795"/>
            <a:ext cx="3359623" cy="5468112"/>
          </a:xfrm>
          <a:prstGeom prst="rect">
            <a:avLst/>
          </a:prstGeom>
          <a:noFill/>
          <a:ln>
            <a:noFill/>
          </a:ln>
        </p:spPr>
      </p:sp>
      <p:sp>
        <p:nvSpPr>
          <p:cNvPr id="239" name="Google Shape;239;p146"/>
          <p:cNvSpPr txBox="1"/>
          <p:nvPr>
            <p:ph idx="1" type="body"/>
          </p:nvPr>
        </p:nvSpPr>
        <p:spPr>
          <a:xfrm>
            <a:off x="4734630" y="4133088"/>
            <a:ext cx="3300573" cy="15195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SzPts val="1216"/>
              <a:buNone/>
              <a:defRPr sz="1600">
                <a:solidFill>
                  <a:srgbClr val="424242"/>
                </a:solidFill>
              </a:defRPr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912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76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684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684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684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684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684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684"/>
              <a:buNone/>
              <a:defRPr sz="900"/>
            </a:lvl9pPr>
          </a:lstStyle>
          <a:p/>
        </p:txBody>
      </p:sp>
      <p:sp>
        <p:nvSpPr>
          <p:cNvPr id="240" name="Google Shape;240;p146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146"/>
          <p:cNvSpPr txBox="1"/>
          <p:nvPr>
            <p:ph idx="11" type="ftr"/>
          </p:nvPr>
        </p:nvSpPr>
        <p:spPr>
          <a:xfrm>
            <a:off x="4641448" y="5724835"/>
            <a:ext cx="34936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146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47"/>
          <p:cNvSpPr txBox="1"/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147"/>
          <p:cNvSpPr txBox="1"/>
          <p:nvPr>
            <p:ph idx="1" type="body"/>
          </p:nvPr>
        </p:nvSpPr>
        <p:spPr>
          <a:xfrm rot="5400000">
            <a:off x="2677662" y="689482"/>
            <a:ext cx="3508977" cy="67773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1pPr>
            <a:lvl2pPr indent="-315468" lvl="1" marL="9144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2pPr>
            <a:lvl3pPr indent="-315467" lvl="2" marL="13716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3pPr>
            <a:lvl4pPr indent="-315467" lvl="3" marL="18288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4pPr>
            <a:lvl5pPr indent="-315467" lvl="4" marL="22860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5pPr>
            <a:lvl6pPr indent="-315467" lvl="5" marL="27432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6pPr>
            <a:lvl7pPr indent="-315467" lvl="6" marL="32004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7pPr>
            <a:lvl8pPr indent="-315467" lvl="7" marL="36576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8pPr>
            <a:lvl9pPr indent="-315467" lvl="8" marL="41148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9pPr>
          </a:lstStyle>
          <a:p/>
        </p:txBody>
      </p:sp>
      <p:sp>
        <p:nvSpPr>
          <p:cNvPr id="246" name="Google Shape;246;p147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" name="Google Shape;247;p147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147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48"/>
          <p:cNvSpPr txBox="1"/>
          <p:nvPr>
            <p:ph type="title"/>
          </p:nvPr>
        </p:nvSpPr>
        <p:spPr>
          <a:xfrm rot="5400000">
            <a:off x="4981455" y="2678093"/>
            <a:ext cx="4780344" cy="14844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148"/>
          <p:cNvSpPr txBox="1"/>
          <p:nvPr>
            <p:ph idx="1" type="body"/>
          </p:nvPr>
        </p:nvSpPr>
        <p:spPr>
          <a:xfrm rot="5400000">
            <a:off x="1374976" y="708467"/>
            <a:ext cx="4780344" cy="5423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1pPr>
            <a:lvl2pPr indent="-315468" lvl="1" marL="9144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2pPr>
            <a:lvl3pPr indent="-315467" lvl="2" marL="13716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3pPr>
            <a:lvl4pPr indent="-315467" lvl="3" marL="18288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4pPr>
            <a:lvl5pPr indent="-315467" lvl="4" marL="22860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5pPr>
            <a:lvl6pPr indent="-315467" lvl="5" marL="27432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6pPr>
            <a:lvl7pPr indent="-315467" lvl="6" marL="32004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7pPr>
            <a:lvl8pPr indent="-315467" lvl="7" marL="36576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8pPr>
            <a:lvl9pPr indent="-315467" lvl="8" marL="41148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9pPr>
          </a:lstStyle>
          <a:p/>
        </p:txBody>
      </p:sp>
      <p:sp>
        <p:nvSpPr>
          <p:cNvPr id="252" name="Google Shape;252;p148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148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148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C1F15E"/>
            </a:gs>
            <a:gs pos="62000">
              <a:srgbClr val="90BA3F"/>
            </a:gs>
            <a:gs pos="100000">
              <a:srgbClr val="7FA03E"/>
            </a:gs>
          </a:gsLst>
          <a:lin ang="5400000" scaled="0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37"/>
          <p:cNvGrpSpPr/>
          <p:nvPr/>
        </p:nvGrpSpPr>
        <p:grpSpPr>
          <a:xfrm>
            <a:off x="-567355" y="0"/>
            <a:ext cx="10458653" cy="7117071"/>
            <a:chOff x="-644959" y="0"/>
            <a:chExt cx="10458653" cy="7117071"/>
          </a:xfrm>
        </p:grpSpPr>
        <p:grpSp>
          <p:nvGrpSpPr>
            <p:cNvPr id="11" name="Google Shape;11;p137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2" name="Google Shape;12;p137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3" name="Google Shape;13;p13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14" name="Google Shape;14;p13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15" name="Google Shape;15;p137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</p:grpSp>
          <p:grpSp>
            <p:nvGrpSpPr>
              <p:cNvPr id="16" name="Google Shape;16;p137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7" name="Google Shape;17;p13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18" name="Google Shape;18;p13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19" name="Google Shape;19;p137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</p:grpSp>
          <p:grpSp>
            <p:nvGrpSpPr>
              <p:cNvPr id="20" name="Google Shape;20;p137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21" name="Google Shape;21;p13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22" name="Google Shape;22;p13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23" name="Google Shape;23;p137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</p:grpSp>
          <p:sp>
            <p:nvSpPr>
              <p:cNvPr id="24" name="Google Shape;24;p13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lt1">
                  <a:alpha val="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25" name="Google Shape;25;p137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lt1">
                  <a:alpha val="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26" name="Google Shape;26;p137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lt1">
                  <a:alpha val="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sp>
          <p:nvSpPr>
            <p:cNvPr id="27" name="Google Shape;27;p137"/>
            <p:cNvSpPr/>
            <p:nvPr/>
          </p:nvSpPr>
          <p:spPr>
            <a:xfrm>
              <a:off x="-11875" y="5035138"/>
              <a:ext cx="9144000" cy="1175655"/>
            </a:xfrm>
            <a:custGeom>
              <a:rect b="b" l="l" r="r" t="t"/>
              <a:pathLst>
                <a:path extrusionOk="0" h="1175655" w="9144000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8" name="Google Shape;28;p137"/>
            <p:cNvSpPr/>
            <p:nvPr/>
          </p:nvSpPr>
          <p:spPr>
            <a:xfrm>
              <a:off x="-11875" y="3467595"/>
              <a:ext cx="9144000" cy="890650"/>
            </a:xfrm>
            <a:custGeom>
              <a:rect b="b" l="l" r="r" t="t"/>
              <a:pathLst>
                <a:path extrusionOk="0" h="890650" w="914400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9" name="Google Shape;29;p137"/>
            <p:cNvSpPr/>
            <p:nvPr/>
          </p:nvSpPr>
          <p:spPr>
            <a:xfrm>
              <a:off x="-23751" y="5640779"/>
              <a:ext cx="3004457" cy="1211283"/>
            </a:xfrm>
            <a:custGeom>
              <a:rect b="b" l="l" r="r" t="t"/>
              <a:pathLst>
                <a:path extrusionOk="0" h="1211283" w="3004457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0" name="Google Shape;30;p137"/>
            <p:cNvSpPr/>
            <p:nvPr/>
          </p:nvSpPr>
          <p:spPr>
            <a:xfrm>
              <a:off x="-11875" y="5284519"/>
              <a:ext cx="9144000" cy="1478478"/>
            </a:xfrm>
            <a:custGeom>
              <a:rect b="b" l="l" r="r" t="t"/>
              <a:pathLst>
                <a:path extrusionOk="0" h="1478478" w="9144000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1" name="Google Shape;31;p137"/>
            <p:cNvSpPr/>
            <p:nvPr/>
          </p:nvSpPr>
          <p:spPr>
            <a:xfrm>
              <a:off x="2137558" y="5132120"/>
              <a:ext cx="6982691" cy="1719942"/>
            </a:xfrm>
            <a:custGeom>
              <a:rect b="b" l="l" r="r" t="t"/>
              <a:pathLst>
                <a:path extrusionOk="0" h="1719942" w="6982691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2" name="Google Shape;32;p137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3" name="Google Shape;33;p137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4" name="Google Shape;34;p137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5" name="Google Shape;35;p137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3921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6" name="Google Shape;36;p137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5882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7" name="Google Shape;37;p13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rect b="b" l="l" r="r" t="t"/>
              <a:pathLst>
                <a:path extrusionOk="0" h="1388236" w="1261499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8" name="Google Shape;38;p137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9" name="Google Shape;39;p137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0" name="Google Shape;40;p13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1" name="Google Shape;41;p137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2" name="Google Shape;42;p13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3" name="Google Shape;43;p137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4" name="Google Shape;44;p137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5" name="Google Shape;45;p13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6" name="Google Shape;46;p13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7" name="Google Shape;47;p13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rect b="b" l="l" r="r" t="t"/>
              <a:pathLst>
                <a:path extrusionOk="0" h="1388236" w="1243407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lt1">
                <a:alpha val="3921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8" name="Google Shape;48;p137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rect b="b" l="l" r="r" t="t"/>
              <a:pathLst>
                <a:path extrusionOk="0" h="1388822" w="1241871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49" name="Google Shape;49;p137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0" name="Google Shape;50;p137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 cap="flat" cmpd="sng" w="15875">
            <a:solidFill>
              <a:srgbClr val="74A5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1" name="Google Shape;51;p137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2" name="Google Shape;52;p137"/>
          <p:cNvSpPr txBox="1"/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  <a:defRPr b="0" i="0" sz="4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7"/>
          <p:cNvSpPr txBox="1"/>
          <p:nvPr>
            <p:ph idx="1" type="body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4424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24"/>
              <a:buFont typeface="Noto Sans Symbols"/>
              <a:buChar char="🞇"/>
              <a:defRPr b="0" i="0" sz="24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4772" lvl="1" marL="914400" marR="0" rtl="0" algn="l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672"/>
              <a:buFont typeface="Noto Sans Symbols"/>
              <a:buChar char="🞇"/>
              <a:defRPr b="0" i="0" sz="22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25119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Char char="🞇"/>
              <a:defRPr b="0" i="0" sz="20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15467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368"/>
              <a:buFont typeface="Noto Sans Symbols"/>
              <a:buChar char="🞇"/>
              <a:defRPr b="0" i="0" sz="18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5816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216"/>
              <a:buFont typeface="Noto Sans Symbols"/>
              <a:buChar char="🞇"/>
              <a:defRPr b="0" i="0" sz="16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96164" lvl="5" marL="2743200" marR="0" rtl="0" algn="l"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1064"/>
              <a:buFont typeface="Noto Sans Symbols"/>
              <a:buChar char="🞇"/>
              <a:defRPr b="0" i="0" sz="14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96164" lvl="6" marL="3200400" marR="0" rtl="0" algn="l"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1064"/>
              <a:buFont typeface="Noto Sans Symbols"/>
              <a:buChar char="🞇"/>
              <a:defRPr b="0" i="0" sz="14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96164" lvl="7" marL="3657600" marR="0" rtl="0" algn="l"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1064"/>
              <a:buFont typeface="Noto Sans Symbols"/>
              <a:buChar char="🞇"/>
              <a:defRPr b="0" i="0" sz="14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96164" lvl="8" marL="4114800" marR="0" rtl="0" algn="l"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1064"/>
              <a:buFont typeface="Noto Sans Symbols"/>
              <a:buChar char="🞇"/>
              <a:defRPr b="0" i="0" sz="14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54" name="Google Shape;54;p137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55" name="Google Shape;55;p137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56" name="Google Shape;56;p137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7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7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6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6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6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6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9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9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3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5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9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9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5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5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7.png"/><Relationship Id="rId4" Type="http://schemas.openxmlformats.org/officeDocument/2006/relationships/image" Target="../media/image25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25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5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5.png"/><Relationship Id="rId4" Type="http://schemas.openxmlformats.org/officeDocument/2006/relationships/image" Target="../media/image27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9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41.png"/><Relationship Id="rId4" Type="http://schemas.openxmlformats.org/officeDocument/2006/relationships/image" Target="../media/image34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46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45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40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40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33.png"/><Relationship Id="rId4" Type="http://schemas.openxmlformats.org/officeDocument/2006/relationships/image" Target="../media/image40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32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32.pn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32.png"/><Relationship Id="rId4" Type="http://schemas.openxmlformats.org/officeDocument/2006/relationships/image" Target="../media/image30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38.png"/><Relationship Id="rId4" Type="http://schemas.openxmlformats.org/officeDocument/2006/relationships/image" Target="../media/image54.png"/><Relationship Id="rId5" Type="http://schemas.openxmlformats.org/officeDocument/2006/relationships/image" Target="../media/image32.pn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54.png"/><Relationship Id="rId4" Type="http://schemas.openxmlformats.org/officeDocument/2006/relationships/image" Target="../media/image72.png"/><Relationship Id="rId5" Type="http://schemas.openxmlformats.org/officeDocument/2006/relationships/image" Target="../media/image32.pn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54.png"/><Relationship Id="rId4" Type="http://schemas.openxmlformats.org/officeDocument/2006/relationships/image" Target="../media/image72.png"/><Relationship Id="rId5" Type="http://schemas.openxmlformats.org/officeDocument/2006/relationships/image" Target="../media/image43.png"/><Relationship Id="rId6" Type="http://schemas.openxmlformats.org/officeDocument/2006/relationships/image" Target="../media/image32.pn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48.png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59.pn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13.pn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13.png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70.png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53.png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4.xml"/><Relationship Id="rId3" Type="http://schemas.openxmlformats.org/officeDocument/2006/relationships/hyperlink" Target="https://austingwalters.com/wp-content/uploads/2014/10/binary-tree-1-creation.gif" TargetMode="External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6.xml"/><Relationship Id="rId3" Type="http://schemas.openxmlformats.org/officeDocument/2006/relationships/image" Target="../media/image67.png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3.xml"/><Relationship Id="rId3" Type="http://schemas.openxmlformats.org/officeDocument/2006/relationships/image" Target="../media/image53.png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6.xml"/><Relationship Id="rId3" Type="http://schemas.openxmlformats.org/officeDocument/2006/relationships/image" Target="../media/image55.png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7.xml"/><Relationship Id="rId3" Type="http://schemas.openxmlformats.org/officeDocument/2006/relationships/image" Target="../media/image61.png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0.xml"/><Relationship Id="rId3" Type="http://schemas.openxmlformats.org/officeDocument/2006/relationships/image" Target="../media/image50.png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1.xml"/><Relationship Id="rId3" Type="http://schemas.openxmlformats.org/officeDocument/2006/relationships/image" Target="../media/image56.png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2.xml"/><Relationship Id="rId3" Type="http://schemas.openxmlformats.org/officeDocument/2006/relationships/image" Target="../media/image56.png"/><Relationship Id="rId4" Type="http://schemas.openxmlformats.org/officeDocument/2006/relationships/image" Target="../media/image57.png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3.xml"/><Relationship Id="rId3" Type="http://schemas.openxmlformats.org/officeDocument/2006/relationships/image" Target="../media/image66.png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4.xml"/><Relationship Id="rId3" Type="http://schemas.openxmlformats.org/officeDocument/2006/relationships/image" Target="../media/image66.png"/><Relationship Id="rId4" Type="http://schemas.openxmlformats.org/officeDocument/2006/relationships/image" Target="../media/image62.png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5.xml"/><Relationship Id="rId3" Type="http://schemas.openxmlformats.org/officeDocument/2006/relationships/image" Target="../media/image73.png"/></Relationships>
</file>

<file path=ppt/slides/_rels/slide1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6.xml"/><Relationship Id="rId3" Type="http://schemas.openxmlformats.org/officeDocument/2006/relationships/image" Target="../media/image58.png"/></Relationships>
</file>

<file path=ppt/slides/_rels/slide1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7.xml"/><Relationship Id="rId3" Type="http://schemas.openxmlformats.org/officeDocument/2006/relationships/image" Target="../media/image63.png"/></Relationships>
</file>

<file path=ppt/slides/_rels/slide1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9.xml"/><Relationship Id="rId3" Type="http://schemas.openxmlformats.org/officeDocument/2006/relationships/image" Target="../media/image60.png"/></Relationships>
</file>

<file path=ppt/slides/_rels/slide1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0.xml"/><Relationship Id="rId3" Type="http://schemas.openxmlformats.org/officeDocument/2006/relationships/image" Target="../media/image69.png"/></Relationships>
</file>

<file path=ppt/slides/_rels/slide1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1.xml"/><Relationship Id="rId3" Type="http://schemas.openxmlformats.org/officeDocument/2006/relationships/image" Target="../media/image69.png"/></Relationships>
</file>

<file path=ppt/slides/_rels/slide1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3.xml"/><Relationship Id="rId3" Type="http://schemas.openxmlformats.org/officeDocument/2006/relationships/image" Target="../media/image71.png"/></Relationships>
</file>

<file path=ppt/slides/_rels/slide1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"/>
          <p:cNvSpPr txBox="1"/>
          <p:nvPr>
            <p:ph type="ctrTitle"/>
          </p:nvPr>
        </p:nvSpPr>
        <p:spPr>
          <a:xfrm>
            <a:off x="4733365" y="2708476"/>
            <a:ext cx="3313355" cy="1702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entury Gothic"/>
              <a:buNone/>
            </a:pPr>
            <a:r>
              <a:rPr lang="en-IN"/>
              <a:t>Trees</a:t>
            </a:r>
            <a:endParaRPr/>
          </a:p>
        </p:txBody>
      </p:sp>
      <p:sp>
        <p:nvSpPr>
          <p:cNvPr id="260" name="Google Shape;260;p1"/>
          <p:cNvSpPr txBox="1"/>
          <p:nvPr>
            <p:ph idx="1" type="subTitle"/>
          </p:nvPr>
        </p:nvSpPr>
        <p:spPr>
          <a:xfrm>
            <a:off x="4733365" y="4421080"/>
            <a:ext cx="3309803" cy="12606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368"/>
              <a:buNone/>
            </a:pPr>
            <a:r>
              <a:rPr lang="en-IN"/>
              <a:t>3.1</a:t>
            </a:r>
            <a:endParaRPr/>
          </a:p>
        </p:txBody>
      </p:sp>
      <p:sp>
        <p:nvSpPr>
          <p:cNvPr id="261" name="Google Shape;261;p1"/>
          <p:cNvSpPr txBox="1"/>
          <p:nvPr>
            <p:ph idx="10" type="dt"/>
          </p:nvPr>
        </p:nvSpPr>
        <p:spPr>
          <a:xfrm>
            <a:off x="4738744" y="1516828"/>
            <a:ext cx="2133600" cy="7509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262" name="Google Shape;262;p1"/>
          <p:cNvSpPr txBox="1"/>
          <p:nvPr>
            <p:ph idx="11" type="ftr"/>
          </p:nvPr>
        </p:nvSpPr>
        <p:spPr>
          <a:xfrm>
            <a:off x="5303520" y="5719966"/>
            <a:ext cx="28315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263" name="Google Shape;263;p1"/>
          <p:cNvSpPr txBox="1"/>
          <p:nvPr>
            <p:ph idx="12" type="sldNum"/>
          </p:nvPr>
        </p:nvSpPr>
        <p:spPr>
          <a:xfrm>
            <a:off x="4649096" y="5719966"/>
            <a:ext cx="64366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"/>
          <p:cNvSpPr txBox="1"/>
          <p:nvPr>
            <p:ph type="title"/>
          </p:nvPr>
        </p:nvSpPr>
        <p:spPr>
          <a:xfrm>
            <a:off x="971600" y="332656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</a:pPr>
            <a:r>
              <a:rPr lang="en-IN"/>
              <a:t>Tree</a:t>
            </a:r>
            <a:endParaRPr/>
          </a:p>
        </p:txBody>
      </p:sp>
      <p:sp>
        <p:nvSpPr>
          <p:cNvPr id="269" name="Google Shape;269;p2"/>
          <p:cNvSpPr txBox="1"/>
          <p:nvPr>
            <p:ph idx="1" type="body"/>
          </p:nvPr>
        </p:nvSpPr>
        <p:spPr>
          <a:xfrm>
            <a:off x="1043608" y="1844824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 u="sng"/>
              <a:t>Non-linear data structure 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Used to represent </a:t>
            </a:r>
            <a:r>
              <a:rPr b="1" lang="en-IN" sz="2000" u="sng"/>
              <a:t>hierarchical relationship among several data items</a:t>
            </a:r>
            <a:endParaRPr/>
          </a:p>
        </p:txBody>
      </p:sp>
      <p:sp>
        <p:nvSpPr>
          <p:cNvPr id="270" name="Google Shape;270;p2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271" name="Google Shape;271;p2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272" name="Google Shape;272;p2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"/>
          <p:cNvSpPr txBox="1"/>
          <p:nvPr>
            <p:ph type="title"/>
          </p:nvPr>
        </p:nvSpPr>
        <p:spPr>
          <a:xfrm>
            <a:off x="971600" y="332656"/>
            <a:ext cx="7024744" cy="5760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lang="en-IN"/>
              <a:t>Tree</a:t>
            </a:r>
            <a:endParaRPr/>
          </a:p>
        </p:txBody>
      </p:sp>
      <p:sp>
        <p:nvSpPr>
          <p:cNvPr id="278" name="Google Shape;278;p3"/>
          <p:cNvSpPr txBox="1"/>
          <p:nvPr>
            <p:ph idx="1" type="body"/>
          </p:nvPr>
        </p:nvSpPr>
        <p:spPr>
          <a:xfrm>
            <a:off x="1043608" y="980728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Represents Hierarchy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For eg- The organization structure of an Corporation</a:t>
            </a:r>
            <a:endParaRPr/>
          </a:p>
        </p:txBody>
      </p:sp>
      <p:pic>
        <p:nvPicPr>
          <p:cNvPr id="279" name="Google Shape;279;p3"/>
          <p:cNvPicPr preferRelativeResize="0"/>
          <p:nvPr/>
        </p:nvPicPr>
        <p:blipFill rotWithShape="1">
          <a:blip r:embed="rId3">
            <a:alphaModFix/>
          </a:blip>
          <a:srcRect b="3376" l="2551" r="7951" t="6341"/>
          <a:stretch/>
        </p:blipFill>
        <p:spPr>
          <a:xfrm>
            <a:off x="611560" y="2132856"/>
            <a:ext cx="7920880" cy="4248472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3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281" name="Google Shape;281;p3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282" name="Google Shape;282;p3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"/>
          <p:cNvSpPr txBox="1"/>
          <p:nvPr>
            <p:ph type="title"/>
          </p:nvPr>
        </p:nvSpPr>
        <p:spPr>
          <a:xfrm>
            <a:off x="971600" y="332656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</a:pPr>
            <a:r>
              <a:rPr lang="en-IN"/>
              <a:t>Tree</a:t>
            </a:r>
            <a:endParaRPr/>
          </a:p>
        </p:txBody>
      </p:sp>
      <p:sp>
        <p:nvSpPr>
          <p:cNvPr id="288" name="Google Shape;288;p4"/>
          <p:cNvSpPr txBox="1"/>
          <p:nvPr>
            <p:ph idx="1" type="body"/>
          </p:nvPr>
        </p:nvSpPr>
        <p:spPr>
          <a:xfrm>
            <a:off x="1043608" y="1844824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Characteristics:</a:t>
            </a:r>
            <a:endParaRPr/>
          </a:p>
          <a:p>
            <a:pPr indent="-457200" lvl="0" marL="525780" rtl="0" algn="l">
              <a:spcBef>
                <a:spcPts val="400"/>
              </a:spcBef>
              <a:spcAft>
                <a:spcPts val="0"/>
              </a:spcAft>
              <a:buSzPts val="1520"/>
              <a:buFont typeface="Century Gothic"/>
              <a:buAutoNum type="arabicParenR"/>
            </a:pPr>
            <a:r>
              <a:rPr lang="en-IN" sz="2000"/>
              <a:t>There is a special data item called </a:t>
            </a:r>
            <a:r>
              <a:rPr b="1" lang="en-IN" sz="2000" u="sng"/>
              <a:t>root of the tree</a:t>
            </a:r>
            <a:endParaRPr/>
          </a:p>
          <a:p>
            <a:pPr indent="-457200" lvl="0" marL="525780" rtl="0" algn="l">
              <a:spcBef>
                <a:spcPts val="400"/>
              </a:spcBef>
              <a:spcAft>
                <a:spcPts val="0"/>
              </a:spcAft>
              <a:buSzPts val="1520"/>
              <a:buFont typeface="Century Gothic"/>
              <a:buAutoNum type="arabicParenR"/>
            </a:pPr>
            <a:r>
              <a:rPr lang="en-IN" sz="2000"/>
              <a:t>Remaining data items are partitioned into number of </a:t>
            </a:r>
            <a:r>
              <a:rPr b="1" lang="en-IN" sz="2000" u="sng"/>
              <a:t>mutually exclusive subsets</a:t>
            </a:r>
            <a:r>
              <a:rPr lang="en-IN" sz="2000"/>
              <a:t> , each of which is itself a tree, called subtrees</a:t>
            </a:r>
            <a:endParaRPr/>
          </a:p>
          <a:p>
            <a:pPr indent="-341376" lvl="0" marL="525780" rtl="0" algn="l">
              <a:spcBef>
                <a:spcPts val="480"/>
              </a:spcBef>
              <a:spcAft>
                <a:spcPts val="0"/>
              </a:spcAft>
              <a:buSzPts val="1824"/>
              <a:buFont typeface="Century Gothic"/>
              <a:buNone/>
            </a:pPr>
            <a:r>
              <a:t/>
            </a:r>
            <a:endParaRPr/>
          </a:p>
        </p:txBody>
      </p:sp>
      <p:pic>
        <p:nvPicPr>
          <p:cNvPr descr="Binary Trees" id="289" name="Google Shape;28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5736" y="3861048"/>
            <a:ext cx="4743450" cy="24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4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291" name="Google Shape;291;p4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292" name="Google Shape;292;p4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5"/>
          <p:cNvSpPr txBox="1"/>
          <p:nvPr>
            <p:ph type="title"/>
          </p:nvPr>
        </p:nvSpPr>
        <p:spPr>
          <a:xfrm>
            <a:off x="971600" y="332656"/>
            <a:ext cx="7024744" cy="5760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lang="en-IN"/>
              <a:t>Tree</a:t>
            </a:r>
            <a:endParaRPr/>
          </a:p>
        </p:txBody>
      </p:sp>
      <p:sp>
        <p:nvSpPr>
          <p:cNvPr id="298" name="Google Shape;298;p5"/>
          <p:cNvSpPr txBox="1"/>
          <p:nvPr>
            <p:ph idx="1" type="body"/>
          </p:nvPr>
        </p:nvSpPr>
        <p:spPr>
          <a:xfrm>
            <a:off x="467544" y="887413"/>
            <a:ext cx="6777317" cy="4341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lang="en-IN" sz="2000"/>
              <a:t>Basic Terminology-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Root-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Font typeface="Noto Sans Symbols"/>
              <a:buChar char="⮚"/>
            </a:pPr>
            <a:r>
              <a:rPr lang="en-IN" sz="1800"/>
              <a:t>Special Node in a tree structure.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Font typeface="Noto Sans Symbols"/>
              <a:buChar char="⮚"/>
            </a:pPr>
            <a:r>
              <a:rPr lang="en-IN" sz="1800"/>
              <a:t>Entire tree is referenced through it.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Font typeface="Noto Sans Symbols"/>
              <a:buChar char="⮚"/>
            </a:pPr>
            <a:r>
              <a:rPr lang="en-IN" sz="1800"/>
              <a:t>First in the hierarchal arrangement</a:t>
            </a:r>
            <a:endParaRPr/>
          </a:p>
          <a:p>
            <a:pPr indent="0" lvl="1" marL="36576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b="1" sz="1800" u="sng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</p:txBody>
      </p:sp>
      <p:sp>
        <p:nvSpPr>
          <p:cNvPr descr="Tree implementation in Java (root, parents and children) - Stack Overflow" id="299" name="Google Shape;299;p5"/>
          <p:cNvSpPr/>
          <p:nvPr/>
        </p:nvSpPr>
        <p:spPr>
          <a:xfrm>
            <a:off x="155575" y="-808038"/>
            <a:ext cx="2705100" cy="16954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00" name="Google Shape;30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36096" y="1196752"/>
            <a:ext cx="3024336" cy="3096344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5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302" name="Google Shape;302;p5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303" name="Google Shape;303;p5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6"/>
          <p:cNvSpPr txBox="1"/>
          <p:nvPr>
            <p:ph type="title"/>
          </p:nvPr>
        </p:nvSpPr>
        <p:spPr>
          <a:xfrm>
            <a:off x="971600" y="332656"/>
            <a:ext cx="7024744" cy="5760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lang="en-IN"/>
              <a:t>Tree</a:t>
            </a:r>
            <a:endParaRPr/>
          </a:p>
        </p:txBody>
      </p:sp>
      <p:sp>
        <p:nvSpPr>
          <p:cNvPr id="309" name="Google Shape;309;p6"/>
          <p:cNvSpPr txBox="1"/>
          <p:nvPr>
            <p:ph idx="1" type="body"/>
          </p:nvPr>
        </p:nvSpPr>
        <p:spPr>
          <a:xfrm>
            <a:off x="467545" y="887413"/>
            <a:ext cx="4824536" cy="4341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lang="en-IN" sz="2000"/>
              <a:t>Basic Terminology-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Node-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Font typeface="Noto Sans Symbols"/>
              <a:buChar char="⮚"/>
            </a:pPr>
            <a:r>
              <a:rPr lang="en-IN" sz="1800"/>
              <a:t>Each data item in a tree.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Font typeface="Noto Sans Symbols"/>
              <a:buChar char="⮚"/>
            </a:pPr>
            <a:r>
              <a:rPr lang="en-IN" sz="1800"/>
              <a:t>Specifies the data and links to other data items</a:t>
            </a:r>
            <a:endParaRPr/>
          </a:p>
        </p:txBody>
      </p:sp>
      <p:sp>
        <p:nvSpPr>
          <p:cNvPr descr="Tree implementation in Java (root, parents and children) - Stack Overflow" id="310" name="Google Shape;310;p6"/>
          <p:cNvSpPr/>
          <p:nvPr/>
        </p:nvSpPr>
        <p:spPr>
          <a:xfrm>
            <a:off x="155575" y="-808038"/>
            <a:ext cx="2705100" cy="16954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11" name="Google Shape;31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36096" y="1196752"/>
            <a:ext cx="3024336" cy="3096344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6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313" name="Google Shape;313;p6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314" name="Google Shape;314;p6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7"/>
          <p:cNvSpPr txBox="1"/>
          <p:nvPr>
            <p:ph type="title"/>
          </p:nvPr>
        </p:nvSpPr>
        <p:spPr>
          <a:xfrm>
            <a:off x="971600" y="332656"/>
            <a:ext cx="7024744" cy="5760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lang="en-IN"/>
              <a:t>Tree</a:t>
            </a:r>
            <a:endParaRPr/>
          </a:p>
        </p:txBody>
      </p:sp>
      <p:sp>
        <p:nvSpPr>
          <p:cNvPr id="320" name="Google Shape;320;p7"/>
          <p:cNvSpPr txBox="1"/>
          <p:nvPr>
            <p:ph idx="1" type="body"/>
          </p:nvPr>
        </p:nvSpPr>
        <p:spPr>
          <a:xfrm>
            <a:off x="971600" y="1124744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lang="en-IN" sz="2000"/>
              <a:t>Basic Terminology-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Parent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Font typeface="Noto Sans Symbols"/>
              <a:buChar char="⮚"/>
            </a:pPr>
            <a:r>
              <a:rPr lang="en-IN" sz="1800"/>
              <a:t>Immediate predecessor of a node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Child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Font typeface="Noto Sans Symbols"/>
              <a:buChar char="⮚"/>
            </a:pPr>
            <a:r>
              <a:rPr lang="en-IN" sz="1800"/>
              <a:t>Immediate successor of a node</a:t>
            </a:r>
            <a:endParaRPr/>
          </a:p>
          <a:p>
            <a:pPr indent="-187452" lvl="1" marL="640080" rtl="0" algn="l">
              <a:spcBef>
                <a:spcPts val="360"/>
              </a:spcBef>
              <a:spcAft>
                <a:spcPts val="0"/>
              </a:spcAft>
              <a:buSzPts val="1368"/>
              <a:buFont typeface="Noto Sans Symbols"/>
              <a:buNone/>
            </a:pPr>
            <a:r>
              <a:t/>
            </a:r>
            <a:endParaRPr sz="18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Siblings-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Font typeface="Noto Sans Symbols"/>
              <a:buChar char="⮚"/>
            </a:pPr>
            <a:r>
              <a:rPr lang="en-IN" sz="1800"/>
              <a:t>Nodes with the same parent</a:t>
            </a:r>
            <a:endParaRPr/>
          </a:p>
          <a:p>
            <a:pPr indent="-168148" lvl="1" marL="640080" rtl="0" algn="l">
              <a:spcBef>
                <a:spcPts val="440"/>
              </a:spcBef>
              <a:spcAft>
                <a:spcPts val="0"/>
              </a:spcAft>
              <a:buSzPts val="1672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descr="Tree implementation in Java (root, parents and children) - Stack Overflow" id="321" name="Google Shape;321;p7"/>
          <p:cNvSpPr/>
          <p:nvPr/>
        </p:nvSpPr>
        <p:spPr>
          <a:xfrm>
            <a:off x="155575" y="-808038"/>
            <a:ext cx="2705100" cy="16954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22" name="Google Shape;32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2040" y="3573016"/>
            <a:ext cx="3672408" cy="2447217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7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324" name="Google Shape;324;p7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325" name="Google Shape;325;p7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8"/>
          <p:cNvSpPr txBox="1"/>
          <p:nvPr>
            <p:ph type="title"/>
          </p:nvPr>
        </p:nvSpPr>
        <p:spPr>
          <a:xfrm>
            <a:off x="971600" y="332656"/>
            <a:ext cx="7024744" cy="5760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lang="en-IN"/>
              <a:t>Tree</a:t>
            </a:r>
            <a:endParaRPr/>
          </a:p>
        </p:txBody>
      </p:sp>
      <p:sp>
        <p:nvSpPr>
          <p:cNvPr id="331" name="Google Shape;331;p8"/>
          <p:cNvSpPr txBox="1"/>
          <p:nvPr>
            <p:ph idx="1" type="body"/>
          </p:nvPr>
        </p:nvSpPr>
        <p:spPr>
          <a:xfrm>
            <a:off x="827584" y="887413"/>
            <a:ext cx="7416824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lang="en-IN" sz="2000"/>
              <a:t>Basic Terminology-</a:t>
            </a:r>
            <a:endParaRPr/>
          </a:p>
          <a:p>
            <a:pPr indent="0" lvl="1" marL="36576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b="1" sz="1800" u="sng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Depth/Level-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Font typeface="Noto Sans Symbols"/>
              <a:buChar char="⮚"/>
            </a:pPr>
            <a:r>
              <a:rPr lang="en-IN" sz="1800"/>
              <a:t>Root Node is always at Level 0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Font typeface="Noto Sans Symbols"/>
              <a:buChar char="⮚"/>
            </a:pPr>
            <a:r>
              <a:rPr lang="en-IN" sz="1800"/>
              <a:t>Its immediate successor are Level 1,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Font typeface="Noto Sans Symbols"/>
              <a:buChar char="⮚"/>
            </a:pPr>
            <a:r>
              <a:rPr lang="en-IN" sz="1800"/>
              <a:t>Their Successor at level 2 and so on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Font typeface="Noto Sans Symbols"/>
              <a:buChar char="⮚"/>
            </a:pPr>
            <a:r>
              <a:rPr lang="en-IN" sz="1800"/>
              <a:t>If a node is at Level n then its children will be at Level n+1</a:t>
            </a:r>
            <a:endParaRPr/>
          </a:p>
          <a:p>
            <a:pPr indent="-187452" lvl="1" marL="640080" rtl="0" algn="l">
              <a:spcBef>
                <a:spcPts val="360"/>
              </a:spcBef>
              <a:spcAft>
                <a:spcPts val="0"/>
              </a:spcAft>
              <a:buSzPts val="1368"/>
              <a:buFont typeface="Noto Sans Symbols"/>
              <a:buNone/>
            </a:pPr>
            <a:r>
              <a:t/>
            </a:r>
            <a:endParaRPr sz="1800"/>
          </a:p>
        </p:txBody>
      </p:sp>
      <p:sp>
        <p:nvSpPr>
          <p:cNvPr descr="Tree implementation in Java (root, parents and children) - Stack Overflow" id="332" name="Google Shape;332;p8"/>
          <p:cNvSpPr/>
          <p:nvPr/>
        </p:nvSpPr>
        <p:spPr>
          <a:xfrm>
            <a:off x="155575" y="-808038"/>
            <a:ext cx="2705100" cy="16954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Find the maximum node at a given level in a binary tree - GeeksforGeeks" id="333" name="Google Shape;33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5616" y="3356992"/>
            <a:ext cx="6912768" cy="2808312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8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335" name="Google Shape;335;p8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336" name="Google Shape;336;p8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9"/>
          <p:cNvSpPr txBox="1"/>
          <p:nvPr>
            <p:ph type="title"/>
          </p:nvPr>
        </p:nvSpPr>
        <p:spPr>
          <a:xfrm>
            <a:off x="971600" y="332656"/>
            <a:ext cx="7024744" cy="5760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lang="en-IN"/>
              <a:t>Tree</a:t>
            </a:r>
            <a:endParaRPr/>
          </a:p>
        </p:txBody>
      </p:sp>
      <p:sp>
        <p:nvSpPr>
          <p:cNvPr id="342" name="Google Shape;342;p9"/>
          <p:cNvSpPr txBox="1"/>
          <p:nvPr>
            <p:ph idx="1" type="body"/>
          </p:nvPr>
        </p:nvSpPr>
        <p:spPr>
          <a:xfrm>
            <a:off x="827584" y="887413"/>
            <a:ext cx="7416824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lang="en-IN" sz="2000"/>
              <a:t>Basic Terminology-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Height -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Font typeface="Noto Sans Symbols"/>
              <a:buChar char="⮚"/>
            </a:pPr>
            <a:r>
              <a:rPr lang="en-IN" sz="1800"/>
              <a:t>Maximum level of any leaf in the tree.</a:t>
            </a:r>
            <a:endParaRPr/>
          </a:p>
        </p:txBody>
      </p:sp>
      <p:sp>
        <p:nvSpPr>
          <p:cNvPr descr="Tree implementation in Java (root, parents and children) - Stack Overflow" id="343" name="Google Shape;343;p9"/>
          <p:cNvSpPr/>
          <p:nvPr/>
        </p:nvSpPr>
        <p:spPr>
          <a:xfrm>
            <a:off x="155575" y="-808038"/>
            <a:ext cx="2705100" cy="16954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44" name="Google Shape;34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3688" y="2452688"/>
            <a:ext cx="5472608" cy="3280568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9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346" name="Google Shape;346;p9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347" name="Google Shape;347;p9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0"/>
          <p:cNvSpPr txBox="1"/>
          <p:nvPr>
            <p:ph type="title"/>
          </p:nvPr>
        </p:nvSpPr>
        <p:spPr>
          <a:xfrm>
            <a:off x="971600" y="332656"/>
            <a:ext cx="7024744" cy="5760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lang="en-IN"/>
              <a:t>Tree</a:t>
            </a:r>
            <a:endParaRPr/>
          </a:p>
        </p:txBody>
      </p:sp>
      <p:sp>
        <p:nvSpPr>
          <p:cNvPr id="353" name="Google Shape;353;p10"/>
          <p:cNvSpPr txBox="1"/>
          <p:nvPr>
            <p:ph idx="1" type="body"/>
          </p:nvPr>
        </p:nvSpPr>
        <p:spPr>
          <a:xfrm>
            <a:off x="971600" y="1124744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lang="en-IN" sz="2000"/>
              <a:t>Basic Terminology-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Edge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Font typeface="Noto Sans Symbols"/>
              <a:buChar char="⮚"/>
            </a:pPr>
            <a:r>
              <a:rPr lang="en-IN" sz="1800"/>
              <a:t>Line drawn from one node to other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Path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Font typeface="Noto Sans Symbols"/>
              <a:buChar char="⮚"/>
            </a:pPr>
            <a:r>
              <a:rPr lang="en-IN" sz="1800"/>
              <a:t>Sequence of consecutive edges from the source node to the destination node</a:t>
            </a:r>
            <a:endParaRPr/>
          </a:p>
          <a:p>
            <a:pPr indent="-168148" lvl="1" marL="640080" rtl="0" algn="l">
              <a:spcBef>
                <a:spcPts val="440"/>
              </a:spcBef>
              <a:spcAft>
                <a:spcPts val="0"/>
              </a:spcAft>
              <a:buSzPts val="1672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descr="Tree implementation in Java (root, parents and children) - Stack Overflow" id="354" name="Google Shape;354;p10"/>
          <p:cNvSpPr/>
          <p:nvPr/>
        </p:nvSpPr>
        <p:spPr>
          <a:xfrm>
            <a:off x="155575" y="-808038"/>
            <a:ext cx="2705100" cy="16954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55" name="Google Shape;35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3688" y="3573016"/>
            <a:ext cx="5248275" cy="222885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10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357" name="Google Shape;357;p10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358" name="Google Shape;358;p10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1"/>
          <p:cNvSpPr txBox="1"/>
          <p:nvPr>
            <p:ph type="title"/>
          </p:nvPr>
        </p:nvSpPr>
        <p:spPr>
          <a:xfrm>
            <a:off x="971600" y="332656"/>
            <a:ext cx="7024744" cy="5760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lang="en-IN"/>
              <a:t>Tree</a:t>
            </a:r>
            <a:endParaRPr/>
          </a:p>
        </p:txBody>
      </p:sp>
      <p:sp>
        <p:nvSpPr>
          <p:cNvPr id="364" name="Google Shape;364;p11"/>
          <p:cNvSpPr txBox="1"/>
          <p:nvPr>
            <p:ph idx="1" type="body"/>
          </p:nvPr>
        </p:nvSpPr>
        <p:spPr>
          <a:xfrm>
            <a:off x="971600" y="1124744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lang="en-IN" sz="2000"/>
              <a:t>Basic Terminology-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Degree of a Node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Font typeface="Noto Sans Symbols"/>
              <a:buChar char="⮚"/>
            </a:pPr>
            <a:r>
              <a:rPr lang="en-IN" sz="1800"/>
              <a:t>Number of subtrees of a node in a given tree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Degree of a Tree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Font typeface="Noto Sans Symbols"/>
              <a:buChar char="⮚"/>
            </a:pPr>
            <a:r>
              <a:rPr lang="en-IN" sz="1800"/>
              <a:t>The maximum degree of nodes in a given tree</a:t>
            </a:r>
            <a:endParaRPr sz="1800"/>
          </a:p>
          <a:p>
            <a:pPr indent="-177800" lvl="1" marL="640080" rtl="0" algn="l">
              <a:spcBef>
                <a:spcPts val="400"/>
              </a:spcBef>
              <a:spcAft>
                <a:spcPts val="0"/>
              </a:spcAft>
              <a:buSzPts val="1520"/>
              <a:buFont typeface="Noto Sans Symbols"/>
              <a:buNone/>
            </a:pPr>
            <a:r>
              <a:t/>
            </a:r>
            <a:endParaRPr sz="2000"/>
          </a:p>
        </p:txBody>
      </p:sp>
      <p:sp>
        <p:nvSpPr>
          <p:cNvPr descr="Tree implementation in Java (root, parents and children) - Stack Overflow" id="365" name="Google Shape;365;p11"/>
          <p:cNvSpPr/>
          <p:nvPr/>
        </p:nvSpPr>
        <p:spPr>
          <a:xfrm>
            <a:off x="155575" y="-808038"/>
            <a:ext cx="2705100" cy="16954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66" name="Google Shape;36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9592" y="3789040"/>
            <a:ext cx="6768752" cy="2232248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11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368" name="Google Shape;368;p11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369" name="Google Shape;369;p11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2"/>
          <p:cNvSpPr txBox="1"/>
          <p:nvPr>
            <p:ph type="title"/>
          </p:nvPr>
        </p:nvSpPr>
        <p:spPr>
          <a:xfrm>
            <a:off x="971600" y="332656"/>
            <a:ext cx="7024744" cy="5760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lang="en-IN"/>
              <a:t>Tree</a:t>
            </a:r>
            <a:endParaRPr/>
          </a:p>
        </p:txBody>
      </p:sp>
      <p:sp>
        <p:nvSpPr>
          <p:cNvPr id="375" name="Google Shape;375;p12"/>
          <p:cNvSpPr txBox="1"/>
          <p:nvPr>
            <p:ph idx="1" type="body"/>
          </p:nvPr>
        </p:nvSpPr>
        <p:spPr>
          <a:xfrm>
            <a:off x="971600" y="1124744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lang="en-IN" sz="2000"/>
              <a:t>Basic Terminology-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Teminal Node/Leaf</a:t>
            </a:r>
            <a:endParaRPr sz="2000"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Font typeface="Noto Sans Symbols"/>
              <a:buChar char="⮚"/>
            </a:pPr>
            <a:r>
              <a:rPr lang="en-IN" sz="1800"/>
              <a:t>Any node whose degree is 0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Non-Terminal Node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Font typeface="Noto Sans Symbols"/>
              <a:buChar char="⮚"/>
            </a:pPr>
            <a:r>
              <a:rPr lang="en-IN" sz="1800"/>
              <a:t>Any node whose degree is Non-Zero</a:t>
            </a:r>
            <a:endParaRPr sz="1800"/>
          </a:p>
          <a:p>
            <a:pPr indent="-177800" lvl="1" marL="640080" rtl="0" algn="l">
              <a:spcBef>
                <a:spcPts val="400"/>
              </a:spcBef>
              <a:spcAft>
                <a:spcPts val="0"/>
              </a:spcAft>
              <a:buSzPts val="1520"/>
              <a:buFont typeface="Noto Sans Symbols"/>
              <a:buNone/>
            </a:pPr>
            <a:r>
              <a:t/>
            </a:r>
            <a:endParaRPr sz="2000"/>
          </a:p>
        </p:txBody>
      </p:sp>
      <p:sp>
        <p:nvSpPr>
          <p:cNvPr descr="Tree implementation in Java (root, parents and children) - Stack Overflow" id="376" name="Google Shape;376;p12"/>
          <p:cNvSpPr/>
          <p:nvPr/>
        </p:nvSpPr>
        <p:spPr>
          <a:xfrm>
            <a:off x="155575" y="-808038"/>
            <a:ext cx="2705100" cy="16954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Data Struct &amp; Algorithm Programming Note by CYCU member: Non-Recursive  Binary Search tree implement in C++" id="377" name="Google Shape;37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8125" y="3212977"/>
            <a:ext cx="5440139" cy="2592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12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379" name="Google Shape;379;p12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380" name="Google Shape;380;p12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3"/>
          <p:cNvSpPr txBox="1"/>
          <p:nvPr>
            <p:ph type="title"/>
          </p:nvPr>
        </p:nvSpPr>
        <p:spPr>
          <a:xfrm>
            <a:off x="971600" y="332656"/>
            <a:ext cx="7024744" cy="5760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lang="en-IN"/>
              <a:t>Tree</a:t>
            </a:r>
            <a:endParaRPr/>
          </a:p>
        </p:txBody>
      </p:sp>
      <p:sp>
        <p:nvSpPr>
          <p:cNvPr id="386" name="Google Shape;386;p13"/>
          <p:cNvSpPr txBox="1"/>
          <p:nvPr>
            <p:ph idx="1" type="body"/>
          </p:nvPr>
        </p:nvSpPr>
        <p:spPr>
          <a:xfrm>
            <a:off x="971600" y="1124744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lang="en-IN" sz="2000"/>
              <a:t>Basic Terminology-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Forest </a:t>
            </a:r>
            <a:endParaRPr sz="2000"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Font typeface="Noto Sans Symbols"/>
              <a:buChar char="⮚"/>
            </a:pPr>
            <a:r>
              <a:rPr lang="en-IN" sz="1800"/>
              <a:t>Set of Disjoint trees, 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Font typeface="Noto Sans Symbols"/>
              <a:buChar char="⮚"/>
            </a:pPr>
            <a:r>
              <a:rPr lang="en-IN" sz="1800"/>
              <a:t>If you remove the Root node, it becomes forest.</a:t>
            </a:r>
            <a:endParaRPr sz="2000"/>
          </a:p>
        </p:txBody>
      </p:sp>
      <p:sp>
        <p:nvSpPr>
          <p:cNvPr descr="Tree implementation in Java (root, parents and children) - Stack Overflow" id="387" name="Google Shape;387;p13"/>
          <p:cNvSpPr/>
          <p:nvPr/>
        </p:nvSpPr>
        <p:spPr>
          <a:xfrm>
            <a:off x="155575" y="-808038"/>
            <a:ext cx="2705100" cy="16954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Convert a tree to forest of even nodes - GeeksforGeeks" id="388" name="Google Shape;38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5736" y="2780928"/>
            <a:ext cx="3638550" cy="2486026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13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390" name="Google Shape;390;p13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391" name="Google Shape;391;p13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4"/>
          <p:cNvSpPr txBox="1"/>
          <p:nvPr>
            <p:ph type="title"/>
          </p:nvPr>
        </p:nvSpPr>
        <p:spPr>
          <a:xfrm>
            <a:off x="1043490" y="1027664"/>
            <a:ext cx="7024744" cy="601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lang="en-IN"/>
              <a:t>Binary Tree</a:t>
            </a:r>
            <a:endParaRPr/>
          </a:p>
        </p:txBody>
      </p:sp>
      <p:sp>
        <p:nvSpPr>
          <p:cNvPr id="397" name="Google Shape;397;p14"/>
          <p:cNvSpPr txBox="1"/>
          <p:nvPr>
            <p:ph idx="1" type="body"/>
          </p:nvPr>
        </p:nvSpPr>
        <p:spPr>
          <a:xfrm>
            <a:off x="1043608" y="1628800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A binary tree is a finite set of nodes:</a:t>
            </a:r>
            <a:endParaRPr/>
          </a:p>
          <a:p>
            <a:pPr indent="-457200" lvl="0" marL="525780" rtl="0" algn="l">
              <a:spcBef>
                <a:spcPts val="400"/>
              </a:spcBef>
              <a:spcAft>
                <a:spcPts val="0"/>
              </a:spcAft>
              <a:buSzPts val="1520"/>
              <a:buFont typeface="Century Gothic"/>
              <a:buAutoNum type="arabicParenR"/>
            </a:pPr>
            <a:r>
              <a:rPr lang="en-IN" sz="2000"/>
              <a:t>It is either empty or</a:t>
            </a:r>
            <a:endParaRPr/>
          </a:p>
          <a:p>
            <a:pPr indent="-457200" lvl="0" marL="525780" rtl="0" algn="l">
              <a:spcBef>
                <a:spcPts val="400"/>
              </a:spcBef>
              <a:spcAft>
                <a:spcPts val="0"/>
              </a:spcAft>
              <a:buSzPts val="1520"/>
              <a:buFont typeface="Century Gothic"/>
              <a:buAutoNum type="arabicParenR"/>
            </a:pPr>
            <a:r>
              <a:rPr lang="en-IN" sz="2000"/>
              <a:t>It consists a node called root with two disjoint binary trees-</a:t>
            </a:r>
            <a:endParaRPr/>
          </a:p>
          <a:p>
            <a:pPr indent="-274320" lvl="1" marL="64008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Left subtree</a:t>
            </a:r>
            <a:endParaRPr/>
          </a:p>
          <a:p>
            <a:pPr indent="-274320" lvl="1" marL="64008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Right subtree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="1"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="1" sz="2000"/>
          </a:p>
        </p:txBody>
      </p:sp>
      <p:sp>
        <p:nvSpPr>
          <p:cNvPr descr="Types of Binary Tree | Binary Tree Introduction | Code Pumpkin" id="398" name="Google Shape;398;p14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99" name="Google Shape;399;p14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400" name="Google Shape;400;p14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401" name="Google Shape;401;p14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5"/>
          <p:cNvSpPr txBox="1"/>
          <p:nvPr>
            <p:ph type="title"/>
          </p:nvPr>
        </p:nvSpPr>
        <p:spPr>
          <a:xfrm>
            <a:off x="1043490" y="1027664"/>
            <a:ext cx="7024744" cy="601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lang="en-IN"/>
              <a:t>Binary Tree</a:t>
            </a:r>
            <a:endParaRPr/>
          </a:p>
        </p:txBody>
      </p:sp>
      <p:sp>
        <p:nvSpPr>
          <p:cNvPr id="407" name="Google Shape;407;p15"/>
          <p:cNvSpPr txBox="1"/>
          <p:nvPr>
            <p:ph idx="1" type="body"/>
          </p:nvPr>
        </p:nvSpPr>
        <p:spPr>
          <a:xfrm>
            <a:off x="1043608" y="1628800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7800" lvl="0" marL="34290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/>
              <a:t>The Maximum degree of any node is 2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/>
              <a:t>Ordered tree with all nodes having at most 2 children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="1" sz="2000"/>
          </a:p>
        </p:txBody>
      </p:sp>
      <p:sp>
        <p:nvSpPr>
          <p:cNvPr descr="Types of Binary Tree | Binary Tree Introduction | Code Pumpkin" id="408" name="Google Shape;408;p15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09" name="Google Shape;409;p15"/>
          <p:cNvSpPr/>
          <p:nvPr/>
        </p:nvSpPr>
        <p:spPr>
          <a:xfrm>
            <a:off x="1043608" y="1844824"/>
            <a:ext cx="6552728" cy="792088"/>
          </a:xfrm>
          <a:prstGeom prst="frame">
            <a:avLst>
              <a:gd fmla="val 12500" name="adj1"/>
            </a:avLst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10" name="Google Shape;410;p15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411" name="Google Shape;411;p15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412" name="Google Shape;412;p15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6"/>
          <p:cNvSpPr txBox="1"/>
          <p:nvPr>
            <p:ph type="title"/>
          </p:nvPr>
        </p:nvSpPr>
        <p:spPr>
          <a:xfrm>
            <a:off x="1043490" y="1027664"/>
            <a:ext cx="7024744" cy="601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lang="en-IN"/>
              <a:t>Binary Tree</a:t>
            </a:r>
            <a:endParaRPr/>
          </a:p>
        </p:txBody>
      </p:sp>
      <p:sp>
        <p:nvSpPr>
          <p:cNvPr id="418" name="Google Shape;418;p16"/>
          <p:cNvSpPr txBox="1"/>
          <p:nvPr>
            <p:ph idx="1" type="body"/>
          </p:nvPr>
        </p:nvSpPr>
        <p:spPr>
          <a:xfrm>
            <a:off x="1043608" y="1628800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68148" lvl="1" marL="640080" rtl="0" algn="l">
              <a:spcBef>
                <a:spcPts val="0"/>
              </a:spcBef>
              <a:spcAft>
                <a:spcPts val="0"/>
              </a:spcAft>
              <a:buSzPts val="1672"/>
              <a:buNone/>
            </a:pPr>
            <a:r>
              <a:t/>
            </a:r>
            <a:endParaRPr/>
          </a:p>
        </p:txBody>
      </p:sp>
      <p:sp>
        <p:nvSpPr>
          <p:cNvPr descr="Types of Binary Tree | Binary Tree Introduction | Code Pumpkin" id="419" name="Google Shape;419;p16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20" name="Google Shape;420;p16"/>
          <p:cNvPicPr preferRelativeResize="0"/>
          <p:nvPr/>
        </p:nvPicPr>
        <p:blipFill rotWithShape="1">
          <a:blip r:embed="rId3">
            <a:alphaModFix/>
          </a:blip>
          <a:srcRect b="25101" l="0" r="0" t="0"/>
          <a:stretch/>
        </p:blipFill>
        <p:spPr>
          <a:xfrm>
            <a:off x="971600" y="1628800"/>
            <a:ext cx="6840760" cy="3528392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16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422" name="Google Shape;422;p16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423" name="Google Shape;423;p16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7"/>
          <p:cNvSpPr txBox="1"/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</a:pPr>
            <a:r>
              <a:rPr lang="en-IN"/>
              <a:t>Binary Tree</a:t>
            </a:r>
            <a:endParaRPr/>
          </a:p>
        </p:txBody>
      </p:sp>
      <p:sp>
        <p:nvSpPr>
          <p:cNvPr id="429" name="Google Shape;429;p17"/>
          <p:cNvSpPr txBox="1"/>
          <p:nvPr>
            <p:ph idx="1" type="body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Till the discussion so far,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Linked List had 2 fields in a node-</a:t>
            </a:r>
            <a:endParaRPr/>
          </a:p>
          <a:p>
            <a:pPr indent="-274320" lvl="1" marL="64008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Data field</a:t>
            </a:r>
            <a:endParaRPr/>
          </a:p>
          <a:p>
            <a:pPr indent="-274320" lvl="1" marL="64008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Address field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Tree has 3 fields in a node-</a:t>
            </a:r>
            <a:endParaRPr/>
          </a:p>
          <a:p>
            <a:pPr indent="-274320" lvl="1" marL="64008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Data field</a:t>
            </a:r>
            <a:endParaRPr/>
          </a:p>
          <a:p>
            <a:pPr indent="-274320" lvl="1" marL="64008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Address of left child</a:t>
            </a:r>
            <a:endParaRPr/>
          </a:p>
          <a:p>
            <a:pPr indent="-274320" lvl="1" marL="64008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Address of right child</a:t>
            </a:r>
            <a:endParaRPr/>
          </a:p>
          <a:p>
            <a:pPr indent="-177800" lvl="1" marL="6400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</p:txBody>
      </p:sp>
      <p:sp>
        <p:nvSpPr>
          <p:cNvPr id="430" name="Google Shape;430;p17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431" name="Google Shape;431;p17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432" name="Google Shape;432;p17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8"/>
          <p:cNvSpPr txBox="1"/>
          <p:nvPr>
            <p:ph type="title"/>
          </p:nvPr>
        </p:nvSpPr>
        <p:spPr>
          <a:xfrm>
            <a:off x="899638" y="332656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</a:pPr>
            <a:r>
              <a:rPr lang="en-IN"/>
              <a:t>Binary Tree</a:t>
            </a:r>
            <a:endParaRPr/>
          </a:p>
        </p:txBody>
      </p:sp>
      <p:sp>
        <p:nvSpPr>
          <p:cNvPr id="438" name="Google Shape;438;p18"/>
          <p:cNvSpPr txBox="1"/>
          <p:nvPr>
            <p:ph idx="1" type="body"/>
          </p:nvPr>
        </p:nvSpPr>
        <p:spPr>
          <a:xfrm>
            <a:off x="1023351" y="1556792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Graph is used to represent tree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Every node=Circle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Line from one node to other=Edge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The beginning node is called root.</a:t>
            </a:r>
            <a:endParaRPr sz="2000"/>
          </a:p>
        </p:txBody>
      </p:sp>
      <p:pic>
        <p:nvPicPr>
          <p:cNvPr id="439" name="Google Shape;43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17052" y="3068960"/>
            <a:ext cx="4000500" cy="2990850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18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441" name="Google Shape;441;p18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442" name="Google Shape;442;p18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9"/>
          <p:cNvSpPr txBox="1"/>
          <p:nvPr>
            <p:ph type="title"/>
          </p:nvPr>
        </p:nvSpPr>
        <p:spPr>
          <a:xfrm>
            <a:off x="971600" y="332656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</a:pPr>
            <a:r>
              <a:rPr lang="en-IN"/>
              <a:t>Traversal in Binary Tree</a:t>
            </a:r>
            <a:endParaRPr/>
          </a:p>
        </p:txBody>
      </p:sp>
      <p:sp>
        <p:nvSpPr>
          <p:cNvPr id="448" name="Google Shape;448;p19"/>
          <p:cNvSpPr txBox="1"/>
          <p:nvPr>
            <p:ph idx="1" type="body"/>
          </p:nvPr>
        </p:nvSpPr>
        <p:spPr>
          <a:xfrm>
            <a:off x="1043608" y="1844824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A tree walk or traversal is a way of visiting all the nodes in the tree in a specified order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Lets take-</a:t>
            </a:r>
            <a:endParaRPr/>
          </a:p>
          <a:p>
            <a:pPr indent="0" lvl="2" marL="6400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rPr b="1" lang="en-IN" sz="1800"/>
              <a:t>N</a:t>
            </a:r>
            <a:r>
              <a:rPr lang="en-IN" sz="1800"/>
              <a:t>=Node</a:t>
            </a:r>
            <a:endParaRPr/>
          </a:p>
          <a:p>
            <a:pPr indent="0" lvl="2" marL="6400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rPr b="1" lang="en-IN" sz="1800"/>
              <a:t>L</a:t>
            </a:r>
            <a:r>
              <a:rPr lang="en-IN" sz="1800"/>
              <a:t>=Left Child/Subtree</a:t>
            </a:r>
            <a:endParaRPr/>
          </a:p>
          <a:p>
            <a:pPr indent="0" lvl="2" marL="6400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rPr b="1" lang="en-IN" sz="1800"/>
              <a:t>R</a:t>
            </a:r>
            <a:r>
              <a:rPr lang="en-IN" sz="1800"/>
              <a:t>=Right Child/Subtree</a:t>
            </a:r>
            <a:endParaRPr/>
          </a:p>
        </p:txBody>
      </p:sp>
      <p:sp>
        <p:nvSpPr>
          <p:cNvPr id="449" name="Google Shape;449;p19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450" name="Google Shape;450;p19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451" name="Google Shape;451;p19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20"/>
          <p:cNvSpPr txBox="1"/>
          <p:nvPr>
            <p:ph type="title"/>
          </p:nvPr>
        </p:nvSpPr>
        <p:spPr>
          <a:xfrm>
            <a:off x="971600" y="332656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</a:pPr>
            <a:r>
              <a:rPr lang="en-IN"/>
              <a:t>Traversal in Binary Tree</a:t>
            </a:r>
            <a:endParaRPr/>
          </a:p>
        </p:txBody>
      </p:sp>
      <p:sp>
        <p:nvSpPr>
          <p:cNvPr id="457" name="Google Shape;457;p20"/>
          <p:cNvSpPr txBox="1"/>
          <p:nvPr>
            <p:ph idx="1" type="body"/>
          </p:nvPr>
        </p:nvSpPr>
        <p:spPr>
          <a:xfrm>
            <a:off x="1043608" y="1844824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lang="en-IN" sz="2000"/>
              <a:t>In traversal, we have 6 combinations-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NRL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NLR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LRN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LNR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RNL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RLN</a:t>
            </a:r>
            <a:endParaRPr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rPr lang="en-IN" sz="2000"/>
              <a:t>But only 3 are standard.</a:t>
            </a:r>
            <a:endParaRPr/>
          </a:p>
        </p:txBody>
      </p:sp>
      <p:sp>
        <p:nvSpPr>
          <p:cNvPr id="458" name="Google Shape;458;p20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459" name="Google Shape;459;p20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460" name="Google Shape;460;p20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1"/>
          <p:cNvSpPr txBox="1"/>
          <p:nvPr>
            <p:ph type="title"/>
          </p:nvPr>
        </p:nvSpPr>
        <p:spPr>
          <a:xfrm>
            <a:off x="971600" y="332656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b="1" lang="en-IN" sz="2800"/>
              <a:t>Binary Tree Traversal Methods</a:t>
            </a:r>
            <a:endParaRPr/>
          </a:p>
        </p:txBody>
      </p:sp>
      <p:sp>
        <p:nvSpPr>
          <p:cNvPr id="466" name="Google Shape;466;p21"/>
          <p:cNvSpPr txBox="1"/>
          <p:nvPr>
            <p:ph idx="1" type="body"/>
          </p:nvPr>
        </p:nvSpPr>
        <p:spPr>
          <a:xfrm>
            <a:off x="1043608" y="1700808"/>
            <a:ext cx="6777317" cy="4536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/>
              <a:t>Preorder</a:t>
            </a:r>
            <a:endParaRPr b="1"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/>
              <a:t>Inorder</a:t>
            </a:r>
            <a:endParaRPr b="1"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/>
              <a:t>Postorder</a:t>
            </a:r>
            <a:endParaRPr b="1"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/>
              <a:t>Level Order </a:t>
            </a:r>
            <a:endParaRPr b="1"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</p:txBody>
      </p:sp>
      <p:sp>
        <p:nvSpPr>
          <p:cNvPr id="467" name="Google Shape;467;p21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468" name="Google Shape;468;p21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469" name="Google Shape;469;p21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2"/>
          <p:cNvSpPr txBox="1"/>
          <p:nvPr>
            <p:ph type="title"/>
          </p:nvPr>
        </p:nvSpPr>
        <p:spPr>
          <a:xfrm>
            <a:off x="971600" y="332656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b="1" lang="en-IN" sz="2800"/>
              <a:t>Binary Tree Traversal Methods</a:t>
            </a:r>
            <a:endParaRPr/>
          </a:p>
        </p:txBody>
      </p:sp>
      <p:sp>
        <p:nvSpPr>
          <p:cNvPr id="475" name="Google Shape;475;p22"/>
          <p:cNvSpPr txBox="1"/>
          <p:nvPr>
            <p:ph idx="1" type="body"/>
          </p:nvPr>
        </p:nvSpPr>
        <p:spPr>
          <a:xfrm>
            <a:off x="1043608" y="1700808"/>
            <a:ext cx="6777317" cy="4536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/>
              <a:t>A Preorder tree walk processes each node before processing its children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/>
              <a:t>A Postorder tree walk processes each node after processing its children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</p:txBody>
      </p:sp>
      <p:sp>
        <p:nvSpPr>
          <p:cNvPr id="476" name="Google Shape;476;p22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477" name="Google Shape;477;p22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478" name="Google Shape;478;p22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3"/>
          <p:cNvSpPr txBox="1"/>
          <p:nvPr>
            <p:ph type="title"/>
          </p:nvPr>
        </p:nvSpPr>
        <p:spPr>
          <a:xfrm>
            <a:off x="971600" y="332656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lang="en-IN"/>
              <a:t>Binary Tree Traversal Methods</a:t>
            </a:r>
            <a:endParaRPr/>
          </a:p>
        </p:txBody>
      </p:sp>
      <p:sp>
        <p:nvSpPr>
          <p:cNvPr id="484" name="Google Shape;484;p23"/>
          <p:cNvSpPr txBox="1"/>
          <p:nvPr>
            <p:ph idx="1" type="body"/>
          </p:nvPr>
        </p:nvSpPr>
        <p:spPr>
          <a:xfrm>
            <a:off x="1043608" y="1484784"/>
            <a:ext cx="6777317" cy="4536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ct val="76000"/>
              <a:buNone/>
            </a:pPr>
            <a:r>
              <a:rPr b="1" lang="en-IN" sz="2000"/>
              <a:t>Preorder</a:t>
            </a:r>
            <a:endParaRPr b="1" sz="2000"/>
          </a:p>
          <a:p>
            <a:pPr indent="-274319" lvl="0" marL="342900" rtl="0" algn="l">
              <a:spcBef>
                <a:spcPts val="340"/>
              </a:spcBef>
              <a:spcAft>
                <a:spcPts val="0"/>
              </a:spcAft>
              <a:buSzPct val="76000"/>
              <a:buChar char="🞇"/>
            </a:pPr>
            <a:r>
              <a:rPr lang="en-IN" sz="2000"/>
              <a:t>NLR</a:t>
            </a:r>
            <a:endParaRPr/>
          </a:p>
          <a:p>
            <a:pPr indent="-274319" lvl="0" marL="342900" rtl="0" algn="l">
              <a:spcBef>
                <a:spcPts val="340"/>
              </a:spcBef>
              <a:spcAft>
                <a:spcPts val="0"/>
              </a:spcAft>
              <a:buSzPct val="76000"/>
              <a:buChar char="🞇"/>
            </a:pPr>
            <a:r>
              <a:rPr lang="en-IN" sz="2000"/>
              <a:t>Visit the Root</a:t>
            </a:r>
            <a:endParaRPr/>
          </a:p>
          <a:p>
            <a:pPr indent="-274319" lvl="0" marL="342900" rtl="0" algn="l">
              <a:spcBef>
                <a:spcPts val="340"/>
              </a:spcBef>
              <a:spcAft>
                <a:spcPts val="0"/>
              </a:spcAft>
              <a:buSzPct val="76000"/>
              <a:buChar char="🞇"/>
            </a:pPr>
            <a:r>
              <a:rPr lang="en-IN" sz="2000"/>
              <a:t>Traverse the left subtree of root in Preorder</a:t>
            </a:r>
            <a:endParaRPr sz="2000"/>
          </a:p>
          <a:p>
            <a:pPr indent="-274319" lvl="0" marL="342900" rtl="0" algn="l">
              <a:spcBef>
                <a:spcPts val="340"/>
              </a:spcBef>
              <a:spcAft>
                <a:spcPts val="0"/>
              </a:spcAft>
              <a:buSzPct val="76000"/>
              <a:buChar char="🞇"/>
            </a:pPr>
            <a:r>
              <a:rPr lang="en-IN" sz="2000"/>
              <a:t>Traverse the right subtree of root in Preorder</a:t>
            </a:r>
            <a:endParaRPr sz="2000"/>
          </a:p>
          <a:p>
            <a:pPr indent="0" lvl="0" marL="68580" rtl="0" algn="l">
              <a:spcBef>
                <a:spcPts val="34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sz="2000"/>
          </a:p>
          <a:p>
            <a:pPr indent="0" lvl="0" marL="68580" rtl="0" algn="l">
              <a:spcBef>
                <a:spcPts val="340"/>
              </a:spcBef>
              <a:spcAft>
                <a:spcPts val="0"/>
              </a:spcAft>
              <a:buSzPct val="76000"/>
              <a:buNone/>
            </a:pPr>
            <a:r>
              <a:rPr b="1" lang="en-IN" sz="2000"/>
              <a:t>Inorder</a:t>
            </a:r>
            <a:endParaRPr b="1" sz="2000"/>
          </a:p>
          <a:p>
            <a:pPr indent="-274319" lvl="0" marL="342900" rtl="0" algn="l">
              <a:spcBef>
                <a:spcPts val="340"/>
              </a:spcBef>
              <a:spcAft>
                <a:spcPts val="0"/>
              </a:spcAft>
              <a:buSzPct val="76000"/>
              <a:buChar char="🞇"/>
            </a:pPr>
            <a:r>
              <a:rPr lang="en-IN" sz="2000"/>
              <a:t>LNR</a:t>
            </a:r>
            <a:endParaRPr sz="2000"/>
          </a:p>
          <a:p>
            <a:pPr indent="-274319" lvl="0" marL="342900" rtl="0" algn="l">
              <a:spcBef>
                <a:spcPts val="340"/>
              </a:spcBef>
              <a:spcAft>
                <a:spcPts val="0"/>
              </a:spcAft>
              <a:buSzPct val="76000"/>
              <a:buChar char="🞇"/>
            </a:pPr>
            <a:r>
              <a:rPr lang="en-IN" sz="2000"/>
              <a:t>Traverse the left subtree of root in Inorder</a:t>
            </a:r>
            <a:endParaRPr sz="2000"/>
          </a:p>
          <a:p>
            <a:pPr indent="-274319" lvl="0" marL="342900" rtl="0" algn="l">
              <a:spcBef>
                <a:spcPts val="340"/>
              </a:spcBef>
              <a:spcAft>
                <a:spcPts val="0"/>
              </a:spcAft>
              <a:buSzPct val="76000"/>
              <a:buChar char="🞇"/>
            </a:pPr>
            <a:r>
              <a:rPr lang="en-IN" sz="2000"/>
              <a:t>Visit the Root</a:t>
            </a:r>
            <a:endParaRPr/>
          </a:p>
          <a:p>
            <a:pPr indent="-274319" lvl="0" marL="342900" rtl="0" algn="l">
              <a:spcBef>
                <a:spcPts val="340"/>
              </a:spcBef>
              <a:spcAft>
                <a:spcPts val="0"/>
              </a:spcAft>
              <a:buSzPct val="76000"/>
              <a:buChar char="🞇"/>
            </a:pPr>
            <a:r>
              <a:rPr lang="en-IN" sz="2000"/>
              <a:t>Traverse the right subtree of root in Inorder</a:t>
            </a:r>
            <a:endParaRPr sz="2000"/>
          </a:p>
          <a:p>
            <a:pPr indent="0" lvl="0" marL="68580" rtl="0" algn="l">
              <a:spcBef>
                <a:spcPts val="34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sz="2000"/>
          </a:p>
          <a:p>
            <a:pPr indent="0" lvl="0" marL="68580" rtl="0" algn="l">
              <a:spcBef>
                <a:spcPts val="340"/>
              </a:spcBef>
              <a:spcAft>
                <a:spcPts val="0"/>
              </a:spcAft>
              <a:buSzPct val="76000"/>
              <a:buNone/>
            </a:pPr>
            <a:r>
              <a:rPr b="1" lang="en-IN" sz="2000"/>
              <a:t>Postorder</a:t>
            </a:r>
            <a:endParaRPr b="1" sz="2000"/>
          </a:p>
          <a:p>
            <a:pPr indent="-274319" lvl="0" marL="342900" rtl="0" algn="l">
              <a:spcBef>
                <a:spcPts val="340"/>
              </a:spcBef>
              <a:spcAft>
                <a:spcPts val="0"/>
              </a:spcAft>
              <a:buSzPct val="76000"/>
              <a:buChar char="🞇"/>
            </a:pPr>
            <a:r>
              <a:rPr lang="en-IN" sz="2000"/>
              <a:t>LRN</a:t>
            </a:r>
            <a:endParaRPr sz="2000"/>
          </a:p>
          <a:p>
            <a:pPr indent="-274319" lvl="0" marL="342900" rtl="0" algn="l">
              <a:spcBef>
                <a:spcPts val="340"/>
              </a:spcBef>
              <a:spcAft>
                <a:spcPts val="0"/>
              </a:spcAft>
              <a:buSzPct val="76000"/>
              <a:buChar char="🞇"/>
            </a:pPr>
            <a:r>
              <a:rPr lang="en-IN" sz="2000"/>
              <a:t>Traverse the left subtree of root in Postorder</a:t>
            </a:r>
            <a:endParaRPr sz="2000"/>
          </a:p>
          <a:p>
            <a:pPr indent="-274319" lvl="0" marL="342900" rtl="0" algn="l">
              <a:spcBef>
                <a:spcPts val="340"/>
              </a:spcBef>
              <a:spcAft>
                <a:spcPts val="0"/>
              </a:spcAft>
              <a:buSzPct val="76000"/>
              <a:buChar char="🞇"/>
            </a:pPr>
            <a:r>
              <a:rPr lang="en-IN" sz="2000"/>
              <a:t>Traverse the right subtree of root in Postorder</a:t>
            </a:r>
            <a:endParaRPr sz="2000"/>
          </a:p>
          <a:p>
            <a:pPr indent="-274319" lvl="0" marL="342900" rtl="0" algn="l">
              <a:spcBef>
                <a:spcPts val="340"/>
              </a:spcBef>
              <a:spcAft>
                <a:spcPts val="0"/>
              </a:spcAft>
              <a:buSzPct val="76000"/>
              <a:buChar char="🞇"/>
            </a:pPr>
            <a:r>
              <a:rPr lang="en-IN" sz="2000"/>
              <a:t>Visit the Root</a:t>
            </a:r>
            <a:endParaRPr/>
          </a:p>
          <a:p>
            <a:pPr indent="-192278" lvl="0" marL="342900" rtl="0" algn="l">
              <a:spcBef>
                <a:spcPts val="34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sz="2000"/>
          </a:p>
        </p:txBody>
      </p:sp>
      <p:sp>
        <p:nvSpPr>
          <p:cNvPr id="485" name="Google Shape;485;p23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486" name="Google Shape;486;p23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487" name="Google Shape;487;p23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4"/>
          <p:cNvSpPr txBox="1"/>
          <p:nvPr>
            <p:ph type="title"/>
          </p:nvPr>
        </p:nvSpPr>
        <p:spPr>
          <a:xfrm>
            <a:off x="971600" y="332656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b="1" lang="en-IN" sz="2800"/>
              <a:t>Binary Tree Traversal Methods</a:t>
            </a:r>
            <a:endParaRPr/>
          </a:p>
        </p:txBody>
      </p:sp>
      <p:sp>
        <p:nvSpPr>
          <p:cNvPr id="493" name="Google Shape;493;p24"/>
          <p:cNvSpPr txBox="1"/>
          <p:nvPr>
            <p:ph idx="1" type="body"/>
          </p:nvPr>
        </p:nvSpPr>
        <p:spPr>
          <a:xfrm>
            <a:off x="1043608" y="1700808"/>
            <a:ext cx="6777317" cy="4536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/>
              <a:t>We assume that we are only printing the data in a node when we visit it.</a:t>
            </a:r>
            <a:endParaRPr sz="2000"/>
          </a:p>
        </p:txBody>
      </p:sp>
      <p:sp>
        <p:nvSpPr>
          <p:cNvPr id="494" name="Google Shape;494;p24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495" name="Google Shape;495;p24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496" name="Google Shape;496;p24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5"/>
          <p:cNvSpPr txBox="1"/>
          <p:nvPr>
            <p:ph type="title"/>
          </p:nvPr>
        </p:nvSpPr>
        <p:spPr>
          <a:xfrm>
            <a:off x="971600" y="332656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</a:pPr>
            <a:r>
              <a:rPr lang="en-IN"/>
              <a:t>Preorder?</a:t>
            </a:r>
            <a:endParaRPr/>
          </a:p>
        </p:txBody>
      </p:sp>
      <p:pic>
        <p:nvPicPr>
          <p:cNvPr id="502" name="Google Shape;502;p2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9318" y="2204864"/>
            <a:ext cx="5392922" cy="1872208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25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504" name="Google Shape;504;p25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505" name="Google Shape;505;p25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26"/>
          <p:cNvSpPr txBox="1"/>
          <p:nvPr>
            <p:ph type="title"/>
          </p:nvPr>
        </p:nvSpPr>
        <p:spPr>
          <a:xfrm>
            <a:off x="971600" y="332656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</a:pPr>
            <a:r>
              <a:rPr lang="en-IN"/>
              <a:t>Inorder?</a:t>
            </a:r>
            <a:endParaRPr/>
          </a:p>
        </p:txBody>
      </p:sp>
      <p:pic>
        <p:nvPicPr>
          <p:cNvPr id="511" name="Google Shape;511;p2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9318" y="2204864"/>
            <a:ext cx="5392922" cy="1872208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26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513" name="Google Shape;513;p26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514" name="Google Shape;514;p26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27"/>
          <p:cNvSpPr txBox="1"/>
          <p:nvPr>
            <p:ph type="title"/>
          </p:nvPr>
        </p:nvSpPr>
        <p:spPr>
          <a:xfrm>
            <a:off x="971600" y="332656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</a:pPr>
            <a:r>
              <a:rPr lang="en-IN"/>
              <a:t>Postorder?</a:t>
            </a:r>
            <a:endParaRPr/>
          </a:p>
        </p:txBody>
      </p:sp>
      <p:pic>
        <p:nvPicPr>
          <p:cNvPr id="520" name="Google Shape;520;p2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9318" y="2204864"/>
            <a:ext cx="5392922" cy="1872208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27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522" name="Google Shape;522;p27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523" name="Google Shape;523;p27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28"/>
          <p:cNvSpPr txBox="1"/>
          <p:nvPr>
            <p:ph type="title"/>
          </p:nvPr>
        </p:nvSpPr>
        <p:spPr>
          <a:xfrm>
            <a:off x="971600" y="332656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</a:pPr>
            <a:r>
              <a:rPr lang="en-IN"/>
              <a:t>Traversal in Binary Tree</a:t>
            </a:r>
            <a:endParaRPr/>
          </a:p>
        </p:txBody>
      </p:sp>
      <p:pic>
        <p:nvPicPr>
          <p:cNvPr id="529" name="Google Shape;529;p2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9318" y="2204864"/>
            <a:ext cx="5392922" cy="1872208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28"/>
          <p:cNvSpPr/>
          <p:nvPr/>
        </p:nvSpPr>
        <p:spPr>
          <a:xfrm>
            <a:off x="1043608" y="4437112"/>
            <a:ext cx="6768752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Inorder (Left, Root, Right) : 4 2 5 1 3</a:t>
            </a:r>
            <a:b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Preorder (Root, Left, Right) : 1 2 4 5 3</a:t>
            </a:r>
            <a:b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Postorder (Left, Right, Root) : 4 5 2 3 1</a:t>
            </a:r>
            <a:endParaRPr/>
          </a:p>
        </p:txBody>
      </p:sp>
      <p:sp>
        <p:nvSpPr>
          <p:cNvPr id="531" name="Google Shape;531;p28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532" name="Google Shape;532;p28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533" name="Google Shape;533;p28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29"/>
          <p:cNvSpPr txBox="1"/>
          <p:nvPr>
            <p:ph type="title"/>
          </p:nvPr>
        </p:nvSpPr>
        <p:spPr>
          <a:xfrm>
            <a:off x="971600" y="332656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</a:pPr>
            <a:r>
              <a:rPr lang="en-IN"/>
              <a:t>Traversal in Binary Tree</a:t>
            </a:r>
            <a:endParaRPr/>
          </a:p>
        </p:txBody>
      </p:sp>
      <p:pic>
        <p:nvPicPr>
          <p:cNvPr descr="Binary Tree Traversal Techniques : Inorder-Preorder-Postorder-Levelorder »  ExamRadar" id="539" name="Google Shape;539;p29"/>
          <p:cNvPicPr preferRelativeResize="0"/>
          <p:nvPr/>
        </p:nvPicPr>
        <p:blipFill rotWithShape="1">
          <a:blip r:embed="rId3">
            <a:alphaModFix/>
          </a:blip>
          <a:srcRect b="0" l="0" r="52658" t="0"/>
          <a:stretch/>
        </p:blipFill>
        <p:spPr>
          <a:xfrm>
            <a:off x="738353" y="2006802"/>
            <a:ext cx="3720683" cy="3222397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29"/>
          <p:cNvSpPr txBox="1"/>
          <p:nvPr/>
        </p:nvSpPr>
        <p:spPr>
          <a:xfrm>
            <a:off x="5364088" y="2492896"/>
            <a:ext cx="22322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??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41" name="Google Shape;541;p29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542" name="Google Shape;542;p29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543" name="Google Shape;543;p29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30"/>
          <p:cNvSpPr txBox="1"/>
          <p:nvPr>
            <p:ph type="title"/>
          </p:nvPr>
        </p:nvSpPr>
        <p:spPr>
          <a:xfrm>
            <a:off x="971600" y="332656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</a:pPr>
            <a:r>
              <a:rPr lang="en-IN"/>
              <a:t>Traversal in Binary Tree</a:t>
            </a:r>
            <a:endParaRPr/>
          </a:p>
        </p:txBody>
      </p:sp>
      <p:pic>
        <p:nvPicPr>
          <p:cNvPr descr="Binary Tree Traversal Techniques : Inorder-Preorder-Postorder-Levelorder »  ExamRadar" id="549" name="Google Shape;549;p30"/>
          <p:cNvPicPr preferRelativeResize="0"/>
          <p:nvPr/>
        </p:nvPicPr>
        <p:blipFill rotWithShape="1">
          <a:blip r:embed="rId3">
            <a:alphaModFix/>
          </a:blip>
          <a:srcRect b="0" l="47571" r="0" t="0"/>
          <a:stretch/>
        </p:blipFill>
        <p:spPr>
          <a:xfrm>
            <a:off x="4459036" y="2006802"/>
            <a:ext cx="4001396" cy="32223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inary Tree Traversal Techniques : Inorder-Preorder-Postorder-Levelorder »  ExamRadar" id="550" name="Google Shape;550;p30"/>
          <p:cNvPicPr preferRelativeResize="0"/>
          <p:nvPr/>
        </p:nvPicPr>
        <p:blipFill rotWithShape="1">
          <a:blip r:embed="rId3">
            <a:alphaModFix/>
          </a:blip>
          <a:srcRect b="0" l="0" r="52658" t="0"/>
          <a:stretch/>
        </p:blipFill>
        <p:spPr>
          <a:xfrm>
            <a:off x="738353" y="2006802"/>
            <a:ext cx="3720683" cy="3222397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30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552" name="Google Shape;552;p30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553" name="Google Shape;553;p30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31"/>
          <p:cNvSpPr txBox="1"/>
          <p:nvPr>
            <p:ph type="title"/>
          </p:nvPr>
        </p:nvSpPr>
        <p:spPr>
          <a:xfrm>
            <a:off x="971600" y="332656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</a:pPr>
            <a:r>
              <a:rPr lang="en-IN"/>
              <a:t>Traversal in Binary Tree</a:t>
            </a:r>
            <a:endParaRPr/>
          </a:p>
        </p:txBody>
      </p:sp>
      <p:pic>
        <p:nvPicPr>
          <p:cNvPr id="559" name="Google Shape;559;p31"/>
          <p:cNvPicPr preferRelativeResize="0"/>
          <p:nvPr/>
        </p:nvPicPr>
        <p:blipFill rotWithShape="1">
          <a:blip r:embed="rId3">
            <a:alphaModFix/>
          </a:blip>
          <a:srcRect b="0" l="0" r="52639" t="0"/>
          <a:stretch/>
        </p:blipFill>
        <p:spPr>
          <a:xfrm>
            <a:off x="795181" y="1987306"/>
            <a:ext cx="3881231" cy="3202104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31"/>
          <p:cNvSpPr txBox="1"/>
          <p:nvPr/>
        </p:nvSpPr>
        <p:spPr>
          <a:xfrm>
            <a:off x="5364088" y="2492896"/>
            <a:ext cx="22322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??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61" name="Google Shape;561;p31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562" name="Google Shape;562;p31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563" name="Google Shape;563;p31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32"/>
          <p:cNvSpPr txBox="1"/>
          <p:nvPr>
            <p:ph type="title"/>
          </p:nvPr>
        </p:nvSpPr>
        <p:spPr>
          <a:xfrm>
            <a:off x="971600" y="332656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</a:pPr>
            <a:r>
              <a:rPr lang="en-IN"/>
              <a:t>Traversal in Binary Tree</a:t>
            </a:r>
            <a:endParaRPr/>
          </a:p>
        </p:txBody>
      </p:sp>
      <p:pic>
        <p:nvPicPr>
          <p:cNvPr id="569" name="Google Shape;569;p32"/>
          <p:cNvPicPr preferRelativeResize="0"/>
          <p:nvPr/>
        </p:nvPicPr>
        <p:blipFill rotWithShape="1">
          <a:blip r:embed="rId3">
            <a:alphaModFix/>
          </a:blip>
          <a:srcRect b="0" l="46640" r="0" t="0"/>
          <a:stretch/>
        </p:blipFill>
        <p:spPr>
          <a:xfrm>
            <a:off x="4759221" y="1987306"/>
            <a:ext cx="3802022" cy="3202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p32"/>
          <p:cNvPicPr preferRelativeResize="0"/>
          <p:nvPr/>
        </p:nvPicPr>
        <p:blipFill rotWithShape="1">
          <a:blip r:embed="rId3">
            <a:alphaModFix/>
          </a:blip>
          <a:srcRect b="0" l="0" r="52639" t="0"/>
          <a:stretch/>
        </p:blipFill>
        <p:spPr>
          <a:xfrm>
            <a:off x="795181" y="1987306"/>
            <a:ext cx="3881231" cy="3202104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32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572" name="Google Shape;572;p32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573" name="Google Shape;573;p32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33"/>
          <p:cNvSpPr txBox="1"/>
          <p:nvPr>
            <p:ph type="title"/>
          </p:nvPr>
        </p:nvSpPr>
        <p:spPr>
          <a:xfrm>
            <a:off x="971600" y="332656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</a:pPr>
            <a:r>
              <a:rPr lang="en-IN"/>
              <a:t>Traversal in Binary Tree</a:t>
            </a:r>
            <a:endParaRPr/>
          </a:p>
        </p:txBody>
      </p:sp>
      <p:pic>
        <p:nvPicPr>
          <p:cNvPr descr="Tree Traversals (Inorder, Preorder and Postorder) - GeeksforGeeks" id="579" name="Google Shape;579;p33"/>
          <p:cNvPicPr preferRelativeResize="0"/>
          <p:nvPr/>
        </p:nvPicPr>
        <p:blipFill rotWithShape="1">
          <a:blip r:embed="rId3">
            <a:alphaModFix/>
          </a:blip>
          <a:srcRect b="0" l="0" r="0" t="47208"/>
          <a:stretch/>
        </p:blipFill>
        <p:spPr>
          <a:xfrm>
            <a:off x="827584" y="2132856"/>
            <a:ext cx="7488832" cy="3456383"/>
          </a:xfrm>
          <a:prstGeom prst="rect">
            <a:avLst/>
          </a:prstGeom>
          <a:noFill/>
          <a:ln>
            <a:noFill/>
          </a:ln>
        </p:spPr>
      </p:pic>
      <p:sp>
        <p:nvSpPr>
          <p:cNvPr id="580" name="Google Shape;580;p33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581" name="Google Shape;581;p33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582" name="Google Shape;582;p33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34"/>
          <p:cNvSpPr txBox="1"/>
          <p:nvPr>
            <p:ph type="title"/>
          </p:nvPr>
        </p:nvSpPr>
        <p:spPr>
          <a:xfrm>
            <a:off x="971600" y="332656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</a:pPr>
            <a:r>
              <a:rPr lang="en-IN"/>
              <a:t>Traversal in Binary Tree</a:t>
            </a:r>
            <a:endParaRPr/>
          </a:p>
        </p:txBody>
      </p:sp>
      <p:pic>
        <p:nvPicPr>
          <p:cNvPr descr="Tree Traversals (Inorder, Preorder and Postorder) - GeeksforGeeks" id="588" name="Google Shape;58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584" y="1772816"/>
            <a:ext cx="7488832" cy="3816424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34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590" name="Google Shape;590;p34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591" name="Google Shape;591;p34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35"/>
          <p:cNvSpPr txBox="1"/>
          <p:nvPr>
            <p:ph type="title"/>
          </p:nvPr>
        </p:nvSpPr>
        <p:spPr>
          <a:xfrm>
            <a:off x="971600" y="908720"/>
            <a:ext cx="7632848" cy="5669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b="1" lang="en-IN" sz="2400"/>
              <a:t>Preorder Traversal in Binary Tree –Prefix Expression</a:t>
            </a:r>
            <a:endParaRPr b="1" sz="2400"/>
          </a:p>
        </p:txBody>
      </p:sp>
      <p:pic>
        <p:nvPicPr>
          <p:cNvPr descr="Lecture 8 tree traversal" id="597" name="Google Shape;597;p35"/>
          <p:cNvPicPr preferRelativeResize="0"/>
          <p:nvPr/>
        </p:nvPicPr>
        <p:blipFill rotWithShape="1">
          <a:blip r:embed="rId3">
            <a:alphaModFix/>
          </a:blip>
          <a:srcRect b="30622" l="0" r="0" t="0"/>
          <a:stretch/>
        </p:blipFill>
        <p:spPr>
          <a:xfrm>
            <a:off x="1259632" y="1556792"/>
            <a:ext cx="6076950" cy="3165333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35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599" name="Google Shape;599;p35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600" name="Google Shape;600;p35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36"/>
          <p:cNvSpPr txBox="1"/>
          <p:nvPr>
            <p:ph type="title"/>
          </p:nvPr>
        </p:nvSpPr>
        <p:spPr>
          <a:xfrm>
            <a:off x="971600" y="908720"/>
            <a:ext cx="7632848" cy="5669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b="1" lang="en-IN" sz="2400"/>
              <a:t>Preorder Traversal in Binary Tree –Prefix Expression</a:t>
            </a:r>
            <a:endParaRPr b="1" sz="2400"/>
          </a:p>
        </p:txBody>
      </p:sp>
      <p:pic>
        <p:nvPicPr>
          <p:cNvPr descr="Lecture 8 tree traversal" id="606" name="Google Shape;60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9632" y="1556792"/>
            <a:ext cx="6076950" cy="4562476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36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608" name="Google Shape;608;p36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609" name="Google Shape;609;p36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37"/>
          <p:cNvSpPr txBox="1"/>
          <p:nvPr>
            <p:ph type="title"/>
          </p:nvPr>
        </p:nvSpPr>
        <p:spPr>
          <a:xfrm>
            <a:off x="971600" y="332656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b="1" lang="en-IN" sz="2800"/>
              <a:t>Algebraic Expression representation in tree</a:t>
            </a:r>
            <a:endParaRPr b="1" sz="2800"/>
          </a:p>
        </p:txBody>
      </p:sp>
      <p:sp>
        <p:nvSpPr>
          <p:cNvPr id="615" name="Google Shape;615;p37"/>
          <p:cNvSpPr txBox="1"/>
          <p:nvPr>
            <p:ph idx="1" type="body"/>
          </p:nvPr>
        </p:nvSpPr>
        <p:spPr>
          <a:xfrm>
            <a:off x="1043608" y="1700808"/>
            <a:ext cx="6777317" cy="4536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Any algebraic expression can be represented in binary tree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/>
              <a:t>Left, Right Child=Operand of the expression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/>
              <a:t>Parent of the child=Operator</a:t>
            </a:r>
            <a:endParaRPr b="1" sz="2000"/>
          </a:p>
        </p:txBody>
      </p:sp>
      <p:sp>
        <p:nvSpPr>
          <p:cNvPr id="616" name="Google Shape;616;p37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617" name="Google Shape;617;p37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618" name="Google Shape;618;p37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38"/>
          <p:cNvSpPr txBox="1"/>
          <p:nvPr>
            <p:ph type="title"/>
          </p:nvPr>
        </p:nvSpPr>
        <p:spPr>
          <a:xfrm>
            <a:off x="971600" y="980728"/>
            <a:ext cx="7632848" cy="4949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b="1" lang="en-IN" sz="2400"/>
              <a:t>Inorder Traversal in Binary Tree –Infix Expression</a:t>
            </a:r>
            <a:endParaRPr b="1" sz="2400"/>
          </a:p>
        </p:txBody>
      </p:sp>
      <p:pic>
        <p:nvPicPr>
          <p:cNvPr descr="Inorder Of Expression Tree&#10;+&#10;a b&#10;-&#10;c d&#10;+&#10;e f&#10;*&#10;/&#10;Gives infix form of expression&#10;ea + b * c d / + f-&#10; " id="624" name="Google Shape;624;p38"/>
          <p:cNvPicPr preferRelativeResize="0"/>
          <p:nvPr/>
        </p:nvPicPr>
        <p:blipFill rotWithShape="1">
          <a:blip r:embed="rId3">
            <a:alphaModFix/>
          </a:blip>
          <a:srcRect b="28857" l="0" r="0" t="0"/>
          <a:stretch/>
        </p:blipFill>
        <p:spPr>
          <a:xfrm>
            <a:off x="1475656" y="1530820"/>
            <a:ext cx="6076950" cy="3245896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38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626" name="Google Shape;626;p38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627" name="Google Shape;627;p38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39"/>
          <p:cNvSpPr txBox="1"/>
          <p:nvPr>
            <p:ph type="title"/>
          </p:nvPr>
        </p:nvSpPr>
        <p:spPr>
          <a:xfrm>
            <a:off x="971600" y="980728"/>
            <a:ext cx="7632848" cy="4949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b="1" lang="en-IN" sz="2400"/>
              <a:t>Inorder Traversal in Binary Tree –Infix Expression</a:t>
            </a:r>
            <a:endParaRPr b="1" sz="2400"/>
          </a:p>
        </p:txBody>
      </p:sp>
      <p:pic>
        <p:nvPicPr>
          <p:cNvPr descr="Inorder Of Expression Tree&#10;+&#10;a b&#10;-&#10;c d&#10;+&#10;e f&#10;*&#10;/&#10;Gives infix form of expression&#10;ea + b * c d / + f-&#10; " id="633" name="Google Shape;63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5656" y="1530820"/>
            <a:ext cx="6076950" cy="4562476"/>
          </a:xfrm>
          <a:prstGeom prst="rect">
            <a:avLst/>
          </a:prstGeom>
          <a:noFill/>
          <a:ln>
            <a:noFill/>
          </a:ln>
        </p:spPr>
      </p:pic>
      <p:sp>
        <p:nvSpPr>
          <p:cNvPr id="634" name="Google Shape;634;p39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635" name="Google Shape;635;p39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636" name="Google Shape;636;p39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40"/>
          <p:cNvSpPr txBox="1"/>
          <p:nvPr>
            <p:ph type="title"/>
          </p:nvPr>
        </p:nvSpPr>
        <p:spPr>
          <a:xfrm>
            <a:off x="755576" y="908720"/>
            <a:ext cx="7920880" cy="5669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b="1" lang="en-IN" sz="2400"/>
              <a:t>Postorder Traversal in Binary Tree –Postfix Expression</a:t>
            </a:r>
            <a:endParaRPr b="1" sz="2400"/>
          </a:p>
        </p:txBody>
      </p:sp>
      <p:pic>
        <p:nvPicPr>
          <p:cNvPr descr="Postorder Of Expression Tree&#10;+&#10;a b&#10;-&#10;c d&#10;+&#10;e f&#10;*&#10;/&#10;Gives postfix form of expression!&#10;a b + c d - * e f + /&#10; " id="642" name="Google Shape;642;p40"/>
          <p:cNvPicPr preferRelativeResize="0"/>
          <p:nvPr/>
        </p:nvPicPr>
        <p:blipFill rotWithShape="1">
          <a:blip r:embed="rId3">
            <a:alphaModFix/>
          </a:blip>
          <a:srcRect b="25918" l="0" r="0" t="0"/>
          <a:stretch/>
        </p:blipFill>
        <p:spPr>
          <a:xfrm>
            <a:off x="1187624" y="1628800"/>
            <a:ext cx="6076950" cy="3379928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0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644" name="Google Shape;644;p40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645" name="Google Shape;645;p40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41"/>
          <p:cNvSpPr txBox="1"/>
          <p:nvPr>
            <p:ph type="title"/>
          </p:nvPr>
        </p:nvSpPr>
        <p:spPr>
          <a:xfrm>
            <a:off x="755576" y="908720"/>
            <a:ext cx="7920880" cy="5669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b="1" lang="en-IN" sz="2400"/>
              <a:t>Postorder Traversal in Binary Tree –Postfix Expression</a:t>
            </a:r>
            <a:endParaRPr b="1" sz="2400"/>
          </a:p>
        </p:txBody>
      </p:sp>
      <p:pic>
        <p:nvPicPr>
          <p:cNvPr descr="Postorder Of Expression Tree&#10;+&#10;a b&#10;-&#10;c d&#10;+&#10;e f&#10;*&#10;/&#10;Gives postfix form of expression!&#10;a b + c d - * e f + /&#10; " id="651" name="Google Shape;651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7624" y="1628800"/>
            <a:ext cx="6076950" cy="4562476"/>
          </a:xfrm>
          <a:prstGeom prst="rect">
            <a:avLst/>
          </a:prstGeom>
          <a:noFill/>
          <a:ln>
            <a:noFill/>
          </a:ln>
        </p:spPr>
      </p:pic>
      <p:sp>
        <p:nvSpPr>
          <p:cNvPr id="652" name="Google Shape;652;p41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653" name="Google Shape;653;p41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654" name="Google Shape;654;p41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42"/>
          <p:cNvSpPr txBox="1"/>
          <p:nvPr>
            <p:ph type="title"/>
          </p:nvPr>
        </p:nvSpPr>
        <p:spPr>
          <a:xfrm>
            <a:off x="755576" y="908720"/>
            <a:ext cx="7920880" cy="5669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b="1" lang="en-IN" sz="2400"/>
              <a:t>Level order Traversal in Binary Tree</a:t>
            </a:r>
            <a:endParaRPr b="1" sz="2400"/>
          </a:p>
        </p:txBody>
      </p:sp>
      <p:sp>
        <p:nvSpPr>
          <p:cNvPr id="660" name="Google Shape;660;p42"/>
          <p:cNvSpPr txBox="1"/>
          <p:nvPr>
            <p:ph idx="1" type="body"/>
          </p:nvPr>
        </p:nvSpPr>
        <p:spPr>
          <a:xfrm>
            <a:off x="971600" y="1916832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We traverse the nodes according to their levels.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IN" sz="1800"/>
              <a:t>Traverse Level 0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IN" sz="1800"/>
              <a:t>Then Traverse all the nodes of Level 1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IN" sz="1800"/>
              <a:t>Then Traverse all the nodes of Level 2 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IN" sz="1800"/>
              <a:t>And so on…..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/>
              <a:t>Traverse the nodes of a particular level from Left to Right</a:t>
            </a:r>
            <a:endParaRPr b="1" sz="2000"/>
          </a:p>
        </p:txBody>
      </p:sp>
      <p:sp>
        <p:nvSpPr>
          <p:cNvPr id="661" name="Google Shape;661;p42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662" name="Google Shape;662;p42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663" name="Google Shape;663;p42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43"/>
          <p:cNvSpPr txBox="1"/>
          <p:nvPr>
            <p:ph type="title"/>
          </p:nvPr>
        </p:nvSpPr>
        <p:spPr>
          <a:xfrm>
            <a:off x="755576" y="908720"/>
            <a:ext cx="7920880" cy="5669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b="1" lang="en-IN" sz="2400"/>
              <a:t>Level order Traversal in Binary Tree</a:t>
            </a:r>
            <a:endParaRPr b="1" sz="2400"/>
          </a:p>
        </p:txBody>
      </p:sp>
      <p:sp>
        <p:nvSpPr>
          <p:cNvPr id="669" name="Google Shape;669;p43"/>
          <p:cNvSpPr txBox="1"/>
          <p:nvPr>
            <p:ph idx="1" type="body"/>
          </p:nvPr>
        </p:nvSpPr>
        <p:spPr>
          <a:xfrm>
            <a:off x="1043492" y="4941169"/>
            <a:ext cx="6777317" cy="432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b="1" lang="en-IN" sz="2000"/>
              <a:t>Level Order Traversal=10, 4, 8, 50, 24, 5, 12 and 18.</a:t>
            </a:r>
            <a:endParaRPr/>
          </a:p>
        </p:txBody>
      </p:sp>
      <p:pic>
        <p:nvPicPr>
          <p:cNvPr id="670" name="Google Shape;670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5656" y="1700808"/>
            <a:ext cx="6192688" cy="3096344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43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672" name="Google Shape;672;p43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673" name="Google Shape;673;p43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44"/>
          <p:cNvSpPr txBox="1"/>
          <p:nvPr>
            <p:ph type="title"/>
          </p:nvPr>
        </p:nvSpPr>
        <p:spPr>
          <a:xfrm>
            <a:off x="755576" y="908720"/>
            <a:ext cx="7920880" cy="5669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b="1" lang="en-IN" sz="2400"/>
              <a:t>Level order Traversal in Binary Tree</a:t>
            </a:r>
            <a:endParaRPr b="1" sz="2400"/>
          </a:p>
        </p:txBody>
      </p:sp>
      <p:sp>
        <p:nvSpPr>
          <p:cNvPr id="679" name="Google Shape;679;p44"/>
          <p:cNvSpPr txBox="1"/>
          <p:nvPr>
            <p:ph idx="1" type="body"/>
          </p:nvPr>
        </p:nvSpPr>
        <p:spPr>
          <a:xfrm>
            <a:off x="1043492" y="4941169"/>
            <a:ext cx="6777317" cy="432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b="1" lang="en-IN" sz="2000"/>
              <a:t>Level Order Traversal=F, D, J, B, E, G, K, A, C I, H</a:t>
            </a:r>
            <a:endParaRPr b="1" sz="2000"/>
          </a:p>
        </p:txBody>
      </p:sp>
      <p:pic>
        <p:nvPicPr>
          <p:cNvPr descr="How to do Level order traversal in Binary Search Tree" id="680" name="Google Shape;68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6648" y="1844824"/>
            <a:ext cx="4469527" cy="2736304"/>
          </a:xfrm>
          <a:prstGeom prst="rect">
            <a:avLst/>
          </a:prstGeom>
          <a:noFill/>
          <a:ln>
            <a:noFill/>
          </a:ln>
        </p:spPr>
      </p:pic>
      <p:sp>
        <p:nvSpPr>
          <p:cNvPr id="681" name="Google Shape;681;p44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682" name="Google Shape;682;p44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683" name="Google Shape;683;p44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45"/>
          <p:cNvSpPr txBox="1"/>
          <p:nvPr>
            <p:ph type="title"/>
          </p:nvPr>
        </p:nvSpPr>
        <p:spPr>
          <a:xfrm>
            <a:off x="899638" y="332656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</a:pPr>
            <a:r>
              <a:rPr b="1" lang="en-IN" u="sng"/>
              <a:t>Types of Binary Trees-</a:t>
            </a:r>
            <a:endParaRPr b="1"/>
          </a:p>
        </p:txBody>
      </p:sp>
      <p:sp>
        <p:nvSpPr>
          <p:cNvPr id="689" name="Google Shape;689;p45"/>
          <p:cNvSpPr txBox="1"/>
          <p:nvPr>
            <p:ph idx="1" type="body"/>
          </p:nvPr>
        </p:nvSpPr>
        <p:spPr>
          <a:xfrm>
            <a:off x="1023351" y="1556792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lang="en-IN" sz="2000"/>
              <a:t>Binary trees can be of the following types-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Rooted Binary Tree/Simple Binary Tree</a:t>
            </a:r>
            <a:endParaRPr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Full / Strictly Binary Tree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Complete / Perfect Binary Tree</a:t>
            </a:r>
            <a:endParaRPr sz="2000"/>
          </a:p>
        </p:txBody>
      </p:sp>
      <p:sp>
        <p:nvSpPr>
          <p:cNvPr id="690" name="Google Shape;690;p45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691" name="Google Shape;691;p45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692" name="Google Shape;692;p45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46"/>
          <p:cNvSpPr txBox="1"/>
          <p:nvPr>
            <p:ph type="title"/>
          </p:nvPr>
        </p:nvSpPr>
        <p:spPr>
          <a:xfrm>
            <a:off x="971600" y="332656"/>
            <a:ext cx="7024744" cy="5760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lang="en-IN"/>
              <a:t>Strictly Binary Tree</a:t>
            </a:r>
            <a:endParaRPr/>
          </a:p>
        </p:txBody>
      </p:sp>
      <p:sp>
        <p:nvSpPr>
          <p:cNvPr id="698" name="Google Shape;698;p46"/>
          <p:cNvSpPr txBox="1"/>
          <p:nvPr>
            <p:ph idx="1" type="body"/>
          </p:nvPr>
        </p:nvSpPr>
        <p:spPr>
          <a:xfrm>
            <a:off x="971600" y="1124744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Strict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If every node is either a Leaf or has 2 children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/>
              <a:t>Also called Full binary tree</a:t>
            </a:r>
            <a:endParaRPr sz="2000"/>
          </a:p>
        </p:txBody>
      </p:sp>
      <p:sp>
        <p:nvSpPr>
          <p:cNvPr descr="Tree implementation in Java (root, parents and children) - Stack Overflow" id="699" name="Google Shape;699;p46"/>
          <p:cNvSpPr/>
          <p:nvPr/>
        </p:nvSpPr>
        <p:spPr>
          <a:xfrm>
            <a:off x="155575" y="-808038"/>
            <a:ext cx="2705100" cy="16954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https://www.gatevidyalay.com/wp-content/uploads/2018/07/Full-Binary-Tree-Strictly-Binary-Tree-Example-1.png" id="700" name="Google Shape;700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99028" y="2996952"/>
            <a:ext cx="6115050" cy="2664296"/>
          </a:xfrm>
          <a:prstGeom prst="rect">
            <a:avLst/>
          </a:prstGeom>
          <a:noFill/>
          <a:ln>
            <a:noFill/>
          </a:ln>
        </p:spPr>
      </p:pic>
      <p:sp>
        <p:nvSpPr>
          <p:cNvPr id="701" name="Google Shape;701;p46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702" name="Google Shape;702;p46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703" name="Google Shape;703;p46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47"/>
          <p:cNvSpPr txBox="1"/>
          <p:nvPr>
            <p:ph type="title"/>
          </p:nvPr>
        </p:nvSpPr>
        <p:spPr>
          <a:xfrm>
            <a:off x="971600" y="332656"/>
            <a:ext cx="7024744" cy="5760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lang="en-IN"/>
              <a:t>Strictly Binary Tree</a:t>
            </a:r>
            <a:endParaRPr/>
          </a:p>
        </p:txBody>
      </p:sp>
      <p:sp>
        <p:nvSpPr>
          <p:cNvPr id="709" name="Google Shape;709;p47"/>
          <p:cNvSpPr txBox="1"/>
          <p:nvPr>
            <p:ph idx="1" type="body"/>
          </p:nvPr>
        </p:nvSpPr>
        <p:spPr>
          <a:xfrm>
            <a:off x="971600" y="1124744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A strictly Binary tree with n leaf nodes always contains 2n-1 total no of Nodes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</p:txBody>
      </p:sp>
      <p:sp>
        <p:nvSpPr>
          <p:cNvPr descr="Tree implementation in Java (root, parents and children) - Stack Overflow" id="710" name="Google Shape;710;p47"/>
          <p:cNvSpPr/>
          <p:nvPr/>
        </p:nvSpPr>
        <p:spPr>
          <a:xfrm>
            <a:off x="155575" y="-808038"/>
            <a:ext cx="2705100" cy="16954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https://www.gatevidyalay.com/wp-content/uploads/2018/07/Full-Binary-Tree-Strictly-Binary-Tree-Example-1.png" id="711" name="Google Shape;711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99028" y="2996952"/>
            <a:ext cx="6115050" cy="2664296"/>
          </a:xfrm>
          <a:prstGeom prst="rect">
            <a:avLst/>
          </a:prstGeom>
          <a:noFill/>
          <a:ln>
            <a:noFill/>
          </a:ln>
        </p:spPr>
      </p:pic>
      <p:sp>
        <p:nvSpPr>
          <p:cNvPr id="712" name="Google Shape;712;p47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713" name="Google Shape;713;p47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714" name="Google Shape;714;p47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715" name="Google Shape;715;p47"/>
          <p:cNvSpPr txBox="1"/>
          <p:nvPr/>
        </p:nvSpPr>
        <p:spPr>
          <a:xfrm>
            <a:off x="971600" y="5661248"/>
            <a:ext cx="2792865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 of leaves=4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2n-1=7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16" name="Google Shape;716;p47"/>
          <p:cNvSpPr txBox="1"/>
          <p:nvPr/>
        </p:nvSpPr>
        <p:spPr>
          <a:xfrm>
            <a:off x="4427984" y="5589240"/>
            <a:ext cx="2792865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 of leaves=4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2n-1=7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48"/>
          <p:cNvSpPr txBox="1"/>
          <p:nvPr>
            <p:ph type="title"/>
          </p:nvPr>
        </p:nvSpPr>
        <p:spPr>
          <a:xfrm>
            <a:off x="971600" y="332656"/>
            <a:ext cx="7024744" cy="5760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lang="en-IN"/>
              <a:t>Completely Binary Tree</a:t>
            </a:r>
            <a:endParaRPr/>
          </a:p>
        </p:txBody>
      </p:sp>
      <p:sp>
        <p:nvSpPr>
          <p:cNvPr id="722" name="Google Shape;722;p48"/>
          <p:cNvSpPr txBox="1"/>
          <p:nvPr>
            <p:ph idx="1" type="body"/>
          </p:nvPr>
        </p:nvSpPr>
        <p:spPr>
          <a:xfrm>
            <a:off x="971600" y="1196752"/>
            <a:ext cx="7128792" cy="4248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In a CBT tree of height h, All whose leaves are at Level h</a:t>
            </a:r>
            <a:endParaRPr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aseline="30000"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</p:txBody>
      </p:sp>
      <p:sp>
        <p:nvSpPr>
          <p:cNvPr descr="Tree implementation in Java (root, parents and children) - Stack Overflow" id="723" name="Google Shape;723;p48"/>
          <p:cNvSpPr/>
          <p:nvPr/>
        </p:nvSpPr>
        <p:spPr>
          <a:xfrm>
            <a:off x="155575" y="-808038"/>
            <a:ext cx="2705100" cy="16954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724" name="Google Shape;724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7880" y="2060848"/>
            <a:ext cx="4536504" cy="2736304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48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726" name="Google Shape;726;p48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727" name="Google Shape;727;p48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49"/>
          <p:cNvSpPr txBox="1"/>
          <p:nvPr>
            <p:ph type="title"/>
          </p:nvPr>
        </p:nvSpPr>
        <p:spPr>
          <a:xfrm>
            <a:off x="971600" y="332656"/>
            <a:ext cx="7024744" cy="5760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lang="en-IN"/>
              <a:t>Completely Binary Tree</a:t>
            </a:r>
            <a:endParaRPr/>
          </a:p>
        </p:txBody>
      </p:sp>
      <p:sp>
        <p:nvSpPr>
          <p:cNvPr id="733" name="Google Shape;733;p49"/>
          <p:cNvSpPr txBox="1"/>
          <p:nvPr>
            <p:ph idx="1" type="body"/>
          </p:nvPr>
        </p:nvSpPr>
        <p:spPr>
          <a:xfrm>
            <a:off x="971600" y="1124744"/>
            <a:ext cx="6777317" cy="4752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96"/>
              <a:buNone/>
            </a:pPr>
            <a:r>
              <a:rPr lang="en-IN" sz="2100"/>
              <a:t>No of nodes at Level 0=2</a:t>
            </a:r>
            <a:r>
              <a:rPr baseline="30000" lang="en-IN" sz="2100"/>
              <a:t>0</a:t>
            </a:r>
            <a:endParaRPr/>
          </a:p>
          <a:p>
            <a:pPr indent="0" lvl="0" marL="68580" rtl="0" algn="l">
              <a:spcBef>
                <a:spcPts val="420"/>
              </a:spcBef>
              <a:spcAft>
                <a:spcPts val="0"/>
              </a:spcAft>
              <a:buSzPts val="1596"/>
              <a:buNone/>
            </a:pPr>
            <a:r>
              <a:rPr lang="en-IN" sz="2100"/>
              <a:t>No of nodes at Level 1=2</a:t>
            </a:r>
            <a:r>
              <a:rPr baseline="30000" lang="en-IN" sz="2100"/>
              <a:t>1</a:t>
            </a:r>
            <a:endParaRPr/>
          </a:p>
          <a:p>
            <a:pPr indent="0" lvl="0" marL="68580" rtl="0" algn="l">
              <a:spcBef>
                <a:spcPts val="420"/>
              </a:spcBef>
              <a:spcAft>
                <a:spcPts val="0"/>
              </a:spcAft>
              <a:buSzPts val="1596"/>
              <a:buNone/>
            </a:pPr>
            <a:r>
              <a:rPr lang="en-IN" sz="2100"/>
              <a:t>No of nodes at level 2=2</a:t>
            </a:r>
            <a:r>
              <a:rPr baseline="30000" lang="en-IN" sz="2100"/>
              <a:t>2</a:t>
            </a:r>
            <a:endParaRPr/>
          </a:p>
          <a:p>
            <a:pPr indent="0" lvl="0" marL="68580" rtl="0" algn="l">
              <a:spcBef>
                <a:spcPts val="420"/>
              </a:spcBef>
              <a:spcAft>
                <a:spcPts val="0"/>
              </a:spcAft>
              <a:buSzPts val="1596"/>
              <a:buNone/>
            </a:pPr>
            <a:r>
              <a:rPr baseline="30000" lang="en-IN" sz="2100"/>
              <a:t>|</a:t>
            </a:r>
            <a:endParaRPr/>
          </a:p>
          <a:p>
            <a:pPr indent="0" lvl="0" marL="68580" rtl="0" algn="l">
              <a:spcBef>
                <a:spcPts val="420"/>
              </a:spcBef>
              <a:spcAft>
                <a:spcPts val="0"/>
              </a:spcAft>
              <a:buSzPts val="1596"/>
              <a:buNone/>
            </a:pPr>
            <a:r>
              <a:rPr baseline="30000" lang="en-IN" sz="2100"/>
              <a:t>|</a:t>
            </a:r>
            <a:endParaRPr/>
          </a:p>
          <a:p>
            <a:pPr indent="0" lvl="0" marL="68580" rtl="0" algn="l">
              <a:spcBef>
                <a:spcPts val="420"/>
              </a:spcBef>
              <a:spcAft>
                <a:spcPts val="0"/>
              </a:spcAft>
              <a:buSzPts val="1596"/>
              <a:buNone/>
            </a:pPr>
            <a:r>
              <a:rPr baseline="30000" lang="en-IN" sz="2100"/>
              <a:t>|</a:t>
            </a:r>
            <a:endParaRPr/>
          </a:p>
          <a:p>
            <a:pPr indent="0" lvl="0" marL="68580" rtl="0" algn="l">
              <a:spcBef>
                <a:spcPts val="420"/>
              </a:spcBef>
              <a:spcAft>
                <a:spcPts val="0"/>
              </a:spcAft>
              <a:buSzPts val="1596"/>
              <a:buNone/>
            </a:pPr>
            <a:r>
              <a:rPr lang="en-IN" sz="2100"/>
              <a:t>No of nodes at level h=2</a:t>
            </a:r>
            <a:r>
              <a:rPr baseline="30000" lang="en-IN" sz="2100"/>
              <a:t>h</a:t>
            </a:r>
            <a:endParaRPr baseline="30000" sz="2100"/>
          </a:p>
          <a:p>
            <a:pPr indent="0" lvl="0" marL="68580" rtl="0" algn="l">
              <a:spcBef>
                <a:spcPts val="420"/>
              </a:spcBef>
              <a:spcAft>
                <a:spcPts val="0"/>
              </a:spcAft>
              <a:buSzPts val="1596"/>
              <a:buNone/>
            </a:pPr>
            <a:r>
              <a:t/>
            </a:r>
            <a:endParaRPr sz="21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</p:txBody>
      </p:sp>
      <p:sp>
        <p:nvSpPr>
          <p:cNvPr descr="Tree implementation in Java (root, parents and children) - Stack Overflow" id="734" name="Google Shape;734;p49"/>
          <p:cNvSpPr/>
          <p:nvPr/>
        </p:nvSpPr>
        <p:spPr>
          <a:xfrm>
            <a:off x="155575" y="-808038"/>
            <a:ext cx="2705100" cy="16954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descr="https://www.hitbullseye.com/hitbullseye-article-image/ap-gp-3.svg" id="735" name="Google Shape;735;p49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736" name="Google Shape;736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7375" y="1340768"/>
            <a:ext cx="2190750" cy="1944216"/>
          </a:xfrm>
          <a:prstGeom prst="rect">
            <a:avLst/>
          </a:prstGeom>
          <a:noFill/>
          <a:ln>
            <a:noFill/>
          </a:ln>
        </p:spPr>
      </p:pic>
      <p:sp>
        <p:nvSpPr>
          <p:cNvPr id="737" name="Google Shape;737;p49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738" name="Google Shape;738;p49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739" name="Google Shape;739;p49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50"/>
          <p:cNvSpPr txBox="1"/>
          <p:nvPr>
            <p:ph type="title"/>
          </p:nvPr>
        </p:nvSpPr>
        <p:spPr>
          <a:xfrm>
            <a:off x="971600" y="332656"/>
            <a:ext cx="7024744" cy="5760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lang="en-IN"/>
              <a:t>Completely Binary Tree</a:t>
            </a:r>
            <a:endParaRPr/>
          </a:p>
        </p:txBody>
      </p:sp>
      <p:sp>
        <p:nvSpPr>
          <p:cNvPr id="745" name="Google Shape;745;p50"/>
          <p:cNvSpPr txBox="1"/>
          <p:nvPr>
            <p:ph idx="1" type="body"/>
          </p:nvPr>
        </p:nvSpPr>
        <p:spPr>
          <a:xfrm>
            <a:off x="971600" y="1124744"/>
            <a:ext cx="6777317" cy="4752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96"/>
              <a:buNone/>
            </a:pPr>
            <a:r>
              <a:rPr lang="en-IN" sz="2100"/>
              <a:t>No of nodes at Level 0=2</a:t>
            </a:r>
            <a:r>
              <a:rPr baseline="30000" lang="en-IN" sz="2100"/>
              <a:t>0</a:t>
            </a:r>
            <a:endParaRPr/>
          </a:p>
          <a:p>
            <a:pPr indent="0" lvl="0" marL="68580" rtl="0" algn="l">
              <a:spcBef>
                <a:spcPts val="420"/>
              </a:spcBef>
              <a:spcAft>
                <a:spcPts val="0"/>
              </a:spcAft>
              <a:buSzPts val="1596"/>
              <a:buNone/>
            </a:pPr>
            <a:r>
              <a:rPr lang="en-IN" sz="2100"/>
              <a:t>No of nodes at Level 1=2</a:t>
            </a:r>
            <a:r>
              <a:rPr baseline="30000" lang="en-IN" sz="2100"/>
              <a:t>1</a:t>
            </a:r>
            <a:endParaRPr/>
          </a:p>
          <a:p>
            <a:pPr indent="0" lvl="0" marL="68580" rtl="0" algn="l">
              <a:spcBef>
                <a:spcPts val="420"/>
              </a:spcBef>
              <a:spcAft>
                <a:spcPts val="0"/>
              </a:spcAft>
              <a:buSzPts val="1596"/>
              <a:buNone/>
            </a:pPr>
            <a:r>
              <a:rPr lang="en-IN" sz="2100"/>
              <a:t>No of nodes at level 2=2</a:t>
            </a:r>
            <a:r>
              <a:rPr baseline="30000" lang="en-IN" sz="2100"/>
              <a:t>2</a:t>
            </a:r>
            <a:endParaRPr/>
          </a:p>
          <a:p>
            <a:pPr indent="0" lvl="0" marL="68580" rtl="0" algn="l">
              <a:spcBef>
                <a:spcPts val="420"/>
              </a:spcBef>
              <a:spcAft>
                <a:spcPts val="0"/>
              </a:spcAft>
              <a:buSzPts val="1596"/>
              <a:buNone/>
            </a:pPr>
            <a:r>
              <a:rPr baseline="30000" lang="en-IN" sz="2100"/>
              <a:t>|</a:t>
            </a:r>
            <a:endParaRPr/>
          </a:p>
          <a:p>
            <a:pPr indent="0" lvl="0" marL="68580" rtl="0" algn="l">
              <a:spcBef>
                <a:spcPts val="420"/>
              </a:spcBef>
              <a:spcAft>
                <a:spcPts val="0"/>
              </a:spcAft>
              <a:buSzPts val="1596"/>
              <a:buNone/>
            </a:pPr>
            <a:r>
              <a:rPr baseline="30000" lang="en-IN" sz="2100"/>
              <a:t>|</a:t>
            </a:r>
            <a:endParaRPr/>
          </a:p>
          <a:p>
            <a:pPr indent="0" lvl="0" marL="68580" rtl="0" algn="l">
              <a:spcBef>
                <a:spcPts val="420"/>
              </a:spcBef>
              <a:spcAft>
                <a:spcPts val="0"/>
              </a:spcAft>
              <a:buSzPts val="1596"/>
              <a:buNone/>
            </a:pPr>
            <a:r>
              <a:rPr baseline="30000" lang="en-IN" sz="2100"/>
              <a:t>|</a:t>
            </a:r>
            <a:endParaRPr/>
          </a:p>
          <a:p>
            <a:pPr indent="0" lvl="0" marL="68580" rtl="0" algn="l">
              <a:spcBef>
                <a:spcPts val="420"/>
              </a:spcBef>
              <a:spcAft>
                <a:spcPts val="0"/>
              </a:spcAft>
              <a:buSzPts val="1596"/>
              <a:buNone/>
            </a:pPr>
            <a:r>
              <a:rPr lang="en-IN" sz="2100"/>
              <a:t>No of nodes at level h=2</a:t>
            </a:r>
            <a:r>
              <a:rPr baseline="30000" lang="en-IN" sz="2100"/>
              <a:t>h</a:t>
            </a:r>
            <a:endParaRPr baseline="30000" sz="2100"/>
          </a:p>
          <a:p>
            <a:pPr indent="0" lvl="0" marL="68580" rtl="0" algn="l">
              <a:spcBef>
                <a:spcPts val="420"/>
              </a:spcBef>
              <a:spcAft>
                <a:spcPts val="0"/>
              </a:spcAft>
              <a:buSzPts val="1596"/>
              <a:buNone/>
            </a:pPr>
            <a:r>
              <a:t/>
            </a:r>
            <a:endParaRPr sz="2100"/>
          </a:p>
          <a:p>
            <a:pPr indent="0" lvl="0" marL="68580" rtl="0" algn="l">
              <a:spcBef>
                <a:spcPts val="420"/>
              </a:spcBef>
              <a:spcAft>
                <a:spcPts val="0"/>
              </a:spcAft>
              <a:buSzPts val="1596"/>
              <a:buNone/>
            </a:pPr>
            <a:r>
              <a:rPr b="1" lang="en-IN" sz="2100"/>
              <a:t>Total Number of nodes in a complete Binary Tree of depth h=2</a:t>
            </a:r>
            <a:r>
              <a:rPr b="1" baseline="30000" lang="en-IN" sz="2100"/>
              <a:t>0</a:t>
            </a:r>
            <a:r>
              <a:rPr b="1" lang="en-IN" sz="2100"/>
              <a:t>+2</a:t>
            </a:r>
            <a:r>
              <a:rPr b="1" baseline="30000" lang="en-IN" sz="2100"/>
              <a:t>1</a:t>
            </a:r>
            <a:r>
              <a:rPr b="1" lang="en-IN" sz="2100"/>
              <a:t>+2</a:t>
            </a:r>
            <a:r>
              <a:rPr b="1" baseline="30000" lang="en-IN" sz="2100"/>
              <a:t>2</a:t>
            </a:r>
            <a:r>
              <a:rPr b="1" lang="en-IN" sz="2100"/>
              <a:t>+ ---------2</a:t>
            </a:r>
            <a:r>
              <a:rPr b="1" baseline="30000" lang="en-IN" sz="2100"/>
              <a:t>h</a:t>
            </a:r>
            <a:endParaRPr/>
          </a:p>
          <a:p>
            <a:pPr indent="0" lvl="0" marL="68580" rtl="0" algn="l">
              <a:spcBef>
                <a:spcPts val="420"/>
              </a:spcBef>
              <a:spcAft>
                <a:spcPts val="0"/>
              </a:spcAft>
              <a:buSzPts val="1596"/>
              <a:buNone/>
            </a:pPr>
            <a:r>
              <a:rPr b="1" baseline="30000" lang="en-IN" sz="2100"/>
              <a:t>	=</a:t>
            </a:r>
            <a:r>
              <a:rPr b="1" lang="en-IN" sz="2100"/>
              <a:t>2</a:t>
            </a:r>
            <a:r>
              <a:rPr b="1" baseline="30000" lang="en-IN" sz="2100"/>
              <a:t>h+1</a:t>
            </a:r>
            <a:r>
              <a:rPr b="1" lang="en-IN" sz="2100"/>
              <a:t>-1</a:t>
            </a:r>
            <a:endParaRPr/>
          </a:p>
          <a:p>
            <a:pPr indent="0" lvl="0" marL="68580" rtl="0" algn="l">
              <a:spcBef>
                <a:spcPts val="420"/>
              </a:spcBef>
              <a:spcAft>
                <a:spcPts val="0"/>
              </a:spcAft>
              <a:buSzPts val="1596"/>
              <a:buNone/>
            </a:pPr>
            <a:r>
              <a:rPr b="1" lang="en-IN" sz="2100"/>
              <a:t>Using Sum of Geometric Progression Series-</a:t>
            </a:r>
            <a:endParaRPr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</p:txBody>
      </p:sp>
      <p:sp>
        <p:nvSpPr>
          <p:cNvPr descr="Tree implementation in Java (root, parents and children) - Stack Overflow" id="746" name="Google Shape;746;p50"/>
          <p:cNvSpPr/>
          <p:nvPr/>
        </p:nvSpPr>
        <p:spPr>
          <a:xfrm>
            <a:off x="155575" y="-808038"/>
            <a:ext cx="2705100" cy="16954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descr="https://www.hitbullseye.com/hitbullseye-article-image/ap-gp-3.svg" id="747" name="Google Shape;747;p50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748" name="Google Shape;74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04248" y="4869160"/>
            <a:ext cx="1575048" cy="649411"/>
          </a:xfrm>
          <a:prstGeom prst="rect">
            <a:avLst/>
          </a:prstGeom>
          <a:noFill/>
          <a:ln>
            <a:noFill/>
          </a:ln>
        </p:spPr>
      </p:pic>
      <p:pic>
        <p:nvPicPr>
          <p:cNvPr id="749" name="Google Shape;749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67375" y="1340768"/>
            <a:ext cx="2190750" cy="1944216"/>
          </a:xfrm>
          <a:prstGeom prst="rect">
            <a:avLst/>
          </a:prstGeom>
          <a:noFill/>
          <a:ln>
            <a:noFill/>
          </a:ln>
        </p:spPr>
      </p:pic>
      <p:sp>
        <p:nvSpPr>
          <p:cNvPr id="750" name="Google Shape;750;p50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751" name="Google Shape;751;p50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752" name="Google Shape;752;p50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51"/>
          <p:cNvSpPr txBox="1"/>
          <p:nvPr>
            <p:ph type="title"/>
          </p:nvPr>
        </p:nvSpPr>
        <p:spPr>
          <a:xfrm>
            <a:off x="971600" y="332656"/>
            <a:ext cx="7024744" cy="5760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lang="en-IN"/>
              <a:t>Completely Binary Tree</a:t>
            </a:r>
            <a:endParaRPr/>
          </a:p>
        </p:txBody>
      </p:sp>
      <p:sp>
        <p:nvSpPr>
          <p:cNvPr id="758" name="Google Shape;758;p51"/>
          <p:cNvSpPr txBox="1"/>
          <p:nvPr>
            <p:ph idx="1" type="body"/>
          </p:nvPr>
        </p:nvSpPr>
        <p:spPr>
          <a:xfrm>
            <a:off x="971600" y="1124744"/>
            <a:ext cx="6777317" cy="4752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96"/>
              <a:buNone/>
            </a:pPr>
            <a:r>
              <a:rPr b="1" lang="en-IN" sz="2100"/>
              <a:t>Let the total nodes in tree =n, then </a:t>
            </a:r>
            <a:endParaRPr/>
          </a:p>
          <a:p>
            <a:pPr indent="0" lvl="0" marL="68580" rtl="0" algn="l">
              <a:spcBef>
                <a:spcPts val="420"/>
              </a:spcBef>
              <a:spcAft>
                <a:spcPts val="0"/>
              </a:spcAft>
              <a:buSzPts val="1596"/>
              <a:buNone/>
            </a:pPr>
            <a:r>
              <a:rPr b="1" lang="en-IN" sz="2100"/>
              <a:t>n=2</a:t>
            </a:r>
            <a:r>
              <a:rPr b="1" baseline="30000" lang="en-IN" sz="2100"/>
              <a:t>h+1</a:t>
            </a:r>
            <a:r>
              <a:rPr b="1" lang="en-IN" sz="2100"/>
              <a:t>-1</a:t>
            </a:r>
            <a:endParaRPr b="1" sz="2100"/>
          </a:p>
          <a:p>
            <a:pPr indent="0" lvl="0" marL="68580" rtl="0" algn="l">
              <a:spcBef>
                <a:spcPts val="420"/>
              </a:spcBef>
              <a:spcAft>
                <a:spcPts val="0"/>
              </a:spcAft>
              <a:buSzPts val="1596"/>
              <a:buNone/>
            </a:pPr>
            <a:r>
              <a:rPr b="1" lang="en-IN" sz="2100"/>
              <a:t>2</a:t>
            </a:r>
            <a:r>
              <a:rPr b="1" baseline="30000" lang="en-IN" sz="2100"/>
              <a:t>h+1</a:t>
            </a:r>
            <a:r>
              <a:rPr b="1" lang="en-IN" sz="2100"/>
              <a:t>=n+1</a:t>
            </a:r>
            <a:endParaRPr/>
          </a:p>
          <a:p>
            <a:pPr indent="0" lvl="0" marL="68580" rtl="0" algn="l">
              <a:spcBef>
                <a:spcPts val="420"/>
              </a:spcBef>
              <a:spcAft>
                <a:spcPts val="0"/>
              </a:spcAft>
              <a:buSzPts val="1596"/>
              <a:buNone/>
            </a:pPr>
            <a:r>
              <a:rPr b="1" lang="en-IN" sz="2100"/>
              <a:t>Using log:</a:t>
            </a:r>
            <a:endParaRPr/>
          </a:p>
          <a:p>
            <a:pPr indent="0" lvl="0" marL="68580" rtl="0" algn="l">
              <a:spcBef>
                <a:spcPts val="420"/>
              </a:spcBef>
              <a:spcAft>
                <a:spcPts val="0"/>
              </a:spcAft>
              <a:buSzPts val="1596"/>
              <a:buNone/>
            </a:pPr>
            <a:r>
              <a:rPr b="1" lang="en-IN" sz="2100"/>
              <a:t>log</a:t>
            </a:r>
            <a:r>
              <a:rPr b="1" baseline="-25000" lang="en-IN" sz="2100"/>
              <a:t>2</a:t>
            </a:r>
            <a:r>
              <a:rPr b="1" lang="en-IN" sz="2100"/>
              <a:t>(n+1)=h+1</a:t>
            </a:r>
            <a:endParaRPr/>
          </a:p>
          <a:p>
            <a:pPr indent="0" lvl="0" marL="68580" rtl="0" algn="l">
              <a:spcBef>
                <a:spcPts val="420"/>
              </a:spcBef>
              <a:spcAft>
                <a:spcPts val="0"/>
              </a:spcAft>
              <a:buSzPts val="1596"/>
              <a:buNone/>
            </a:pPr>
            <a:r>
              <a:rPr b="1" lang="en-IN" sz="2100"/>
              <a:t>log</a:t>
            </a:r>
            <a:r>
              <a:rPr b="1" baseline="-25000" lang="en-IN" sz="2100"/>
              <a:t>2</a:t>
            </a:r>
            <a:r>
              <a:rPr b="1" lang="en-IN" sz="2100"/>
              <a:t>(n+1)-1=h</a:t>
            </a:r>
            <a:endParaRPr/>
          </a:p>
          <a:p>
            <a:pPr indent="0" lvl="0" marL="68580" rtl="0" algn="l">
              <a:spcBef>
                <a:spcPts val="420"/>
              </a:spcBef>
              <a:spcAft>
                <a:spcPts val="0"/>
              </a:spcAft>
              <a:buSzPts val="1596"/>
              <a:buNone/>
            </a:pPr>
            <a:r>
              <a:t/>
            </a:r>
            <a:endParaRPr b="1" sz="2100"/>
          </a:p>
          <a:p>
            <a:pPr indent="0" lvl="0" marL="68580" rtl="0" algn="l">
              <a:spcBef>
                <a:spcPts val="420"/>
              </a:spcBef>
              <a:spcAft>
                <a:spcPts val="0"/>
              </a:spcAft>
              <a:buSzPts val="1596"/>
              <a:buNone/>
            </a:pPr>
            <a:r>
              <a:rPr b="1" lang="en-IN" sz="2100"/>
              <a:t>i.e. Height=h=log</a:t>
            </a:r>
            <a:r>
              <a:rPr b="1" baseline="-25000" lang="en-IN" sz="2100"/>
              <a:t>2</a:t>
            </a:r>
            <a:r>
              <a:rPr b="1" lang="en-IN" sz="2100"/>
              <a:t>(n+1)-1</a:t>
            </a:r>
            <a:endParaRPr/>
          </a:p>
          <a:p>
            <a:pPr indent="0" lvl="0" marL="68580" rtl="0" algn="l">
              <a:spcBef>
                <a:spcPts val="420"/>
              </a:spcBef>
              <a:spcAft>
                <a:spcPts val="0"/>
              </a:spcAft>
              <a:buSzPts val="1596"/>
              <a:buNone/>
            </a:pPr>
            <a:r>
              <a:t/>
            </a:r>
            <a:endParaRPr b="1" sz="2100"/>
          </a:p>
          <a:p>
            <a:pPr indent="0" lvl="0" marL="68580" rtl="0" algn="l">
              <a:spcBef>
                <a:spcPts val="420"/>
              </a:spcBef>
              <a:spcAft>
                <a:spcPts val="0"/>
              </a:spcAft>
              <a:buSzPts val="1596"/>
              <a:buNone/>
            </a:pPr>
            <a:r>
              <a:rPr b="1" lang="en-IN" sz="2100"/>
              <a:t>Height &amp; No of Nodes</a:t>
            </a:r>
            <a:endParaRPr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</p:txBody>
      </p:sp>
      <p:sp>
        <p:nvSpPr>
          <p:cNvPr descr="Tree implementation in Java (root, parents and children) - Stack Overflow" id="759" name="Google Shape;759;p51"/>
          <p:cNvSpPr/>
          <p:nvPr/>
        </p:nvSpPr>
        <p:spPr>
          <a:xfrm>
            <a:off x="155575" y="-808038"/>
            <a:ext cx="2705100" cy="16954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descr="https://www.hitbullseye.com/hitbullseye-article-image/ap-gp-3.svg" id="760" name="Google Shape;760;p51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61" name="Google Shape;761;p51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762" name="Google Shape;762;p51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763" name="Google Shape;763;p51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52"/>
          <p:cNvSpPr txBox="1"/>
          <p:nvPr>
            <p:ph type="title"/>
          </p:nvPr>
        </p:nvSpPr>
        <p:spPr>
          <a:xfrm>
            <a:off x="971600" y="332656"/>
            <a:ext cx="7024744" cy="5760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lang="en-IN"/>
              <a:t>Completely Binary Tree</a:t>
            </a:r>
            <a:endParaRPr/>
          </a:p>
        </p:txBody>
      </p:sp>
      <p:sp>
        <p:nvSpPr>
          <p:cNvPr id="769" name="Google Shape;769;p52"/>
          <p:cNvSpPr txBox="1"/>
          <p:nvPr>
            <p:ph idx="1" type="body"/>
          </p:nvPr>
        </p:nvSpPr>
        <p:spPr>
          <a:xfrm>
            <a:off x="971600" y="1124744"/>
            <a:ext cx="6777317" cy="4752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="1"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rPr b="1" lang="en-IN" sz="2000"/>
              <a:t>In Complete Binary Tree, no of leaves=(n+1)/2</a:t>
            </a:r>
            <a:endParaRPr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rPr b="1" lang="en-IN" sz="2000"/>
              <a:t>n=total no of nodes</a:t>
            </a:r>
            <a:endParaRPr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rPr lang="en-IN" sz="2000"/>
              <a:t>n=15</a:t>
            </a:r>
            <a:endParaRPr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rPr lang="en-IN" sz="2000"/>
              <a:t>no of leaves=16/2=8</a:t>
            </a:r>
            <a:endParaRPr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="1"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</p:txBody>
      </p:sp>
      <p:sp>
        <p:nvSpPr>
          <p:cNvPr descr="Tree implementation in Java (root, parents and children) - Stack Overflow" id="770" name="Google Shape;770;p52"/>
          <p:cNvSpPr/>
          <p:nvPr/>
        </p:nvSpPr>
        <p:spPr>
          <a:xfrm>
            <a:off x="155575" y="-808038"/>
            <a:ext cx="2705100" cy="16954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descr="https://www.hitbullseye.com/hitbullseye-article-image/ap-gp-3.svg" id="771" name="Google Shape;771;p52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72" name="Google Shape;772;p52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773" name="Google Shape;773;p52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774" name="Google Shape;774;p52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75" name="Google Shape;7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1680" y="2204864"/>
            <a:ext cx="4536504" cy="27363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53"/>
          <p:cNvSpPr txBox="1"/>
          <p:nvPr>
            <p:ph type="title"/>
          </p:nvPr>
        </p:nvSpPr>
        <p:spPr>
          <a:xfrm>
            <a:off x="971600" y="332656"/>
            <a:ext cx="7024744" cy="5760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lang="en-IN"/>
              <a:t>Completely Binary Tree</a:t>
            </a:r>
            <a:endParaRPr/>
          </a:p>
        </p:txBody>
      </p:sp>
      <p:sp>
        <p:nvSpPr>
          <p:cNvPr id="781" name="Google Shape;781;p53"/>
          <p:cNvSpPr txBox="1"/>
          <p:nvPr>
            <p:ph idx="1" type="body"/>
          </p:nvPr>
        </p:nvSpPr>
        <p:spPr>
          <a:xfrm>
            <a:off x="971600" y="1124744"/>
            <a:ext cx="6777317" cy="4752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96"/>
              <a:buNone/>
            </a:pPr>
            <a:r>
              <a:rPr lang="en-IN" sz="2100"/>
              <a:t>Let the total nodes in tree =n, then </a:t>
            </a:r>
            <a:endParaRPr/>
          </a:p>
          <a:p>
            <a:pPr indent="0" lvl="0" marL="68580" rtl="0" algn="l">
              <a:spcBef>
                <a:spcPts val="420"/>
              </a:spcBef>
              <a:spcAft>
                <a:spcPts val="0"/>
              </a:spcAft>
              <a:buSzPts val="1596"/>
              <a:buNone/>
            </a:pPr>
            <a:r>
              <a:rPr lang="en-IN" sz="2100"/>
              <a:t>n=2</a:t>
            </a:r>
            <a:r>
              <a:rPr baseline="30000" lang="en-IN" sz="2100"/>
              <a:t>h+1</a:t>
            </a:r>
            <a:r>
              <a:rPr lang="en-IN" sz="2100"/>
              <a:t>-1</a:t>
            </a:r>
            <a:endParaRPr sz="2100"/>
          </a:p>
          <a:p>
            <a:pPr indent="0" lvl="0" marL="68580" rtl="0" algn="l">
              <a:spcBef>
                <a:spcPts val="420"/>
              </a:spcBef>
              <a:spcAft>
                <a:spcPts val="0"/>
              </a:spcAft>
              <a:buSzPts val="1596"/>
              <a:buNone/>
            </a:pPr>
            <a:r>
              <a:rPr lang="en-IN" sz="2100"/>
              <a:t>2</a:t>
            </a:r>
            <a:r>
              <a:rPr baseline="30000" lang="en-IN" sz="2100"/>
              <a:t>h+1</a:t>
            </a:r>
            <a:r>
              <a:rPr lang="en-IN" sz="2100"/>
              <a:t>=n+1</a:t>
            </a:r>
            <a:endParaRPr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rPr lang="en-IN" sz="2000"/>
              <a:t>2</a:t>
            </a:r>
            <a:r>
              <a:rPr baseline="30000" lang="en-IN" sz="2000"/>
              <a:t>h</a:t>
            </a:r>
            <a:r>
              <a:rPr lang="en-IN" sz="2000"/>
              <a:t>*2=n+1</a:t>
            </a:r>
            <a:endParaRPr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rPr lang="en-IN" sz="2000"/>
              <a:t>2</a:t>
            </a:r>
            <a:r>
              <a:rPr baseline="30000" lang="en-IN" sz="2000"/>
              <a:t>h</a:t>
            </a:r>
            <a:r>
              <a:rPr lang="en-IN" sz="2000"/>
              <a:t>=(n+1)/2</a:t>
            </a:r>
            <a:endParaRPr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rPr lang="en-IN" sz="2000"/>
              <a:t>In Complete Binary Tree, no of leaves=(n+1)/2</a:t>
            </a:r>
            <a:endParaRPr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rPr lang="en-IN" sz="2000"/>
              <a:t>Thus,</a:t>
            </a:r>
            <a:endParaRPr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rPr lang="en-IN" sz="2000"/>
              <a:t>h=log</a:t>
            </a:r>
            <a:r>
              <a:rPr baseline="-25000" lang="en-IN" sz="2000"/>
              <a:t>2</a:t>
            </a:r>
            <a:r>
              <a:rPr lang="en-IN" sz="2000"/>
              <a:t>(n+1)/2</a:t>
            </a:r>
            <a:endParaRPr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rPr b="1" lang="en-IN" sz="2000"/>
              <a:t>Height=h=log</a:t>
            </a:r>
            <a:r>
              <a:rPr b="1" baseline="-25000" lang="en-IN" sz="2000"/>
              <a:t>2</a:t>
            </a:r>
            <a:r>
              <a:rPr b="1" lang="en-IN" sz="2000"/>
              <a:t>(No of leaves)</a:t>
            </a:r>
            <a:endParaRPr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="1"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rPr b="1" lang="en-IN" sz="2000"/>
              <a:t>Height &amp; No of Leaves</a:t>
            </a:r>
            <a:endParaRPr b="1"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="1"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</p:txBody>
      </p:sp>
      <p:sp>
        <p:nvSpPr>
          <p:cNvPr descr="Tree implementation in Java (root, parents and children) - Stack Overflow" id="782" name="Google Shape;782;p53"/>
          <p:cNvSpPr/>
          <p:nvPr/>
        </p:nvSpPr>
        <p:spPr>
          <a:xfrm>
            <a:off x="155575" y="-808038"/>
            <a:ext cx="2705100" cy="16954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descr="https://www.hitbullseye.com/hitbullseye-article-image/ap-gp-3.svg" id="783" name="Google Shape;783;p53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84" name="Google Shape;784;p53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785" name="Google Shape;785;p53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786" name="Google Shape;786;p53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54"/>
          <p:cNvSpPr txBox="1"/>
          <p:nvPr>
            <p:ph type="title"/>
          </p:nvPr>
        </p:nvSpPr>
        <p:spPr>
          <a:xfrm>
            <a:off x="971600" y="332656"/>
            <a:ext cx="7024744" cy="5760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lang="en-IN"/>
              <a:t>Completely Binary Tree</a:t>
            </a:r>
            <a:endParaRPr/>
          </a:p>
        </p:txBody>
      </p:sp>
      <p:sp>
        <p:nvSpPr>
          <p:cNvPr id="792" name="Google Shape;792;p54"/>
          <p:cNvSpPr txBox="1"/>
          <p:nvPr>
            <p:ph idx="1" type="body"/>
          </p:nvPr>
        </p:nvSpPr>
        <p:spPr>
          <a:xfrm>
            <a:off x="971600" y="1124744"/>
            <a:ext cx="6777317" cy="4680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7800" lvl="0" marL="34290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="1"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/>
              <a:t>No of internal nodes=no of leaves-1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/>
              <a:t>No of leaves=8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/>
              <a:t>No of Internal Nodes=8-1=7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</p:txBody>
      </p:sp>
      <p:sp>
        <p:nvSpPr>
          <p:cNvPr descr="Tree implementation in Java (root, parents and children) - Stack Overflow" id="793" name="Google Shape;793;p54"/>
          <p:cNvSpPr/>
          <p:nvPr/>
        </p:nvSpPr>
        <p:spPr>
          <a:xfrm>
            <a:off x="155575" y="-808038"/>
            <a:ext cx="2705100" cy="16954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794" name="Google Shape;794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5776" y="1088740"/>
            <a:ext cx="2190750" cy="1944216"/>
          </a:xfrm>
          <a:prstGeom prst="rect">
            <a:avLst/>
          </a:prstGeom>
          <a:noFill/>
          <a:ln>
            <a:noFill/>
          </a:ln>
        </p:spPr>
      </p:pic>
      <p:sp>
        <p:nvSpPr>
          <p:cNvPr id="795" name="Google Shape;795;p54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796" name="Google Shape;796;p54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797" name="Google Shape;797;p54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55"/>
          <p:cNvSpPr txBox="1"/>
          <p:nvPr>
            <p:ph type="title"/>
          </p:nvPr>
        </p:nvSpPr>
        <p:spPr>
          <a:xfrm>
            <a:off x="971600" y="332656"/>
            <a:ext cx="7024744" cy="5760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lang="en-IN"/>
              <a:t>Completely Binary Tree</a:t>
            </a:r>
            <a:endParaRPr/>
          </a:p>
        </p:txBody>
      </p:sp>
      <p:sp>
        <p:nvSpPr>
          <p:cNvPr id="803" name="Google Shape;803;p55"/>
          <p:cNvSpPr txBox="1"/>
          <p:nvPr>
            <p:ph idx="1" type="body"/>
          </p:nvPr>
        </p:nvSpPr>
        <p:spPr>
          <a:xfrm>
            <a:off x="971600" y="1124744"/>
            <a:ext cx="6777317" cy="4680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185039" lvl="0" marL="342900" rtl="0" algn="l">
              <a:spcBef>
                <a:spcPts val="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sz="2000"/>
          </a:p>
          <a:p>
            <a:pPr indent="-185039" lvl="0" marL="342900" rtl="0" algn="l">
              <a:spcBef>
                <a:spcPts val="37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sz="2000"/>
          </a:p>
          <a:p>
            <a:pPr indent="-185039" lvl="0" marL="342900" rtl="0" algn="l">
              <a:spcBef>
                <a:spcPts val="37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sz="2000"/>
          </a:p>
          <a:p>
            <a:pPr indent="-185039" lvl="0" marL="342900" rtl="0" algn="l">
              <a:spcBef>
                <a:spcPts val="37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sz="2000"/>
          </a:p>
          <a:p>
            <a:pPr indent="-185039" lvl="0" marL="342900" rtl="0" algn="l">
              <a:spcBef>
                <a:spcPts val="37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sz="2000"/>
          </a:p>
          <a:p>
            <a:pPr indent="-185039" lvl="0" marL="342900" rtl="0" algn="l">
              <a:spcBef>
                <a:spcPts val="37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sz="2000"/>
          </a:p>
          <a:p>
            <a:pPr indent="-185039" lvl="0" marL="342900" rtl="0" algn="l">
              <a:spcBef>
                <a:spcPts val="37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b="1" sz="2000"/>
          </a:p>
          <a:p>
            <a:pPr indent="-274320" lvl="0" marL="342900" rtl="0" algn="l">
              <a:spcBef>
                <a:spcPts val="370"/>
              </a:spcBef>
              <a:spcAft>
                <a:spcPts val="0"/>
              </a:spcAft>
              <a:buSzPct val="76000"/>
              <a:buChar char="🞇"/>
            </a:pPr>
            <a:r>
              <a:rPr b="1" lang="en-IN" sz="2000"/>
              <a:t>Level I has 2</a:t>
            </a:r>
            <a:r>
              <a:rPr b="1" baseline="30000" lang="en-IN" sz="2000"/>
              <a:t>i</a:t>
            </a:r>
            <a:r>
              <a:rPr b="1" lang="en-IN" sz="2000"/>
              <a:t> nodes</a:t>
            </a:r>
            <a:endParaRPr/>
          </a:p>
          <a:p>
            <a:pPr indent="-274320" lvl="0" marL="342900" rtl="0" algn="l">
              <a:spcBef>
                <a:spcPts val="370"/>
              </a:spcBef>
              <a:spcAft>
                <a:spcPts val="0"/>
              </a:spcAft>
              <a:buSzPct val="76000"/>
              <a:buChar char="🞇"/>
            </a:pPr>
            <a:r>
              <a:rPr lang="en-IN" sz="2000"/>
              <a:t>So at level h, no of nodes= 2</a:t>
            </a:r>
            <a:r>
              <a:rPr baseline="30000" lang="en-IN" sz="2000"/>
              <a:t>h</a:t>
            </a:r>
            <a:endParaRPr sz="2000"/>
          </a:p>
          <a:p>
            <a:pPr indent="-185039" lvl="0" marL="342900" rtl="0" algn="l">
              <a:spcBef>
                <a:spcPts val="37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baseline="30000" sz="2000"/>
          </a:p>
          <a:p>
            <a:pPr indent="-274320" lvl="0" marL="342900" rtl="0" algn="l">
              <a:spcBef>
                <a:spcPts val="370"/>
              </a:spcBef>
              <a:spcAft>
                <a:spcPts val="0"/>
              </a:spcAft>
              <a:buSzPct val="76000"/>
              <a:buChar char="🞇"/>
            </a:pPr>
            <a:r>
              <a:rPr lang="en-IN" sz="2000"/>
              <a:t>No of leaves=2</a:t>
            </a:r>
            <a:r>
              <a:rPr baseline="30000" lang="en-IN" sz="2000"/>
              <a:t>h</a:t>
            </a:r>
            <a:endParaRPr sz="2000"/>
          </a:p>
          <a:p>
            <a:pPr indent="-274320" lvl="0" marL="342900" rtl="0" algn="l">
              <a:spcBef>
                <a:spcPts val="370"/>
              </a:spcBef>
              <a:spcAft>
                <a:spcPts val="0"/>
              </a:spcAft>
              <a:buSzPct val="76000"/>
              <a:buChar char="🞇"/>
            </a:pPr>
            <a:r>
              <a:rPr lang="en-IN" sz="2000"/>
              <a:t>No of internal node=2</a:t>
            </a:r>
            <a:r>
              <a:rPr baseline="30000" lang="en-IN" sz="2000"/>
              <a:t>0</a:t>
            </a:r>
            <a:r>
              <a:rPr lang="en-IN" sz="2000"/>
              <a:t>+2</a:t>
            </a:r>
            <a:r>
              <a:rPr baseline="30000" lang="en-IN" sz="2000"/>
              <a:t>1</a:t>
            </a:r>
            <a:r>
              <a:rPr lang="en-IN" sz="2000"/>
              <a:t>+2</a:t>
            </a:r>
            <a:r>
              <a:rPr baseline="30000" lang="en-IN" sz="2000"/>
              <a:t>2</a:t>
            </a:r>
            <a:r>
              <a:rPr lang="en-IN" sz="2000"/>
              <a:t>+…….+2</a:t>
            </a:r>
            <a:r>
              <a:rPr baseline="30000" lang="en-IN" sz="2000"/>
              <a:t>h-1</a:t>
            </a:r>
            <a:r>
              <a:rPr lang="en-IN" sz="2000"/>
              <a:t>=2</a:t>
            </a:r>
            <a:r>
              <a:rPr baseline="30000" lang="en-IN" sz="2000"/>
              <a:t>h</a:t>
            </a:r>
            <a:r>
              <a:rPr lang="en-IN" sz="2000"/>
              <a:t>-1</a:t>
            </a:r>
            <a:endParaRPr/>
          </a:p>
          <a:p>
            <a:pPr indent="0" lvl="0" marL="68580" rtl="0" algn="l">
              <a:spcBef>
                <a:spcPts val="37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b="1" sz="2000"/>
          </a:p>
          <a:p>
            <a:pPr indent="0" lvl="0" marL="68580" rtl="0" algn="l">
              <a:spcBef>
                <a:spcPts val="370"/>
              </a:spcBef>
              <a:spcAft>
                <a:spcPts val="0"/>
              </a:spcAft>
              <a:buSzPct val="76000"/>
              <a:buNone/>
            </a:pPr>
            <a:r>
              <a:rPr b="1" lang="en-IN" sz="2000"/>
              <a:t>Using Sum of Geometric Progression Series-</a:t>
            </a:r>
            <a:endParaRPr/>
          </a:p>
          <a:p>
            <a:pPr indent="0" lvl="0" marL="68580" rtl="0" algn="l">
              <a:spcBef>
                <a:spcPts val="37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sz="2000"/>
          </a:p>
          <a:p>
            <a:pPr indent="-274320" lvl="0" marL="342900" rtl="0" algn="l">
              <a:spcBef>
                <a:spcPts val="370"/>
              </a:spcBef>
              <a:spcAft>
                <a:spcPts val="0"/>
              </a:spcAft>
              <a:buSzPct val="76000"/>
              <a:buChar char="🞇"/>
            </a:pPr>
            <a:r>
              <a:rPr b="1" lang="en-IN" sz="2000"/>
              <a:t>No of internal nodes=no of leaves-1</a:t>
            </a:r>
            <a:endParaRPr/>
          </a:p>
          <a:p>
            <a:pPr indent="-185039" lvl="0" marL="342900" rtl="0" algn="l">
              <a:spcBef>
                <a:spcPts val="37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sz="2000"/>
          </a:p>
          <a:p>
            <a:pPr indent="-185039" lvl="0" marL="342900" rtl="0" algn="l">
              <a:spcBef>
                <a:spcPts val="37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sz="2000"/>
          </a:p>
          <a:p>
            <a:pPr indent="-185039" lvl="0" marL="342900" rtl="0" algn="l">
              <a:spcBef>
                <a:spcPts val="37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sz="2000"/>
          </a:p>
        </p:txBody>
      </p:sp>
      <p:sp>
        <p:nvSpPr>
          <p:cNvPr descr="Tree implementation in Java (root, parents and children) - Stack Overflow" id="804" name="Google Shape;804;p55"/>
          <p:cNvSpPr/>
          <p:nvPr/>
        </p:nvSpPr>
        <p:spPr>
          <a:xfrm>
            <a:off x="155575" y="-808038"/>
            <a:ext cx="2705100" cy="16954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805" name="Google Shape;805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5776" y="1088740"/>
            <a:ext cx="2190750" cy="1944216"/>
          </a:xfrm>
          <a:prstGeom prst="rect">
            <a:avLst/>
          </a:prstGeom>
          <a:noFill/>
          <a:ln>
            <a:noFill/>
          </a:ln>
        </p:spPr>
      </p:pic>
      <p:sp>
        <p:nvSpPr>
          <p:cNvPr id="806" name="Google Shape;806;p55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807" name="Google Shape;807;p55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808" name="Google Shape;808;p55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9" name="Google Shape;809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0192" y="4581128"/>
            <a:ext cx="1575048" cy="649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56"/>
          <p:cNvSpPr txBox="1"/>
          <p:nvPr>
            <p:ph type="title"/>
          </p:nvPr>
        </p:nvSpPr>
        <p:spPr>
          <a:xfrm>
            <a:off x="971600" y="332656"/>
            <a:ext cx="7024744" cy="7200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</a:pPr>
            <a:r>
              <a:rPr lang="en-IN"/>
              <a:t>Complete Binary Tree</a:t>
            </a:r>
            <a:endParaRPr/>
          </a:p>
        </p:txBody>
      </p:sp>
      <p:sp>
        <p:nvSpPr>
          <p:cNvPr id="815" name="Google Shape;815;p56"/>
          <p:cNvSpPr txBox="1"/>
          <p:nvPr>
            <p:ph idx="1" type="body"/>
          </p:nvPr>
        </p:nvSpPr>
        <p:spPr>
          <a:xfrm>
            <a:off x="1043608" y="1844824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A binary tree can be obtained from an complete binary tree by pruning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Take a complete binary tree, cut off some branches then you will get a binary tree.</a:t>
            </a:r>
            <a:endParaRPr sz="2000"/>
          </a:p>
        </p:txBody>
      </p:sp>
      <p:pic>
        <p:nvPicPr>
          <p:cNvPr id="816" name="Google Shape;816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7624" y="3645024"/>
            <a:ext cx="6048672" cy="2304256"/>
          </a:xfrm>
          <a:prstGeom prst="rect">
            <a:avLst/>
          </a:prstGeom>
          <a:noFill/>
          <a:ln>
            <a:noFill/>
          </a:ln>
        </p:spPr>
      </p:pic>
      <p:sp>
        <p:nvSpPr>
          <p:cNvPr id="817" name="Google Shape;817;p56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818" name="Google Shape;818;p56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819" name="Google Shape;819;p56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57"/>
          <p:cNvSpPr txBox="1"/>
          <p:nvPr>
            <p:ph idx="1" type="body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19" lvl="0" marL="342900" rtl="0" algn="l">
              <a:spcBef>
                <a:spcPts val="0"/>
              </a:spcBef>
              <a:spcAft>
                <a:spcPts val="0"/>
              </a:spcAft>
              <a:buSzPts val="1824"/>
              <a:buChar char="🞇"/>
            </a:pPr>
            <a:r>
              <a:rPr b="1" lang="en-IN"/>
              <a:t>Array Representation </a:t>
            </a:r>
            <a:endParaRPr/>
          </a:p>
          <a:p>
            <a:pPr indent="-274319" lvl="0" marL="342900" rtl="0" algn="l">
              <a:spcBef>
                <a:spcPts val="480"/>
              </a:spcBef>
              <a:spcAft>
                <a:spcPts val="0"/>
              </a:spcAft>
              <a:buSzPts val="1824"/>
              <a:buChar char="🞇"/>
            </a:pPr>
            <a:r>
              <a:rPr b="1" lang="en-IN"/>
              <a:t>Linked List Representation</a:t>
            </a:r>
            <a:endParaRPr b="1"/>
          </a:p>
          <a:p>
            <a:pPr indent="-158496" lvl="0" marL="342900" rtl="0" algn="l"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 b="1"/>
          </a:p>
        </p:txBody>
      </p:sp>
      <p:sp>
        <p:nvSpPr>
          <p:cNvPr id="825" name="Google Shape;825;p57"/>
          <p:cNvSpPr txBox="1"/>
          <p:nvPr/>
        </p:nvSpPr>
        <p:spPr>
          <a:xfrm>
            <a:off x="827584" y="1340768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lang="en-IN" sz="28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Representation of a Binary Tree </a:t>
            </a:r>
            <a:endParaRPr sz="28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26" name="Google Shape;826;p57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827" name="Google Shape;827;p57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828" name="Google Shape;828;p57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58"/>
          <p:cNvSpPr txBox="1"/>
          <p:nvPr>
            <p:ph idx="1" type="body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Using 1-D Array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/>
              <a:t>Nodes are numbered sequentially level by level left to right.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/>
              <a:t>Even empty nodes are numbered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When data of the tree is stored in an array then the number appearing against the node will work as indices of the node in the array</a:t>
            </a:r>
            <a:endParaRPr sz="2000"/>
          </a:p>
        </p:txBody>
      </p:sp>
      <p:sp>
        <p:nvSpPr>
          <p:cNvPr id="834" name="Google Shape;834;p58"/>
          <p:cNvSpPr txBox="1"/>
          <p:nvPr/>
        </p:nvSpPr>
        <p:spPr>
          <a:xfrm>
            <a:off x="827584" y="1340768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lang="en-IN" sz="28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Array Representation of a Binary Tree </a:t>
            </a:r>
            <a:endParaRPr sz="28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35" name="Google Shape;835;p58"/>
          <p:cNvSpPr/>
          <p:nvPr/>
        </p:nvSpPr>
        <p:spPr>
          <a:xfrm>
            <a:off x="5796136" y="3501008"/>
            <a:ext cx="648072" cy="936104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36" name="Google Shape;836;p58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837" name="Google Shape;837;p58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838" name="Google Shape;838;p58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3" name="Google Shape;843;p59"/>
          <p:cNvGraphicFramePr/>
          <p:nvPr/>
        </p:nvGraphicFramePr>
        <p:xfrm>
          <a:off x="1187624" y="436510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{35077E9C-5C52-42E2-86E2-A713F48B8A36}</a:tableStyleId>
              </a:tblPr>
              <a:tblGrid>
                <a:gridCol w="753000"/>
                <a:gridCol w="753000"/>
                <a:gridCol w="753000"/>
                <a:gridCol w="753000"/>
                <a:gridCol w="753000"/>
                <a:gridCol w="753000"/>
                <a:gridCol w="753000"/>
                <a:gridCol w="753000"/>
                <a:gridCol w="7530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[0]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[1]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[2]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[3]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[4]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[5]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[6]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[7]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[8]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A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B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C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D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E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F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G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H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I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844" name="Google Shape;844;p59"/>
          <p:cNvSpPr txBox="1"/>
          <p:nvPr/>
        </p:nvSpPr>
        <p:spPr>
          <a:xfrm>
            <a:off x="827584" y="548680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lang="en-IN" sz="28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Array Representation of a Binary Tree </a:t>
            </a:r>
            <a:endParaRPr sz="28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845" name="Google Shape;845;p59"/>
          <p:cNvGrpSpPr/>
          <p:nvPr/>
        </p:nvGrpSpPr>
        <p:grpSpPr>
          <a:xfrm>
            <a:off x="2433970" y="1269606"/>
            <a:ext cx="3811971" cy="2381051"/>
            <a:chOff x="1142014" y="846"/>
            <a:chExt cx="3811971" cy="2381051"/>
          </a:xfrm>
        </p:grpSpPr>
        <p:sp>
          <p:nvSpPr>
            <p:cNvPr id="846" name="Google Shape;846;p59"/>
            <p:cNvSpPr/>
            <p:nvPr/>
          </p:nvSpPr>
          <p:spPr>
            <a:xfrm>
              <a:off x="2927802" y="846"/>
              <a:ext cx="686841" cy="457894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59"/>
            <p:cNvSpPr txBox="1"/>
            <p:nvPr/>
          </p:nvSpPr>
          <p:spPr>
            <a:xfrm>
              <a:off x="2941213" y="14257"/>
              <a:ext cx="660019" cy="4310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2375" lIns="72375" spcFirstLastPara="1" rIns="72375" wrap="square" tIns="723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9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A</a:t>
              </a:r>
              <a:endParaRPr sz="1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48" name="Google Shape;848;p59"/>
            <p:cNvSpPr/>
            <p:nvPr/>
          </p:nvSpPr>
          <p:spPr>
            <a:xfrm>
              <a:off x="2378329" y="458740"/>
              <a:ext cx="892894" cy="183157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60000"/>
                  </a:lnTo>
                  <a:lnTo>
                    <a:pt x="0" y="60000"/>
                  </a:lnTo>
                  <a:lnTo>
                    <a:pt x="0" y="120000"/>
                  </a:lnTo>
                </a:path>
              </a:pathLst>
            </a:custGeom>
            <a:noFill/>
            <a:ln cap="flat" cmpd="sng" w="15875">
              <a:solidFill>
                <a:srgbClr val="759C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849" name="Google Shape;849;p59"/>
            <p:cNvSpPr/>
            <p:nvPr/>
          </p:nvSpPr>
          <p:spPr>
            <a:xfrm>
              <a:off x="2034908" y="641898"/>
              <a:ext cx="686841" cy="457894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59"/>
            <p:cNvSpPr txBox="1"/>
            <p:nvPr/>
          </p:nvSpPr>
          <p:spPr>
            <a:xfrm>
              <a:off x="2048319" y="655309"/>
              <a:ext cx="660019" cy="4310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2375" lIns="72375" spcFirstLastPara="1" rIns="72375" wrap="square" tIns="723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9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B</a:t>
              </a:r>
              <a:endParaRPr sz="1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51" name="Google Shape;851;p59"/>
            <p:cNvSpPr/>
            <p:nvPr/>
          </p:nvSpPr>
          <p:spPr>
            <a:xfrm>
              <a:off x="1931882" y="1099793"/>
              <a:ext cx="446447" cy="183157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60000"/>
                  </a:lnTo>
                  <a:lnTo>
                    <a:pt x="0" y="60000"/>
                  </a:lnTo>
                  <a:lnTo>
                    <a:pt x="0" y="120000"/>
                  </a:lnTo>
                </a:path>
              </a:pathLst>
            </a:custGeom>
            <a:noFill/>
            <a:ln cap="flat" cmpd="sng" w="15875">
              <a:solidFill>
                <a:srgbClr val="84B2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852" name="Google Shape;852;p59"/>
            <p:cNvSpPr/>
            <p:nvPr/>
          </p:nvSpPr>
          <p:spPr>
            <a:xfrm>
              <a:off x="1588461" y="1282950"/>
              <a:ext cx="686841" cy="457894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59"/>
            <p:cNvSpPr txBox="1"/>
            <p:nvPr/>
          </p:nvSpPr>
          <p:spPr>
            <a:xfrm>
              <a:off x="1601872" y="1296361"/>
              <a:ext cx="660019" cy="4310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2375" lIns="72375" spcFirstLastPara="1" rIns="72375" wrap="square" tIns="723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9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D</a:t>
              </a:r>
              <a:endParaRPr sz="1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54" name="Google Shape;854;p59"/>
            <p:cNvSpPr/>
            <p:nvPr/>
          </p:nvSpPr>
          <p:spPr>
            <a:xfrm>
              <a:off x="1485434" y="1740845"/>
              <a:ext cx="446447" cy="183157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60000"/>
                  </a:lnTo>
                  <a:lnTo>
                    <a:pt x="0" y="60000"/>
                  </a:lnTo>
                  <a:lnTo>
                    <a:pt x="0" y="120000"/>
                  </a:lnTo>
                </a:path>
              </a:pathLst>
            </a:custGeom>
            <a:noFill/>
            <a:ln cap="flat" cmpd="sng" w="15875">
              <a:solidFill>
                <a:srgbClr val="84B2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855" name="Google Shape;855;p59"/>
            <p:cNvSpPr/>
            <p:nvPr/>
          </p:nvSpPr>
          <p:spPr>
            <a:xfrm>
              <a:off x="1142014" y="1924003"/>
              <a:ext cx="686841" cy="457894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59"/>
            <p:cNvSpPr txBox="1"/>
            <p:nvPr/>
          </p:nvSpPr>
          <p:spPr>
            <a:xfrm>
              <a:off x="1155425" y="1937414"/>
              <a:ext cx="660019" cy="4310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2375" lIns="72375" spcFirstLastPara="1" rIns="72375" wrap="square" tIns="723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9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H</a:t>
              </a:r>
              <a:endParaRPr sz="1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57" name="Google Shape;857;p59"/>
            <p:cNvSpPr/>
            <p:nvPr/>
          </p:nvSpPr>
          <p:spPr>
            <a:xfrm>
              <a:off x="1931882" y="1740845"/>
              <a:ext cx="446447" cy="183157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60000"/>
                  </a:lnTo>
                  <a:lnTo>
                    <a:pt x="120000" y="6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15875">
              <a:solidFill>
                <a:srgbClr val="84B2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858" name="Google Shape;858;p59"/>
            <p:cNvSpPr/>
            <p:nvPr/>
          </p:nvSpPr>
          <p:spPr>
            <a:xfrm>
              <a:off x="2034908" y="1924003"/>
              <a:ext cx="686841" cy="457894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59"/>
            <p:cNvSpPr txBox="1"/>
            <p:nvPr/>
          </p:nvSpPr>
          <p:spPr>
            <a:xfrm>
              <a:off x="2048319" y="1937414"/>
              <a:ext cx="660019" cy="4310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2375" lIns="72375" spcFirstLastPara="1" rIns="72375" wrap="square" tIns="723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9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I</a:t>
              </a:r>
              <a:endParaRPr sz="1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60" name="Google Shape;860;p59"/>
            <p:cNvSpPr/>
            <p:nvPr/>
          </p:nvSpPr>
          <p:spPr>
            <a:xfrm>
              <a:off x="2378329" y="1099793"/>
              <a:ext cx="446447" cy="183157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60000"/>
                  </a:lnTo>
                  <a:lnTo>
                    <a:pt x="120000" y="6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15875">
              <a:solidFill>
                <a:srgbClr val="84B2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861" name="Google Shape;861;p59"/>
            <p:cNvSpPr/>
            <p:nvPr/>
          </p:nvSpPr>
          <p:spPr>
            <a:xfrm>
              <a:off x="2481355" y="1282950"/>
              <a:ext cx="686841" cy="457894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59"/>
            <p:cNvSpPr txBox="1"/>
            <p:nvPr/>
          </p:nvSpPr>
          <p:spPr>
            <a:xfrm>
              <a:off x="2494766" y="1296361"/>
              <a:ext cx="660019" cy="4310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2375" lIns="72375" spcFirstLastPara="1" rIns="72375" wrap="square" tIns="723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9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E</a:t>
              </a:r>
              <a:endParaRPr sz="1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63" name="Google Shape;863;p59"/>
            <p:cNvSpPr/>
            <p:nvPr/>
          </p:nvSpPr>
          <p:spPr>
            <a:xfrm>
              <a:off x="3271223" y="458740"/>
              <a:ext cx="892894" cy="183157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60000"/>
                  </a:lnTo>
                  <a:lnTo>
                    <a:pt x="120000" y="6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15875">
              <a:solidFill>
                <a:srgbClr val="759C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864" name="Google Shape;864;p59"/>
            <p:cNvSpPr/>
            <p:nvPr/>
          </p:nvSpPr>
          <p:spPr>
            <a:xfrm>
              <a:off x="3820697" y="641898"/>
              <a:ext cx="686841" cy="457894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59"/>
            <p:cNvSpPr txBox="1"/>
            <p:nvPr/>
          </p:nvSpPr>
          <p:spPr>
            <a:xfrm>
              <a:off x="3834108" y="655309"/>
              <a:ext cx="660019" cy="4310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2375" lIns="72375" spcFirstLastPara="1" rIns="72375" wrap="square" tIns="723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9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</a:t>
              </a:r>
              <a:endParaRPr sz="1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66" name="Google Shape;866;p59"/>
            <p:cNvSpPr/>
            <p:nvPr/>
          </p:nvSpPr>
          <p:spPr>
            <a:xfrm>
              <a:off x="3717670" y="1099793"/>
              <a:ext cx="446447" cy="183157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60000"/>
                  </a:lnTo>
                  <a:lnTo>
                    <a:pt x="0" y="60000"/>
                  </a:lnTo>
                  <a:lnTo>
                    <a:pt x="0" y="120000"/>
                  </a:lnTo>
                </a:path>
              </a:pathLst>
            </a:custGeom>
            <a:noFill/>
            <a:ln cap="flat" cmpd="sng" w="15875">
              <a:solidFill>
                <a:srgbClr val="84B2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867" name="Google Shape;867;p59"/>
            <p:cNvSpPr/>
            <p:nvPr/>
          </p:nvSpPr>
          <p:spPr>
            <a:xfrm>
              <a:off x="3374249" y="1282950"/>
              <a:ext cx="686841" cy="457894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59"/>
            <p:cNvSpPr txBox="1"/>
            <p:nvPr/>
          </p:nvSpPr>
          <p:spPr>
            <a:xfrm>
              <a:off x="3387660" y="1296361"/>
              <a:ext cx="660019" cy="4310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2375" lIns="72375" spcFirstLastPara="1" rIns="72375" wrap="square" tIns="723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9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F</a:t>
              </a:r>
              <a:endParaRPr sz="1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69" name="Google Shape;869;p59"/>
            <p:cNvSpPr/>
            <p:nvPr/>
          </p:nvSpPr>
          <p:spPr>
            <a:xfrm>
              <a:off x="4164117" y="1099793"/>
              <a:ext cx="446447" cy="183157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60000"/>
                  </a:lnTo>
                  <a:lnTo>
                    <a:pt x="120000" y="6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15875">
              <a:solidFill>
                <a:srgbClr val="84B2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870" name="Google Shape;870;p59"/>
            <p:cNvSpPr/>
            <p:nvPr/>
          </p:nvSpPr>
          <p:spPr>
            <a:xfrm>
              <a:off x="4267144" y="1282950"/>
              <a:ext cx="686841" cy="457894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59"/>
            <p:cNvSpPr txBox="1"/>
            <p:nvPr/>
          </p:nvSpPr>
          <p:spPr>
            <a:xfrm>
              <a:off x="4280555" y="1296361"/>
              <a:ext cx="660019" cy="4310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2375" lIns="72375" spcFirstLastPara="1" rIns="72375" wrap="square" tIns="723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9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G</a:t>
              </a:r>
              <a:endParaRPr sz="1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872" name="Google Shape;872;p59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873" name="Google Shape;873;p59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874" name="Google Shape;874;p59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79" name="Google Shape;879;p60"/>
          <p:cNvGraphicFramePr/>
          <p:nvPr/>
        </p:nvGraphicFramePr>
        <p:xfrm>
          <a:off x="827589" y="436510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{35077E9C-5C52-42E2-86E2-A713F48B8A36}</a:tableStyleId>
              </a:tblPr>
              <a:tblGrid>
                <a:gridCol w="587150"/>
                <a:gridCol w="587150"/>
                <a:gridCol w="587150"/>
                <a:gridCol w="587150"/>
                <a:gridCol w="587150"/>
                <a:gridCol w="587150"/>
                <a:gridCol w="587150"/>
                <a:gridCol w="587150"/>
                <a:gridCol w="587150"/>
                <a:gridCol w="587150"/>
                <a:gridCol w="587150"/>
                <a:gridCol w="587150"/>
                <a:gridCol w="5871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[0]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[1]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[2]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[3]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[4]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[5]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[6]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[7]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[8]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[9]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[10]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[11]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[12]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A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B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C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D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E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F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G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880" name="Google Shape;880;p60"/>
          <p:cNvSpPr txBox="1"/>
          <p:nvPr/>
        </p:nvSpPr>
        <p:spPr>
          <a:xfrm>
            <a:off x="827584" y="548680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lang="en-IN" sz="28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Array Representation of a Binary Tree </a:t>
            </a:r>
            <a:endParaRPr sz="28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881" name="Google Shape;881;p60"/>
          <p:cNvGrpSpPr/>
          <p:nvPr/>
        </p:nvGrpSpPr>
        <p:grpSpPr>
          <a:xfrm>
            <a:off x="1541075" y="1269606"/>
            <a:ext cx="5597760" cy="2381051"/>
            <a:chOff x="249119" y="846"/>
            <a:chExt cx="5597760" cy="2381051"/>
          </a:xfrm>
        </p:grpSpPr>
        <p:sp>
          <p:nvSpPr>
            <p:cNvPr id="882" name="Google Shape;882;p60"/>
            <p:cNvSpPr/>
            <p:nvPr/>
          </p:nvSpPr>
          <p:spPr>
            <a:xfrm>
              <a:off x="3151026" y="846"/>
              <a:ext cx="686841" cy="457894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60"/>
            <p:cNvSpPr txBox="1"/>
            <p:nvPr/>
          </p:nvSpPr>
          <p:spPr>
            <a:xfrm>
              <a:off x="3164437" y="14257"/>
              <a:ext cx="660019" cy="4310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2375" lIns="72375" spcFirstLastPara="1" rIns="72375" wrap="square" tIns="723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9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A</a:t>
              </a:r>
              <a:endParaRPr sz="1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84" name="Google Shape;884;p60"/>
            <p:cNvSpPr/>
            <p:nvPr/>
          </p:nvSpPr>
          <p:spPr>
            <a:xfrm>
              <a:off x="1931882" y="458740"/>
              <a:ext cx="1562565" cy="183157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60000"/>
                  </a:lnTo>
                  <a:lnTo>
                    <a:pt x="0" y="60000"/>
                  </a:lnTo>
                  <a:lnTo>
                    <a:pt x="0" y="120000"/>
                  </a:lnTo>
                </a:path>
              </a:pathLst>
            </a:custGeom>
            <a:noFill/>
            <a:ln cap="flat" cmpd="sng" w="15875">
              <a:solidFill>
                <a:srgbClr val="759C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885" name="Google Shape;885;p60"/>
            <p:cNvSpPr/>
            <p:nvPr/>
          </p:nvSpPr>
          <p:spPr>
            <a:xfrm>
              <a:off x="1588461" y="641898"/>
              <a:ext cx="686841" cy="457894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60"/>
            <p:cNvSpPr txBox="1"/>
            <p:nvPr/>
          </p:nvSpPr>
          <p:spPr>
            <a:xfrm>
              <a:off x="1601872" y="655309"/>
              <a:ext cx="660019" cy="4310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2375" lIns="72375" spcFirstLastPara="1" rIns="72375" wrap="square" tIns="723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9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B</a:t>
              </a:r>
              <a:endParaRPr sz="1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87" name="Google Shape;887;p60"/>
            <p:cNvSpPr/>
            <p:nvPr/>
          </p:nvSpPr>
          <p:spPr>
            <a:xfrm>
              <a:off x="1038987" y="1099793"/>
              <a:ext cx="892894" cy="183157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60000"/>
                  </a:lnTo>
                  <a:lnTo>
                    <a:pt x="0" y="60000"/>
                  </a:lnTo>
                  <a:lnTo>
                    <a:pt x="0" y="120000"/>
                  </a:lnTo>
                </a:path>
              </a:pathLst>
            </a:custGeom>
            <a:noFill/>
            <a:ln cap="flat" cmpd="sng" w="15875">
              <a:solidFill>
                <a:srgbClr val="84B2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888" name="Google Shape;888;p60"/>
            <p:cNvSpPr/>
            <p:nvPr/>
          </p:nvSpPr>
          <p:spPr>
            <a:xfrm>
              <a:off x="695566" y="1282950"/>
              <a:ext cx="686841" cy="457894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60"/>
            <p:cNvSpPr txBox="1"/>
            <p:nvPr/>
          </p:nvSpPr>
          <p:spPr>
            <a:xfrm>
              <a:off x="708977" y="1296361"/>
              <a:ext cx="660019" cy="4310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2375" lIns="72375" spcFirstLastPara="1" rIns="72375" wrap="square" tIns="723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90" name="Google Shape;890;p60"/>
            <p:cNvSpPr/>
            <p:nvPr/>
          </p:nvSpPr>
          <p:spPr>
            <a:xfrm>
              <a:off x="592540" y="1740845"/>
              <a:ext cx="446447" cy="183157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60000"/>
                  </a:lnTo>
                  <a:lnTo>
                    <a:pt x="0" y="60000"/>
                  </a:lnTo>
                  <a:lnTo>
                    <a:pt x="0" y="120000"/>
                  </a:lnTo>
                </a:path>
              </a:pathLst>
            </a:custGeom>
            <a:noFill/>
            <a:ln cap="flat" cmpd="sng" w="15875">
              <a:solidFill>
                <a:srgbClr val="84B2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891" name="Google Shape;891;p60"/>
            <p:cNvSpPr/>
            <p:nvPr/>
          </p:nvSpPr>
          <p:spPr>
            <a:xfrm>
              <a:off x="249119" y="1924003"/>
              <a:ext cx="686841" cy="457894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60"/>
            <p:cNvSpPr txBox="1"/>
            <p:nvPr/>
          </p:nvSpPr>
          <p:spPr>
            <a:xfrm>
              <a:off x="262530" y="1937414"/>
              <a:ext cx="660019" cy="4310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2375" lIns="72375" spcFirstLastPara="1" rIns="72375" wrap="square" tIns="723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93" name="Google Shape;893;p60"/>
            <p:cNvSpPr/>
            <p:nvPr/>
          </p:nvSpPr>
          <p:spPr>
            <a:xfrm>
              <a:off x="1038987" y="1740845"/>
              <a:ext cx="446447" cy="183157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60000"/>
                  </a:lnTo>
                  <a:lnTo>
                    <a:pt x="120000" y="6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15875">
              <a:solidFill>
                <a:srgbClr val="84B2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894" name="Google Shape;894;p60"/>
            <p:cNvSpPr/>
            <p:nvPr/>
          </p:nvSpPr>
          <p:spPr>
            <a:xfrm>
              <a:off x="1142014" y="1924003"/>
              <a:ext cx="686841" cy="457894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60"/>
            <p:cNvSpPr txBox="1"/>
            <p:nvPr/>
          </p:nvSpPr>
          <p:spPr>
            <a:xfrm>
              <a:off x="1155425" y="1937414"/>
              <a:ext cx="660019" cy="4310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2375" lIns="72375" spcFirstLastPara="1" rIns="72375" wrap="square" tIns="723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96" name="Google Shape;896;p60"/>
            <p:cNvSpPr/>
            <p:nvPr/>
          </p:nvSpPr>
          <p:spPr>
            <a:xfrm>
              <a:off x="1931882" y="1099793"/>
              <a:ext cx="892894" cy="183157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60000"/>
                  </a:lnTo>
                  <a:lnTo>
                    <a:pt x="120000" y="6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15875">
              <a:solidFill>
                <a:srgbClr val="84B2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897" name="Google Shape;897;p60"/>
            <p:cNvSpPr/>
            <p:nvPr/>
          </p:nvSpPr>
          <p:spPr>
            <a:xfrm>
              <a:off x="2481355" y="1282950"/>
              <a:ext cx="686841" cy="457894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60"/>
            <p:cNvSpPr txBox="1"/>
            <p:nvPr/>
          </p:nvSpPr>
          <p:spPr>
            <a:xfrm>
              <a:off x="2494766" y="1296361"/>
              <a:ext cx="660019" cy="4310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2375" lIns="72375" spcFirstLastPara="1" rIns="72375" wrap="square" tIns="723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99" name="Google Shape;899;p60"/>
            <p:cNvSpPr/>
            <p:nvPr/>
          </p:nvSpPr>
          <p:spPr>
            <a:xfrm>
              <a:off x="2378329" y="1740845"/>
              <a:ext cx="446447" cy="183157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60000"/>
                  </a:lnTo>
                  <a:lnTo>
                    <a:pt x="0" y="60000"/>
                  </a:lnTo>
                  <a:lnTo>
                    <a:pt x="0" y="120000"/>
                  </a:lnTo>
                </a:path>
              </a:pathLst>
            </a:custGeom>
            <a:noFill/>
            <a:ln cap="flat" cmpd="sng" w="15875">
              <a:solidFill>
                <a:srgbClr val="84B2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900" name="Google Shape;900;p60"/>
            <p:cNvSpPr/>
            <p:nvPr/>
          </p:nvSpPr>
          <p:spPr>
            <a:xfrm>
              <a:off x="2034908" y="1924003"/>
              <a:ext cx="686841" cy="457894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60"/>
            <p:cNvSpPr txBox="1"/>
            <p:nvPr/>
          </p:nvSpPr>
          <p:spPr>
            <a:xfrm>
              <a:off x="2048319" y="1937414"/>
              <a:ext cx="660019" cy="4310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2375" lIns="72375" spcFirstLastPara="1" rIns="72375" wrap="square" tIns="723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02" name="Google Shape;902;p60"/>
            <p:cNvSpPr/>
            <p:nvPr/>
          </p:nvSpPr>
          <p:spPr>
            <a:xfrm>
              <a:off x="2824776" y="1740845"/>
              <a:ext cx="446447" cy="183157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60000"/>
                  </a:lnTo>
                  <a:lnTo>
                    <a:pt x="120000" y="6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15875">
              <a:solidFill>
                <a:srgbClr val="84B2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903" name="Google Shape;903;p60"/>
            <p:cNvSpPr/>
            <p:nvPr/>
          </p:nvSpPr>
          <p:spPr>
            <a:xfrm>
              <a:off x="2927802" y="1924003"/>
              <a:ext cx="686841" cy="457894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60"/>
            <p:cNvSpPr txBox="1"/>
            <p:nvPr/>
          </p:nvSpPr>
          <p:spPr>
            <a:xfrm>
              <a:off x="2941213" y="1937414"/>
              <a:ext cx="660019" cy="4310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2375" lIns="72375" spcFirstLastPara="1" rIns="72375" wrap="square" tIns="723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05" name="Google Shape;905;p60"/>
            <p:cNvSpPr/>
            <p:nvPr/>
          </p:nvSpPr>
          <p:spPr>
            <a:xfrm>
              <a:off x="3494447" y="458740"/>
              <a:ext cx="1562565" cy="183157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60000"/>
                  </a:lnTo>
                  <a:lnTo>
                    <a:pt x="120000" y="6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15875">
              <a:solidFill>
                <a:srgbClr val="759C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906" name="Google Shape;906;p60"/>
            <p:cNvSpPr/>
            <p:nvPr/>
          </p:nvSpPr>
          <p:spPr>
            <a:xfrm>
              <a:off x="4713591" y="641898"/>
              <a:ext cx="686841" cy="457894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60"/>
            <p:cNvSpPr txBox="1"/>
            <p:nvPr/>
          </p:nvSpPr>
          <p:spPr>
            <a:xfrm>
              <a:off x="4727002" y="655309"/>
              <a:ext cx="660019" cy="4310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2375" lIns="72375" spcFirstLastPara="1" rIns="72375" wrap="square" tIns="723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9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</a:t>
              </a:r>
              <a:endParaRPr sz="1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08" name="Google Shape;908;p60"/>
            <p:cNvSpPr/>
            <p:nvPr/>
          </p:nvSpPr>
          <p:spPr>
            <a:xfrm>
              <a:off x="4610565" y="1099793"/>
              <a:ext cx="446447" cy="183157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60000"/>
                  </a:lnTo>
                  <a:lnTo>
                    <a:pt x="0" y="60000"/>
                  </a:lnTo>
                  <a:lnTo>
                    <a:pt x="0" y="120000"/>
                  </a:lnTo>
                </a:path>
              </a:pathLst>
            </a:custGeom>
            <a:noFill/>
            <a:ln cap="flat" cmpd="sng" w="15875">
              <a:solidFill>
                <a:srgbClr val="84B2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909" name="Google Shape;909;p60"/>
            <p:cNvSpPr/>
            <p:nvPr/>
          </p:nvSpPr>
          <p:spPr>
            <a:xfrm>
              <a:off x="4267144" y="1282950"/>
              <a:ext cx="686841" cy="457894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60"/>
            <p:cNvSpPr txBox="1"/>
            <p:nvPr/>
          </p:nvSpPr>
          <p:spPr>
            <a:xfrm>
              <a:off x="4280555" y="1296361"/>
              <a:ext cx="660019" cy="4310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2375" lIns="72375" spcFirstLastPara="1" rIns="72375" wrap="square" tIns="723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9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D</a:t>
              </a:r>
              <a:endParaRPr sz="1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11" name="Google Shape;911;p60"/>
            <p:cNvSpPr/>
            <p:nvPr/>
          </p:nvSpPr>
          <p:spPr>
            <a:xfrm>
              <a:off x="4164117" y="1740845"/>
              <a:ext cx="446447" cy="183157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60000"/>
                  </a:lnTo>
                  <a:lnTo>
                    <a:pt x="0" y="60000"/>
                  </a:lnTo>
                  <a:lnTo>
                    <a:pt x="0" y="120000"/>
                  </a:lnTo>
                </a:path>
              </a:pathLst>
            </a:custGeom>
            <a:noFill/>
            <a:ln cap="flat" cmpd="sng" w="15875">
              <a:solidFill>
                <a:srgbClr val="84B2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912" name="Google Shape;912;p60"/>
            <p:cNvSpPr/>
            <p:nvPr/>
          </p:nvSpPr>
          <p:spPr>
            <a:xfrm>
              <a:off x="3820697" y="1924003"/>
              <a:ext cx="686841" cy="457894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60"/>
            <p:cNvSpPr txBox="1"/>
            <p:nvPr/>
          </p:nvSpPr>
          <p:spPr>
            <a:xfrm>
              <a:off x="3834108" y="1937414"/>
              <a:ext cx="660019" cy="4310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2375" lIns="72375" spcFirstLastPara="1" rIns="72375" wrap="square" tIns="723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9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F</a:t>
              </a:r>
              <a:endParaRPr sz="1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14" name="Google Shape;914;p60"/>
            <p:cNvSpPr/>
            <p:nvPr/>
          </p:nvSpPr>
          <p:spPr>
            <a:xfrm>
              <a:off x="4610565" y="1740845"/>
              <a:ext cx="446447" cy="183157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60000"/>
                  </a:lnTo>
                  <a:lnTo>
                    <a:pt x="120000" y="6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15875">
              <a:solidFill>
                <a:srgbClr val="84B2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915" name="Google Shape;915;p60"/>
            <p:cNvSpPr/>
            <p:nvPr/>
          </p:nvSpPr>
          <p:spPr>
            <a:xfrm>
              <a:off x="4713591" y="1924003"/>
              <a:ext cx="686841" cy="457894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60"/>
            <p:cNvSpPr txBox="1"/>
            <p:nvPr/>
          </p:nvSpPr>
          <p:spPr>
            <a:xfrm>
              <a:off x="4727002" y="1937414"/>
              <a:ext cx="660019" cy="4310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2375" lIns="72375" spcFirstLastPara="1" rIns="72375" wrap="square" tIns="723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9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G</a:t>
              </a:r>
              <a:endParaRPr sz="1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17" name="Google Shape;917;p60"/>
            <p:cNvSpPr/>
            <p:nvPr/>
          </p:nvSpPr>
          <p:spPr>
            <a:xfrm>
              <a:off x="5057012" y="1099793"/>
              <a:ext cx="446447" cy="183157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60000"/>
                  </a:lnTo>
                  <a:lnTo>
                    <a:pt x="120000" y="6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15875">
              <a:solidFill>
                <a:srgbClr val="84B2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918" name="Google Shape;918;p60"/>
            <p:cNvSpPr/>
            <p:nvPr/>
          </p:nvSpPr>
          <p:spPr>
            <a:xfrm>
              <a:off x="5160038" y="1282950"/>
              <a:ext cx="686841" cy="457894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60"/>
            <p:cNvSpPr txBox="1"/>
            <p:nvPr/>
          </p:nvSpPr>
          <p:spPr>
            <a:xfrm>
              <a:off x="5173449" y="1296361"/>
              <a:ext cx="660019" cy="4310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2375" lIns="72375" spcFirstLastPara="1" rIns="72375" wrap="square" tIns="723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9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E</a:t>
              </a:r>
              <a:endParaRPr sz="1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920" name="Google Shape;920;p60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921" name="Google Shape;921;p60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922" name="Google Shape;922;p60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61"/>
          <p:cNvSpPr txBox="1"/>
          <p:nvPr>
            <p:ph idx="1" type="body"/>
          </p:nvPr>
        </p:nvSpPr>
        <p:spPr>
          <a:xfrm>
            <a:off x="1043492" y="4581128"/>
            <a:ext cx="6777317" cy="12515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ct val="76000"/>
              <a:buChar char="🞇"/>
            </a:pPr>
            <a:r>
              <a:rPr lang="en-IN" sz="2000"/>
              <a:t>Node in position p </a:t>
            </a:r>
            <a:endParaRPr/>
          </a:p>
          <a:p>
            <a:pPr indent="-274320" lvl="1" marL="640080" rtl="0" algn="l">
              <a:spcBef>
                <a:spcPts val="333"/>
              </a:spcBef>
              <a:spcAft>
                <a:spcPts val="0"/>
              </a:spcAft>
              <a:buSzPct val="76000"/>
              <a:buChar char="🞇"/>
            </a:pPr>
            <a:r>
              <a:rPr lang="en-IN" sz="1800"/>
              <a:t>Is the implicit father of nodes 2p+1 and 2p+2</a:t>
            </a:r>
            <a:endParaRPr/>
          </a:p>
          <a:p>
            <a:pPr indent="-274320" lvl="1" marL="640080" rtl="0" algn="l">
              <a:spcBef>
                <a:spcPts val="333"/>
              </a:spcBef>
              <a:spcAft>
                <a:spcPts val="0"/>
              </a:spcAft>
              <a:buSzPct val="76000"/>
              <a:buChar char="🞇"/>
            </a:pPr>
            <a:r>
              <a:rPr b="1" lang="en-IN" sz="1800"/>
              <a:t>Left child=2p+1</a:t>
            </a:r>
            <a:endParaRPr/>
          </a:p>
          <a:p>
            <a:pPr indent="-274320" lvl="1" marL="640080" rtl="0" algn="l">
              <a:spcBef>
                <a:spcPts val="333"/>
              </a:spcBef>
              <a:spcAft>
                <a:spcPts val="0"/>
              </a:spcAft>
              <a:buSzPct val="76000"/>
              <a:buChar char="🞇"/>
            </a:pPr>
            <a:r>
              <a:rPr b="1" lang="en-IN" sz="1800"/>
              <a:t>Right child=2p+2</a:t>
            </a:r>
            <a:endParaRPr/>
          </a:p>
          <a:p>
            <a:pPr indent="-193967" lvl="1" marL="640080" rtl="0" algn="l">
              <a:spcBef>
                <a:spcPts val="333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sz="1800"/>
          </a:p>
        </p:txBody>
      </p:sp>
      <p:sp>
        <p:nvSpPr>
          <p:cNvPr id="928" name="Google Shape;928;p61"/>
          <p:cNvSpPr txBox="1"/>
          <p:nvPr/>
        </p:nvSpPr>
        <p:spPr>
          <a:xfrm>
            <a:off x="806415" y="476672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lang="en-IN" sz="28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Array Representation of a Binary Tree </a:t>
            </a:r>
            <a:endParaRPr sz="28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aphicFrame>
        <p:nvGraphicFramePr>
          <p:cNvPr id="929" name="Google Shape;929;p61"/>
          <p:cNvGraphicFramePr/>
          <p:nvPr/>
        </p:nvGraphicFramePr>
        <p:xfrm>
          <a:off x="1187624" y="350100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{35077E9C-5C52-42E2-86E2-A713F48B8A36}</a:tableStyleId>
              </a:tblPr>
              <a:tblGrid>
                <a:gridCol w="753000"/>
                <a:gridCol w="753000"/>
                <a:gridCol w="753000"/>
                <a:gridCol w="753000"/>
                <a:gridCol w="753000"/>
                <a:gridCol w="753000"/>
                <a:gridCol w="753000"/>
                <a:gridCol w="753000"/>
                <a:gridCol w="7530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[0]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[1]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[2]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[3]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[4]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[5]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[6]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[7]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[8]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A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B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C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D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E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F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G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H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I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930" name="Google Shape;930;p61"/>
          <p:cNvGrpSpPr/>
          <p:nvPr/>
        </p:nvGrpSpPr>
        <p:grpSpPr>
          <a:xfrm>
            <a:off x="2727198" y="1269504"/>
            <a:ext cx="3225514" cy="2014735"/>
            <a:chOff x="1435242" y="744"/>
            <a:chExt cx="3225514" cy="2014735"/>
          </a:xfrm>
        </p:grpSpPr>
        <p:sp>
          <p:nvSpPr>
            <p:cNvPr id="931" name="Google Shape;931;p61"/>
            <p:cNvSpPr/>
            <p:nvPr/>
          </p:nvSpPr>
          <p:spPr>
            <a:xfrm>
              <a:off x="2946294" y="744"/>
              <a:ext cx="581173" cy="387449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61"/>
            <p:cNvSpPr txBox="1"/>
            <p:nvPr/>
          </p:nvSpPr>
          <p:spPr>
            <a:xfrm>
              <a:off x="2957642" y="12092"/>
              <a:ext cx="558477" cy="3647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A</a:t>
              </a:r>
              <a:endParaRPr sz="1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33" name="Google Shape;933;p61"/>
            <p:cNvSpPr/>
            <p:nvPr/>
          </p:nvSpPr>
          <p:spPr>
            <a:xfrm>
              <a:off x="2481355" y="388193"/>
              <a:ext cx="755525" cy="154979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60000"/>
                  </a:lnTo>
                  <a:lnTo>
                    <a:pt x="0" y="60000"/>
                  </a:lnTo>
                  <a:lnTo>
                    <a:pt x="0" y="120000"/>
                  </a:lnTo>
                </a:path>
              </a:pathLst>
            </a:custGeom>
            <a:noFill/>
            <a:ln cap="flat" cmpd="sng" w="15875">
              <a:solidFill>
                <a:srgbClr val="759C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934" name="Google Shape;934;p61"/>
            <p:cNvSpPr/>
            <p:nvPr/>
          </p:nvSpPr>
          <p:spPr>
            <a:xfrm>
              <a:off x="2190768" y="543172"/>
              <a:ext cx="581173" cy="387449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61"/>
            <p:cNvSpPr txBox="1"/>
            <p:nvPr/>
          </p:nvSpPr>
          <p:spPr>
            <a:xfrm>
              <a:off x="2202116" y="554520"/>
              <a:ext cx="558477" cy="3647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B</a:t>
              </a:r>
              <a:endParaRPr sz="1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36" name="Google Shape;936;p61"/>
            <p:cNvSpPr/>
            <p:nvPr/>
          </p:nvSpPr>
          <p:spPr>
            <a:xfrm>
              <a:off x="2103592" y="930622"/>
              <a:ext cx="377762" cy="154979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60000"/>
                  </a:lnTo>
                  <a:lnTo>
                    <a:pt x="0" y="60000"/>
                  </a:lnTo>
                  <a:lnTo>
                    <a:pt x="0" y="120000"/>
                  </a:lnTo>
                </a:path>
              </a:pathLst>
            </a:custGeom>
            <a:noFill/>
            <a:ln cap="flat" cmpd="sng" w="15875">
              <a:solidFill>
                <a:srgbClr val="84B2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937" name="Google Shape;937;p61"/>
            <p:cNvSpPr/>
            <p:nvPr/>
          </p:nvSpPr>
          <p:spPr>
            <a:xfrm>
              <a:off x="1813005" y="1085601"/>
              <a:ext cx="581173" cy="387449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61"/>
            <p:cNvSpPr txBox="1"/>
            <p:nvPr/>
          </p:nvSpPr>
          <p:spPr>
            <a:xfrm>
              <a:off x="1824353" y="1096949"/>
              <a:ext cx="558477" cy="3647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D</a:t>
              </a:r>
              <a:endParaRPr sz="1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39" name="Google Shape;939;p61"/>
            <p:cNvSpPr/>
            <p:nvPr/>
          </p:nvSpPr>
          <p:spPr>
            <a:xfrm>
              <a:off x="1725829" y="1473051"/>
              <a:ext cx="377762" cy="154979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60000"/>
                  </a:lnTo>
                  <a:lnTo>
                    <a:pt x="0" y="60000"/>
                  </a:lnTo>
                  <a:lnTo>
                    <a:pt x="0" y="120000"/>
                  </a:lnTo>
                </a:path>
              </a:pathLst>
            </a:custGeom>
            <a:noFill/>
            <a:ln cap="flat" cmpd="sng" w="15875">
              <a:solidFill>
                <a:srgbClr val="84B2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940" name="Google Shape;940;p61"/>
            <p:cNvSpPr/>
            <p:nvPr/>
          </p:nvSpPr>
          <p:spPr>
            <a:xfrm>
              <a:off x="1435242" y="1628030"/>
              <a:ext cx="581173" cy="387449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61"/>
            <p:cNvSpPr txBox="1"/>
            <p:nvPr/>
          </p:nvSpPr>
          <p:spPr>
            <a:xfrm>
              <a:off x="1446590" y="1639378"/>
              <a:ext cx="558477" cy="3647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H</a:t>
              </a:r>
              <a:endParaRPr sz="1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42" name="Google Shape;942;p61"/>
            <p:cNvSpPr/>
            <p:nvPr/>
          </p:nvSpPr>
          <p:spPr>
            <a:xfrm>
              <a:off x="2103592" y="1473051"/>
              <a:ext cx="377762" cy="154979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60000"/>
                  </a:lnTo>
                  <a:lnTo>
                    <a:pt x="120000" y="6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15875">
              <a:solidFill>
                <a:srgbClr val="84B2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943" name="Google Shape;943;p61"/>
            <p:cNvSpPr/>
            <p:nvPr/>
          </p:nvSpPr>
          <p:spPr>
            <a:xfrm>
              <a:off x="2190768" y="1628030"/>
              <a:ext cx="581173" cy="387449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61"/>
            <p:cNvSpPr txBox="1"/>
            <p:nvPr/>
          </p:nvSpPr>
          <p:spPr>
            <a:xfrm>
              <a:off x="2202116" y="1639378"/>
              <a:ext cx="558477" cy="3647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I</a:t>
              </a:r>
              <a:endParaRPr sz="1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45" name="Google Shape;945;p61"/>
            <p:cNvSpPr/>
            <p:nvPr/>
          </p:nvSpPr>
          <p:spPr>
            <a:xfrm>
              <a:off x="2481355" y="930622"/>
              <a:ext cx="377762" cy="154979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60000"/>
                  </a:lnTo>
                  <a:lnTo>
                    <a:pt x="120000" y="6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15875">
              <a:solidFill>
                <a:srgbClr val="84B2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946" name="Google Shape;946;p61"/>
            <p:cNvSpPr/>
            <p:nvPr/>
          </p:nvSpPr>
          <p:spPr>
            <a:xfrm>
              <a:off x="2568531" y="1085601"/>
              <a:ext cx="581173" cy="387449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61"/>
            <p:cNvSpPr txBox="1"/>
            <p:nvPr/>
          </p:nvSpPr>
          <p:spPr>
            <a:xfrm>
              <a:off x="2579879" y="1096949"/>
              <a:ext cx="558477" cy="3647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E</a:t>
              </a:r>
              <a:endParaRPr sz="1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48" name="Google Shape;948;p61"/>
            <p:cNvSpPr/>
            <p:nvPr/>
          </p:nvSpPr>
          <p:spPr>
            <a:xfrm>
              <a:off x="3236881" y="388193"/>
              <a:ext cx="755525" cy="154979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60000"/>
                  </a:lnTo>
                  <a:lnTo>
                    <a:pt x="120000" y="6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15875">
              <a:solidFill>
                <a:srgbClr val="759C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949" name="Google Shape;949;p61"/>
            <p:cNvSpPr/>
            <p:nvPr/>
          </p:nvSpPr>
          <p:spPr>
            <a:xfrm>
              <a:off x="3701820" y="543172"/>
              <a:ext cx="581173" cy="387449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61"/>
            <p:cNvSpPr txBox="1"/>
            <p:nvPr/>
          </p:nvSpPr>
          <p:spPr>
            <a:xfrm>
              <a:off x="3713168" y="554520"/>
              <a:ext cx="558477" cy="3647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</a:t>
              </a:r>
              <a:endParaRPr sz="1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51" name="Google Shape;951;p61"/>
            <p:cNvSpPr/>
            <p:nvPr/>
          </p:nvSpPr>
          <p:spPr>
            <a:xfrm>
              <a:off x="3614644" y="930622"/>
              <a:ext cx="377762" cy="154979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60000"/>
                  </a:lnTo>
                  <a:lnTo>
                    <a:pt x="0" y="60000"/>
                  </a:lnTo>
                  <a:lnTo>
                    <a:pt x="0" y="120000"/>
                  </a:lnTo>
                </a:path>
              </a:pathLst>
            </a:custGeom>
            <a:noFill/>
            <a:ln cap="flat" cmpd="sng" w="15875">
              <a:solidFill>
                <a:srgbClr val="84B2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952" name="Google Shape;952;p61"/>
            <p:cNvSpPr/>
            <p:nvPr/>
          </p:nvSpPr>
          <p:spPr>
            <a:xfrm>
              <a:off x="3324057" y="1085601"/>
              <a:ext cx="581173" cy="387449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61"/>
            <p:cNvSpPr txBox="1"/>
            <p:nvPr/>
          </p:nvSpPr>
          <p:spPr>
            <a:xfrm>
              <a:off x="3335405" y="1096949"/>
              <a:ext cx="558477" cy="3647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F</a:t>
              </a:r>
              <a:endParaRPr sz="1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54" name="Google Shape;954;p61"/>
            <p:cNvSpPr/>
            <p:nvPr/>
          </p:nvSpPr>
          <p:spPr>
            <a:xfrm>
              <a:off x="3992407" y="930622"/>
              <a:ext cx="377762" cy="154979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60000"/>
                  </a:lnTo>
                  <a:lnTo>
                    <a:pt x="120000" y="6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15875">
              <a:solidFill>
                <a:srgbClr val="84B2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955" name="Google Shape;955;p61"/>
            <p:cNvSpPr/>
            <p:nvPr/>
          </p:nvSpPr>
          <p:spPr>
            <a:xfrm>
              <a:off x="4079583" y="1085601"/>
              <a:ext cx="581173" cy="387449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61"/>
            <p:cNvSpPr txBox="1"/>
            <p:nvPr/>
          </p:nvSpPr>
          <p:spPr>
            <a:xfrm>
              <a:off x="4090931" y="1096949"/>
              <a:ext cx="558477" cy="3647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G</a:t>
              </a:r>
              <a:endParaRPr sz="1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957" name="Google Shape;957;p61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958" name="Google Shape;958;p61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959" name="Google Shape;959;p61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62"/>
          <p:cNvSpPr txBox="1"/>
          <p:nvPr>
            <p:ph idx="1" type="body"/>
          </p:nvPr>
        </p:nvSpPr>
        <p:spPr>
          <a:xfrm>
            <a:off x="1043492" y="4581128"/>
            <a:ext cx="6777317" cy="12515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ct val="76000"/>
              <a:buChar char="🞇"/>
            </a:pPr>
            <a:r>
              <a:rPr lang="en-IN" sz="2000"/>
              <a:t>Given a Left child at position p then</a:t>
            </a:r>
            <a:endParaRPr/>
          </a:p>
          <a:p>
            <a:pPr indent="-274320" lvl="1" marL="640080" rtl="0" algn="l">
              <a:spcBef>
                <a:spcPts val="333"/>
              </a:spcBef>
              <a:spcAft>
                <a:spcPts val="0"/>
              </a:spcAft>
              <a:buSzPct val="76000"/>
              <a:buChar char="🞇"/>
            </a:pPr>
            <a:r>
              <a:rPr b="1" lang="en-IN" sz="1800"/>
              <a:t>Right brother=p+1</a:t>
            </a:r>
            <a:endParaRPr/>
          </a:p>
          <a:p>
            <a:pPr indent="-274320" lvl="0" marL="342900" rtl="0" algn="l">
              <a:spcBef>
                <a:spcPts val="370"/>
              </a:spcBef>
              <a:spcAft>
                <a:spcPts val="0"/>
              </a:spcAft>
              <a:buSzPct val="76000"/>
              <a:buChar char="🞇"/>
            </a:pPr>
            <a:r>
              <a:rPr lang="en-IN" sz="2000"/>
              <a:t>Given a Right child at position p then</a:t>
            </a:r>
            <a:endParaRPr/>
          </a:p>
          <a:p>
            <a:pPr indent="-274320" lvl="1" marL="640080" rtl="0" algn="l">
              <a:spcBef>
                <a:spcPts val="333"/>
              </a:spcBef>
              <a:spcAft>
                <a:spcPts val="0"/>
              </a:spcAft>
              <a:buSzPct val="76000"/>
              <a:buChar char="🞇"/>
            </a:pPr>
            <a:r>
              <a:rPr b="1" lang="en-IN" sz="1800"/>
              <a:t>Left brother=p-1</a:t>
            </a:r>
            <a:endParaRPr/>
          </a:p>
        </p:txBody>
      </p:sp>
      <p:sp>
        <p:nvSpPr>
          <p:cNvPr id="965" name="Google Shape;965;p62"/>
          <p:cNvSpPr txBox="1"/>
          <p:nvPr/>
        </p:nvSpPr>
        <p:spPr>
          <a:xfrm>
            <a:off x="806415" y="476672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lang="en-IN" sz="28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Array Representation of a Binary Tree </a:t>
            </a:r>
            <a:endParaRPr sz="28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aphicFrame>
        <p:nvGraphicFramePr>
          <p:cNvPr id="966" name="Google Shape;966;p62"/>
          <p:cNvGraphicFramePr/>
          <p:nvPr/>
        </p:nvGraphicFramePr>
        <p:xfrm>
          <a:off x="1187624" y="350100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{35077E9C-5C52-42E2-86E2-A713F48B8A36}</a:tableStyleId>
              </a:tblPr>
              <a:tblGrid>
                <a:gridCol w="753000"/>
                <a:gridCol w="753000"/>
                <a:gridCol w="753000"/>
                <a:gridCol w="753000"/>
                <a:gridCol w="753000"/>
                <a:gridCol w="753000"/>
                <a:gridCol w="753000"/>
                <a:gridCol w="753000"/>
                <a:gridCol w="7530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[0]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[1]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[2]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[3]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[4]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[5]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[6]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[7]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[8]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A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B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C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D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E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F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G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H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I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967" name="Google Shape;967;p62"/>
          <p:cNvGrpSpPr/>
          <p:nvPr/>
        </p:nvGrpSpPr>
        <p:grpSpPr>
          <a:xfrm>
            <a:off x="2727198" y="1269504"/>
            <a:ext cx="3225514" cy="2014735"/>
            <a:chOff x="1435242" y="744"/>
            <a:chExt cx="3225514" cy="2014735"/>
          </a:xfrm>
        </p:grpSpPr>
        <p:sp>
          <p:nvSpPr>
            <p:cNvPr id="968" name="Google Shape;968;p62"/>
            <p:cNvSpPr/>
            <p:nvPr/>
          </p:nvSpPr>
          <p:spPr>
            <a:xfrm>
              <a:off x="2946294" y="744"/>
              <a:ext cx="581173" cy="387449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62"/>
            <p:cNvSpPr txBox="1"/>
            <p:nvPr/>
          </p:nvSpPr>
          <p:spPr>
            <a:xfrm>
              <a:off x="2957642" y="12092"/>
              <a:ext cx="558477" cy="3647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A</a:t>
              </a:r>
              <a:endParaRPr sz="1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70" name="Google Shape;970;p62"/>
            <p:cNvSpPr/>
            <p:nvPr/>
          </p:nvSpPr>
          <p:spPr>
            <a:xfrm>
              <a:off x="2481355" y="388193"/>
              <a:ext cx="755525" cy="154979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60000"/>
                  </a:lnTo>
                  <a:lnTo>
                    <a:pt x="0" y="60000"/>
                  </a:lnTo>
                  <a:lnTo>
                    <a:pt x="0" y="120000"/>
                  </a:lnTo>
                </a:path>
              </a:pathLst>
            </a:custGeom>
            <a:noFill/>
            <a:ln cap="flat" cmpd="sng" w="15875">
              <a:solidFill>
                <a:srgbClr val="759C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971" name="Google Shape;971;p62"/>
            <p:cNvSpPr/>
            <p:nvPr/>
          </p:nvSpPr>
          <p:spPr>
            <a:xfrm>
              <a:off x="2190768" y="543172"/>
              <a:ext cx="581173" cy="387449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62"/>
            <p:cNvSpPr txBox="1"/>
            <p:nvPr/>
          </p:nvSpPr>
          <p:spPr>
            <a:xfrm>
              <a:off x="2202116" y="554520"/>
              <a:ext cx="558477" cy="3647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B</a:t>
              </a:r>
              <a:endParaRPr sz="1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73" name="Google Shape;973;p62"/>
            <p:cNvSpPr/>
            <p:nvPr/>
          </p:nvSpPr>
          <p:spPr>
            <a:xfrm>
              <a:off x="2103592" y="930622"/>
              <a:ext cx="377762" cy="154979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60000"/>
                  </a:lnTo>
                  <a:lnTo>
                    <a:pt x="0" y="60000"/>
                  </a:lnTo>
                  <a:lnTo>
                    <a:pt x="0" y="120000"/>
                  </a:lnTo>
                </a:path>
              </a:pathLst>
            </a:custGeom>
            <a:noFill/>
            <a:ln cap="flat" cmpd="sng" w="15875">
              <a:solidFill>
                <a:srgbClr val="84B2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974" name="Google Shape;974;p62"/>
            <p:cNvSpPr/>
            <p:nvPr/>
          </p:nvSpPr>
          <p:spPr>
            <a:xfrm>
              <a:off x="1813005" y="1085601"/>
              <a:ext cx="581173" cy="387449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62"/>
            <p:cNvSpPr txBox="1"/>
            <p:nvPr/>
          </p:nvSpPr>
          <p:spPr>
            <a:xfrm>
              <a:off x="1824353" y="1096949"/>
              <a:ext cx="558477" cy="3647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D</a:t>
              </a:r>
              <a:endParaRPr sz="1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76" name="Google Shape;976;p62"/>
            <p:cNvSpPr/>
            <p:nvPr/>
          </p:nvSpPr>
          <p:spPr>
            <a:xfrm>
              <a:off x="1725829" y="1473051"/>
              <a:ext cx="377762" cy="154979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60000"/>
                  </a:lnTo>
                  <a:lnTo>
                    <a:pt x="0" y="60000"/>
                  </a:lnTo>
                  <a:lnTo>
                    <a:pt x="0" y="120000"/>
                  </a:lnTo>
                </a:path>
              </a:pathLst>
            </a:custGeom>
            <a:noFill/>
            <a:ln cap="flat" cmpd="sng" w="15875">
              <a:solidFill>
                <a:srgbClr val="84B2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977" name="Google Shape;977;p62"/>
            <p:cNvSpPr/>
            <p:nvPr/>
          </p:nvSpPr>
          <p:spPr>
            <a:xfrm>
              <a:off x="1435242" y="1628030"/>
              <a:ext cx="581173" cy="387449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62"/>
            <p:cNvSpPr txBox="1"/>
            <p:nvPr/>
          </p:nvSpPr>
          <p:spPr>
            <a:xfrm>
              <a:off x="1446590" y="1639378"/>
              <a:ext cx="558477" cy="3647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H</a:t>
              </a:r>
              <a:endParaRPr sz="1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79" name="Google Shape;979;p62"/>
            <p:cNvSpPr/>
            <p:nvPr/>
          </p:nvSpPr>
          <p:spPr>
            <a:xfrm>
              <a:off x="2103592" y="1473051"/>
              <a:ext cx="377762" cy="154979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60000"/>
                  </a:lnTo>
                  <a:lnTo>
                    <a:pt x="120000" y="6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15875">
              <a:solidFill>
                <a:srgbClr val="84B2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980" name="Google Shape;980;p62"/>
            <p:cNvSpPr/>
            <p:nvPr/>
          </p:nvSpPr>
          <p:spPr>
            <a:xfrm>
              <a:off x="2190768" y="1628030"/>
              <a:ext cx="581173" cy="387449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p62"/>
            <p:cNvSpPr txBox="1"/>
            <p:nvPr/>
          </p:nvSpPr>
          <p:spPr>
            <a:xfrm>
              <a:off x="2202116" y="1639378"/>
              <a:ext cx="558477" cy="3647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I</a:t>
              </a:r>
              <a:endParaRPr sz="1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82" name="Google Shape;982;p62"/>
            <p:cNvSpPr/>
            <p:nvPr/>
          </p:nvSpPr>
          <p:spPr>
            <a:xfrm>
              <a:off x="2481355" y="930622"/>
              <a:ext cx="377762" cy="154979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60000"/>
                  </a:lnTo>
                  <a:lnTo>
                    <a:pt x="120000" y="6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15875">
              <a:solidFill>
                <a:srgbClr val="84B2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983" name="Google Shape;983;p62"/>
            <p:cNvSpPr/>
            <p:nvPr/>
          </p:nvSpPr>
          <p:spPr>
            <a:xfrm>
              <a:off x="2568531" y="1085601"/>
              <a:ext cx="581173" cy="387449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62"/>
            <p:cNvSpPr txBox="1"/>
            <p:nvPr/>
          </p:nvSpPr>
          <p:spPr>
            <a:xfrm>
              <a:off x="2579879" y="1096949"/>
              <a:ext cx="558477" cy="3647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E</a:t>
              </a:r>
              <a:endParaRPr sz="1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85" name="Google Shape;985;p62"/>
            <p:cNvSpPr/>
            <p:nvPr/>
          </p:nvSpPr>
          <p:spPr>
            <a:xfrm>
              <a:off x="3236881" y="388193"/>
              <a:ext cx="755525" cy="154979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60000"/>
                  </a:lnTo>
                  <a:lnTo>
                    <a:pt x="120000" y="6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15875">
              <a:solidFill>
                <a:srgbClr val="759C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986" name="Google Shape;986;p62"/>
            <p:cNvSpPr/>
            <p:nvPr/>
          </p:nvSpPr>
          <p:spPr>
            <a:xfrm>
              <a:off x="3701820" y="543172"/>
              <a:ext cx="581173" cy="387449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62"/>
            <p:cNvSpPr txBox="1"/>
            <p:nvPr/>
          </p:nvSpPr>
          <p:spPr>
            <a:xfrm>
              <a:off x="3713168" y="554520"/>
              <a:ext cx="558477" cy="3647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</a:t>
              </a:r>
              <a:endParaRPr sz="1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88" name="Google Shape;988;p62"/>
            <p:cNvSpPr/>
            <p:nvPr/>
          </p:nvSpPr>
          <p:spPr>
            <a:xfrm>
              <a:off x="3614644" y="930622"/>
              <a:ext cx="377762" cy="154979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60000"/>
                  </a:lnTo>
                  <a:lnTo>
                    <a:pt x="0" y="60000"/>
                  </a:lnTo>
                  <a:lnTo>
                    <a:pt x="0" y="120000"/>
                  </a:lnTo>
                </a:path>
              </a:pathLst>
            </a:custGeom>
            <a:noFill/>
            <a:ln cap="flat" cmpd="sng" w="15875">
              <a:solidFill>
                <a:srgbClr val="84B2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989" name="Google Shape;989;p62"/>
            <p:cNvSpPr/>
            <p:nvPr/>
          </p:nvSpPr>
          <p:spPr>
            <a:xfrm>
              <a:off x="3324057" y="1085601"/>
              <a:ext cx="581173" cy="387449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62"/>
            <p:cNvSpPr txBox="1"/>
            <p:nvPr/>
          </p:nvSpPr>
          <p:spPr>
            <a:xfrm>
              <a:off x="3335405" y="1096949"/>
              <a:ext cx="558477" cy="3647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F</a:t>
              </a:r>
              <a:endParaRPr sz="1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91" name="Google Shape;991;p62"/>
            <p:cNvSpPr/>
            <p:nvPr/>
          </p:nvSpPr>
          <p:spPr>
            <a:xfrm>
              <a:off x="3992407" y="930622"/>
              <a:ext cx="377762" cy="154979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60000"/>
                  </a:lnTo>
                  <a:lnTo>
                    <a:pt x="120000" y="6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15875">
              <a:solidFill>
                <a:srgbClr val="84B2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992" name="Google Shape;992;p62"/>
            <p:cNvSpPr/>
            <p:nvPr/>
          </p:nvSpPr>
          <p:spPr>
            <a:xfrm>
              <a:off x="4079583" y="1085601"/>
              <a:ext cx="581173" cy="387449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62"/>
            <p:cNvSpPr txBox="1"/>
            <p:nvPr/>
          </p:nvSpPr>
          <p:spPr>
            <a:xfrm>
              <a:off x="4090931" y="1096949"/>
              <a:ext cx="558477" cy="3647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G</a:t>
              </a:r>
              <a:endParaRPr sz="1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994" name="Google Shape;994;p62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995" name="Google Shape;995;p62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996" name="Google Shape;996;p62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63"/>
          <p:cNvSpPr txBox="1"/>
          <p:nvPr>
            <p:ph type="ctrTitle"/>
          </p:nvPr>
        </p:nvSpPr>
        <p:spPr>
          <a:xfrm>
            <a:off x="4733365" y="2420888"/>
            <a:ext cx="3313355" cy="19897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lang="en-IN"/>
              <a:t>Linked Representation of Binary Trees</a:t>
            </a:r>
            <a:endParaRPr/>
          </a:p>
        </p:txBody>
      </p:sp>
      <p:sp>
        <p:nvSpPr>
          <p:cNvPr id="1002" name="Google Shape;1002;p63"/>
          <p:cNvSpPr txBox="1"/>
          <p:nvPr>
            <p:ph idx="1" type="subTitle"/>
          </p:nvPr>
        </p:nvSpPr>
        <p:spPr>
          <a:xfrm>
            <a:off x="4733365" y="4421080"/>
            <a:ext cx="3309803" cy="12606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368"/>
              <a:buNone/>
            </a:pPr>
            <a:r>
              <a:rPr lang="en-IN"/>
              <a:t>Recursive functions for Traversal in Binary Tree</a:t>
            </a:r>
            <a:endParaRPr/>
          </a:p>
        </p:txBody>
      </p:sp>
      <p:sp>
        <p:nvSpPr>
          <p:cNvPr id="1003" name="Google Shape;1003;p63"/>
          <p:cNvSpPr txBox="1"/>
          <p:nvPr>
            <p:ph idx="10" type="dt"/>
          </p:nvPr>
        </p:nvSpPr>
        <p:spPr>
          <a:xfrm>
            <a:off x="4738744" y="1516828"/>
            <a:ext cx="2133600" cy="7509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1004" name="Google Shape;1004;p63"/>
          <p:cNvSpPr txBox="1"/>
          <p:nvPr>
            <p:ph idx="11" type="ftr"/>
          </p:nvPr>
        </p:nvSpPr>
        <p:spPr>
          <a:xfrm>
            <a:off x="5303520" y="5719966"/>
            <a:ext cx="28315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005" name="Google Shape;1005;p63"/>
          <p:cNvSpPr txBox="1"/>
          <p:nvPr>
            <p:ph idx="12" type="sldNum"/>
          </p:nvPr>
        </p:nvSpPr>
        <p:spPr>
          <a:xfrm>
            <a:off x="4649096" y="5719966"/>
            <a:ext cx="64366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64"/>
          <p:cNvSpPr txBox="1"/>
          <p:nvPr>
            <p:ph idx="1" type="body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824"/>
              <a:buNone/>
            </a:pPr>
            <a:r>
              <a:rPr lang="en-IN"/>
              <a:t>struct node</a:t>
            </a:r>
            <a:endParaRPr/>
          </a:p>
          <a:p>
            <a:pPr indent="0" lvl="0" marL="68580" rtl="0" algn="l"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rPr lang="en-IN"/>
              <a:t>{</a:t>
            </a:r>
            <a:endParaRPr/>
          </a:p>
          <a:p>
            <a:pPr indent="0" lvl="0" marL="68580" rtl="0" algn="l"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rPr lang="en-IN"/>
              <a:t>	int num;</a:t>
            </a:r>
            <a:endParaRPr/>
          </a:p>
          <a:p>
            <a:pPr indent="0" lvl="0" marL="68580" rtl="0" algn="l"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rPr lang="en-IN"/>
              <a:t>	struct node *left;</a:t>
            </a:r>
            <a:endParaRPr/>
          </a:p>
          <a:p>
            <a:pPr indent="0" lvl="0" marL="68580" rtl="0" algn="l"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rPr lang="en-IN"/>
              <a:t>	struct node *right;</a:t>
            </a:r>
            <a:endParaRPr/>
          </a:p>
          <a:p>
            <a:pPr indent="0" lvl="0" marL="68580" rtl="0" algn="l"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rPr lang="en-IN"/>
              <a:t>};</a:t>
            </a:r>
            <a:endParaRPr/>
          </a:p>
          <a:p>
            <a:pPr indent="-158496" lvl="0" marL="342900" rtl="0" algn="l"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/>
          </a:p>
        </p:txBody>
      </p:sp>
      <p:sp>
        <p:nvSpPr>
          <p:cNvPr id="1011" name="Google Shape;1011;p64"/>
          <p:cNvSpPr txBox="1"/>
          <p:nvPr/>
        </p:nvSpPr>
        <p:spPr>
          <a:xfrm>
            <a:off x="827584" y="1340768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lang="en-IN" sz="28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Structure for Binary Tree Node</a:t>
            </a:r>
            <a:endParaRPr sz="28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12" name="Google Shape;1012;p64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1013" name="Google Shape;1013;p64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014" name="Google Shape;1014;p64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65"/>
          <p:cNvSpPr txBox="1"/>
          <p:nvPr>
            <p:ph idx="1" type="body"/>
          </p:nvPr>
        </p:nvSpPr>
        <p:spPr>
          <a:xfrm>
            <a:off x="1043492" y="1628800"/>
            <a:ext cx="6777317" cy="42038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368"/>
              <a:buNone/>
            </a:pPr>
            <a:r>
              <a:rPr lang="en-IN" sz="1800"/>
              <a:t>void preorder(struct node *tree)</a:t>
            </a:r>
            <a:endParaRPr sz="1800"/>
          </a:p>
          <a:p>
            <a:pPr indent="0" lvl="0" marL="685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rPr lang="en-IN" sz="1800"/>
              <a:t>{</a:t>
            </a:r>
            <a:endParaRPr sz="1800"/>
          </a:p>
          <a:p>
            <a:pPr indent="0" lvl="0" marL="685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rPr lang="en-IN" sz="1800"/>
              <a:t>	if(tree!=NULL)</a:t>
            </a:r>
            <a:endParaRPr sz="1800"/>
          </a:p>
          <a:p>
            <a:pPr indent="0" lvl="0" marL="685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rPr lang="en-IN" sz="1800"/>
              <a:t>	  {</a:t>
            </a:r>
            <a:endParaRPr sz="1800"/>
          </a:p>
          <a:p>
            <a:pPr indent="0" lvl="0" marL="685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rPr lang="en-IN" sz="1800"/>
              <a:t>		printf("%d\n",tree-&gt;num);</a:t>
            </a:r>
            <a:endParaRPr sz="1800"/>
          </a:p>
          <a:p>
            <a:pPr indent="0" lvl="0" marL="685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rPr lang="en-IN" sz="1800"/>
              <a:t>		preorder(tree-&gt;left);</a:t>
            </a:r>
            <a:endParaRPr sz="1800"/>
          </a:p>
          <a:p>
            <a:pPr indent="0" lvl="0" marL="685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rPr lang="en-IN" sz="1800"/>
              <a:t>		preorder(tree-&gt;right);</a:t>
            </a:r>
            <a:endParaRPr sz="1800"/>
          </a:p>
          <a:p>
            <a:pPr indent="0" lvl="0" marL="685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rPr lang="en-IN" sz="1800"/>
              <a:t>	  }</a:t>
            </a:r>
            <a:endParaRPr sz="1800"/>
          </a:p>
          <a:p>
            <a:pPr indent="0" lvl="0" marL="685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rPr lang="en-IN" sz="1800"/>
              <a:t>}</a:t>
            </a:r>
            <a:endParaRPr sz="1800"/>
          </a:p>
        </p:txBody>
      </p:sp>
      <p:sp>
        <p:nvSpPr>
          <p:cNvPr id="1020" name="Google Shape;1020;p65"/>
          <p:cNvSpPr txBox="1"/>
          <p:nvPr/>
        </p:nvSpPr>
        <p:spPr>
          <a:xfrm>
            <a:off x="683568" y="548680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lang="en-IN" sz="28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Preorder Traversal in Binary Search Tree</a:t>
            </a:r>
            <a:endParaRPr/>
          </a:p>
        </p:txBody>
      </p:sp>
      <p:sp>
        <p:nvSpPr>
          <p:cNvPr id="1021" name="Google Shape;1021;p65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1022" name="Google Shape;1022;p65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023" name="Google Shape;1023;p65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p66"/>
          <p:cNvSpPr txBox="1"/>
          <p:nvPr>
            <p:ph idx="1" type="body"/>
          </p:nvPr>
        </p:nvSpPr>
        <p:spPr>
          <a:xfrm>
            <a:off x="1043492" y="1628800"/>
            <a:ext cx="6777317" cy="42038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368"/>
              <a:buNone/>
            </a:pPr>
            <a:r>
              <a:rPr lang="en-IN" sz="1800"/>
              <a:t>void inorder(struct node *tree)</a:t>
            </a:r>
            <a:endParaRPr sz="1800"/>
          </a:p>
          <a:p>
            <a:pPr indent="0" lvl="0" marL="685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rPr lang="en-IN" sz="1800"/>
              <a:t>{</a:t>
            </a:r>
            <a:endParaRPr sz="1800"/>
          </a:p>
          <a:p>
            <a:pPr indent="0" lvl="0" marL="685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rPr lang="en-IN" sz="1800"/>
              <a:t>	if(tree!=NULL)</a:t>
            </a:r>
            <a:endParaRPr sz="1800"/>
          </a:p>
          <a:p>
            <a:pPr indent="0" lvl="0" marL="685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rPr lang="en-IN" sz="1800"/>
              <a:t>	    {</a:t>
            </a:r>
            <a:endParaRPr sz="1800"/>
          </a:p>
          <a:p>
            <a:pPr indent="0" lvl="0" marL="685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rPr lang="en-IN" sz="1800"/>
              <a:t>		inorder(tree-&gt;left);</a:t>
            </a:r>
            <a:endParaRPr sz="1800"/>
          </a:p>
          <a:p>
            <a:pPr indent="0" lvl="0" marL="685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rPr lang="en-IN" sz="1800"/>
              <a:t>		printf("%d\n",tree-&gt;num);</a:t>
            </a:r>
            <a:endParaRPr sz="1800"/>
          </a:p>
          <a:p>
            <a:pPr indent="0" lvl="0" marL="685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rPr lang="en-IN" sz="1800"/>
              <a:t>		inorder(tree-&gt;right);</a:t>
            </a:r>
            <a:endParaRPr sz="1800"/>
          </a:p>
          <a:p>
            <a:pPr indent="0" lvl="0" marL="685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rPr lang="en-IN" sz="1800"/>
              <a:t>	    }</a:t>
            </a:r>
            <a:endParaRPr sz="1800"/>
          </a:p>
          <a:p>
            <a:pPr indent="0" lvl="0" marL="685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rPr lang="en-IN" sz="1800"/>
              <a:t>}</a:t>
            </a:r>
            <a:endParaRPr sz="1800"/>
          </a:p>
        </p:txBody>
      </p:sp>
      <p:sp>
        <p:nvSpPr>
          <p:cNvPr id="1029" name="Google Shape;1029;p66"/>
          <p:cNvSpPr txBox="1"/>
          <p:nvPr/>
        </p:nvSpPr>
        <p:spPr>
          <a:xfrm>
            <a:off x="683568" y="548680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lang="en-IN" sz="28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Inorder Traversal in Binary Search Tree</a:t>
            </a:r>
            <a:endParaRPr sz="28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30" name="Google Shape;1030;p66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1031" name="Google Shape;1031;p66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032" name="Google Shape;1032;p66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67"/>
          <p:cNvSpPr txBox="1"/>
          <p:nvPr>
            <p:ph idx="1" type="body"/>
          </p:nvPr>
        </p:nvSpPr>
        <p:spPr>
          <a:xfrm>
            <a:off x="1043492" y="1628800"/>
            <a:ext cx="6777317" cy="42038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368"/>
              <a:buNone/>
            </a:pPr>
            <a:r>
              <a:rPr lang="en-IN" sz="1800"/>
              <a:t>void postorder(struct node *tree)</a:t>
            </a:r>
            <a:endParaRPr sz="1800"/>
          </a:p>
          <a:p>
            <a:pPr indent="0" lvl="0" marL="685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rPr lang="en-IN" sz="1800"/>
              <a:t>{</a:t>
            </a:r>
            <a:endParaRPr sz="1800"/>
          </a:p>
          <a:p>
            <a:pPr indent="0" lvl="0" marL="685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rPr lang="en-IN" sz="1800"/>
              <a:t>	if(tree!=NULL)</a:t>
            </a:r>
            <a:endParaRPr sz="1800"/>
          </a:p>
          <a:p>
            <a:pPr indent="0" lvl="0" marL="685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rPr lang="en-IN" sz="1800"/>
              <a:t>	  {</a:t>
            </a:r>
            <a:endParaRPr sz="1800"/>
          </a:p>
          <a:p>
            <a:pPr indent="0" lvl="0" marL="685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rPr lang="en-IN" sz="1800"/>
              <a:t>		postorder(tree-&gt;left);</a:t>
            </a:r>
            <a:endParaRPr sz="1800"/>
          </a:p>
          <a:p>
            <a:pPr indent="0" lvl="0" marL="685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rPr lang="en-IN" sz="1800"/>
              <a:t>		postorder(tree-&gt;right);</a:t>
            </a:r>
            <a:endParaRPr sz="1800"/>
          </a:p>
          <a:p>
            <a:pPr indent="0" lvl="0" marL="685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rPr lang="en-IN" sz="1800"/>
              <a:t>		printf("%d\n",tree-&gt;num);</a:t>
            </a:r>
            <a:endParaRPr sz="1800"/>
          </a:p>
          <a:p>
            <a:pPr indent="0" lvl="0" marL="685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rPr lang="en-IN" sz="1800"/>
              <a:t>	  }</a:t>
            </a:r>
            <a:endParaRPr sz="1800"/>
          </a:p>
          <a:p>
            <a:pPr indent="0" lvl="0" marL="685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rPr lang="en-IN" sz="1800"/>
              <a:t> </a:t>
            </a:r>
            <a:endParaRPr sz="1800"/>
          </a:p>
          <a:p>
            <a:pPr indent="0" lvl="0" marL="685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rPr lang="en-IN" sz="1800"/>
              <a:t>}</a:t>
            </a:r>
            <a:endParaRPr sz="1800"/>
          </a:p>
        </p:txBody>
      </p:sp>
      <p:sp>
        <p:nvSpPr>
          <p:cNvPr id="1038" name="Google Shape;1038;p67"/>
          <p:cNvSpPr txBox="1"/>
          <p:nvPr/>
        </p:nvSpPr>
        <p:spPr>
          <a:xfrm>
            <a:off x="683568" y="548680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lang="en-IN" sz="28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Postorder Traversal in Binary Search Tree</a:t>
            </a:r>
            <a:endParaRPr sz="28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39" name="Google Shape;1039;p67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1040" name="Google Shape;1040;p67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041" name="Google Shape;1041;p67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p68"/>
          <p:cNvSpPr txBox="1"/>
          <p:nvPr>
            <p:ph type="ctrTitle"/>
          </p:nvPr>
        </p:nvSpPr>
        <p:spPr>
          <a:xfrm>
            <a:off x="4733365" y="2708476"/>
            <a:ext cx="3313355" cy="1702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entury Gothic"/>
              <a:buNone/>
            </a:pPr>
            <a:r>
              <a:rPr lang="en-IN"/>
              <a:t>Binary Tree Construction</a:t>
            </a:r>
            <a:endParaRPr/>
          </a:p>
        </p:txBody>
      </p:sp>
      <p:sp>
        <p:nvSpPr>
          <p:cNvPr id="1047" name="Google Shape;1047;p68"/>
          <p:cNvSpPr txBox="1"/>
          <p:nvPr>
            <p:ph idx="1" type="subTitle"/>
          </p:nvPr>
        </p:nvSpPr>
        <p:spPr>
          <a:xfrm>
            <a:off x="4733365" y="4421080"/>
            <a:ext cx="3309803" cy="12606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/>
          </a:p>
        </p:txBody>
      </p:sp>
      <p:sp>
        <p:nvSpPr>
          <p:cNvPr id="1048" name="Google Shape;1048;p68"/>
          <p:cNvSpPr txBox="1"/>
          <p:nvPr>
            <p:ph idx="10" type="dt"/>
          </p:nvPr>
        </p:nvSpPr>
        <p:spPr>
          <a:xfrm>
            <a:off x="4738744" y="1516828"/>
            <a:ext cx="2133600" cy="7509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1049" name="Google Shape;1049;p68"/>
          <p:cNvSpPr txBox="1"/>
          <p:nvPr>
            <p:ph idx="11" type="ftr"/>
          </p:nvPr>
        </p:nvSpPr>
        <p:spPr>
          <a:xfrm>
            <a:off x="5303520" y="5719966"/>
            <a:ext cx="28315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050" name="Google Shape;1050;p68"/>
          <p:cNvSpPr txBox="1"/>
          <p:nvPr>
            <p:ph idx="12" type="sldNum"/>
          </p:nvPr>
        </p:nvSpPr>
        <p:spPr>
          <a:xfrm>
            <a:off x="4649096" y="5719966"/>
            <a:ext cx="64366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69"/>
          <p:cNvSpPr txBox="1"/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</a:pPr>
            <a:r>
              <a:rPr lang="en-IN"/>
              <a:t>Binary Tree Construction</a:t>
            </a:r>
            <a:endParaRPr/>
          </a:p>
        </p:txBody>
      </p:sp>
      <p:sp>
        <p:nvSpPr>
          <p:cNvPr id="1056" name="Google Shape;1056;p69"/>
          <p:cNvSpPr txBox="1"/>
          <p:nvPr>
            <p:ph idx="1" type="body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19" lvl="0" marL="342900" rtl="0" algn="l">
              <a:spcBef>
                <a:spcPts val="0"/>
              </a:spcBef>
              <a:spcAft>
                <a:spcPts val="0"/>
              </a:spcAft>
              <a:buSzPts val="1824"/>
              <a:buChar char="🞇"/>
            </a:pPr>
            <a:r>
              <a:rPr lang="en-IN"/>
              <a:t>Can you construct Binary Tree , Given two traversals</a:t>
            </a:r>
            <a:endParaRPr/>
          </a:p>
        </p:txBody>
      </p:sp>
      <p:sp>
        <p:nvSpPr>
          <p:cNvPr id="1057" name="Google Shape;1057;p69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1058" name="Google Shape;1058;p69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059" name="Google Shape;1059;p69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p70"/>
          <p:cNvSpPr txBox="1"/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</a:pPr>
            <a:r>
              <a:rPr lang="en-IN"/>
              <a:t>Binary Tree Construction</a:t>
            </a:r>
            <a:endParaRPr/>
          </a:p>
        </p:txBody>
      </p:sp>
      <p:sp>
        <p:nvSpPr>
          <p:cNvPr id="1065" name="Google Shape;1065;p70"/>
          <p:cNvSpPr txBox="1"/>
          <p:nvPr>
            <p:ph idx="1" type="body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19" lvl="0" marL="342900" rtl="0" algn="l">
              <a:spcBef>
                <a:spcPts val="0"/>
              </a:spcBef>
              <a:spcAft>
                <a:spcPts val="0"/>
              </a:spcAft>
              <a:buSzPts val="1824"/>
              <a:buChar char="🞇"/>
            </a:pPr>
            <a:r>
              <a:rPr lang="en-IN"/>
              <a:t>Can you construct Binary Tree , Given two traversals</a:t>
            </a:r>
            <a:endParaRPr/>
          </a:p>
          <a:p>
            <a:pPr indent="-274319" lvl="0" marL="342900" rtl="0" algn="l">
              <a:spcBef>
                <a:spcPts val="480"/>
              </a:spcBef>
              <a:spcAft>
                <a:spcPts val="0"/>
              </a:spcAft>
              <a:buSzPts val="1824"/>
              <a:buChar char="🞇"/>
            </a:pPr>
            <a:r>
              <a:rPr lang="en-IN"/>
              <a:t>Yes</a:t>
            </a:r>
            <a:endParaRPr/>
          </a:p>
          <a:p>
            <a:pPr indent="-158496" lvl="0" marL="342900" rtl="0" algn="l"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/>
          </a:p>
        </p:txBody>
      </p:sp>
      <p:sp>
        <p:nvSpPr>
          <p:cNvPr id="1066" name="Google Shape;1066;p70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1067" name="Google Shape;1067;p70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068" name="Google Shape;1068;p70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71"/>
          <p:cNvSpPr txBox="1"/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</a:pPr>
            <a:r>
              <a:rPr lang="en-IN"/>
              <a:t>Binary Tree Construction</a:t>
            </a:r>
            <a:endParaRPr/>
          </a:p>
        </p:txBody>
      </p:sp>
      <p:sp>
        <p:nvSpPr>
          <p:cNvPr id="1074" name="Google Shape;1074;p71"/>
          <p:cNvSpPr txBox="1"/>
          <p:nvPr>
            <p:ph idx="1" type="body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/>
              <a:t>Depends on which 2 sequences are given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/>
              <a:t>Can be constructed , the following combination is given-</a:t>
            </a:r>
            <a:endParaRPr/>
          </a:p>
          <a:p>
            <a:pPr indent="-228600" lvl="2" marL="9144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IN"/>
              <a:t>Preorder + Inorder</a:t>
            </a:r>
            <a:endParaRPr b="1"/>
          </a:p>
          <a:p>
            <a:pPr indent="0" lvl="3" marL="896112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rPr b="1" lang="en-IN" sz="2000"/>
              <a:t>		or</a:t>
            </a:r>
            <a:endParaRPr/>
          </a:p>
          <a:p>
            <a:pPr indent="-228600" lvl="2" marL="9144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IN"/>
              <a:t>Postorder + Inorder</a:t>
            </a:r>
            <a:endParaRPr b="1"/>
          </a:p>
          <a:p>
            <a:pPr indent="-158496" lvl="0" marL="342900" rtl="0" algn="l"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/>
          </a:p>
        </p:txBody>
      </p:sp>
      <p:sp>
        <p:nvSpPr>
          <p:cNvPr id="1075" name="Google Shape;1075;p71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1076" name="Google Shape;1076;p71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077" name="Google Shape;1077;p71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p72"/>
          <p:cNvSpPr txBox="1"/>
          <p:nvPr>
            <p:ph type="title"/>
          </p:nvPr>
        </p:nvSpPr>
        <p:spPr>
          <a:xfrm>
            <a:off x="827584" y="332656"/>
            <a:ext cx="7024744" cy="5760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b="1" lang="en-IN" sz="2800"/>
              <a:t>Binary Tree Construction</a:t>
            </a:r>
            <a:endParaRPr b="1" sz="2800"/>
          </a:p>
        </p:txBody>
      </p:sp>
      <p:sp>
        <p:nvSpPr>
          <p:cNvPr id="1083" name="Google Shape;1083;p72"/>
          <p:cNvSpPr txBox="1"/>
          <p:nvPr>
            <p:ph idx="1" type="body"/>
          </p:nvPr>
        </p:nvSpPr>
        <p:spPr>
          <a:xfrm>
            <a:off x="1043492" y="1412776"/>
            <a:ext cx="6777317" cy="44198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b="1" lang="en-IN" sz="2000"/>
              <a:t>Usage-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/>
              <a:t>Preorder/Postorder= To find out the root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="1"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/>
              <a:t>Inorder=To find the left and right subtree/child</a:t>
            </a:r>
            <a:endParaRPr sz="2000"/>
          </a:p>
        </p:txBody>
      </p:sp>
      <p:sp>
        <p:nvSpPr>
          <p:cNvPr id="1084" name="Google Shape;1084;p72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1085" name="Google Shape;1085;p72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086" name="Google Shape;1086;p72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p73"/>
          <p:cNvSpPr txBox="1"/>
          <p:nvPr>
            <p:ph type="ctrTitle"/>
          </p:nvPr>
        </p:nvSpPr>
        <p:spPr>
          <a:xfrm>
            <a:off x="4644009" y="2708476"/>
            <a:ext cx="3600400" cy="1702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entury Gothic"/>
              <a:buNone/>
            </a:pPr>
            <a:r>
              <a:rPr b="1" lang="en-IN" sz="2000"/>
              <a:t>Binary Tree Construction=In+PostOrder</a:t>
            </a:r>
            <a:endParaRPr b="1" sz="2000"/>
          </a:p>
        </p:txBody>
      </p:sp>
      <p:sp>
        <p:nvSpPr>
          <p:cNvPr id="1092" name="Google Shape;1092;p73"/>
          <p:cNvSpPr txBox="1"/>
          <p:nvPr>
            <p:ph idx="1" type="subTitle"/>
          </p:nvPr>
        </p:nvSpPr>
        <p:spPr>
          <a:xfrm>
            <a:off x="4733365" y="4421080"/>
            <a:ext cx="3309803" cy="12606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/>
          </a:p>
        </p:txBody>
      </p:sp>
      <p:sp>
        <p:nvSpPr>
          <p:cNvPr id="1093" name="Google Shape;1093;p73"/>
          <p:cNvSpPr txBox="1"/>
          <p:nvPr>
            <p:ph idx="10" type="dt"/>
          </p:nvPr>
        </p:nvSpPr>
        <p:spPr>
          <a:xfrm>
            <a:off x="4738744" y="1516828"/>
            <a:ext cx="2133600" cy="7509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1094" name="Google Shape;1094;p73"/>
          <p:cNvSpPr txBox="1"/>
          <p:nvPr>
            <p:ph idx="11" type="ftr"/>
          </p:nvPr>
        </p:nvSpPr>
        <p:spPr>
          <a:xfrm>
            <a:off x="5303520" y="5719966"/>
            <a:ext cx="28315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095" name="Google Shape;1095;p73"/>
          <p:cNvSpPr txBox="1"/>
          <p:nvPr>
            <p:ph idx="12" type="sldNum"/>
          </p:nvPr>
        </p:nvSpPr>
        <p:spPr>
          <a:xfrm>
            <a:off x="4649096" y="5719966"/>
            <a:ext cx="64366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p74"/>
          <p:cNvSpPr txBox="1"/>
          <p:nvPr>
            <p:ph type="title"/>
          </p:nvPr>
        </p:nvSpPr>
        <p:spPr>
          <a:xfrm>
            <a:off x="395536" y="116632"/>
            <a:ext cx="7024744" cy="601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b="1" lang="en-IN" sz="2400"/>
              <a:t>Binary Tree Construction=In+PostOrder</a:t>
            </a:r>
            <a:endParaRPr b="1" sz="2400"/>
          </a:p>
        </p:txBody>
      </p:sp>
      <p:sp>
        <p:nvSpPr>
          <p:cNvPr id="1101" name="Google Shape;1101;p74"/>
          <p:cNvSpPr txBox="1"/>
          <p:nvPr/>
        </p:nvSpPr>
        <p:spPr>
          <a:xfrm>
            <a:off x="323528" y="548680"/>
            <a:ext cx="4032448" cy="54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b="1" lang="en-IN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Postorder=LRN</a:t>
            </a:r>
            <a:endParaRPr/>
          </a:p>
          <a:p>
            <a:pPr indent="0" lvl="0" marL="6858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b="1" lang="en-IN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Postorder=HDIEBJFKLGCA</a:t>
            </a:r>
            <a:endParaRPr/>
          </a:p>
          <a:p>
            <a:pPr indent="0" lvl="0" marL="6858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b="1" lang="en-IN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Inorder=HDBIEAFJCKGL</a:t>
            </a:r>
            <a:endParaRPr b="1"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60680" lvl="0" marL="52578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Century Gothic"/>
              <a:buNone/>
            </a:pPr>
            <a:r>
              <a:t/>
            </a:r>
            <a:endParaRPr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41376" lvl="0" marL="525780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24"/>
              <a:buFont typeface="Century Gothic"/>
              <a:buNone/>
            </a:pPr>
            <a:r>
              <a:t/>
            </a:r>
            <a:endParaRPr sz="24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02" name="Google Shape;1102;p74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1103" name="Google Shape;1103;p74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104" name="Google Shape;1104;p74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p75"/>
          <p:cNvSpPr txBox="1"/>
          <p:nvPr>
            <p:ph type="title"/>
          </p:nvPr>
        </p:nvSpPr>
        <p:spPr>
          <a:xfrm>
            <a:off x="395536" y="116632"/>
            <a:ext cx="7024744" cy="601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b="1" lang="en-IN" sz="2400"/>
              <a:t>Binary Tree Construction=In+PostOrder</a:t>
            </a:r>
            <a:endParaRPr b="1" sz="2400"/>
          </a:p>
        </p:txBody>
      </p:sp>
      <p:sp>
        <p:nvSpPr>
          <p:cNvPr id="1110" name="Google Shape;1110;p75"/>
          <p:cNvSpPr txBox="1"/>
          <p:nvPr/>
        </p:nvSpPr>
        <p:spPr>
          <a:xfrm>
            <a:off x="323528" y="548680"/>
            <a:ext cx="4032448" cy="54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b="1" lang="en-IN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Postorder=LRN</a:t>
            </a:r>
            <a:endParaRPr/>
          </a:p>
          <a:p>
            <a:pPr indent="0" lvl="0" marL="6858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b="1" lang="en-IN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Postorder=HDIEBJFKLGCA</a:t>
            </a:r>
            <a:endParaRPr/>
          </a:p>
          <a:p>
            <a:pPr indent="0" lvl="0" marL="6858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b="1" lang="en-IN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Inorder=HDBIEAFJCKGL</a:t>
            </a:r>
            <a:endParaRPr b="1"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60680" lvl="0" marL="52578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Century Gothic"/>
              <a:buNone/>
            </a:pPr>
            <a:r>
              <a:t/>
            </a:r>
            <a:endParaRPr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41376" lvl="0" marL="525780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24"/>
              <a:buFont typeface="Century Gothic"/>
              <a:buNone/>
            </a:pPr>
            <a:r>
              <a:t/>
            </a:r>
            <a:endParaRPr sz="24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11" name="Google Shape;1111;p75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1112" name="Google Shape;1112;p75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113" name="Google Shape;1113;p75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p76"/>
          <p:cNvSpPr txBox="1"/>
          <p:nvPr>
            <p:ph type="title"/>
          </p:nvPr>
        </p:nvSpPr>
        <p:spPr>
          <a:xfrm>
            <a:off x="755576" y="404664"/>
            <a:ext cx="7024744" cy="601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b="1" lang="en-IN" sz="2800"/>
              <a:t>Binary Tree Construction=In+PostOrder</a:t>
            </a:r>
            <a:endParaRPr b="1" sz="2800"/>
          </a:p>
        </p:txBody>
      </p:sp>
      <p:pic>
        <p:nvPicPr>
          <p:cNvPr id="1119" name="Google Shape;1119;p7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08104" y="1628800"/>
            <a:ext cx="1224136" cy="7920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0" name="Google Shape;1120;p7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16016" y="2708921"/>
            <a:ext cx="3798590" cy="1512168"/>
          </a:xfrm>
          <a:prstGeom prst="rect">
            <a:avLst/>
          </a:prstGeom>
          <a:noFill/>
          <a:ln>
            <a:noFill/>
          </a:ln>
        </p:spPr>
      </p:pic>
      <p:sp>
        <p:nvSpPr>
          <p:cNvPr id="1121" name="Google Shape;1121;p76"/>
          <p:cNvSpPr txBox="1"/>
          <p:nvPr/>
        </p:nvSpPr>
        <p:spPr>
          <a:xfrm>
            <a:off x="539553" y="980728"/>
            <a:ext cx="4032448" cy="54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6858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None/>
            </a:pPr>
            <a:r>
              <a:rPr b="1" lang="en-IN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Postorder=LRN</a:t>
            </a:r>
            <a:endParaRPr/>
          </a:p>
          <a:p>
            <a:pPr indent="0" lvl="0" marL="68580" marR="0" rtl="0" algn="l">
              <a:spcBef>
                <a:spcPts val="37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None/>
            </a:pPr>
            <a:r>
              <a:rPr b="1" lang="en-IN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Postorder=HDIEBJFKLGCA</a:t>
            </a:r>
            <a:endParaRPr/>
          </a:p>
          <a:p>
            <a:pPr indent="0" lvl="0" marL="68580" marR="0" rtl="0" algn="l">
              <a:spcBef>
                <a:spcPts val="37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None/>
            </a:pPr>
            <a:r>
              <a:rPr b="1" lang="en-IN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Inorder=HDBIEAFJCKGL</a:t>
            </a:r>
            <a:endParaRPr b="1"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67919" lvl="0" marL="525780" marR="0" rtl="0" algn="l">
              <a:spcBef>
                <a:spcPts val="37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Century Gothic"/>
              <a:buNone/>
            </a:pPr>
            <a:r>
              <a:t/>
            </a:r>
            <a:endParaRPr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57200" lvl="0" marL="525780" marR="0" rtl="0" algn="l">
              <a:spcBef>
                <a:spcPts val="37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Century Gothic"/>
              <a:buAutoNum type="arabicParenR"/>
            </a:pPr>
            <a:r>
              <a:rPr lang="en-IN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 Postorder traversal, The Last Node is the Root. So, </a:t>
            </a:r>
            <a:r>
              <a:rPr b="1" lang="en-IN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 is the Root Node</a:t>
            </a:r>
            <a:endParaRPr/>
          </a:p>
          <a:p>
            <a:pPr indent="-367919" lvl="0" marL="525780" marR="0" rtl="0" algn="l">
              <a:spcBef>
                <a:spcPts val="37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Century Gothic"/>
              <a:buNone/>
            </a:pPr>
            <a:r>
              <a:t/>
            </a:r>
            <a:endParaRPr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57200" lvl="0" marL="525780" marR="0" rtl="0" algn="l">
              <a:spcBef>
                <a:spcPts val="37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Century Gothic"/>
              <a:buAutoNum type="arabicParenR"/>
            </a:pPr>
            <a:r>
              <a:rPr lang="en-IN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From Inorder traversal, </a:t>
            </a:r>
            <a:endParaRPr/>
          </a:p>
          <a:p>
            <a:pPr indent="0" lvl="0" marL="68580" marR="0" rtl="0" algn="l">
              <a:spcBef>
                <a:spcPts val="37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None/>
            </a:pPr>
            <a:r>
              <a:rPr b="1" lang="en-IN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Inorder=HDBIEAFJCKGL</a:t>
            </a:r>
            <a:endParaRPr b="1"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67919" lvl="0" marL="525780" marR="0" rtl="0" algn="l">
              <a:spcBef>
                <a:spcPts val="37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Century Gothic"/>
              <a:buNone/>
            </a:pPr>
            <a:r>
              <a:t/>
            </a:r>
            <a:endParaRPr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93967" lvl="1" marL="640080" marR="0" rtl="0" algn="l">
              <a:spcBef>
                <a:spcPts val="333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None/>
            </a:pPr>
            <a:r>
              <a:t/>
            </a:r>
            <a:endParaRPr b="1" i="0" sz="1800" u="none" cap="none" strike="noStrike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93967" lvl="1" marL="640080" marR="0" rtl="0" algn="l">
              <a:spcBef>
                <a:spcPts val="333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None/>
            </a:pPr>
            <a:r>
              <a:t/>
            </a:r>
            <a:endParaRPr b="1" i="0" sz="1800" u="none" cap="none" strike="noStrike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93967" lvl="1" marL="640080" marR="0" rtl="0" algn="l">
              <a:spcBef>
                <a:spcPts val="333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74320" lvl="1" marL="640080" marR="0" rtl="0" algn="l">
              <a:spcBef>
                <a:spcPts val="333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Char char="🞇"/>
            </a:pPr>
            <a:r>
              <a:rPr b="0" i="0" lang="en-IN" sz="18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Left subtree=Nodes on Left of the Node=HDBIE</a:t>
            </a:r>
            <a:endParaRPr/>
          </a:p>
          <a:p>
            <a:pPr indent="-274320" lvl="1" marL="640080" marR="0" rtl="0" algn="l">
              <a:spcBef>
                <a:spcPts val="333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Char char="🞇"/>
            </a:pPr>
            <a:r>
              <a:rPr b="0" i="0" lang="en-IN" sz="18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Right subtree=Nodes on the Right of the node=FJCKGL</a:t>
            </a:r>
            <a:endParaRPr/>
          </a:p>
          <a:p>
            <a:pPr indent="-350062" lvl="0" marL="525780" marR="0" rtl="0" algn="l">
              <a:spcBef>
                <a:spcPts val="444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Century Gothic"/>
              <a:buNone/>
            </a:pPr>
            <a:r>
              <a:t/>
            </a:r>
            <a:endParaRPr sz="24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22" name="Google Shape;1122;p76"/>
          <p:cNvSpPr/>
          <p:nvPr/>
        </p:nvSpPr>
        <p:spPr>
          <a:xfrm rot="5400000">
            <a:off x="2050763" y="3862005"/>
            <a:ext cx="576064" cy="718165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23" name="Google Shape;1123;p76"/>
          <p:cNvSpPr/>
          <p:nvPr/>
        </p:nvSpPr>
        <p:spPr>
          <a:xfrm rot="5400000">
            <a:off x="2987824" y="3789040"/>
            <a:ext cx="576064" cy="864096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24" name="Google Shape;1124;p76"/>
          <p:cNvSpPr txBox="1"/>
          <p:nvPr/>
        </p:nvSpPr>
        <p:spPr>
          <a:xfrm>
            <a:off x="1691680" y="4437112"/>
            <a:ext cx="158417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Left Subtree</a:t>
            </a:r>
            <a:endParaRPr b="1"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25" name="Google Shape;1125;p76"/>
          <p:cNvSpPr txBox="1"/>
          <p:nvPr/>
        </p:nvSpPr>
        <p:spPr>
          <a:xfrm>
            <a:off x="2792508" y="4463079"/>
            <a:ext cx="158417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Right Subtree</a:t>
            </a:r>
            <a:endParaRPr b="1"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26" name="Google Shape;1126;p76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1127" name="Google Shape;1127;p76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128" name="Google Shape;1128;p76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77"/>
          <p:cNvSpPr txBox="1"/>
          <p:nvPr>
            <p:ph type="title"/>
          </p:nvPr>
        </p:nvSpPr>
        <p:spPr>
          <a:xfrm>
            <a:off x="467544" y="332656"/>
            <a:ext cx="7024744" cy="601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b="1" lang="en-IN" sz="2800"/>
              <a:t>Binary Tree Construction=In+PostOrder</a:t>
            </a:r>
            <a:endParaRPr b="1" sz="2800"/>
          </a:p>
        </p:txBody>
      </p:sp>
      <p:pic>
        <p:nvPicPr>
          <p:cNvPr id="1134" name="Google Shape;1134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6016" y="1844824"/>
            <a:ext cx="3885853" cy="3528392"/>
          </a:xfrm>
          <a:prstGeom prst="rect">
            <a:avLst/>
          </a:prstGeom>
          <a:noFill/>
          <a:ln>
            <a:noFill/>
          </a:ln>
        </p:spPr>
      </p:pic>
      <p:sp>
        <p:nvSpPr>
          <p:cNvPr id="1135" name="Google Shape;1135;p77"/>
          <p:cNvSpPr txBox="1"/>
          <p:nvPr/>
        </p:nvSpPr>
        <p:spPr>
          <a:xfrm>
            <a:off x="539553" y="1124744"/>
            <a:ext cx="4032448" cy="5256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6858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None/>
            </a:pPr>
            <a:r>
              <a:rPr b="1" lang="en-IN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Postorder=HDIEBJFKLGCA</a:t>
            </a:r>
            <a:endParaRPr/>
          </a:p>
          <a:p>
            <a:pPr indent="0" lvl="0" marL="68580" marR="0" rtl="0" algn="l">
              <a:spcBef>
                <a:spcPts val="37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None/>
            </a:pPr>
            <a:r>
              <a:rPr b="1" lang="en-IN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Inorder=HDBIEAFJCKGL</a:t>
            </a:r>
            <a:endParaRPr b="1"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67919" lvl="0" marL="525780" marR="0" rtl="0" algn="l">
              <a:spcBef>
                <a:spcPts val="37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Century Gothic"/>
              <a:buNone/>
            </a:pPr>
            <a:r>
              <a:t/>
            </a:r>
            <a:endParaRPr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57200" lvl="0" marL="525780" marR="0" rtl="0" algn="l">
              <a:spcBef>
                <a:spcPts val="37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Century Gothic"/>
              <a:buAutoNum type="arabicParenR"/>
            </a:pPr>
            <a:r>
              <a:rPr lang="en-IN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 Postorder traversal, </a:t>
            </a:r>
            <a:endParaRPr/>
          </a:p>
          <a:p>
            <a:pPr indent="-274320" lvl="0" marL="342900" marR="0" rtl="0" algn="l">
              <a:spcBef>
                <a:spcPts val="37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Char char="🞇"/>
            </a:pPr>
            <a:r>
              <a:rPr b="1" lang="en-IN" sz="2000" u="sng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HDIEB</a:t>
            </a:r>
            <a:r>
              <a:rPr b="1" lang="en-IN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b="1" lang="en-IN" sz="2000" u="sng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JFKLGC </a:t>
            </a:r>
            <a:r>
              <a:rPr b="1" lang="en-IN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</a:t>
            </a:r>
            <a:endParaRPr/>
          </a:p>
          <a:p>
            <a:pPr indent="-185039" lvl="0" marL="342900" marR="0" rtl="0" algn="l">
              <a:spcBef>
                <a:spcPts val="37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None/>
            </a:pPr>
            <a:r>
              <a:t/>
            </a:r>
            <a:endParaRPr b="1"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67919" lvl="0" marL="525780" marR="0" rtl="0" algn="l">
              <a:spcBef>
                <a:spcPts val="37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Century Gothic"/>
              <a:buNone/>
            </a:pPr>
            <a:r>
              <a:t/>
            </a:r>
            <a:endParaRPr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67919" lvl="0" marL="525780" marR="0" rtl="0" algn="l">
              <a:spcBef>
                <a:spcPts val="37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Century Gothic"/>
              <a:buNone/>
            </a:pPr>
            <a:r>
              <a:t/>
            </a:r>
            <a:endParaRPr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67919" lvl="0" marL="525780" marR="0" rtl="0" algn="l">
              <a:spcBef>
                <a:spcPts val="37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Century Gothic"/>
              <a:buNone/>
            </a:pPr>
            <a:r>
              <a:t/>
            </a:r>
            <a:endParaRPr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57200" lvl="0" marL="525780" marR="0" rtl="0" algn="l">
              <a:spcBef>
                <a:spcPts val="37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Century Gothic"/>
              <a:buAutoNum type="arabicParenR"/>
            </a:pPr>
            <a:r>
              <a:rPr lang="en-IN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Now Right child of A will be the node which comes just before node A.</a:t>
            </a:r>
            <a:endParaRPr/>
          </a:p>
          <a:p>
            <a:pPr indent="-457200" lvl="0" marL="525780" marR="0" rtl="0" algn="l">
              <a:spcBef>
                <a:spcPts val="37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Century Gothic"/>
              <a:buAutoNum type="arabicParenR"/>
            </a:pPr>
            <a:r>
              <a:rPr lang="en-IN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 is the right child</a:t>
            </a:r>
            <a:endParaRPr/>
          </a:p>
          <a:p>
            <a:pPr indent="-457200" lvl="0" marL="525780" marR="0" rtl="0" algn="l">
              <a:spcBef>
                <a:spcPts val="37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Century Gothic"/>
              <a:buAutoNum type="arabicParenR"/>
            </a:pPr>
            <a:r>
              <a:rPr lang="en-IN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Left child of A will be the first node before nodes of right subtree in postorder traversal.</a:t>
            </a:r>
            <a:endParaRPr/>
          </a:p>
          <a:p>
            <a:pPr indent="-457200" lvl="0" marL="525780" marR="0" rtl="0" algn="l">
              <a:spcBef>
                <a:spcPts val="37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Century Gothic"/>
              <a:buAutoNum type="arabicParenR"/>
            </a:pPr>
            <a:r>
              <a:rPr lang="en-IN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 is the left child</a:t>
            </a:r>
            <a:endParaRPr/>
          </a:p>
        </p:txBody>
      </p:sp>
      <p:sp>
        <p:nvSpPr>
          <p:cNvPr id="1136" name="Google Shape;1136;p77"/>
          <p:cNvSpPr/>
          <p:nvPr/>
        </p:nvSpPr>
        <p:spPr>
          <a:xfrm rot="5400000">
            <a:off x="1044565" y="2493854"/>
            <a:ext cx="576064" cy="718165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37" name="Google Shape;1137;p77"/>
          <p:cNvSpPr/>
          <p:nvPr/>
        </p:nvSpPr>
        <p:spPr>
          <a:xfrm rot="5400000">
            <a:off x="1836653" y="2493855"/>
            <a:ext cx="576064" cy="718165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38" name="Google Shape;1138;p77"/>
          <p:cNvSpPr txBox="1"/>
          <p:nvPr/>
        </p:nvSpPr>
        <p:spPr>
          <a:xfrm>
            <a:off x="683568" y="3167265"/>
            <a:ext cx="158417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Left Subtree</a:t>
            </a:r>
            <a:endParaRPr b="1"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39" name="Google Shape;1139;p77"/>
          <p:cNvSpPr txBox="1"/>
          <p:nvPr/>
        </p:nvSpPr>
        <p:spPr>
          <a:xfrm>
            <a:off x="1784396" y="3193232"/>
            <a:ext cx="158417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Right Subtree</a:t>
            </a:r>
            <a:endParaRPr b="1"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40" name="Google Shape;1140;p77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1141" name="Google Shape;1141;p77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142" name="Google Shape;1142;p77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p78"/>
          <p:cNvSpPr txBox="1"/>
          <p:nvPr>
            <p:ph type="title"/>
          </p:nvPr>
        </p:nvSpPr>
        <p:spPr>
          <a:xfrm>
            <a:off x="467544" y="332656"/>
            <a:ext cx="7024744" cy="601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b="1" lang="en-IN" sz="2800"/>
              <a:t>Binary Tree Construction=In+PostOrder</a:t>
            </a:r>
            <a:endParaRPr b="1" sz="2800"/>
          </a:p>
        </p:txBody>
      </p:sp>
      <p:pic>
        <p:nvPicPr>
          <p:cNvPr id="1148" name="Google Shape;1148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88024" y="980728"/>
            <a:ext cx="3885853" cy="2808311"/>
          </a:xfrm>
          <a:prstGeom prst="rect">
            <a:avLst/>
          </a:prstGeom>
          <a:noFill/>
          <a:ln>
            <a:noFill/>
          </a:ln>
        </p:spPr>
      </p:pic>
      <p:sp>
        <p:nvSpPr>
          <p:cNvPr id="1149" name="Google Shape;1149;p78"/>
          <p:cNvSpPr txBox="1"/>
          <p:nvPr/>
        </p:nvSpPr>
        <p:spPr>
          <a:xfrm>
            <a:off x="588789" y="990766"/>
            <a:ext cx="4032448" cy="5256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0" lvl="0" marL="6858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None/>
            </a:pPr>
            <a:r>
              <a:rPr b="1" lang="en-IN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Postorder=HDIEBJFKLGCA</a:t>
            </a:r>
            <a:endParaRPr/>
          </a:p>
          <a:p>
            <a:pPr indent="0" lvl="0" marL="68580" marR="0" rtl="0" algn="l">
              <a:spcBef>
                <a:spcPts val="34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None/>
            </a:pPr>
            <a:r>
              <a:rPr b="1" lang="en-IN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Inorder=HDBIEAFJCKGL</a:t>
            </a:r>
            <a:endParaRPr b="1"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57200" lvl="0" marL="525780" marR="0" rtl="0" algn="l">
              <a:spcBef>
                <a:spcPts val="34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Century Gothic"/>
              <a:buAutoNum type="arabicParenR"/>
            </a:pPr>
            <a:r>
              <a:rPr lang="en-IN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Now Look at C in InOrder Traversal , </a:t>
            </a:r>
            <a:r>
              <a:rPr b="1" lang="en-IN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Inorder=HDBIEAFJCKGL</a:t>
            </a:r>
            <a:endParaRPr/>
          </a:p>
          <a:p>
            <a:pPr indent="-375158" lvl="0" marL="525780" marR="0" rtl="0" algn="l">
              <a:spcBef>
                <a:spcPts val="34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Century Gothic"/>
              <a:buNone/>
            </a:pPr>
            <a:r>
              <a:t/>
            </a:r>
            <a:endParaRPr b="1"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75158" lvl="0" marL="525780" marR="0" rtl="0" algn="l">
              <a:spcBef>
                <a:spcPts val="34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Century Gothic"/>
              <a:buNone/>
            </a:pPr>
            <a:r>
              <a:t/>
            </a:r>
            <a:endParaRPr b="1"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57200" lvl="0" marL="525780" marR="0" rtl="0" algn="l">
              <a:spcBef>
                <a:spcPts val="34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Century Gothic"/>
              <a:buAutoNum type="arabicParenR"/>
            </a:pPr>
            <a:r>
              <a:rPr b="1" lang="en-IN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 for C</a:t>
            </a:r>
            <a:endParaRPr/>
          </a:p>
          <a:p>
            <a:pPr indent="-457200" lvl="0" marL="525780" marR="0" rtl="0" algn="l">
              <a:spcBef>
                <a:spcPts val="34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Century Gothic"/>
              <a:buAutoNum type="arabicParenR"/>
            </a:pPr>
            <a:r>
              <a:rPr b="1" lang="en-IN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Left subtree=FJ</a:t>
            </a:r>
            <a:endParaRPr/>
          </a:p>
          <a:p>
            <a:pPr indent="-457200" lvl="0" marL="525780" marR="0" rtl="0" algn="l">
              <a:spcBef>
                <a:spcPts val="34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Century Gothic"/>
              <a:buAutoNum type="arabicParenR"/>
            </a:pPr>
            <a:r>
              <a:rPr b="1" lang="en-IN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Right subtree=KGL</a:t>
            </a:r>
            <a:endParaRPr/>
          </a:p>
          <a:p>
            <a:pPr indent="-457200" lvl="0" marL="525780" marR="0" rtl="0" algn="l">
              <a:spcBef>
                <a:spcPts val="34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Century Gothic"/>
              <a:buAutoNum type="arabicParenR"/>
            </a:pPr>
            <a:r>
              <a:rPr lang="en-IN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Now Look at B in InOrder Traversal , </a:t>
            </a:r>
            <a:r>
              <a:rPr b="1" lang="en-IN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Inorder=HDBIEAFJCKGL</a:t>
            </a:r>
            <a:endParaRPr/>
          </a:p>
          <a:p>
            <a:pPr indent="-375158" lvl="0" marL="525780" marR="0" rtl="0" algn="l">
              <a:spcBef>
                <a:spcPts val="34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Century Gothic"/>
              <a:buNone/>
            </a:pPr>
            <a:r>
              <a:t/>
            </a:r>
            <a:endParaRPr b="1"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75158" lvl="0" marL="525780" marR="0" rtl="0" algn="l">
              <a:spcBef>
                <a:spcPts val="34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Century Gothic"/>
              <a:buNone/>
            </a:pPr>
            <a:r>
              <a:t/>
            </a:r>
            <a:endParaRPr b="1"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75158" lvl="0" marL="525780" marR="0" rtl="0" algn="l">
              <a:spcBef>
                <a:spcPts val="34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Century Gothic"/>
              <a:buNone/>
            </a:pPr>
            <a:r>
              <a:t/>
            </a:r>
            <a:endParaRPr b="1"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57200" lvl="0" marL="525780" marR="0" rtl="0" algn="l">
              <a:spcBef>
                <a:spcPts val="34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Century Gothic"/>
              <a:buAutoNum type="arabicParenR"/>
            </a:pPr>
            <a:r>
              <a:rPr b="1" lang="en-IN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 for B</a:t>
            </a:r>
            <a:endParaRPr b="1"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57200" lvl="0" marL="525780" marR="0" rtl="0" algn="l">
              <a:spcBef>
                <a:spcPts val="34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Century Gothic"/>
              <a:buAutoNum type="arabicParenR"/>
            </a:pPr>
            <a:r>
              <a:rPr b="1" lang="en-IN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Left subtree=HD</a:t>
            </a:r>
            <a:endParaRPr b="1"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57200" lvl="0" marL="525780" marR="0" rtl="0" algn="l">
              <a:spcBef>
                <a:spcPts val="34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Century Gothic"/>
              <a:buAutoNum type="arabicParenR"/>
            </a:pPr>
            <a:r>
              <a:rPr b="1" lang="en-IN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Right subtree=IE</a:t>
            </a:r>
            <a:endParaRPr b="1"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75158" lvl="0" marL="525780" marR="0" rtl="0" algn="l">
              <a:spcBef>
                <a:spcPts val="34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Century Gothic"/>
              <a:buNone/>
            </a:pPr>
            <a:r>
              <a:t/>
            </a:r>
            <a:endParaRPr b="1"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75158" lvl="0" marL="525780" marR="0" rtl="0" algn="l">
              <a:spcBef>
                <a:spcPts val="34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Century Gothic"/>
              <a:buNone/>
            </a:pPr>
            <a:r>
              <a:t/>
            </a:r>
            <a:endParaRPr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1150" name="Google Shape;1150;p78"/>
          <p:cNvGrpSpPr/>
          <p:nvPr/>
        </p:nvGrpSpPr>
        <p:grpSpPr>
          <a:xfrm>
            <a:off x="2339752" y="2231167"/>
            <a:ext cx="2751405" cy="909801"/>
            <a:chOff x="2612684" y="3044336"/>
            <a:chExt cx="2751405" cy="909801"/>
          </a:xfrm>
        </p:grpSpPr>
        <p:sp>
          <p:nvSpPr>
            <p:cNvPr id="1151" name="Google Shape;1151;p78"/>
            <p:cNvSpPr/>
            <p:nvPr/>
          </p:nvSpPr>
          <p:spPr>
            <a:xfrm rot="5400000">
              <a:off x="2951820" y="3224356"/>
              <a:ext cx="576064" cy="216024"/>
            </a:xfrm>
            <a:prstGeom prst="rightBrace">
              <a:avLst>
                <a:gd fmla="val 8333" name="adj1"/>
                <a:gd fmla="val 50000" name="adj2"/>
              </a:avLst>
            </a:prstGeom>
            <a:noFill/>
            <a:ln cap="flat" cmpd="sng" w="571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152" name="Google Shape;1152;p78"/>
            <p:cNvSpPr txBox="1"/>
            <p:nvPr/>
          </p:nvSpPr>
          <p:spPr>
            <a:xfrm>
              <a:off x="2612684" y="3614331"/>
              <a:ext cx="158417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Left Subtree</a:t>
              </a:r>
              <a:endParaRPr b="1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153" name="Google Shape;1153;p78"/>
            <p:cNvSpPr txBox="1"/>
            <p:nvPr/>
          </p:nvSpPr>
          <p:spPr>
            <a:xfrm>
              <a:off x="3779913" y="3646360"/>
              <a:ext cx="158417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Right Subtree</a:t>
              </a:r>
              <a:endParaRPr b="1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154" name="Google Shape;1154;p78"/>
            <p:cNvSpPr/>
            <p:nvPr/>
          </p:nvSpPr>
          <p:spPr>
            <a:xfrm rot="5400000">
              <a:off x="3563888" y="3116344"/>
              <a:ext cx="576064" cy="432048"/>
            </a:xfrm>
            <a:prstGeom prst="rightBrace">
              <a:avLst>
                <a:gd fmla="val 8333" name="adj1"/>
                <a:gd fmla="val 50000" name="adj2"/>
              </a:avLst>
            </a:prstGeom>
            <a:noFill/>
            <a:ln cap="flat" cmpd="sng" w="571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1155" name="Google Shape;1155;p78"/>
          <p:cNvSpPr/>
          <p:nvPr/>
        </p:nvSpPr>
        <p:spPr>
          <a:xfrm rot="5400000">
            <a:off x="2015715" y="4617132"/>
            <a:ext cx="576064" cy="216024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56" name="Google Shape;1156;p78"/>
          <p:cNvSpPr txBox="1"/>
          <p:nvPr/>
        </p:nvSpPr>
        <p:spPr>
          <a:xfrm>
            <a:off x="1676579" y="5007107"/>
            <a:ext cx="158417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Left Subtree</a:t>
            </a:r>
            <a:endParaRPr b="1"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57" name="Google Shape;1157;p78"/>
          <p:cNvSpPr txBox="1"/>
          <p:nvPr/>
        </p:nvSpPr>
        <p:spPr>
          <a:xfrm>
            <a:off x="2843808" y="5039136"/>
            <a:ext cx="158417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Right Subtree</a:t>
            </a:r>
            <a:endParaRPr b="1"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58" name="Google Shape;1158;p78"/>
          <p:cNvSpPr/>
          <p:nvPr/>
        </p:nvSpPr>
        <p:spPr>
          <a:xfrm rot="5400000">
            <a:off x="2375756" y="4617132"/>
            <a:ext cx="576064" cy="216024"/>
          </a:xfrm>
          <a:prstGeom prst="rightBrace">
            <a:avLst>
              <a:gd fmla="val 25000" name="adj1"/>
              <a:gd fmla="val 50000" name="adj2"/>
            </a:avLst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59" name="Google Shape;1159;p78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1160" name="Google Shape;1160;p78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161" name="Google Shape;1161;p78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5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p79"/>
          <p:cNvSpPr txBox="1"/>
          <p:nvPr>
            <p:ph type="title"/>
          </p:nvPr>
        </p:nvSpPr>
        <p:spPr>
          <a:xfrm>
            <a:off x="467544" y="332656"/>
            <a:ext cx="7024744" cy="601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b="1" lang="en-IN" sz="2800"/>
              <a:t>Binary Tree Construction=In+PostOrder</a:t>
            </a:r>
            <a:endParaRPr b="1" sz="2800"/>
          </a:p>
        </p:txBody>
      </p:sp>
      <p:sp>
        <p:nvSpPr>
          <p:cNvPr id="1167" name="Google Shape;1167;p79"/>
          <p:cNvSpPr txBox="1"/>
          <p:nvPr/>
        </p:nvSpPr>
        <p:spPr>
          <a:xfrm>
            <a:off x="588789" y="990766"/>
            <a:ext cx="4032448" cy="5256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b="1" lang="en-IN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Postorder=HDIEBJFKLGCA</a:t>
            </a:r>
            <a:endParaRPr/>
          </a:p>
          <a:p>
            <a:pPr indent="0" lvl="0" marL="6858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b="1" lang="en-IN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Inorder=HDBIEAFJCKGL</a:t>
            </a:r>
            <a:endParaRPr b="1"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57200" lvl="0" marL="52578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Century Gothic"/>
              <a:buAutoNum type="arabicParenR"/>
            </a:pPr>
            <a:r>
              <a:rPr lang="en-IN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Now Look at node just before B in PostOrder Traversal , </a:t>
            </a:r>
            <a:endParaRPr b="1"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57200" lvl="0" marL="52578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Century Gothic"/>
              <a:buAutoNum type="arabicParenR"/>
            </a:pPr>
            <a:r>
              <a:rPr b="1" lang="en-IN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Postorder=HDIEBJFKLGCA</a:t>
            </a:r>
            <a:endParaRPr/>
          </a:p>
          <a:p>
            <a:pPr indent="-360680" lvl="0" marL="52578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Century Gothic"/>
              <a:buNone/>
            </a:pPr>
            <a:r>
              <a:t/>
            </a:r>
            <a:endParaRPr b="1"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60680" lvl="0" marL="52578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Century Gothic"/>
              <a:buNone/>
            </a:pPr>
            <a:r>
              <a:t/>
            </a:r>
            <a:endParaRPr b="1"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60680" lvl="0" marL="52578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Century Gothic"/>
              <a:buNone/>
            </a:pPr>
            <a:r>
              <a:t/>
            </a:r>
            <a:endParaRPr b="1"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57200" lvl="0" marL="52578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Century Gothic"/>
              <a:buAutoNum type="arabicParenR"/>
            </a:pPr>
            <a:r>
              <a:rPr b="1" lang="en-IN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 is right child</a:t>
            </a:r>
            <a:endParaRPr/>
          </a:p>
          <a:p>
            <a:pPr indent="-457200" lvl="0" marL="52578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Century Gothic"/>
              <a:buAutoNum type="arabicParenR"/>
            </a:pPr>
            <a:r>
              <a:rPr lang="en-IN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Left child of A will be the first node before nodes of right subtree in postorder traversal.</a:t>
            </a:r>
            <a:endParaRPr/>
          </a:p>
          <a:p>
            <a:pPr indent="-457200" lvl="0" marL="52578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Century Gothic"/>
              <a:buAutoNum type="arabicParenR"/>
            </a:pPr>
            <a:r>
              <a:rPr b="1" lang="en-IN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 is the left child</a:t>
            </a:r>
            <a:endParaRPr b="1"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168" name="Google Shape;1168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6189" y="1719257"/>
            <a:ext cx="3550227" cy="1547279"/>
          </a:xfrm>
          <a:prstGeom prst="rect">
            <a:avLst/>
          </a:prstGeom>
          <a:noFill/>
          <a:ln>
            <a:noFill/>
          </a:ln>
        </p:spPr>
      </p:pic>
      <p:sp>
        <p:nvSpPr>
          <p:cNvPr id="1169" name="Google Shape;1169;p79"/>
          <p:cNvSpPr/>
          <p:nvPr/>
        </p:nvSpPr>
        <p:spPr>
          <a:xfrm rot="5400000">
            <a:off x="2303747" y="3203275"/>
            <a:ext cx="576064" cy="216024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70" name="Google Shape;1170;p79"/>
          <p:cNvSpPr txBox="1"/>
          <p:nvPr/>
        </p:nvSpPr>
        <p:spPr>
          <a:xfrm>
            <a:off x="1964611" y="3593250"/>
            <a:ext cx="158417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Left Subtree</a:t>
            </a:r>
            <a:endParaRPr b="1"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71" name="Google Shape;1171;p79"/>
          <p:cNvSpPr txBox="1"/>
          <p:nvPr/>
        </p:nvSpPr>
        <p:spPr>
          <a:xfrm>
            <a:off x="3131840" y="3625279"/>
            <a:ext cx="158417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Right Subtree</a:t>
            </a:r>
            <a:endParaRPr b="1"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72" name="Google Shape;1172;p79"/>
          <p:cNvSpPr/>
          <p:nvPr/>
        </p:nvSpPr>
        <p:spPr>
          <a:xfrm rot="5400000">
            <a:off x="2663788" y="3203275"/>
            <a:ext cx="576064" cy="216024"/>
          </a:xfrm>
          <a:prstGeom prst="rightBrace">
            <a:avLst>
              <a:gd fmla="val 25000" name="adj1"/>
              <a:gd fmla="val 50000" name="adj2"/>
            </a:avLst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73" name="Google Shape;1173;p79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1174" name="Google Shape;1174;p79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175" name="Google Shape;1175;p79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p80"/>
          <p:cNvSpPr txBox="1"/>
          <p:nvPr>
            <p:ph type="title"/>
          </p:nvPr>
        </p:nvSpPr>
        <p:spPr>
          <a:xfrm>
            <a:off x="467544" y="332656"/>
            <a:ext cx="7024744" cy="601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b="1" lang="en-IN" sz="2800"/>
              <a:t>Binary Tree Construction=In+PostOrder</a:t>
            </a:r>
            <a:endParaRPr b="1" sz="2800"/>
          </a:p>
        </p:txBody>
      </p:sp>
      <p:sp>
        <p:nvSpPr>
          <p:cNvPr id="1181" name="Google Shape;1181;p80"/>
          <p:cNvSpPr txBox="1"/>
          <p:nvPr/>
        </p:nvSpPr>
        <p:spPr>
          <a:xfrm>
            <a:off x="588789" y="990766"/>
            <a:ext cx="4032448" cy="5256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6858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None/>
            </a:pPr>
            <a:r>
              <a:rPr b="1" lang="en-IN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Postorder=HDIEBJFKLGCA</a:t>
            </a:r>
            <a:endParaRPr/>
          </a:p>
          <a:p>
            <a:pPr indent="0" lvl="0" marL="68580" marR="0" rtl="0" algn="l">
              <a:spcBef>
                <a:spcPts val="37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None/>
            </a:pPr>
            <a:r>
              <a:rPr b="1" lang="en-IN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Inorder=HDBIEAFJCKGL</a:t>
            </a:r>
            <a:endParaRPr b="1"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57200" lvl="0" marL="525780" marR="0" rtl="0" algn="l">
              <a:spcBef>
                <a:spcPts val="37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Century Gothic"/>
              <a:buAutoNum type="arabicParenR"/>
            </a:pPr>
            <a:r>
              <a:rPr lang="en-IN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Now Look at node just before C in PostOrder Traversal , </a:t>
            </a:r>
            <a:endParaRPr b="1"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57200" lvl="0" marL="525780" marR="0" rtl="0" algn="l">
              <a:spcBef>
                <a:spcPts val="37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Century Gothic"/>
              <a:buAutoNum type="arabicParenR"/>
            </a:pPr>
            <a:r>
              <a:rPr b="1" lang="en-IN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Postorder=HDIEBJFKLGCA</a:t>
            </a:r>
            <a:endParaRPr/>
          </a:p>
          <a:p>
            <a:pPr indent="-367919" lvl="0" marL="525780" marR="0" rtl="0" algn="l">
              <a:spcBef>
                <a:spcPts val="37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Century Gothic"/>
              <a:buNone/>
            </a:pPr>
            <a:r>
              <a:t/>
            </a:r>
            <a:endParaRPr b="1"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67919" lvl="0" marL="525780" marR="0" rtl="0" algn="l">
              <a:spcBef>
                <a:spcPts val="37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Century Gothic"/>
              <a:buNone/>
            </a:pPr>
            <a:r>
              <a:t/>
            </a:r>
            <a:endParaRPr b="1"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67919" lvl="0" marL="525780" marR="0" rtl="0" algn="l">
              <a:spcBef>
                <a:spcPts val="37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Century Gothic"/>
              <a:buNone/>
            </a:pPr>
            <a:r>
              <a:t/>
            </a:r>
            <a:endParaRPr b="1"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67919" lvl="0" marL="525780" marR="0" rtl="0" algn="l">
              <a:spcBef>
                <a:spcPts val="37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Century Gothic"/>
              <a:buNone/>
            </a:pPr>
            <a:r>
              <a:t/>
            </a:r>
            <a:endParaRPr b="1"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67919" lvl="0" marL="525780" marR="0" rtl="0" algn="l">
              <a:spcBef>
                <a:spcPts val="37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Century Gothic"/>
              <a:buNone/>
            </a:pPr>
            <a:r>
              <a:t/>
            </a:r>
            <a:endParaRPr b="1"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57200" lvl="0" marL="525780" marR="0" rtl="0" algn="l">
              <a:spcBef>
                <a:spcPts val="37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Century Gothic"/>
              <a:buAutoNum type="arabicParenR"/>
            </a:pPr>
            <a:r>
              <a:rPr b="1" lang="en-IN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 is right child</a:t>
            </a:r>
            <a:endParaRPr/>
          </a:p>
          <a:p>
            <a:pPr indent="-457200" lvl="0" marL="525780" marR="0" rtl="0" algn="l">
              <a:spcBef>
                <a:spcPts val="37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Century Gothic"/>
              <a:buAutoNum type="arabicParenR"/>
            </a:pPr>
            <a:r>
              <a:rPr lang="en-IN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Left child of C will be the first node before nodes of right subtree in postorder traversal.</a:t>
            </a:r>
            <a:endParaRPr/>
          </a:p>
          <a:p>
            <a:pPr indent="-457200" lvl="0" marL="525780" marR="0" rtl="0" algn="l">
              <a:spcBef>
                <a:spcPts val="37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Century Gothic"/>
              <a:buAutoNum type="arabicParenR"/>
            </a:pPr>
            <a:r>
              <a:rPr b="1" lang="en-IN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 is the left child</a:t>
            </a:r>
            <a:endParaRPr b="1"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182" name="Google Shape;1182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6189" y="1700808"/>
            <a:ext cx="3550227" cy="2088232"/>
          </a:xfrm>
          <a:prstGeom prst="rect">
            <a:avLst/>
          </a:prstGeom>
          <a:noFill/>
          <a:ln>
            <a:noFill/>
          </a:ln>
        </p:spPr>
      </p:pic>
      <p:sp>
        <p:nvSpPr>
          <p:cNvPr id="1183" name="Google Shape;1183;p80"/>
          <p:cNvSpPr/>
          <p:nvPr/>
        </p:nvSpPr>
        <p:spPr>
          <a:xfrm rot="5400000">
            <a:off x="2879812" y="2888940"/>
            <a:ext cx="576064" cy="216024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84" name="Google Shape;1184;p80"/>
          <p:cNvSpPr txBox="1"/>
          <p:nvPr/>
        </p:nvSpPr>
        <p:spPr>
          <a:xfrm>
            <a:off x="2123728" y="3278915"/>
            <a:ext cx="158417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Left Subtree</a:t>
            </a:r>
            <a:endParaRPr b="1"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85" name="Google Shape;1185;p80"/>
          <p:cNvSpPr txBox="1"/>
          <p:nvPr/>
        </p:nvSpPr>
        <p:spPr>
          <a:xfrm>
            <a:off x="3203848" y="3265239"/>
            <a:ext cx="158417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Right Subtree</a:t>
            </a:r>
            <a:endParaRPr b="1"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86" name="Google Shape;1186;p80"/>
          <p:cNvSpPr/>
          <p:nvPr/>
        </p:nvSpPr>
        <p:spPr>
          <a:xfrm rot="5400000">
            <a:off x="3203848" y="2780928"/>
            <a:ext cx="576064" cy="432048"/>
          </a:xfrm>
          <a:prstGeom prst="rightBrace">
            <a:avLst>
              <a:gd fmla="val 25000" name="adj1"/>
              <a:gd fmla="val 50000" name="adj2"/>
            </a:avLst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87" name="Google Shape;1187;p80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1188" name="Google Shape;1188;p80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189" name="Google Shape;1189;p80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p81"/>
          <p:cNvSpPr txBox="1"/>
          <p:nvPr>
            <p:ph type="title"/>
          </p:nvPr>
        </p:nvSpPr>
        <p:spPr>
          <a:xfrm>
            <a:off x="755576" y="332656"/>
            <a:ext cx="7024744" cy="601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b="1" lang="en-IN" sz="2800"/>
              <a:t>Binary Tree Construction=In+PostOrder</a:t>
            </a:r>
            <a:endParaRPr b="1" sz="2800"/>
          </a:p>
        </p:txBody>
      </p:sp>
      <p:pic>
        <p:nvPicPr>
          <p:cNvPr id="1195" name="Google Shape;1195;p8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1960" y="3929583"/>
            <a:ext cx="4238129" cy="19476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6" name="Google Shape;1196;p8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64657" y="1556792"/>
            <a:ext cx="4295775" cy="1872208"/>
          </a:xfrm>
          <a:prstGeom prst="rect">
            <a:avLst/>
          </a:prstGeom>
          <a:noFill/>
          <a:ln>
            <a:noFill/>
          </a:ln>
        </p:spPr>
      </p:pic>
      <p:sp>
        <p:nvSpPr>
          <p:cNvPr id="1197" name="Google Shape;1197;p81"/>
          <p:cNvSpPr txBox="1"/>
          <p:nvPr/>
        </p:nvSpPr>
        <p:spPr>
          <a:xfrm>
            <a:off x="539553" y="980728"/>
            <a:ext cx="4032448" cy="51845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6858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None/>
            </a:pPr>
            <a:r>
              <a:rPr b="1" lang="en-IN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Postorder=LRN</a:t>
            </a:r>
            <a:endParaRPr/>
          </a:p>
          <a:p>
            <a:pPr indent="0" lvl="0" marL="68580" marR="0" rtl="0" algn="l">
              <a:spcBef>
                <a:spcPts val="37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None/>
            </a:pPr>
            <a:r>
              <a:rPr b="1" lang="en-IN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Postorder=HDIEBJFKLGCA</a:t>
            </a:r>
            <a:endParaRPr/>
          </a:p>
          <a:p>
            <a:pPr indent="0" lvl="0" marL="68580" marR="0" rtl="0" algn="l">
              <a:spcBef>
                <a:spcPts val="37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None/>
            </a:pPr>
            <a:r>
              <a:rPr b="1" lang="en-IN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Inorder=HDBIEAFJCKGL</a:t>
            </a:r>
            <a:endParaRPr b="1"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67919" lvl="0" marL="525780" marR="0" rtl="0" algn="l">
              <a:spcBef>
                <a:spcPts val="37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Century Gothic"/>
              <a:buNone/>
            </a:pPr>
            <a:r>
              <a:t/>
            </a:r>
            <a:endParaRPr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67919" lvl="0" marL="525780" marR="0" rtl="0" algn="l">
              <a:spcBef>
                <a:spcPts val="37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Century Gothic"/>
              <a:buNone/>
            </a:pPr>
            <a:r>
              <a:t/>
            </a:r>
            <a:endParaRPr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57200" lvl="0" marL="525780" marR="0" rtl="0" algn="l">
              <a:spcBef>
                <a:spcPts val="37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Century Gothic"/>
              <a:buAutoNum type="arabicParenR"/>
            </a:pPr>
            <a:r>
              <a:rPr lang="en-IN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From Inorder traversal, </a:t>
            </a:r>
            <a:endParaRPr/>
          </a:p>
          <a:p>
            <a:pPr indent="-274320" lvl="1" marL="640080" marR="0" rtl="0" algn="l">
              <a:spcBef>
                <a:spcPts val="333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Char char="🞇"/>
            </a:pPr>
            <a:r>
              <a:rPr b="0" i="0" lang="en-IN" sz="18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 is to the left of D so</a:t>
            </a:r>
            <a:endParaRPr/>
          </a:p>
          <a:p>
            <a:pPr indent="-274320" lvl="1" marL="640080" marR="0" rtl="0" algn="l">
              <a:spcBef>
                <a:spcPts val="333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Char char="🞇"/>
            </a:pPr>
            <a:r>
              <a:rPr b="1" i="0" lang="en-IN" sz="18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Left child of D =H</a:t>
            </a:r>
            <a:endParaRPr/>
          </a:p>
          <a:p>
            <a:pPr indent="-274320" lvl="1" marL="640080" marR="0" rtl="0" algn="l">
              <a:spcBef>
                <a:spcPts val="333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Char char="🞇"/>
            </a:pPr>
            <a:r>
              <a:rPr b="0" i="0" lang="en-IN" sz="18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 is to the Left of E</a:t>
            </a:r>
            <a:endParaRPr/>
          </a:p>
          <a:p>
            <a:pPr indent="-274320" lvl="1" marL="640080" marR="0" rtl="0" algn="l">
              <a:spcBef>
                <a:spcPts val="333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Char char="🞇"/>
            </a:pPr>
            <a:r>
              <a:rPr b="1" i="0" lang="en-IN" sz="18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Left child of E =I</a:t>
            </a:r>
            <a:endParaRPr/>
          </a:p>
          <a:p>
            <a:pPr indent="-367919" lvl="0" marL="525780" marR="0" rtl="0" algn="l">
              <a:spcBef>
                <a:spcPts val="37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Century Gothic"/>
              <a:buNone/>
            </a:pPr>
            <a:r>
              <a:t/>
            </a:r>
            <a:endParaRPr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57200" lvl="0" marL="525780" marR="0" rtl="0" algn="l">
              <a:spcBef>
                <a:spcPts val="37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Century Gothic"/>
              <a:buAutoNum type="arabicParenR"/>
            </a:pPr>
            <a:r>
              <a:rPr lang="en-IN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From Inorder traversal, </a:t>
            </a:r>
            <a:endParaRPr/>
          </a:p>
          <a:p>
            <a:pPr indent="-274320" lvl="1" marL="640080" marR="0" rtl="0" algn="l">
              <a:spcBef>
                <a:spcPts val="333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Char char="🞇"/>
            </a:pPr>
            <a:r>
              <a:rPr b="0" i="0" lang="en-IN" sz="18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 is to the right of F so</a:t>
            </a:r>
            <a:endParaRPr/>
          </a:p>
          <a:p>
            <a:pPr indent="-274320" lvl="1" marL="640080" marR="0" rtl="0" algn="l">
              <a:spcBef>
                <a:spcPts val="333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Char char="🞇"/>
            </a:pPr>
            <a:r>
              <a:rPr b="1" i="0" lang="en-IN" sz="18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Right child of F =J</a:t>
            </a:r>
            <a:endParaRPr b="1" i="0" sz="1800" u="none" cap="none" strike="noStrike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74320" lvl="1" marL="640080" marR="0" rtl="0" algn="l">
              <a:spcBef>
                <a:spcPts val="333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Char char="🞇"/>
            </a:pPr>
            <a:r>
              <a:rPr b="0" i="0" lang="en-IN" sz="18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K is to the Left of G</a:t>
            </a:r>
            <a:endParaRPr b="0" i="0" sz="1800" u="none" cap="none" strike="noStrike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74320" lvl="1" marL="640080" marR="0" rtl="0" algn="l">
              <a:spcBef>
                <a:spcPts val="333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Char char="🞇"/>
            </a:pPr>
            <a:r>
              <a:rPr b="0" i="0" lang="en-IN" sz="18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 is to the right of G</a:t>
            </a:r>
            <a:endParaRPr/>
          </a:p>
          <a:p>
            <a:pPr indent="-274320" lvl="1" marL="640080" marR="0" rtl="0" algn="l">
              <a:spcBef>
                <a:spcPts val="333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Char char="🞇"/>
            </a:pPr>
            <a:r>
              <a:rPr b="1" i="0" lang="en-IN" sz="18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Left child of G =K</a:t>
            </a:r>
            <a:endParaRPr b="1" i="0" sz="1800" u="none" cap="none" strike="noStrike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74320" lvl="1" marL="640080" marR="0" rtl="0" algn="l">
              <a:spcBef>
                <a:spcPts val="333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Char char="🞇"/>
            </a:pPr>
            <a:r>
              <a:rPr b="1" i="0" lang="en-IN" sz="18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Right child of G =L</a:t>
            </a:r>
            <a:endParaRPr b="1" i="0" sz="1800" u="none" cap="none" strike="noStrike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50062" lvl="0" marL="525780" marR="0" rtl="0" algn="l">
              <a:spcBef>
                <a:spcPts val="444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Century Gothic"/>
              <a:buNone/>
            </a:pPr>
            <a:r>
              <a:t/>
            </a:r>
            <a:endParaRPr sz="24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93967" lvl="1" marL="640080" marR="0" rtl="0" algn="l">
              <a:spcBef>
                <a:spcPts val="333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None/>
            </a:pPr>
            <a:r>
              <a:t/>
            </a:r>
            <a:endParaRPr b="1" i="0" sz="1800" u="none" cap="none" strike="noStrike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50062" lvl="0" marL="525780" marR="0" rtl="0" algn="l">
              <a:spcBef>
                <a:spcPts val="444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Century Gothic"/>
              <a:buNone/>
            </a:pPr>
            <a:r>
              <a:t/>
            </a:r>
            <a:endParaRPr sz="24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98" name="Google Shape;1198;p81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1199" name="Google Shape;1199;p81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200" name="Google Shape;1200;p81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4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82"/>
          <p:cNvSpPr txBox="1"/>
          <p:nvPr>
            <p:ph type="ctrTitle"/>
          </p:nvPr>
        </p:nvSpPr>
        <p:spPr>
          <a:xfrm>
            <a:off x="4644009" y="2708476"/>
            <a:ext cx="3600400" cy="1702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entury Gothic"/>
              <a:buNone/>
            </a:pPr>
            <a:r>
              <a:rPr b="1" lang="en-IN" sz="2000"/>
              <a:t>Binary Tree Construction=In+PreOrder</a:t>
            </a:r>
            <a:endParaRPr b="1" sz="2000"/>
          </a:p>
        </p:txBody>
      </p:sp>
      <p:sp>
        <p:nvSpPr>
          <p:cNvPr id="1206" name="Google Shape;1206;p82"/>
          <p:cNvSpPr txBox="1"/>
          <p:nvPr>
            <p:ph idx="1" type="subTitle"/>
          </p:nvPr>
        </p:nvSpPr>
        <p:spPr>
          <a:xfrm>
            <a:off x="4733365" y="4421080"/>
            <a:ext cx="3309803" cy="12606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/>
          </a:p>
        </p:txBody>
      </p:sp>
      <p:sp>
        <p:nvSpPr>
          <p:cNvPr id="1207" name="Google Shape;1207;p82"/>
          <p:cNvSpPr txBox="1"/>
          <p:nvPr>
            <p:ph idx="10" type="dt"/>
          </p:nvPr>
        </p:nvSpPr>
        <p:spPr>
          <a:xfrm>
            <a:off x="4738744" y="1516828"/>
            <a:ext cx="2133600" cy="7509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1208" name="Google Shape;1208;p82"/>
          <p:cNvSpPr txBox="1"/>
          <p:nvPr>
            <p:ph idx="11" type="ftr"/>
          </p:nvPr>
        </p:nvSpPr>
        <p:spPr>
          <a:xfrm>
            <a:off x="5303520" y="5719966"/>
            <a:ext cx="28315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209" name="Google Shape;1209;p82"/>
          <p:cNvSpPr txBox="1"/>
          <p:nvPr>
            <p:ph idx="12" type="sldNum"/>
          </p:nvPr>
        </p:nvSpPr>
        <p:spPr>
          <a:xfrm>
            <a:off x="4649096" y="5719966"/>
            <a:ext cx="64366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3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4" name="Google Shape;1214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544" y="902047"/>
            <a:ext cx="3028950" cy="733425"/>
          </a:xfrm>
          <a:prstGeom prst="rect">
            <a:avLst/>
          </a:prstGeom>
          <a:noFill/>
          <a:ln>
            <a:noFill/>
          </a:ln>
        </p:spPr>
      </p:pic>
      <p:sp>
        <p:nvSpPr>
          <p:cNvPr id="1215" name="Google Shape;1215;p83"/>
          <p:cNvSpPr txBox="1"/>
          <p:nvPr>
            <p:ph idx="1" type="body"/>
          </p:nvPr>
        </p:nvSpPr>
        <p:spPr>
          <a:xfrm>
            <a:off x="1043609" y="2132856"/>
            <a:ext cx="6768752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1376" lvl="0" marL="525780" rtl="0" algn="l">
              <a:spcBef>
                <a:spcPts val="0"/>
              </a:spcBef>
              <a:spcAft>
                <a:spcPts val="0"/>
              </a:spcAft>
              <a:buSzPts val="1824"/>
              <a:buFont typeface="Century Gothic"/>
              <a:buNone/>
            </a:pPr>
            <a:r>
              <a:t/>
            </a:r>
            <a:endParaRPr/>
          </a:p>
          <a:p>
            <a:pPr indent="-341376" lvl="0" marL="525780" rtl="0" algn="l">
              <a:spcBef>
                <a:spcPts val="480"/>
              </a:spcBef>
              <a:spcAft>
                <a:spcPts val="0"/>
              </a:spcAft>
              <a:buSzPts val="1824"/>
              <a:buFont typeface="Century Gothic"/>
              <a:buNone/>
            </a:pPr>
            <a:r>
              <a:t/>
            </a:r>
            <a:endParaRPr/>
          </a:p>
        </p:txBody>
      </p:sp>
      <p:sp>
        <p:nvSpPr>
          <p:cNvPr id="1216" name="Google Shape;1216;p83"/>
          <p:cNvSpPr txBox="1"/>
          <p:nvPr>
            <p:ph type="title"/>
          </p:nvPr>
        </p:nvSpPr>
        <p:spPr>
          <a:xfrm>
            <a:off x="467544" y="332656"/>
            <a:ext cx="7024744" cy="601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b="1" lang="en-IN" sz="2800"/>
              <a:t>Binary Tree Construction=In+PreOrder</a:t>
            </a:r>
            <a:endParaRPr b="1" sz="2800"/>
          </a:p>
        </p:txBody>
      </p:sp>
      <p:sp>
        <p:nvSpPr>
          <p:cNvPr id="1217" name="Google Shape;1217;p83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1218" name="Google Shape;1218;p83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219" name="Google Shape;1219;p83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4" name="Google Shape;1224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544" y="902047"/>
            <a:ext cx="3028950" cy="7334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5" name="Google Shape;1225;p84"/>
          <p:cNvSpPr txBox="1"/>
          <p:nvPr>
            <p:ph idx="1" type="body"/>
          </p:nvPr>
        </p:nvSpPr>
        <p:spPr>
          <a:xfrm>
            <a:off x="1043609" y="2132856"/>
            <a:ext cx="6768752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1376" lvl="0" marL="525780" rtl="0" algn="l">
              <a:spcBef>
                <a:spcPts val="0"/>
              </a:spcBef>
              <a:spcAft>
                <a:spcPts val="0"/>
              </a:spcAft>
              <a:buSzPts val="1824"/>
              <a:buFont typeface="Century Gothic"/>
              <a:buNone/>
            </a:pPr>
            <a:r>
              <a:t/>
            </a:r>
            <a:endParaRPr/>
          </a:p>
          <a:p>
            <a:pPr indent="-341376" lvl="0" marL="525780" rtl="0" algn="l">
              <a:spcBef>
                <a:spcPts val="480"/>
              </a:spcBef>
              <a:spcAft>
                <a:spcPts val="0"/>
              </a:spcAft>
              <a:buSzPts val="1824"/>
              <a:buFont typeface="Century Gothic"/>
              <a:buNone/>
            </a:pPr>
            <a:r>
              <a:t/>
            </a:r>
            <a:endParaRPr/>
          </a:p>
        </p:txBody>
      </p:sp>
      <p:sp>
        <p:nvSpPr>
          <p:cNvPr id="1226" name="Google Shape;1226;p84"/>
          <p:cNvSpPr txBox="1"/>
          <p:nvPr>
            <p:ph type="title"/>
          </p:nvPr>
        </p:nvSpPr>
        <p:spPr>
          <a:xfrm>
            <a:off x="467544" y="332656"/>
            <a:ext cx="7024744" cy="601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b="1" lang="en-IN" sz="2800"/>
              <a:t>Binary Tree Construction=In+PreOrder</a:t>
            </a:r>
            <a:endParaRPr b="1" sz="2800"/>
          </a:p>
        </p:txBody>
      </p:sp>
      <p:sp>
        <p:nvSpPr>
          <p:cNvPr id="1227" name="Google Shape;1227;p84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1228" name="Google Shape;1228;p84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229" name="Google Shape;1229;p84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4" name="Google Shape;1234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7624" y="1268760"/>
            <a:ext cx="3028950" cy="733425"/>
          </a:xfrm>
          <a:prstGeom prst="rect">
            <a:avLst/>
          </a:prstGeom>
          <a:noFill/>
          <a:ln>
            <a:noFill/>
          </a:ln>
        </p:spPr>
      </p:pic>
      <p:sp>
        <p:nvSpPr>
          <p:cNvPr id="1235" name="Google Shape;1235;p85"/>
          <p:cNvSpPr txBox="1"/>
          <p:nvPr>
            <p:ph idx="1" type="body"/>
          </p:nvPr>
        </p:nvSpPr>
        <p:spPr>
          <a:xfrm>
            <a:off x="1043609" y="2132856"/>
            <a:ext cx="6768752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368"/>
              <a:buNone/>
            </a:pPr>
            <a:r>
              <a:rPr b="1" lang="en-IN" sz="1800"/>
              <a:t>Preorder=NLR</a:t>
            </a:r>
            <a:endParaRPr/>
          </a:p>
          <a:p>
            <a:pPr indent="-457200" lvl="0" marL="525780" rtl="0" algn="l">
              <a:spcBef>
                <a:spcPts val="400"/>
              </a:spcBef>
              <a:spcAft>
                <a:spcPts val="0"/>
              </a:spcAft>
              <a:buSzPts val="1520"/>
              <a:buFont typeface="Century Gothic"/>
              <a:buAutoNum type="arabicParenR"/>
            </a:pPr>
            <a:r>
              <a:rPr lang="en-IN" sz="2000"/>
              <a:t>In Preorder traversal, The First Node is the Root.</a:t>
            </a:r>
            <a:endParaRPr/>
          </a:p>
          <a:p>
            <a:pPr indent="-457200" lvl="0" marL="525780" rtl="0" algn="l">
              <a:spcBef>
                <a:spcPts val="400"/>
              </a:spcBef>
              <a:spcAft>
                <a:spcPts val="0"/>
              </a:spcAft>
              <a:buSzPts val="1520"/>
              <a:buFont typeface="Century Gothic"/>
              <a:buAutoNum type="arabicParenR"/>
            </a:pPr>
            <a:r>
              <a:rPr lang="en-IN" sz="2000"/>
              <a:t>From Inorder traversal-Find the left subtree and right subtree </a:t>
            </a:r>
            <a:endParaRPr/>
          </a:p>
          <a:p>
            <a:pPr indent="-274320" lvl="1" marL="640080" rtl="0" algn="l">
              <a:spcBef>
                <a:spcPts val="320"/>
              </a:spcBef>
              <a:spcAft>
                <a:spcPts val="0"/>
              </a:spcAft>
              <a:buSzPts val="1216"/>
              <a:buChar char="🞇"/>
            </a:pPr>
            <a:r>
              <a:rPr lang="en-IN" sz="1600"/>
              <a:t>Nodes on the left of the root in Inorder =Left Subtree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Nodes on the right of the root in Inorder =Right Subtree</a:t>
            </a:r>
            <a:endParaRPr/>
          </a:p>
          <a:p>
            <a:pPr indent="-341376" lvl="0" marL="525780" rtl="0" algn="l">
              <a:spcBef>
                <a:spcPts val="480"/>
              </a:spcBef>
              <a:spcAft>
                <a:spcPts val="0"/>
              </a:spcAft>
              <a:buSzPts val="1824"/>
              <a:buFont typeface="Century Gothic"/>
              <a:buNone/>
            </a:pPr>
            <a:r>
              <a:t/>
            </a:r>
            <a:endParaRPr/>
          </a:p>
          <a:p>
            <a:pPr indent="-341376" lvl="0" marL="525780" rtl="0" algn="l">
              <a:spcBef>
                <a:spcPts val="480"/>
              </a:spcBef>
              <a:spcAft>
                <a:spcPts val="0"/>
              </a:spcAft>
              <a:buSzPts val="1824"/>
              <a:buFont typeface="Century Gothic"/>
              <a:buNone/>
            </a:pPr>
            <a:r>
              <a:t/>
            </a:r>
            <a:endParaRPr/>
          </a:p>
        </p:txBody>
      </p:sp>
      <p:pic>
        <p:nvPicPr>
          <p:cNvPr id="1236" name="Google Shape;1236;p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39752" y="4163541"/>
            <a:ext cx="3642345" cy="1209675"/>
          </a:xfrm>
          <a:prstGeom prst="rect">
            <a:avLst/>
          </a:prstGeom>
          <a:noFill/>
          <a:ln>
            <a:noFill/>
          </a:ln>
        </p:spPr>
      </p:pic>
      <p:sp>
        <p:nvSpPr>
          <p:cNvPr id="1237" name="Google Shape;1237;p85"/>
          <p:cNvSpPr txBox="1"/>
          <p:nvPr>
            <p:ph type="title"/>
          </p:nvPr>
        </p:nvSpPr>
        <p:spPr>
          <a:xfrm>
            <a:off x="704202" y="667624"/>
            <a:ext cx="7024744" cy="601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b="1" lang="en-IN" sz="2800"/>
              <a:t>Binary Tree Construction=In+PreOrder</a:t>
            </a:r>
            <a:endParaRPr b="1" sz="2800"/>
          </a:p>
        </p:txBody>
      </p:sp>
      <p:sp>
        <p:nvSpPr>
          <p:cNvPr id="1238" name="Google Shape;1238;p85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1239" name="Google Shape;1239;p85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240" name="Google Shape;1240;p85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4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p86"/>
          <p:cNvSpPr txBox="1"/>
          <p:nvPr>
            <p:ph idx="1" type="body"/>
          </p:nvPr>
        </p:nvSpPr>
        <p:spPr>
          <a:xfrm>
            <a:off x="971600" y="1242067"/>
            <a:ext cx="6768752" cy="4347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ct val="76000"/>
              <a:buNone/>
            </a:pPr>
            <a:r>
              <a:rPr b="1" lang="en-IN" sz="2000"/>
              <a:t>Preorder=</a:t>
            </a:r>
            <a:r>
              <a:rPr b="1" lang="en-IN" sz="2000">
                <a:solidFill>
                  <a:srgbClr val="00B0F0"/>
                </a:solidFill>
              </a:rPr>
              <a:t>b</a:t>
            </a:r>
            <a:r>
              <a:rPr b="1" lang="en-IN" sz="2000"/>
              <a:t>dgheicfj</a:t>
            </a:r>
            <a:endParaRPr b="1" sz="2000"/>
          </a:p>
          <a:p>
            <a:pPr indent="0" lvl="0" marL="68580" rtl="0" algn="l">
              <a:spcBef>
                <a:spcPts val="280"/>
              </a:spcBef>
              <a:spcAft>
                <a:spcPts val="0"/>
              </a:spcAft>
              <a:buSzPct val="76000"/>
              <a:buNone/>
            </a:pPr>
            <a:r>
              <a:rPr b="1" lang="en-IN" sz="2000"/>
              <a:t>Inorder=gdh   </a:t>
            </a:r>
            <a:r>
              <a:rPr b="1" lang="en-IN" sz="2000">
                <a:solidFill>
                  <a:srgbClr val="00B0F0"/>
                </a:solidFill>
              </a:rPr>
              <a:t>b</a:t>
            </a:r>
            <a:r>
              <a:rPr b="1" lang="en-IN" sz="2000"/>
              <a:t>    ei    a   fjc</a:t>
            </a:r>
            <a:endParaRPr b="1" sz="2000"/>
          </a:p>
          <a:p>
            <a:pPr indent="-389636" lvl="0" marL="525780" rtl="0" algn="l">
              <a:spcBef>
                <a:spcPts val="280"/>
              </a:spcBef>
              <a:spcAft>
                <a:spcPts val="0"/>
              </a:spcAft>
              <a:buSzPct val="76000"/>
              <a:buFont typeface="Century Gothic"/>
              <a:buNone/>
            </a:pPr>
            <a:r>
              <a:t/>
            </a:r>
            <a:endParaRPr sz="2000"/>
          </a:p>
          <a:p>
            <a:pPr indent="-457200" lvl="0" marL="525780" rtl="0" algn="l">
              <a:spcBef>
                <a:spcPts val="280"/>
              </a:spcBef>
              <a:spcAft>
                <a:spcPts val="0"/>
              </a:spcAft>
              <a:buSzPct val="76000"/>
              <a:buFont typeface="Century Gothic"/>
              <a:buAutoNum type="arabicParenR"/>
            </a:pPr>
            <a:r>
              <a:rPr lang="en-IN" sz="2000"/>
              <a:t>b is the next root</a:t>
            </a:r>
            <a:endParaRPr/>
          </a:p>
          <a:p>
            <a:pPr indent="-457200" lvl="0" marL="525780" rtl="0" algn="l">
              <a:spcBef>
                <a:spcPts val="280"/>
              </a:spcBef>
              <a:spcAft>
                <a:spcPts val="0"/>
              </a:spcAft>
              <a:buSzPct val="76000"/>
              <a:buFont typeface="Century Gothic"/>
              <a:buAutoNum type="arabicParenR"/>
            </a:pPr>
            <a:r>
              <a:rPr lang="en-IN" sz="2000"/>
              <a:t>Left subtree=gdh</a:t>
            </a:r>
            <a:endParaRPr sz="2000"/>
          </a:p>
          <a:p>
            <a:pPr indent="-457200" lvl="0" marL="525780" rtl="0" algn="l">
              <a:spcBef>
                <a:spcPts val="280"/>
              </a:spcBef>
              <a:spcAft>
                <a:spcPts val="0"/>
              </a:spcAft>
              <a:buSzPct val="76000"/>
              <a:buFont typeface="Century Gothic"/>
              <a:buAutoNum type="arabicParenR"/>
            </a:pPr>
            <a:r>
              <a:rPr lang="en-IN" sz="2000"/>
              <a:t>Right Subtree=ei</a:t>
            </a:r>
            <a:endParaRPr sz="2000"/>
          </a:p>
          <a:p>
            <a:pPr indent="-389636" lvl="0" marL="525780" rtl="0" algn="l">
              <a:spcBef>
                <a:spcPts val="280"/>
              </a:spcBef>
              <a:spcAft>
                <a:spcPts val="0"/>
              </a:spcAft>
              <a:buSzPct val="76000"/>
              <a:buFont typeface="Century Gothic"/>
              <a:buNone/>
            </a:pPr>
            <a:r>
              <a:t/>
            </a:r>
            <a:endParaRPr sz="2000"/>
          </a:p>
          <a:p>
            <a:pPr indent="0" lvl="0" marL="68580" rtl="0" algn="l">
              <a:spcBef>
                <a:spcPts val="336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b="1"/>
          </a:p>
          <a:p>
            <a:pPr indent="0" lvl="0" marL="68580" rtl="0" algn="l">
              <a:spcBef>
                <a:spcPts val="336"/>
              </a:spcBef>
              <a:spcAft>
                <a:spcPts val="0"/>
              </a:spcAft>
              <a:buSzPct val="76000"/>
              <a:buNone/>
            </a:pPr>
            <a:r>
              <a:rPr b="1" lang="en-IN"/>
              <a:t>Preorder=</a:t>
            </a:r>
            <a:r>
              <a:rPr b="1" lang="en-IN">
                <a:solidFill>
                  <a:srgbClr val="00B0F0"/>
                </a:solidFill>
              </a:rPr>
              <a:t>d</a:t>
            </a:r>
            <a:r>
              <a:rPr b="1" lang="en-IN"/>
              <a:t>gheicfj</a:t>
            </a:r>
            <a:endParaRPr b="1"/>
          </a:p>
          <a:p>
            <a:pPr indent="0" lvl="0" marL="68580" rtl="0" algn="l">
              <a:spcBef>
                <a:spcPts val="336"/>
              </a:spcBef>
              <a:spcAft>
                <a:spcPts val="0"/>
              </a:spcAft>
              <a:buSzPct val="76000"/>
              <a:buNone/>
            </a:pPr>
            <a:r>
              <a:rPr b="1" lang="en-IN"/>
              <a:t>Inorder=</a:t>
            </a:r>
            <a:r>
              <a:rPr b="1" lang="en-IN">
                <a:solidFill>
                  <a:srgbClr val="00B0F0"/>
                </a:solidFill>
              </a:rPr>
              <a:t>gdh   b</a:t>
            </a:r>
            <a:r>
              <a:rPr b="1" lang="en-IN"/>
              <a:t>    ei    a   fjc</a:t>
            </a:r>
            <a:endParaRPr b="1"/>
          </a:p>
          <a:p>
            <a:pPr indent="-376123" lvl="0" marL="525780" rtl="0" algn="l">
              <a:spcBef>
                <a:spcPts val="336"/>
              </a:spcBef>
              <a:spcAft>
                <a:spcPts val="0"/>
              </a:spcAft>
              <a:buSzPct val="76000"/>
              <a:buFont typeface="Century Gothic"/>
              <a:buNone/>
            </a:pPr>
            <a:r>
              <a:t/>
            </a:r>
            <a:endParaRPr/>
          </a:p>
          <a:p>
            <a:pPr indent="-457200" lvl="0" marL="525780" rtl="0" algn="l">
              <a:spcBef>
                <a:spcPts val="336"/>
              </a:spcBef>
              <a:spcAft>
                <a:spcPts val="0"/>
              </a:spcAft>
              <a:buSzPct val="76000"/>
              <a:buFont typeface="Century Gothic"/>
              <a:buAutoNum type="arabicParenR"/>
            </a:pPr>
            <a:r>
              <a:rPr lang="en-IN"/>
              <a:t>d is the next root</a:t>
            </a:r>
            <a:endParaRPr/>
          </a:p>
          <a:p>
            <a:pPr indent="-457200" lvl="0" marL="525780" rtl="0" algn="l">
              <a:spcBef>
                <a:spcPts val="336"/>
              </a:spcBef>
              <a:spcAft>
                <a:spcPts val="0"/>
              </a:spcAft>
              <a:buSzPct val="76000"/>
              <a:buFont typeface="Century Gothic"/>
              <a:buAutoNum type="arabicParenR"/>
            </a:pPr>
            <a:r>
              <a:rPr lang="en-IN"/>
              <a:t>g is on left of d</a:t>
            </a:r>
            <a:endParaRPr/>
          </a:p>
          <a:p>
            <a:pPr indent="-457200" lvl="0" marL="525780" rtl="0" algn="l">
              <a:spcBef>
                <a:spcPts val="336"/>
              </a:spcBef>
              <a:spcAft>
                <a:spcPts val="0"/>
              </a:spcAft>
              <a:buSzPct val="76000"/>
              <a:buFont typeface="Century Gothic"/>
              <a:buAutoNum type="arabicParenR"/>
            </a:pPr>
            <a:r>
              <a:rPr lang="en-IN"/>
              <a:t>Left subtree=g</a:t>
            </a:r>
            <a:endParaRPr/>
          </a:p>
          <a:p>
            <a:pPr indent="-457200" lvl="0" marL="525780" rtl="0" algn="l">
              <a:spcBef>
                <a:spcPts val="336"/>
              </a:spcBef>
              <a:spcAft>
                <a:spcPts val="0"/>
              </a:spcAft>
              <a:buSzPct val="76000"/>
              <a:buFont typeface="Century Gothic"/>
              <a:buAutoNum type="arabicParenR"/>
            </a:pPr>
            <a:r>
              <a:rPr lang="en-IN"/>
              <a:t>h is on right of d</a:t>
            </a:r>
            <a:endParaRPr/>
          </a:p>
          <a:p>
            <a:pPr indent="-457200" lvl="0" marL="525780" rtl="0" algn="l">
              <a:spcBef>
                <a:spcPts val="336"/>
              </a:spcBef>
              <a:spcAft>
                <a:spcPts val="0"/>
              </a:spcAft>
              <a:buSzPct val="76000"/>
              <a:buFont typeface="Century Gothic"/>
              <a:buAutoNum type="arabicParenR"/>
            </a:pPr>
            <a:r>
              <a:rPr lang="en-IN"/>
              <a:t>Right Subtree=h</a:t>
            </a:r>
            <a:endParaRPr/>
          </a:p>
          <a:p>
            <a:pPr indent="-376123" lvl="0" marL="525780" rtl="0" algn="l">
              <a:spcBef>
                <a:spcPts val="336"/>
              </a:spcBef>
              <a:spcAft>
                <a:spcPts val="0"/>
              </a:spcAft>
              <a:buSzPct val="76000"/>
              <a:buFont typeface="Century Gothic"/>
              <a:buNone/>
            </a:pPr>
            <a:r>
              <a:t/>
            </a:r>
            <a:endParaRPr/>
          </a:p>
        </p:txBody>
      </p:sp>
      <p:pic>
        <p:nvPicPr>
          <p:cNvPr id="1246" name="Google Shape;1246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8064" y="1268760"/>
            <a:ext cx="2686050" cy="145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7" name="Google Shape;1247;p8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4576" y="3140968"/>
            <a:ext cx="3331840" cy="2088232"/>
          </a:xfrm>
          <a:prstGeom prst="rect">
            <a:avLst/>
          </a:prstGeom>
          <a:noFill/>
          <a:ln>
            <a:noFill/>
          </a:ln>
        </p:spPr>
      </p:pic>
      <p:sp>
        <p:nvSpPr>
          <p:cNvPr id="1248" name="Google Shape;1248;p86"/>
          <p:cNvSpPr txBox="1"/>
          <p:nvPr/>
        </p:nvSpPr>
        <p:spPr>
          <a:xfrm>
            <a:off x="704202" y="369662"/>
            <a:ext cx="7024744" cy="601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b="1" lang="en-IN" sz="28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Binary Tree Construction=In+PreOrder</a:t>
            </a:r>
            <a:endParaRPr b="1" sz="28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249" name="Google Shape;1249;p8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85039" y="5229200"/>
            <a:ext cx="3028950" cy="733425"/>
          </a:xfrm>
          <a:prstGeom prst="rect">
            <a:avLst/>
          </a:prstGeom>
          <a:noFill/>
          <a:ln>
            <a:noFill/>
          </a:ln>
        </p:spPr>
      </p:pic>
      <p:sp>
        <p:nvSpPr>
          <p:cNvPr id="1250" name="Google Shape;1250;p86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1251" name="Google Shape;1251;p86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252" name="Google Shape;1252;p86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6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87"/>
          <p:cNvSpPr txBox="1"/>
          <p:nvPr>
            <p:ph idx="1" type="body"/>
          </p:nvPr>
        </p:nvSpPr>
        <p:spPr>
          <a:xfrm>
            <a:off x="971600" y="1242067"/>
            <a:ext cx="6768752" cy="4347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ct val="76000"/>
              <a:buNone/>
            </a:pPr>
            <a:r>
              <a:rPr b="1" lang="en-IN" sz="2000"/>
              <a:t>Preorder=</a:t>
            </a:r>
            <a:r>
              <a:rPr b="1" lang="en-IN" sz="2000">
                <a:solidFill>
                  <a:srgbClr val="00B0F0"/>
                </a:solidFill>
              </a:rPr>
              <a:t>e</a:t>
            </a:r>
            <a:r>
              <a:rPr b="1" lang="en-IN" sz="2000"/>
              <a:t>icfj</a:t>
            </a:r>
            <a:endParaRPr b="1" sz="2000"/>
          </a:p>
          <a:p>
            <a:pPr indent="0" lvl="0" marL="68580" rtl="0" algn="l">
              <a:spcBef>
                <a:spcPts val="340"/>
              </a:spcBef>
              <a:spcAft>
                <a:spcPts val="0"/>
              </a:spcAft>
              <a:buSzPct val="76000"/>
              <a:buNone/>
            </a:pPr>
            <a:r>
              <a:rPr b="1" lang="en-IN" sz="2000"/>
              <a:t>Inorder=</a:t>
            </a:r>
            <a:r>
              <a:rPr b="1" lang="en-IN" sz="2000">
                <a:solidFill>
                  <a:srgbClr val="00B0F0"/>
                </a:solidFill>
              </a:rPr>
              <a:t>gdh </a:t>
            </a:r>
            <a:r>
              <a:rPr b="1" lang="en-IN" sz="2000"/>
              <a:t>  </a:t>
            </a:r>
            <a:r>
              <a:rPr b="1" lang="en-IN" sz="2000">
                <a:solidFill>
                  <a:srgbClr val="00B0F0"/>
                </a:solidFill>
              </a:rPr>
              <a:t>b</a:t>
            </a:r>
            <a:r>
              <a:rPr b="1" lang="en-IN" sz="2000"/>
              <a:t>    </a:t>
            </a:r>
            <a:r>
              <a:rPr b="1" lang="en-IN" sz="2000">
                <a:solidFill>
                  <a:srgbClr val="00B0F0"/>
                </a:solidFill>
              </a:rPr>
              <a:t>ei</a:t>
            </a:r>
            <a:r>
              <a:rPr b="1" lang="en-IN" sz="2000"/>
              <a:t>    </a:t>
            </a:r>
            <a:r>
              <a:rPr b="1" lang="en-IN" sz="2000">
                <a:solidFill>
                  <a:srgbClr val="00B0F0"/>
                </a:solidFill>
              </a:rPr>
              <a:t>a</a:t>
            </a:r>
            <a:r>
              <a:rPr b="1" lang="en-IN" sz="2000"/>
              <a:t>   fjc</a:t>
            </a:r>
            <a:endParaRPr b="1" sz="2000"/>
          </a:p>
          <a:p>
            <a:pPr indent="-375158" lvl="0" marL="525780" rtl="0" algn="l">
              <a:spcBef>
                <a:spcPts val="340"/>
              </a:spcBef>
              <a:spcAft>
                <a:spcPts val="0"/>
              </a:spcAft>
              <a:buSzPct val="76000"/>
              <a:buFont typeface="Century Gothic"/>
              <a:buNone/>
            </a:pPr>
            <a:r>
              <a:t/>
            </a:r>
            <a:endParaRPr sz="2000"/>
          </a:p>
          <a:p>
            <a:pPr indent="-457200" lvl="0" marL="525780" rtl="0" algn="l">
              <a:spcBef>
                <a:spcPts val="340"/>
              </a:spcBef>
              <a:spcAft>
                <a:spcPts val="0"/>
              </a:spcAft>
              <a:buSzPct val="76000"/>
              <a:buFont typeface="Century Gothic"/>
              <a:buAutoNum type="arabicParenR"/>
            </a:pPr>
            <a:r>
              <a:rPr lang="en-IN" sz="2000"/>
              <a:t>e is the next root</a:t>
            </a:r>
            <a:endParaRPr/>
          </a:p>
          <a:p>
            <a:pPr indent="-457200" lvl="0" marL="525780" rtl="0" algn="l">
              <a:spcBef>
                <a:spcPts val="340"/>
              </a:spcBef>
              <a:spcAft>
                <a:spcPts val="0"/>
              </a:spcAft>
              <a:buSzPct val="76000"/>
              <a:buFont typeface="Century Gothic"/>
              <a:buAutoNum type="arabicParenR"/>
            </a:pPr>
            <a:r>
              <a:rPr lang="en-IN" sz="2000"/>
              <a:t>Left subtree=NULL</a:t>
            </a:r>
            <a:endParaRPr/>
          </a:p>
          <a:p>
            <a:pPr indent="-457200" lvl="0" marL="525780" rtl="0" algn="l">
              <a:spcBef>
                <a:spcPts val="340"/>
              </a:spcBef>
              <a:spcAft>
                <a:spcPts val="0"/>
              </a:spcAft>
              <a:buSzPct val="76000"/>
              <a:buFont typeface="Century Gothic"/>
              <a:buAutoNum type="arabicParenR"/>
            </a:pPr>
            <a:r>
              <a:rPr lang="en-IN" sz="2000"/>
              <a:t>Right Subtree=i</a:t>
            </a:r>
            <a:endParaRPr sz="2000"/>
          </a:p>
          <a:p>
            <a:pPr indent="-375158" lvl="0" marL="525780" rtl="0" algn="l">
              <a:spcBef>
                <a:spcPts val="340"/>
              </a:spcBef>
              <a:spcAft>
                <a:spcPts val="0"/>
              </a:spcAft>
              <a:buSzPct val="76000"/>
              <a:buFont typeface="Century Gothic"/>
              <a:buNone/>
            </a:pPr>
            <a:r>
              <a:t/>
            </a:r>
            <a:endParaRPr sz="2000"/>
          </a:p>
          <a:p>
            <a:pPr indent="0" lvl="0" marL="68580" rtl="0" algn="l">
              <a:spcBef>
                <a:spcPts val="408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b="1"/>
          </a:p>
          <a:p>
            <a:pPr indent="0" lvl="0" marL="68580" rtl="0" algn="l">
              <a:spcBef>
                <a:spcPts val="408"/>
              </a:spcBef>
              <a:spcAft>
                <a:spcPts val="0"/>
              </a:spcAft>
              <a:buSzPct val="76000"/>
              <a:buNone/>
            </a:pPr>
            <a:r>
              <a:rPr b="1" lang="en-IN"/>
              <a:t>Preorder=</a:t>
            </a:r>
            <a:r>
              <a:rPr b="1" lang="en-IN">
                <a:solidFill>
                  <a:srgbClr val="00B0F0"/>
                </a:solidFill>
              </a:rPr>
              <a:t>c</a:t>
            </a:r>
            <a:r>
              <a:rPr b="1" lang="en-IN"/>
              <a:t>fj</a:t>
            </a:r>
            <a:endParaRPr b="1"/>
          </a:p>
          <a:p>
            <a:pPr indent="0" lvl="0" marL="68580" rtl="0" algn="l">
              <a:spcBef>
                <a:spcPts val="408"/>
              </a:spcBef>
              <a:spcAft>
                <a:spcPts val="0"/>
              </a:spcAft>
              <a:buSzPct val="76000"/>
              <a:buNone/>
            </a:pPr>
            <a:r>
              <a:rPr b="1" lang="en-IN">
                <a:solidFill>
                  <a:srgbClr val="00B0F0"/>
                </a:solidFill>
              </a:rPr>
              <a:t>Inorder=gdh   b    ei    a</a:t>
            </a:r>
            <a:r>
              <a:rPr b="1" lang="en-IN"/>
              <a:t>   fj</a:t>
            </a:r>
            <a:r>
              <a:rPr b="1" lang="en-IN">
                <a:solidFill>
                  <a:srgbClr val="00B0F0"/>
                </a:solidFill>
              </a:rPr>
              <a:t>c</a:t>
            </a:r>
            <a:endParaRPr b="1">
              <a:solidFill>
                <a:srgbClr val="00B0F0"/>
              </a:solidFill>
            </a:endParaRPr>
          </a:p>
          <a:p>
            <a:pPr indent="-358749" lvl="0" marL="525780" rtl="0" algn="l">
              <a:spcBef>
                <a:spcPts val="408"/>
              </a:spcBef>
              <a:spcAft>
                <a:spcPts val="0"/>
              </a:spcAft>
              <a:buSzPct val="76000"/>
              <a:buFont typeface="Century Gothic"/>
              <a:buNone/>
            </a:pPr>
            <a:r>
              <a:t/>
            </a:r>
            <a:endParaRPr/>
          </a:p>
          <a:p>
            <a:pPr indent="-457200" lvl="0" marL="525780" rtl="0" algn="l">
              <a:spcBef>
                <a:spcPts val="408"/>
              </a:spcBef>
              <a:spcAft>
                <a:spcPts val="0"/>
              </a:spcAft>
              <a:buSzPct val="76000"/>
              <a:buFont typeface="Century Gothic"/>
              <a:buAutoNum type="arabicParenR"/>
            </a:pPr>
            <a:r>
              <a:rPr lang="en-IN"/>
              <a:t>c is the next root</a:t>
            </a:r>
            <a:endParaRPr/>
          </a:p>
          <a:p>
            <a:pPr indent="-457200" lvl="0" marL="525780" rtl="0" algn="l">
              <a:spcBef>
                <a:spcPts val="408"/>
              </a:spcBef>
              <a:spcAft>
                <a:spcPts val="0"/>
              </a:spcAft>
              <a:buSzPct val="76000"/>
              <a:buFont typeface="Century Gothic"/>
              <a:buAutoNum type="arabicParenR"/>
            </a:pPr>
            <a:r>
              <a:rPr lang="en-IN"/>
              <a:t>Left subtree=fj</a:t>
            </a:r>
            <a:endParaRPr/>
          </a:p>
          <a:p>
            <a:pPr indent="-457200" lvl="0" marL="525780" rtl="0" algn="l">
              <a:spcBef>
                <a:spcPts val="408"/>
              </a:spcBef>
              <a:spcAft>
                <a:spcPts val="0"/>
              </a:spcAft>
              <a:buSzPct val="76000"/>
              <a:buFont typeface="Century Gothic"/>
              <a:buAutoNum type="arabicParenR"/>
            </a:pPr>
            <a:r>
              <a:rPr lang="en-IN"/>
              <a:t>Right Subtree=NULL</a:t>
            </a:r>
            <a:endParaRPr/>
          </a:p>
          <a:p>
            <a:pPr indent="-358749" lvl="0" marL="525780" rtl="0" algn="l">
              <a:spcBef>
                <a:spcPts val="408"/>
              </a:spcBef>
              <a:spcAft>
                <a:spcPts val="0"/>
              </a:spcAft>
              <a:buSzPct val="76000"/>
              <a:buFont typeface="Century Gothic"/>
              <a:buNone/>
            </a:pPr>
            <a:r>
              <a:t/>
            </a:r>
            <a:endParaRPr/>
          </a:p>
        </p:txBody>
      </p:sp>
      <p:grpSp>
        <p:nvGrpSpPr>
          <p:cNvPr id="1258" name="Google Shape;1258;p87"/>
          <p:cNvGrpSpPr/>
          <p:nvPr/>
        </p:nvGrpSpPr>
        <p:grpSpPr>
          <a:xfrm>
            <a:off x="4932040" y="1196752"/>
            <a:ext cx="3331840" cy="2088232"/>
            <a:chOff x="4984576" y="3140968"/>
            <a:chExt cx="3331840" cy="2088232"/>
          </a:xfrm>
        </p:grpSpPr>
        <p:pic>
          <p:nvPicPr>
            <p:cNvPr id="1259" name="Google Shape;1259;p8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984576" y="3140968"/>
              <a:ext cx="3331840" cy="20882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0" name="Google Shape;1260;p8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300192" y="4104934"/>
              <a:ext cx="990600" cy="11144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61" name="Google Shape;1261;p87"/>
          <p:cNvSpPr txBox="1"/>
          <p:nvPr/>
        </p:nvSpPr>
        <p:spPr>
          <a:xfrm>
            <a:off x="704202" y="367056"/>
            <a:ext cx="7024744" cy="601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b="1" lang="en-IN" sz="28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Binary Tree Construction=In+PreOrder</a:t>
            </a:r>
            <a:endParaRPr b="1" sz="28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262" name="Google Shape;1262;p8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85039" y="5229200"/>
            <a:ext cx="3028950" cy="7334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3" name="Google Shape;1263;p87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1264" name="Google Shape;1264;p87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265" name="Google Shape;1265;p87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9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p88"/>
          <p:cNvSpPr txBox="1"/>
          <p:nvPr>
            <p:ph idx="1" type="body"/>
          </p:nvPr>
        </p:nvSpPr>
        <p:spPr>
          <a:xfrm>
            <a:off x="971600" y="1242067"/>
            <a:ext cx="6768752" cy="4347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b="1" lang="en-IN" sz="2000"/>
              <a:t>Preorder=</a:t>
            </a:r>
            <a:r>
              <a:rPr b="1" lang="en-IN" sz="2000">
                <a:solidFill>
                  <a:srgbClr val="00B0F0"/>
                </a:solidFill>
              </a:rPr>
              <a:t>f</a:t>
            </a:r>
            <a:r>
              <a:rPr b="1" lang="en-IN" sz="2000"/>
              <a:t>j</a:t>
            </a:r>
            <a:endParaRPr b="1"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rPr b="1" lang="en-IN" sz="2000">
                <a:solidFill>
                  <a:srgbClr val="00B0F0"/>
                </a:solidFill>
              </a:rPr>
              <a:t>Inorder=gdh   b    ei    a   </a:t>
            </a:r>
            <a:r>
              <a:rPr b="1" lang="en-IN" sz="2000"/>
              <a:t>fj</a:t>
            </a:r>
            <a:r>
              <a:rPr b="1" lang="en-IN" sz="2000">
                <a:solidFill>
                  <a:srgbClr val="00B0F0"/>
                </a:solidFill>
              </a:rPr>
              <a:t>c</a:t>
            </a:r>
            <a:endParaRPr b="1" sz="2000">
              <a:solidFill>
                <a:srgbClr val="00B0F0"/>
              </a:solidFill>
            </a:endParaRPr>
          </a:p>
          <a:p>
            <a:pPr indent="-360680" lvl="0" marL="525780" rtl="0" algn="l">
              <a:spcBef>
                <a:spcPts val="400"/>
              </a:spcBef>
              <a:spcAft>
                <a:spcPts val="0"/>
              </a:spcAft>
              <a:buSzPts val="1520"/>
              <a:buFont typeface="Century Gothic"/>
              <a:buNone/>
            </a:pPr>
            <a:r>
              <a:t/>
            </a:r>
            <a:endParaRPr sz="2000"/>
          </a:p>
          <a:p>
            <a:pPr indent="-457200" lvl="0" marL="525780" rtl="0" algn="l">
              <a:spcBef>
                <a:spcPts val="400"/>
              </a:spcBef>
              <a:spcAft>
                <a:spcPts val="0"/>
              </a:spcAft>
              <a:buSzPts val="1520"/>
              <a:buFont typeface="Century Gothic"/>
              <a:buAutoNum type="arabicParenR"/>
            </a:pPr>
            <a:r>
              <a:rPr lang="en-IN" sz="2000"/>
              <a:t>f is the next root</a:t>
            </a:r>
            <a:endParaRPr/>
          </a:p>
          <a:p>
            <a:pPr indent="-457200" lvl="0" marL="525780" rtl="0" algn="l">
              <a:spcBef>
                <a:spcPts val="400"/>
              </a:spcBef>
              <a:spcAft>
                <a:spcPts val="0"/>
              </a:spcAft>
              <a:buSzPts val="1520"/>
              <a:buFont typeface="Century Gothic"/>
              <a:buAutoNum type="arabicParenR"/>
            </a:pPr>
            <a:r>
              <a:rPr lang="en-IN" sz="2000"/>
              <a:t>Left subtree=NULL</a:t>
            </a:r>
            <a:endParaRPr sz="2000"/>
          </a:p>
          <a:p>
            <a:pPr indent="-457200" lvl="0" marL="525780" rtl="0" algn="l">
              <a:spcBef>
                <a:spcPts val="400"/>
              </a:spcBef>
              <a:spcAft>
                <a:spcPts val="0"/>
              </a:spcAft>
              <a:buSzPts val="1520"/>
              <a:buFont typeface="Century Gothic"/>
              <a:buAutoNum type="arabicParenR"/>
            </a:pPr>
            <a:r>
              <a:rPr lang="en-IN" sz="2000"/>
              <a:t>Right Subtree=j</a:t>
            </a:r>
            <a:endParaRPr sz="2000"/>
          </a:p>
          <a:p>
            <a:pPr indent="-360680" lvl="0" marL="525780" rtl="0" algn="l">
              <a:spcBef>
                <a:spcPts val="400"/>
              </a:spcBef>
              <a:spcAft>
                <a:spcPts val="0"/>
              </a:spcAft>
              <a:buSzPts val="1520"/>
              <a:buFont typeface="Century Gothic"/>
              <a:buNone/>
            </a:pPr>
            <a:r>
              <a:t/>
            </a:r>
            <a:endParaRPr sz="2000"/>
          </a:p>
          <a:p>
            <a:pPr indent="-360680" lvl="0" marL="525780" rtl="0" algn="l">
              <a:spcBef>
                <a:spcPts val="400"/>
              </a:spcBef>
              <a:spcAft>
                <a:spcPts val="0"/>
              </a:spcAft>
              <a:buSzPts val="1520"/>
              <a:buFont typeface="Century Gothic"/>
              <a:buNone/>
            </a:pPr>
            <a:r>
              <a:t/>
            </a:r>
            <a:endParaRPr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rPr b="1" lang="en-IN" sz="2000"/>
              <a:t>Done</a:t>
            </a:r>
            <a:endParaRPr b="1" sz="2000"/>
          </a:p>
        </p:txBody>
      </p:sp>
      <p:grpSp>
        <p:nvGrpSpPr>
          <p:cNvPr id="1271" name="Google Shape;1271;p88"/>
          <p:cNvGrpSpPr/>
          <p:nvPr/>
        </p:nvGrpSpPr>
        <p:grpSpPr>
          <a:xfrm>
            <a:off x="4644008" y="2420888"/>
            <a:ext cx="3342959" cy="2627992"/>
            <a:chOff x="1906085" y="3253470"/>
            <a:chExt cx="3342959" cy="2088232"/>
          </a:xfrm>
        </p:grpSpPr>
        <p:grpSp>
          <p:nvGrpSpPr>
            <p:cNvPr id="1272" name="Google Shape;1272;p88"/>
            <p:cNvGrpSpPr/>
            <p:nvPr/>
          </p:nvGrpSpPr>
          <p:grpSpPr>
            <a:xfrm>
              <a:off x="1906085" y="3253470"/>
              <a:ext cx="3331840" cy="2088232"/>
              <a:chOff x="4984576" y="3140968"/>
              <a:chExt cx="3331840" cy="2088232"/>
            </a:xfrm>
          </p:grpSpPr>
          <p:pic>
            <p:nvPicPr>
              <p:cNvPr id="1273" name="Google Shape;1273;p8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4984576" y="3140968"/>
                <a:ext cx="3331840" cy="208823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74" name="Google Shape;1274;p8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6300192" y="4104934"/>
                <a:ext cx="990600" cy="11144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275" name="Google Shape;1275;p8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168924" y="3583211"/>
              <a:ext cx="1080120" cy="14287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76" name="Google Shape;1276;p88"/>
          <p:cNvSpPr txBox="1"/>
          <p:nvPr/>
        </p:nvSpPr>
        <p:spPr>
          <a:xfrm>
            <a:off x="704202" y="367056"/>
            <a:ext cx="7024744" cy="601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b="1" lang="en-IN" sz="28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Binary Tree Construction=In+PreOrder</a:t>
            </a:r>
            <a:endParaRPr b="1" sz="28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277" name="Google Shape;1277;p8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85039" y="5229200"/>
            <a:ext cx="3028950" cy="733425"/>
          </a:xfrm>
          <a:prstGeom prst="rect">
            <a:avLst/>
          </a:prstGeom>
          <a:noFill/>
          <a:ln>
            <a:noFill/>
          </a:ln>
        </p:spPr>
      </p:pic>
      <p:sp>
        <p:nvSpPr>
          <p:cNvPr id="1278" name="Google Shape;1278;p88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1279" name="Google Shape;1279;p88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280" name="Google Shape;1280;p88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4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Google Shape;1285;p89"/>
          <p:cNvSpPr txBox="1"/>
          <p:nvPr>
            <p:ph type="title"/>
          </p:nvPr>
        </p:nvSpPr>
        <p:spPr>
          <a:xfrm>
            <a:off x="1187624" y="1700808"/>
            <a:ext cx="7024744" cy="20882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b="1" lang="en-IN" sz="2800"/>
              <a:t>Can Binary Tree be constructed using Preorder + Postorder Traversals?</a:t>
            </a:r>
            <a:endParaRPr b="1" sz="2800"/>
          </a:p>
        </p:txBody>
      </p:sp>
      <p:sp>
        <p:nvSpPr>
          <p:cNvPr id="1286" name="Google Shape;1286;p89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1287" name="Google Shape;1287;p89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288" name="Google Shape;1288;p89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2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p90"/>
          <p:cNvSpPr txBox="1"/>
          <p:nvPr>
            <p:ph type="title"/>
          </p:nvPr>
        </p:nvSpPr>
        <p:spPr>
          <a:xfrm>
            <a:off x="1187624" y="1700808"/>
            <a:ext cx="7024744" cy="20882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b="1" lang="en-IN" sz="2800"/>
              <a:t>Can Binary Tree be constructed using Preorder + Postorder Traversals?No</a:t>
            </a:r>
            <a:br>
              <a:rPr b="1" lang="en-IN" sz="2800"/>
            </a:br>
            <a:br>
              <a:rPr b="1" lang="en-IN" sz="2800"/>
            </a:br>
            <a:r>
              <a:rPr b="1" lang="en-IN" sz="2800"/>
              <a:t>Why?? Any Guesses?</a:t>
            </a:r>
            <a:endParaRPr b="1" sz="2800"/>
          </a:p>
        </p:txBody>
      </p:sp>
      <p:sp>
        <p:nvSpPr>
          <p:cNvPr id="1294" name="Google Shape;1294;p90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1295" name="Google Shape;1295;p90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296" name="Google Shape;1296;p90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0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p91"/>
          <p:cNvSpPr txBox="1"/>
          <p:nvPr>
            <p:ph type="title"/>
          </p:nvPr>
        </p:nvSpPr>
        <p:spPr>
          <a:xfrm>
            <a:off x="971600" y="332656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b="1" lang="en-IN" sz="2800"/>
              <a:t>Binary Tree Construction</a:t>
            </a:r>
            <a:endParaRPr b="1" sz="2800"/>
          </a:p>
        </p:txBody>
      </p:sp>
      <p:sp>
        <p:nvSpPr>
          <p:cNvPr id="1302" name="Google Shape;1302;p91"/>
          <p:cNvSpPr txBox="1"/>
          <p:nvPr>
            <p:ph idx="1" type="body"/>
          </p:nvPr>
        </p:nvSpPr>
        <p:spPr>
          <a:xfrm>
            <a:off x="1043608" y="1700808"/>
            <a:ext cx="6777317" cy="4536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/>
              <a:t>Given the Preorder and Postorder traversal of binary tree, we cannot uniquely identify the tree.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/>
              <a:t>This is because there can be two trees, with the same preorder and postorder traversals</a:t>
            </a:r>
            <a:endParaRPr b="1" sz="2000"/>
          </a:p>
        </p:txBody>
      </p:sp>
      <p:pic>
        <p:nvPicPr>
          <p:cNvPr id="1303" name="Google Shape;1303;p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7664" y="3861048"/>
            <a:ext cx="5760640" cy="2010518"/>
          </a:xfrm>
          <a:prstGeom prst="rect">
            <a:avLst/>
          </a:prstGeom>
          <a:noFill/>
          <a:ln>
            <a:noFill/>
          </a:ln>
        </p:spPr>
      </p:pic>
      <p:sp>
        <p:nvSpPr>
          <p:cNvPr id="1304" name="Google Shape;1304;p91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1305" name="Google Shape;1305;p91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306" name="Google Shape;1306;p91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0" name="Shape 1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" name="Google Shape;1311;p92"/>
          <p:cNvSpPr txBox="1"/>
          <p:nvPr>
            <p:ph type="title"/>
          </p:nvPr>
        </p:nvSpPr>
        <p:spPr>
          <a:xfrm>
            <a:off x="971600" y="332656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b="1" lang="en-IN" sz="2800"/>
              <a:t>Binary Tree Construction</a:t>
            </a:r>
            <a:endParaRPr b="1" sz="2800"/>
          </a:p>
        </p:txBody>
      </p:sp>
      <p:sp>
        <p:nvSpPr>
          <p:cNvPr id="1312" name="Google Shape;1312;p92"/>
          <p:cNvSpPr txBox="1"/>
          <p:nvPr>
            <p:ph idx="1" type="body"/>
          </p:nvPr>
        </p:nvSpPr>
        <p:spPr>
          <a:xfrm>
            <a:off x="1043608" y="1700808"/>
            <a:ext cx="6777317" cy="4536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lang="en-IN" sz="2000"/>
              <a:t>Construct the Binary Tree corresponding to the following traversals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inOrder = { 4, 2, 5, 1, 6, 3, 7 }</a:t>
            </a:r>
            <a:endParaRPr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postOrder = { 4, 5, 2, 6, 7, 3, 1 }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="1" sz="2000"/>
          </a:p>
        </p:txBody>
      </p:sp>
      <p:sp>
        <p:nvSpPr>
          <p:cNvPr id="1313" name="Google Shape;1313;p92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1314" name="Google Shape;1314;p92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315" name="Google Shape;1315;p92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9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Google Shape;1320;p93"/>
          <p:cNvSpPr txBox="1"/>
          <p:nvPr>
            <p:ph type="title"/>
          </p:nvPr>
        </p:nvSpPr>
        <p:spPr>
          <a:xfrm>
            <a:off x="971600" y="332656"/>
            <a:ext cx="7024744" cy="432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lang="en-IN" sz="2800"/>
              <a:t>Binary Tree Construction</a:t>
            </a:r>
            <a:endParaRPr b="1" sz="2800"/>
          </a:p>
        </p:txBody>
      </p:sp>
      <p:sp>
        <p:nvSpPr>
          <p:cNvPr id="1321" name="Google Shape;1321;p93"/>
          <p:cNvSpPr txBox="1"/>
          <p:nvPr>
            <p:ph idx="1" type="body"/>
          </p:nvPr>
        </p:nvSpPr>
        <p:spPr>
          <a:xfrm>
            <a:off x="891027" y="836712"/>
            <a:ext cx="6777317" cy="4536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lang="en-IN" sz="2000"/>
              <a:t>Construct the Binary Tree corresponding to the following traversals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inOrder = { 4, 2, 5, 1, 6, 3, 7 }</a:t>
            </a:r>
            <a:endParaRPr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postOrder = { 4, 5, 2, 6, 7, 3, 1 }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="1" sz="2000"/>
          </a:p>
        </p:txBody>
      </p:sp>
      <p:pic>
        <p:nvPicPr>
          <p:cNvPr id="1322" name="Google Shape;1322;p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584" y="2636912"/>
            <a:ext cx="6840760" cy="3672408"/>
          </a:xfrm>
          <a:prstGeom prst="rect">
            <a:avLst/>
          </a:prstGeom>
          <a:noFill/>
          <a:ln>
            <a:noFill/>
          </a:ln>
        </p:spPr>
      </p:pic>
      <p:sp>
        <p:nvSpPr>
          <p:cNvPr id="1323" name="Google Shape;1323;p93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1324" name="Google Shape;1324;p93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325" name="Google Shape;1325;p93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9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Google Shape;1330;p94"/>
          <p:cNvSpPr txBox="1"/>
          <p:nvPr>
            <p:ph type="title"/>
          </p:nvPr>
        </p:nvSpPr>
        <p:spPr>
          <a:xfrm>
            <a:off x="971600" y="332656"/>
            <a:ext cx="7024744" cy="3600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lang="en-IN" sz="2800"/>
              <a:t>Binary Tree Construction</a:t>
            </a:r>
            <a:endParaRPr b="1" sz="2800"/>
          </a:p>
        </p:txBody>
      </p:sp>
      <p:sp>
        <p:nvSpPr>
          <p:cNvPr id="1331" name="Google Shape;1331;p94"/>
          <p:cNvSpPr txBox="1"/>
          <p:nvPr>
            <p:ph idx="1" type="body"/>
          </p:nvPr>
        </p:nvSpPr>
        <p:spPr>
          <a:xfrm>
            <a:off x="1043608" y="764704"/>
            <a:ext cx="6777317" cy="4536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lang="en-IN" sz="2000"/>
              <a:t>Construct the Binary Tree corresponding to the following traversals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="1" sz="2000"/>
          </a:p>
        </p:txBody>
      </p:sp>
      <p:sp>
        <p:nvSpPr>
          <p:cNvPr id="1332" name="Google Shape;1332;p94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1333" name="Google Shape;1333;p94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334" name="Google Shape;1334;p94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335" name="Google Shape;1335;p94"/>
          <p:cNvPicPr preferRelativeResize="0"/>
          <p:nvPr/>
        </p:nvPicPr>
        <p:blipFill rotWithShape="1">
          <a:blip r:embed="rId3">
            <a:alphaModFix/>
          </a:blip>
          <a:srcRect b="0" l="46640" r="0" t="0"/>
          <a:stretch/>
        </p:blipFill>
        <p:spPr>
          <a:xfrm>
            <a:off x="4823298" y="1700808"/>
            <a:ext cx="3802022" cy="3202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9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Google Shape;1340;p95"/>
          <p:cNvSpPr txBox="1"/>
          <p:nvPr>
            <p:ph type="title"/>
          </p:nvPr>
        </p:nvSpPr>
        <p:spPr>
          <a:xfrm>
            <a:off x="971600" y="332656"/>
            <a:ext cx="7024744" cy="3600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lang="en-IN" sz="2800"/>
              <a:t>Binary Tree Construction</a:t>
            </a:r>
            <a:endParaRPr b="1" sz="2800"/>
          </a:p>
        </p:txBody>
      </p:sp>
      <p:sp>
        <p:nvSpPr>
          <p:cNvPr id="1341" name="Google Shape;1341;p95"/>
          <p:cNvSpPr txBox="1"/>
          <p:nvPr>
            <p:ph idx="1" type="body"/>
          </p:nvPr>
        </p:nvSpPr>
        <p:spPr>
          <a:xfrm>
            <a:off x="1043608" y="764704"/>
            <a:ext cx="6777317" cy="4536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lang="en-IN" sz="2000"/>
              <a:t>Construct the Binary Tree corresponding to the following traversals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="1" sz="2000"/>
          </a:p>
        </p:txBody>
      </p:sp>
      <p:sp>
        <p:nvSpPr>
          <p:cNvPr id="1342" name="Google Shape;1342;p95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1343" name="Google Shape;1343;p95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344" name="Google Shape;1344;p95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345" name="Google Shape;1345;p95"/>
          <p:cNvPicPr preferRelativeResize="0"/>
          <p:nvPr/>
        </p:nvPicPr>
        <p:blipFill rotWithShape="1">
          <a:blip r:embed="rId3">
            <a:alphaModFix/>
          </a:blip>
          <a:srcRect b="0" l="46640" r="0" t="0"/>
          <a:stretch/>
        </p:blipFill>
        <p:spPr>
          <a:xfrm>
            <a:off x="4823298" y="1700808"/>
            <a:ext cx="3802022" cy="3202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6" name="Google Shape;1346;p95"/>
          <p:cNvPicPr preferRelativeResize="0"/>
          <p:nvPr/>
        </p:nvPicPr>
        <p:blipFill rotWithShape="1">
          <a:blip r:embed="rId3">
            <a:alphaModFix/>
          </a:blip>
          <a:srcRect b="0" l="0" r="52639" t="0"/>
          <a:stretch/>
        </p:blipFill>
        <p:spPr>
          <a:xfrm>
            <a:off x="795180" y="1709418"/>
            <a:ext cx="3881231" cy="3202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0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Google Shape;1351;p96"/>
          <p:cNvSpPr txBox="1"/>
          <p:nvPr>
            <p:ph type="ctrTitle"/>
          </p:nvPr>
        </p:nvSpPr>
        <p:spPr>
          <a:xfrm>
            <a:off x="4733365" y="2708476"/>
            <a:ext cx="3313355" cy="1702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entury Gothic"/>
              <a:buNone/>
            </a:pPr>
            <a:r>
              <a:rPr lang="en-IN"/>
              <a:t>Binary Search Tree</a:t>
            </a:r>
            <a:endParaRPr/>
          </a:p>
        </p:txBody>
      </p:sp>
      <p:sp>
        <p:nvSpPr>
          <p:cNvPr id="1352" name="Google Shape;1352;p96"/>
          <p:cNvSpPr txBox="1"/>
          <p:nvPr>
            <p:ph idx="1" type="subTitle"/>
          </p:nvPr>
        </p:nvSpPr>
        <p:spPr>
          <a:xfrm>
            <a:off x="4733365" y="4421080"/>
            <a:ext cx="3309803" cy="12606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/>
          </a:p>
        </p:txBody>
      </p:sp>
      <p:sp>
        <p:nvSpPr>
          <p:cNvPr id="1353" name="Google Shape;1353;p96"/>
          <p:cNvSpPr txBox="1"/>
          <p:nvPr>
            <p:ph idx="10" type="dt"/>
          </p:nvPr>
        </p:nvSpPr>
        <p:spPr>
          <a:xfrm>
            <a:off x="4738744" y="1516828"/>
            <a:ext cx="2133600" cy="7509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1354" name="Google Shape;1354;p96"/>
          <p:cNvSpPr txBox="1"/>
          <p:nvPr>
            <p:ph idx="11" type="ftr"/>
          </p:nvPr>
        </p:nvSpPr>
        <p:spPr>
          <a:xfrm>
            <a:off x="5303520" y="5719966"/>
            <a:ext cx="28315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355" name="Google Shape;1355;p96"/>
          <p:cNvSpPr txBox="1"/>
          <p:nvPr>
            <p:ph idx="12" type="sldNum"/>
          </p:nvPr>
        </p:nvSpPr>
        <p:spPr>
          <a:xfrm>
            <a:off x="4649096" y="5719966"/>
            <a:ext cx="64366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9" name="Shape 1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0" name="Google Shape;1360;p97"/>
          <p:cNvSpPr txBox="1"/>
          <p:nvPr>
            <p:ph type="title"/>
          </p:nvPr>
        </p:nvSpPr>
        <p:spPr>
          <a:xfrm>
            <a:off x="899592" y="332656"/>
            <a:ext cx="7024744" cy="6731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lang="en-IN"/>
              <a:t>Binary Search Tree</a:t>
            </a:r>
            <a:endParaRPr/>
          </a:p>
        </p:txBody>
      </p:sp>
      <p:sp>
        <p:nvSpPr>
          <p:cNvPr id="1361" name="Google Shape;1361;p97"/>
          <p:cNvSpPr txBox="1"/>
          <p:nvPr>
            <p:ph idx="1" type="body"/>
          </p:nvPr>
        </p:nvSpPr>
        <p:spPr>
          <a:xfrm>
            <a:off x="467544" y="1268760"/>
            <a:ext cx="3960441" cy="4752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ct val="76000"/>
              <a:buChar char="🞇"/>
            </a:pPr>
            <a:r>
              <a:rPr lang="en-IN" sz="1800"/>
              <a:t>A Binary tree which is either empty or satisfies the following rules-</a:t>
            </a:r>
            <a:endParaRPr/>
          </a:p>
          <a:p>
            <a:pPr indent="-457200" lvl="0" marL="525780" rtl="0" algn="l">
              <a:spcBef>
                <a:spcPts val="333"/>
              </a:spcBef>
              <a:spcAft>
                <a:spcPts val="0"/>
              </a:spcAft>
              <a:buSzPct val="76000"/>
              <a:buFont typeface="Century Gothic"/>
              <a:buAutoNum type="arabicParenR"/>
            </a:pPr>
            <a:r>
              <a:rPr b="1" lang="en-IN" sz="1800">
                <a:solidFill>
                  <a:srgbClr val="00B0F0"/>
                </a:solidFill>
              </a:rPr>
              <a:t>The value of the key in the left child or left subtree is less than the value of the root.</a:t>
            </a:r>
            <a:endParaRPr/>
          </a:p>
          <a:p>
            <a:pPr indent="-376847" lvl="0" marL="525780" rtl="0" algn="l">
              <a:spcBef>
                <a:spcPts val="333"/>
              </a:spcBef>
              <a:spcAft>
                <a:spcPts val="0"/>
              </a:spcAft>
              <a:buSzPct val="76000"/>
              <a:buFont typeface="Century Gothic"/>
              <a:buNone/>
            </a:pPr>
            <a:r>
              <a:t/>
            </a:r>
            <a:endParaRPr b="1" sz="1800">
              <a:solidFill>
                <a:srgbClr val="00B0F0"/>
              </a:solidFill>
            </a:endParaRPr>
          </a:p>
          <a:p>
            <a:pPr indent="-457200" lvl="0" marL="525780" rtl="0" algn="l">
              <a:spcBef>
                <a:spcPts val="333"/>
              </a:spcBef>
              <a:spcAft>
                <a:spcPts val="0"/>
              </a:spcAft>
              <a:buSzPct val="76000"/>
              <a:buFont typeface="Century Gothic"/>
              <a:buAutoNum type="arabicParenR"/>
            </a:pPr>
            <a:r>
              <a:rPr b="1" lang="en-IN" sz="1800">
                <a:solidFill>
                  <a:srgbClr val="00B0F0"/>
                </a:solidFill>
              </a:rPr>
              <a:t>The value of the key in the right child or right subtree is more than the value of the root</a:t>
            </a:r>
            <a:endParaRPr/>
          </a:p>
          <a:p>
            <a:pPr indent="-376847" lvl="0" marL="525780" rtl="0" algn="l">
              <a:spcBef>
                <a:spcPts val="333"/>
              </a:spcBef>
              <a:spcAft>
                <a:spcPts val="0"/>
              </a:spcAft>
              <a:buSzPct val="76000"/>
              <a:buFont typeface="Century Gothic"/>
              <a:buNone/>
            </a:pPr>
            <a:r>
              <a:t/>
            </a:r>
            <a:endParaRPr b="1" sz="1800">
              <a:solidFill>
                <a:srgbClr val="00B0F0"/>
              </a:solidFill>
            </a:endParaRPr>
          </a:p>
          <a:p>
            <a:pPr indent="-457200" lvl="0" marL="525780" rtl="0" algn="l">
              <a:spcBef>
                <a:spcPts val="333"/>
              </a:spcBef>
              <a:spcAft>
                <a:spcPts val="0"/>
              </a:spcAft>
              <a:buSzPct val="76000"/>
              <a:buFont typeface="Century Gothic"/>
              <a:buAutoNum type="arabicParenR"/>
            </a:pPr>
            <a:r>
              <a:rPr b="1" lang="en-IN" sz="1800">
                <a:solidFill>
                  <a:srgbClr val="00B0F0"/>
                </a:solidFill>
              </a:rPr>
              <a:t>All the subtrees of the left and right children observe the two rules.</a:t>
            </a:r>
            <a:endParaRPr/>
          </a:p>
          <a:p>
            <a:pPr indent="-376847" lvl="0" marL="525780" rtl="0" algn="l">
              <a:spcBef>
                <a:spcPts val="333"/>
              </a:spcBef>
              <a:spcAft>
                <a:spcPts val="0"/>
              </a:spcAft>
              <a:buSzPct val="76000"/>
              <a:buFont typeface="Century Gothic"/>
              <a:buNone/>
            </a:pPr>
            <a:r>
              <a:t/>
            </a:r>
            <a:endParaRPr b="1" sz="1800">
              <a:solidFill>
                <a:srgbClr val="00B0F0"/>
              </a:solidFill>
            </a:endParaRPr>
          </a:p>
          <a:p>
            <a:pPr indent="-457200" lvl="0" marL="525780" rtl="0" algn="l">
              <a:spcBef>
                <a:spcPts val="333"/>
              </a:spcBef>
              <a:spcAft>
                <a:spcPts val="0"/>
              </a:spcAft>
              <a:buSzPct val="76000"/>
              <a:buFont typeface="Century Gothic"/>
              <a:buAutoNum type="arabicParenR"/>
            </a:pPr>
            <a:r>
              <a:rPr b="1" lang="en-IN" sz="1800">
                <a:solidFill>
                  <a:srgbClr val="00B0F0"/>
                </a:solidFill>
              </a:rPr>
              <a:t>There must be no duplicate nodes</a:t>
            </a:r>
            <a:endParaRPr b="1" sz="1800">
              <a:solidFill>
                <a:srgbClr val="00B0F0"/>
              </a:solidFill>
            </a:endParaRPr>
          </a:p>
        </p:txBody>
      </p:sp>
      <p:pic>
        <p:nvPicPr>
          <p:cNvPr descr="Binary Search Tree" id="1362" name="Google Shape;1362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6017" y="1556792"/>
            <a:ext cx="3600400" cy="4248472"/>
          </a:xfrm>
          <a:prstGeom prst="rect">
            <a:avLst/>
          </a:prstGeom>
          <a:noFill/>
          <a:ln>
            <a:noFill/>
          </a:ln>
        </p:spPr>
      </p:pic>
      <p:sp>
        <p:nvSpPr>
          <p:cNvPr id="1363" name="Google Shape;1363;p97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1364" name="Google Shape;1364;p97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365" name="Google Shape;1365;p97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9" name="Shape 1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0" name="Google Shape;1370;p98"/>
          <p:cNvSpPr txBox="1"/>
          <p:nvPr>
            <p:ph type="title"/>
          </p:nvPr>
        </p:nvSpPr>
        <p:spPr>
          <a:xfrm>
            <a:off x="1043490" y="1027664"/>
            <a:ext cx="7024744" cy="6731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lang="en-IN"/>
              <a:t>Binary Search Tree</a:t>
            </a:r>
            <a:endParaRPr/>
          </a:p>
        </p:txBody>
      </p:sp>
      <p:sp>
        <p:nvSpPr>
          <p:cNvPr id="1371" name="Google Shape;1371;p98"/>
          <p:cNvSpPr txBox="1"/>
          <p:nvPr>
            <p:ph idx="1" type="body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/>
              <a:t>Why? Such Ordering?</a:t>
            </a:r>
            <a:endParaRPr b="1" sz="2000"/>
          </a:p>
        </p:txBody>
      </p:sp>
      <p:sp>
        <p:nvSpPr>
          <p:cNvPr id="1372" name="Google Shape;1372;p98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1373" name="Google Shape;1373;p98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374" name="Google Shape;1374;p98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8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Google Shape;1379;p99"/>
          <p:cNvSpPr txBox="1"/>
          <p:nvPr>
            <p:ph type="title"/>
          </p:nvPr>
        </p:nvSpPr>
        <p:spPr>
          <a:xfrm>
            <a:off x="1043490" y="1027664"/>
            <a:ext cx="7024744" cy="6731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lang="en-IN"/>
              <a:t>Binary Search Tree</a:t>
            </a:r>
            <a:endParaRPr/>
          </a:p>
        </p:txBody>
      </p:sp>
      <p:sp>
        <p:nvSpPr>
          <p:cNvPr id="1380" name="Google Shape;1380;p99"/>
          <p:cNvSpPr txBox="1"/>
          <p:nvPr>
            <p:ph idx="1" type="body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/>
              <a:t>The above properties of Binary Search Tree provide an ordering among keys so that the operations like </a:t>
            </a:r>
            <a:endParaRPr b="1" sz="2000"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IN" sz="1800"/>
              <a:t>search, </a:t>
            </a:r>
            <a:endParaRPr b="1" sz="1800"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IN" sz="1800"/>
              <a:t>minimum and </a:t>
            </a:r>
            <a:endParaRPr b="1" sz="1800"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IN" sz="1800"/>
              <a:t>maximum 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/>
              <a:t>can be done fast. </a:t>
            </a:r>
            <a:endParaRPr b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/>
              <a:t>If there is no ordering, then we may have to compare every key to search a given key.</a:t>
            </a:r>
            <a:endParaRPr b="1" sz="2000"/>
          </a:p>
        </p:txBody>
      </p:sp>
      <p:sp>
        <p:nvSpPr>
          <p:cNvPr id="1381" name="Google Shape;1381;p99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1382" name="Google Shape;1382;p99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383" name="Google Shape;1383;p99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7" name="Shape 1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Google Shape;1388;p100"/>
          <p:cNvSpPr txBox="1"/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entury Gothic"/>
              <a:buNone/>
            </a:pPr>
            <a:r>
              <a:rPr b="1" lang="en-IN" sz="3200"/>
              <a:t>Create the binary search tree using data elements. </a:t>
            </a:r>
            <a:endParaRPr sz="3200"/>
          </a:p>
        </p:txBody>
      </p:sp>
      <p:sp>
        <p:nvSpPr>
          <p:cNvPr id="1389" name="Google Shape;1389;p100"/>
          <p:cNvSpPr txBox="1"/>
          <p:nvPr>
            <p:ph idx="1" type="body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</p:txBody>
      </p:sp>
      <p:sp>
        <p:nvSpPr>
          <p:cNvPr id="1390" name="Google Shape;1390;p100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1391" name="Google Shape;1391;p100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392" name="Google Shape;1392;p100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6" name="Shape 1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Google Shape;1397;p101"/>
          <p:cNvSpPr txBox="1"/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entury Gothic"/>
              <a:buNone/>
            </a:pPr>
            <a:r>
              <a:rPr b="1" lang="en-IN" sz="3200"/>
              <a:t>Create the binary search tree using data elements. </a:t>
            </a:r>
            <a:endParaRPr sz="3200"/>
          </a:p>
        </p:txBody>
      </p:sp>
      <p:sp>
        <p:nvSpPr>
          <p:cNvPr id="1398" name="Google Shape;1398;p101"/>
          <p:cNvSpPr txBox="1"/>
          <p:nvPr>
            <p:ph idx="1" type="body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824"/>
              <a:buNone/>
            </a:pPr>
            <a:r>
              <a:rPr b="1" lang="en-IN"/>
              <a:t>43, 10, 79, 90, 12, 54, 11, 9, 50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Insert 43 into the tree as the root of the tree.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Read the next element, if it is lesser than the root node element, insert it as the root of the left sub-tree. 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Otherwise, insert it as the root of the right of the right sub-tree. 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Continue……</a:t>
            </a:r>
            <a:endParaRPr sz="2000"/>
          </a:p>
        </p:txBody>
      </p:sp>
      <p:sp>
        <p:nvSpPr>
          <p:cNvPr id="1399" name="Google Shape;1399;p101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1400" name="Google Shape;1400;p101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401" name="Google Shape;1401;p101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5" name="Shape 1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6" name="Google Shape;1406;p102"/>
          <p:cNvSpPr txBox="1"/>
          <p:nvPr>
            <p:ph type="title"/>
          </p:nvPr>
        </p:nvSpPr>
        <p:spPr>
          <a:xfrm>
            <a:off x="611560" y="332656"/>
            <a:ext cx="7024744" cy="432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entury Gothic"/>
              <a:buNone/>
            </a:pPr>
            <a:r>
              <a:rPr b="1" lang="en-IN" sz="2000"/>
              <a:t>Create the binary search tree using data elements. </a:t>
            </a:r>
            <a:endParaRPr sz="2000"/>
          </a:p>
        </p:txBody>
      </p:sp>
      <p:sp>
        <p:nvSpPr>
          <p:cNvPr id="1407" name="Google Shape;1407;p102"/>
          <p:cNvSpPr txBox="1"/>
          <p:nvPr/>
        </p:nvSpPr>
        <p:spPr>
          <a:xfrm>
            <a:off x="986050" y="908720"/>
            <a:ext cx="6777317" cy="4572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24"/>
              <a:buFont typeface="Noto Sans Symbols"/>
              <a:buNone/>
            </a:pPr>
            <a:r>
              <a:rPr b="1" lang="en-IN" sz="24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43, 10, 79, 90, 12, 54, 11, 9, 50</a:t>
            </a:r>
            <a:endParaRPr sz="24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08" name="Google Shape;1408;p102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1409" name="Google Shape;1409;p102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410" name="Google Shape;1410;p102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4" name="Shape 1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Google Shape;1415;p103"/>
          <p:cNvSpPr txBox="1"/>
          <p:nvPr>
            <p:ph type="title"/>
          </p:nvPr>
        </p:nvSpPr>
        <p:spPr>
          <a:xfrm>
            <a:off x="611560" y="332656"/>
            <a:ext cx="7024744" cy="432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entury Gothic"/>
              <a:buNone/>
            </a:pPr>
            <a:r>
              <a:rPr b="1" lang="en-IN" sz="2000"/>
              <a:t>Create the binary search tree using data elements. </a:t>
            </a:r>
            <a:endParaRPr sz="2000"/>
          </a:p>
        </p:txBody>
      </p:sp>
      <p:pic>
        <p:nvPicPr>
          <p:cNvPr id="1416" name="Google Shape;1416;p10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13520" l="0" r="0" t="0"/>
          <a:stretch/>
        </p:blipFill>
        <p:spPr>
          <a:xfrm>
            <a:off x="539552" y="1484784"/>
            <a:ext cx="8064896" cy="46085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7" name="Google Shape;1417;p103"/>
          <p:cNvSpPr txBox="1"/>
          <p:nvPr/>
        </p:nvSpPr>
        <p:spPr>
          <a:xfrm>
            <a:off x="986050" y="908720"/>
            <a:ext cx="6777317" cy="4572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24"/>
              <a:buFont typeface="Noto Sans Symbols"/>
              <a:buNone/>
            </a:pPr>
            <a:r>
              <a:rPr b="1" lang="en-IN" sz="24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43, 10, 79, 90, 12, 54, 11, 9, 50</a:t>
            </a:r>
            <a:endParaRPr sz="24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18" name="Google Shape;1418;p103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1419" name="Google Shape;1419;p103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420" name="Google Shape;1420;p103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4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p104"/>
          <p:cNvSpPr txBox="1"/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entury Gothic"/>
              <a:buNone/>
            </a:pPr>
            <a:r>
              <a:rPr b="1" lang="en-IN" sz="3200"/>
              <a:t>Create the binary search tree using data elements. </a:t>
            </a:r>
            <a:endParaRPr sz="3200"/>
          </a:p>
        </p:txBody>
      </p:sp>
      <p:sp>
        <p:nvSpPr>
          <p:cNvPr id="1426" name="Google Shape;1426;p104"/>
          <p:cNvSpPr txBox="1"/>
          <p:nvPr>
            <p:ph idx="1" type="body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lang="en-IN" sz="2000" u="sng">
                <a:solidFill>
                  <a:schemeClr val="hlink"/>
                </a:solidFill>
                <a:hlinkClick r:id="rId3"/>
              </a:rPr>
              <a:t>https://austingwalters.com/wp-content/uploads/2014/10/binary-tree-1-creation.gif</a:t>
            </a:r>
            <a:endParaRPr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</p:txBody>
      </p:sp>
      <p:sp>
        <p:nvSpPr>
          <p:cNvPr id="1427" name="Google Shape;1427;p104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1428" name="Google Shape;1428;p104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429" name="Google Shape;1429;p104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3" name="Shape 1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Google Shape;1434;p105"/>
          <p:cNvSpPr txBox="1"/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entury Gothic"/>
              <a:buNone/>
            </a:pPr>
            <a:r>
              <a:rPr b="1" lang="en-IN" sz="3200"/>
              <a:t>Create the binary search tree using data elements. </a:t>
            </a:r>
            <a:endParaRPr sz="3200"/>
          </a:p>
        </p:txBody>
      </p:sp>
      <p:sp>
        <p:nvSpPr>
          <p:cNvPr id="1435" name="Google Shape;1435;p105"/>
          <p:cNvSpPr txBox="1"/>
          <p:nvPr>
            <p:ph idx="1" type="body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824"/>
              <a:buNone/>
            </a:pPr>
            <a:r>
              <a:rPr b="1" lang="en-IN"/>
              <a:t>10,12,5,4,20,8,7,15 and 13</a:t>
            </a:r>
            <a:endParaRPr/>
          </a:p>
          <a:p>
            <a:pPr indent="0" lvl="0" marL="68580" rtl="0" algn="l"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 b="1"/>
          </a:p>
          <a:p>
            <a:pPr indent="0" lvl="0" marL="68580" rtl="0" algn="l"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rPr b="1" lang="en-IN"/>
              <a:t>??</a:t>
            </a:r>
            <a:endParaRPr b="1"/>
          </a:p>
          <a:p>
            <a:pPr indent="-158496" lvl="0" marL="342900" rtl="0" algn="l"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/>
          </a:p>
        </p:txBody>
      </p:sp>
      <p:sp>
        <p:nvSpPr>
          <p:cNvPr id="1436" name="Google Shape;1436;p105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1437" name="Google Shape;1437;p105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438" name="Google Shape;1438;p105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2" name="Shape 1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" name="Google Shape;1443;p106"/>
          <p:cNvSpPr txBox="1"/>
          <p:nvPr>
            <p:ph type="title"/>
          </p:nvPr>
        </p:nvSpPr>
        <p:spPr>
          <a:xfrm>
            <a:off x="611560" y="332656"/>
            <a:ext cx="7024744" cy="432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entury Gothic"/>
              <a:buNone/>
            </a:pPr>
            <a:r>
              <a:rPr b="1" lang="en-IN" sz="2000"/>
              <a:t>Create the binary search tree using data elements. </a:t>
            </a:r>
            <a:endParaRPr sz="2000"/>
          </a:p>
        </p:txBody>
      </p:sp>
      <p:sp>
        <p:nvSpPr>
          <p:cNvPr id="1444" name="Google Shape;1444;p106"/>
          <p:cNvSpPr txBox="1"/>
          <p:nvPr/>
        </p:nvSpPr>
        <p:spPr>
          <a:xfrm>
            <a:off x="986050" y="908720"/>
            <a:ext cx="6777317" cy="4572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24"/>
              <a:buFont typeface="Noto Sans Symbols"/>
              <a:buNone/>
            </a:pPr>
            <a:r>
              <a:rPr b="1" lang="en-IN" sz="24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10,12,5,4,20,8,7,15 and 13</a:t>
            </a:r>
            <a:endParaRPr/>
          </a:p>
        </p:txBody>
      </p:sp>
      <p:pic>
        <p:nvPicPr>
          <p:cNvPr descr="binary search tree construction" id="1445" name="Google Shape;1445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6050" y="1484784"/>
            <a:ext cx="6357278" cy="4176464"/>
          </a:xfrm>
          <a:prstGeom prst="rect">
            <a:avLst/>
          </a:prstGeom>
          <a:noFill/>
          <a:ln>
            <a:noFill/>
          </a:ln>
        </p:spPr>
      </p:pic>
      <p:sp>
        <p:nvSpPr>
          <p:cNvPr id="1446" name="Google Shape;1446;p106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1447" name="Google Shape;1447;p106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448" name="Google Shape;1448;p106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2" name="Shape 1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Google Shape;1453;p107"/>
          <p:cNvSpPr txBox="1"/>
          <p:nvPr>
            <p:ph type="title"/>
          </p:nvPr>
        </p:nvSpPr>
        <p:spPr>
          <a:xfrm>
            <a:off x="1043490" y="1027664"/>
            <a:ext cx="7560958" cy="6731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b="1" lang="en-IN" sz="2400"/>
              <a:t>Searching and Insertion Operation in Binary Search Tree</a:t>
            </a:r>
            <a:endParaRPr b="1" sz="2400"/>
          </a:p>
        </p:txBody>
      </p:sp>
      <p:sp>
        <p:nvSpPr>
          <p:cNvPr id="1454" name="Google Shape;1454;p107"/>
          <p:cNvSpPr txBox="1"/>
          <p:nvPr>
            <p:ph idx="1" type="body"/>
          </p:nvPr>
        </p:nvSpPr>
        <p:spPr>
          <a:xfrm>
            <a:off x="1043492" y="1988840"/>
            <a:ext cx="6777317" cy="38437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Before Insertion of any element , we first search the exact place for inserting</a:t>
            </a:r>
            <a:endParaRPr/>
          </a:p>
        </p:txBody>
      </p:sp>
      <p:sp>
        <p:nvSpPr>
          <p:cNvPr id="1455" name="Google Shape;1455;p107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1456" name="Google Shape;1456;p107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457" name="Google Shape;1457;p107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1" name="Shape 1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2" name="Google Shape;1462;p108"/>
          <p:cNvSpPr txBox="1"/>
          <p:nvPr>
            <p:ph type="title"/>
          </p:nvPr>
        </p:nvSpPr>
        <p:spPr>
          <a:xfrm>
            <a:off x="1043490" y="1027664"/>
            <a:ext cx="7560958" cy="6731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b="1" lang="en-IN" sz="2400"/>
              <a:t>Searching and Insertion Operation in Binary Search Tree</a:t>
            </a:r>
            <a:endParaRPr b="1" sz="2400"/>
          </a:p>
        </p:txBody>
      </p:sp>
      <p:sp>
        <p:nvSpPr>
          <p:cNvPr id="1463" name="Google Shape;1463;p108"/>
          <p:cNvSpPr txBox="1"/>
          <p:nvPr>
            <p:ph idx="1" type="body"/>
          </p:nvPr>
        </p:nvSpPr>
        <p:spPr>
          <a:xfrm>
            <a:off x="1043492" y="1988840"/>
            <a:ext cx="6777317" cy="38437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The steps are-</a:t>
            </a:r>
            <a:endParaRPr/>
          </a:p>
          <a:p>
            <a:pPr indent="-457200" lvl="0" marL="525780" rtl="0" algn="l">
              <a:spcBef>
                <a:spcPts val="400"/>
              </a:spcBef>
              <a:spcAft>
                <a:spcPts val="0"/>
              </a:spcAft>
              <a:buSzPts val="1520"/>
              <a:buFont typeface="Century Gothic"/>
              <a:buAutoNum type="arabicParenR"/>
            </a:pPr>
            <a:r>
              <a:rPr b="1" lang="en-IN" sz="2000"/>
              <a:t>Compare the data with the root node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/>
              <a:t>If the data&lt;data of node compare with data of left child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/>
              <a:t>If the data&gt;data of node compare with data of right child</a:t>
            </a:r>
            <a:endParaRPr/>
          </a:p>
          <a:p>
            <a:pPr indent="-457200" lvl="0" marL="525780" rtl="0" algn="l">
              <a:spcBef>
                <a:spcPts val="400"/>
              </a:spcBef>
              <a:spcAft>
                <a:spcPts val="0"/>
              </a:spcAft>
              <a:buSzPts val="1520"/>
              <a:buFont typeface="Century Gothic"/>
              <a:buAutoNum type="arabicParenR"/>
            </a:pPr>
            <a:r>
              <a:rPr b="1" lang="en-IN" sz="2000"/>
              <a:t>At last , we will reach the exact place where we will insert the data.</a:t>
            </a:r>
            <a:endParaRPr/>
          </a:p>
        </p:txBody>
      </p:sp>
      <p:sp>
        <p:nvSpPr>
          <p:cNvPr id="1464" name="Google Shape;1464;p108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1465" name="Google Shape;1465;p108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466" name="Google Shape;1466;p108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0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" name="Google Shape;1471;p109"/>
          <p:cNvSpPr txBox="1"/>
          <p:nvPr>
            <p:ph idx="1" type="body"/>
          </p:nvPr>
        </p:nvSpPr>
        <p:spPr>
          <a:xfrm>
            <a:off x="1043492" y="1268760"/>
            <a:ext cx="6777317" cy="45638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368"/>
              <a:buNone/>
            </a:pPr>
            <a:r>
              <a:rPr lang="en-IN" sz="1800"/>
              <a:t>Q)Suppose the numbers 7, 5, 1, 8, 3, 6, 0, 9, 4, 2 are inserted in that order into an initially empty binary search tree. The binary search tree uses the usual ordering on natural numbers. What is the in-order traversal sequence of the resultant tree?</a:t>
            </a:r>
            <a:br>
              <a:rPr lang="en-IN" sz="1800"/>
            </a:br>
            <a:endParaRPr sz="1800"/>
          </a:p>
          <a:p>
            <a:pPr indent="0" lvl="0" marL="68580" rtl="0" algn="l">
              <a:spcBef>
                <a:spcPts val="480"/>
              </a:spcBef>
              <a:spcAft>
                <a:spcPts val="0"/>
              </a:spcAft>
              <a:buSzPts val="1368"/>
              <a:buNone/>
            </a:pPr>
            <a:r>
              <a:rPr b="1" lang="en-IN" sz="1800"/>
              <a:t>(A)</a:t>
            </a:r>
            <a:r>
              <a:rPr lang="en-IN" sz="1800"/>
              <a:t> 7 5 1 0 3 2 4 6 8 9</a:t>
            </a:r>
            <a:br>
              <a:rPr lang="en-IN" sz="1800"/>
            </a:br>
            <a:r>
              <a:rPr b="1" lang="en-IN" sz="1800"/>
              <a:t>(B)</a:t>
            </a:r>
            <a:r>
              <a:rPr lang="en-IN" sz="1800"/>
              <a:t> 0 2 4 3 1 6 5 9 8 7</a:t>
            </a:r>
            <a:br>
              <a:rPr lang="en-IN" sz="1800"/>
            </a:br>
            <a:r>
              <a:rPr b="1" lang="en-IN" sz="1800"/>
              <a:t>(C)</a:t>
            </a:r>
            <a:r>
              <a:rPr lang="en-IN" sz="1800"/>
              <a:t> 0 1 2 3 4 5 6 7 8 9</a:t>
            </a:r>
            <a:br>
              <a:rPr lang="en-IN" sz="1800"/>
            </a:br>
            <a:r>
              <a:rPr b="1" lang="en-IN" sz="1800"/>
              <a:t>(D)</a:t>
            </a:r>
            <a:r>
              <a:rPr lang="en-IN" sz="1800"/>
              <a:t> 9 8 6 4 2 3 0 1 5 7</a:t>
            </a:r>
            <a:br>
              <a:rPr lang="en-IN" sz="1800"/>
            </a:br>
            <a:br>
              <a:rPr lang="en-IN" sz="2000"/>
            </a:br>
            <a:br>
              <a:rPr lang="en-IN"/>
            </a:br>
            <a:endParaRPr/>
          </a:p>
        </p:txBody>
      </p:sp>
      <p:sp>
        <p:nvSpPr>
          <p:cNvPr id="1472" name="Google Shape;1472;p109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1473" name="Google Shape;1473;p109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474" name="Google Shape;1474;p109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8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Google Shape;1479;p110"/>
          <p:cNvSpPr txBox="1"/>
          <p:nvPr>
            <p:ph idx="1" type="body"/>
          </p:nvPr>
        </p:nvSpPr>
        <p:spPr>
          <a:xfrm>
            <a:off x="1043492" y="1268760"/>
            <a:ext cx="6777317" cy="45638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368"/>
              <a:buNone/>
            </a:pPr>
            <a:r>
              <a:rPr lang="en-IN" sz="1800"/>
              <a:t>Q)Suppose the numbers 7, 5, 1, 8, 3, 6, 0, 9, 4, 2 are inserted in that order into an initially empty binary search tree. The binary search tree uses the usual ordering on natural numbers. What is the in-order traversal sequence of the resultant tree?</a:t>
            </a:r>
            <a:br>
              <a:rPr lang="en-IN" sz="1800"/>
            </a:br>
            <a:endParaRPr sz="1800"/>
          </a:p>
          <a:p>
            <a:pPr indent="0" lvl="0" marL="685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rPr b="1" lang="en-IN" sz="1800"/>
              <a:t>(A)</a:t>
            </a:r>
            <a:r>
              <a:rPr lang="en-IN" sz="1800"/>
              <a:t> 7 5 1 0 3 2 4 6 8 9</a:t>
            </a:r>
            <a:br>
              <a:rPr lang="en-IN" sz="1800"/>
            </a:br>
            <a:r>
              <a:rPr b="1" lang="en-IN" sz="1800"/>
              <a:t>(B)</a:t>
            </a:r>
            <a:r>
              <a:rPr lang="en-IN" sz="1800"/>
              <a:t> 0 2 4 3 1 6 5 9 8 7</a:t>
            </a:r>
            <a:br>
              <a:rPr lang="en-IN" sz="1800"/>
            </a:br>
            <a:r>
              <a:rPr b="1" lang="en-IN" sz="1800"/>
              <a:t>(C)</a:t>
            </a:r>
            <a:r>
              <a:rPr lang="en-IN" sz="1800"/>
              <a:t> 0 1 2 3 4 5 6 7 8 9</a:t>
            </a:r>
            <a:br>
              <a:rPr lang="en-IN" sz="1800"/>
            </a:br>
            <a:r>
              <a:rPr b="1" lang="en-IN" sz="1800"/>
              <a:t>(D)</a:t>
            </a:r>
            <a:r>
              <a:rPr lang="en-IN" sz="1800"/>
              <a:t> 9 8 6 4 2 3 0 1 5 7</a:t>
            </a:r>
            <a:br>
              <a:rPr lang="en-IN" sz="1800"/>
            </a:br>
            <a:br>
              <a:rPr lang="en-IN" sz="1800"/>
            </a:br>
            <a:br>
              <a:rPr lang="en-IN" sz="1800"/>
            </a:br>
            <a:r>
              <a:rPr b="1" lang="en-IN" sz="1800"/>
              <a:t>Answer:</a:t>
            </a:r>
            <a:r>
              <a:rPr lang="en-IN" sz="1800"/>
              <a:t> </a:t>
            </a:r>
            <a:r>
              <a:rPr b="1" lang="en-IN" sz="1800"/>
              <a:t>(C)</a:t>
            </a:r>
            <a:br>
              <a:rPr lang="en-IN" sz="1800"/>
            </a:br>
            <a:br>
              <a:rPr lang="en-IN" sz="1800"/>
            </a:br>
            <a:r>
              <a:rPr b="1" lang="en-IN" sz="1800"/>
              <a:t>Explanation:</a:t>
            </a:r>
            <a:r>
              <a:rPr lang="en-IN" sz="1800"/>
              <a:t> In-order traversal of a BST gives elements in increasing order. So answer c is correct without any doubt.</a:t>
            </a:r>
            <a:endParaRPr/>
          </a:p>
        </p:txBody>
      </p:sp>
      <p:sp>
        <p:nvSpPr>
          <p:cNvPr id="1480" name="Google Shape;1480;p110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1481" name="Google Shape;1481;p110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482" name="Google Shape;1482;p110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6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p111"/>
          <p:cNvSpPr txBox="1"/>
          <p:nvPr>
            <p:ph type="title"/>
          </p:nvPr>
        </p:nvSpPr>
        <p:spPr>
          <a:xfrm>
            <a:off x="1043490" y="1027664"/>
            <a:ext cx="7560958" cy="6731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b="1" lang="en-IN" sz="2400"/>
              <a:t>Traversal in Binary Search Tree</a:t>
            </a:r>
            <a:endParaRPr b="1" sz="2400"/>
          </a:p>
        </p:txBody>
      </p:sp>
      <p:sp>
        <p:nvSpPr>
          <p:cNvPr id="1488" name="Google Shape;1488;p111"/>
          <p:cNvSpPr txBox="1"/>
          <p:nvPr>
            <p:ph idx="1" type="body"/>
          </p:nvPr>
        </p:nvSpPr>
        <p:spPr>
          <a:xfrm>
            <a:off x="1043492" y="1988840"/>
            <a:ext cx="6777317" cy="38437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/>
              <a:t>Traversal in Binary Search Tree is same as Traversal in Binary tree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IN" sz="1800"/>
              <a:t>Preorder</a:t>
            </a:r>
            <a:endParaRPr b="1" sz="1800"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IN" sz="1800"/>
              <a:t>Postorder</a:t>
            </a:r>
            <a:endParaRPr b="1" sz="1800"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IN" sz="1800"/>
              <a:t>Inorder</a:t>
            </a:r>
            <a:endParaRPr b="1" sz="1800"/>
          </a:p>
        </p:txBody>
      </p:sp>
      <p:sp>
        <p:nvSpPr>
          <p:cNvPr id="1489" name="Google Shape;1489;p111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1490" name="Google Shape;1490;p111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491" name="Google Shape;1491;p111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5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p112"/>
          <p:cNvSpPr txBox="1"/>
          <p:nvPr>
            <p:ph type="title"/>
          </p:nvPr>
        </p:nvSpPr>
        <p:spPr>
          <a:xfrm>
            <a:off x="1043490" y="1027664"/>
            <a:ext cx="7560958" cy="6731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b="1" lang="en-IN" sz="2400"/>
              <a:t>Traversal in Binary Search Tree</a:t>
            </a:r>
            <a:endParaRPr b="1" sz="2400"/>
          </a:p>
        </p:txBody>
      </p:sp>
      <p:sp>
        <p:nvSpPr>
          <p:cNvPr id="1497" name="Google Shape;1497;p112"/>
          <p:cNvSpPr txBox="1"/>
          <p:nvPr>
            <p:ph idx="1" type="body"/>
          </p:nvPr>
        </p:nvSpPr>
        <p:spPr>
          <a:xfrm>
            <a:off x="1043492" y="1988840"/>
            <a:ext cx="6777317" cy="38437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b="1" lang="en-IN" sz="2000"/>
              <a:t>Some Interesting Facts:</a:t>
            </a:r>
            <a:endParaRPr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/>
              <a:t>Inorder traversal of BST always produces sorted output.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We can construct a BST with only Preorder or Postorder or Level Order traversal. </a:t>
            </a:r>
            <a:endParaRPr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/>
              <a:t>Note that we can always get inorder traversal by sorting the only given traversal.</a:t>
            </a:r>
            <a:endParaRPr/>
          </a:p>
        </p:txBody>
      </p:sp>
      <p:sp>
        <p:nvSpPr>
          <p:cNvPr id="1498" name="Google Shape;1498;p112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1499" name="Google Shape;1499;p112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500" name="Google Shape;1500;p112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4" name="Shape 1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" name="Google Shape;1505;p113"/>
          <p:cNvSpPr txBox="1"/>
          <p:nvPr>
            <p:ph type="title"/>
          </p:nvPr>
        </p:nvSpPr>
        <p:spPr>
          <a:xfrm>
            <a:off x="1043490" y="1027664"/>
            <a:ext cx="7560958" cy="6731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b="1" lang="en-IN" sz="2400"/>
              <a:t>Traversal in Binary Search Tree</a:t>
            </a:r>
            <a:endParaRPr b="1" sz="2400"/>
          </a:p>
        </p:txBody>
      </p:sp>
      <p:pic>
        <p:nvPicPr>
          <p:cNvPr id="1506" name="Google Shape;1506;p11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13520" l="44907" r="14948" t="55934"/>
          <a:stretch/>
        </p:blipFill>
        <p:spPr>
          <a:xfrm>
            <a:off x="5076056" y="1988840"/>
            <a:ext cx="3456384" cy="3096344"/>
          </a:xfrm>
          <a:prstGeom prst="rect">
            <a:avLst/>
          </a:prstGeom>
          <a:noFill/>
          <a:ln>
            <a:noFill/>
          </a:ln>
        </p:spPr>
      </p:pic>
      <p:sp>
        <p:nvSpPr>
          <p:cNvPr id="1507" name="Google Shape;1507;p113"/>
          <p:cNvSpPr txBox="1"/>
          <p:nvPr/>
        </p:nvSpPr>
        <p:spPr>
          <a:xfrm>
            <a:off x="1043492" y="1988840"/>
            <a:ext cx="6777317" cy="38437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b="1" lang="en-IN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Lets check </a:t>
            </a:r>
            <a:endParaRPr/>
          </a:p>
          <a:p>
            <a:pPr indent="0" lvl="0" marL="6858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t/>
            </a:r>
            <a:endParaRPr b="1"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6858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b="1" lang="en-IN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Inorder Traversal-</a:t>
            </a:r>
            <a:endParaRPr/>
          </a:p>
          <a:p>
            <a:pPr indent="0" lvl="0" marL="6858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b="1" lang="en-IN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9,10,11,12,43,50,54,79,90</a:t>
            </a:r>
            <a:endParaRPr/>
          </a:p>
          <a:p>
            <a:pPr indent="0" lvl="0" marL="6858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t/>
            </a:r>
            <a:endParaRPr b="1"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6858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t/>
            </a:r>
            <a:endParaRPr b="1"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6858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b="1" lang="en-IN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Yes, Sorted!!!!</a:t>
            </a:r>
            <a:endParaRPr b="1"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08" name="Google Shape;1508;p113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1509" name="Google Shape;1509;p113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510" name="Google Shape;1510;p113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4" name="Shape 1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" name="Google Shape;1515;p114"/>
          <p:cNvSpPr txBox="1"/>
          <p:nvPr>
            <p:ph type="title"/>
          </p:nvPr>
        </p:nvSpPr>
        <p:spPr>
          <a:xfrm>
            <a:off x="1043490" y="1027664"/>
            <a:ext cx="7560958" cy="6731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b="1" lang="en-IN" sz="2400"/>
              <a:t>Delete Operation in Binary Search Tree</a:t>
            </a:r>
            <a:endParaRPr b="1" sz="2400"/>
          </a:p>
        </p:txBody>
      </p:sp>
      <p:sp>
        <p:nvSpPr>
          <p:cNvPr id="1516" name="Google Shape;1516;p114"/>
          <p:cNvSpPr txBox="1"/>
          <p:nvPr>
            <p:ph idx="1" type="body"/>
          </p:nvPr>
        </p:nvSpPr>
        <p:spPr>
          <a:xfrm>
            <a:off x="1043492" y="1988840"/>
            <a:ext cx="6777317" cy="38437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Complex than insertion and searching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/>
              <a:t>There are 3 cases-</a:t>
            </a:r>
            <a:endParaRPr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="1"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rPr b="1" lang="en-IN" sz="2000"/>
              <a:t>Case 1- Node is a leaf node</a:t>
            </a:r>
            <a:endParaRPr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rPr b="1" lang="en-IN" sz="2000"/>
              <a:t>Case 2- Node has exactly one child node</a:t>
            </a:r>
            <a:endParaRPr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rPr b="1" lang="en-IN" sz="2000"/>
              <a:t>Case 3- Node has exactly two child nodes</a:t>
            </a:r>
            <a:endParaRPr b="1"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="1" sz="2000"/>
          </a:p>
        </p:txBody>
      </p:sp>
      <p:sp>
        <p:nvSpPr>
          <p:cNvPr id="1517" name="Google Shape;1517;p114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1518" name="Google Shape;1518;p114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519" name="Google Shape;1519;p114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3" name="Shape 1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" name="Google Shape;1524;p115"/>
          <p:cNvSpPr txBox="1"/>
          <p:nvPr>
            <p:ph type="title"/>
          </p:nvPr>
        </p:nvSpPr>
        <p:spPr>
          <a:xfrm>
            <a:off x="1043490" y="1027664"/>
            <a:ext cx="7560958" cy="6731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b="1" lang="en-IN" sz="2400"/>
              <a:t>Delete Operation in Binary Search Tree</a:t>
            </a:r>
            <a:endParaRPr b="1" sz="2400"/>
          </a:p>
        </p:txBody>
      </p:sp>
      <p:sp>
        <p:nvSpPr>
          <p:cNvPr id="1525" name="Google Shape;1525;p115"/>
          <p:cNvSpPr txBox="1"/>
          <p:nvPr>
            <p:ph idx="1" type="body"/>
          </p:nvPr>
        </p:nvSpPr>
        <p:spPr>
          <a:xfrm>
            <a:off x="1043492" y="1988840"/>
            <a:ext cx="6777317" cy="38437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b="1" lang="en-IN" sz="2000"/>
              <a:t>Case 1- Node is a leaf node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If a node is a leaf node, it has no children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Simply delete it </a:t>
            </a:r>
            <a:endParaRPr/>
          </a:p>
          <a:p>
            <a:pPr indent="-274320" lvl="1" marL="64008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by giving NULL value to its Parent’s </a:t>
            </a:r>
            <a:endParaRPr/>
          </a:p>
          <a:p>
            <a:pPr indent="-228600" lvl="2" marL="9144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/>
              <a:t>right pointer or </a:t>
            </a:r>
            <a:endParaRPr/>
          </a:p>
          <a:p>
            <a:pPr indent="-228600" lvl="2" marL="9144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/>
              <a:t>left pointer</a:t>
            </a:r>
            <a:endParaRPr/>
          </a:p>
        </p:txBody>
      </p:sp>
      <p:sp>
        <p:nvSpPr>
          <p:cNvPr id="1526" name="Google Shape;1526;p115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1527" name="Google Shape;1527;p115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528" name="Google Shape;1528;p115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2" name="Shape 1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Google Shape;1533;p116"/>
          <p:cNvSpPr txBox="1"/>
          <p:nvPr>
            <p:ph type="title"/>
          </p:nvPr>
        </p:nvSpPr>
        <p:spPr>
          <a:xfrm>
            <a:off x="1043490" y="1027664"/>
            <a:ext cx="7560958" cy="6731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b="1" lang="en-IN" sz="2400"/>
              <a:t>Delete Operation in Binary Search Tree</a:t>
            </a:r>
            <a:endParaRPr b="1" sz="2400"/>
          </a:p>
        </p:txBody>
      </p:sp>
      <p:sp>
        <p:nvSpPr>
          <p:cNvPr id="1534" name="Google Shape;1534;p116"/>
          <p:cNvSpPr txBox="1"/>
          <p:nvPr>
            <p:ph idx="1" type="body"/>
          </p:nvPr>
        </p:nvSpPr>
        <p:spPr>
          <a:xfrm>
            <a:off x="1043492" y="1988840"/>
            <a:ext cx="6777317" cy="38437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b="1" lang="en-IN" sz="2000"/>
              <a:t>Case 1- Node is a leaf node</a:t>
            </a:r>
            <a:endParaRPr/>
          </a:p>
        </p:txBody>
      </p:sp>
      <p:pic>
        <p:nvPicPr>
          <p:cNvPr id="1535" name="Google Shape;1535;p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584" y="2564904"/>
            <a:ext cx="7488832" cy="2457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6" name="Google Shape;1536;p116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1537" name="Google Shape;1537;p116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538" name="Google Shape;1538;p116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2" name="Shape 1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3" name="Google Shape;1543;p117"/>
          <p:cNvSpPr txBox="1"/>
          <p:nvPr>
            <p:ph type="title"/>
          </p:nvPr>
        </p:nvSpPr>
        <p:spPr>
          <a:xfrm>
            <a:off x="1043490" y="1027664"/>
            <a:ext cx="7560958" cy="6731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b="1" lang="en-IN" sz="2400"/>
              <a:t>Delete Operation in Binary Search Tree</a:t>
            </a:r>
            <a:endParaRPr b="1" sz="2400"/>
          </a:p>
        </p:txBody>
      </p:sp>
      <p:sp>
        <p:nvSpPr>
          <p:cNvPr id="1544" name="Google Shape;1544;p117"/>
          <p:cNvSpPr txBox="1"/>
          <p:nvPr>
            <p:ph idx="1" type="body"/>
          </p:nvPr>
        </p:nvSpPr>
        <p:spPr>
          <a:xfrm>
            <a:off x="1043492" y="1988840"/>
            <a:ext cx="6777317" cy="38437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b="1" lang="en-IN" sz="2000"/>
              <a:t>Case 2- Node has exactly one child node</a:t>
            </a:r>
            <a:endParaRPr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Copy the child to the node and delete the child</a:t>
            </a:r>
            <a:endParaRPr/>
          </a:p>
        </p:txBody>
      </p:sp>
      <p:pic>
        <p:nvPicPr>
          <p:cNvPr id="1545" name="Google Shape;1545;p117"/>
          <p:cNvPicPr preferRelativeResize="0"/>
          <p:nvPr/>
        </p:nvPicPr>
        <p:blipFill rotWithShape="1">
          <a:blip r:embed="rId3">
            <a:alphaModFix/>
          </a:blip>
          <a:srcRect b="0" l="0" r="55509" t="0"/>
          <a:stretch/>
        </p:blipFill>
        <p:spPr>
          <a:xfrm>
            <a:off x="1428750" y="3645024"/>
            <a:ext cx="5735538" cy="2238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6" name="Google Shape;1546;p117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1547" name="Google Shape;1547;p117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548" name="Google Shape;1548;p117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2" name="Shape 1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Google Shape;1553;p118"/>
          <p:cNvSpPr txBox="1"/>
          <p:nvPr>
            <p:ph type="title"/>
          </p:nvPr>
        </p:nvSpPr>
        <p:spPr>
          <a:xfrm>
            <a:off x="1043490" y="1027664"/>
            <a:ext cx="7560958" cy="6731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b="1" lang="en-IN" sz="2400"/>
              <a:t>Delete Operation in Binary Search Tree</a:t>
            </a:r>
            <a:endParaRPr b="1" sz="2400"/>
          </a:p>
        </p:txBody>
      </p:sp>
      <p:sp>
        <p:nvSpPr>
          <p:cNvPr id="1554" name="Google Shape;1554;p118"/>
          <p:cNvSpPr txBox="1"/>
          <p:nvPr>
            <p:ph idx="1" type="body"/>
          </p:nvPr>
        </p:nvSpPr>
        <p:spPr>
          <a:xfrm>
            <a:off x="1043492" y="1988840"/>
            <a:ext cx="6777317" cy="38437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b="1" lang="en-IN" sz="2000"/>
              <a:t>Case 3- Node has exactly two child nodes</a:t>
            </a:r>
            <a:endParaRPr/>
          </a:p>
          <a:p>
            <a:pPr indent="-457200" lvl="0" marL="525780" rtl="0" algn="l">
              <a:spcBef>
                <a:spcPts val="400"/>
              </a:spcBef>
              <a:spcAft>
                <a:spcPts val="0"/>
              </a:spcAft>
              <a:buSzPts val="1520"/>
              <a:buFont typeface="Century Gothic"/>
              <a:buAutoNum type="arabicParenR"/>
            </a:pPr>
            <a:r>
              <a:rPr b="1" lang="en-IN" sz="2000"/>
              <a:t>Find the inorder successor of the item </a:t>
            </a:r>
            <a:endParaRPr b="1" sz="2000"/>
          </a:p>
          <a:p>
            <a:pPr indent="-457200" lvl="0" marL="525780" rtl="0" algn="l">
              <a:spcBef>
                <a:spcPts val="400"/>
              </a:spcBef>
              <a:spcAft>
                <a:spcPts val="0"/>
              </a:spcAft>
              <a:buSzPts val="1520"/>
              <a:buFont typeface="Century Gothic"/>
              <a:buAutoNum type="arabicParenR"/>
            </a:pPr>
            <a:r>
              <a:rPr b="1" lang="en-IN" sz="2000"/>
              <a:t>Copy contents of the inorder successor to the node </a:t>
            </a:r>
            <a:endParaRPr b="1" sz="2000"/>
          </a:p>
          <a:p>
            <a:pPr indent="-457200" lvl="0" marL="525780" rtl="0" algn="l">
              <a:spcBef>
                <a:spcPts val="400"/>
              </a:spcBef>
              <a:spcAft>
                <a:spcPts val="0"/>
              </a:spcAft>
              <a:buSzPts val="1520"/>
              <a:buFont typeface="Century Gothic"/>
              <a:buAutoNum type="arabicParenR"/>
            </a:pPr>
            <a:r>
              <a:rPr b="1" lang="en-IN" sz="2000"/>
              <a:t>Delete the inorder successor. </a:t>
            </a:r>
            <a:endParaRPr b="1"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274319" lvl="0" marL="342900" rtl="0" algn="l">
              <a:spcBef>
                <a:spcPts val="440"/>
              </a:spcBef>
              <a:spcAft>
                <a:spcPts val="0"/>
              </a:spcAft>
              <a:buSzPts val="1672"/>
              <a:buChar char="🞇"/>
            </a:pPr>
            <a:r>
              <a:rPr b="1" lang="en-IN" sz="2200"/>
              <a:t>Note that inorder predecessor can also be used.</a:t>
            </a:r>
            <a:endParaRPr b="1" sz="2200"/>
          </a:p>
        </p:txBody>
      </p:sp>
      <p:sp>
        <p:nvSpPr>
          <p:cNvPr id="1555" name="Google Shape;1555;p118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1556" name="Google Shape;1556;p118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557" name="Google Shape;1557;p118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1" name="Shape 1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Google Shape;1562;p119"/>
          <p:cNvSpPr txBox="1"/>
          <p:nvPr>
            <p:ph type="title"/>
          </p:nvPr>
        </p:nvSpPr>
        <p:spPr>
          <a:xfrm>
            <a:off x="1043490" y="1027664"/>
            <a:ext cx="7560958" cy="6731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b="1" lang="en-IN" sz="2400"/>
              <a:t>Delete Operation in Binary Search Tree</a:t>
            </a:r>
            <a:endParaRPr b="1" sz="2400"/>
          </a:p>
        </p:txBody>
      </p:sp>
      <p:sp>
        <p:nvSpPr>
          <p:cNvPr id="1563" name="Google Shape;1563;p119"/>
          <p:cNvSpPr txBox="1"/>
          <p:nvPr>
            <p:ph idx="1" type="body"/>
          </p:nvPr>
        </p:nvSpPr>
        <p:spPr>
          <a:xfrm>
            <a:off x="1043492" y="1988840"/>
            <a:ext cx="6777317" cy="38437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/>
              <a:t>Find the inorder successor of the item </a:t>
            </a:r>
            <a:endParaRPr b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/>
              <a:t>Use the Inorder traversal </a:t>
            </a:r>
            <a:endParaRPr b="1" sz="2200"/>
          </a:p>
        </p:txBody>
      </p:sp>
      <p:sp>
        <p:nvSpPr>
          <p:cNvPr id="1564" name="Google Shape;1564;p119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1565" name="Google Shape;1565;p119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566" name="Google Shape;1566;p119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0" name="Shape 1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1" name="Google Shape;1571;p120"/>
          <p:cNvSpPr txBox="1"/>
          <p:nvPr>
            <p:ph type="title"/>
          </p:nvPr>
        </p:nvSpPr>
        <p:spPr>
          <a:xfrm>
            <a:off x="1043490" y="1027664"/>
            <a:ext cx="7560958" cy="6731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b="1" lang="en-IN" sz="2400"/>
              <a:t>Delete Operation in Binary Search Tree</a:t>
            </a:r>
            <a:endParaRPr b="1" sz="2400"/>
          </a:p>
        </p:txBody>
      </p:sp>
      <p:sp>
        <p:nvSpPr>
          <p:cNvPr id="1572" name="Google Shape;1572;p120"/>
          <p:cNvSpPr txBox="1"/>
          <p:nvPr>
            <p:ph idx="1" type="body"/>
          </p:nvPr>
        </p:nvSpPr>
        <p:spPr>
          <a:xfrm>
            <a:off x="1043492" y="1988840"/>
            <a:ext cx="6777317" cy="38437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b="1" lang="en-IN" sz="2000"/>
              <a:t>Case 3- Node has exactly two child nodes</a:t>
            </a:r>
            <a:endParaRPr b="1" sz="2000"/>
          </a:p>
        </p:txBody>
      </p:sp>
      <p:pic>
        <p:nvPicPr>
          <p:cNvPr id="1573" name="Google Shape;1573;p1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1639" y="2636912"/>
            <a:ext cx="6714327" cy="2880320"/>
          </a:xfrm>
          <a:prstGeom prst="rect">
            <a:avLst/>
          </a:prstGeom>
          <a:noFill/>
          <a:ln>
            <a:noFill/>
          </a:ln>
        </p:spPr>
      </p:pic>
      <p:sp>
        <p:nvSpPr>
          <p:cNvPr id="1574" name="Google Shape;1574;p120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1575" name="Google Shape;1575;p120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576" name="Google Shape;1576;p120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0" name="Shape 1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1" name="Google Shape;1581;p121"/>
          <p:cNvSpPr txBox="1"/>
          <p:nvPr>
            <p:ph idx="1" type="body"/>
          </p:nvPr>
        </p:nvSpPr>
        <p:spPr>
          <a:xfrm>
            <a:off x="1043492" y="1124744"/>
            <a:ext cx="6777317" cy="47078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368"/>
              <a:buNone/>
            </a:pPr>
            <a:r>
              <a:rPr lang="en-IN" sz="1800"/>
              <a:t>Delete the following nodes from the BST</a:t>
            </a:r>
            <a:endParaRPr/>
          </a:p>
          <a:p>
            <a:pPr indent="-27432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4</a:t>
            </a:r>
            <a:endParaRPr/>
          </a:p>
          <a:p>
            <a:pPr indent="-27432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6</a:t>
            </a:r>
            <a:endParaRPr sz="1800"/>
          </a:p>
          <a:p>
            <a:pPr indent="0" lvl="0" marL="685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rPr lang="en-IN" sz="1800"/>
              <a:t> In sequence</a:t>
            </a:r>
            <a:endParaRPr/>
          </a:p>
          <a:p>
            <a:pPr indent="0" lvl="0" marL="685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</p:txBody>
      </p:sp>
      <p:sp>
        <p:nvSpPr>
          <p:cNvPr id="1582" name="Google Shape;1582;p121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1583" name="Google Shape;1583;p121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584" name="Google Shape;1584;p121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585" name="Google Shape;1585;p1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9672" y="2564904"/>
            <a:ext cx="5543550" cy="320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9" name="Shape 1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0" name="Google Shape;1590;p122"/>
          <p:cNvSpPr txBox="1"/>
          <p:nvPr>
            <p:ph idx="1" type="body"/>
          </p:nvPr>
        </p:nvSpPr>
        <p:spPr>
          <a:xfrm>
            <a:off x="1043492" y="1124744"/>
            <a:ext cx="6777317" cy="47078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368"/>
              <a:buNone/>
            </a:pPr>
            <a:r>
              <a:rPr lang="en-IN" sz="1800"/>
              <a:t>Delete the following nodes from the BST</a:t>
            </a:r>
            <a:endParaRPr/>
          </a:p>
          <a:p>
            <a:pPr indent="-27432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4</a:t>
            </a:r>
            <a:endParaRPr/>
          </a:p>
          <a:p>
            <a:pPr indent="-27432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6</a:t>
            </a:r>
            <a:endParaRPr sz="1800"/>
          </a:p>
          <a:p>
            <a:pPr indent="0" lvl="0" marL="685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rPr lang="en-IN" sz="1800"/>
              <a:t>  In sequence</a:t>
            </a:r>
            <a:endParaRPr/>
          </a:p>
          <a:p>
            <a:pPr indent="0" lvl="0" marL="685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0" lvl="0" marL="685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</p:txBody>
      </p:sp>
      <p:sp>
        <p:nvSpPr>
          <p:cNvPr id="1591" name="Google Shape;1591;p122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1592" name="Google Shape;1592;p122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593" name="Google Shape;1593;p122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594" name="Google Shape;1594;p122"/>
          <p:cNvPicPr preferRelativeResize="0"/>
          <p:nvPr/>
        </p:nvPicPr>
        <p:blipFill rotWithShape="1">
          <a:blip r:embed="rId3">
            <a:alphaModFix/>
          </a:blip>
          <a:srcRect b="15039" l="21044" r="20676" t="4674"/>
          <a:stretch/>
        </p:blipFill>
        <p:spPr>
          <a:xfrm>
            <a:off x="827584" y="2564904"/>
            <a:ext cx="4041050" cy="3223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5" name="Google Shape;1595;p122"/>
          <p:cNvPicPr preferRelativeResize="0"/>
          <p:nvPr/>
        </p:nvPicPr>
        <p:blipFill rotWithShape="1">
          <a:blip r:embed="rId4">
            <a:alphaModFix/>
          </a:blip>
          <a:srcRect b="7562" l="21079" r="19649" t="11425"/>
          <a:stretch/>
        </p:blipFill>
        <p:spPr>
          <a:xfrm>
            <a:off x="5004048" y="2204865"/>
            <a:ext cx="3528392" cy="33634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9" name="Shape 1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0" name="Google Shape;1600;p123"/>
          <p:cNvSpPr txBox="1"/>
          <p:nvPr>
            <p:ph idx="1" type="body"/>
          </p:nvPr>
        </p:nvSpPr>
        <p:spPr>
          <a:xfrm>
            <a:off x="1043492" y="1124744"/>
            <a:ext cx="6777317" cy="47078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368"/>
              <a:buNone/>
            </a:pPr>
            <a:r>
              <a:rPr lang="en-IN" sz="1800"/>
              <a:t>Delete the following nodes from the BST</a:t>
            </a:r>
            <a:endParaRPr/>
          </a:p>
          <a:p>
            <a:pPr indent="-27432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3</a:t>
            </a:r>
            <a:endParaRPr/>
          </a:p>
          <a:p>
            <a:pPr indent="0" lvl="0" marL="685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rPr lang="en-IN" sz="1800"/>
              <a:t> </a:t>
            </a:r>
            <a:endParaRPr/>
          </a:p>
          <a:p>
            <a:pPr indent="0" lvl="0" marL="685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</p:txBody>
      </p:sp>
      <p:sp>
        <p:nvSpPr>
          <p:cNvPr id="1601" name="Google Shape;1601;p123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1602" name="Google Shape;1602;p123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603" name="Google Shape;1603;p123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604" name="Google Shape;1604;p1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7630" y="1814686"/>
            <a:ext cx="6670753" cy="37025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8" name="Shape 1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9" name="Google Shape;1609;p124"/>
          <p:cNvSpPr txBox="1"/>
          <p:nvPr>
            <p:ph idx="1" type="body"/>
          </p:nvPr>
        </p:nvSpPr>
        <p:spPr>
          <a:xfrm>
            <a:off x="1043492" y="1124744"/>
            <a:ext cx="6777317" cy="47078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368"/>
              <a:buNone/>
            </a:pPr>
            <a:r>
              <a:rPr lang="en-IN" sz="1800"/>
              <a:t>Delete the following nodes from the BST</a:t>
            </a:r>
            <a:endParaRPr/>
          </a:p>
          <a:p>
            <a:pPr indent="-27432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3</a:t>
            </a:r>
            <a:endParaRPr/>
          </a:p>
          <a:p>
            <a:pPr indent="0" lvl="0" marL="685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rPr lang="en-IN" sz="1800"/>
              <a:t> </a:t>
            </a:r>
            <a:endParaRPr/>
          </a:p>
          <a:p>
            <a:pPr indent="0" lvl="0" marL="685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</p:txBody>
      </p:sp>
      <p:sp>
        <p:nvSpPr>
          <p:cNvPr id="1610" name="Google Shape;1610;p124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1611" name="Google Shape;1611;p124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612" name="Google Shape;1612;p124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613" name="Google Shape;1613;p124"/>
          <p:cNvPicPr preferRelativeResize="0"/>
          <p:nvPr/>
        </p:nvPicPr>
        <p:blipFill rotWithShape="1">
          <a:blip r:embed="rId3">
            <a:alphaModFix/>
          </a:blip>
          <a:srcRect b="6773" l="19522" r="18787" t="8603"/>
          <a:stretch/>
        </p:blipFill>
        <p:spPr>
          <a:xfrm>
            <a:off x="611560" y="2204864"/>
            <a:ext cx="3776328" cy="3240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4" name="Google Shape;1614;p124"/>
          <p:cNvPicPr preferRelativeResize="0"/>
          <p:nvPr/>
        </p:nvPicPr>
        <p:blipFill rotWithShape="1">
          <a:blip r:embed="rId4">
            <a:alphaModFix/>
          </a:blip>
          <a:srcRect b="0" l="23320" r="22579" t="0"/>
          <a:stretch/>
        </p:blipFill>
        <p:spPr>
          <a:xfrm>
            <a:off x="5076056" y="2007078"/>
            <a:ext cx="3276891" cy="34381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8" name="Shape 1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9" name="Google Shape;1619;p125"/>
          <p:cNvSpPr txBox="1"/>
          <p:nvPr>
            <p:ph type="title"/>
          </p:nvPr>
        </p:nvSpPr>
        <p:spPr>
          <a:xfrm>
            <a:off x="791521" y="332656"/>
            <a:ext cx="7560958" cy="6731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b="1" lang="en-IN" sz="2400"/>
              <a:t>Delete Operation in Binary Search Tree</a:t>
            </a:r>
            <a:endParaRPr b="1" sz="2400"/>
          </a:p>
        </p:txBody>
      </p:sp>
      <p:sp>
        <p:nvSpPr>
          <p:cNvPr id="1620" name="Google Shape;1620;p125"/>
          <p:cNvSpPr txBox="1"/>
          <p:nvPr>
            <p:ph idx="1" type="body"/>
          </p:nvPr>
        </p:nvSpPr>
        <p:spPr>
          <a:xfrm>
            <a:off x="1043608" y="1124744"/>
            <a:ext cx="6777317" cy="38437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b="1" lang="en-IN" sz="2000"/>
              <a:t>Consider the given BST and perform the following operations in sequential manner:</a:t>
            </a:r>
            <a:endParaRPr/>
          </a:p>
          <a:p>
            <a:pPr indent="-457200" lvl="0" marL="525780" rtl="0" algn="l">
              <a:spcBef>
                <a:spcPts val="400"/>
              </a:spcBef>
              <a:spcAft>
                <a:spcPts val="0"/>
              </a:spcAft>
              <a:buSzPts val="1520"/>
              <a:buFont typeface="Century Gothic"/>
              <a:buAutoNum type="arabicParenR"/>
            </a:pPr>
            <a:r>
              <a:rPr b="1" lang="en-IN" sz="2000"/>
              <a:t>Delete 4</a:t>
            </a:r>
            <a:endParaRPr/>
          </a:p>
          <a:p>
            <a:pPr indent="-457200" lvl="0" marL="525780" rtl="0" algn="l">
              <a:spcBef>
                <a:spcPts val="400"/>
              </a:spcBef>
              <a:spcAft>
                <a:spcPts val="0"/>
              </a:spcAft>
              <a:buSzPts val="1520"/>
              <a:buFont typeface="Century Gothic"/>
              <a:buAutoNum type="arabicParenR"/>
            </a:pPr>
            <a:r>
              <a:rPr b="1" lang="en-IN" sz="2000"/>
              <a:t>Delete 10</a:t>
            </a:r>
            <a:endParaRPr/>
          </a:p>
          <a:p>
            <a:pPr indent="-457200" lvl="0" marL="525780" rtl="0" algn="l">
              <a:spcBef>
                <a:spcPts val="400"/>
              </a:spcBef>
              <a:spcAft>
                <a:spcPts val="0"/>
              </a:spcAft>
              <a:buSzPts val="1520"/>
              <a:buFont typeface="Century Gothic"/>
              <a:buAutoNum type="arabicParenR"/>
            </a:pPr>
            <a:r>
              <a:rPr b="1" lang="en-IN" sz="2000"/>
              <a:t>Delete 27</a:t>
            </a:r>
            <a:endParaRPr/>
          </a:p>
          <a:p>
            <a:pPr indent="-457200" lvl="0" marL="525780" rtl="0" algn="l">
              <a:spcBef>
                <a:spcPts val="400"/>
              </a:spcBef>
              <a:spcAft>
                <a:spcPts val="0"/>
              </a:spcAft>
              <a:buSzPts val="1520"/>
              <a:buFont typeface="Century Gothic"/>
              <a:buAutoNum type="arabicParenR"/>
            </a:pPr>
            <a:r>
              <a:rPr b="1" lang="en-IN" sz="2000"/>
              <a:t>Delete 13</a:t>
            </a:r>
            <a:endParaRPr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="1" sz="2000"/>
          </a:p>
        </p:txBody>
      </p:sp>
      <p:pic>
        <p:nvPicPr>
          <p:cNvPr id="1621" name="Google Shape;1621;p1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07904" y="2780928"/>
            <a:ext cx="3977630" cy="2927598"/>
          </a:xfrm>
          <a:prstGeom prst="rect">
            <a:avLst/>
          </a:prstGeom>
          <a:noFill/>
          <a:ln>
            <a:noFill/>
          </a:ln>
        </p:spPr>
      </p:pic>
      <p:sp>
        <p:nvSpPr>
          <p:cNvPr id="1622" name="Google Shape;1622;p125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1623" name="Google Shape;1623;p125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624" name="Google Shape;1624;p125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8" name="Shape 1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9" name="Google Shape;1629;p126"/>
          <p:cNvSpPr txBox="1"/>
          <p:nvPr>
            <p:ph type="title"/>
          </p:nvPr>
        </p:nvSpPr>
        <p:spPr>
          <a:xfrm>
            <a:off x="791521" y="332656"/>
            <a:ext cx="7560958" cy="6731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b="1" lang="en-IN" sz="2400"/>
              <a:t>Delete Operation in Binary Search Tree</a:t>
            </a:r>
            <a:endParaRPr b="1" sz="2400"/>
          </a:p>
        </p:txBody>
      </p:sp>
      <p:pic>
        <p:nvPicPr>
          <p:cNvPr id="1630" name="Google Shape;1630;p12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28166" l="18133" r="24638" t="10396"/>
          <a:stretch/>
        </p:blipFill>
        <p:spPr>
          <a:xfrm>
            <a:off x="611560" y="1105808"/>
            <a:ext cx="7848872" cy="5131504"/>
          </a:xfrm>
          <a:prstGeom prst="rect">
            <a:avLst/>
          </a:prstGeom>
          <a:noFill/>
          <a:ln>
            <a:noFill/>
          </a:ln>
        </p:spPr>
      </p:pic>
      <p:sp>
        <p:nvSpPr>
          <p:cNvPr id="1631" name="Google Shape;1631;p126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1632" name="Google Shape;1632;p126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633" name="Google Shape;1633;p126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7" name="Shape 1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" name="Google Shape;1638;p127"/>
          <p:cNvSpPr txBox="1"/>
          <p:nvPr>
            <p:ph type="title"/>
          </p:nvPr>
        </p:nvSpPr>
        <p:spPr>
          <a:xfrm>
            <a:off x="791521" y="332656"/>
            <a:ext cx="7560958" cy="6731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b="1" lang="en-IN" sz="2400"/>
              <a:t>Delete Operation in Binary Search Tree</a:t>
            </a:r>
            <a:endParaRPr b="1" sz="2400"/>
          </a:p>
        </p:txBody>
      </p:sp>
      <p:pic>
        <p:nvPicPr>
          <p:cNvPr id="1639" name="Google Shape;1639;p12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24476" l="18060" r="17998" t="13920"/>
          <a:stretch/>
        </p:blipFill>
        <p:spPr>
          <a:xfrm>
            <a:off x="611560" y="1052736"/>
            <a:ext cx="7920880" cy="5544616"/>
          </a:xfrm>
          <a:prstGeom prst="rect">
            <a:avLst/>
          </a:prstGeom>
          <a:noFill/>
          <a:ln>
            <a:noFill/>
          </a:ln>
        </p:spPr>
      </p:pic>
      <p:sp>
        <p:nvSpPr>
          <p:cNvPr id="1640" name="Google Shape;1640;p127"/>
          <p:cNvSpPr/>
          <p:nvPr/>
        </p:nvSpPr>
        <p:spPr>
          <a:xfrm>
            <a:off x="899592" y="5733256"/>
            <a:ext cx="45720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http://lcm.csa.iisc.ernet.in/dsa/node91.html</a:t>
            </a:r>
            <a:endParaRPr/>
          </a:p>
        </p:txBody>
      </p:sp>
      <p:sp>
        <p:nvSpPr>
          <p:cNvPr id="1641" name="Google Shape;1641;p127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1642" name="Google Shape;1642;p127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643" name="Google Shape;1643;p127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7" name="Shape 1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" name="Google Shape;1648;p128"/>
          <p:cNvSpPr txBox="1"/>
          <p:nvPr>
            <p:ph idx="1" type="body"/>
          </p:nvPr>
        </p:nvSpPr>
        <p:spPr>
          <a:xfrm>
            <a:off x="1043492" y="1124744"/>
            <a:ext cx="6777317" cy="47078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368"/>
              <a:buNone/>
            </a:pPr>
            <a:r>
              <a:rPr lang="en-IN" sz="1800"/>
              <a:t>Q)The preorder traversal sequence of a binary search tree is 30, 20, 10, 15, 25, 23, 39, 35, 42. Which one of the following is the postorder traversal sequence of the same tree?</a:t>
            </a:r>
            <a:br>
              <a:rPr lang="en-IN" sz="1800"/>
            </a:br>
            <a:r>
              <a:rPr b="1" lang="en-IN" sz="1800"/>
              <a:t>(A)</a:t>
            </a:r>
            <a:r>
              <a:rPr lang="en-IN" sz="1800"/>
              <a:t> 10, 20, 15, 23, 25, 35, 42, 39, 30</a:t>
            </a:r>
            <a:br>
              <a:rPr lang="en-IN" sz="1800"/>
            </a:br>
            <a:r>
              <a:rPr b="1" lang="en-IN" sz="1800"/>
              <a:t>(B)</a:t>
            </a:r>
            <a:r>
              <a:rPr lang="en-IN" sz="1800"/>
              <a:t> 15, 10, 25, 23, 20, 42, 35, 39, 30</a:t>
            </a:r>
            <a:br>
              <a:rPr lang="en-IN" sz="1800"/>
            </a:br>
            <a:r>
              <a:rPr b="1" lang="en-IN" sz="1800"/>
              <a:t>(C)</a:t>
            </a:r>
            <a:r>
              <a:rPr lang="en-IN" sz="1800"/>
              <a:t> 15, 20, 10, 23, 25, 42, 35, 39, 30</a:t>
            </a:r>
            <a:br>
              <a:rPr lang="en-IN" sz="1800"/>
            </a:br>
            <a:r>
              <a:rPr b="1" lang="en-IN" sz="1800"/>
              <a:t>(D)</a:t>
            </a:r>
            <a:r>
              <a:rPr lang="en-IN" sz="1800"/>
              <a:t> 15, 10, 23, 25, 20, 35, 42, 39, 30</a:t>
            </a:r>
            <a:br>
              <a:rPr lang="en-IN" sz="1800"/>
            </a:br>
            <a:br>
              <a:rPr lang="en-IN" sz="1800"/>
            </a:br>
            <a:br>
              <a:rPr lang="en-IN" sz="1800"/>
            </a:br>
            <a:endParaRPr sz="1800"/>
          </a:p>
        </p:txBody>
      </p:sp>
      <p:sp>
        <p:nvSpPr>
          <p:cNvPr id="1649" name="Google Shape;1649;p128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1650" name="Google Shape;1650;p128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651" name="Google Shape;1651;p128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5" name="Shape 1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6" name="Google Shape;1656;p129"/>
          <p:cNvSpPr txBox="1"/>
          <p:nvPr>
            <p:ph idx="1" type="body"/>
          </p:nvPr>
        </p:nvSpPr>
        <p:spPr>
          <a:xfrm>
            <a:off x="1043492" y="1124744"/>
            <a:ext cx="6777317" cy="47078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368"/>
              <a:buNone/>
            </a:pPr>
            <a:r>
              <a:rPr lang="en-IN" sz="1800"/>
              <a:t>Q)The preorder traversal sequence of a binary search tree is 30, 20, 10, 15, 25, 23, 39, 35, 42. Which one of the following is the postorder traversal sequence of the same tree?</a:t>
            </a:r>
            <a:br>
              <a:rPr lang="en-IN" sz="1800"/>
            </a:br>
            <a:r>
              <a:rPr b="1" lang="en-IN" sz="1800"/>
              <a:t>(A)</a:t>
            </a:r>
            <a:r>
              <a:rPr lang="en-IN" sz="1800"/>
              <a:t> 10, 20, 15, 23, 25, 35, 42, 39, 30</a:t>
            </a:r>
            <a:br>
              <a:rPr lang="en-IN" sz="1800"/>
            </a:br>
            <a:r>
              <a:rPr b="1" lang="en-IN" sz="1800"/>
              <a:t>(B)</a:t>
            </a:r>
            <a:r>
              <a:rPr lang="en-IN" sz="1800"/>
              <a:t> 15, 10, 25, 23, 20, 42, 35, 39, 30</a:t>
            </a:r>
            <a:br>
              <a:rPr lang="en-IN" sz="1800"/>
            </a:br>
            <a:r>
              <a:rPr b="1" lang="en-IN" sz="1800"/>
              <a:t>(C)</a:t>
            </a:r>
            <a:r>
              <a:rPr lang="en-IN" sz="1800"/>
              <a:t> 15, 20, 10, 23, 25, 42, 35, 39, 30</a:t>
            </a:r>
            <a:br>
              <a:rPr lang="en-IN" sz="1800"/>
            </a:br>
            <a:r>
              <a:rPr b="1" lang="en-IN" sz="1800"/>
              <a:t>(D)</a:t>
            </a:r>
            <a:r>
              <a:rPr lang="en-IN" sz="1800"/>
              <a:t> 15, 10, 23, 25, 20, 35, 42, 39, 30</a:t>
            </a:r>
            <a:br>
              <a:rPr lang="en-IN" sz="1800"/>
            </a:br>
            <a:br>
              <a:rPr lang="en-IN" sz="1800"/>
            </a:br>
            <a:r>
              <a:rPr b="1" lang="en-IN" sz="1800"/>
              <a:t>Answer:</a:t>
            </a:r>
            <a:r>
              <a:rPr lang="en-IN" sz="1800"/>
              <a:t> </a:t>
            </a:r>
            <a:r>
              <a:rPr b="1" lang="en-IN" sz="1800"/>
              <a:t>(D)</a:t>
            </a:r>
            <a:br>
              <a:rPr lang="en-IN" sz="1800"/>
            </a:br>
            <a:r>
              <a:rPr b="1" lang="en-IN" sz="1800"/>
              <a:t>Explanation:</a:t>
            </a:r>
            <a:endParaRPr sz="1800"/>
          </a:p>
          <a:p>
            <a:pPr indent="0" lvl="0" marL="685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rPr lang="en-IN" sz="1800"/>
              <a:t>Sort the preorder to get the Inorder Traversal, then construct the tree</a:t>
            </a:r>
            <a:endParaRPr/>
          </a:p>
          <a:p>
            <a:pPr indent="0" lvl="0" marL="685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rPr lang="en-IN" sz="1800"/>
              <a:t>The following is the constructed tree</a:t>
            </a:r>
            <a:endParaRPr/>
          </a:p>
        </p:txBody>
      </p:sp>
      <p:pic>
        <p:nvPicPr>
          <p:cNvPr id="1657" name="Google Shape;1657;p1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36096" y="4653136"/>
            <a:ext cx="2736304" cy="1512168"/>
          </a:xfrm>
          <a:prstGeom prst="rect">
            <a:avLst/>
          </a:prstGeom>
          <a:noFill/>
          <a:ln>
            <a:noFill/>
          </a:ln>
        </p:spPr>
      </p:pic>
      <p:sp>
        <p:nvSpPr>
          <p:cNvPr id="1658" name="Google Shape;1658;p129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1659" name="Google Shape;1659;p129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660" name="Google Shape;1660;p129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4" name="Shape 1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5" name="Google Shape;1665;p130"/>
          <p:cNvSpPr txBox="1"/>
          <p:nvPr>
            <p:ph idx="1" type="body"/>
          </p:nvPr>
        </p:nvSpPr>
        <p:spPr>
          <a:xfrm>
            <a:off x="1043492" y="1124744"/>
            <a:ext cx="6777317" cy="47078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368"/>
              <a:buNone/>
            </a:pPr>
            <a:r>
              <a:rPr lang="en-IN" sz="1800"/>
              <a:t>ISRO | ISRO CS 2014 | Question 41</a:t>
            </a:r>
            <a:endParaRPr/>
          </a:p>
          <a:p>
            <a:pPr indent="0" lvl="0" marL="685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rPr lang="en-IN" sz="1800"/>
              <a:t>Consider the following binary search tree T given below:</a:t>
            </a:r>
            <a:br>
              <a:rPr lang="en-IN" sz="1800"/>
            </a:br>
            <a:r>
              <a:rPr lang="en-IN" sz="1800"/>
              <a:t>Which node contains the fourth smallest element in T?</a:t>
            </a:r>
            <a:endParaRPr/>
          </a:p>
          <a:p>
            <a:pPr indent="0" lvl="0" marL="685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br>
              <a:rPr lang="en-IN" sz="1800"/>
            </a:br>
            <a:r>
              <a:rPr b="1" lang="en-IN" sz="1800"/>
              <a:t>(A)</a:t>
            </a:r>
            <a:r>
              <a:rPr lang="en-IN" sz="1800"/>
              <a:t> Q</a:t>
            </a:r>
            <a:br>
              <a:rPr lang="en-IN" sz="1800"/>
            </a:br>
            <a:r>
              <a:rPr b="1" lang="en-IN" sz="1800"/>
              <a:t>(B)</a:t>
            </a:r>
            <a:r>
              <a:rPr lang="en-IN" sz="1800"/>
              <a:t> V</a:t>
            </a:r>
            <a:br>
              <a:rPr lang="en-IN" sz="1800"/>
            </a:br>
            <a:r>
              <a:rPr b="1" lang="en-IN" sz="1800"/>
              <a:t>(C)</a:t>
            </a:r>
            <a:r>
              <a:rPr lang="en-IN" sz="1800"/>
              <a:t> W</a:t>
            </a:r>
            <a:br>
              <a:rPr lang="en-IN" sz="1800"/>
            </a:br>
            <a:r>
              <a:rPr b="1" lang="en-IN" sz="1800"/>
              <a:t>(D)</a:t>
            </a:r>
            <a:r>
              <a:rPr lang="en-IN" sz="1800"/>
              <a:t> X</a:t>
            </a:r>
            <a:br>
              <a:rPr lang="en-IN" sz="1800"/>
            </a:br>
            <a:br>
              <a:rPr lang="en-IN" sz="1800"/>
            </a:br>
            <a:br>
              <a:rPr lang="en-IN" sz="1800"/>
            </a:br>
            <a:endParaRPr sz="1800"/>
          </a:p>
          <a:p>
            <a:pPr indent="0" lvl="0" marL="685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</p:txBody>
      </p:sp>
      <p:pic>
        <p:nvPicPr>
          <p:cNvPr id="1666" name="Google Shape;1666;p1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91880" y="2162175"/>
            <a:ext cx="2664295" cy="2202929"/>
          </a:xfrm>
          <a:prstGeom prst="rect">
            <a:avLst/>
          </a:prstGeom>
          <a:noFill/>
          <a:ln>
            <a:noFill/>
          </a:ln>
        </p:spPr>
      </p:pic>
      <p:sp>
        <p:nvSpPr>
          <p:cNvPr id="1667" name="Google Shape;1667;p130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1668" name="Google Shape;1668;p130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669" name="Google Shape;1669;p130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3" name="Shape 1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4" name="Google Shape;1674;p131"/>
          <p:cNvSpPr txBox="1"/>
          <p:nvPr>
            <p:ph idx="1" type="body"/>
          </p:nvPr>
        </p:nvSpPr>
        <p:spPr>
          <a:xfrm>
            <a:off x="1043492" y="1124744"/>
            <a:ext cx="6777317" cy="47078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368"/>
              <a:buNone/>
            </a:pPr>
            <a:r>
              <a:rPr lang="en-IN" sz="1800"/>
              <a:t>ISRO | ISRO CS 2014 | Question 41</a:t>
            </a:r>
            <a:endParaRPr/>
          </a:p>
          <a:p>
            <a:pPr indent="0" lvl="0" marL="685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rPr lang="en-IN" sz="1800"/>
              <a:t>Consider the following binary search tree T given below:</a:t>
            </a:r>
            <a:br>
              <a:rPr lang="en-IN" sz="1800"/>
            </a:br>
            <a:r>
              <a:rPr lang="en-IN" sz="1800"/>
              <a:t>Which node contains the fourth smallest element in T?</a:t>
            </a:r>
            <a:endParaRPr/>
          </a:p>
          <a:p>
            <a:pPr indent="0" lvl="0" marL="685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br>
              <a:rPr lang="en-IN" sz="1800"/>
            </a:br>
            <a:r>
              <a:rPr b="1" lang="en-IN" sz="1800"/>
              <a:t>(A)</a:t>
            </a:r>
            <a:r>
              <a:rPr lang="en-IN" sz="1800"/>
              <a:t> Q</a:t>
            </a:r>
            <a:br>
              <a:rPr lang="en-IN" sz="1800"/>
            </a:br>
            <a:r>
              <a:rPr b="1" lang="en-IN" sz="1800"/>
              <a:t>(B)</a:t>
            </a:r>
            <a:r>
              <a:rPr lang="en-IN" sz="1800"/>
              <a:t> V</a:t>
            </a:r>
            <a:br>
              <a:rPr lang="en-IN" sz="1800"/>
            </a:br>
            <a:r>
              <a:rPr b="1" lang="en-IN" sz="1800"/>
              <a:t>(C)</a:t>
            </a:r>
            <a:r>
              <a:rPr lang="en-IN" sz="1800"/>
              <a:t> W</a:t>
            </a:r>
            <a:br>
              <a:rPr lang="en-IN" sz="1800"/>
            </a:br>
            <a:r>
              <a:rPr b="1" lang="en-IN" sz="1800"/>
              <a:t>(D)</a:t>
            </a:r>
            <a:r>
              <a:rPr lang="en-IN" sz="1800"/>
              <a:t> X</a:t>
            </a:r>
            <a:br>
              <a:rPr lang="en-IN" sz="1800"/>
            </a:br>
            <a:br>
              <a:rPr lang="en-IN" sz="1800"/>
            </a:br>
            <a:br>
              <a:rPr lang="en-IN" sz="1800"/>
            </a:br>
            <a:r>
              <a:rPr b="1" lang="en-IN" sz="1800"/>
              <a:t>Answer:</a:t>
            </a:r>
            <a:r>
              <a:rPr lang="en-IN" sz="1800"/>
              <a:t> </a:t>
            </a:r>
            <a:r>
              <a:rPr b="1" lang="en-IN" sz="1800"/>
              <a:t>(C)</a:t>
            </a:r>
            <a:endParaRPr/>
          </a:p>
          <a:p>
            <a:pPr indent="0" lvl="0" marL="685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rPr b="1" lang="en-IN" sz="1800"/>
              <a:t>Inorder Traversal=UQXWPVZY</a:t>
            </a:r>
            <a:endParaRPr/>
          </a:p>
          <a:p>
            <a:pPr indent="0" lvl="0" marL="685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rPr b="1" lang="en-IN" sz="1800"/>
              <a:t>Is in sorted order , so ans=W</a:t>
            </a:r>
            <a:endParaRPr/>
          </a:p>
          <a:p>
            <a:pPr indent="0" lvl="0" marL="685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br>
              <a:rPr lang="en-IN" sz="1800"/>
            </a:br>
            <a:endParaRPr sz="1800"/>
          </a:p>
          <a:p>
            <a:pPr indent="0" lvl="0" marL="685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</p:txBody>
      </p:sp>
      <p:pic>
        <p:nvPicPr>
          <p:cNvPr id="1675" name="Google Shape;1675;p1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91880" y="2162175"/>
            <a:ext cx="2664295" cy="1914897"/>
          </a:xfrm>
          <a:prstGeom prst="rect">
            <a:avLst/>
          </a:prstGeom>
          <a:noFill/>
          <a:ln>
            <a:noFill/>
          </a:ln>
        </p:spPr>
      </p:pic>
      <p:sp>
        <p:nvSpPr>
          <p:cNvPr id="1676" name="Google Shape;1676;p131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1677" name="Google Shape;1677;p131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678" name="Google Shape;1678;p131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2" name="Shape 1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" name="Google Shape;1683;p132"/>
          <p:cNvSpPr txBox="1"/>
          <p:nvPr>
            <p:ph idx="1" type="body"/>
          </p:nvPr>
        </p:nvSpPr>
        <p:spPr>
          <a:xfrm>
            <a:off x="1043492" y="1124744"/>
            <a:ext cx="6777317" cy="50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368"/>
              <a:buNone/>
            </a:pPr>
            <a:r>
              <a:rPr lang="en-IN" sz="1800"/>
              <a:t>ISRO | ISRO CS 2009 | Question 26</a:t>
            </a:r>
            <a:endParaRPr/>
          </a:p>
          <a:p>
            <a:pPr indent="0" lvl="0" marL="685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rPr lang="en-IN" sz="1800"/>
              <a:t>The following numbers are inserted into an empty binary search tree in the given order: 10, 1, 3, 5, 15, 12, 16. What is the height of the binary search tree (the height is the maximum distance of a leaf node from the root)?</a:t>
            </a:r>
            <a:br>
              <a:rPr lang="en-IN" sz="1800"/>
            </a:br>
            <a:r>
              <a:rPr b="1" lang="en-IN" sz="1800"/>
              <a:t>(A)</a:t>
            </a:r>
            <a:r>
              <a:rPr lang="en-IN" sz="1800"/>
              <a:t> 2</a:t>
            </a:r>
            <a:br>
              <a:rPr lang="en-IN" sz="1800"/>
            </a:br>
            <a:r>
              <a:rPr b="1" lang="en-IN" sz="1800"/>
              <a:t>(B)</a:t>
            </a:r>
            <a:r>
              <a:rPr lang="en-IN" sz="1800"/>
              <a:t> 3</a:t>
            </a:r>
            <a:br>
              <a:rPr lang="en-IN" sz="1800"/>
            </a:br>
            <a:r>
              <a:rPr b="1" lang="en-IN" sz="1800"/>
              <a:t>(C)</a:t>
            </a:r>
            <a:r>
              <a:rPr lang="en-IN" sz="1800"/>
              <a:t> 4</a:t>
            </a:r>
            <a:br>
              <a:rPr lang="en-IN" sz="1800"/>
            </a:br>
            <a:r>
              <a:rPr b="1" lang="en-IN" sz="1800"/>
              <a:t>(D)</a:t>
            </a:r>
            <a:r>
              <a:rPr lang="en-IN" sz="1800"/>
              <a:t> 6</a:t>
            </a:r>
            <a:br>
              <a:rPr lang="en-IN" sz="1800"/>
            </a:br>
            <a:br>
              <a:rPr lang="en-IN" sz="1800"/>
            </a:br>
            <a:br>
              <a:rPr lang="en-IN" sz="1800"/>
            </a:br>
            <a:endParaRPr sz="1800"/>
          </a:p>
          <a:p>
            <a:pPr indent="0" lvl="0" marL="685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b="1" sz="1800"/>
          </a:p>
          <a:p>
            <a:pPr indent="0" lvl="0" marL="685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</p:txBody>
      </p:sp>
      <p:sp>
        <p:nvSpPr>
          <p:cNvPr id="1684" name="Google Shape;1684;p132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1685" name="Google Shape;1685;p132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686" name="Google Shape;1686;p132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0" name="Shape 1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1" name="Google Shape;1691;p133"/>
          <p:cNvSpPr txBox="1"/>
          <p:nvPr>
            <p:ph idx="1" type="body"/>
          </p:nvPr>
        </p:nvSpPr>
        <p:spPr>
          <a:xfrm>
            <a:off x="1043492" y="1124744"/>
            <a:ext cx="6777317" cy="50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ct val="76000"/>
              <a:buNone/>
            </a:pPr>
            <a:r>
              <a:rPr lang="en-IN" sz="1800"/>
              <a:t>ISRO | ISRO CS 2009 | Question 26</a:t>
            </a:r>
            <a:endParaRPr/>
          </a:p>
          <a:p>
            <a:pPr indent="0" lvl="0" marL="68580" rtl="0" algn="l">
              <a:spcBef>
                <a:spcPts val="333"/>
              </a:spcBef>
              <a:spcAft>
                <a:spcPts val="0"/>
              </a:spcAft>
              <a:buSzPct val="76000"/>
              <a:buNone/>
            </a:pPr>
            <a:r>
              <a:rPr lang="en-IN" sz="1800"/>
              <a:t>The following numbers are inserted into an empty binary search tree in the given order: 10, 1, 3, 5, 15, 12, 16. What is the height of the binary search tree (the height is the maximum distance of a leaf node from the root)?</a:t>
            </a:r>
            <a:br>
              <a:rPr lang="en-IN" sz="1800"/>
            </a:br>
            <a:r>
              <a:rPr b="1" lang="en-IN" sz="1800"/>
              <a:t>(A)</a:t>
            </a:r>
            <a:r>
              <a:rPr lang="en-IN" sz="1800"/>
              <a:t> 2</a:t>
            </a:r>
            <a:br>
              <a:rPr lang="en-IN" sz="1800"/>
            </a:br>
            <a:r>
              <a:rPr b="1" lang="en-IN" sz="1800"/>
              <a:t>(B)</a:t>
            </a:r>
            <a:r>
              <a:rPr lang="en-IN" sz="1800"/>
              <a:t> 3</a:t>
            </a:r>
            <a:br>
              <a:rPr lang="en-IN" sz="1800"/>
            </a:br>
            <a:r>
              <a:rPr b="1" lang="en-IN" sz="1800"/>
              <a:t>(C)</a:t>
            </a:r>
            <a:r>
              <a:rPr lang="en-IN" sz="1800"/>
              <a:t> 4</a:t>
            </a:r>
            <a:br>
              <a:rPr lang="en-IN" sz="1800"/>
            </a:br>
            <a:r>
              <a:rPr b="1" lang="en-IN" sz="1800"/>
              <a:t>(D)</a:t>
            </a:r>
            <a:r>
              <a:rPr lang="en-IN" sz="1800"/>
              <a:t> 6</a:t>
            </a:r>
            <a:br>
              <a:rPr lang="en-IN" sz="1800"/>
            </a:br>
            <a:br>
              <a:rPr lang="en-IN" sz="1800"/>
            </a:br>
            <a:br>
              <a:rPr lang="en-IN" sz="1800"/>
            </a:br>
            <a:endParaRPr sz="1800"/>
          </a:p>
          <a:p>
            <a:pPr indent="0" lvl="0" marL="68580" rtl="0" algn="l">
              <a:spcBef>
                <a:spcPts val="333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b="1" sz="1800"/>
          </a:p>
          <a:p>
            <a:pPr indent="0" lvl="0" marL="68580" rtl="0" algn="l">
              <a:spcBef>
                <a:spcPts val="333"/>
              </a:spcBef>
              <a:spcAft>
                <a:spcPts val="0"/>
              </a:spcAft>
              <a:buSzPct val="76000"/>
              <a:buNone/>
            </a:pPr>
            <a:r>
              <a:rPr b="1" lang="en-IN" sz="1800"/>
              <a:t>Answer:</a:t>
            </a:r>
            <a:r>
              <a:rPr lang="en-IN" sz="1800"/>
              <a:t> </a:t>
            </a:r>
            <a:r>
              <a:rPr b="1" lang="en-IN" sz="1800"/>
              <a:t>(B)</a:t>
            </a:r>
            <a:br>
              <a:rPr lang="en-IN" sz="1800"/>
            </a:br>
            <a:br>
              <a:rPr lang="en-IN" sz="1800"/>
            </a:br>
            <a:r>
              <a:rPr b="1" lang="en-IN" sz="1800"/>
              <a:t>Explanation:</a:t>
            </a:r>
            <a:endParaRPr sz="1800"/>
          </a:p>
          <a:p>
            <a:pPr indent="0" lvl="0" marL="68580" rtl="0" algn="l">
              <a:spcBef>
                <a:spcPts val="333"/>
              </a:spcBef>
              <a:spcAft>
                <a:spcPts val="0"/>
              </a:spcAft>
              <a:buSzPct val="76000"/>
              <a:buNone/>
            </a:pPr>
            <a:r>
              <a:rPr lang="en-IN" sz="1800"/>
              <a:t>So, height of the tree is 3, option (B) is correct.</a:t>
            </a:r>
            <a:endParaRPr/>
          </a:p>
          <a:p>
            <a:pPr indent="0" lvl="0" marL="68580" rtl="0" algn="l">
              <a:spcBef>
                <a:spcPts val="333"/>
              </a:spcBef>
              <a:spcAft>
                <a:spcPts val="0"/>
              </a:spcAft>
              <a:buSzPct val="76000"/>
              <a:buNone/>
            </a:pPr>
            <a:br>
              <a:rPr lang="en-IN" sz="1800"/>
            </a:br>
            <a:endParaRPr sz="1800"/>
          </a:p>
          <a:p>
            <a:pPr indent="0" lvl="0" marL="68580" rtl="0" algn="l">
              <a:spcBef>
                <a:spcPts val="333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sz="1800"/>
          </a:p>
        </p:txBody>
      </p:sp>
      <p:pic>
        <p:nvPicPr>
          <p:cNvPr id="1692" name="Google Shape;1692;p1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5936" y="2636912"/>
            <a:ext cx="3456384" cy="2232248"/>
          </a:xfrm>
          <a:prstGeom prst="rect">
            <a:avLst/>
          </a:prstGeom>
          <a:noFill/>
          <a:ln>
            <a:noFill/>
          </a:ln>
        </p:spPr>
      </p:pic>
      <p:sp>
        <p:nvSpPr>
          <p:cNvPr id="1693" name="Google Shape;1693;p133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1694" name="Google Shape;1694;p133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695" name="Google Shape;1695;p133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0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1" name="Google Shape;1701;p134"/>
          <p:cNvSpPr txBox="1"/>
          <p:nvPr>
            <p:ph idx="1" type="body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824"/>
              <a:buNone/>
            </a:pPr>
            <a:r>
              <a:rPr lang="en-IN"/>
              <a:t>struct node</a:t>
            </a:r>
            <a:endParaRPr/>
          </a:p>
          <a:p>
            <a:pPr indent="0" lvl="0" marL="68580" rtl="0" algn="l"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rPr lang="en-IN"/>
              <a:t>{</a:t>
            </a:r>
            <a:endParaRPr/>
          </a:p>
          <a:p>
            <a:pPr indent="0" lvl="0" marL="68580" rtl="0" algn="l"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rPr lang="en-IN"/>
              <a:t>	int num;</a:t>
            </a:r>
            <a:endParaRPr/>
          </a:p>
          <a:p>
            <a:pPr indent="0" lvl="0" marL="68580" rtl="0" algn="l"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rPr lang="en-IN"/>
              <a:t>	struct node *left;</a:t>
            </a:r>
            <a:endParaRPr/>
          </a:p>
          <a:p>
            <a:pPr indent="0" lvl="0" marL="68580" rtl="0" algn="l"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rPr lang="en-IN"/>
              <a:t>	struct node *right;</a:t>
            </a:r>
            <a:endParaRPr/>
          </a:p>
          <a:p>
            <a:pPr indent="0" lvl="0" marL="68580" rtl="0" algn="l"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rPr lang="en-IN"/>
              <a:t>};</a:t>
            </a:r>
            <a:endParaRPr/>
          </a:p>
          <a:p>
            <a:pPr indent="-158496" lvl="0" marL="342900" rtl="0" algn="l"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/>
          </a:p>
        </p:txBody>
      </p:sp>
      <p:sp>
        <p:nvSpPr>
          <p:cNvPr id="1702" name="Google Shape;1702;p134"/>
          <p:cNvSpPr txBox="1"/>
          <p:nvPr/>
        </p:nvSpPr>
        <p:spPr>
          <a:xfrm>
            <a:off x="827584" y="1340768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lang="en-IN" sz="28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Binary search Tree Implementation</a:t>
            </a:r>
            <a:endParaRPr sz="28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03" name="Google Shape;1703;p134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1704" name="Google Shape;1704;p134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705" name="Google Shape;1705;p134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9" name="Shape 1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" name="Google Shape;1710;p135"/>
          <p:cNvSpPr txBox="1"/>
          <p:nvPr>
            <p:ph idx="1" type="body"/>
          </p:nvPr>
        </p:nvSpPr>
        <p:spPr>
          <a:xfrm>
            <a:off x="957648" y="1484784"/>
            <a:ext cx="6777317" cy="42038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ct val="76000"/>
              <a:buNone/>
            </a:pPr>
            <a:r>
              <a:rPr b="1" lang="en-IN" sz="5600"/>
              <a:t>struct node *insert(struct node *tree,int digit)</a:t>
            </a:r>
            <a:endParaRPr b="1" sz="5600"/>
          </a:p>
          <a:p>
            <a:pPr indent="0" lvl="0" marL="68580" rtl="0" algn="l">
              <a:spcBef>
                <a:spcPts val="280"/>
              </a:spcBef>
              <a:spcAft>
                <a:spcPts val="0"/>
              </a:spcAft>
              <a:buSzPct val="76000"/>
              <a:buNone/>
            </a:pPr>
            <a:r>
              <a:rPr b="1" lang="en-IN" sz="5600"/>
              <a:t>{</a:t>
            </a:r>
            <a:endParaRPr b="1" sz="5600"/>
          </a:p>
          <a:p>
            <a:pPr indent="0" lvl="0" marL="68580" rtl="0" algn="l">
              <a:spcBef>
                <a:spcPts val="280"/>
              </a:spcBef>
              <a:spcAft>
                <a:spcPts val="0"/>
              </a:spcAft>
              <a:buSzPct val="76000"/>
              <a:buNone/>
            </a:pPr>
            <a:r>
              <a:rPr b="1" lang="en-IN" sz="5600"/>
              <a:t>	if(tree==NULL)</a:t>
            </a:r>
            <a:endParaRPr b="1" sz="5600"/>
          </a:p>
          <a:p>
            <a:pPr indent="0" lvl="0" marL="68580" rtl="0" algn="l">
              <a:spcBef>
                <a:spcPts val="280"/>
              </a:spcBef>
              <a:spcAft>
                <a:spcPts val="0"/>
              </a:spcAft>
              <a:buSzPct val="76000"/>
              <a:buNone/>
            </a:pPr>
            <a:r>
              <a:rPr b="1" lang="en-IN" sz="5600"/>
              <a:t>	  {</a:t>
            </a:r>
            <a:endParaRPr b="1" sz="5600"/>
          </a:p>
          <a:p>
            <a:pPr indent="0" lvl="0" marL="68580" rtl="0" algn="l">
              <a:spcBef>
                <a:spcPts val="280"/>
              </a:spcBef>
              <a:spcAft>
                <a:spcPts val="0"/>
              </a:spcAft>
              <a:buSzPct val="76000"/>
              <a:buNone/>
            </a:pPr>
            <a:r>
              <a:rPr b="1" lang="en-IN" sz="5600"/>
              <a:t>		tree=(struct node *)malloc(sizeof(struct node));</a:t>
            </a:r>
            <a:endParaRPr b="1" sz="5600"/>
          </a:p>
          <a:p>
            <a:pPr indent="0" lvl="0" marL="68580" rtl="0" algn="l">
              <a:spcBef>
                <a:spcPts val="280"/>
              </a:spcBef>
              <a:spcAft>
                <a:spcPts val="0"/>
              </a:spcAft>
              <a:buSzPct val="76000"/>
              <a:buNone/>
            </a:pPr>
            <a:r>
              <a:rPr b="1" lang="en-IN" sz="5600"/>
              <a:t>		tree-&gt;left=tree-&gt;right=NULL;</a:t>
            </a:r>
            <a:endParaRPr b="1" sz="5600"/>
          </a:p>
          <a:p>
            <a:pPr indent="0" lvl="0" marL="68580" rtl="0" algn="l">
              <a:spcBef>
                <a:spcPts val="280"/>
              </a:spcBef>
              <a:spcAft>
                <a:spcPts val="0"/>
              </a:spcAft>
              <a:buSzPct val="76000"/>
              <a:buNone/>
            </a:pPr>
            <a:r>
              <a:rPr b="1" lang="en-IN" sz="5600"/>
              <a:t>		tree-&gt;num=digit;</a:t>
            </a:r>
            <a:endParaRPr b="1" sz="5600"/>
          </a:p>
          <a:p>
            <a:pPr indent="0" lvl="0" marL="68580" rtl="0" algn="l">
              <a:spcBef>
                <a:spcPts val="280"/>
              </a:spcBef>
              <a:spcAft>
                <a:spcPts val="0"/>
              </a:spcAft>
              <a:buSzPct val="76000"/>
              <a:buNone/>
            </a:pPr>
            <a:r>
              <a:rPr b="1" lang="en-IN" sz="5600"/>
              <a:t>	  }</a:t>
            </a:r>
            <a:endParaRPr b="1" sz="5600"/>
          </a:p>
          <a:p>
            <a:pPr indent="0" lvl="0" marL="68580" rtl="0" algn="l">
              <a:spcBef>
                <a:spcPts val="280"/>
              </a:spcBef>
              <a:spcAft>
                <a:spcPts val="0"/>
              </a:spcAft>
              <a:buSzPct val="76000"/>
              <a:buNone/>
            </a:pPr>
            <a:r>
              <a:rPr b="1" lang="en-IN" sz="5600"/>
              <a:t>     else</a:t>
            </a:r>
            <a:endParaRPr b="1" sz="5600"/>
          </a:p>
          <a:p>
            <a:pPr indent="0" lvl="0" marL="68580" rtl="0" algn="l">
              <a:spcBef>
                <a:spcPts val="280"/>
              </a:spcBef>
              <a:spcAft>
                <a:spcPts val="0"/>
              </a:spcAft>
              <a:buSzPct val="76000"/>
              <a:buNone/>
            </a:pPr>
            <a:r>
              <a:rPr b="1" lang="en-IN" sz="5600"/>
              <a:t>	  if(digit&lt;tree-&gt;num)</a:t>
            </a:r>
            <a:endParaRPr b="1" sz="5600"/>
          </a:p>
          <a:p>
            <a:pPr indent="0" lvl="0" marL="68580" rtl="0" algn="l">
              <a:spcBef>
                <a:spcPts val="280"/>
              </a:spcBef>
              <a:spcAft>
                <a:spcPts val="0"/>
              </a:spcAft>
              <a:buSzPct val="76000"/>
              <a:buNone/>
            </a:pPr>
            <a:r>
              <a:rPr b="1" lang="en-IN" sz="5600"/>
              <a:t>		tree-&gt;left=insert(tree-&gt;left,digit);</a:t>
            </a:r>
            <a:endParaRPr b="1" sz="5600"/>
          </a:p>
          <a:p>
            <a:pPr indent="0" lvl="0" marL="68580" rtl="0" algn="l">
              <a:spcBef>
                <a:spcPts val="280"/>
              </a:spcBef>
              <a:spcAft>
                <a:spcPts val="0"/>
              </a:spcAft>
              <a:buSzPct val="76000"/>
              <a:buNone/>
            </a:pPr>
            <a:r>
              <a:rPr b="1" lang="en-IN" sz="5600"/>
              <a:t>     else</a:t>
            </a:r>
            <a:endParaRPr b="1" sz="5600"/>
          </a:p>
          <a:p>
            <a:pPr indent="0" lvl="0" marL="68580" rtl="0" algn="l">
              <a:spcBef>
                <a:spcPts val="280"/>
              </a:spcBef>
              <a:spcAft>
                <a:spcPts val="0"/>
              </a:spcAft>
              <a:buSzPct val="76000"/>
              <a:buNone/>
            </a:pPr>
            <a:r>
              <a:rPr b="1" lang="en-IN" sz="5600"/>
              <a:t>	  if(digit&gt;tree-&gt;num)</a:t>
            </a:r>
            <a:endParaRPr b="1" sz="5600"/>
          </a:p>
          <a:p>
            <a:pPr indent="0" lvl="0" marL="68580" rtl="0" algn="l">
              <a:spcBef>
                <a:spcPts val="280"/>
              </a:spcBef>
              <a:spcAft>
                <a:spcPts val="0"/>
              </a:spcAft>
              <a:buSzPct val="76000"/>
              <a:buNone/>
            </a:pPr>
            <a:r>
              <a:rPr b="1" lang="en-IN" sz="5600"/>
              <a:t>		tree-&gt;right=insert(tree-&gt;right,digit);</a:t>
            </a:r>
            <a:endParaRPr b="1" sz="5600"/>
          </a:p>
          <a:p>
            <a:pPr indent="0" lvl="0" marL="68580" rtl="0" algn="l">
              <a:spcBef>
                <a:spcPts val="280"/>
              </a:spcBef>
              <a:spcAft>
                <a:spcPts val="0"/>
              </a:spcAft>
              <a:buSzPct val="76000"/>
              <a:buNone/>
            </a:pPr>
            <a:r>
              <a:rPr b="1" lang="en-IN" sz="5600"/>
              <a:t>     else if(digit==tree-&gt;num)</a:t>
            </a:r>
            <a:endParaRPr b="1" sz="5600"/>
          </a:p>
          <a:p>
            <a:pPr indent="0" lvl="0" marL="68580" rtl="0" algn="l">
              <a:spcBef>
                <a:spcPts val="280"/>
              </a:spcBef>
              <a:spcAft>
                <a:spcPts val="0"/>
              </a:spcAft>
              <a:buSzPct val="76000"/>
              <a:buNone/>
            </a:pPr>
            <a:r>
              <a:rPr b="1" lang="en-IN" sz="5600"/>
              <a:t>	    {</a:t>
            </a:r>
            <a:endParaRPr b="1" sz="5600"/>
          </a:p>
          <a:p>
            <a:pPr indent="0" lvl="0" marL="68580" rtl="0" algn="l">
              <a:spcBef>
                <a:spcPts val="280"/>
              </a:spcBef>
              <a:spcAft>
                <a:spcPts val="0"/>
              </a:spcAft>
              <a:buSzPct val="76000"/>
              <a:buNone/>
            </a:pPr>
            <a:r>
              <a:rPr b="1" lang="en-IN" sz="5600"/>
              <a:t>	       printf("Duplicate node:program exited");</a:t>
            </a:r>
            <a:endParaRPr b="1" sz="5600"/>
          </a:p>
          <a:p>
            <a:pPr indent="0" lvl="0" marL="68580" rtl="0" algn="l">
              <a:spcBef>
                <a:spcPts val="280"/>
              </a:spcBef>
              <a:spcAft>
                <a:spcPts val="0"/>
              </a:spcAft>
              <a:buSzPct val="76000"/>
              <a:buNone/>
            </a:pPr>
            <a:r>
              <a:rPr b="1" lang="en-IN" sz="5600"/>
              <a:t>	       exit(0);</a:t>
            </a:r>
            <a:endParaRPr b="1" sz="5600"/>
          </a:p>
          <a:p>
            <a:pPr indent="0" lvl="0" marL="68580" rtl="0" algn="l">
              <a:spcBef>
                <a:spcPts val="280"/>
              </a:spcBef>
              <a:spcAft>
                <a:spcPts val="0"/>
              </a:spcAft>
              <a:buSzPct val="76000"/>
              <a:buNone/>
            </a:pPr>
            <a:r>
              <a:rPr b="1" lang="en-IN" sz="5600"/>
              <a:t>	    }</a:t>
            </a:r>
            <a:endParaRPr b="1" sz="5600"/>
          </a:p>
          <a:p>
            <a:pPr indent="0" lvl="0" marL="68580" rtl="0" algn="l">
              <a:spcBef>
                <a:spcPts val="280"/>
              </a:spcBef>
              <a:spcAft>
                <a:spcPts val="0"/>
              </a:spcAft>
              <a:buSzPct val="76000"/>
              <a:buNone/>
            </a:pPr>
            <a:r>
              <a:rPr b="1" lang="en-IN" sz="5600"/>
              <a:t>	    return(tree);</a:t>
            </a:r>
            <a:endParaRPr b="1" sz="5600"/>
          </a:p>
          <a:p>
            <a:pPr indent="0" lvl="0" marL="68580" rtl="0" algn="l">
              <a:spcBef>
                <a:spcPts val="280"/>
              </a:spcBef>
              <a:spcAft>
                <a:spcPts val="0"/>
              </a:spcAft>
              <a:buSzPct val="76000"/>
              <a:buNone/>
            </a:pPr>
            <a:r>
              <a:rPr b="1" lang="en-IN" sz="5600"/>
              <a:t>}</a:t>
            </a:r>
            <a:endParaRPr b="1" sz="5600"/>
          </a:p>
          <a:p>
            <a:pPr indent="-245364" lvl="0" marL="342900" rtl="0" algn="l">
              <a:spcBef>
                <a:spcPts val="12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b="1"/>
          </a:p>
        </p:txBody>
      </p:sp>
      <p:sp>
        <p:nvSpPr>
          <p:cNvPr id="1711" name="Google Shape;1711;p135"/>
          <p:cNvSpPr txBox="1"/>
          <p:nvPr/>
        </p:nvSpPr>
        <p:spPr>
          <a:xfrm>
            <a:off x="683568" y="548680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lang="en-IN" sz="28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Insertion in Binary Search Tree</a:t>
            </a:r>
            <a:endParaRPr sz="28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12" name="Google Shape;1712;p135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1713" name="Google Shape;1713;p135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714" name="Google Shape;1714;p135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9" name="Shape 1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" name="Google Shape;1720;p136"/>
          <p:cNvSpPr txBox="1"/>
          <p:nvPr>
            <p:ph idx="1" type="body"/>
          </p:nvPr>
        </p:nvSpPr>
        <p:spPr>
          <a:xfrm>
            <a:off x="1043492" y="1628800"/>
            <a:ext cx="6777317" cy="42038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32500" lnSpcReduction="20000"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ct val="76000"/>
              <a:buNone/>
            </a:pPr>
            <a:r>
              <a:rPr lang="en-IN" sz="5600"/>
              <a:t>void search(struct node *tree,int digit)</a:t>
            </a:r>
            <a:endParaRPr/>
          </a:p>
          <a:p>
            <a:pPr indent="0" lvl="0" marL="68580" rtl="0" algn="l">
              <a:spcBef>
                <a:spcPts val="364"/>
              </a:spcBef>
              <a:spcAft>
                <a:spcPts val="0"/>
              </a:spcAft>
              <a:buSzPct val="76000"/>
              <a:buNone/>
            </a:pPr>
            <a:r>
              <a:rPr lang="en-IN" sz="5600"/>
              <a:t>{</a:t>
            </a:r>
            <a:endParaRPr/>
          </a:p>
          <a:p>
            <a:pPr indent="0" lvl="0" marL="68580" rtl="0" algn="l">
              <a:spcBef>
                <a:spcPts val="364"/>
              </a:spcBef>
              <a:spcAft>
                <a:spcPts val="0"/>
              </a:spcAft>
              <a:buSzPct val="76000"/>
              <a:buNone/>
            </a:pPr>
            <a:r>
              <a:rPr lang="en-IN" sz="5600"/>
              <a:t>	if(tree==NULL)</a:t>
            </a:r>
            <a:endParaRPr/>
          </a:p>
          <a:p>
            <a:pPr indent="0" lvl="0" marL="68580" rtl="0" algn="l">
              <a:spcBef>
                <a:spcPts val="364"/>
              </a:spcBef>
              <a:spcAft>
                <a:spcPts val="0"/>
              </a:spcAft>
              <a:buSzPct val="76000"/>
              <a:buNone/>
            </a:pPr>
            <a:r>
              <a:rPr lang="en-IN" sz="5600"/>
              <a:t>	   printf("The number does not exits\n");</a:t>
            </a:r>
            <a:endParaRPr/>
          </a:p>
          <a:p>
            <a:pPr indent="0" lvl="0" marL="68580" rtl="0" algn="l">
              <a:spcBef>
                <a:spcPts val="364"/>
              </a:spcBef>
              <a:spcAft>
                <a:spcPts val="0"/>
              </a:spcAft>
              <a:buSzPct val="76000"/>
              <a:buNone/>
            </a:pPr>
            <a:r>
              <a:rPr lang="en-IN" sz="5600"/>
              <a:t>   else</a:t>
            </a:r>
            <a:endParaRPr/>
          </a:p>
          <a:p>
            <a:pPr indent="0" lvl="0" marL="68580" rtl="0" algn="l">
              <a:spcBef>
                <a:spcPts val="364"/>
              </a:spcBef>
              <a:spcAft>
                <a:spcPts val="0"/>
              </a:spcAft>
              <a:buSzPct val="76000"/>
              <a:buNone/>
            </a:pPr>
            <a:r>
              <a:rPr lang="en-IN" sz="5600"/>
              <a:t>	if(digit==tree-&gt;num)</a:t>
            </a:r>
            <a:endParaRPr/>
          </a:p>
          <a:p>
            <a:pPr indent="0" lvl="0" marL="68580" rtl="0" algn="l">
              <a:spcBef>
                <a:spcPts val="364"/>
              </a:spcBef>
              <a:spcAft>
                <a:spcPts val="0"/>
              </a:spcAft>
              <a:buSzPct val="76000"/>
              <a:buNone/>
            </a:pPr>
            <a:r>
              <a:rPr lang="en-IN" sz="5600"/>
              <a:t>	printf("Number=%d\n" ,digit);</a:t>
            </a:r>
            <a:endParaRPr/>
          </a:p>
          <a:p>
            <a:pPr indent="0" lvl="0" marL="68580" rtl="0" algn="l">
              <a:spcBef>
                <a:spcPts val="364"/>
              </a:spcBef>
              <a:spcAft>
                <a:spcPts val="0"/>
              </a:spcAft>
              <a:buSzPct val="76000"/>
              <a:buNone/>
            </a:pPr>
            <a:r>
              <a:rPr lang="en-IN" sz="5600"/>
              <a:t>   else</a:t>
            </a:r>
            <a:endParaRPr/>
          </a:p>
          <a:p>
            <a:pPr indent="0" lvl="0" marL="68580" rtl="0" algn="l">
              <a:spcBef>
                <a:spcPts val="364"/>
              </a:spcBef>
              <a:spcAft>
                <a:spcPts val="0"/>
              </a:spcAft>
              <a:buSzPct val="76000"/>
              <a:buNone/>
            </a:pPr>
            <a:r>
              <a:rPr lang="en-IN" sz="5600"/>
              <a:t>	if(digit&lt;tree-&gt;num)</a:t>
            </a:r>
            <a:endParaRPr/>
          </a:p>
          <a:p>
            <a:pPr indent="0" lvl="0" marL="68580" rtl="0" algn="l">
              <a:spcBef>
                <a:spcPts val="364"/>
              </a:spcBef>
              <a:spcAft>
                <a:spcPts val="0"/>
              </a:spcAft>
              <a:buSzPct val="76000"/>
              <a:buNone/>
            </a:pPr>
            <a:r>
              <a:rPr lang="en-IN" sz="5600"/>
              <a:t>	   search(tree-&gt;left,digit);</a:t>
            </a:r>
            <a:endParaRPr/>
          </a:p>
          <a:p>
            <a:pPr indent="0" lvl="0" marL="68580" rtl="0" algn="l">
              <a:spcBef>
                <a:spcPts val="364"/>
              </a:spcBef>
              <a:spcAft>
                <a:spcPts val="0"/>
              </a:spcAft>
              <a:buSzPct val="76000"/>
              <a:buNone/>
            </a:pPr>
            <a:r>
              <a:rPr lang="en-IN" sz="5600"/>
              <a:t>   else</a:t>
            </a:r>
            <a:endParaRPr/>
          </a:p>
          <a:p>
            <a:pPr indent="0" lvl="0" marL="68580" rtl="0" algn="l">
              <a:spcBef>
                <a:spcPts val="364"/>
              </a:spcBef>
              <a:spcAft>
                <a:spcPts val="0"/>
              </a:spcAft>
              <a:buSzPct val="76000"/>
              <a:buNone/>
            </a:pPr>
            <a:r>
              <a:rPr lang="en-IN" sz="5600"/>
              <a:t>	  search(tree-&gt;right,digit);</a:t>
            </a:r>
            <a:endParaRPr/>
          </a:p>
          <a:p>
            <a:pPr indent="0" lvl="0" marL="68580" rtl="0" algn="l">
              <a:spcBef>
                <a:spcPts val="364"/>
              </a:spcBef>
              <a:spcAft>
                <a:spcPts val="0"/>
              </a:spcAft>
              <a:buSzPct val="76000"/>
              <a:buNone/>
            </a:pPr>
            <a:r>
              <a:rPr lang="en-IN" sz="5600"/>
              <a:t>}</a:t>
            </a:r>
            <a:endParaRPr/>
          </a:p>
          <a:p>
            <a:pPr indent="-236677" lvl="0" marL="342900" rtl="0" algn="l">
              <a:spcBef>
                <a:spcPts val="156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/>
          </a:p>
        </p:txBody>
      </p:sp>
      <p:sp>
        <p:nvSpPr>
          <p:cNvPr id="1721" name="Google Shape;1721;p136"/>
          <p:cNvSpPr txBox="1"/>
          <p:nvPr/>
        </p:nvSpPr>
        <p:spPr>
          <a:xfrm>
            <a:off x="683568" y="548680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lang="en-IN" sz="28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Search in Binary Search Tree</a:t>
            </a:r>
            <a:endParaRPr sz="28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22" name="Google Shape;1722;p136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25-09-2023</a:t>
            </a:r>
            <a:endParaRPr/>
          </a:p>
        </p:txBody>
      </p:sp>
      <p:sp>
        <p:nvSpPr>
          <p:cNvPr id="1723" name="Google Shape;1723;p136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724" name="Google Shape;1724;p136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ustin">
  <a:themeElements>
    <a:clrScheme name="Austin">
      <a:dk1>
        <a:srgbClr val="000000"/>
      </a:dk1>
      <a:lt1>
        <a:srgbClr val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2020-07-24T09:30:23Z</dcterms:created>
  <dc:creator>Admin</dc:creator>
</cp:coreProperties>
</file>