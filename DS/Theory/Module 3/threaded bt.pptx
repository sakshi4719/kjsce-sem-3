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y="6858000" cx="9144000"/>
  <p:notesSz cx="6858000" cy="9144000"/>
  <p:embeddedFontLst>
    <p:embeddedFont>
      <p:font typeface="Century Gothic"/>
      <p:regular r:id="rId94"/>
      <p:bold r:id="rId95"/>
      <p:italic r:id="rId96"/>
      <p:boldItalic r:id="rId9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8" roundtripDataSignature="AMtx7miz1LwOtUvpNAEYnieM9vsfyJ03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CenturyGothic-bold.fntdata"/><Relationship Id="rId94" Type="http://schemas.openxmlformats.org/officeDocument/2006/relationships/font" Target="fonts/CenturyGothic-regular.fntdata"/><Relationship Id="rId97" Type="http://schemas.openxmlformats.org/officeDocument/2006/relationships/font" Target="fonts/CenturyGothic-boldItalic.fntdata"/><Relationship Id="rId96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8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90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59" name="Google Shape;59;p90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60" name="Google Shape;60;p90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61" name="Google Shape;61;p9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2" name="Google Shape;62;p9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3" name="Google Shape;63;p9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4" name="Google Shape;64;p90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65" name="Google Shape;65;p9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6" name="Google Shape;66;p9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67" name="Google Shape;67;p9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68" name="Google Shape;68;p90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69" name="Google Shape;69;p9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0" name="Google Shape;70;p9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71" name="Google Shape;71;p9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72" name="Google Shape;72;p90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3" name="Google Shape;73;p90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74" name="Google Shape;74;p90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75" name="Google Shape;75;p90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90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90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90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90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9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9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90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9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90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90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90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90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9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90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90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90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90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9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90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90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9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97" name="Google Shape;97;p90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8" name="Google Shape;98;p90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90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0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424242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16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1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368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21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06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90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" name="Google Shape;103;p90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0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5" name="Google Shape;105;p9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09" name="Google Shape;109;p9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2"/>
          <p:cNvSpPr txBox="1"/>
          <p:nvPr>
            <p:ph type="title"/>
          </p:nvPr>
        </p:nvSpPr>
        <p:spPr>
          <a:xfrm>
            <a:off x="1258645" y="2900829"/>
            <a:ext cx="6637468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92"/>
          <p:cNvSpPr txBox="1"/>
          <p:nvPr>
            <p:ph idx="1" type="body"/>
          </p:nvPr>
        </p:nvSpPr>
        <p:spPr>
          <a:xfrm>
            <a:off x="1258645" y="4267200"/>
            <a:ext cx="6637467" cy="152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64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9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9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9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9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3" name="Google Shape;123;p93"/>
          <p:cNvSpPr txBox="1"/>
          <p:nvPr>
            <p:ph idx="1" type="body"/>
          </p:nvPr>
        </p:nvSpPr>
        <p:spPr>
          <a:xfrm>
            <a:off x="1042416" y="2313432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124" name="Google Shape;124;p93"/>
          <p:cNvSpPr txBox="1"/>
          <p:nvPr>
            <p:ph idx="2" type="body"/>
          </p:nvPr>
        </p:nvSpPr>
        <p:spPr>
          <a:xfrm>
            <a:off x="4645152" y="2313431"/>
            <a:ext cx="3419856" cy="3493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4"/>
          <p:cNvSpPr txBox="1"/>
          <p:nvPr>
            <p:ph idx="1" type="body"/>
          </p:nvPr>
        </p:nvSpPr>
        <p:spPr>
          <a:xfrm>
            <a:off x="1412111" y="2316009"/>
            <a:ext cx="305714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28" name="Google Shape;128;p94"/>
          <p:cNvSpPr txBox="1"/>
          <p:nvPr>
            <p:ph idx="2" type="body"/>
          </p:nvPr>
        </p:nvSpPr>
        <p:spPr>
          <a:xfrm>
            <a:off x="1041721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29" name="Google Shape;129;p94"/>
          <p:cNvSpPr txBox="1"/>
          <p:nvPr>
            <p:ph idx="3" type="body"/>
          </p:nvPr>
        </p:nvSpPr>
        <p:spPr>
          <a:xfrm>
            <a:off x="5011837" y="2316010"/>
            <a:ext cx="30557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16"/>
              <a:buNone/>
              <a:defRPr b="1" sz="1600"/>
            </a:lvl9pPr>
          </a:lstStyle>
          <a:p/>
        </p:txBody>
      </p:sp>
      <p:sp>
        <p:nvSpPr>
          <p:cNvPr id="130" name="Google Shape;130;p94"/>
          <p:cNvSpPr txBox="1"/>
          <p:nvPr>
            <p:ph idx="4" type="body"/>
          </p:nvPr>
        </p:nvSpPr>
        <p:spPr>
          <a:xfrm>
            <a:off x="4645152" y="2974694"/>
            <a:ext cx="3419856" cy="28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25119" lvl="1" marL="914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3pPr>
            <a:lvl4pPr indent="-305816" lvl="3" marL="1828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05816" lvl="5" marL="27432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6pPr>
            <a:lvl7pPr indent="-305816" lvl="6" marL="32004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7pPr>
            <a:lvl8pPr indent="-305815" lvl="7" marL="36576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8pPr>
            <a:lvl9pPr indent="-305815" lvl="8" marL="41148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9pPr>
          </a:lstStyle>
          <a:p/>
        </p:txBody>
      </p:sp>
      <p:sp>
        <p:nvSpPr>
          <p:cNvPr id="131" name="Google Shape;131;p9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9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9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9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9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7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45" name="Google Shape;145;p97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46" name="Google Shape;146;p97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47" name="Google Shape;147;p9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8" name="Google Shape;148;p9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9" name="Google Shape;149;p9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0" name="Google Shape;150;p97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51" name="Google Shape;151;p9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2" name="Google Shape;152;p9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3" name="Google Shape;153;p9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54" name="Google Shape;154;p97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55" name="Google Shape;155;p9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6" name="Google Shape;156;p9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7" name="Google Shape;157;p97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158" name="Google Shape;158;p9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59" name="Google Shape;159;p97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60" name="Google Shape;160;p97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161" name="Google Shape;161;p97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97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97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97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97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97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97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97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97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97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9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97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97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9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97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9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7" name="Google Shape;177;p97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8" name="Google Shape;178;p97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9" name="Google Shape;179;p9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0" name="Google Shape;180;p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1" name="Google Shape;181;p9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2" name="Google Shape;182;p97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83" name="Google Shape;183;p97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97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9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9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7" name="Google Shape;187;p9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97"/>
          <p:cNvSpPr txBox="1"/>
          <p:nvPr>
            <p:ph idx="1" type="body"/>
          </p:nvPr>
        </p:nvSpPr>
        <p:spPr>
          <a:xfrm>
            <a:off x="1145894" y="856527"/>
            <a:ext cx="3090440" cy="5150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algn="l">
              <a:spcBef>
                <a:spcPts val="480"/>
              </a:spcBef>
              <a:spcAft>
                <a:spcPts val="0"/>
              </a:spcAft>
              <a:buSzPts val="1824"/>
              <a:buChar char="🞇"/>
              <a:defRPr sz="2400"/>
            </a:lvl1pPr>
            <a:lvl2pPr indent="-334772" lvl="1" marL="914400" algn="l">
              <a:spcBef>
                <a:spcPts val="440"/>
              </a:spcBef>
              <a:spcAft>
                <a:spcPts val="0"/>
              </a:spcAft>
              <a:buSzPts val="1672"/>
              <a:buChar char="🞇"/>
              <a:defRPr sz="2200"/>
            </a:lvl2pPr>
            <a:lvl3pPr indent="-325119" lvl="2" marL="1371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 sz="1800"/>
            </a:lvl4pPr>
            <a:lvl5pPr indent="-305816" lvl="4" marL="2286000" algn="l">
              <a:spcBef>
                <a:spcPts val="320"/>
              </a:spcBef>
              <a:spcAft>
                <a:spcPts val="0"/>
              </a:spcAft>
              <a:buSzPts val="1216"/>
              <a:buChar char="🞇"/>
              <a:defRPr sz="1600"/>
            </a:lvl5pPr>
            <a:lvl6pPr indent="-325120" lvl="5" marL="27432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6pPr>
            <a:lvl7pPr indent="-325120" lvl="6" marL="32004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7pPr>
            <a:lvl8pPr indent="-325120" lvl="7" marL="36576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8pPr>
            <a:lvl9pPr indent="-325120" lvl="8" marL="4114800" algn="l">
              <a:spcBef>
                <a:spcPts val="400"/>
              </a:spcBef>
              <a:spcAft>
                <a:spcPts val="0"/>
              </a:spcAft>
              <a:buSzPts val="1520"/>
              <a:buChar char="🞇"/>
              <a:defRPr sz="2000"/>
            </a:lvl9pPr>
          </a:lstStyle>
          <a:p/>
        </p:txBody>
      </p:sp>
      <p:sp>
        <p:nvSpPr>
          <p:cNvPr id="189" name="Google Shape;189;p97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97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97"/>
          <p:cNvSpPr txBox="1"/>
          <p:nvPr>
            <p:ph type="title"/>
          </p:nvPr>
        </p:nvSpPr>
        <p:spPr>
          <a:xfrm>
            <a:off x="4739833" y="2657434"/>
            <a:ext cx="3304572" cy="14631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97"/>
          <p:cNvSpPr txBox="1"/>
          <p:nvPr>
            <p:ph idx="2" type="body"/>
          </p:nvPr>
        </p:nvSpPr>
        <p:spPr>
          <a:xfrm>
            <a:off x="4736592" y="4136994"/>
            <a:ext cx="3298784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98"/>
          <p:cNvGrpSpPr/>
          <p:nvPr/>
        </p:nvGrpSpPr>
        <p:grpSpPr>
          <a:xfrm>
            <a:off x="-644959" y="0"/>
            <a:ext cx="10458653" cy="7117071"/>
            <a:chOff x="-644959" y="0"/>
            <a:chExt cx="10458653" cy="7117071"/>
          </a:xfrm>
        </p:grpSpPr>
        <p:grpSp>
          <p:nvGrpSpPr>
            <p:cNvPr id="195" name="Google Shape;195;p98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96" name="Google Shape;196;p98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97" name="Google Shape;197;p9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8" name="Google Shape;198;p9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9" name="Google Shape;199;p9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0" name="Google Shape;200;p98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201" name="Google Shape;201;p9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2" name="Google Shape;202;p9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3" name="Google Shape;203;p9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4" name="Google Shape;204;p98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05" name="Google Shape;205;p98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6" name="Google Shape;206;p9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07" name="Google Shape;207;p9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08" name="Google Shape;208;p98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9" name="Google Shape;209;p9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98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1" name="Google Shape;211;p98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98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98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98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98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98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98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98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9" name="Google Shape;219;p98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0" name="Google Shape;220;p98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1" name="Google Shape;221;p9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2" name="Google Shape;222;p9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3" name="Google Shape;223;p98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4" name="Google Shape;224;p98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5" name="Google Shape;225;p9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6" name="Google Shape;226;p98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9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98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98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9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9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33" name="Google Shape;233;p98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98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98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E1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9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98"/>
          <p:cNvSpPr txBox="1"/>
          <p:nvPr>
            <p:ph type="title"/>
          </p:nvPr>
        </p:nvSpPr>
        <p:spPr>
          <a:xfrm>
            <a:off x="4734424" y="2660904"/>
            <a:ext cx="330098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98"/>
          <p:cNvSpPr/>
          <p:nvPr>
            <p:ph idx="2" type="pic"/>
          </p:nvPr>
        </p:nvSpPr>
        <p:spPr>
          <a:xfrm>
            <a:off x="1005208" y="693795"/>
            <a:ext cx="3359623" cy="5468112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8"/>
          <p:cNvSpPr txBox="1"/>
          <p:nvPr>
            <p:ph idx="1" type="body"/>
          </p:nvPr>
        </p:nvSpPr>
        <p:spPr>
          <a:xfrm>
            <a:off x="4734630" y="4133088"/>
            <a:ext cx="3300573" cy="151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424242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84"/>
              <a:buNone/>
              <a:defRPr sz="900"/>
            </a:lvl9pPr>
          </a:lstStyle>
          <a:p/>
        </p:txBody>
      </p:sp>
      <p:sp>
        <p:nvSpPr>
          <p:cNvPr id="240" name="Google Shape;240;p9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98"/>
          <p:cNvSpPr txBox="1"/>
          <p:nvPr>
            <p:ph idx="11" type="ftr"/>
          </p:nvPr>
        </p:nvSpPr>
        <p:spPr>
          <a:xfrm>
            <a:off x="4641448" y="5724835"/>
            <a:ext cx="3493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9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99"/>
          <p:cNvSpPr txBox="1"/>
          <p:nvPr>
            <p:ph idx="1" type="body"/>
          </p:nvPr>
        </p:nvSpPr>
        <p:spPr>
          <a:xfrm rot="5400000">
            <a:off x="2677662" y="689482"/>
            <a:ext cx="3508977" cy="677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46" name="Google Shape;246;p9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9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9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0"/>
          <p:cNvSpPr txBox="1"/>
          <p:nvPr>
            <p:ph type="title"/>
          </p:nvPr>
        </p:nvSpPr>
        <p:spPr>
          <a:xfrm rot="5400000">
            <a:off x="4981455" y="2678093"/>
            <a:ext cx="4780344" cy="14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00"/>
          <p:cNvSpPr txBox="1"/>
          <p:nvPr>
            <p:ph idx="1" type="body"/>
          </p:nvPr>
        </p:nvSpPr>
        <p:spPr>
          <a:xfrm rot="5400000">
            <a:off x="1374976" y="708467"/>
            <a:ext cx="4780344" cy="542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1pPr>
            <a:lvl2pPr indent="-315468" lvl="1" marL="914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2pPr>
            <a:lvl3pPr indent="-315467" lvl="2" marL="1371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3pPr>
            <a:lvl4pPr indent="-315467" lvl="3" marL="1828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4pPr>
            <a:lvl5pPr indent="-315467" lvl="4" marL="22860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5pPr>
            <a:lvl6pPr indent="-315467" lvl="5" marL="27432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6pPr>
            <a:lvl7pPr indent="-315467" lvl="6" marL="32004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7pPr>
            <a:lvl8pPr indent="-315467" lvl="7" marL="36576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8pPr>
            <a:lvl9pPr indent="-315467" lvl="8" marL="4114800" algn="l">
              <a:spcBef>
                <a:spcPts val="360"/>
              </a:spcBef>
              <a:spcAft>
                <a:spcPts val="0"/>
              </a:spcAft>
              <a:buSzPts val="1368"/>
              <a:buChar char="🞇"/>
              <a:defRPr/>
            </a:lvl9pPr>
          </a:lstStyle>
          <a:p/>
        </p:txBody>
      </p:sp>
      <p:sp>
        <p:nvSpPr>
          <p:cNvPr id="252" name="Google Shape;252;p10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0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0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1F15E"/>
            </a:gs>
            <a:gs pos="62000">
              <a:srgbClr val="90BA3F"/>
            </a:gs>
            <a:gs pos="100000">
              <a:srgbClr val="7FA03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9"/>
          <p:cNvGrpSpPr/>
          <p:nvPr/>
        </p:nvGrpSpPr>
        <p:grpSpPr>
          <a:xfrm>
            <a:off x="-567355" y="0"/>
            <a:ext cx="10458653" cy="7117071"/>
            <a:chOff x="-644959" y="0"/>
            <a:chExt cx="10458653" cy="7117071"/>
          </a:xfrm>
        </p:grpSpPr>
        <p:grpSp>
          <p:nvGrpSpPr>
            <p:cNvPr id="11" name="Google Shape;11;p8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2" name="Google Shape;12;p89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3" name="Google Shape;13;p8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4" name="Google Shape;14;p8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5" name="Google Shape;15;p8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16" name="Google Shape;16;p89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7" name="Google Shape;17;p8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8" name="Google Shape;18;p8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19" name="Google Shape;19;p8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grpSp>
            <p:nvGrpSpPr>
              <p:cNvPr id="20" name="Google Shape;20;p8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21" name="Google Shape;21;p8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2" name="Google Shape;22;p89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  <p:sp>
              <p:nvSpPr>
                <p:cNvPr id="23" name="Google Shape;23;p8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lt1">
                    <a:alpha val="9803"/>
                  </a:scheme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entury Gothic"/>
                    <a:ea typeface="Century Gothic"/>
                    <a:cs typeface="Century Gothic"/>
                    <a:sym typeface="Century Gothic"/>
                  </a:endParaRPr>
                </a:p>
              </p:txBody>
            </p:sp>
          </p:grpSp>
          <p:sp>
            <p:nvSpPr>
              <p:cNvPr id="24" name="Google Shape;24;p89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5" name="Google Shape;25;p89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6" name="Google Shape;26;p8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lt1">
                  <a:alpha val="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7" name="Google Shape;27;p89"/>
            <p:cNvSpPr/>
            <p:nvPr/>
          </p:nvSpPr>
          <p:spPr>
            <a:xfrm>
              <a:off x="-11875" y="5035138"/>
              <a:ext cx="9144000" cy="1175655"/>
            </a:xfrm>
            <a:custGeom>
              <a:rect b="b" l="l" r="r" t="t"/>
              <a:pathLst>
                <a:path extrusionOk="0" h="1175655" w="9144000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89"/>
            <p:cNvSpPr/>
            <p:nvPr/>
          </p:nvSpPr>
          <p:spPr>
            <a:xfrm>
              <a:off x="-11875" y="3467595"/>
              <a:ext cx="9144000" cy="890650"/>
            </a:xfrm>
            <a:custGeom>
              <a:rect b="b" l="l" r="r" t="t"/>
              <a:pathLst>
                <a:path extrusionOk="0" h="890650" w="914400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89"/>
            <p:cNvSpPr/>
            <p:nvPr/>
          </p:nvSpPr>
          <p:spPr>
            <a:xfrm>
              <a:off x="-23751" y="5640779"/>
              <a:ext cx="3004457" cy="1211283"/>
            </a:xfrm>
            <a:custGeom>
              <a:rect b="b" l="l" r="r" t="t"/>
              <a:pathLst>
                <a:path extrusionOk="0" h="1211283" w="3004457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89"/>
            <p:cNvSpPr/>
            <p:nvPr/>
          </p:nvSpPr>
          <p:spPr>
            <a:xfrm>
              <a:off x="-11875" y="5284519"/>
              <a:ext cx="9144000" cy="1478478"/>
            </a:xfrm>
            <a:custGeom>
              <a:rect b="b" l="l" r="r" t="t"/>
              <a:pathLst>
                <a:path extrusionOk="0" h="1478478" w="9144000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89"/>
            <p:cNvSpPr/>
            <p:nvPr/>
          </p:nvSpPr>
          <p:spPr>
            <a:xfrm>
              <a:off x="2137558" y="5132120"/>
              <a:ext cx="6982691" cy="1719942"/>
            </a:xfrm>
            <a:custGeom>
              <a:rect b="b" l="l" r="r" t="t"/>
              <a:pathLst>
                <a:path extrusionOk="0" h="1719942" w="6982691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noFill/>
            <a:ln cap="flat" cmpd="sng" w="9525">
              <a:solidFill>
                <a:schemeClr val="lt1">
                  <a:alpha val="2000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8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89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8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89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89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5882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89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rect b="b" l="l" r="r" t="t"/>
              <a:pathLst>
                <a:path extrusionOk="0" h="1388236" w="1261499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8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8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89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89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8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89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8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9803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89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89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fmla="val 28544" name="adj"/>
                <a:gd fmla="val 115470" name="vf"/>
              </a:avLst>
            </a:prstGeom>
            <a:solidFill>
              <a:schemeClr val="lt1">
                <a:alpha val="6666"/>
              </a:schemeClr>
            </a:solidFill>
            <a:ln cap="flat" cmpd="sng" w="12700">
              <a:solidFill>
                <a:schemeClr val="lt1">
                  <a:alpha val="784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8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rect b="b" l="l" r="r" t="t"/>
              <a:pathLst>
                <a:path extrusionOk="0" h="1388236" w="1243407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lt1">
                <a:alpha val="3921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8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rect b="b" l="l" r="r" t="t"/>
              <a:pathLst>
                <a:path extrusionOk="0" h="1388822" w="1241871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lt1">
                <a:alpha val="0"/>
              </a:schemeClr>
            </a:solidFill>
            <a:ln cap="flat" cmpd="sng" w="12700">
              <a:solidFill>
                <a:schemeClr val="lt1">
                  <a:alpha val="11764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9" name="Google Shape;49;p89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" name="Google Shape;50;p8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 cap="flat" cmpd="sng" w="15875">
            <a:solidFill>
              <a:srgbClr val="74A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89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8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89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4424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🞇"/>
              <a:defRPr b="0" i="0" sz="2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4772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🞇"/>
              <a:defRPr b="0" i="0" sz="2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5119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5467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5816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  <a:defRPr b="0" i="0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6164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6164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6164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6164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Char char="🞇"/>
              <a:defRPr b="0" i="0" sz="14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8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5" name="Google Shape;55;p8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6" name="Google Shape;56;p8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png"/><Relationship Id="rId4" Type="http://schemas.openxmlformats.org/officeDocument/2006/relationships/image" Target="../media/image25.png"/><Relationship Id="rId5" Type="http://schemas.openxmlformats.org/officeDocument/2006/relationships/image" Target="../media/image4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9.png"/><Relationship Id="rId4" Type="http://schemas.openxmlformats.org/officeDocument/2006/relationships/image" Target="../media/image63.png"/><Relationship Id="rId5" Type="http://schemas.openxmlformats.org/officeDocument/2006/relationships/image" Target="../media/image3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Relationship Id="rId7" Type="http://schemas.openxmlformats.org/officeDocument/2006/relationships/image" Target="../media/image3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8.png"/><Relationship Id="rId4" Type="http://schemas.openxmlformats.org/officeDocument/2006/relationships/image" Target="../media/image3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0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0.jpg"/><Relationship Id="rId4" Type="http://schemas.openxmlformats.org/officeDocument/2006/relationships/image" Target="../media/image3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7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0.png"/><Relationship Id="rId4" Type="http://schemas.openxmlformats.org/officeDocument/2006/relationships/image" Target="../media/image59.png"/><Relationship Id="rId5" Type="http://schemas.openxmlformats.org/officeDocument/2006/relationships/image" Target="../media/image36.png"/><Relationship Id="rId6" Type="http://schemas.openxmlformats.org/officeDocument/2006/relationships/image" Target="../media/image46.png"/><Relationship Id="rId7" Type="http://schemas.openxmlformats.org/officeDocument/2006/relationships/image" Target="../media/image5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5.png"/><Relationship Id="rId4" Type="http://schemas.openxmlformats.org/officeDocument/2006/relationships/image" Target="../media/image6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1.png"/><Relationship Id="rId4" Type="http://schemas.openxmlformats.org/officeDocument/2006/relationships/image" Target="../media/image5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1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6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Threaded Binary Tree</a:t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261" name="Google Shape;261;p1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262" name="Google Shape;262;p1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63" name="Google Shape;263;p1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Threads</a:t>
            </a:r>
            <a:endParaRPr/>
          </a:p>
        </p:txBody>
      </p:sp>
      <p:sp>
        <p:nvSpPr>
          <p:cNvPr id="269" name="Google Shape;269;p2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In linked representation of Binary tree,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Many of the nodes have NULL value in their left and right pointers.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It would be good to </a:t>
            </a:r>
            <a:r>
              <a:rPr b="1" lang="en-IN" sz="2000"/>
              <a:t>use these pointer fields to keep some other information.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Useful for Traversal Operation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270" name="Google Shape;270;p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271" name="Google Shape;271;p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72" name="Google Shape;272;p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"/>
          <p:cNvSpPr txBox="1"/>
          <p:nvPr>
            <p:ph type="title"/>
          </p:nvPr>
        </p:nvSpPr>
        <p:spPr>
          <a:xfrm>
            <a:off x="755576" y="332656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Threads</a:t>
            </a:r>
            <a:endParaRPr/>
          </a:p>
        </p:txBody>
      </p:sp>
      <p:sp>
        <p:nvSpPr>
          <p:cNvPr id="278" name="Google Shape;278;p3"/>
          <p:cNvSpPr txBox="1"/>
          <p:nvPr>
            <p:ph idx="1" type="body"/>
          </p:nvPr>
        </p:nvSpPr>
        <p:spPr>
          <a:xfrm>
            <a:off x="755578" y="1628644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These NULL pointers can be used to point nodes higher in the tree.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Such pointers are called Threads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279" name="Google Shape;279;p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280" name="Google Shape;280;p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81" name="Google Shape;281;p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https://upload.wikimedia.org/wikipedia/commons/thumb/7/7a/Threaded_tree.svg/800px-Threaded_tree.svg.png" id="282" name="Google Shape;2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720" y="2966019"/>
            <a:ext cx="4320480" cy="2407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Threaded Binary Tree</a:t>
            </a:r>
            <a:endParaRPr/>
          </a:p>
        </p:txBody>
      </p:sp>
      <p:sp>
        <p:nvSpPr>
          <p:cNvPr id="288" name="Google Shape;288;p4"/>
          <p:cNvSpPr txBox="1"/>
          <p:nvPr>
            <p:ph idx="1" type="body"/>
          </p:nvPr>
        </p:nvSpPr>
        <p:spPr>
          <a:xfrm>
            <a:off x="1043608" y="1988840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binary tree which implements such pointers is called threaded Binary tree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289" name="Google Shape;289;p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290" name="Google Shape;290;p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291" name="Google Shape;291;p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threadedBT" id="292" name="Google Shape;2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955" y="2936985"/>
            <a:ext cx="4167173" cy="2448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"/>
          <p:cNvSpPr/>
          <p:nvPr/>
        </p:nvSpPr>
        <p:spPr>
          <a:xfrm>
            <a:off x="2051720" y="5508500"/>
            <a:ext cx="331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Single Threaded Binary Tree</a:t>
            </a: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5940152" y="3752663"/>
            <a:ext cx="26365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dotted lines represent threads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Threads</a:t>
            </a:r>
            <a:endParaRPr/>
          </a:p>
        </p:txBody>
      </p:sp>
      <p:sp>
        <p:nvSpPr>
          <p:cNvPr id="300" name="Google Shape;300;p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Threads corresponding to 3 Traversals: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Preorder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Postorder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Inorder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01" name="Google Shape;301;p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02" name="Google Shape;302;p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03" name="Google Shape;303;p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Inorder Threading</a:t>
            </a:r>
            <a:endParaRPr/>
          </a:p>
        </p:txBody>
      </p:sp>
      <p:sp>
        <p:nvSpPr>
          <p:cNvPr id="309" name="Google Shape;309;p6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Two types-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One Way Inorder Threading/ Single Threaded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Two Way Inorder Threading / Double Threaded</a:t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310" name="Google Shape;310;p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11" name="Google Shape;311;p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12" name="Google Shape;312;p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Inorder Threading-</a:t>
            </a:r>
            <a:endParaRPr b="1" sz="2800"/>
          </a:p>
        </p:txBody>
      </p:sp>
      <p:sp>
        <p:nvSpPr>
          <p:cNvPr id="318" name="Google Shape;318;p7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One Way Inorder Threading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Each NULL right pointer is altered to contain a thread to point to that node's inorder successor.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Two Way Inorder Threading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Each NULL right pointer is altered to contain a thread to point to that node's inorder successor.</a:t>
            </a:r>
            <a:endParaRPr/>
          </a:p>
          <a:p>
            <a:pPr indent="0" lvl="0" marL="68580" rtl="0" algn="ctr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+</a:t>
            </a:r>
            <a:endParaRPr b="1" sz="16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Each NULL left pointer is altered to contain a thread to point to that node's inorder predecessor. </a:t>
            </a:r>
            <a:endParaRPr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19" name="Google Shape;319;p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20" name="Google Shape;320;p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21" name="Google Shape;321;p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Inorder Threading</a:t>
            </a:r>
            <a:endParaRPr/>
          </a:p>
        </p:txBody>
      </p:sp>
      <p:sp>
        <p:nvSpPr>
          <p:cNvPr id="327" name="Google Shape;327;p8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Two types-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In-Threaded Binary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In-Threaded Binary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Fully In-Threaded Binary Tree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328" name="Google Shape;328;p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29" name="Google Shape;329;p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30" name="Google Shape;330;p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Inorder Threading-</a:t>
            </a:r>
            <a:endParaRPr b="1" sz="2800"/>
          </a:p>
        </p:txBody>
      </p:sp>
      <p:sp>
        <p:nvSpPr>
          <p:cNvPr id="336" name="Google Shape;336;p9"/>
          <p:cNvSpPr txBox="1"/>
          <p:nvPr>
            <p:ph idx="1" type="body"/>
          </p:nvPr>
        </p:nvSpPr>
        <p:spPr>
          <a:xfrm>
            <a:off x="1043492" y="227687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Right In-Threaded Binary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If we use right field of the node to take the thread</a:t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Left In-Threaded Binary Tree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If we use left field of the node to take the thread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Fully In-Threaded Binary Tree/In-Threaded Tree</a:t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If both left and right fields are used for threading 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37" name="Google Shape;337;p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38" name="Google Shape;338;p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 txBox="1"/>
          <p:nvPr>
            <p:ph type="title"/>
          </p:nvPr>
        </p:nvSpPr>
        <p:spPr>
          <a:xfrm>
            <a:off x="919779" y="404664"/>
            <a:ext cx="7024744" cy="648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/>
              <a:t>Right In-Threaded Binary Tree</a:t>
            </a:r>
            <a:endParaRPr/>
          </a:p>
        </p:txBody>
      </p:sp>
      <p:sp>
        <p:nvSpPr>
          <p:cNvPr id="345" name="Google Shape;345;p1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46" name="Google Shape;346;p1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47" name="Google Shape;347;p1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8" name="Google Shape;348;p10"/>
          <p:cNvSpPr txBox="1"/>
          <p:nvPr/>
        </p:nvSpPr>
        <p:spPr>
          <a:xfrm>
            <a:off x="755576" y="1844824"/>
            <a:ext cx="3676575" cy="39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b="1"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Each NULL right pointer is altered to contain a thread to point to that node's inorder successor.</a:t>
            </a:r>
            <a:endParaRPr/>
          </a:p>
          <a:p>
            <a:pPr indent="-187452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t/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Eg-</a:t>
            </a:r>
            <a:endParaRPr/>
          </a:p>
          <a:p>
            <a:pPr indent="-27432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Thread of D points to B which is inorder successor of D</a:t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7452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t/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 Traversal-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DBFEGAC</a:t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9" name="Google Shape;349;p10"/>
          <p:cNvPicPr preferRelativeResize="0"/>
          <p:nvPr/>
        </p:nvPicPr>
        <p:blipFill rotWithShape="1">
          <a:blip r:embed="rId3">
            <a:alphaModFix/>
          </a:blip>
          <a:srcRect b="9798" l="19201" r="13501" t="16261"/>
          <a:stretch/>
        </p:blipFill>
        <p:spPr>
          <a:xfrm rot="5400000">
            <a:off x="4766663" y="1510311"/>
            <a:ext cx="3461470" cy="4130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 txBox="1"/>
          <p:nvPr>
            <p:ph type="title"/>
          </p:nvPr>
        </p:nvSpPr>
        <p:spPr>
          <a:xfrm>
            <a:off x="539552" y="332656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Right In-Threaded Binary Tree</a:t>
            </a:r>
            <a:endParaRPr sz="2800"/>
          </a:p>
        </p:txBody>
      </p:sp>
      <p:sp>
        <p:nvSpPr>
          <p:cNvPr id="355" name="Google Shape;355;p1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56" name="Google Shape;356;p1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57" name="Google Shape;357;p1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755576" y="1844824"/>
            <a:ext cx="3676575" cy="39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threadedTraversal" id="359" name="Google Shape;3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1" y="1052736"/>
            <a:ext cx="8136905" cy="490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1"/>
          <p:cNvSpPr/>
          <p:nvPr/>
        </p:nvSpPr>
        <p:spPr>
          <a:xfrm>
            <a:off x="539550" y="6137990"/>
            <a:ext cx="65527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Courtesy:https://www.geeksforgeeks.org/threaded-binary-tree/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"/>
          <p:cNvSpPr txBox="1"/>
          <p:nvPr>
            <p:ph type="title"/>
          </p:nvPr>
        </p:nvSpPr>
        <p:spPr>
          <a:xfrm>
            <a:off x="919779" y="404664"/>
            <a:ext cx="7024744" cy="648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/>
              <a:t>Left In-Threaded Binary Tree</a:t>
            </a:r>
            <a:endParaRPr/>
          </a:p>
        </p:txBody>
      </p:sp>
      <p:sp>
        <p:nvSpPr>
          <p:cNvPr id="366" name="Google Shape;366;p1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67" name="Google Shape;367;p1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68" name="Google Shape;368;p1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755576" y="1844824"/>
            <a:ext cx="3676575" cy="39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b="1"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Each NULL left pointer is altered to contain a thread to point to that node's inorder predecessor. </a:t>
            </a:r>
            <a:endParaRPr b="1"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7452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t/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Eg-</a:t>
            </a:r>
            <a:endParaRPr/>
          </a:p>
          <a:p>
            <a:pPr indent="-27432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Thread of F points to B which is inorder predecessor of F</a:t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 Traversal-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DBFEGAC</a:t>
            </a:r>
            <a:endParaRPr/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0" name="Google Shape;370;p12"/>
          <p:cNvCxnSpPr/>
          <p:nvPr/>
        </p:nvCxnSpPr>
        <p:spPr>
          <a:xfrm rot="10800000">
            <a:off x="5508104" y="2996952"/>
            <a:ext cx="0" cy="144016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dash"/>
            <a:round/>
            <a:headEnd len="sm" w="sm" type="none"/>
            <a:tailEnd len="med" w="med" type="stealth"/>
          </a:ln>
        </p:spPr>
      </p:cxnSp>
      <p:pic>
        <p:nvPicPr>
          <p:cNvPr id="371" name="Google Shape;3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3365" y="1892994"/>
            <a:ext cx="4029075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 txBox="1"/>
          <p:nvPr>
            <p:ph type="title"/>
          </p:nvPr>
        </p:nvSpPr>
        <p:spPr>
          <a:xfrm>
            <a:off x="919779" y="404664"/>
            <a:ext cx="7024744" cy="648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/>
              <a:t>Fully In-Threaded Binary Tree</a:t>
            </a:r>
            <a:endParaRPr/>
          </a:p>
        </p:txBody>
      </p:sp>
      <p:sp>
        <p:nvSpPr>
          <p:cNvPr id="377" name="Google Shape;377;p1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78" name="Google Shape;378;p1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79" name="Google Shape;379;p1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80" name="Google Shape;380;p13"/>
          <p:cNvSpPr txBox="1"/>
          <p:nvPr/>
        </p:nvSpPr>
        <p:spPr>
          <a:xfrm>
            <a:off x="755576" y="1844824"/>
            <a:ext cx="3676575" cy="39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611560" y="1601435"/>
            <a:ext cx="3676575" cy="39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both left and right fields are used for threading </a:t>
            </a:r>
            <a:endParaRPr/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eg-</a:t>
            </a:r>
            <a:endParaRPr/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thread F points to B, inorder predeccessor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thread F points to E, inorder successor</a:t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🞇"/>
            </a:pPr>
            <a:r>
              <a:rPr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 Traversal-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1" lang="en-IN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DBFEGAC</a:t>
            </a:r>
            <a:endParaRPr/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2" name="Google Shape;3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1315" y="1484784"/>
            <a:ext cx="4029075" cy="3771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13"/>
          <p:cNvCxnSpPr/>
          <p:nvPr/>
        </p:nvCxnSpPr>
        <p:spPr>
          <a:xfrm rot="10800000">
            <a:off x="5580112" y="2924944"/>
            <a:ext cx="0" cy="1152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Dot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Preorder Threading-</a:t>
            </a:r>
            <a:endParaRPr b="1" sz="2800"/>
          </a:p>
        </p:txBody>
      </p:sp>
      <p:sp>
        <p:nvSpPr>
          <p:cNvPr id="389" name="Google Shape;389;p1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Similarly , we can have Right Pre-threaded and Left Pre-threaded Tree corresponding to the Preorder Traversal.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390" name="Google Shape;390;p1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391" name="Google Shape;391;p1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392" name="Google Shape;392;p1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Structure of a node in 2way In Threaded Tree</a:t>
            </a:r>
            <a:endParaRPr b="1" sz="2800"/>
          </a:p>
        </p:txBody>
      </p:sp>
      <p:sp>
        <p:nvSpPr>
          <p:cNvPr id="398" name="Google Shape;398;p1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typedef enum {thread,link} boolean;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struct node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	{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struct node *left_ptr;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boolean left;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int info;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struct node *right_ptr;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boolean right;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};</a:t>
            </a:r>
            <a:endParaRPr b="1" sz="1800"/>
          </a:p>
        </p:txBody>
      </p:sp>
      <p:sp>
        <p:nvSpPr>
          <p:cNvPr id="399" name="Google Shape;399;p1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00" name="Google Shape;400;p1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01" name="Google Shape;401;p1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Structure of a node in 2way In Threaded Tree</a:t>
            </a:r>
            <a:endParaRPr b="1" sz="2800"/>
          </a:p>
        </p:txBody>
      </p:sp>
      <p:sp>
        <p:nvSpPr>
          <p:cNvPr id="407" name="Google Shape;407;p16"/>
          <p:cNvSpPr txBox="1"/>
          <p:nvPr>
            <p:ph idx="1" type="body"/>
          </p:nvPr>
        </p:nvSpPr>
        <p:spPr>
          <a:xfrm>
            <a:off x="1043492" y="2323652"/>
            <a:ext cx="4896659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typedef enum {thread,link} boolean;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struct node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/>
              <a:t>	{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struct node *left_ptr;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boolean left;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int info;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struct node *right_ptr;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boolean right;</a:t>
            </a:r>
            <a:endParaRPr/>
          </a:p>
          <a:p>
            <a:pPr indent="0" lvl="1" marL="36576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rPr b="1" lang="en-IN" sz="1800"/>
              <a:t>	};</a:t>
            </a:r>
            <a:endParaRPr b="1" sz="1800"/>
          </a:p>
        </p:txBody>
      </p:sp>
      <p:sp>
        <p:nvSpPr>
          <p:cNvPr id="408" name="Google Shape;408;p1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09" name="Google Shape;409;p1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10" name="Google Shape;410;p1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5436096" y="3429000"/>
            <a:ext cx="324036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boolean numbers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differentiate between a thread and link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3635896" y="3806730"/>
            <a:ext cx="1584176" cy="23460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3788296" y="4789024"/>
            <a:ext cx="1584176" cy="23460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"/>
          <p:cNvSpPr txBox="1"/>
          <p:nvPr>
            <p:ph type="title"/>
          </p:nvPr>
        </p:nvSpPr>
        <p:spPr>
          <a:xfrm>
            <a:off x="894748" y="692696"/>
            <a:ext cx="7024744" cy="745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IN"/>
              <a:t>Enumeration</a:t>
            </a:r>
            <a:endParaRPr b="1"/>
          </a:p>
        </p:txBody>
      </p:sp>
      <p:sp>
        <p:nvSpPr>
          <p:cNvPr id="419" name="Google Shape;419;p17"/>
          <p:cNvSpPr txBox="1"/>
          <p:nvPr>
            <p:ph idx="1" type="body"/>
          </p:nvPr>
        </p:nvSpPr>
        <p:spPr>
          <a:xfrm>
            <a:off x="1043492" y="1556792"/>
            <a:ext cx="6777317" cy="427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An enumerated data type 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Enumeration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Enum</a:t>
            </a:r>
            <a:endParaRPr sz="2000"/>
          </a:p>
        </p:txBody>
      </p:sp>
      <p:sp>
        <p:nvSpPr>
          <p:cNvPr id="420" name="Google Shape;420;p1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21" name="Google Shape;421;p1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22" name="Google Shape;422;p1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"/>
          <p:cNvSpPr txBox="1"/>
          <p:nvPr>
            <p:ph type="title"/>
          </p:nvPr>
        </p:nvSpPr>
        <p:spPr>
          <a:xfrm>
            <a:off x="894748" y="692696"/>
            <a:ext cx="7024744" cy="745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Enumeration</a:t>
            </a:r>
            <a:br>
              <a:rPr b="1" lang="en-IN" sz="2800"/>
            </a:br>
            <a:r>
              <a:rPr b="1" lang="en-IN" sz="2800"/>
              <a:t>What?</a:t>
            </a:r>
            <a:endParaRPr b="1" sz="2800"/>
          </a:p>
        </p:txBody>
      </p:sp>
      <p:sp>
        <p:nvSpPr>
          <p:cNvPr id="428" name="Google Shape;428;p18"/>
          <p:cNvSpPr txBox="1"/>
          <p:nvPr>
            <p:ph idx="1" type="body"/>
          </p:nvPr>
        </p:nvSpPr>
        <p:spPr>
          <a:xfrm>
            <a:off x="1043492" y="1556792"/>
            <a:ext cx="6777317" cy="427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Data type consisting of a set of named values called elements, members or enumerators of the type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29" name="Google Shape;429;p1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30" name="Google Shape;430;p1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31" name="Google Shape;431;p1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9"/>
          <p:cNvSpPr txBox="1"/>
          <p:nvPr>
            <p:ph type="title"/>
          </p:nvPr>
        </p:nvSpPr>
        <p:spPr>
          <a:xfrm>
            <a:off x="971600" y="332656"/>
            <a:ext cx="7024744" cy="745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IN"/>
              <a:t>Enumeration</a:t>
            </a:r>
            <a:endParaRPr b="1"/>
          </a:p>
        </p:txBody>
      </p:sp>
      <p:sp>
        <p:nvSpPr>
          <p:cNvPr id="437" name="Google Shape;437;p19"/>
          <p:cNvSpPr txBox="1"/>
          <p:nvPr>
            <p:ph idx="1" type="body"/>
          </p:nvPr>
        </p:nvSpPr>
        <p:spPr>
          <a:xfrm>
            <a:off x="1043492" y="1556792"/>
            <a:ext cx="6777317" cy="427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ct val="76000"/>
              <a:buNone/>
            </a:pPr>
            <a:r>
              <a:rPr lang="en-IN" sz="2000"/>
              <a:t>Eg-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b="1" lang="en-IN" sz="2000"/>
              <a:t>enum e_tag {a,b,c,d=20,e,f,g=20,h}var;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lang="en-IN" sz="2000"/>
              <a:t>In absence of initialization , the values assigned start at Zero and increase</a:t>
            </a:r>
            <a:endParaRPr/>
          </a:p>
          <a:p>
            <a:pPr indent="0" lvl="0" marL="6858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rPr lang="en-IN" sz="2000"/>
              <a:t>If we do not explicitly assign values to enum names, the compiler by default assigns values starting from 0. </a:t>
            </a:r>
            <a:endParaRPr sz="2000"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a=0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b=1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c=2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d=20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e=21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f=22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g=20</a:t>
            </a:r>
            <a:endParaRPr/>
          </a:p>
          <a:p>
            <a:pPr indent="-274320" lvl="0" marL="342900" rtl="0" algn="l">
              <a:spcBef>
                <a:spcPts val="370"/>
              </a:spcBef>
              <a:spcAft>
                <a:spcPts val="0"/>
              </a:spcAft>
              <a:buSzPct val="76000"/>
              <a:buChar char="🞇"/>
            </a:pPr>
            <a:r>
              <a:rPr lang="en-IN" sz="2000"/>
              <a:t>h=21</a:t>
            </a:r>
            <a:endParaRPr/>
          </a:p>
          <a:p>
            <a:pPr indent="-185039" lvl="0" marL="342900" rtl="0" algn="l">
              <a:spcBef>
                <a:spcPts val="37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 sz="2000"/>
          </a:p>
        </p:txBody>
      </p:sp>
      <p:sp>
        <p:nvSpPr>
          <p:cNvPr id="438" name="Google Shape;438;p1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39" name="Google Shape;439;p1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40" name="Google Shape;440;p1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"/>
          <p:cNvSpPr txBox="1"/>
          <p:nvPr>
            <p:ph type="title"/>
          </p:nvPr>
        </p:nvSpPr>
        <p:spPr>
          <a:xfrm>
            <a:off x="971600" y="332656"/>
            <a:ext cx="7024744" cy="745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IN"/>
              <a:t>Enumeration</a:t>
            </a:r>
            <a:endParaRPr b="1"/>
          </a:p>
        </p:txBody>
      </p:sp>
      <p:sp>
        <p:nvSpPr>
          <p:cNvPr id="446" name="Google Shape;446;p20"/>
          <p:cNvSpPr txBox="1"/>
          <p:nvPr>
            <p:ph idx="1" type="body"/>
          </p:nvPr>
        </p:nvSpPr>
        <p:spPr>
          <a:xfrm>
            <a:off x="1043492" y="1556792"/>
            <a:ext cx="6777317" cy="427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#include &lt;stdio.h&gt;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enum day {sunday, monday, tuesday, wednesday, thursday, friday, saturday};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int main()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{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enum day d = thursday;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printf("The day number stored in d is %d", d);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return 0;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}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Output-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47" name="Google Shape;447;p2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48" name="Google Shape;448;p2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49" name="Google Shape;449;p2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50" name="Google Shape;450;p20"/>
          <p:cNvPicPr preferRelativeResize="0"/>
          <p:nvPr/>
        </p:nvPicPr>
        <p:blipFill rotWithShape="1">
          <a:blip r:embed="rId3">
            <a:alphaModFix/>
          </a:blip>
          <a:srcRect b="17858" l="0" r="0" t="37816"/>
          <a:stretch/>
        </p:blipFill>
        <p:spPr>
          <a:xfrm>
            <a:off x="1115616" y="5517232"/>
            <a:ext cx="4392488" cy="733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"/>
          <p:cNvSpPr txBox="1"/>
          <p:nvPr>
            <p:ph type="title"/>
          </p:nvPr>
        </p:nvSpPr>
        <p:spPr>
          <a:xfrm>
            <a:off x="971600" y="332656"/>
            <a:ext cx="7024744" cy="745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IN"/>
              <a:t>Enumeration</a:t>
            </a:r>
            <a:endParaRPr b="1"/>
          </a:p>
        </p:txBody>
      </p:sp>
      <p:sp>
        <p:nvSpPr>
          <p:cNvPr id="456" name="Google Shape;456;p2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57" name="Google Shape;457;p2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58" name="Google Shape;458;p2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59" name="Google Shape;45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1052736"/>
            <a:ext cx="7610475" cy="482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"/>
          <p:cNvSpPr txBox="1"/>
          <p:nvPr>
            <p:ph type="title"/>
          </p:nvPr>
        </p:nvSpPr>
        <p:spPr>
          <a:xfrm>
            <a:off x="971600" y="332656"/>
            <a:ext cx="7024744" cy="745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b="1" lang="en-IN"/>
              <a:t>Enumeration</a:t>
            </a:r>
            <a:endParaRPr b="1"/>
          </a:p>
        </p:txBody>
      </p:sp>
      <p:sp>
        <p:nvSpPr>
          <p:cNvPr id="465" name="Google Shape;465;p22"/>
          <p:cNvSpPr txBox="1"/>
          <p:nvPr>
            <p:ph idx="1" type="body"/>
          </p:nvPr>
        </p:nvSpPr>
        <p:spPr>
          <a:xfrm>
            <a:off x="1043492" y="1556792"/>
            <a:ext cx="7704972" cy="427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#include &lt;stdio.h&gt;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enum day {sunday = 1, monday, tuesday = 5,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	wednesday, thursday = 10, friday, saturday};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int main()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{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printf("%d %d %d %d %d %d %d", sunday, monday, tuesday,wednesday, thursday, friday, saturday);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	return 0;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}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Output-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466" name="Google Shape;466;p2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67" name="Google Shape;467;p2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68" name="Google Shape;468;p2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9" name="Google Shape;4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3" y="5805264"/>
            <a:ext cx="3952447" cy="598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"/>
          <p:cNvSpPr txBox="1"/>
          <p:nvPr>
            <p:ph type="title"/>
          </p:nvPr>
        </p:nvSpPr>
        <p:spPr>
          <a:xfrm>
            <a:off x="1043490" y="1027664"/>
            <a:ext cx="7024744" cy="457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entury Gothic"/>
              <a:buNone/>
            </a:pPr>
            <a:r>
              <a:rPr lang="en-IN" sz="3200"/>
              <a:t>Enum used-</a:t>
            </a:r>
            <a:endParaRPr sz="3200"/>
          </a:p>
        </p:txBody>
      </p:sp>
      <p:sp>
        <p:nvSpPr>
          <p:cNvPr id="475" name="Google Shape;475;p23"/>
          <p:cNvSpPr txBox="1"/>
          <p:nvPr>
            <p:ph idx="1" type="body"/>
          </p:nvPr>
        </p:nvSpPr>
        <p:spPr>
          <a:xfrm>
            <a:off x="971600" y="1844824"/>
            <a:ext cx="7200916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typedef enum {thread,link} boolean;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declares an enumeration datatype called boolean</a:t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thread=0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link=1</a:t>
            </a:r>
            <a:endParaRPr/>
          </a:p>
        </p:txBody>
      </p:sp>
      <p:sp>
        <p:nvSpPr>
          <p:cNvPr id="476" name="Google Shape;476;p2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77" name="Google Shape;477;p2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78" name="Google Shape;478;p2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4"/>
          <p:cNvSpPr txBox="1"/>
          <p:nvPr>
            <p:ph type="title"/>
          </p:nvPr>
        </p:nvSpPr>
        <p:spPr>
          <a:xfrm>
            <a:off x="979201" y="620688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Structure of a node in 2way In Threaded Tree</a:t>
            </a:r>
            <a:endParaRPr b="1" sz="2800"/>
          </a:p>
        </p:txBody>
      </p:sp>
      <p:sp>
        <p:nvSpPr>
          <p:cNvPr id="484" name="Google Shape;484;p2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85" name="Google Shape;485;p2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86" name="Google Shape;486;p2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1043608" y="2060848"/>
            <a:ext cx="6984776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members can take values thread or link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=link</a:t>
            </a: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pointer left_ptr points to left child of the node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left=thread,</a:t>
            </a: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pointer left_ptr is a thread pointing to inorder predecessor of the node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right=link</a:t>
            </a: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pointer right_ptr points to right child of the node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right=thread,</a:t>
            </a:r>
            <a:r>
              <a:rPr b="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pointer right_ptr is a thread pointing to inorder successor of the node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5"/>
          <p:cNvSpPr txBox="1"/>
          <p:nvPr>
            <p:ph type="title"/>
          </p:nvPr>
        </p:nvSpPr>
        <p:spPr>
          <a:xfrm>
            <a:off x="1003640" y="620688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In-Threaded Tree</a:t>
            </a:r>
            <a:endParaRPr b="1" sz="2800"/>
          </a:p>
        </p:txBody>
      </p:sp>
      <p:sp>
        <p:nvSpPr>
          <p:cNvPr id="493" name="Google Shape;493;p2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494" name="Google Shape;494;p2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495" name="Google Shape;495;p2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1043608" y="2060848"/>
            <a:ext cx="6984776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Inorder traversal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r>
              <a:rPr b="1" baseline="3000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Node has no predecessor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Last Node has no Successor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pointer of Leftmost Node/1</a:t>
            </a:r>
            <a:r>
              <a:rPr b="1" baseline="30000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Node=NULL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Right Pointer of Rightmost Node/  Last Node =NULL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Still NULL values…..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b="1" i="0" lang="en-IN" sz="2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Solution?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6"/>
          <p:cNvSpPr txBox="1"/>
          <p:nvPr>
            <p:ph type="title"/>
          </p:nvPr>
        </p:nvSpPr>
        <p:spPr>
          <a:xfrm>
            <a:off x="1003640" y="2780928"/>
            <a:ext cx="7024744" cy="1224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Solution= In-Threaded Tree with Header Nodes</a:t>
            </a:r>
            <a:endParaRPr b="1" sz="2800"/>
          </a:p>
        </p:txBody>
      </p:sp>
      <p:sp>
        <p:nvSpPr>
          <p:cNvPr id="502" name="Google Shape;502;p2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03" name="Google Shape;503;p2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04" name="Google Shape;504;p2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"/>
          <p:cNvSpPr txBox="1"/>
          <p:nvPr>
            <p:ph type="title"/>
          </p:nvPr>
        </p:nvSpPr>
        <p:spPr>
          <a:xfrm>
            <a:off x="971351" y="404664"/>
            <a:ext cx="7024744" cy="50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Solution= In-Threaded Tree with Header Nodes</a:t>
            </a:r>
            <a:endParaRPr b="1" sz="2400"/>
          </a:p>
        </p:txBody>
      </p:sp>
      <p:sp>
        <p:nvSpPr>
          <p:cNvPr id="510" name="Google Shape;510;p2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11" name="Google Shape;511;p2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12" name="Google Shape;512;p2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3" name="Google Shape;513;p27"/>
          <p:cNvSpPr txBox="1"/>
          <p:nvPr/>
        </p:nvSpPr>
        <p:spPr>
          <a:xfrm>
            <a:off x="1031001" y="1052736"/>
            <a:ext cx="698477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dummy node=Header Node is taken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tree will be the left subtree of this Header Node.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Left pointer of Header Node will point to the root node of our tree.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14" name="Google Shape;514;p27"/>
          <p:cNvPicPr preferRelativeResize="0"/>
          <p:nvPr/>
        </p:nvPicPr>
        <p:blipFill rotWithShape="1">
          <a:blip r:embed="rId3">
            <a:alphaModFix/>
          </a:blip>
          <a:srcRect b="15655" l="15118" r="17812" t="9395"/>
          <a:stretch/>
        </p:blipFill>
        <p:spPr>
          <a:xfrm rot="5400000">
            <a:off x="2625341" y="1258595"/>
            <a:ext cx="2873721" cy="6062403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/>
        </p:nvSpPr>
        <p:spPr>
          <a:xfrm>
            <a:off x="5364088" y="2533179"/>
            <a:ext cx="14390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Header Node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"/>
          <p:cNvSpPr txBox="1"/>
          <p:nvPr>
            <p:ph type="title"/>
          </p:nvPr>
        </p:nvSpPr>
        <p:spPr>
          <a:xfrm>
            <a:off x="971351" y="404664"/>
            <a:ext cx="7024744" cy="50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Solution= In-Threaded Tree with Header Nodes</a:t>
            </a:r>
            <a:endParaRPr b="1" sz="2400"/>
          </a:p>
        </p:txBody>
      </p:sp>
      <p:sp>
        <p:nvSpPr>
          <p:cNvPr id="521" name="Google Shape;521;p2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22" name="Google Shape;522;p2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23" name="Google Shape;523;p2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4" name="Google Shape;524;p28"/>
          <p:cNvSpPr txBox="1"/>
          <p:nvPr/>
        </p:nvSpPr>
        <p:spPr>
          <a:xfrm>
            <a:off x="1031000" y="1052736"/>
            <a:ext cx="69847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Now, Leftmost/Rightmost Node will not contain NULL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Will contain threads pointing to this Header Node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25" name="Google Shape;525;p28"/>
          <p:cNvPicPr preferRelativeResize="0"/>
          <p:nvPr/>
        </p:nvPicPr>
        <p:blipFill rotWithShape="1">
          <a:blip r:embed="rId3">
            <a:alphaModFix/>
          </a:blip>
          <a:srcRect b="15655" l="15118" r="17812" t="9395"/>
          <a:stretch/>
        </p:blipFill>
        <p:spPr>
          <a:xfrm rot="5400000">
            <a:off x="2625341" y="1258595"/>
            <a:ext cx="2873721" cy="6062403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8"/>
          <p:cNvSpPr txBox="1"/>
          <p:nvPr/>
        </p:nvSpPr>
        <p:spPr>
          <a:xfrm>
            <a:off x="5364088" y="2533179"/>
            <a:ext cx="14390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Header Node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9"/>
          <p:cNvSpPr txBox="1"/>
          <p:nvPr>
            <p:ph type="title"/>
          </p:nvPr>
        </p:nvSpPr>
        <p:spPr>
          <a:xfrm>
            <a:off x="1003640" y="620688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Solution= In-Threaded Tree with Header Nodes</a:t>
            </a:r>
            <a:endParaRPr b="1" sz="2800"/>
          </a:p>
        </p:txBody>
      </p:sp>
      <p:sp>
        <p:nvSpPr>
          <p:cNvPr id="532" name="Google Shape;532;p2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33" name="Google Shape;533;p2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34" name="Google Shape;534;p2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35" name="Google Shape;535;p29"/>
          <p:cNvSpPr txBox="1"/>
          <p:nvPr/>
        </p:nvSpPr>
        <p:spPr>
          <a:xfrm>
            <a:off x="1043608" y="2060848"/>
            <a:ext cx="698477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our tree will be empty then Left pointer of Header Node will be a thread pointing to itself.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Condition for empty In-threaded Tree with Header Node-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head-&gt;lchild=head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36" name="Google Shape;536;p29"/>
          <p:cNvPicPr preferRelativeResize="0"/>
          <p:nvPr/>
        </p:nvPicPr>
        <p:blipFill rotWithShape="1">
          <a:blip r:embed="rId3">
            <a:alphaModFix/>
          </a:blip>
          <a:srcRect b="40303" l="43939" r="35589" t="23536"/>
          <a:stretch/>
        </p:blipFill>
        <p:spPr>
          <a:xfrm rot="5400000">
            <a:off x="3364275" y="3396743"/>
            <a:ext cx="936104" cy="2952328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9"/>
          <p:cNvSpPr txBox="1"/>
          <p:nvPr/>
        </p:nvSpPr>
        <p:spPr>
          <a:xfrm>
            <a:off x="5294814" y="4404855"/>
            <a:ext cx="14390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Header Node</a:t>
            </a:r>
            <a:endParaRPr b="1"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lang="en-IN" sz="2800"/>
              <a:t>Inorder Traversal in In-Threaded Binary Tree</a:t>
            </a:r>
            <a:endParaRPr sz="2800"/>
          </a:p>
        </p:txBody>
      </p:sp>
      <p:sp>
        <p:nvSpPr>
          <p:cNvPr id="543" name="Google Shape;543;p30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45" name="Google Shape;545;p30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46" name="Google Shape;546;p30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 txBox="1"/>
          <p:nvPr>
            <p:ph type="title"/>
          </p:nvPr>
        </p:nvSpPr>
        <p:spPr>
          <a:xfrm>
            <a:off x="1003640" y="692696"/>
            <a:ext cx="7024744" cy="72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Finding Inorder Successor of a node in</a:t>
            </a:r>
            <a:br>
              <a:rPr b="1" lang="en-IN" sz="2800"/>
            </a:br>
            <a:r>
              <a:rPr b="1" lang="en-IN" sz="2800"/>
              <a:t>In-threaded Node </a:t>
            </a:r>
            <a:endParaRPr b="1" sz="2800"/>
          </a:p>
        </p:txBody>
      </p:sp>
      <p:sp>
        <p:nvSpPr>
          <p:cNvPr id="552" name="Google Shape;552;p3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53" name="Google Shape;553;p3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54" name="Google Shape;554;p3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55" name="Google Shape;555;p31"/>
          <p:cNvSpPr txBox="1"/>
          <p:nvPr/>
        </p:nvSpPr>
        <p:spPr>
          <a:xfrm>
            <a:off x="1043608" y="2060848"/>
            <a:ext cx="698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6" name="Google Shape;556;p31"/>
          <p:cNvSpPr txBox="1"/>
          <p:nvPr/>
        </p:nvSpPr>
        <p:spPr>
          <a:xfrm>
            <a:off x="1226274" y="1916832"/>
            <a:ext cx="637006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Inorder Successor of a node is the Leftmost node in the right subtree of that node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arenR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Right pointer of a node consists of a link then we can traverse the right subtree and find the inorder successor.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arenR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right pointer is a thread, then that thread will point to the inorder successor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/>
          <p:nvPr>
            <p:ph type="title"/>
          </p:nvPr>
        </p:nvSpPr>
        <p:spPr>
          <a:xfrm>
            <a:off x="1003640" y="692696"/>
            <a:ext cx="7024744" cy="72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Finding Inorder Successor of a node in</a:t>
            </a:r>
            <a:br>
              <a:rPr b="1" lang="en-IN" sz="2800"/>
            </a:br>
            <a:r>
              <a:rPr b="1" lang="en-IN" sz="2800"/>
              <a:t>In-threaded Node </a:t>
            </a:r>
            <a:endParaRPr b="1" sz="2800"/>
          </a:p>
        </p:txBody>
      </p:sp>
      <p:sp>
        <p:nvSpPr>
          <p:cNvPr id="562" name="Google Shape;562;p3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63" name="Google Shape;563;p3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64" name="Google Shape;564;p3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65" name="Google Shape;565;p32"/>
          <p:cNvSpPr txBox="1"/>
          <p:nvPr/>
        </p:nvSpPr>
        <p:spPr>
          <a:xfrm>
            <a:off x="1043608" y="2060848"/>
            <a:ext cx="698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6" name="Google Shape;566;p32"/>
          <p:cNvSpPr txBox="1"/>
          <p:nvPr/>
        </p:nvSpPr>
        <p:spPr>
          <a:xfrm>
            <a:off x="611560" y="1772816"/>
            <a:ext cx="6370062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struct node * in_succ(struct node *ptr)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struct node *succ;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if(ptr-&gt;right==thread)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succ=ptr-&gt;right_ptr;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ptr=ptr-&gt;right_ptr;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while(ptr-&gt;left==link)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ptr=ptr-&gt;left_ptr;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succ=ptr;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return succ;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  <p:sp>
        <p:nvSpPr>
          <p:cNvPr id="567" name="Google Shape;567;p32"/>
          <p:cNvSpPr txBox="1"/>
          <p:nvPr>
            <p:ph idx="1" type="body"/>
          </p:nvPr>
        </p:nvSpPr>
        <p:spPr>
          <a:xfrm>
            <a:off x="5076057" y="1713919"/>
            <a:ext cx="3528392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typedef enum {thread,link} boolean;</a:t>
            </a:r>
            <a:endParaRPr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struct node</a:t>
            </a:r>
            <a:endParaRPr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{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struct node *left_ptr;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boolean left;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int info;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struct node *right_ptr;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boolean right;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};</a:t>
            </a:r>
            <a:endParaRPr b="1" sz="1400"/>
          </a:p>
        </p:txBody>
      </p:sp>
      <p:pic>
        <p:nvPicPr>
          <p:cNvPr id="568" name="Google Shape;5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072" y="3933056"/>
            <a:ext cx="2061869" cy="2006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3"/>
          <p:cNvSpPr txBox="1"/>
          <p:nvPr>
            <p:ph type="title"/>
          </p:nvPr>
        </p:nvSpPr>
        <p:spPr>
          <a:xfrm>
            <a:off x="1003640" y="692696"/>
            <a:ext cx="7024744" cy="72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Finding Inorder Predeccessor of a node in</a:t>
            </a:r>
            <a:br>
              <a:rPr b="1" lang="en-IN" sz="2800"/>
            </a:br>
            <a:r>
              <a:rPr b="1" lang="en-IN" sz="2800"/>
              <a:t>In-threaded Node </a:t>
            </a:r>
            <a:endParaRPr b="1" sz="2800"/>
          </a:p>
        </p:txBody>
      </p:sp>
      <p:sp>
        <p:nvSpPr>
          <p:cNvPr id="574" name="Google Shape;574;p3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75" name="Google Shape;575;p3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76" name="Google Shape;576;p3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77" name="Google Shape;577;p33"/>
          <p:cNvSpPr txBox="1"/>
          <p:nvPr/>
        </p:nvSpPr>
        <p:spPr>
          <a:xfrm>
            <a:off x="1043608" y="2060848"/>
            <a:ext cx="698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8" name="Google Shape;578;p33"/>
          <p:cNvSpPr txBox="1"/>
          <p:nvPr/>
        </p:nvSpPr>
        <p:spPr>
          <a:xfrm>
            <a:off x="1226274" y="1916832"/>
            <a:ext cx="637006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Inorder Predeccessor of a node is the Rightmost node in the left subtree of that node.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arenR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Left pointer of a node consists of a link then we can traverse the left subtree and find the inorder predeccessor.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arenR"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the left pointer is a thread, then that thread will point to the inorder predecessor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9" name="Google Shape;5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988891">
            <a:off x="6842052" y="4149127"/>
            <a:ext cx="1508567" cy="152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"/>
          <p:cNvSpPr txBox="1"/>
          <p:nvPr>
            <p:ph type="title"/>
          </p:nvPr>
        </p:nvSpPr>
        <p:spPr>
          <a:xfrm>
            <a:off x="1003640" y="620688"/>
            <a:ext cx="7024744" cy="864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Finding Inorder Predecessor of a node in In-threaded Node</a:t>
            </a:r>
            <a:endParaRPr b="1" sz="2400"/>
          </a:p>
        </p:txBody>
      </p:sp>
      <p:sp>
        <p:nvSpPr>
          <p:cNvPr id="585" name="Google Shape;585;p3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86" name="Google Shape;586;p3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87" name="Google Shape;587;p3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88" name="Google Shape;588;p34"/>
          <p:cNvSpPr txBox="1"/>
          <p:nvPr/>
        </p:nvSpPr>
        <p:spPr>
          <a:xfrm>
            <a:off x="1043608" y="2060848"/>
            <a:ext cx="698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9" name="Google Shape;589;p34"/>
          <p:cNvSpPr txBox="1"/>
          <p:nvPr/>
        </p:nvSpPr>
        <p:spPr>
          <a:xfrm>
            <a:off x="683568" y="1700808"/>
            <a:ext cx="6370062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struct node * in_pred(struct node *ptr)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struct node *pred;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if(ptr-&gt;left==thread)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pred=ptr-&gt;left_ptr;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ptr=ptr-&gt;left_ptr;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while(ptr-&gt;right==link)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ptr=ptr-&gt;right_ptr;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pred=ptr;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return pred;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/>
          </a:p>
        </p:txBody>
      </p:sp>
      <p:sp>
        <p:nvSpPr>
          <p:cNvPr id="590" name="Google Shape;590;p34"/>
          <p:cNvSpPr txBox="1"/>
          <p:nvPr>
            <p:ph idx="1" type="body"/>
          </p:nvPr>
        </p:nvSpPr>
        <p:spPr>
          <a:xfrm>
            <a:off x="5076057" y="1713919"/>
            <a:ext cx="3528392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typedef enum {thread,link} boolean;</a:t>
            </a:r>
            <a:endParaRPr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struct node</a:t>
            </a:r>
            <a:endParaRPr/>
          </a:p>
          <a:p>
            <a:pPr indent="0" lvl="0" marL="6858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{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struct node *left_ptr;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boolean left;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int info;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struct node *right_ptr;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boolean right;</a:t>
            </a:r>
            <a:endParaRPr/>
          </a:p>
          <a:p>
            <a:pPr indent="0" lvl="1" marL="36576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rPr b="1" lang="en-IN" sz="1400"/>
              <a:t>	};</a:t>
            </a:r>
            <a:endParaRPr b="1"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5"/>
          <p:cNvSpPr txBox="1"/>
          <p:nvPr>
            <p:ph type="title"/>
          </p:nvPr>
        </p:nvSpPr>
        <p:spPr>
          <a:xfrm>
            <a:off x="898933" y="404664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400"/>
              <a:t>Inorder Traversal in Right In-threaded Node</a:t>
            </a:r>
            <a:endParaRPr b="1" sz="2400"/>
          </a:p>
        </p:txBody>
      </p:sp>
      <p:sp>
        <p:nvSpPr>
          <p:cNvPr id="596" name="Google Shape;596;p3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597" name="Google Shape;597;p3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598" name="Google Shape;598;p3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99" name="Google Shape;599;p35"/>
          <p:cNvSpPr txBox="1"/>
          <p:nvPr/>
        </p:nvSpPr>
        <p:spPr>
          <a:xfrm>
            <a:off x="1043608" y="2060848"/>
            <a:ext cx="698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35"/>
          <p:cNvSpPr txBox="1"/>
          <p:nvPr>
            <p:ph idx="1" type="body"/>
          </p:nvPr>
        </p:nvSpPr>
        <p:spPr>
          <a:xfrm>
            <a:off x="1331641" y="1713919"/>
            <a:ext cx="7272808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Traverse the leftmost node of the tree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With the help of in_succ() function, find the inorder successor of each node and traverse it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Rightmost node of the tree is the last node in the inorder traversal and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Its right pointer is a thread points to the header node, 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Hence we stop on reaching header node</a:t>
            </a:r>
            <a:endParaRPr sz="1800"/>
          </a:p>
        </p:txBody>
      </p:sp>
      <p:pic>
        <p:nvPicPr>
          <p:cNvPr id="601" name="Google Shape;6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4293839"/>
            <a:ext cx="3789834" cy="201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6"/>
          <p:cNvSpPr txBox="1"/>
          <p:nvPr>
            <p:ph type="title"/>
          </p:nvPr>
        </p:nvSpPr>
        <p:spPr>
          <a:xfrm>
            <a:off x="539552" y="332656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800"/>
              <a:t>Right In-Threaded Binary Tree</a:t>
            </a:r>
            <a:endParaRPr sz="2800"/>
          </a:p>
        </p:txBody>
      </p:sp>
      <p:sp>
        <p:nvSpPr>
          <p:cNvPr id="607" name="Google Shape;607;p3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08" name="Google Shape;608;p3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09" name="Google Shape;609;p3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0" name="Google Shape;610;p36"/>
          <p:cNvSpPr txBox="1"/>
          <p:nvPr/>
        </p:nvSpPr>
        <p:spPr>
          <a:xfrm>
            <a:off x="755576" y="1844824"/>
            <a:ext cx="3676575" cy="3987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threadedTraversal" id="611" name="Google Shape;6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1" y="1052736"/>
            <a:ext cx="8136905" cy="4901971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6"/>
          <p:cNvSpPr/>
          <p:nvPr/>
        </p:nvSpPr>
        <p:spPr>
          <a:xfrm>
            <a:off x="539550" y="6137990"/>
            <a:ext cx="65527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Courtesy:https://www.geeksforgeeks.org/threaded-binary-tree/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7"/>
          <p:cNvSpPr txBox="1"/>
          <p:nvPr>
            <p:ph type="title"/>
          </p:nvPr>
        </p:nvSpPr>
        <p:spPr>
          <a:xfrm>
            <a:off x="898933" y="404664"/>
            <a:ext cx="7024744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b="1" lang="en-IN" sz="2400"/>
              <a:t>Inorder Traversal in In-threaded Node</a:t>
            </a:r>
            <a:endParaRPr b="1" sz="2400"/>
          </a:p>
        </p:txBody>
      </p:sp>
      <p:sp>
        <p:nvSpPr>
          <p:cNvPr id="618" name="Google Shape;618;p3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19" name="Google Shape;619;p3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20" name="Google Shape;620;p3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21" name="Google Shape;621;p37"/>
          <p:cNvSpPr txBox="1"/>
          <p:nvPr/>
        </p:nvSpPr>
        <p:spPr>
          <a:xfrm>
            <a:off x="1043608" y="2060848"/>
            <a:ext cx="6984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p37"/>
          <p:cNvSpPr txBox="1"/>
          <p:nvPr/>
        </p:nvSpPr>
        <p:spPr>
          <a:xfrm>
            <a:off x="729649" y="871348"/>
            <a:ext cx="7344816" cy="541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inorder()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struct node *ptr;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if(head-&gt;left_ptr==head)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{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printf(“Tree is empty”);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ptr=head-&gt;left_ptr;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b="1"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/*Find the leftmost node and traverse it*/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while(ptr-&gt;left==link)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ptr=ptr-&gt;left_ptr;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printf(“%d”,ptr-&gt;info);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while(1)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ptr=in_succ(ptr);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if(ptr==head)	</a:t>
            </a:r>
            <a:r>
              <a:rPr b="1"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/*If last node is reached*/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	break;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printf(“%d”,ptr-&gt;info);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}/*end of while*/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3" name="Google Shape;623;p37"/>
          <p:cNvSpPr txBox="1"/>
          <p:nvPr>
            <p:ph idx="1" type="body"/>
          </p:nvPr>
        </p:nvSpPr>
        <p:spPr>
          <a:xfrm>
            <a:off x="6372199" y="1713919"/>
            <a:ext cx="2232249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064"/>
              <a:buChar char="🞇"/>
            </a:pPr>
            <a:r>
              <a:rPr b="1" lang="en-IN" sz="1400"/>
              <a:t>Rightmost node of the tree is the last node in the inorder traversal and </a:t>
            </a:r>
            <a:endParaRPr/>
          </a:p>
          <a:p>
            <a:pPr indent="-274320" lvl="0" marL="3429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b="1" lang="en-IN" sz="1400"/>
              <a:t>Its  pointer right poiter is a thread points to the header node, </a:t>
            </a:r>
            <a:endParaRPr/>
          </a:p>
          <a:p>
            <a:pPr indent="-274320" lvl="0" marL="3429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b="1" lang="en-IN" sz="1400"/>
              <a:t>Hence we stop on reaching header node</a:t>
            </a:r>
            <a:endParaRPr b="1"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8"/>
          <p:cNvSpPr txBox="1"/>
          <p:nvPr>
            <p:ph type="ctrTitle"/>
          </p:nvPr>
        </p:nvSpPr>
        <p:spPr>
          <a:xfrm>
            <a:off x="4733365" y="2708476"/>
            <a:ext cx="3313355" cy="1702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IN"/>
              <a:t>AVL Trees</a:t>
            </a:r>
            <a:endParaRPr/>
          </a:p>
        </p:txBody>
      </p:sp>
      <p:sp>
        <p:nvSpPr>
          <p:cNvPr id="629" name="Google Shape;629;p38"/>
          <p:cNvSpPr txBox="1"/>
          <p:nvPr>
            <p:ph idx="1" type="subTitle"/>
          </p:nvPr>
        </p:nvSpPr>
        <p:spPr>
          <a:xfrm>
            <a:off x="4733365" y="4421080"/>
            <a:ext cx="3309803" cy="1260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/>
          </a:p>
        </p:txBody>
      </p:sp>
      <p:sp>
        <p:nvSpPr>
          <p:cNvPr id="630" name="Google Shape;630;p38"/>
          <p:cNvSpPr txBox="1"/>
          <p:nvPr>
            <p:ph idx="10" type="dt"/>
          </p:nvPr>
        </p:nvSpPr>
        <p:spPr>
          <a:xfrm>
            <a:off x="4738744" y="1516828"/>
            <a:ext cx="2133600" cy="7509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31" name="Google Shape;631;p38"/>
          <p:cNvSpPr txBox="1"/>
          <p:nvPr>
            <p:ph idx="11" type="ftr"/>
          </p:nvPr>
        </p:nvSpPr>
        <p:spPr>
          <a:xfrm>
            <a:off x="5303520" y="5719966"/>
            <a:ext cx="2831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32" name="Google Shape;632;p38"/>
          <p:cNvSpPr txBox="1"/>
          <p:nvPr>
            <p:ph idx="12" type="sldNum"/>
          </p:nvPr>
        </p:nvSpPr>
        <p:spPr>
          <a:xfrm>
            <a:off x="4649096" y="5719966"/>
            <a:ext cx="6436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9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AVL Trees</a:t>
            </a:r>
            <a:endParaRPr/>
          </a:p>
        </p:txBody>
      </p:sp>
      <p:sp>
        <p:nvSpPr>
          <p:cNvPr id="638" name="Google Shape;638;p39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0" marL="342900" rtl="0" algn="l">
              <a:spcBef>
                <a:spcPts val="0"/>
              </a:spcBef>
              <a:spcAft>
                <a:spcPts val="0"/>
              </a:spcAft>
              <a:buSzPts val="1824"/>
              <a:buChar char="🞇"/>
            </a:pPr>
            <a:r>
              <a:rPr lang="en-IN"/>
              <a:t>Why is it called so?</a:t>
            </a:r>
            <a:endParaRPr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639" name="Google Shape;639;p3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40" name="Google Shape;640;p3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41" name="Google Shape;641;p3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AVL Trees</a:t>
            </a:r>
            <a:endParaRPr/>
          </a:p>
        </p:txBody>
      </p:sp>
      <p:sp>
        <p:nvSpPr>
          <p:cNvPr id="647" name="Google Shape;647;p40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Why is it called so?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Russian Mathematician </a:t>
            </a:r>
            <a:r>
              <a:rPr b="1" lang="en-IN" sz="2000"/>
              <a:t>G.M. Adelson Velskii and E.M . Landis </a:t>
            </a:r>
            <a:r>
              <a:rPr lang="en-IN" sz="2000"/>
              <a:t>came with a new technique for </a:t>
            </a:r>
            <a:r>
              <a:rPr b="1" lang="en-IN" sz="2000"/>
              <a:t>balancing binary search tree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Called AVL trees on their names.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648" name="Google Shape;648;p4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49" name="Google Shape;649;p4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50" name="Google Shape;650;p4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AVL Trees</a:t>
            </a:r>
            <a:endParaRPr/>
          </a:p>
        </p:txBody>
      </p:sp>
      <p:sp>
        <p:nvSpPr>
          <p:cNvPr id="656" name="Google Shape;656;p4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Balanced binary search tree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A binary search tree where height of left and right subtree of any node will be with maximum difference 1</a:t>
            </a:r>
            <a:endParaRPr/>
          </a:p>
        </p:txBody>
      </p:sp>
      <p:sp>
        <p:nvSpPr>
          <p:cNvPr id="657" name="Google Shape;657;p4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58" name="Google Shape;658;p4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59" name="Google Shape;659;p4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AVL Trees</a:t>
            </a:r>
            <a:endParaRPr/>
          </a:p>
        </p:txBody>
      </p:sp>
      <p:sp>
        <p:nvSpPr>
          <p:cNvPr id="665" name="Google Shape;665;p42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Each node has a balance factor.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 u="sng"/>
              <a:t>Balance Factor=Height of Left subtree-Height of Right Subtree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666" name="Google Shape;666;p4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67" name="Google Shape;667;p4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68" name="Google Shape;668;p4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 txBox="1"/>
          <p:nvPr>
            <p:ph type="title"/>
          </p:nvPr>
        </p:nvSpPr>
        <p:spPr>
          <a:xfrm>
            <a:off x="971600" y="332656"/>
            <a:ext cx="7024744" cy="5760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Tree</a:t>
            </a:r>
            <a:endParaRPr/>
          </a:p>
        </p:txBody>
      </p:sp>
      <p:sp>
        <p:nvSpPr>
          <p:cNvPr id="674" name="Google Shape;674;p43"/>
          <p:cNvSpPr txBox="1"/>
          <p:nvPr>
            <p:ph idx="1" type="body"/>
          </p:nvPr>
        </p:nvSpPr>
        <p:spPr>
          <a:xfrm>
            <a:off x="827584" y="887413"/>
            <a:ext cx="7416824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Basic Terminology-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Height -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Font typeface="Noto Sans Symbols"/>
              <a:buChar char="⮚"/>
            </a:pPr>
            <a:r>
              <a:rPr lang="en-IN" sz="1800"/>
              <a:t>Maximum level of any leaf in the tree.</a:t>
            </a:r>
            <a:endParaRPr/>
          </a:p>
        </p:txBody>
      </p:sp>
      <p:sp>
        <p:nvSpPr>
          <p:cNvPr descr="Tree implementation in Java (root, parents and children) - Stack Overflow" id="675" name="Google Shape;675;p43"/>
          <p:cNvSpPr/>
          <p:nvPr/>
        </p:nvSpPr>
        <p:spPr>
          <a:xfrm>
            <a:off x="155575" y="-808038"/>
            <a:ext cx="2705100" cy="1695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76" name="Google Shape;67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688" y="2452688"/>
            <a:ext cx="5472608" cy="3280568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78" name="Google Shape;678;p4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79" name="Google Shape;679;p4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4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en-IN"/>
              <a:t>AVL Trees</a:t>
            </a:r>
            <a:endParaRPr/>
          </a:p>
        </p:txBody>
      </p:sp>
      <p:sp>
        <p:nvSpPr>
          <p:cNvPr id="685" name="Google Shape;685;p44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Heavy Node/Right High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If Height of right subtree is one more than height of its left subtree.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Heavy Node/Left High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If Height of its left subtree is one more than height of its right subtree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Balanced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 </a:t>
            </a:r>
            <a:r>
              <a:rPr lang="en-IN" sz="1800"/>
              <a:t>If height of left subtree=Height of right subtree.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  <a:p>
            <a:pPr indent="-158496" lvl="0" marL="342900" rtl="0" algn="l">
              <a:spcBef>
                <a:spcPts val="48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686" name="Google Shape;686;p4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87" name="Google Shape;687;p4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88" name="Google Shape;688;p4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Balance factor –</a:t>
            </a:r>
            <a:endParaRPr b="1" sz="2800"/>
          </a:p>
        </p:txBody>
      </p:sp>
      <p:sp>
        <p:nvSpPr>
          <p:cNvPr id="694" name="Google Shape;694;p45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Left High=1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Right High=-1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lang="en-IN" sz="2000"/>
              <a:t>Balanced node=0</a:t>
            </a:r>
            <a:endParaRPr sz="2000"/>
          </a:p>
        </p:txBody>
      </p:sp>
      <p:sp>
        <p:nvSpPr>
          <p:cNvPr id="695" name="Google Shape;695;p4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696" name="Google Shape;696;p4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697" name="Google Shape;697;p4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6"/>
          <p:cNvSpPr txBox="1"/>
          <p:nvPr>
            <p:ph idx="1" type="body"/>
          </p:nvPr>
        </p:nvSpPr>
        <p:spPr>
          <a:xfrm>
            <a:off x="1043492" y="4581128"/>
            <a:ext cx="6777317" cy="125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For Node A=Left Heavy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Balance Factor=Height of Left Subtree-Height of Right Subtree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Balance Factor=3-2=1</a:t>
            </a:r>
            <a:endParaRPr sz="1600"/>
          </a:p>
        </p:txBody>
      </p:sp>
      <p:sp>
        <p:nvSpPr>
          <p:cNvPr id="703" name="Google Shape;703;p46"/>
          <p:cNvSpPr txBox="1"/>
          <p:nvPr/>
        </p:nvSpPr>
        <p:spPr>
          <a:xfrm>
            <a:off x="806415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AVL trees- Node with Levels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04" name="Google Shape;704;p46"/>
          <p:cNvGrpSpPr/>
          <p:nvPr/>
        </p:nvGrpSpPr>
        <p:grpSpPr>
          <a:xfrm>
            <a:off x="1956438" y="1341350"/>
            <a:ext cx="4724696" cy="2951163"/>
            <a:chOff x="685651" y="582"/>
            <a:chExt cx="4724696" cy="2951163"/>
          </a:xfrm>
        </p:grpSpPr>
        <p:sp>
          <p:nvSpPr>
            <p:cNvPr id="705" name="Google Shape;705;p46"/>
            <p:cNvSpPr/>
            <p:nvPr/>
          </p:nvSpPr>
          <p:spPr>
            <a:xfrm>
              <a:off x="2899023" y="582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6"/>
            <p:cNvSpPr txBox="1"/>
            <p:nvPr/>
          </p:nvSpPr>
          <p:spPr>
            <a:xfrm>
              <a:off x="2915645" y="17204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7" name="Google Shape;707;p46"/>
            <p:cNvSpPr/>
            <p:nvPr/>
          </p:nvSpPr>
          <p:spPr>
            <a:xfrm>
              <a:off x="2217985" y="568113"/>
              <a:ext cx="1106685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08" name="Google Shape;708;p46"/>
            <p:cNvSpPr/>
            <p:nvPr/>
          </p:nvSpPr>
          <p:spPr>
            <a:xfrm>
              <a:off x="1792337" y="795126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6"/>
            <p:cNvSpPr txBox="1"/>
            <p:nvPr/>
          </p:nvSpPr>
          <p:spPr>
            <a:xfrm>
              <a:off x="1808959" y="811748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0" name="Google Shape;710;p46"/>
            <p:cNvSpPr/>
            <p:nvPr/>
          </p:nvSpPr>
          <p:spPr>
            <a:xfrm>
              <a:off x="1664642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11" name="Google Shape;711;p46"/>
            <p:cNvSpPr/>
            <p:nvPr/>
          </p:nvSpPr>
          <p:spPr>
            <a:xfrm>
              <a:off x="1238994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6"/>
            <p:cNvSpPr txBox="1"/>
            <p:nvPr/>
          </p:nvSpPr>
          <p:spPr>
            <a:xfrm>
              <a:off x="1255616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3" name="Google Shape;713;p46"/>
            <p:cNvSpPr/>
            <p:nvPr/>
          </p:nvSpPr>
          <p:spPr>
            <a:xfrm>
              <a:off x="1111299" y="2157201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14" name="Google Shape;714;p46"/>
            <p:cNvSpPr/>
            <p:nvPr/>
          </p:nvSpPr>
          <p:spPr>
            <a:xfrm>
              <a:off x="685651" y="2384214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6"/>
            <p:cNvSpPr txBox="1"/>
            <p:nvPr/>
          </p:nvSpPr>
          <p:spPr>
            <a:xfrm>
              <a:off x="702273" y="2400836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6" name="Google Shape;716;p46"/>
            <p:cNvSpPr/>
            <p:nvPr/>
          </p:nvSpPr>
          <p:spPr>
            <a:xfrm>
              <a:off x="1664642" y="2157201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17" name="Google Shape;717;p46"/>
            <p:cNvSpPr/>
            <p:nvPr/>
          </p:nvSpPr>
          <p:spPr>
            <a:xfrm>
              <a:off x="1792337" y="2384214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6"/>
            <p:cNvSpPr txBox="1"/>
            <p:nvPr/>
          </p:nvSpPr>
          <p:spPr>
            <a:xfrm>
              <a:off x="1808959" y="2400836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2217985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20" name="Google Shape;720;p46"/>
            <p:cNvSpPr/>
            <p:nvPr/>
          </p:nvSpPr>
          <p:spPr>
            <a:xfrm>
              <a:off x="2345680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6"/>
            <p:cNvSpPr txBox="1"/>
            <p:nvPr/>
          </p:nvSpPr>
          <p:spPr>
            <a:xfrm>
              <a:off x="2362302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3324671" y="568113"/>
              <a:ext cx="1106685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23" name="Google Shape;723;p46"/>
            <p:cNvSpPr/>
            <p:nvPr/>
          </p:nvSpPr>
          <p:spPr>
            <a:xfrm>
              <a:off x="4005708" y="795126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6"/>
            <p:cNvSpPr txBox="1"/>
            <p:nvPr/>
          </p:nvSpPr>
          <p:spPr>
            <a:xfrm>
              <a:off x="4022330" y="811748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5" name="Google Shape;725;p46"/>
            <p:cNvSpPr/>
            <p:nvPr/>
          </p:nvSpPr>
          <p:spPr>
            <a:xfrm>
              <a:off x="3878014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26" name="Google Shape;726;p46"/>
            <p:cNvSpPr/>
            <p:nvPr/>
          </p:nvSpPr>
          <p:spPr>
            <a:xfrm>
              <a:off x="3452366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6"/>
            <p:cNvSpPr txBox="1"/>
            <p:nvPr/>
          </p:nvSpPr>
          <p:spPr>
            <a:xfrm>
              <a:off x="3468988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4431357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29" name="Google Shape;729;p46"/>
            <p:cNvSpPr/>
            <p:nvPr/>
          </p:nvSpPr>
          <p:spPr>
            <a:xfrm>
              <a:off x="4559051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 txBox="1"/>
            <p:nvPr/>
          </p:nvSpPr>
          <p:spPr>
            <a:xfrm>
              <a:off x="4575673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31" name="Google Shape;731;p46"/>
          <p:cNvSpPr txBox="1"/>
          <p:nvPr/>
        </p:nvSpPr>
        <p:spPr>
          <a:xfrm>
            <a:off x="5076056" y="143809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2483768" y="21470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733" name="Google Shape;733;p46"/>
          <p:cNvSpPr txBox="1"/>
          <p:nvPr/>
        </p:nvSpPr>
        <p:spPr>
          <a:xfrm>
            <a:off x="6156176" y="2151019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734" name="Google Shape;734;p46"/>
          <p:cNvSpPr txBox="1"/>
          <p:nvPr/>
        </p:nvSpPr>
        <p:spPr>
          <a:xfrm>
            <a:off x="2051720" y="29969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sp>
        <p:nvSpPr>
          <p:cNvPr id="735" name="Google Shape;735;p46"/>
          <p:cNvSpPr txBox="1"/>
          <p:nvPr/>
        </p:nvSpPr>
        <p:spPr>
          <a:xfrm>
            <a:off x="1403648" y="371703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6804248" y="29969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7" name="Google Shape;737;p4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738" name="Google Shape;738;p4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39" name="Google Shape;739;p4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7"/>
          <p:cNvSpPr txBox="1"/>
          <p:nvPr>
            <p:ph idx="1" type="body"/>
          </p:nvPr>
        </p:nvSpPr>
        <p:spPr>
          <a:xfrm>
            <a:off x="1043492" y="4581128"/>
            <a:ext cx="6777317" cy="125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For Node A=Left Heavy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Balance Factor=Height of Left Subtree-Height of Right Subtree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Balance Factor=3-2=1</a:t>
            </a:r>
            <a:endParaRPr sz="1600"/>
          </a:p>
        </p:txBody>
      </p:sp>
      <p:sp>
        <p:nvSpPr>
          <p:cNvPr id="745" name="Google Shape;745;p47"/>
          <p:cNvSpPr txBox="1"/>
          <p:nvPr/>
        </p:nvSpPr>
        <p:spPr>
          <a:xfrm>
            <a:off x="806415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 sz="2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AVL tree with Balance Factor</a:t>
            </a:r>
            <a:endParaRPr sz="2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46" name="Google Shape;746;p47"/>
          <p:cNvGrpSpPr/>
          <p:nvPr/>
        </p:nvGrpSpPr>
        <p:grpSpPr>
          <a:xfrm>
            <a:off x="1956438" y="1341350"/>
            <a:ext cx="4724696" cy="2951163"/>
            <a:chOff x="685651" y="582"/>
            <a:chExt cx="4724696" cy="2951163"/>
          </a:xfrm>
        </p:grpSpPr>
        <p:sp>
          <p:nvSpPr>
            <p:cNvPr id="747" name="Google Shape;747;p47"/>
            <p:cNvSpPr/>
            <p:nvPr/>
          </p:nvSpPr>
          <p:spPr>
            <a:xfrm>
              <a:off x="2899023" y="582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7"/>
            <p:cNvSpPr txBox="1"/>
            <p:nvPr/>
          </p:nvSpPr>
          <p:spPr>
            <a:xfrm>
              <a:off x="2915645" y="17204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2217985" y="568113"/>
              <a:ext cx="1106685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50" name="Google Shape;750;p47"/>
            <p:cNvSpPr/>
            <p:nvPr/>
          </p:nvSpPr>
          <p:spPr>
            <a:xfrm>
              <a:off x="1792337" y="795126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 txBox="1"/>
            <p:nvPr/>
          </p:nvSpPr>
          <p:spPr>
            <a:xfrm>
              <a:off x="1808959" y="811748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1664642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53" name="Google Shape;753;p47"/>
            <p:cNvSpPr/>
            <p:nvPr/>
          </p:nvSpPr>
          <p:spPr>
            <a:xfrm>
              <a:off x="1238994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7"/>
            <p:cNvSpPr txBox="1"/>
            <p:nvPr/>
          </p:nvSpPr>
          <p:spPr>
            <a:xfrm>
              <a:off x="1255616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5" name="Google Shape;755;p47"/>
            <p:cNvSpPr/>
            <p:nvPr/>
          </p:nvSpPr>
          <p:spPr>
            <a:xfrm>
              <a:off x="1111299" y="2157201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56" name="Google Shape;756;p47"/>
            <p:cNvSpPr/>
            <p:nvPr/>
          </p:nvSpPr>
          <p:spPr>
            <a:xfrm>
              <a:off x="685651" y="2384214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7"/>
            <p:cNvSpPr txBox="1"/>
            <p:nvPr/>
          </p:nvSpPr>
          <p:spPr>
            <a:xfrm>
              <a:off x="702273" y="2400836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8" name="Google Shape;758;p47"/>
            <p:cNvSpPr/>
            <p:nvPr/>
          </p:nvSpPr>
          <p:spPr>
            <a:xfrm>
              <a:off x="1664642" y="2157201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59" name="Google Shape;759;p47"/>
            <p:cNvSpPr/>
            <p:nvPr/>
          </p:nvSpPr>
          <p:spPr>
            <a:xfrm>
              <a:off x="1792337" y="2384214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7"/>
            <p:cNvSpPr txBox="1"/>
            <p:nvPr/>
          </p:nvSpPr>
          <p:spPr>
            <a:xfrm>
              <a:off x="1808959" y="2400836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1" name="Google Shape;761;p47"/>
            <p:cNvSpPr/>
            <p:nvPr/>
          </p:nvSpPr>
          <p:spPr>
            <a:xfrm>
              <a:off x="2217985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62" name="Google Shape;762;p47"/>
            <p:cNvSpPr/>
            <p:nvPr/>
          </p:nvSpPr>
          <p:spPr>
            <a:xfrm>
              <a:off x="2345680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7"/>
            <p:cNvSpPr txBox="1"/>
            <p:nvPr/>
          </p:nvSpPr>
          <p:spPr>
            <a:xfrm>
              <a:off x="2362302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3324671" y="568113"/>
              <a:ext cx="1106685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759C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65" name="Google Shape;765;p47"/>
            <p:cNvSpPr/>
            <p:nvPr/>
          </p:nvSpPr>
          <p:spPr>
            <a:xfrm>
              <a:off x="4005708" y="795126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7"/>
            <p:cNvSpPr txBox="1"/>
            <p:nvPr/>
          </p:nvSpPr>
          <p:spPr>
            <a:xfrm>
              <a:off x="4022330" y="811748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3878014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68" name="Google Shape;768;p47"/>
            <p:cNvSpPr/>
            <p:nvPr/>
          </p:nvSpPr>
          <p:spPr>
            <a:xfrm>
              <a:off x="3452366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7"/>
            <p:cNvSpPr txBox="1"/>
            <p:nvPr/>
          </p:nvSpPr>
          <p:spPr>
            <a:xfrm>
              <a:off x="3468988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4431357" y="1362657"/>
              <a:ext cx="553342" cy="22701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5875">
              <a:solidFill>
                <a:srgbClr val="84B2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771" name="Google Shape;771;p47"/>
            <p:cNvSpPr/>
            <p:nvPr/>
          </p:nvSpPr>
          <p:spPr>
            <a:xfrm>
              <a:off x="4559051" y="1589670"/>
              <a:ext cx="851296" cy="567531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7"/>
            <p:cNvSpPr txBox="1"/>
            <p:nvPr/>
          </p:nvSpPr>
          <p:spPr>
            <a:xfrm>
              <a:off x="4575673" y="1606292"/>
              <a:ext cx="818052" cy="534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</a:t>
              </a:r>
              <a:endParaRPr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73" name="Google Shape;773;p47"/>
          <p:cNvSpPr txBox="1"/>
          <p:nvPr/>
        </p:nvSpPr>
        <p:spPr>
          <a:xfrm>
            <a:off x="5076056" y="143809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4" name="Google Shape;774;p47"/>
          <p:cNvSpPr txBox="1"/>
          <p:nvPr/>
        </p:nvSpPr>
        <p:spPr>
          <a:xfrm>
            <a:off x="2483768" y="214706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775" name="Google Shape;775;p47"/>
          <p:cNvSpPr txBox="1"/>
          <p:nvPr/>
        </p:nvSpPr>
        <p:spPr>
          <a:xfrm>
            <a:off x="6156176" y="2151019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6" name="Google Shape;776;p47"/>
          <p:cNvSpPr txBox="1"/>
          <p:nvPr/>
        </p:nvSpPr>
        <p:spPr>
          <a:xfrm>
            <a:off x="2051720" y="29969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7" name="Google Shape;777;p47"/>
          <p:cNvSpPr txBox="1"/>
          <p:nvPr/>
        </p:nvSpPr>
        <p:spPr>
          <a:xfrm>
            <a:off x="1403648" y="371703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8" name="Google Shape;778;p47"/>
          <p:cNvSpPr txBox="1"/>
          <p:nvPr/>
        </p:nvSpPr>
        <p:spPr>
          <a:xfrm>
            <a:off x="6660232" y="29969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9" name="Google Shape;779;p47"/>
          <p:cNvSpPr txBox="1"/>
          <p:nvPr/>
        </p:nvSpPr>
        <p:spPr>
          <a:xfrm>
            <a:off x="5508104" y="29969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0" name="Google Shape;780;p47"/>
          <p:cNvSpPr txBox="1"/>
          <p:nvPr/>
        </p:nvSpPr>
        <p:spPr>
          <a:xfrm>
            <a:off x="3347864" y="299695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1" name="Google Shape;781;p47"/>
          <p:cNvSpPr txBox="1"/>
          <p:nvPr/>
        </p:nvSpPr>
        <p:spPr>
          <a:xfrm>
            <a:off x="2771800" y="371703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2" name="Google Shape;782;p4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783" name="Google Shape;783;p4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84" name="Google Shape;784;p4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8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Binary Search Trees which are AVL Trees</a:t>
            </a:r>
            <a:endParaRPr b="1" sz="2400"/>
          </a:p>
        </p:txBody>
      </p:sp>
      <p:sp>
        <p:nvSpPr>
          <p:cNvPr id="790" name="Google Shape;790;p4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791" name="Google Shape;791;p4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792" name="Google Shape;792;p4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93" name="Google Shape;793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844824"/>
            <a:ext cx="6840760" cy="388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9"/>
          <p:cNvSpPr txBox="1"/>
          <p:nvPr>
            <p:ph type="title"/>
          </p:nvPr>
        </p:nvSpPr>
        <p:spPr>
          <a:xfrm>
            <a:off x="1043490" y="1027664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Gothic"/>
              <a:buNone/>
            </a:pPr>
            <a:r>
              <a:rPr b="1" lang="en-IN" sz="2400"/>
              <a:t>Binary Search Trees which are not AVL Trees</a:t>
            </a:r>
            <a:endParaRPr b="1" sz="2400"/>
          </a:p>
        </p:txBody>
      </p:sp>
      <p:sp>
        <p:nvSpPr>
          <p:cNvPr id="799" name="Google Shape;799;p4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00" name="Google Shape;800;p4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01" name="Google Shape;801;p4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02" name="Google Shape;802;p49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803" name="Google Shape;80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2348880"/>
            <a:ext cx="6768751" cy="34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0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Calculate the Balance factor </a:t>
            </a:r>
            <a:endParaRPr/>
          </a:p>
        </p:txBody>
      </p:sp>
      <p:sp>
        <p:nvSpPr>
          <p:cNvPr id="809" name="Google Shape;809;p5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10" name="Google Shape;810;p5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11" name="Google Shape;811;p5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12" name="Google Shape;812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2105" l="0" r="57073" t="30506"/>
          <a:stretch/>
        </p:blipFill>
        <p:spPr>
          <a:xfrm>
            <a:off x="1547664" y="2636912"/>
            <a:ext cx="4248472" cy="288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1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entury Gothic"/>
              <a:buNone/>
            </a:pPr>
            <a:r>
              <a:rPr lang="en-IN"/>
              <a:t>Calculate the Balance factor </a:t>
            </a:r>
            <a:endParaRPr/>
          </a:p>
        </p:txBody>
      </p:sp>
      <p:sp>
        <p:nvSpPr>
          <p:cNvPr id="818" name="Google Shape;818;p5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19" name="Google Shape;819;p5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20" name="Google Shape;820;p5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21" name="Google Shape;821;p51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pic>
        <p:nvPicPr>
          <p:cNvPr id="822" name="Google Shape;822;p51"/>
          <p:cNvPicPr preferRelativeResize="0"/>
          <p:nvPr/>
        </p:nvPicPr>
        <p:blipFill rotWithShape="1">
          <a:blip r:embed="rId3">
            <a:alphaModFix/>
          </a:blip>
          <a:srcRect b="22105" l="0" r="57073" t="30506"/>
          <a:stretch/>
        </p:blipFill>
        <p:spPr>
          <a:xfrm>
            <a:off x="1547664" y="2636912"/>
            <a:ext cx="4248472" cy="2880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51"/>
          <p:cNvSpPr txBox="1"/>
          <p:nvPr/>
        </p:nvSpPr>
        <p:spPr>
          <a:xfrm>
            <a:off x="3131840" y="4941168"/>
            <a:ext cx="288032" cy="330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4" name="Google Shape;824;p51"/>
          <p:cNvSpPr txBox="1"/>
          <p:nvPr/>
        </p:nvSpPr>
        <p:spPr>
          <a:xfrm>
            <a:off x="1907704" y="4127720"/>
            <a:ext cx="288032" cy="330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5" name="Google Shape;825;p51"/>
          <p:cNvSpPr txBox="1"/>
          <p:nvPr/>
        </p:nvSpPr>
        <p:spPr>
          <a:xfrm>
            <a:off x="5220072" y="4293096"/>
            <a:ext cx="288032" cy="330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6" name="Google Shape;826;p51"/>
          <p:cNvSpPr txBox="1"/>
          <p:nvPr/>
        </p:nvSpPr>
        <p:spPr>
          <a:xfrm>
            <a:off x="3671900" y="4130673"/>
            <a:ext cx="288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7" name="Google Shape;827;p51"/>
          <p:cNvSpPr txBox="1"/>
          <p:nvPr/>
        </p:nvSpPr>
        <p:spPr>
          <a:xfrm>
            <a:off x="3367038" y="3356992"/>
            <a:ext cx="448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4499992" y="3332456"/>
            <a:ext cx="448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9" name="Google Shape;829;p51"/>
          <p:cNvSpPr txBox="1"/>
          <p:nvPr/>
        </p:nvSpPr>
        <p:spPr>
          <a:xfrm>
            <a:off x="3835090" y="2636912"/>
            <a:ext cx="448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2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Insertion in AVL Trees–</a:t>
            </a:r>
            <a:endParaRPr b="1" sz="2800"/>
          </a:p>
        </p:txBody>
      </p:sp>
      <p:sp>
        <p:nvSpPr>
          <p:cNvPr id="835" name="Google Shape;835;p52"/>
          <p:cNvSpPr txBox="1"/>
          <p:nvPr>
            <p:ph idx="1" type="body"/>
          </p:nvPr>
        </p:nvSpPr>
        <p:spPr>
          <a:xfrm>
            <a:off x="827584" y="1268760"/>
            <a:ext cx="7488832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44" lvl="0" marL="342900" rtl="0" algn="l">
              <a:spcBef>
                <a:spcPts val="0"/>
              </a:spcBef>
              <a:spcAft>
                <a:spcPts val="0"/>
              </a:spcAft>
              <a:buSzPct val="76000"/>
              <a:buChar char="🞇"/>
            </a:pPr>
            <a:r>
              <a:rPr lang="en-IN" sz="1900"/>
              <a:t>Similar to Insertion in Binary Search Tree</a:t>
            </a:r>
            <a:endParaRPr/>
          </a:p>
          <a:p>
            <a:pPr indent="-274344" lvl="0" marL="342900" rtl="0" algn="l">
              <a:spcBef>
                <a:spcPts val="351"/>
              </a:spcBef>
              <a:spcAft>
                <a:spcPts val="0"/>
              </a:spcAft>
              <a:buSzPct val="76000"/>
              <a:buChar char="🞇"/>
            </a:pPr>
            <a:r>
              <a:rPr lang="en-IN" sz="1900"/>
              <a:t>Steps-</a:t>
            </a:r>
            <a:endParaRPr/>
          </a:p>
          <a:p>
            <a:pPr indent="-457224" lvl="0" marL="525780" rtl="0" algn="l">
              <a:spcBef>
                <a:spcPts val="351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1900"/>
              <a:t>Insert the node at the proper place using same procedure as in BST</a:t>
            </a:r>
            <a:endParaRPr/>
          </a:p>
          <a:p>
            <a:pPr indent="-372407" lvl="0" marL="525780" rtl="0" algn="l">
              <a:spcBef>
                <a:spcPts val="351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1900"/>
          </a:p>
          <a:p>
            <a:pPr indent="-457224" lvl="0" marL="525780" rtl="0" algn="l">
              <a:spcBef>
                <a:spcPts val="351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1900"/>
              <a:t>Calculate the balance factors of all the nodes on the path starting from the inserted node to the root node.</a:t>
            </a:r>
            <a:endParaRPr/>
          </a:p>
          <a:p>
            <a:pPr indent="-457224" lvl="1" marL="822960" rtl="0" algn="l">
              <a:spcBef>
                <a:spcPts val="314"/>
              </a:spcBef>
              <a:spcAft>
                <a:spcPts val="0"/>
              </a:spcAft>
              <a:buSzPct val="76000"/>
              <a:buFont typeface="Century Gothic"/>
              <a:buAutoNum type="alphaLcParenR"/>
            </a:pPr>
            <a:r>
              <a:rPr b="1" lang="en-IN" sz="1700"/>
              <a:t>If the tree is balanced then there is no need to proceed further.</a:t>
            </a:r>
            <a:endParaRPr/>
          </a:p>
          <a:p>
            <a:pPr indent="-381335" lvl="1" marL="822960" rtl="0" algn="l">
              <a:spcBef>
                <a:spcPts val="314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b="1" sz="1700"/>
          </a:p>
          <a:p>
            <a:pPr indent="-457224" lvl="1" marL="822960" rtl="0" algn="l">
              <a:spcBef>
                <a:spcPts val="314"/>
              </a:spcBef>
              <a:spcAft>
                <a:spcPts val="0"/>
              </a:spcAft>
              <a:buSzPct val="76000"/>
              <a:buFont typeface="Century Gothic"/>
              <a:buAutoNum type="alphaLcParenR"/>
            </a:pPr>
            <a:r>
              <a:rPr b="1" lang="en-IN" sz="1700"/>
              <a:t>If </a:t>
            </a:r>
            <a:r>
              <a:rPr b="1" lang="en-IN" sz="1700">
                <a:solidFill>
                  <a:srgbClr val="00B0F0"/>
                </a:solidFill>
              </a:rPr>
              <a:t>absolute value of balanced factor of any node in this path &gt;1 </a:t>
            </a:r>
            <a:r>
              <a:rPr b="1" lang="en-IN" sz="1700"/>
              <a:t>then the tree becomes unbalanced.</a:t>
            </a:r>
            <a:endParaRPr/>
          </a:p>
          <a:p>
            <a:pPr indent="-381335" lvl="1" marL="822960" rtl="0" algn="l">
              <a:spcBef>
                <a:spcPts val="314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b="1" sz="1700"/>
          </a:p>
          <a:p>
            <a:pPr indent="-457224" lvl="1" marL="822960" rtl="0" algn="l">
              <a:spcBef>
                <a:spcPts val="314"/>
              </a:spcBef>
              <a:spcAft>
                <a:spcPts val="0"/>
              </a:spcAft>
              <a:buSzPct val="76000"/>
              <a:buFont typeface="Century Gothic"/>
              <a:buAutoNum type="alphaLcParenR"/>
            </a:pPr>
            <a:r>
              <a:rPr b="1" lang="en-IN" sz="1700">
                <a:solidFill>
                  <a:srgbClr val="00B0F0"/>
                </a:solidFill>
              </a:rPr>
              <a:t>The node which is nearest to the inserted  node &amp; has absolute value of balance factor &gt;1 is marked as Pivot node</a:t>
            </a:r>
            <a:endParaRPr/>
          </a:p>
          <a:p>
            <a:pPr indent="-372407" lvl="0" marL="525780" rtl="0" algn="l">
              <a:spcBef>
                <a:spcPts val="351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1900"/>
          </a:p>
          <a:p>
            <a:pPr indent="-457224" lvl="0" marL="525780" rtl="0" algn="l">
              <a:spcBef>
                <a:spcPts val="351"/>
              </a:spcBef>
              <a:spcAft>
                <a:spcPts val="0"/>
              </a:spcAft>
              <a:buSzPct val="76000"/>
              <a:buFont typeface="Century Gothic"/>
              <a:buAutoNum type="arabicParenR"/>
            </a:pPr>
            <a:r>
              <a:rPr lang="en-IN" sz="1900"/>
              <a:t>We perform </a:t>
            </a:r>
            <a:r>
              <a:rPr b="1" lang="en-IN" sz="1900"/>
              <a:t>rotations about the pivot node</a:t>
            </a:r>
            <a:endParaRPr/>
          </a:p>
          <a:p>
            <a:pPr indent="-367919" lvl="0" marL="525780" rtl="0" algn="l">
              <a:spcBef>
                <a:spcPts val="370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2000"/>
          </a:p>
          <a:p>
            <a:pPr indent="-367919" lvl="0" marL="525780" rtl="0" algn="l">
              <a:spcBef>
                <a:spcPts val="370"/>
              </a:spcBef>
              <a:spcAft>
                <a:spcPts val="0"/>
              </a:spcAft>
              <a:buSzPct val="76000"/>
              <a:buFont typeface="Century Gothic"/>
              <a:buNone/>
            </a:pPr>
            <a:r>
              <a:t/>
            </a:r>
            <a:endParaRPr sz="2000"/>
          </a:p>
        </p:txBody>
      </p:sp>
      <p:sp>
        <p:nvSpPr>
          <p:cNvPr id="836" name="Google Shape;836;p5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37" name="Google Shape;837;p5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38" name="Google Shape;838;p5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53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Insertion in AVL Trees–</a:t>
            </a:r>
            <a:endParaRPr b="1" sz="2800"/>
          </a:p>
        </p:txBody>
      </p:sp>
      <p:sp>
        <p:nvSpPr>
          <p:cNvPr id="844" name="Google Shape;844;p53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068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</p:txBody>
      </p:sp>
      <p:sp>
        <p:nvSpPr>
          <p:cNvPr id="845" name="Google Shape;845;p5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46" name="Google Shape;846;p5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47" name="Google Shape;847;p5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48" name="Google Shape;84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1132028"/>
            <a:ext cx="6120680" cy="2088232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3"/>
          <p:cNvSpPr txBox="1"/>
          <p:nvPr/>
        </p:nvSpPr>
        <p:spPr>
          <a:xfrm>
            <a:off x="992529" y="4419080"/>
            <a:ext cx="6099751" cy="1173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b="1"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52 in the given AVL tree</a:t>
            </a:r>
            <a:endParaRPr/>
          </a:p>
          <a:p>
            <a:pPr indent="-187452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4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Insertion in AVL Trees–</a:t>
            </a:r>
            <a:endParaRPr b="1" sz="2800"/>
          </a:p>
        </p:txBody>
      </p:sp>
      <p:sp>
        <p:nvSpPr>
          <p:cNvPr id="855" name="Google Shape;855;p54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068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</p:txBody>
      </p:sp>
      <p:sp>
        <p:nvSpPr>
          <p:cNvPr id="856" name="Google Shape;856;p5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57" name="Google Shape;857;p5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58" name="Google Shape;858;p5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59" name="Google Shape;85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1132028"/>
            <a:ext cx="4320480" cy="20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3356992"/>
            <a:ext cx="4320480" cy="2232247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54"/>
          <p:cNvSpPr txBox="1"/>
          <p:nvPr/>
        </p:nvSpPr>
        <p:spPr>
          <a:xfrm>
            <a:off x="5580112" y="1138033"/>
            <a:ext cx="3044971" cy="2347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52, </a:t>
            </a:r>
            <a:endParaRPr/>
          </a:p>
          <a:p>
            <a:pPr indent="-274320" lvl="1" marL="640080" marR="0" rtl="0" algn="l">
              <a:spcBef>
                <a:spcPts val="29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balance factors of some nodes changed </a:t>
            </a:r>
            <a:endParaRPr/>
          </a:p>
          <a:p>
            <a:pPr indent="-274320" lvl="1" marL="640080" marR="0" rtl="0" algn="l">
              <a:spcBef>
                <a:spcPts val="29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i="0" lang="en-IN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but tree is still balanced</a:t>
            </a:r>
            <a:endParaRPr/>
          </a:p>
          <a:p>
            <a:pPr indent="-202895" lvl="1" marL="640080" marR="0" rtl="0" algn="l">
              <a:spcBef>
                <a:spcPts val="29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02895" lvl="1" marL="640080" marR="0" rtl="0" algn="l">
              <a:spcBef>
                <a:spcPts val="29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02895" lvl="1" marL="640080" marR="0" rtl="0" algn="l">
              <a:spcBef>
                <a:spcPts val="29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02895" lvl="1" marL="640080" marR="0" rtl="0" algn="l">
              <a:spcBef>
                <a:spcPts val="296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Char char="🞇"/>
            </a:pPr>
            <a:r>
              <a:rPr b="1"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Insert 35</a:t>
            </a:r>
            <a:endParaRPr/>
          </a:p>
          <a:p>
            <a:pPr indent="-193967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33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85039" lvl="0" marL="34290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5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Insertion in AVL Trees–</a:t>
            </a:r>
            <a:endParaRPr b="1" sz="2800"/>
          </a:p>
        </p:txBody>
      </p:sp>
      <p:sp>
        <p:nvSpPr>
          <p:cNvPr id="867" name="Google Shape;867;p55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0680" lvl="0" marL="525780" rtl="0" algn="l">
              <a:spcBef>
                <a:spcPts val="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  <a:p>
            <a:pPr indent="-360680" lvl="0" marL="525780" rtl="0" algn="l">
              <a:spcBef>
                <a:spcPts val="400"/>
              </a:spcBef>
              <a:spcAft>
                <a:spcPts val="0"/>
              </a:spcAft>
              <a:buSzPts val="1520"/>
              <a:buFont typeface="Century Gothic"/>
              <a:buNone/>
            </a:pPr>
            <a:r>
              <a:t/>
            </a:r>
            <a:endParaRPr sz="2000"/>
          </a:p>
        </p:txBody>
      </p:sp>
      <p:sp>
        <p:nvSpPr>
          <p:cNvPr id="868" name="Google Shape;868;p5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69" name="Google Shape;869;p5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70" name="Google Shape;870;p5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1" name="Google Shape;87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318" y="1191607"/>
            <a:ext cx="4320480" cy="2232247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55"/>
          <p:cNvSpPr txBox="1"/>
          <p:nvPr/>
        </p:nvSpPr>
        <p:spPr>
          <a:xfrm>
            <a:off x="5580112" y="1138033"/>
            <a:ext cx="3044971" cy="3518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Char char="🞇"/>
            </a:pPr>
            <a:r>
              <a:rPr b="1" lang="en-IN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inserting 35, </a:t>
            </a:r>
            <a:endParaRPr/>
          </a:p>
          <a:p>
            <a:pPr indent="-274320" lvl="1" marL="64008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</a:pPr>
            <a:r>
              <a:rPr b="1" i="0" lang="en-IN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Tree is unbalanced</a:t>
            </a:r>
            <a:endParaRPr/>
          </a:p>
          <a:p>
            <a:pPr indent="-197104" lvl="1" marL="64008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1" marL="64008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</a:pPr>
            <a:r>
              <a:rPr b="1" i="0" lang="en-IN" sz="16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Node 48 is unbalanced and </a:t>
            </a:r>
            <a:endParaRPr/>
          </a:p>
          <a:p>
            <a:pPr indent="-274320" lvl="1" marL="64008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</a:pPr>
            <a:r>
              <a:rPr b="1" i="0" lang="en-IN" sz="16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nearest to the inserted node, so it’s the Pivot Node</a:t>
            </a:r>
            <a:endParaRPr/>
          </a:p>
          <a:p>
            <a:pPr indent="-197104" lvl="1" marL="64008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74320" lvl="1" marL="64008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Char char="🞇"/>
            </a:pPr>
            <a:r>
              <a:rPr b="1" i="0" lang="en-IN" sz="16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Rotations will be needed now</a:t>
            </a:r>
            <a:endParaRPr b="1" i="0" sz="1800" u="none" cap="none" strike="noStrike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77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6858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73" name="Google Shape;87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318" y="3485310"/>
            <a:ext cx="4320480" cy="2343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6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879" name="Google Shape;879;p56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4 types of Rotation: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880" name="Google Shape;880;p5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81" name="Google Shape;881;p5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82" name="Google Shape;882;p5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7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888" name="Google Shape;888;p57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4 types of Rotation: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>
                <a:solidFill>
                  <a:srgbClr val="FF0000"/>
                </a:solidFill>
              </a:rPr>
              <a:t>C to S Rotation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>
                <a:solidFill>
                  <a:srgbClr val="FF0000"/>
                </a:solidFill>
              </a:rPr>
              <a:t>Child to Subtree Rotation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sz="2000"/>
          </a:p>
        </p:txBody>
      </p:sp>
      <p:sp>
        <p:nvSpPr>
          <p:cNvPr id="889" name="Google Shape;889;p5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90" name="Google Shape;890;p5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891" name="Google Shape;891;p5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58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897" name="Google Shape;897;p58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IN" sz="2000"/>
              <a:t>4 types of Rotation depending upon where the new node is inserted:</a:t>
            </a:r>
            <a:endParaRPr/>
          </a:p>
          <a:p>
            <a:pPr indent="0" lvl="0" marL="6858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rPr b="1" lang="en-IN" sz="2000" u="sng">
                <a:solidFill>
                  <a:srgbClr val="00B0F0"/>
                </a:solidFill>
              </a:rPr>
              <a:t>Child to Subtree Relationship(Of Pivot Node)</a:t>
            </a:r>
            <a:endParaRPr b="1" sz="2000" u="sng">
              <a:solidFill>
                <a:srgbClr val="00B0F0"/>
              </a:solidFill>
            </a:endParaRPr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Insertion in Left subtree of left child of Pivot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Insertion in Right subtree of right child of Pivot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Insertion in Left subtree of right child of Pivot Node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Insertion in right subtree of left child of Pivot Node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898" name="Google Shape;898;p5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899" name="Google Shape;899;p5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00" name="Google Shape;900;p5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9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06" name="Google Shape;906;p59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 =Pivot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 =Left Child of the 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AL,AR=Left and Right Subtrees of Node A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PR=Right Subtree of Node P</a:t>
            </a:r>
            <a:endParaRPr/>
          </a:p>
        </p:txBody>
      </p:sp>
      <p:sp>
        <p:nvSpPr>
          <p:cNvPr id="907" name="Google Shape;907;p5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08" name="Google Shape;908;p5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09" name="Google Shape;909;p5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10" name="Google Shape;91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2924944"/>
            <a:ext cx="6408712" cy="298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60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16" name="Google Shape;916;p60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When the Pivot node is left heavy 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new node is inserted in left subtree  of the left child of pivot node then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rotation performed  is left to left rotation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17" name="Google Shape;917;p6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18" name="Google Shape;918;p6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19" name="Google Shape;919;p6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0" name="Google Shape;92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2924944"/>
            <a:ext cx="6408712" cy="29828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60"/>
          <p:cNvCxnSpPr/>
          <p:nvPr/>
        </p:nvCxnSpPr>
        <p:spPr>
          <a:xfrm>
            <a:off x="827584" y="4293096"/>
            <a:ext cx="1008112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2" name="Google Shape;922;p60"/>
          <p:cNvCxnSpPr/>
          <p:nvPr/>
        </p:nvCxnSpPr>
        <p:spPr>
          <a:xfrm>
            <a:off x="2699792" y="4941168"/>
            <a:ext cx="1008112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1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28" name="Google Shape;928;p61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>
                <a:solidFill>
                  <a:srgbClr val="00B0F0"/>
                </a:solidFill>
              </a:rPr>
              <a:t>Left to Left Rotation(Clockwise about Pivot)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pointer pptr points to 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Pointer aptr points to A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New node inserted in left Subtree of A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>
                <a:solidFill>
                  <a:srgbClr val="FF0000"/>
                </a:solidFill>
              </a:rPr>
              <a:t>Clockwise Rotation about Pivot P is performed , Now A will be the 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>
                <a:solidFill>
                  <a:srgbClr val="FF0000"/>
                </a:solidFill>
              </a:rPr>
              <a:t>Pivot pulled down</a:t>
            </a:r>
            <a:endParaRPr/>
          </a:p>
        </p:txBody>
      </p:sp>
      <p:sp>
        <p:nvSpPr>
          <p:cNvPr id="929" name="Google Shape;929;p6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30" name="Google Shape;930;p6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31" name="Google Shape;931;p6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32" name="Google Shape;93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3429000"/>
            <a:ext cx="6408712" cy="2478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2"/>
          <p:cNvSpPr txBox="1"/>
          <p:nvPr>
            <p:ph type="title"/>
          </p:nvPr>
        </p:nvSpPr>
        <p:spPr>
          <a:xfrm>
            <a:off x="1033415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38" name="Google Shape;938;p62"/>
          <p:cNvSpPr txBox="1"/>
          <p:nvPr>
            <p:ph idx="1" type="body"/>
          </p:nvPr>
        </p:nvSpPr>
        <p:spPr>
          <a:xfrm>
            <a:off x="1042900" y="878707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Rotation-</a:t>
            </a:r>
            <a:r>
              <a:rPr lang="en-IN" sz="1800"/>
              <a:t>Example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>
                <a:solidFill>
                  <a:srgbClr val="00B0F0"/>
                </a:solidFill>
              </a:rPr>
              <a:t>Left to Left Rotation(Clockwise about Pivot)</a:t>
            </a:r>
            <a:endParaRPr/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39" name="Google Shape;939;p6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40" name="Google Shape;940;p6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41" name="Google Shape;941;p6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42" name="Google Shape;94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988840"/>
            <a:ext cx="6696743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3"/>
          <p:cNvSpPr txBox="1"/>
          <p:nvPr>
            <p:ph type="title"/>
          </p:nvPr>
        </p:nvSpPr>
        <p:spPr>
          <a:xfrm>
            <a:off x="1033415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48" name="Google Shape;948;p63"/>
          <p:cNvSpPr txBox="1"/>
          <p:nvPr>
            <p:ph idx="1" type="body"/>
          </p:nvPr>
        </p:nvSpPr>
        <p:spPr>
          <a:xfrm>
            <a:off x="1042900" y="878707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Left Rotation-</a:t>
            </a:r>
            <a:r>
              <a:rPr lang="en-IN" sz="1800"/>
              <a:t>Example- Insert 3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49" name="Google Shape;949;p6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50" name="Google Shape;950;p6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51" name="Google Shape;951;p6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52" name="Google Shape;952;p63"/>
          <p:cNvGrpSpPr/>
          <p:nvPr/>
        </p:nvGrpSpPr>
        <p:grpSpPr>
          <a:xfrm>
            <a:off x="527497" y="1268760"/>
            <a:ext cx="7932936" cy="2738135"/>
            <a:chOff x="527497" y="2171675"/>
            <a:chExt cx="7932936" cy="3057525"/>
          </a:xfrm>
        </p:grpSpPr>
        <p:pic>
          <p:nvPicPr>
            <p:cNvPr id="953" name="Google Shape;953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1513" y="2171675"/>
              <a:ext cx="4908599" cy="3057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80113" y="2171675"/>
              <a:ext cx="2880320" cy="3057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63"/>
            <p:cNvSpPr/>
            <p:nvPr/>
          </p:nvSpPr>
          <p:spPr>
            <a:xfrm>
              <a:off x="5436096" y="2921643"/>
              <a:ext cx="1008112" cy="2880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5875">
              <a:solidFill>
                <a:srgbClr val="6C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6" name="Google Shape;956;p63"/>
            <p:cNvSpPr/>
            <p:nvPr/>
          </p:nvSpPr>
          <p:spPr>
            <a:xfrm>
              <a:off x="2807804" y="2996952"/>
              <a:ext cx="1008112" cy="2880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5875">
              <a:solidFill>
                <a:srgbClr val="6C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7" name="Google Shape;957;p63"/>
            <p:cNvSpPr txBox="1"/>
            <p:nvPr/>
          </p:nvSpPr>
          <p:spPr>
            <a:xfrm>
              <a:off x="1763688" y="4221088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8" name="Google Shape;958;p63"/>
            <p:cNvSpPr txBox="1"/>
            <p:nvPr/>
          </p:nvSpPr>
          <p:spPr>
            <a:xfrm>
              <a:off x="527497" y="4221088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9" name="Google Shape;959;p63"/>
            <p:cNvSpPr txBox="1"/>
            <p:nvPr/>
          </p:nvSpPr>
          <p:spPr>
            <a:xfrm>
              <a:off x="2722676" y="4725144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0" name="Google Shape;960;p63"/>
            <p:cNvSpPr txBox="1"/>
            <p:nvPr/>
          </p:nvSpPr>
          <p:spPr>
            <a:xfrm>
              <a:off x="2056276" y="3539783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1" name="Google Shape;961;p63"/>
            <p:cNvSpPr txBox="1"/>
            <p:nvPr/>
          </p:nvSpPr>
          <p:spPr>
            <a:xfrm>
              <a:off x="1186916" y="2921643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962" name="Google Shape;962;p63"/>
            <p:cNvSpPr txBox="1"/>
            <p:nvPr/>
          </p:nvSpPr>
          <p:spPr>
            <a:xfrm>
              <a:off x="1559858" y="2338710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963" name="Google Shape;963;p63"/>
            <p:cNvSpPr txBox="1"/>
            <p:nvPr/>
          </p:nvSpPr>
          <p:spPr>
            <a:xfrm>
              <a:off x="898884" y="3515771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4" name="Google Shape;964;p63"/>
            <p:cNvSpPr txBox="1"/>
            <p:nvPr/>
          </p:nvSpPr>
          <p:spPr>
            <a:xfrm>
              <a:off x="2794684" y="3507517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5" name="Google Shape;965;p63"/>
            <p:cNvSpPr txBox="1"/>
            <p:nvPr/>
          </p:nvSpPr>
          <p:spPr>
            <a:xfrm>
              <a:off x="2426398" y="2893516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-1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6" name="Google Shape;966;p63"/>
            <p:cNvSpPr txBox="1"/>
            <p:nvPr/>
          </p:nvSpPr>
          <p:spPr>
            <a:xfrm>
              <a:off x="4427984" y="4065825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7" name="Google Shape;967;p63"/>
            <p:cNvSpPr txBox="1"/>
            <p:nvPr/>
          </p:nvSpPr>
          <p:spPr>
            <a:xfrm>
              <a:off x="4788024" y="3361253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8" name="Google Shape;968;p63"/>
            <p:cNvSpPr txBox="1"/>
            <p:nvPr/>
          </p:nvSpPr>
          <p:spPr>
            <a:xfrm>
              <a:off x="5436097" y="3363360"/>
              <a:ext cx="2880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0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9" name="Google Shape;969;p63"/>
            <p:cNvSpPr txBox="1"/>
            <p:nvPr/>
          </p:nvSpPr>
          <p:spPr>
            <a:xfrm>
              <a:off x="3131840" y="4054209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970" name="Google Shape;970;p63"/>
            <p:cNvSpPr txBox="1"/>
            <p:nvPr/>
          </p:nvSpPr>
          <p:spPr>
            <a:xfrm>
              <a:off x="3491880" y="3382455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</a:t>
              </a:r>
              <a:endParaRPr/>
            </a:p>
          </p:txBody>
        </p:sp>
        <p:sp>
          <p:nvSpPr>
            <p:cNvPr id="971" name="Google Shape;971;p63"/>
            <p:cNvSpPr txBox="1"/>
            <p:nvPr/>
          </p:nvSpPr>
          <p:spPr>
            <a:xfrm>
              <a:off x="3851920" y="2771636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/>
            </a:p>
          </p:txBody>
        </p:sp>
        <p:sp>
          <p:nvSpPr>
            <p:cNvPr id="972" name="Google Shape;972;p63"/>
            <p:cNvSpPr txBox="1"/>
            <p:nvPr/>
          </p:nvSpPr>
          <p:spPr>
            <a:xfrm>
              <a:off x="4139952" y="2202874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endParaRPr/>
            </a:p>
          </p:txBody>
        </p:sp>
        <p:sp>
          <p:nvSpPr>
            <p:cNvPr id="973" name="Google Shape;973;p63"/>
            <p:cNvSpPr txBox="1"/>
            <p:nvPr/>
          </p:nvSpPr>
          <p:spPr>
            <a:xfrm>
              <a:off x="5004048" y="2696327"/>
              <a:ext cx="4320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-1</a:t>
              </a:r>
              <a:endParaRPr b="1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974" name="Google Shape;974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564" y="4006895"/>
            <a:ext cx="4932548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4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80" name="Google Shape;980;p64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 =Pivot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A=Right Child of the 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AL,AR=Left and Right Subtrees of Node A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PL=Left Subtree of Node P</a:t>
            </a:r>
            <a:endParaRPr/>
          </a:p>
        </p:txBody>
      </p:sp>
      <p:sp>
        <p:nvSpPr>
          <p:cNvPr id="981" name="Google Shape;981;p6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82" name="Google Shape;982;p6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83" name="Google Shape;983;p6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84" name="Google Shape;98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356993"/>
            <a:ext cx="6912768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5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990" name="Google Shape;990;p65"/>
          <p:cNvSpPr txBox="1"/>
          <p:nvPr>
            <p:ph idx="1" type="body"/>
          </p:nvPr>
        </p:nvSpPr>
        <p:spPr>
          <a:xfrm>
            <a:off x="1043608" y="1196752"/>
            <a:ext cx="6984776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>
                <a:solidFill>
                  <a:srgbClr val="00B0F0"/>
                </a:solidFill>
              </a:rPr>
              <a:t>Right to Right Rotation(Anti –Clockwise about Pivot)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When the Pivot node is right heavy 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new node is inserted in right subtree  of the right child of pivot node then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rotation performed  is right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Mirror image of Left to Left rotation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991" name="Google Shape;991;p6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992" name="Google Shape;992;p6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993" name="Google Shape;993;p6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94" name="Google Shape;99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356993"/>
            <a:ext cx="6912768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6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00" name="Google Shape;1000;p66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pointer pptr points to Pivot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Pointer aptr points to A node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New node inserted in right Subtree of A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>
                <a:solidFill>
                  <a:srgbClr val="00B0F0"/>
                </a:solidFill>
              </a:rPr>
              <a:t>Anticlockwise Rotation about Pivot P is performed, Now A will be the pivot node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01" name="Google Shape;1001;p6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02" name="Google Shape;1002;p6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03" name="Google Shape;1003;p6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04" name="Google Shape;100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3356993"/>
            <a:ext cx="6912768" cy="230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7"/>
          <p:cNvSpPr txBox="1"/>
          <p:nvPr>
            <p:ph type="title"/>
          </p:nvPr>
        </p:nvSpPr>
        <p:spPr>
          <a:xfrm>
            <a:off x="1043608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10" name="Google Shape;1010;p67"/>
          <p:cNvSpPr txBox="1"/>
          <p:nvPr>
            <p:ph idx="1" type="body"/>
          </p:nvPr>
        </p:nvSpPr>
        <p:spPr>
          <a:xfrm>
            <a:off x="971600" y="83671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Rotation-</a:t>
            </a:r>
            <a:r>
              <a:rPr lang="en-IN" sz="1800"/>
              <a:t>Example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>
                <a:solidFill>
                  <a:srgbClr val="00B0F0"/>
                </a:solidFill>
              </a:rPr>
              <a:t>Anti –Clockwise about Pivot</a:t>
            </a:r>
            <a:endParaRPr b="1" sz="1800">
              <a:solidFill>
                <a:srgbClr val="00B0F0"/>
              </a:solidFill>
            </a:endParaRPr>
          </a:p>
          <a:p>
            <a:pPr indent="-187452" lvl="0" marL="34290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11" name="Google Shape;1011;p6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12" name="Google Shape;1012;p6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13" name="Google Shape;1013;p6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descr="data:image/png;base64,iVBORw0KGgoAAAANSUhEUgAAATYAAACjCAMAAAA3vsLfAAABU1BMVEX///8AAACmpqb//f309PReXl7g4ODm5uZycnLNZwD39/fR0dFkZGRZWVmnp6dRUVHBwcFpaWlubm7LAADOawDLXwDt7e12dnafn5+2trbFxcUtLS3e3t6GhobX19dOTk788vL57+jKWwCXl5czMzP/fABFRUX56Ojovp389/L36d3tzLPRdiLv1MeysrISEhLssbHks47XiUjw1cDhqoDZkVnz3s7cmmfVhED/cQDRPT333d3wvLz0zMyLi4sgICDfdXXljo7hgID/vIn/2LrDp6d9Kiq3kpJeAABwAADk1NTSubmIR0fNahjrx6n/8OHWTU3onp7daGjTICDUMjLaW1v/hAD/jiRxGRmabW2HQUGJUFDQdTOlenrYkWbdn3j/tXr/olb/x5r/lUX/pGn/uH//5c7/1rP/kTOCS0u7mppwGxvSt7dJAACOX1/FSQDSfkZ413pvAAARNElEQVR4nO1d61/aSBc+OCgCUnW5eEE0IJqrFQgEykXFLSBBUEStikh33253a7u2//+nd3JDoVoBo240z68kk5mTEJ6emTNzzkkEMGHilYDBCAYBEIN+aqMZZY+Y+67SOVu6lHJd+haxTqvhkTy3XyTimKLkz79TsCt7xnPfVeikSlu0rdZ4+FvEOq3GB5uAaIKLB2OoXcX0QSxR5aFtjwJfjXHQrrISbakUzZz/CNJSW9JOYaEfVJVHCU6gf0gSdCwYi8WiVYHiuDhQ1QRwAluNoWSyWoMovhhVjUK0moo/96/VDTJttEfwBENUDWuch63FqBhwfIpnOZajvDQw9mA7GmtfJKPtYC2eRHbBIySitUQ0FuX4ag3TFrTv2ZkURcWpBG5lWTvD8XgrxCiB4zlE8R7Ky9rp5MuiLY4wbYiPevEg5hH4RDwKSYoLMhyVYilMGwe1OBdl+SSFe3UNUjxHJ1kslmRriE1yNKYtyKGYUItTcUixnqgH08Zh5YvxzDkbA6y5bI33APVyaKvFIB5Hdt4e9MQ5AcAu8CnB3ubo+I+YJ+i5SOFOGmrbeSqVqgnVixjvaXPIE0ywfEzgEknB0z7HtIUYD53ia0nK3rYz9raX4WqetldIsQy3x+Gq87aH5i6qBqfNYbX6NNvHYGsKAi1AcE2ymAItF2lAa4wADC4ALQiYzzX8YdaQXCUgJojtrHYISEACPjPIBJm1IDACExRoaYulBKBxVRB/6DXmXpP8X4XP+WZmMuz3+zcXnvtWDAPnjD88vjy34PNZrdbnvhmjYNYSfuvrU5Zlb0xNhZ/mYLg73jYvk8B3OiL/Eia3c5ZAn5whBIKXTQlSAR8ptKlFUEZEbCFZVRjQjfMwUqxaw4buYtZAmJi09SnJ2r18yhvzptgqnr6GOIQn93HOnqJT1ZQ0ZaVxk52LJnkv56GjXg6bWj507g3yXi9Lc1UPX6ueYz0LJlOGp83qX+5bVqidR/FMLRVMJX4kqCSuoeLROIQYrl2jQ+0qlahBQmCTPCdN0WgW0yZ4IFbjmKCnlsB19gsuGsSL1IThaQu/7V82RiWjAqaESdXWeI22KHgZnvfyXoFlEqxCWwpi17QlNNpiNfsaL8QTjPFpCwQGEE5WU22JB65mtwtRibZoMi5pW6yK58B2jk7V8Jo1nsDaxvFUNSYtAuyYQdy5WXTOeVnK7pHNgrE76TIs+gc6ASnjPJLGeMUqIKTWgFan1CBIJZNJ9RRNVjMb8LMnykgITI/OQb8Tj0FBUzVjs3MnZi0Y/ZpRExqmLBb/YynbC4bNEjZZ6xdoTOuX1k2Ttf7gC2xa/JuW8Kx85HjmuzEKli0bsoItTlumnvtejIMJV8cptLg5+5x3YiTMzNw4QIMsq14z5lxdhw5zytYPkL+HprnR57kRY0FTtj9Xjj8rJVPd+kBgTt7trex9PFZqZkxrej9GnWoB/fGHUpg1jen9CC+qhd9X/lQKb2buFDahYUnTNnj/bk/ez/bvD3+9mFHGts8f9jTa1BoTv8LbCXmHPr1b+VupsYw94+0YBQ5Lj79jPvw8N2IwzE50H1sWb5cz0Y3RLhOwZBqE/jCxfh3e8y0NEup7zXDNQGBzSg4n+WbX3zz37RgEk+N4Ywtsbq6urodnzWys/rA0rhaszsUXGsB8BEyO3y9johcuk7Uh4DIX7UPAZG0YmOPaMFgyWRsCpq4NA4PbUN/i25H5pw8VjRraGjgn/dOBwMyq/4mXgsa2oYH1OSW7Z3HS/5SrQWOPa67p61Xg3BMGdZd+e7KvegTMdN29c/2p0spchmbN2ZPFPvtE482ooXsorKoBSkZ9lYOjN4flcWBsGwpjqrJ9PP7fByU+GXgKL76eupZLp9NbyhYP0sR+Or1PKi31jLzL1GE/p9/3SZhX/tfpj5/hWMkicE7r+w0doIXOg8e6jmvZRr3eyMrbCADpztePjgBFIpBz5yEXyaCjfTJC4hIJmVw2q8t3XqcMfH6n0LawpMuFe+ALWCzhsGVdfjh0UldrkD2MRDBt8hbT1qhHDg7gMH90gGnLpuvu3NF+ppHDtLozdXfdHdHjOze0vJ69lQ/K4Db2GHHdZcuyHD62bVhG9LahWXcDc6FsJW1ruLdRLg3ITRxmUH0fk7UNjdxRFvL5yAFs52+eOzZkrusbNbKGWVOGNjznfcBPuAPjrk7M3Te5qbM1yO7D1pG6lbQNZd1EpoH5Iw7J/AG4M3mJtoM6bGE9hK0u2uYsw0UWnSpJ/6y8V58yf6u/jQt0GYBpnW1O5BBQo55NS1tJ20jYTqOtNB7o9tMR95E7F3FnG7lMY/8Q1Y/goIc2y+gwCyPrunzW3qdPn/6n5Ky4dM9inF/tPvY7b5cbEgQpfRCplBCJ5A+pHJMEQSASN4P8IaR/N4Bpsww14wpsdB8vbOq+TOh9dUfvDPsZMSU9RmiZH/xEa09CVFj3tDKnamP+Wnn3u1Jaf2hajHV2RBe8mZFpswyR77rQlSI1uXGn4LBYHpF3n48/f36nZIEvP9RB5bTojMHHc9dvlo6C2cLj67pn4413+oBG29xDE2N0p82yNODjhK5xsLkm52w+n88545+Ced2zGDtpuXsfPiiFqYc+qqE/bRbX/d96A4qDdWHDtRpeUtRiSm/eplXTvHd8rE4NHzzHeW5tu3ZLOzrTl3mdXZXLyoCLPnzQXh608dBHDp55bLvdLa0zb6ol/fvdysq793LR4Jb0rtCuzrz1puE61/W8+oOgzNsGm37fHQLR1y5M9TgHNvVdJTwEQ6wSfhXa1dcuBLqGjlH9p4ZDA9M2Mdia9NduaV15m968vjfrpF7ZzDkil80SSllx5yLiupW49udmMj+XSOWMgT0g94V2dRzfXNMwaxmRifPNWvQKYee2c+78dloOVmaO5KqDG67vjLtTzHecHtmOQGZf3g3qb7s/tKsbby7Jy+6Y3ZS8u/4R3TJzD7K5NBBuIud2k0fu+rZ7Xyql3VmsdUfuPOmGuvuQIN3uXL6+nd/K1feJxnYki2XIQ3cOGuQQ39lPaFcn3ka1x1vQgq7z6HQG0+TOIkzcPta2SMRNHmTy+9sNBNkjyGYaEnHb2xEiV3enIbu91cjio62tSGbrYDsNR0MEZfpz5utiTyceKaKD0mRuH9IR5IZMOndEuLMN8iCHtSqCILIFRKaROYQsZgmI/NEhQRwebDVy25FMLp3fyuciw9DWb7hNB7sw8Wix94Nc7hCPYGT+8DBLuvPug0Zmu5FrpPFARhzuH+Gx7SB9mJEq8vXsPuxvZ92wFamn0xFcV4fDgTtp/0HKB/P2eKxBJC/ZT5KQjSJJEKTkxpUdvLKzV/L2ZgjZZBJYBpRWVRqXDgf9vkFCu1MPG99cjxVzxUAPitxlBu2jg4XbHmQXXBP3yxgEg4Z2H8Db6MthbfDQ7tD29LFs6DNgdIgheki78IjW4Clgc44szy0qUbzhEn00uzA2P7s81e97943NmnPVP7OxHHCtbziGT4+SeZvzhwPLy4Gl/h6RHTV0Dw1oUSnfjGVsmB6qAI9vo2HVSza2FL7f1WJsazBxI0S0aHmAAsxbbiRuvO19+cRPMDZrga67t937a+/GZJe3fcr/64QHY9vQ3ndyTw2dgtXzKj/Y+KWDdtrQrMGolju0p0baVod14mt6Kv0lHwmO9V8Mb8bWNfBtqr9tb+UvpTDsu7205Jc/PvzzSSn9drdX1NjjGu6jqj14v7KiZvrYhkzLfaPag987r7ua6u6ljkWnpn5GZw3mVN36+PcHlTbf6nC5awFNt/b++agUnDfIsc2sb64u+S3T0kx4wvBv4nzTCcoca7T1MeO6DeMd2j6qCQnOa+sya1mWFxHWN5YAmja6ruGO1BmaNdps4eECIFoWRxBo9RWI8531xsx1NrNjZog8sf8cbJ1guEbb/GDZSB3MKTpEv/v454qa2KfN47qnhhuGXoiqCGuei7/UF/CND5mFb7Uo+72Pn9SX4vrVFf3iZrek6wW803q2ZwJlswz7kO10T0rOlJb77e/JirH9d7Jihoe/O1d++NebW7tdvFYth2hRY2nvnarQky/gJcO+rhQk1wOSLxZv8ubwa/y/Vadvn49X3nfXGBq264S3sdUHpaw41zt50c7NjtZuqKXjvzTanMafgYA0J1idXbTZxubHVx/4vIFtYuntAr7S1OjS9Xj2m3rRIN2hbfWWcw0I35vppbBrRodMPNvyxOrqaOCmEQhont4ObfOGXyVcQ7fHgVDPdPmt1vE7tI28hLHtsTGmTuiAPlZpG9o39aoQ7plvLL6EedvjY8HSPQD00mjidox0Wc5p8y3DfWI53JkIWydfgAPkqTBlCcjE6ZjN/Dowt2rx+9fDI899H8aDzfzrSiZMPBBE80tzt9Bd16qohW9fvny5VIpX4u3nn95R/8JBlE6/lkpixSF+swJUZMIqIi5I09XLs8vLHRIfWKGo1FXEik8RU+TF3ddJG/79Z9A6KYgnl0XUOj0t4ZpmpXTVOsOFy2alcuIoneKDothqtZpQvjo9gebpWQnLn6FWs7TzWmmrYNouodW8/PqtWCqdIIm2wsml5NMo7Jzs7BK20tevmLax0g5mjyTKZBlISf5ExCp49rppK12JBbFYqEjDXBN32UqZwNrWQtC8bGJVxLSdVUSJNrJMlAlRbGF5EtNWfLW0FeH0Esji1S663N2VLMDutwI+woPb5b///lsmS2dXZTgRT3ebJ6hMkjvQOiteYvkmKpSvXm0nddjAh0d36wLmySZHUG1WXJBMgtVmw2U05rAhG9J2eAIr/bFyRd7nM//utgkTJkyYMGHChAkTJkw8EmjhlhRqBhimuya4Jlyf8ZP8dSMwa8Hr+tuu/TIghOif6hg78GxXDR/6/j2lCgreXvlkqqqJ8962p8N40v7ztV8IBDtwsVAC4iE7A8nvSUhydo83EY1D/DsXZDypUA1LedoQrFIUF+Lj32McREMxiHMhrGOxKG6l6GRUvRymm9MoTKSqL5k2D0V7hRAvCLVz4PhkGwQPxOO8B6gUEwrWONwvJZWkkhQniVMcbkpQ0Zh0Oi93Typ03adrXq2XMsyL1jYPT3uCzPk5H7Wf/2CTlEIblQCBw638OQDy8rjLSVVsCtfWvOc/KKyPKlAQaintgA3dGOdeMG1eiTa7cMFEUzwXbDMJTJs3GI8LXqbdZrzAYm2D6PeLRIiRmPSutTnGw8SFeFI6PYp7JArV5IMkJkz4TgUxV0JbamS8L5Y2JgltgW4H+YsLBmoXFFA8oIt4rQb8RRyCSRBkrWIv2gywUakQbeOmKNSkMU+mDZiLtsRPDKsk1b64kNiTtY9pv1jadET8miSGesb7MBjQrUUTJkyYMGHChAkTJkyYeF3YLZ4VT7urLktqoXKlVXUSgFHzjryvu1KHXygKpZPLlliw+Qr4d1cK0rJSFHFBelyhcuaoiAXALc1vUnOhIKcIFwoI4XoCHAUpRRhXYpHXliJMFuHbTkH8WiiTheblLq4plb6dFYoEpm2X3CmdnRTKxNVZYUcstaQUYbJVOm2i8mnrBIqls8tKsXAGV1evLkXYVkSFUyhIFDSvWjuERJt40pK1bddXhMsW1rBmBVoFsVUsYtrE1temo0iQJ5hwEq6apbJ4Qr66FGGFtsqZWBCvSmLBIdFmFcWyKGtbEZVKEm0FuCrsVkRMm1gUK7uOog/TVnaIYusUd9cTEU5eGW1kGRWuwNr8UiTE4lkL15Ra4tcvZyTAtyJuLLWgLDZ3d88creJVGZXF02KzSJR95A6UiuVvZHH3Cgo7zdfWSZFP/rtsSMrxtcrv2MKHVjnjFxfkRh+yIh/CIljWhzo7AB/+OKRzfFar6aM0cQv+D3GXgiCFm3D6AAAAAElFTkSuQmCC" id="1014" name="Google Shape;1014;p6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15" name="Google Shape;101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700808"/>
            <a:ext cx="5941839" cy="2533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8"/>
          <p:cNvSpPr txBox="1"/>
          <p:nvPr>
            <p:ph type="title"/>
          </p:nvPr>
        </p:nvSpPr>
        <p:spPr>
          <a:xfrm>
            <a:off x="1043608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21" name="Google Shape;1021;p68"/>
          <p:cNvSpPr txBox="1"/>
          <p:nvPr>
            <p:ph idx="1" type="body"/>
          </p:nvPr>
        </p:nvSpPr>
        <p:spPr>
          <a:xfrm>
            <a:off x="971600" y="83671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Right Rotation-</a:t>
            </a:r>
            <a:r>
              <a:rPr lang="en-IN" sz="1800"/>
              <a:t>Example-Insert 39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22" name="Google Shape;1022;p6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23" name="Google Shape;1023;p6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24" name="Google Shape;1024;p6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025" name="Google Shape;1025;p68"/>
          <p:cNvGrpSpPr/>
          <p:nvPr/>
        </p:nvGrpSpPr>
        <p:grpSpPr>
          <a:xfrm>
            <a:off x="539552" y="1285718"/>
            <a:ext cx="8064895" cy="2503322"/>
            <a:chOff x="539552" y="1285718"/>
            <a:chExt cx="8064895" cy="3583442"/>
          </a:xfrm>
        </p:grpSpPr>
        <p:pic>
          <p:nvPicPr>
            <p:cNvPr id="1026" name="Google Shape;1026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9552" y="1285718"/>
              <a:ext cx="5544616" cy="3583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84168" y="1288356"/>
              <a:ext cx="2520279" cy="3580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68"/>
            <p:cNvSpPr/>
            <p:nvPr/>
          </p:nvSpPr>
          <p:spPr>
            <a:xfrm>
              <a:off x="5292080" y="2564904"/>
              <a:ext cx="1008112" cy="2880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5875">
              <a:solidFill>
                <a:srgbClr val="6C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29" name="Google Shape;1029;p68"/>
            <p:cNvSpPr/>
            <p:nvPr/>
          </p:nvSpPr>
          <p:spPr>
            <a:xfrm>
              <a:off x="2555776" y="2492896"/>
              <a:ext cx="1008112" cy="288032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5875">
              <a:solidFill>
                <a:srgbClr val="6C9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1030" name="Google Shape;1030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232" y="3820782"/>
            <a:ext cx="5035880" cy="2560545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8"/>
          <p:cNvSpPr txBox="1"/>
          <p:nvPr/>
        </p:nvSpPr>
        <p:spPr>
          <a:xfrm>
            <a:off x="6009053" y="3291471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032" name="Google Shape;1032;p68"/>
          <p:cNvSpPr txBox="1"/>
          <p:nvPr/>
        </p:nvSpPr>
        <p:spPr>
          <a:xfrm>
            <a:off x="4355976" y="290773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033" name="Google Shape;1033;p68"/>
          <p:cNvSpPr txBox="1"/>
          <p:nvPr/>
        </p:nvSpPr>
        <p:spPr>
          <a:xfrm>
            <a:off x="3095836" y="247155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034" name="Google Shape;1034;p68"/>
          <p:cNvSpPr txBox="1"/>
          <p:nvPr/>
        </p:nvSpPr>
        <p:spPr>
          <a:xfrm>
            <a:off x="5606765" y="2738315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5" name="Google Shape;1035;p68"/>
          <p:cNvSpPr txBox="1"/>
          <p:nvPr/>
        </p:nvSpPr>
        <p:spPr>
          <a:xfrm>
            <a:off x="3923928" y="248452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036" name="Google Shape;1036;p68"/>
          <p:cNvSpPr txBox="1"/>
          <p:nvPr/>
        </p:nvSpPr>
        <p:spPr>
          <a:xfrm>
            <a:off x="3491880" y="191683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1037" name="Google Shape;1037;p68"/>
          <p:cNvSpPr txBox="1"/>
          <p:nvPr/>
        </p:nvSpPr>
        <p:spPr>
          <a:xfrm>
            <a:off x="5174717" y="2368983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8" name="Google Shape;1038;p68"/>
          <p:cNvSpPr txBox="1"/>
          <p:nvPr/>
        </p:nvSpPr>
        <p:spPr>
          <a:xfrm>
            <a:off x="4791669" y="191060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-2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39" name="Google Shape;1039;p68"/>
          <p:cNvSpPr txBox="1"/>
          <p:nvPr/>
        </p:nvSpPr>
        <p:spPr>
          <a:xfrm>
            <a:off x="3878698" y="141277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-2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9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45" name="Google Shape;1045;p69"/>
          <p:cNvSpPr txBox="1"/>
          <p:nvPr>
            <p:ph idx="1" type="body"/>
          </p:nvPr>
        </p:nvSpPr>
        <p:spPr>
          <a:xfrm>
            <a:off x="1043608" y="1196752"/>
            <a:ext cx="6984776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 u="sng">
                <a:solidFill>
                  <a:srgbClr val="00B0F0"/>
                </a:solidFill>
              </a:rPr>
              <a:t>Child to Subtree Relationship(Of Pivot Node)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New node is inserted in the right subtree of Left child A.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B is the root of right subtree of A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BL,BR are left and right subtrees of B.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To insert a node in right subtree of A, </a:t>
            </a:r>
            <a:r>
              <a:rPr b="1" lang="en-IN" sz="1800"/>
              <a:t>we can insert in either BL or BR.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The resulting balance factors depends on whether we have inserted in BL or BR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46" name="Google Shape;1046;p6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47" name="Google Shape;1047;p6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48" name="Google Shape;1048;p6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49" name="Google Shape;1049;p69"/>
          <p:cNvPicPr preferRelativeResize="0"/>
          <p:nvPr/>
        </p:nvPicPr>
        <p:blipFill rotWithShape="1">
          <a:blip r:embed="rId3">
            <a:alphaModFix/>
          </a:blip>
          <a:srcRect b="0" l="6440" r="52072" t="0"/>
          <a:stretch/>
        </p:blipFill>
        <p:spPr>
          <a:xfrm>
            <a:off x="1403648" y="4293096"/>
            <a:ext cx="3845202" cy="187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0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55" name="Google Shape;1055;p70"/>
          <p:cNvSpPr txBox="1"/>
          <p:nvPr>
            <p:ph idx="1" type="body"/>
          </p:nvPr>
        </p:nvSpPr>
        <p:spPr>
          <a:xfrm>
            <a:off x="1043608" y="908720"/>
            <a:ext cx="6777317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 u="sng">
                <a:solidFill>
                  <a:srgbClr val="00B0F0"/>
                </a:solidFill>
              </a:rPr>
              <a:t>Child to Subtree Relationship(Of Pivot Node)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When the Pivot node is left heavy 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new node is inserted in right subtree  of the left child of pivot node then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rotation performed  is left to right rotation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56" name="Google Shape;1056;p7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57" name="Google Shape;1057;p7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58" name="Google Shape;1058;p7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59" name="Google Shape;105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2924944"/>
            <a:ext cx="6552728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1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65" name="Google Shape;1065;p71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Single rotation will not balance the tree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Double Rotation needed here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First Perform a Right to Right Rotation around node A</a:t>
            </a:r>
            <a:endParaRPr/>
          </a:p>
        </p:txBody>
      </p:sp>
      <p:sp>
        <p:nvSpPr>
          <p:cNvPr id="1066" name="Google Shape;1066;p7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67" name="Google Shape;1067;p7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68" name="Google Shape;1068;p7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69" name="Google Shape;106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852936"/>
            <a:ext cx="5256584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71"/>
          <p:cNvPicPr preferRelativeResize="0"/>
          <p:nvPr/>
        </p:nvPicPr>
        <p:blipFill rotWithShape="1">
          <a:blip r:embed="rId4">
            <a:alphaModFix/>
          </a:blip>
          <a:srcRect b="0" l="0" r="53751" t="0"/>
          <a:stretch/>
        </p:blipFill>
        <p:spPr>
          <a:xfrm>
            <a:off x="5796136" y="2824783"/>
            <a:ext cx="2765029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2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76" name="Google Shape;1076;p72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Then Perform a Left to Left rotation around the pivot node</a:t>
            </a:r>
            <a:endParaRPr/>
          </a:p>
        </p:txBody>
      </p:sp>
      <p:sp>
        <p:nvSpPr>
          <p:cNvPr id="1077" name="Google Shape;1077;p7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78" name="Google Shape;1078;p7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79" name="Google Shape;1079;p7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80" name="Google Shape;108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2852936"/>
            <a:ext cx="6912768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73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86" name="Google Shape;1086;p73"/>
          <p:cNvSpPr txBox="1"/>
          <p:nvPr>
            <p:ph idx="1" type="body"/>
          </p:nvPr>
        </p:nvSpPr>
        <p:spPr>
          <a:xfrm>
            <a:off x="539552" y="1196752"/>
            <a:ext cx="8136904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First Perform a Right to Right Rotation around node A=&gt;Anti –Clockwise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Then Perform a Left to Left rotation around the pivot node =&gt;Clockwise</a:t>
            </a:r>
            <a:endParaRPr/>
          </a:p>
        </p:txBody>
      </p:sp>
      <p:sp>
        <p:nvSpPr>
          <p:cNvPr id="1087" name="Google Shape;1087;p7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88" name="Google Shape;1088;p7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89" name="Google Shape;1089;p7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4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095" name="Google Shape;1095;p74"/>
          <p:cNvSpPr txBox="1"/>
          <p:nvPr>
            <p:ph idx="1" type="body"/>
          </p:nvPr>
        </p:nvSpPr>
        <p:spPr>
          <a:xfrm>
            <a:off x="611560" y="1196752"/>
            <a:ext cx="799288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Rotation-</a:t>
            </a:r>
            <a:r>
              <a:rPr lang="en-IN" sz="1800"/>
              <a:t>Example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First Perform a Right to Right Rotation around node A=&gt;Anti –Clockwise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Then Perform a Left to Left rotation around the pivot node =&gt;Clockwise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096" name="Google Shape;1096;p7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097" name="Google Shape;1097;p7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098" name="Google Shape;1098;p7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099" name="Google Shape;1099;p74"/>
          <p:cNvGrpSpPr/>
          <p:nvPr/>
        </p:nvGrpSpPr>
        <p:grpSpPr>
          <a:xfrm>
            <a:off x="611560" y="3068960"/>
            <a:ext cx="7992887" cy="1872208"/>
            <a:chOff x="467545" y="2026310"/>
            <a:chExt cx="7992887" cy="1781175"/>
          </a:xfrm>
        </p:grpSpPr>
        <p:pic>
          <p:nvPicPr>
            <p:cNvPr id="1100" name="Google Shape;1100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7545" y="2060848"/>
              <a:ext cx="1584176" cy="166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51721" y="2098948"/>
              <a:ext cx="1531243" cy="162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7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65587" y="2074539"/>
              <a:ext cx="1554485" cy="164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3" name="Google Shape;1103;p7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61328" y="2026310"/>
              <a:ext cx="1664593" cy="1781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4" name="Google Shape;1104;p7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25921" y="2060849"/>
              <a:ext cx="1634511" cy="17466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5"/>
          <p:cNvSpPr txBox="1"/>
          <p:nvPr>
            <p:ph type="title"/>
          </p:nvPr>
        </p:nvSpPr>
        <p:spPr>
          <a:xfrm>
            <a:off x="1015734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110" name="Google Shape;1110;p75"/>
          <p:cNvSpPr txBox="1"/>
          <p:nvPr>
            <p:ph idx="1" type="body"/>
          </p:nvPr>
        </p:nvSpPr>
        <p:spPr>
          <a:xfrm>
            <a:off x="1005154" y="832602"/>
            <a:ext cx="7651929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Left to Right Rotation-</a:t>
            </a:r>
            <a:r>
              <a:rPr lang="en-IN" sz="1800"/>
              <a:t>Example</a:t>
            </a:r>
            <a:endParaRPr/>
          </a:p>
          <a:p>
            <a:pPr indent="-274320" lvl="0" marL="342900" rtl="0" algn="l">
              <a:spcBef>
                <a:spcPts val="280"/>
              </a:spcBef>
              <a:spcAft>
                <a:spcPts val="0"/>
              </a:spcAft>
              <a:buSzPts val="1064"/>
              <a:buChar char="🞇"/>
            </a:pPr>
            <a:r>
              <a:rPr b="1" lang="en-IN" sz="1400">
                <a:solidFill>
                  <a:srgbClr val="00B0F0"/>
                </a:solidFill>
              </a:rPr>
              <a:t>First Perform a Right to Right Rotation around node A=&gt;Anti –Clockwise</a:t>
            </a:r>
            <a:endParaRPr/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Then Perform a Left to Left rotation around the pivot node =&gt;Clockwise</a:t>
            </a:r>
            <a:endParaRPr/>
          </a:p>
          <a:p>
            <a:pPr indent="-274320" lvl="0" marL="34290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Insert 14</a:t>
            </a:r>
            <a:endParaRPr b="1" sz="1600">
              <a:solidFill>
                <a:srgbClr val="00B0F0"/>
              </a:solidFill>
            </a:endParaRPr>
          </a:p>
          <a:p>
            <a:pPr indent="-206756" lvl="1" marL="64008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sz="1400"/>
          </a:p>
          <a:p>
            <a:pPr indent="-206756" lvl="1" marL="640080" rtl="0" algn="l">
              <a:spcBef>
                <a:spcPts val="280"/>
              </a:spcBef>
              <a:spcAft>
                <a:spcPts val="0"/>
              </a:spcAft>
              <a:buSzPts val="1064"/>
              <a:buNone/>
            </a:pPr>
            <a:r>
              <a:t/>
            </a:r>
            <a:endParaRPr sz="1400"/>
          </a:p>
        </p:txBody>
      </p:sp>
      <p:sp>
        <p:nvSpPr>
          <p:cNvPr id="1111" name="Google Shape;1111;p7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112" name="Google Shape;1112;p7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13" name="Google Shape;1113;p7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14" name="Google Shape;111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720" y="2204864"/>
            <a:ext cx="4097288" cy="36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75"/>
          <p:cNvSpPr/>
          <p:nvPr/>
        </p:nvSpPr>
        <p:spPr>
          <a:xfrm>
            <a:off x="2267744" y="2956838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16" name="Google Shape;1116;p75"/>
          <p:cNvPicPr preferRelativeResize="0"/>
          <p:nvPr/>
        </p:nvPicPr>
        <p:blipFill rotWithShape="1">
          <a:blip r:embed="rId4">
            <a:alphaModFix/>
          </a:blip>
          <a:srcRect b="0" l="3743" r="0" t="0"/>
          <a:stretch/>
        </p:blipFill>
        <p:spPr>
          <a:xfrm>
            <a:off x="4644008" y="2204864"/>
            <a:ext cx="4013075" cy="36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75"/>
          <p:cNvSpPr/>
          <p:nvPr/>
        </p:nvSpPr>
        <p:spPr>
          <a:xfrm>
            <a:off x="4427984" y="2965222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8" name="Google Shape;1118;p75"/>
          <p:cNvSpPr/>
          <p:nvPr/>
        </p:nvSpPr>
        <p:spPr>
          <a:xfrm>
            <a:off x="6300192" y="2965222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9" name="Google Shape;1119;p75"/>
          <p:cNvSpPr txBox="1"/>
          <p:nvPr/>
        </p:nvSpPr>
        <p:spPr>
          <a:xfrm>
            <a:off x="3961765" y="522461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20" name="Google Shape;1120;p75"/>
          <p:cNvSpPr txBox="1"/>
          <p:nvPr/>
        </p:nvSpPr>
        <p:spPr>
          <a:xfrm>
            <a:off x="2889118" y="497252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21" name="Google Shape;1121;p75"/>
          <p:cNvSpPr txBox="1"/>
          <p:nvPr/>
        </p:nvSpPr>
        <p:spPr>
          <a:xfrm>
            <a:off x="3301723" y="2423085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2" name="Google Shape;1122;p75"/>
          <p:cNvSpPr txBox="1"/>
          <p:nvPr/>
        </p:nvSpPr>
        <p:spPr>
          <a:xfrm>
            <a:off x="3529717" y="4603194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3" name="Google Shape;1123;p75"/>
          <p:cNvSpPr txBox="1"/>
          <p:nvPr/>
        </p:nvSpPr>
        <p:spPr>
          <a:xfrm>
            <a:off x="3203848" y="385175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4" name="Google Shape;1124;p75"/>
          <p:cNvSpPr txBox="1"/>
          <p:nvPr/>
        </p:nvSpPr>
        <p:spPr>
          <a:xfrm>
            <a:off x="3851920" y="378904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25" name="Google Shape;1125;p75"/>
          <p:cNvSpPr txBox="1"/>
          <p:nvPr/>
        </p:nvSpPr>
        <p:spPr>
          <a:xfrm>
            <a:off x="4499992" y="3667090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26" name="Google Shape;1126;p75"/>
          <p:cNvSpPr txBox="1"/>
          <p:nvPr/>
        </p:nvSpPr>
        <p:spPr>
          <a:xfrm>
            <a:off x="4154408" y="295020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7" name="Google Shape;1127;p75"/>
          <p:cNvSpPr txBox="1"/>
          <p:nvPr/>
        </p:nvSpPr>
        <p:spPr>
          <a:xfrm>
            <a:off x="3022075" y="3137162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8" name="Google Shape;1128;p75"/>
          <p:cNvSpPr txBox="1"/>
          <p:nvPr/>
        </p:nvSpPr>
        <p:spPr>
          <a:xfrm>
            <a:off x="3529717" y="3134872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1" sz="1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9" name="Google Shape;1129;p75"/>
          <p:cNvSpPr txBox="1"/>
          <p:nvPr/>
        </p:nvSpPr>
        <p:spPr>
          <a:xfrm>
            <a:off x="2762066" y="3638798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sz="1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0" name="Google Shape;1130;p75"/>
          <p:cNvSpPr txBox="1"/>
          <p:nvPr/>
        </p:nvSpPr>
        <p:spPr>
          <a:xfrm>
            <a:off x="4800761" y="534185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31" name="Google Shape;1131;p75"/>
          <p:cNvSpPr txBox="1"/>
          <p:nvPr/>
        </p:nvSpPr>
        <p:spPr>
          <a:xfrm>
            <a:off x="5724128" y="4603831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32" name="Google Shape;1132;p75"/>
          <p:cNvSpPr txBox="1"/>
          <p:nvPr/>
        </p:nvSpPr>
        <p:spPr>
          <a:xfrm>
            <a:off x="6012160" y="403890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33" name="Google Shape;1133;p75"/>
          <p:cNvSpPr txBox="1"/>
          <p:nvPr/>
        </p:nvSpPr>
        <p:spPr>
          <a:xfrm>
            <a:off x="6660232" y="3947047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134" name="Google Shape;1134;p75"/>
          <p:cNvSpPr txBox="1"/>
          <p:nvPr/>
        </p:nvSpPr>
        <p:spPr>
          <a:xfrm>
            <a:off x="4644008" y="4618115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1135" name="Google Shape;1135;p75"/>
          <p:cNvSpPr txBox="1"/>
          <p:nvPr/>
        </p:nvSpPr>
        <p:spPr>
          <a:xfrm>
            <a:off x="4932040" y="4038908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/>
          </a:p>
        </p:txBody>
      </p:sp>
      <p:sp>
        <p:nvSpPr>
          <p:cNvPr id="1136" name="Google Shape;1136;p75"/>
          <p:cNvSpPr txBox="1"/>
          <p:nvPr/>
        </p:nvSpPr>
        <p:spPr>
          <a:xfrm>
            <a:off x="5165999" y="3469521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/>
          </a:p>
        </p:txBody>
      </p:sp>
      <p:sp>
        <p:nvSpPr>
          <p:cNvPr id="1137" name="Google Shape;1137;p75"/>
          <p:cNvSpPr txBox="1"/>
          <p:nvPr/>
        </p:nvSpPr>
        <p:spPr>
          <a:xfrm>
            <a:off x="6300192" y="3350316"/>
            <a:ext cx="432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8" name="Google Shape;1138;p75"/>
          <p:cNvSpPr txBox="1"/>
          <p:nvPr/>
        </p:nvSpPr>
        <p:spPr>
          <a:xfrm>
            <a:off x="5220072" y="3269466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1" sz="1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9" name="Google Shape;1139;p75"/>
          <p:cNvSpPr txBox="1"/>
          <p:nvPr/>
        </p:nvSpPr>
        <p:spPr>
          <a:xfrm>
            <a:off x="4969543" y="3776838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sz="1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0" name="Google Shape;1140;p75"/>
          <p:cNvSpPr txBox="1"/>
          <p:nvPr/>
        </p:nvSpPr>
        <p:spPr>
          <a:xfrm>
            <a:off x="7081510" y="3150261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sz="1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1" name="Google Shape;1141;p75"/>
          <p:cNvSpPr txBox="1"/>
          <p:nvPr/>
        </p:nvSpPr>
        <p:spPr>
          <a:xfrm>
            <a:off x="7956376" y="3673408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1" sz="18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76"/>
          <p:cNvSpPr txBox="1"/>
          <p:nvPr>
            <p:ph type="title"/>
          </p:nvPr>
        </p:nvSpPr>
        <p:spPr>
          <a:xfrm>
            <a:off x="1043608" y="260648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147" name="Google Shape;1147;p76"/>
          <p:cNvSpPr txBox="1"/>
          <p:nvPr>
            <p:ph idx="1" type="body"/>
          </p:nvPr>
        </p:nvSpPr>
        <p:spPr>
          <a:xfrm>
            <a:off x="1043608" y="764704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 u="sng">
                <a:solidFill>
                  <a:srgbClr val="00B0F0"/>
                </a:solidFill>
              </a:rPr>
              <a:t>Child to Subtree Relationship(Of Pivot Node)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When the Pivot node is right heavy and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new node is inserted in left subtree  of the right child of pivot node then 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the rotation performed  is right to left rotation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148" name="Google Shape;1148;p7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149" name="Google Shape;1149;p76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50" name="Google Shape;1150;p7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51" name="Google Shape;1151;p76"/>
          <p:cNvPicPr preferRelativeResize="0"/>
          <p:nvPr/>
        </p:nvPicPr>
        <p:blipFill rotWithShape="1">
          <a:blip r:embed="rId3">
            <a:alphaModFix/>
          </a:blip>
          <a:srcRect b="9650" l="12836" r="6269" t="11144"/>
          <a:stretch/>
        </p:blipFill>
        <p:spPr>
          <a:xfrm>
            <a:off x="611560" y="2996952"/>
            <a:ext cx="5040560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77"/>
          <p:cNvSpPr txBox="1"/>
          <p:nvPr>
            <p:ph type="title"/>
          </p:nvPr>
        </p:nvSpPr>
        <p:spPr>
          <a:xfrm>
            <a:off x="1043608" y="260648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157" name="Google Shape;1157;p77"/>
          <p:cNvSpPr txBox="1"/>
          <p:nvPr>
            <p:ph idx="1" type="body"/>
          </p:nvPr>
        </p:nvSpPr>
        <p:spPr>
          <a:xfrm>
            <a:off x="1043608" y="764704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" rtl="0" algn="l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b="1" lang="en-IN" sz="2000" u="sng">
                <a:solidFill>
                  <a:srgbClr val="00B0F0"/>
                </a:solidFill>
              </a:rPr>
              <a:t>Child to Subtree Relationship(Of Pivot Node)</a:t>
            </a:r>
            <a:endParaRPr/>
          </a:p>
          <a:p>
            <a:pPr indent="-274320" lvl="0" marL="342900" rtl="0" algn="l">
              <a:spcBef>
                <a:spcPts val="40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Double Rotation needed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First Perform Left to Left Rotation around node A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158" name="Google Shape;1158;p7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159" name="Google Shape;1159;p7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60" name="Google Shape;1160;p7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61" name="Google Shape;1161;p77"/>
          <p:cNvPicPr preferRelativeResize="0"/>
          <p:nvPr/>
        </p:nvPicPr>
        <p:blipFill rotWithShape="1">
          <a:blip r:embed="rId3">
            <a:alphaModFix/>
          </a:blip>
          <a:srcRect b="9650" l="12836" r="6269" t="11144"/>
          <a:stretch/>
        </p:blipFill>
        <p:spPr>
          <a:xfrm>
            <a:off x="611560" y="2996952"/>
            <a:ext cx="5040560" cy="2952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77"/>
          <p:cNvPicPr preferRelativeResize="0"/>
          <p:nvPr/>
        </p:nvPicPr>
        <p:blipFill rotWithShape="1">
          <a:blip r:embed="rId4">
            <a:alphaModFix/>
          </a:blip>
          <a:srcRect b="0" l="0" r="50000" t="0"/>
          <a:stretch/>
        </p:blipFill>
        <p:spPr>
          <a:xfrm>
            <a:off x="5652120" y="2978784"/>
            <a:ext cx="2880320" cy="2970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78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168" name="Google Shape;1168;p78"/>
          <p:cNvSpPr txBox="1"/>
          <p:nvPr>
            <p:ph idx="1" type="body"/>
          </p:nvPr>
        </p:nvSpPr>
        <p:spPr>
          <a:xfrm>
            <a:off x="1043608" y="1196752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b="1" lang="en-IN" sz="1800"/>
              <a:t>Then Right to Right rotation around pivot node P</a:t>
            </a:r>
            <a:endParaRPr b="1" sz="1800"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Mirror image of Left to Right Rotation</a:t>
            </a:r>
            <a:endParaRPr/>
          </a:p>
          <a:p>
            <a:pPr indent="-177800" lvl="0" marL="342900" rtl="0" algn="l">
              <a:spcBef>
                <a:spcPts val="4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 b="1" sz="2000"/>
          </a:p>
        </p:txBody>
      </p:sp>
      <p:sp>
        <p:nvSpPr>
          <p:cNvPr id="1169" name="Google Shape;1169;p7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170" name="Google Shape;1170;p7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71" name="Google Shape;1171;p7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72" name="Google Shape;1172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822" y="3140968"/>
            <a:ext cx="7632848" cy="2598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79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178" name="Google Shape;1178;p79"/>
          <p:cNvSpPr txBox="1"/>
          <p:nvPr>
            <p:ph idx="1" type="body"/>
          </p:nvPr>
        </p:nvSpPr>
        <p:spPr>
          <a:xfrm>
            <a:off x="683568" y="1196752"/>
            <a:ext cx="7848872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First Perform Left to Left Rotation around node A=&gt;Clockwise</a:t>
            </a:r>
            <a:endParaRPr b="1" sz="1600">
              <a:solidFill>
                <a:srgbClr val="00B0F0"/>
              </a:solidFill>
            </a:endParaRPr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Then Right to Right rotation around pivot node P=&gt;Anti-Clockwise</a:t>
            </a:r>
            <a:endParaRPr b="1" sz="1600">
              <a:solidFill>
                <a:srgbClr val="00B0F0"/>
              </a:solidFill>
            </a:endParaRPr>
          </a:p>
          <a:p>
            <a:pPr indent="-139191" lvl="0" marL="34290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="1" sz="2800">
              <a:solidFill>
                <a:srgbClr val="00B0F0"/>
              </a:solidFill>
            </a:endParaRPr>
          </a:p>
        </p:txBody>
      </p:sp>
      <p:sp>
        <p:nvSpPr>
          <p:cNvPr id="1179" name="Google Shape;1179;p79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180" name="Google Shape;1180;p79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81" name="Google Shape;1181;p79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0"/>
          <p:cNvSpPr txBox="1"/>
          <p:nvPr>
            <p:ph type="title"/>
          </p:nvPr>
        </p:nvSpPr>
        <p:spPr>
          <a:xfrm>
            <a:off x="1043608" y="476672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187" name="Google Shape;1187;p80"/>
          <p:cNvSpPr txBox="1"/>
          <p:nvPr>
            <p:ph idx="1" type="body"/>
          </p:nvPr>
        </p:nvSpPr>
        <p:spPr>
          <a:xfrm>
            <a:off x="683568" y="1196752"/>
            <a:ext cx="7848872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Rotation-Example</a:t>
            </a:r>
            <a:endParaRPr/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First Perform Left to Left Rotation around node A=&gt;Clockwise</a:t>
            </a:r>
            <a:endParaRPr b="1" sz="1600">
              <a:solidFill>
                <a:srgbClr val="00B0F0"/>
              </a:solidFill>
            </a:endParaRPr>
          </a:p>
          <a:p>
            <a:pPr indent="-274320" lvl="1" marL="640080" rtl="0" algn="l">
              <a:spcBef>
                <a:spcPts val="320"/>
              </a:spcBef>
              <a:spcAft>
                <a:spcPts val="0"/>
              </a:spcAft>
              <a:buSzPts val="1216"/>
              <a:buChar char="🞇"/>
            </a:pPr>
            <a:r>
              <a:rPr b="1" lang="en-IN" sz="1600">
                <a:solidFill>
                  <a:srgbClr val="00B0F0"/>
                </a:solidFill>
              </a:rPr>
              <a:t>Then Right to Right rotation around pivot node P=&gt;Anti-Clockwise</a:t>
            </a:r>
            <a:endParaRPr b="1" sz="1600">
              <a:solidFill>
                <a:srgbClr val="00B0F0"/>
              </a:solidFill>
            </a:endParaRPr>
          </a:p>
          <a:p>
            <a:pPr indent="-139191" lvl="0" marL="342900" rtl="0" algn="l">
              <a:spcBef>
                <a:spcPts val="56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="1" sz="2800">
              <a:solidFill>
                <a:srgbClr val="00B0F0"/>
              </a:solidFill>
            </a:endParaRPr>
          </a:p>
        </p:txBody>
      </p:sp>
      <p:sp>
        <p:nvSpPr>
          <p:cNvPr id="1188" name="Google Shape;1188;p80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189" name="Google Shape;1189;p80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90" name="Google Shape;1190;p80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191" name="Google Shape;1191;p80"/>
          <p:cNvGrpSpPr/>
          <p:nvPr/>
        </p:nvGrpSpPr>
        <p:grpSpPr>
          <a:xfrm>
            <a:off x="467544" y="2689870"/>
            <a:ext cx="8137219" cy="1963266"/>
            <a:chOff x="467544" y="2401838"/>
            <a:chExt cx="8137219" cy="1533525"/>
          </a:xfrm>
        </p:grpSpPr>
        <p:pic>
          <p:nvPicPr>
            <p:cNvPr id="1192" name="Google Shape;1192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7544" y="2420888"/>
              <a:ext cx="1781175" cy="151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3" name="Google Shape;1193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23728" y="2420888"/>
              <a:ext cx="1704975" cy="145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4" name="Google Shape;1194;p8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719513" y="2401838"/>
              <a:ext cx="1704975" cy="147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5" name="Google Shape;1195;p8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01873" y="2421928"/>
              <a:ext cx="1704975" cy="1456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6" name="Google Shape;1196;p8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20272" y="2403723"/>
              <a:ext cx="1584491" cy="1457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81"/>
          <p:cNvSpPr txBox="1"/>
          <p:nvPr>
            <p:ph type="title"/>
          </p:nvPr>
        </p:nvSpPr>
        <p:spPr>
          <a:xfrm>
            <a:off x="1043608" y="332656"/>
            <a:ext cx="7024744" cy="5291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</a:pPr>
            <a:r>
              <a:rPr b="1" lang="en-IN" sz="2800"/>
              <a:t>AVL Rotations–</a:t>
            </a:r>
            <a:endParaRPr b="1" sz="2800"/>
          </a:p>
        </p:txBody>
      </p:sp>
      <p:sp>
        <p:nvSpPr>
          <p:cNvPr id="1202" name="Google Shape;1202;p81"/>
          <p:cNvSpPr txBox="1"/>
          <p:nvPr>
            <p:ph idx="1" type="body"/>
          </p:nvPr>
        </p:nvSpPr>
        <p:spPr>
          <a:xfrm>
            <a:off x="1039325" y="848449"/>
            <a:ext cx="6777317" cy="4824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342900" rtl="0" algn="l">
              <a:spcBef>
                <a:spcPts val="0"/>
              </a:spcBef>
              <a:spcAft>
                <a:spcPts val="0"/>
              </a:spcAft>
              <a:buSzPts val="1520"/>
              <a:buChar char="🞇"/>
            </a:pPr>
            <a:r>
              <a:rPr b="1" lang="en-IN" sz="2000"/>
              <a:t>Right to Left Rotation</a:t>
            </a:r>
            <a:endParaRPr/>
          </a:p>
          <a:p>
            <a:pPr indent="-274320" lvl="1" marL="640080" rtl="0" algn="l">
              <a:spcBef>
                <a:spcPts val="360"/>
              </a:spcBef>
              <a:spcAft>
                <a:spcPts val="0"/>
              </a:spcAft>
              <a:buSzPts val="1368"/>
              <a:buChar char="🞇"/>
            </a:pPr>
            <a:r>
              <a:rPr lang="en-IN" sz="1800"/>
              <a:t>Example-Insert 24</a:t>
            </a:r>
            <a:endParaRPr/>
          </a:p>
          <a:p>
            <a:pPr indent="-187452" lvl="1" marL="640080" rtl="0" algn="l">
              <a:spcBef>
                <a:spcPts val="360"/>
              </a:spcBef>
              <a:spcAft>
                <a:spcPts val="0"/>
              </a:spcAft>
              <a:buSzPts val="1368"/>
              <a:buNone/>
            </a:pPr>
            <a:r>
              <a:t/>
            </a:r>
            <a:endParaRPr sz="1800"/>
          </a:p>
        </p:txBody>
      </p:sp>
      <p:sp>
        <p:nvSpPr>
          <p:cNvPr id="1203" name="Google Shape;1203;p81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204" name="Google Shape;1204;p81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05" name="Google Shape;1205;p81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206" name="Google Shape;120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33" y="1577102"/>
            <a:ext cx="8048625" cy="2067921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1"/>
          <p:cNvSpPr/>
          <p:nvPr/>
        </p:nvSpPr>
        <p:spPr>
          <a:xfrm>
            <a:off x="4081458" y="2060848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08" name="Google Shape;1208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605" y="3645024"/>
            <a:ext cx="8048625" cy="22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1"/>
          <p:cNvSpPr/>
          <p:nvPr/>
        </p:nvSpPr>
        <p:spPr>
          <a:xfrm>
            <a:off x="3779912" y="4293096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0" name="Google Shape;1210;p81"/>
          <p:cNvSpPr txBox="1"/>
          <p:nvPr/>
        </p:nvSpPr>
        <p:spPr>
          <a:xfrm>
            <a:off x="7452320" y="1948770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1" sz="1800">
              <a:solidFill>
                <a:srgbClr val="00B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1" name="Google Shape;1211;p81"/>
          <p:cNvSpPr txBox="1"/>
          <p:nvPr/>
        </p:nvSpPr>
        <p:spPr>
          <a:xfrm>
            <a:off x="8028384" y="2348880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endParaRPr b="1" sz="1800">
              <a:solidFill>
                <a:srgbClr val="00B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2" name="Google Shape;1212;p81"/>
          <p:cNvSpPr/>
          <p:nvPr/>
        </p:nvSpPr>
        <p:spPr>
          <a:xfrm>
            <a:off x="624633" y="6025643"/>
            <a:ext cx="77586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Perform Left to Left Rotation around node A=&gt;Clockwise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 Right to Right rotation around pivot node P=&gt;Anti-Clockwise</a:t>
            </a:r>
            <a:endParaRPr b="1" i="0" sz="2800" u="none" cap="none" strike="noStrike">
              <a:solidFill>
                <a:srgbClr val="00B0F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3" name="Google Shape;1213;p81"/>
          <p:cNvSpPr txBox="1"/>
          <p:nvPr/>
        </p:nvSpPr>
        <p:spPr>
          <a:xfrm>
            <a:off x="2627784" y="4037002"/>
            <a:ext cx="432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</a:t>
            </a:r>
            <a:endParaRPr b="1" sz="1800">
              <a:solidFill>
                <a:srgbClr val="00B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82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by inserting the following numbers in the given sequence in an initially empty AVL tree.</a:t>
            </a:r>
            <a:br>
              <a:rPr b="1" lang="en-IN" sz="2000"/>
            </a:br>
            <a:r>
              <a:rPr b="1" lang="en-IN" sz="2000"/>
              <a:t>15, 20, 24, 10, 13, 7, 30, 36</a:t>
            </a:r>
            <a:endParaRPr b="1" sz="2000"/>
          </a:p>
        </p:txBody>
      </p:sp>
      <p:sp>
        <p:nvSpPr>
          <p:cNvPr id="1219" name="Google Shape;1219;p82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220" name="Google Shape;1220;p82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21" name="Google Shape;1221;p82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83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by inserting the following numbers in the given sequence in an initially empty AVL tree.</a:t>
            </a:r>
            <a:br>
              <a:rPr b="1" lang="en-IN" sz="2000"/>
            </a:br>
            <a:r>
              <a:rPr b="1" lang="en-IN" sz="2000"/>
              <a:t>15, 20, 24, 10, 13, 7, 30, 36</a:t>
            </a:r>
            <a:endParaRPr b="1" sz="2000"/>
          </a:p>
        </p:txBody>
      </p:sp>
      <p:sp>
        <p:nvSpPr>
          <p:cNvPr id="1227" name="Google Shape;1227;p83"/>
          <p:cNvSpPr txBox="1"/>
          <p:nvPr>
            <p:ph idx="1" type="body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496" lvl="0" marL="342900" rtl="0" algn="l">
              <a:spcBef>
                <a:spcPts val="0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/>
          </a:p>
        </p:txBody>
      </p:sp>
      <p:sp>
        <p:nvSpPr>
          <p:cNvPr id="1228" name="Google Shape;1228;p83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229" name="Google Shape;1229;p83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30" name="Google Shape;1230;p83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31" name="Google Shape;1231;p83"/>
          <p:cNvSpPr/>
          <p:nvPr/>
        </p:nvSpPr>
        <p:spPr>
          <a:xfrm>
            <a:off x="899592" y="249289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2" name="Google Shape;1232;p83"/>
          <p:cNvSpPr/>
          <p:nvPr/>
        </p:nvSpPr>
        <p:spPr>
          <a:xfrm>
            <a:off x="2843808" y="249289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3" name="Google Shape;1233;p83"/>
          <p:cNvSpPr/>
          <p:nvPr/>
        </p:nvSpPr>
        <p:spPr>
          <a:xfrm>
            <a:off x="3563888" y="314096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34" name="Google Shape;1234;p83"/>
          <p:cNvCxnSpPr>
            <a:stCxn id="1232" idx="5"/>
          </p:cNvCxnSpPr>
          <p:nvPr/>
        </p:nvCxnSpPr>
        <p:spPr>
          <a:xfrm>
            <a:off x="3458435" y="2923135"/>
            <a:ext cx="321600" cy="21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35" name="Google Shape;1235;p83"/>
          <p:cNvSpPr/>
          <p:nvPr/>
        </p:nvSpPr>
        <p:spPr>
          <a:xfrm>
            <a:off x="5004048" y="242088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6" name="Google Shape;1236;p83"/>
          <p:cNvSpPr/>
          <p:nvPr/>
        </p:nvSpPr>
        <p:spPr>
          <a:xfrm>
            <a:off x="5724128" y="306896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37" name="Google Shape;1237;p83"/>
          <p:cNvCxnSpPr>
            <a:stCxn id="1235" idx="5"/>
          </p:cNvCxnSpPr>
          <p:nvPr/>
        </p:nvCxnSpPr>
        <p:spPr>
          <a:xfrm>
            <a:off x="5618675" y="2851127"/>
            <a:ext cx="321600" cy="217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38" name="Google Shape;1238;p83"/>
          <p:cNvSpPr/>
          <p:nvPr/>
        </p:nvSpPr>
        <p:spPr>
          <a:xfrm>
            <a:off x="6444208" y="3718841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39" name="Google Shape;1239;p83"/>
          <p:cNvCxnSpPr/>
          <p:nvPr/>
        </p:nvCxnSpPr>
        <p:spPr>
          <a:xfrm>
            <a:off x="6338755" y="3501008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40" name="Google Shape;1240;p83"/>
          <p:cNvSpPr/>
          <p:nvPr/>
        </p:nvSpPr>
        <p:spPr>
          <a:xfrm>
            <a:off x="1259632" y="4363295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1" name="Google Shape;1241;p83"/>
          <p:cNvSpPr/>
          <p:nvPr/>
        </p:nvSpPr>
        <p:spPr>
          <a:xfrm>
            <a:off x="2034997" y="3859239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42" name="Google Shape;1242;p83"/>
          <p:cNvCxnSpPr/>
          <p:nvPr/>
        </p:nvCxnSpPr>
        <p:spPr>
          <a:xfrm flipH="1">
            <a:off x="1835696" y="4219279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43" name="Google Shape;1243;p83"/>
          <p:cNvSpPr/>
          <p:nvPr/>
        </p:nvSpPr>
        <p:spPr>
          <a:xfrm>
            <a:off x="2807320" y="4479491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44" name="Google Shape;1244;p83"/>
          <p:cNvCxnSpPr/>
          <p:nvPr/>
        </p:nvCxnSpPr>
        <p:spPr>
          <a:xfrm>
            <a:off x="2646581" y="4318713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45" name="Google Shape;1245;p83"/>
          <p:cNvSpPr txBox="1"/>
          <p:nvPr/>
        </p:nvSpPr>
        <p:spPr>
          <a:xfrm>
            <a:off x="4292352" y="3240592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6" name="Google Shape;1246;p83"/>
          <p:cNvSpPr txBox="1"/>
          <p:nvPr/>
        </p:nvSpPr>
        <p:spPr>
          <a:xfrm>
            <a:off x="3539014" y="2555612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7" name="Google Shape;1247;p83"/>
          <p:cNvSpPr txBox="1"/>
          <p:nvPr/>
        </p:nvSpPr>
        <p:spPr>
          <a:xfrm>
            <a:off x="7197546" y="3779748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8" name="Google Shape;1248;p83"/>
          <p:cNvSpPr txBox="1"/>
          <p:nvPr/>
        </p:nvSpPr>
        <p:spPr>
          <a:xfrm>
            <a:off x="6444208" y="3094768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9" name="Google Shape;1249;p83"/>
          <p:cNvSpPr txBox="1"/>
          <p:nvPr/>
        </p:nvSpPr>
        <p:spPr>
          <a:xfrm>
            <a:off x="5724128" y="2411596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0" name="Google Shape;1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9769" y="3101112"/>
            <a:ext cx="715006" cy="4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83"/>
          <p:cNvSpPr txBox="1"/>
          <p:nvPr/>
        </p:nvSpPr>
        <p:spPr>
          <a:xfrm>
            <a:off x="3539014" y="450912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2" name="Google Shape;1252;p83"/>
          <p:cNvSpPr txBox="1"/>
          <p:nvPr/>
        </p:nvSpPr>
        <p:spPr>
          <a:xfrm>
            <a:off x="2699792" y="392376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3" name="Google Shape;1253;p83"/>
          <p:cNvSpPr txBox="1"/>
          <p:nvPr/>
        </p:nvSpPr>
        <p:spPr>
          <a:xfrm>
            <a:off x="1907704" y="4499828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4" name="Google Shape;1254;p83"/>
          <p:cNvSpPr/>
          <p:nvPr/>
        </p:nvSpPr>
        <p:spPr>
          <a:xfrm>
            <a:off x="4283968" y="489698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5" name="Google Shape;1255;p83"/>
          <p:cNvSpPr/>
          <p:nvPr/>
        </p:nvSpPr>
        <p:spPr>
          <a:xfrm>
            <a:off x="5059333" y="439292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56" name="Google Shape;1256;p83"/>
          <p:cNvCxnSpPr/>
          <p:nvPr/>
        </p:nvCxnSpPr>
        <p:spPr>
          <a:xfrm flipH="1">
            <a:off x="4860032" y="4752964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7" name="Google Shape;1257;p83"/>
          <p:cNvSpPr/>
          <p:nvPr/>
        </p:nvSpPr>
        <p:spPr>
          <a:xfrm>
            <a:off x="5831656" y="501317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58" name="Google Shape;1258;p83"/>
          <p:cNvCxnSpPr/>
          <p:nvPr/>
        </p:nvCxnSpPr>
        <p:spPr>
          <a:xfrm>
            <a:off x="5670917" y="4852398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9" name="Google Shape;1259;p83"/>
          <p:cNvSpPr txBox="1"/>
          <p:nvPr/>
        </p:nvSpPr>
        <p:spPr>
          <a:xfrm>
            <a:off x="6563350" y="504280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0" name="Google Shape;1260;p83"/>
          <p:cNvSpPr txBox="1"/>
          <p:nvPr/>
        </p:nvSpPr>
        <p:spPr>
          <a:xfrm>
            <a:off x="5724128" y="4457449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1" name="Google Shape;1261;p83"/>
          <p:cNvSpPr txBox="1"/>
          <p:nvPr/>
        </p:nvSpPr>
        <p:spPr>
          <a:xfrm>
            <a:off x="4932040" y="5033513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2" name="Google Shape;1262;p83"/>
          <p:cNvSpPr/>
          <p:nvPr/>
        </p:nvSpPr>
        <p:spPr>
          <a:xfrm>
            <a:off x="3635896" y="551723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63" name="Google Shape;1263;p83"/>
          <p:cNvCxnSpPr/>
          <p:nvPr/>
        </p:nvCxnSpPr>
        <p:spPr>
          <a:xfrm flipH="1">
            <a:off x="4211960" y="5373216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4" name="Google Shape;1264;p83"/>
          <p:cNvSpPr txBox="1"/>
          <p:nvPr/>
        </p:nvSpPr>
        <p:spPr>
          <a:xfrm>
            <a:off x="4355976" y="5661248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5" name="Google Shape;1265;p83"/>
          <p:cNvSpPr txBox="1"/>
          <p:nvPr/>
        </p:nvSpPr>
        <p:spPr>
          <a:xfrm>
            <a:off x="6174990" y="2590711"/>
            <a:ext cx="3619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24-Right to Right Rotation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6" name="Google Shape;1266;p83"/>
          <p:cNvSpPr/>
          <p:nvPr/>
        </p:nvSpPr>
        <p:spPr>
          <a:xfrm>
            <a:off x="3944749" y="2555612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7" name="Google Shape;1267;p83"/>
          <p:cNvSpPr/>
          <p:nvPr/>
        </p:nvSpPr>
        <p:spPr>
          <a:xfrm>
            <a:off x="1763688" y="2564904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8" name="Google Shape;1268;p83"/>
          <p:cNvSpPr/>
          <p:nvPr/>
        </p:nvSpPr>
        <p:spPr>
          <a:xfrm>
            <a:off x="3707904" y="4221088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84"/>
          <p:cNvSpPr txBox="1"/>
          <p:nvPr>
            <p:ph type="title"/>
          </p:nvPr>
        </p:nvSpPr>
        <p:spPr>
          <a:xfrm>
            <a:off x="806850" y="485800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by inserting the following numbers in the given sequence in an initially empty AVL tree.</a:t>
            </a:r>
            <a:br>
              <a:rPr b="1" lang="en-IN" sz="2000"/>
            </a:br>
            <a:r>
              <a:rPr b="1" lang="en-IN" sz="2000"/>
              <a:t>15, 20, 24, 10, 13, 7, 30, 36</a:t>
            </a:r>
            <a:endParaRPr b="1" sz="2000"/>
          </a:p>
        </p:txBody>
      </p:sp>
      <p:sp>
        <p:nvSpPr>
          <p:cNvPr id="1274" name="Google Shape;1274;p84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275" name="Google Shape;1275;p84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276" name="Google Shape;1276;p84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77" name="Google Shape;1277;p84"/>
          <p:cNvSpPr/>
          <p:nvPr/>
        </p:nvSpPr>
        <p:spPr>
          <a:xfrm>
            <a:off x="1331640" y="278092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8" name="Google Shape;1278;p84"/>
          <p:cNvSpPr/>
          <p:nvPr/>
        </p:nvSpPr>
        <p:spPr>
          <a:xfrm>
            <a:off x="2107005" y="227687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79" name="Google Shape;1279;p84"/>
          <p:cNvCxnSpPr/>
          <p:nvPr/>
        </p:nvCxnSpPr>
        <p:spPr>
          <a:xfrm flipH="1">
            <a:off x="1907704" y="2636912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80" name="Google Shape;1280;p84"/>
          <p:cNvSpPr/>
          <p:nvPr/>
        </p:nvSpPr>
        <p:spPr>
          <a:xfrm>
            <a:off x="2879328" y="289712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81" name="Google Shape;1281;p84"/>
          <p:cNvCxnSpPr/>
          <p:nvPr/>
        </p:nvCxnSpPr>
        <p:spPr>
          <a:xfrm>
            <a:off x="2718589" y="2736346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82" name="Google Shape;1282;p84"/>
          <p:cNvSpPr txBox="1"/>
          <p:nvPr/>
        </p:nvSpPr>
        <p:spPr>
          <a:xfrm>
            <a:off x="3611022" y="292675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3" name="Google Shape;1283;p84"/>
          <p:cNvSpPr txBox="1"/>
          <p:nvPr/>
        </p:nvSpPr>
        <p:spPr>
          <a:xfrm>
            <a:off x="2771800" y="2341397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4" name="Google Shape;1284;p84"/>
          <p:cNvSpPr txBox="1"/>
          <p:nvPr/>
        </p:nvSpPr>
        <p:spPr>
          <a:xfrm>
            <a:off x="1979712" y="2917461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5" name="Google Shape;1285;p84"/>
          <p:cNvSpPr/>
          <p:nvPr/>
        </p:nvSpPr>
        <p:spPr>
          <a:xfrm>
            <a:off x="683568" y="340118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86" name="Google Shape;1286;p84"/>
          <p:cNvCxnSpPr/>
          <p:nvPr/>
        </p:nvCxnSpPr>
        <p:spPr>
          <a:xfrm flipH="1">
            <a:off x="1259632" y="3257164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87" name="Google Shape;1287;p84"/>
          <p:cNvSpPr txBox="1"/>
          <p:nvPr/>
        </p:nvSpPr>
        <p:spPr>
          <a:xfrm>
            <a:off x="1403648" y="3545196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8" name="Google Shape;1288;p84"/>
          <p:cNvSpPr/>
          <p:nvPr/>
        </p:nvSpPr>
        <p:spPr>
          <a:xfrm>
            <a:off x="1276355" y="407707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89" name="Google Shape;1289;p84"/>
          <p:cNvCxnSpPr/>
          <p:nvPr/>
        </p:nvCxnSpPr>
        <p:spPr>
          <a:xfrm>
            <a:off x="1115616" y="3916294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90" name="Google Shape;1290;p84"/>
          <p:cNvSpPr txBox="1"/>
          <p:nvPr/>
        </p:nvSpPr>
        <p:spPr>
          <a:xfrm>
            <a:off x="2008049" y="4106701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1" name="Google Shape;1291;p84"/>
          <p:cNvSpPr txBox="1"/>
          <p:nvPr/>
        </p:nvSpPr>
        <p:spPr>
          <a:xfrm>
            <a:off x="4628873" y="1124744"/>
            <a:ext cx="34515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13-Left to Right Rotation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92" name="Google Shape;129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3965208"/>
            <a:ext cx="715006" cy="4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84"/>
          <p:cNvSpPr/>
          <p:nvPr/>
        </p:nvSpPr>
        <p:spPr>
          <a:xfrm>
            <a:off x="5004048" y="263691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4" name="Google Shape;1294;p84"/>
          <p:cNvSpPr/>
          <p:nvPr/>
        </p:nvSpPr>
        <p:spPr>
          <a:xfrm>
            <a:off x="5779413" y="213285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95" name="Google Shape;1295;p84"/>
          <p:cNvCxnSpPr/>
          <p:nvPr/>
        </p:nvCxnSpPr>
        <p:spPr>
          <a:xfrm flipH="1">
            <a:off x="5580112" y="2492896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96" name="Google Shape;1296;p84"/>
          <p:cNvSpPr/>
          <p:nvPr/>
        </p:nvSpPr>
        <p:spPr>
          <a:xfrm>
            <a:off x="6551736" y="275310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297" name="Google Shape;1297;p84"/>
          <p:cNvCxnSpPr/>
          <p:nvPr/>
        </p:nvCxnSpPr>
        <p:spPr>
          <a:xfrm>
            <a:off x="6390997" y="2592330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98" name="Google Shape;1298;p84"/>
          <p:cNvSpPr txBox="1"/>
          <p:nvPr/>
        </p:nvSpPr>
        <p:spPr>
          <a:xfrm>
            <a:off x="7283430" y="2782737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9" name="Google Shape;1299;p84"/>
          <p:cNvSpPr txBox="1"/>
          <p:nvPr/>
        </p:nvSpPr>
        <p:spPr>
          <a:xfrm>
            <a:off x="6444208" y="2197381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0" name="Google Shape;1300;p84"/>
          <p:cNvSpPr txBox="1"/>
          <p:nvPr/>
        </p:nvSpPr>
        <p:spPr>
          <a:xfrm>
            <a:off x="5652120" y="2773445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1" name="Google Shape;1301;p84"/>
          <p:cNvSpPr/>
          <p:nvPr/>
        </p:nvSpPr>
        <p:spPr>
          <a:xfrm>
            <a:off x="4355976" y="325716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02" name="Google Shape;1302;p84"/>
          <p:cNvCxnSpPr/>
          <p:nvPr/>
        </p:nvCxnSpPr>
        <p:spPr>
          <a:xfrm flipH="1">
            <a:off x="4932040" y="3113148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03" name="Google Shape;1303;p84"/>
          <p:cNvSpPr txBox="1"/>
          <p:nvPr/>
        </p:nvSpPr>
        <p:spPr>
          <a:xfrm>
            <a:off x="5076056" y="3401180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4" name="Google Shape;1304;p84"/>
          <p:cNvSpPr/>
          <p:nvPr/>
        </p:nvSpPr>
        <p:spPr>
          <a:xfrm>
            <a:off x="3779162" y="4039339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05" name="Google Shape;1305;p84"/>
          <p:cNvCxnSpPr>
            <a:endCxn id="1304" idx="0"/>
          </p:cNvCxnSpPr>
          <p:nvPr/>
        </p:nvCxnSpPr>
        <p:spPr>
          <a:xfrm flipH="1">
            <a:off x="4139202" y="3699439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06" name="Google Shape;1306;p84"/>
          <p:cNvSpPr txBox="1"/>
          <p:nvPr/>
        </p:nvSpPr>
        <p:spPr>
          <a:xfrm>
            <a:off x="4499242" y="4106701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07" name="Google Shape;1307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423" y="3201155"/>
            <a:ext cx="61102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84"/>
          <p:cNvSpPr/>
          <p:nvPr/>
        </p:nvSpPr>
        <p:spPr>
          <a:xfrm>
            <a:off x="5931813" y="5347221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9" name="Google Shape;1309;p84"/>
          <p:cNvSpPr/>
          <p:nvPr/>
        </p:nvSpPr>
        <p:spPr>
          <a:xfrm>
            <a:off x="5931813" y="4114805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10" name="Google Shape;1310;p84"/>
          <p:cNvCxnSpPr/>
          <p:nvPr/>
        </p:nvCxnSpPr>
        <p:spPr>
          <a:xfrm flipH="1">
            <a:off x="5732512" y="4474845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11" name="Google Shape;1311;p84"/>
          <p:cNvSpPr/>
          <p:nvPr/>
        </p:nvSpPr>
        <p:spPr>
          <a:xfrm>
            <a:off x="6704136" y="4735057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12" name="Google Shape;1312;p84"/>
          <p:cNvCxnSpPr/>
          <p:nvPr/>
        </p:nvCxnSpPr>
        <p:spPr>
          <a:xfrm>
            <a:off x="6543397" y="4574279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13" name="Google Shape;1313;p84"/>
          <p:cNvSpPr txBox="1"/>
          <p:nvPr/>
        </p:nvSpPr>
        <p:spPr>
          <a:xfrm>
            <a:off x="7435830" y="476468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4" name="Google Shape;1314;p84"/>
          <p:cNvSpPr txBox="1"/>
          <p:nvPr/>
        </p:nvSpPr>
        <p:spPr>
          <a:xfrm>
            <a:off x="6596608" y="4179330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5" name="Google Shape;1315;p84"/>
          <p:cNvSpPr txBox="1"/>
          <p:nvPr/>
        </p:nvSpPr>
        <p:spPr>
          <a:xfrm>
            <a:off x="5804520" y="475539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316" name="Google Shape;1316;p84"/>
          <p:cNvSpPr/>
          <p:nvPr/>
        </p:nvSpPr>
        <p:spPr>
          <a:xfrm>
            <a:off x="5076056" y="458112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7" name="Google Shape;1317;p84"/>
          <p:cNvSpPr txBox="1"/>
          <p:nvPr/>
        </p:nvSpPr>
        <p:spPr>
          <a:xfrm>
            <a:off x="6670392" y="541458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318" name="Google Shape;1318;p84"/>
          <p:cNvSpPr/>
          <p:nvPr/>
        </p:nvSpPr>
        <p:spPr>
          <a:xfrm>
            <a:off x="4499242" y="5363303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19" name="Google Shape;1319;p84"/>
          <p:cNvCxnSpPr>
            <a:endCxn id="1318" idx="0"/>
          </p:cNvCxnSpPr>
          <p:nvPr/>
        </p:nvCxnSpPr>
        <p:spPr>
          <a:xfrm flipH="1">
            <a:off x="4859282" y="5023403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0" name="Google Shape;1320;p84"/>
          <p:cNvSpPr txBox="1"/>
          <p:nvPr/>
        </p:nvSpPr>
        <p:spPr>
          <a:xfrm>
            <a:off x="5219322" y="543066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21" name="Google Shape;1321;p84"/>
          <p:cNvCxnSpPr>
            <a:stCxn id="1316" idx="5"/>
            <a:endCxn id="1308" idx="1"/>
          </p:cNvCxnSpPr>
          <p:nvPr/>
        </p:nvCxnSpPr>
        <p:spPr>
          <a:xfrm>
            <a:off x="5690683" y="5011367"/>
            <a:ext cx="346500" cy="40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2" name="Google Shape;1322;p84"/>
          <p:cNvSpPr/>
          <p:nvPr/>
        </p:nvSpPr>
        <p:spPr>
          <a:xfrm>
            <a:off x="3707904" y="2555612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3" name="Google Shape;1323;p84"/>
          <p:cNvSpPr/>
          <p:nvPr/>
        </p:nvSpPr>
        <p:spPr>
          <a:xfrm rot="5400000">
            <a:off x="6775781" y="3821192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85"/>
          <p:cNvSpPr txBox="1"/>
          <p:nvPr>
            <p:ph type="title"/>
          </p:nvPr>
        </p:nvSpPr>
        <p:spPr>
          <a:xfrm>
            <a:off x="671131" y="836712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by inserting the following numbers in the given sequence in an initially empty AVL tree.</a:t>
            </a:r>
            <a:br>
              <a:rPr b="1" lang="en-IN" sz="2000"/>
            </a:br>
            <a:r>
              <a:rPr b="1" lang="en-IN" sz="2000"/>
              <a:t>15, 20, 24, 10, 13, 7, 30, 36</a:t>
            </a:r>
            <a:endParaRPr b="1" sz="2000"/>
          </a:p>
        </p:txBody>
      </p:sp>
      <p:sp>
        <p:nvSpPr>
          <p:cNvPr id="1329" name="Google Shape;1329;p85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330" name="Google Shape;1330;p85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31" name="Google Shape;1331;p85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32" name="Google Shape;1332;p85"/>
          <p:cNvSpPr txBox="1"/>
          <p:nvPr/>
        </p:nvSpPr>
        <p:spPr>
          <a:xfrm>
            <a:off x="112341" y="2461538"/>
            <a:ext cx="2247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7-LL Rotation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33" name="Google Shape;1333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500" y="3361912"/>
            <a:ext cx="482990" cy="31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85"/>
          <p:cNvSpPr/>
          <p:nvPr/>
        </p:nvSpPr>
        <p:spPr>
          <a:xfrm>
            <a:off x="2034997" y="406099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5" name="Google Shape;1335;p85"/>
          <p:cNvSpPr/>
          <p:nvPr/>
        </p:nvSpPr>
        <p:spPr>
          <a:xfrm>
            <a:off x="2034997" y="282857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36" name="Google Shape;1336;p85"/>
          <p:cNvCxnSpPr/>
          <p:nvPr/>
        </p:nvCxnSpPr>
        <p:spPr>
          <a:xfrm flipH="1">
            <a:off x="1835696" y="3188614"/>
            <a:ext cx="288032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37" name="Google Shape;1337;p85"/>
          <p:cNvSpPr/>
          <p:nvPr/>
        </p:nvSpPr>
        <p:spPr>
          <a:xfrm>
            <a:off x="2807320" y="344882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38" name="Google Shape;1338;p85"/>
          <p:cNvCxnSpPr/>
          <p:nvPr/>
        </p:nvCxnSpPr>
        <p:spPr>
          <a:xfrm>
            <a:off x="2646581" y="3288048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39" name="Google Shape;1339;p85"/>
          <p:cNvSpPr txBox="1"/>
          <p:nvPr/>
        </p:nvSpPr>
        <p:spPr>
          <a:xfrm>
            <a:off x="3539014" y="347845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0" name="Google Shape;1340;p85"/>
          <p:cNvSpPr txBox="1"/>
          <p:nvPr/>
        </p:nvSpPr>
        <p:spPr>
          <a:xfrm>
            <a:off x="2699792" y="2893099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1" name="Google Shape;1341;p85"/>
          <p:cNvSpPr txBox="1"/>
          <p:nvPr/>
        </p:nvSpPr>
        <p:spPr>
          <a:xfrm>
            <a:off x="1907704" y="3469163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2" name="Google Shape;1342;p85"/>
          <p:cNvSpPr/>
          <p:nvPr/>
        </p:nvSpPr>
        <p:spPr>
          <a:xfrm>
            <a:off x="1179240" y="3294897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3" name="Google Shape;1343;p85"/>
          <p:cNvSpPr txBox="1"/>
          <p:nvPr/>
        </p:nvSpPr>
        <p:spPr>
          <a:xfrm>
            <a:off x="2773576" y="4128352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344" name="Google Shape;1344;p85"/>
          <p:cNvSpPr/>
          <p:nvPr/>
        </p:nvSpPr>
        <p:spPr>
          <a:xfrm>
            <a:off x="602426" y="407707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45" name="Google Shape;1345;p85"/>
          <p:cNvCxnSpPr>
            <a:endCxn id="1344" idx="0"/>
          </p:cNvCxnSpPr>
          <p:nvPr/>
        </p:nvCxnSpPr>
        <p:spPr>
          <a:xfrm flipH="1">
            <a:off x="962466" y="3737172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46" name="Google Shape;1346;p85"/>
          <p:cNvSpPr txBox="1"/>
          <p:nvPr/>
        </p:nvSpPr>
        <p:spPr>
          <a:xfrm>
            <a:off x="1322506" y="4144434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47" name="Google Shape;1347;p85"/>
          <p:cNvCxnSpPr>
            <a:stCxn id="1342" idx="5"/>
            <a:endCxn id="1334" idx="1"/>
          </p:cNvCxnSpPr>
          <p:nvPr/>
        </p:nvCxnSpPr>
        <p:spPr>
          <a:xfrm>
            <a:off x="1793867" y="3725136"/>
            <a:ext cx="346500" cy="40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48" name="Google Shape;1348;p85"/>
          <p:cNvSpPr/>
          <p:nvPr/>
        </p:nvSpPr>
        <p:spPr>
          <a:xfrm>
            <a:off x="107504" y="486916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</p:txBody>
      </p:sp>
      <p:cxnSp>
        <p:nvCxnSpPr>
          <p:cNvPr id="1349" name="Google Shape;1349;p85"/>
          <p:cNvCxnSpPr>
            <a:endCxn id="1348" idx="0"/>
          </p:cNvCxnSpPr>
          <p:nvPr/>
        </p:nvCxnSpPr>
        <p:spPr>
          <a:xfrm flipH="1">
            <a:off x="467544" y="4529260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50" name="Google Shape;1350;p85"/>
          <p:cNvSpPr txBox="1"/>
          <p:nvPr/>
        </p:nvSpPr>
        <p:spPr>
          <a:xfrm>
            <a:off x="671131" y="4684494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1" name="Google Shape;1351;p85"/>
          <p:cNvSpPr/>
          <p:nvPr/>
        </p:nvSpPr>
        <p:spPr>
          <a:xfrm>
            <a:off x="5707405" y="386932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2" name="Google Shape;1352;p85"/>
          <p:cNvSpPr/>
          <p:nvPr/>
        </p:nvSpPr>
        <p:spPr>
          <a:xfrm>
            <a:off x="6499493" y="328498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53" name="Google Shape;1353;p85"/>
          <p:cNvCxnSpPr>
            <a:endCxn id="1352" idx="1"/>
          </p:cNvCxnSpPr>
          <p:nvPr/>
        </p:nvCxnSpPr>
        <p:spPr>
          <a:xfrm>
            <a:off x="6067346" y="3077701"/>
            <a:ext cx="537600" cy="28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54" name="Google Shape;1354;p85"/>
          <p:cNvSpPr/>
          <p:nvPr/>
        </p:nvSpPr>
        <p:spPr>
          <a:xfrm>
            <a:off x="7271816" y="390523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55" name="Google Shape;1355;p85"/>
          <p:cNvCxnSpPr/>
          <p:nvPr/>
        </p:nvCxnSpPr>
        <p:spPr>
          <a:xfrm>
            <a:off x="7111077" y="3744458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56" name="Google Shape;1356;p85"/>
          <p:cNvSpPr txBox="1"/>
          <p:nvPr/>
        </p:nvSpPr>
        <p:spPr>
          <a:xfrm>
            <a:off x="8003510" y="3934865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7" name="Google Shape;1357;p85"/>
          <p:cNvSpPr txBox="1"/>
          <p:nvPr/>
        </p:nvSpPr>
        <p:spPr>
          <a:xfrm>
            <a:off x="7164288" y="3349509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8" name="Google Shape;1358;p85"/>
          <p:cNvSpPr txBox="1"/>
          <p:nvPr/>
        </p:nvSpPr>
        <p:spPr>
          <a:xfrm>
            <a:off x="6150069" y="2631116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9" name="Google Shape;1359;p85"/>
          <p:cNvSpPr/>
          <p:nvPr/>
        </p:nvSpPr>
        <p:spPr>
          <a:xfrm>
            <a:off x="5436096" y="263691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0" name="Google Shape;1360;p85"/>
          <p:cNvSpPr txBox="1"/>
          <p:nvPr/>
        </p:nvSpPr>
        <p:spPr>
          <a:xfrm>
            <a:off x="6445984" y="393669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361" name="Google Shape;1361;p85"/>
          <p:cNvSpPr/>
          <p:nvPr/>
        </p:nvSpPr>
        <p:spPr>
          <a:xfrm>
            <a:off x="4802369" y="3381321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62" name="Google Shape;1362;p85"/>
          <p:cNvCxnSpPr>
            <a:endCxn id="1361" idx="0"/>
          </p:cNvCxnSpPr>
          <p:nvPr/>
        </p:nvCxnSpPr>
        <p:spPr>
          <a:xfrm flipH="1">
            <a:off x="5162409" y="3041421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63" name="Google Shape;1363;p85"/>
          <p:cNvSpPr txBox="1"/>
          <p:nvPr/>
        </p:nvSpPr>
        <p:spPr>
          <a:xfrm>
            <a:off x="5436096" y="3448683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64" name="Google Shape;1364;p85"/>
          <p:cNvCxnSpPr/>
          <p:nvPr/>
        </p:nvCxnSpPr>
        <p:spPr>
          <a:xfrm flipH="1">
            <a:off x="6291830" y="3700854"/>
            <a:ext cx="415326" cy="24229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5" name="Google Shape;1365;p85"/>
          <p:cNvCxnSpPr/>
          <p:nvPr/>
        </p:nvCxnSpPr>
        <p:spPr>
          <a:xfrm flipH="1">
            <a:off x="4667487" y="3833387"/>
            <a:ext cx="360040" cy="34002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66" name="Google Shape;1366;p85"/>
          <p:cNvSpPr txBox="1"/>
          <p:nvPr/>
        </p:nvSpPr>
        <p:spPr>
          <a:xfrm>
            <a:off x="5099535" y="422075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7" name="Google Shape;1367;p85"/>
          <p:cNvSpPr/>
          <p:nvPr/>
        </p:nvSpPr>
        <p:spPr>
          <a:xfrm>
            <a:off x="4163431" y="4149047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</p:txBody>
      </p:sp>
      <p:sp>
        <p:nvSpPr>
          <p:cNvPr id="1368" name="Google Shape;1368;p85"/>
          <p:cNvSpPr/>
          <p:nvPr/>
        </p:nvSpPr>
        <p:spPr>
          <a:xfrm>
            <a:off x="3707904" y="3707740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9" name="Google Shape;1369;p85"/>
          <p:cNvSpPr/>
          <p:nvPr/>
        </p:nvSpPr>
        <p:spPr>
          <a:xfrm>
            <a:off x="7956376" y="458112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70" name="Google Shape;1370;p85"/>
          <p:cNvCxnSpPr/>
          <p:nvPr/>
        </p:nvCxnSpPr>
        <p:spPr>
          <a:xfrm>
            <a:off x="7850923" y="4365104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6"/>
          <p:cNvSpPr txBox="1"/>
          <p:nvPr>
            <p:ph type="title"/>
          </p:nvPr>
        </p:nvSpPr>
        <p:spPr>
          <a:xfrm>
            <a:off x="663552" y="1138981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by inserting the following numbers in the given sequence in an initially empty AVL tree.</a:t>
            </a:r>
            <a:br>
              <a:rPr b="1" lang="en-IN" sz="2000"/>
            </a:br>
            <a:r>
              <a:rPr b="1" lang="en-IN" sz="2000"/>
              <a:t>15, 20, 24, 10, 13, 7, 30, 36</a:t>
            </a:r>
            <a:endParaRPr b="1" sz="2000"/>
          </a:p>
        </p:txBody>
      </p:sp>
      <p:sp>
        <p:nvSpPr>
          <p:cNvPr id="1376" name="Google Shape;1376;p86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377" name="Google Shape;1377;p86"/>
          <p:cNvSpPr txBox="1"/>
          <p:nvPr>
            <p:ph idx="11" type="ftr"/>
          </p:nvPr>
        </p:nvSpPr>
        <p:spPr>
          <a:xfrm>
            <a:off x="4652930" y="6093296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78" name="Google Shape;1378;p86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79" name="Google Shape;1379;p86"/>
          <p:cNvSpPr txBox="1"/>
          <p:nvPr/>
        </p:nvSpPr>
        <p:spPr>
          <a:xfrm>
            <a:off x="8795598" y="492768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0" name="Google Shape;1380;p86"/>
          <p:cNvSpPr/>
          <p:nvPr/>
        </p:nvSpPr>
        <p:spPr>
          <a:xfrm>
            <a:off x="5611918" y="396135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1" name="Google Shape;1381;p86"/>
          <p:cNvSpPr/>
          <p:nvPr/>
        </p:nvSpPr>
        <p:spPr>
          <a:xfrm>
            <a:off x="6404006" y="337701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82" name="Google Shape;1382;p86"/>
          <p:cNvCxnSpPr>
            <a:endCxn id="1381" idx="1"/>
          </p:cNvCxnSpPr>
          <p:nvPr/>
        </p:nvCxnSpPr>
        <p:spPr>
          <a:xfrm>
            <a:off x="5971859" y="3169727"/>
            <a:ext cx="537600" cy="28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3" name="Google Shape;1383;p86"/>
          <p:cNvSpPr/>
          <p:nvPr/>
        </p:nvSpPr>
        <p:spPr>
          <a:xfrm>
            <a:off x="7176329" y="3997262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84" name="Google Shape;1384;p86"/>
          <p:cNvCxnSpPr/>
          <p:nvPr/>
        </p:nvCxnSpPr>
        <p:spPr>
          <a:xfrm>
            <a:off x="7015590" y="3836484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5" name="Google Shape;1385;p86"/>
          <p:cNvSpPr txBox="1"/>
          <p:nvPr/>
        </p:nvSpPr>
        <p:spPr>
          <a:xfrm>
            <a:off x="8272689" y="4381380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6" name="Google Shape;1386;p86"/>
          <p:cNvSpPr txBox="1"/>
          <p:nvPr/>
        </p:nvSpPr>
        <p:spPr>
          <a:xfrm>
            <a:off x="7796971" y="3776688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7" name="Google Shape;1387;p86"/>
          <p:cNvSpPr txBox="1"/>
          <p:nvPr/>
        </p:nvSpPr>
        <p:spPr>
          <a:xfrm>
            <a:off x="6054582" y="2723142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8" name="Google Shape;1388;p86"/>
          <p:cNvSpPr/>
          <p:nvPr/>
        </p:nvSpPr>
        <p:spPr>
          <a:xfrm>
            <a:off x="5340609" y="2728938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9" name="Google Shape;1389;p86"/>
          <p:cNvSpPr txBox="1"/>
          <p:nvPr/>
        </p:nvSpPr>
        <p:spPr>
          <a:xfrm>
            <a:off x="6350497" y="402871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390" name="Google Shape;1390;p86"/>
          <p:cNvSpPr/>
          <p:nvPr/>
        </p:nvSpPr>
        <p:spPr>
          <a:xfrm>
            <a:off x="4706882" y="3473347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91" name="Google Shape;1391;p86"/>
          <p:cNvCxnSpPr>
            <a:endCxn id="1390" idx="0"/>
          </p:cNvCxnSpPr>
          <p:nvPr/>
        </p:nvCxnSpPr>
        <p:spPr>
          <a:xfrm flipH="1">
            <a:off x="5066922" y="3133447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2" name="Google Shape;1392;p86"/>
          <p:cNvSpPr txBox="1"/>
          <p:nvPr/>
        </p:nvSpPr>
        <p:spPr>
          <a:xfrm>
            <a:off x="5340609" y="3540709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93" name="Google Shape;1393;p86"/>
          <p:cNvCxnSpPr/>
          <p:nvPr/>
        </p:nvCxnSpPr>
        <p:spPr>
          <a:xfrm flipH="1">
            <a:off x="6196343" y="3792880"/>
            <a:ext cx="415326" cy="24229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4" name="Google Shape;1394;p86"/>
          <p:cNvCxnSpPr/>
          <p:nvPr/>
        </p:nvCxnSpPr>
        <p:spPr>
          <a:xfrm flipH="1">
            <a:off x="4572000" y="3925413"/>
            <a:ext cx="360040" cy="34002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5" name="Google Shape;1395;p86"/>
          <p:cNvSpPr txBox="1"/>
          <p:nvPr/>
        </p:nvSpPr>
        <p:spPr>
          <a:xfrm>
            <a:off x="4786629" y="4283395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6" name="Google Shape;1396;p86"/>
          <p:cNvSpPr/>
          <p:nvPr/>
        </p:nvSpPr>
        <p:spPr>
          <a:xfrm>
            <a:off x="4067944" y="4241073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</p:txBody>
      </p:sp>
      <p:sp>
        <p:nvSpPr>
          <p:cNvPr id="1397" name="Google Shape;1397;p86"/>
          <p:cNvSpPr/>
          <p:nvPr/>
        </p:nvSpPr>
        <p:spPr>
          <a:xfrm>
            <a:off x="7860889" y="467315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398" name="Google Shape;1398;p86"/>
          <p:cNvCxnSpPr/>
          <p:nvPr/>
        </p:nvCxnSpPr>
        <p:spPr>
          <a:xfrm>
            <a:off x="7755436" y="4457130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9" name="Google Shape;1399;p86"/>
          <p:cNvSpPr/>
          <p:nvPr/>
        </p:nvSpPr>
        <p:spPr>
          <a:xfrm>
            <a:off x="8388424" y="517721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36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0" name="Google Shape;1400;p86"/>
          <p:cNvCxnSpPr/>
          <p:nvPr/>
        </p:nvCxnSpPr>
        <p:spPr>
          <a:xfrm>
            <a:off x="8354979" y="5068293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01" name="Google Shape;1401;p86"/>
          <p:cNvSpPr txBox="1"/>
          <p:nvPr/>
        </p:nvSpPr>
        <p:spPr>
          <a:xfrm>
            <a:off x="6969363" y="3070720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-2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2" name="Google Shape;1402;p86"/>
          <p:cNvSpPr txBox="1"/>
          <p:nvPr/>
        </p:nvSpPr>
        <p:spPr>
          <a:xfrm>
            <a:off x="7359213" y="3235336"/>
            <a:ext cx="2444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36-RR Rotation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3" name="Google Shape;140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4312" y="4497445"/>
            <a:ext cx="715006" cy="471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86"/>
          <p:cNvSpPr txBox="1"/>
          <p:nvPr/>
        </p:nvSpPr>
        <p:spPr>
          <a:xfrm>
            <a:off x="3335427" y="480432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5" name="Google Shape;1405;p86"/>
          <p:cNvSpPr/>
          <p:nvPr/>
        </p:nvSpPr>
        <p:spPr>
          <a:xfrm>
            <a:off x="1507462" y="3907604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6" name="Google Shape;1406;p86"/>
          <p:cNvSpPr/>
          <p:nvPr/>
        </p:nvSpPr>
        <p:spPr>
          <a:xfrm>
            <a:off x="2299550" y="332326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7" name="Google Shape;1407;p86"/>
          <p:cNvCxnSpPr>
            <a:endCxn id="1406" idx="1"/>
          </p:cNvCxnSpPr>
          <p:nvPr/>
        </p:nvCxnSpPr>
        <p:spPr>
          <a:xfrm>
            <a:off x="1867403" y="3115977"/>
            <a:ext cx="537600" cy="28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08" name="Google Shape;1408;p86"/>
          <p:cNvSpPr/>
          <p:nvPr/>
        </p:nvSpPr>
        <p:spPr>
          <a:xfrm>
            <a:off x="2532600" y="4566046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09" name="Google Shape;1409;p86"/>
          <p:cNvCxnSpPr/>
          <p:nvPr/>
        </p:nvCxnSpPr>
        <p:spPr>
          <a:xfrm>
            <a:off x="2911134" y="3782734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10" name="Google Shape;1410;p86"/>
          <p:cNvSpPr txBox="1"/>
          <p:nvPr/>
        </p:nvSpPr>
        <p:spPr>
          <a:xfrm>
            <a:off x="2133888" y="4807877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1" name="Google Shape;1411;p86"/>
          <p:cNvSpPr txBox="1"/>
          <p:nvPr/>
        </p:nvSpPr>
        <p:spPr>
          <a:xfrm>
            <a:off x="3692515" y="3722938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412" name="Google Shape;1412;p86"/>
          <p:cNvSpPr txBox="1"/>
          <p:nvPr/>
        </p:nvSpPr>
        <p:spPr>
          <a:xfrm>
            <a:off x="2246041" y="397496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/>
          </a:p>
        </p:txBody>
      </p:sp>
      <p:sp>
        <p:nvSpPr>
          <p:cNvPr id="1413" name="Google Shape;1413;p86"/>
          <p:cNvSpPr/>
          <p:nvPr/>
        </p:nvSpPr>
        <p:spPr>
          <a:xfrm>
            <a:off x="602426" y="3419597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14" name="Google Shape;1414;p86"/>
          <p:cNvCxnSpPr>
            <a:endCxn id="1413" idx="0"/>
          </p:cNvCxnSpPr>
          <p:nvPr/>
        </p:nvCxnSpPr>
        <p:spPr>
          <a:xfrm flipH="1">
            <a:off x="962466" y="3079697"/>
            <a:ext cx="360000" cy="3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15" name="Google Shape;1415;p86"/>
          <p:cNvSpPr txBox="1"/>
          <p:nvPr/>
        </p:nvSpPr>
        <p:spPr>
          <a:xfrm>
            <a:off x="1236153" y="3486959"/>
            <a:ext cx="45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16" name="Google Shape;1416;p86"/>
          <p:cNvCxnSpPr/>
          <p:nvPr/>
        </p:nvCxnSpPr>
        <p:spPr>
          <a:xfrm flipH="1">
            <a:off x="2091887" y="3739130"/>
            <a:ext cx="415326" cy="24229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17" name="Google Shape;1417;p86"/>
          <p:cNvCxnSpPr/>
          <p:nvPr/>
        </p:nvCxnSpPr>
        <p:spPr>
          <a:xfrm flipH="1">
            <a:off x="467544" y="3871663"/>
            <a:ext cx="360040" cy="34002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18" name="Google Shape;1418;p86"/>
          <p:cNvSpPr txBox="1"/>
          <p:nvPr/>
        </p:nvSpPr>
        <p:spPr>
          <a:xfrm>
            <a:off x="899592" y="4259029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9" name="Google Shape;1419;p86"/>
          <p:cNvSpPr/>
          <p:nvPr/>
        </p:nvSpPr>
        <p:spPr>
          <a:xfrm>
            <a:off x="-36512" y="4187323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/>
          </a:p>
        </p:txBody>
      </p:sp>
      <p:sp>
        <p:nvSpPr>
          <p:cNvPr id="1420" name="Google Shape;1420;p86"/>
          <p:cNvSpPr/>
          <p:nvPr/>
        </p:nvSpPr>
        <p:spPr>
          <a:xfrm>
            <a:off x="3131840" y="3937261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1" name="Google Shape;1421;p86"/>
          <p:cNvSpPr/>
          <p:nvPr/>
        </p:nvSpPr>
        <p:spPr>
          <a:xfrm>
            <a:off x="3643078" y="465915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36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22" name="Google Shape;1422;p86"/>
          <p:cNvCxnSpPr/>
          <p:nvPr/>
        </p:nvCxnSpPr>
        <p:spPr>
          <a:xfrm>
            <a:off x="3565963" y="4441317"/>
            <a:ext cx="321477" cy="2178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23" name="Google Shape;1423;p86"/>
          <p:cNvSpPr txBox="1"/>
          <p:nvPr/>
        </p:nvSpPr>
        <p:spPr>
          <a:xfrm>
            <a:off x="2864907" y="3016970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4" name="Google Shape;1424;p86"/>
          <p:cNvSpPr/>
          <p:nvPr/>
        </p:nvSpPr>
        <p:spPr>
          <a:xfrm>
            <a:off x="1236153" y="2708920"/>
            <a:ext cx="720080" cy="50405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425" name="Google Shape;1425;p86"/>
          <p:cNvCxnSpPr/>
          <p:nvPr/>
        </p:nvCxnSpPr>
        <p:spPr>
          <a:xfrm flipH="1">
            <a:off x="2977731" y="4344298"/>
            <a:ext cx="415326" cy="24229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26" name="Google Shape;1426;p86"/>
          <p:cNvSpPr txBox="1"/>
          <p:nvPr/>
        </p:nvSpPr>
        <p:spPr>
          <a:xfrm>
            <a:off x="1963329" y="2710243"/>
            <a:ext cx="3898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-1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7" name="Google Shape;1427;p86"/>
          <p:cNvSpPr/>
          <p:nvPr/>
        </p:nvSpPr>
        <p:spPr>
          <a:xfrm rot="10800000">
            <a:off x="3383384" y="3269049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8" name="Google Shape;1428;p86"/>
          <p:cNvSpPr/>
          <p:nvPr/>
        </p:nvSpPr>
        <p:spPr>
          <a:xfrm rot="5400000">
            <a:off x="5755934" y="1988840"/>
            <a:ext cx="1008112" cy="288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C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9" name="Google Shape;1429;p86"/>
          <p:cNvSpPr txBox="1"/>
          <p:nvPr/>
        </p:nvSpPr>
        <p:spPr>
          <a:xfrm>
            <a:off x="617490" y="5680802"/>
            <a:ext cx="1789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 AVL  Tree</a:t>
            </a:r>
            <a:endParaRPr b="1"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87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for the following sequence</a:t>
            </a:r>
            <a:br>
              <a:rPr b="1" lang="en-IN" sz="2000"/>
            </a:br>
            <a:r>
              <a:rPr b="1" lang="en-IN" sz="2000"/>
              <a:t>9,8,7,15,16,17,18</a:t>
            </a:r>
            <a:br>
              <a:rPr b="1" lang="en-IN" sz="2000"/>
            </a:br>
            <a:r>
              <a:rPr b="1" lang="en-IN" sz="2000"/>
              <a:t>Further mention the type of Rotation and the balance factors in each intermediated step</a:t>
            </a:r>
            <a:endParaRPr/>
          </a:p>
        </p:txBody>
      </p:sp>
      <p:sp>
        <p:nvSpPr>
          <p:cNvPr id="1435" name="Google Shape;1435;p87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436" name="Google Shape;1436;p87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37" name="Google Shape;1437;p87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88"/>
          <p:cNvSpPr txBox="1"/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entury Gothic"/>
              <a:buNone/>
            </a:pPr>
            <a:r>
              <a:rPr b="1" lang="en-IN" sz="2000"/>
              <a:t>Construct an AVL Tree for the following sequence</a:t>
            </a:r>
            <a:br>
              <a:rPr b="1" lang="en-IN" sz="2000"/>
            </a:br>
            <a:r>
              <a:rPr b="1" lang="en-IN" sz="2000"/>
              <a:t>9,8,7,15,16,17,18</a:t>
            </a:r>
            <a:br>
              <a:rPr b="1" lang="en-IN" sz="2000"/>
            </a:br>
            <a:r>
              <a:rPr b="1" lang="en-IN" sz="2000"/>
              <a:t>Further mention the type of Rotation and the balance factors in each intermediated step</a:t>
            </a:r>
            <a:endParaRPr/>
          </a:p>
        </p:txBody>
      </p:sp>
      <p:sp>
        <p:nvSpPr>
          <p:cNvPr id="1443" name="Google Shape;1443;p88"/>
          <p:cNvSpPr txBox="1"/>
          <p:nvPr>
            <p:ph idx="10" type="dt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16-10-2023</a:t>
            </a:r>
            <a:endParaRPr/>
          </a:p>
        </p:txBody>
      </p:sp>
      <p:sp>
        <p:nvSpPr>
          <p:cNvPr id="1444" name="Google Shape;1444;p88"/>
          <p:cNvSpPr txBox="1"/>
          <p:nvPr>
            <p:ph idx="11" type="ftr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45" name="Google Shape;1445;p88"/>
          <p:cNvSpPr txBox="1"/>
          <p:nvPr>
            <p:ph idx="12" type="sldNum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46" name="Google Shape;1446;p88"/>
          <p:cNvPicPr preferRelativeResize="0"/>
          <p:nvPr/>
        </p:nvPicPr>
        <p:blipFill rotWithShape="1">
          <a:blip r:embed="rId3">
            <a:alphaModFix/>
          </a:blip>
          <a:srcRect b="8022" l="19655" r="33566" t="22265"/>
          <a:stretch/>
        </p:blipFill>
        <p:spPr>
          <a:xfrm>
            <a:off x="1115616" y="2276872"/>
            <a:ext cx="6840760" cy="3528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ustin">
  <a:themeElements>
    <a:clrScheme name="Austin">
      <a:dk1>
        <a:srgbClr val="000000"/>
      </a:dk1>
      <a:lt1>
        <a:srgbClr val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2020-09-23T06:32:06Z</dcterms:created>
  <dc:creator>Admin</dc:creator>
</cp:coreProperties>
</file>